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323" r:id="rId2"/>
    <p:sldId id="324" r:id="rId3"/>
    <p:sldId id="325" r:id="rId4"/>
    <p:sldId id="326" r:id="rId5"/>
    <p:sldId id="327" r:id="rId6"/>
    <p:sldId id="328" r:id="rId7"/>
    <p:sldId id="329" r:id="rId8"/>
    <p:sldId id="330" r:id="rId9"/>
    <p:sldId id="331" r:id="rId10"/>
    <p:sldId id="258" r:id="rId11"/>
    <p:sldId id="259" r:id="rId12"/>
    <p:sldId id="345" r:id="rId13"/>
    <p:sldId id="262" r:id="rId14"/>
    <p:sldId id="346" r:id="rId15"/>
    <p:sldId id="260" r:id="rId16"/>
    <p:sldId id="261" r:id="rId17"/>
    <p:sldId id="263" r:id="rId18"/>
    <p:sldId id="264" r:id="rId19"/>
    <p:sldId id="265" r:id="rId20"/>
    <p:sldId id="266" r:id="rId21"/>
    <p:sldId id="267" r:id="rId22"/>
    <p:sldId id="268" r:id="rId23"/>
    <p:sldId id="269" r:id="rId24"/>
    <p:sldId id="270" r:id="rId25"/>
    <p:sldId id="271" r:id="rId26"/>
    <p:sldId id="272" r:id="rId27"/>
    <p:sldId id="273" r:id="rId28"/>
    <p:sldId id="275" r:id="rId29"/>
    <p:sldId id="276" r:id="rId30"/>
    <p:sldId id="347" r:id="rId31"/>
    <p:sldId id="277" r:id="rId32"/>
    <p:sldId id="278" r:id="rId33"/>
    <p:sldId id="279" r:id="rId34"/>
    <p:sldId id="280" r:id="rId35"/>
    <p:sldId id="281" r:id="rId36"/>
    <p:sldId id="282" r:id="rId37"/>
    <p:sldId id="283" r:id="rId38"/>
    <p:sldId id="284" r:id="rId39"/>
    <p:sldId id="286" r:id="rId40"/>
    <p:sldId id="287" r:id="rId41"/>
    <p:sldId id="288" r:id="rId42"/>
    <p:sldId id="348" r:id="rId43"/>
    <p:sldId id="289" r:id="rId44"/>
    <p:sldId id="349" r:id="rId45"/>
    <p:sldId id="350" r:id="rId46"/>
    <p:sldId id="351" r:id="rId47"/>
    <p:sldId id="290" r:id="rId48"/>
    <p:sldId id="293" r:id="rId49"/>
    <p:sldId id="296" r:id="rId50"/>
    <p:sldId id="358" r:id="rId51"/>
    <p:sldId id="352" r:id="rId52"/>
    <p:sldId id="297" r:id="rId53"/>
    <p:sldId id="298" r:id="rId54"/>
    <p:sldId id="299" r:id="rId55"/>
    <p:sldId id="303" r:id="rId56"/>
    <p:sldId id="304" r:id="rId57"/>
    <p:sldId id="305" r:id="rId58"/>
    <p:sldId id="306" r:id="rId59"/>
    <p:sldId id="307" r:id="rId60"/>
    <p:sldId id="308" r:id="rId61"/>
    <p:sldId id="301" r:id="rId62"/>
    <p:sldId id="302" r:id="rId63"/>
    <p:sldId id="300" r:id="rId64"/>
    <p:sldId id="309" r:id="rId65"/>
    <p:sldId id="310" r:id="rId66"/>
    <p:sldId id="311" r:id="rId67"/>
    <p:sldId id="312" r:id="rId68"/>
    <p:sldId id="354" r:id="rId69"/>
    <p:sldId id="313" r:id="rId70"/>
    <p:sldId id="355" r:id="rId71"/>
    <p:sldId id="314" r:id="rId72"/>
    <p:sldId id="315" r:id="rId73"/>
    <p:sldId id="356" r:id="rId74"/>
    <p:sldId id="353" r:id="rId75"/>
    <p:sldId id="357" r:id="rId76"/>
    <p:sldId id="316" r:id="rId77"/>
    <p:sldId id="321" r:id="rId78"/>
    <p:sldId id="318" r:id="rId79"/>
    <p:sldId id="319" r:id="rId80"/>
    <p:sldId id="320" r:id="rId81"/>
    <p:sldId id="322" r:id="rId82"/>
    <p:sldId id="332" r:id="rId83"/>
    <p:sldId id="333" r:id="rId84"/>
    <p:sldId id="336" r:id="rId85"/>
    <p:sldId id="340" r:id="rId86"/>
    <p:sldId id="341" r:id="rId87"/>
    <p:sldId id="342" r:id="rId88"/>
    <p:sldId id="343" r:id="rId89"/>
    <p:sldId id="344"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15" autoAdjust="0"/>
    <p:restoredTop sz="94660"/>
  </p:normalViewPr>
  <p:slideViewPr>
    <p:cSldViewPr>
      <p:cViewPr varScale="1">
        <p:scale>
          <a:sx n="81" d="100"/>
          <a:sy n="81" d="100"/>
        </p:scale>
        <p:origin x="-1026" y="-84"/>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920D8C-6C54-404A-9081-78F60707065A}" type="datetimeFigureOut">
              <a:rPr lang="en-US" smtClean="0"/>
              <a:pPr/>
              <a:t>1/14/2022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CEDBC6-8018-4213-AC45-36C65B1076DD}" type="slidenum">
              <a:rPr lang="en-US" smtClean="0"/>
              <a:pPr/>
              <a:t>‹#›</a:t>
            </a:fld>
            <a:endParaRPr lang="en-US"/>
          </a:p>
        </p:txBody>
      </p:sp>
    </p:spTree>
    <p:extLst>
      <p:ext uri="{BB962C8B-B14F-4D97-AF65-F5344CB8AC3E}">
        <p14:creationId xmlns:p14="http://schemas.microsoft.com/office/powerpoint/2010/main" xmlns="" val="515134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xmlns="" val="3204163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C253F90-7852-414D-83D8-E75314486390}" type="datetime1">
              <a:rPr lang="en-US" smtClean="0"/>
              <a:t>1/14/2022</a:t>
            </a:fld>
            <a:endParaRPr lang="en-US"/>
          </a:p>
        </p:txBody>
      </p:sp>
      <p:sp>
        <p:nvSpPr>
          <p:cNvPr id="5" name="Footer Placeholder 4"/>
          <p:cNvSpPr>
            <a:spLocks noGrp="1"/>
          </p:cNvSpPr>
          <p:nvPr>
            <p:ph type="ftr" sz="quarter" idx="11"/>
          </p:nvPr>
        </p:nvSpPr>
        <p:spPr/>
        <p:txBody>
          <a:bodyPr/>
          <a:lstStyle/>
          <a:p>
            <a:r>
              <a:rPr lang="fi-FI" smtClean="0"/>
              <a:t>Dr.Ankita Shukla KNC 602                                   Unit :2</a:t>
            </a:r>
            <a:endParaRPr lang="en-US" dirty="0"/>
          </a:p>
        </p:txBody>
      </p:sp>
      <p:sp>
        <p:nvSpPr>
          <p:cNvPr id="6" name="Slide Number Placeholder 5"/>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2132002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AB6A49C-1EEF-45D5-B04E-7A448E6AAE6F}" type="datetime1">
              <a:rPr lang="en-US" smtClean="0"/>
              <a:t>1/14/2022</a:t>
            </a:fld>
            <a:endParaRPr lang="en-US"/>
          </a:p>
        </p:txBody>
      </p:sp>
      <p:sp>
        <p:nvSpPr>
          <p:cNvPr id="5" name="Footer Placeholder 4"/>
          <p:cNvSpPr>
            <a:spLocks noGrp="1"/>
          </p:cNvSpPr>
          <p:nvPr>
            <p:ph type="ftr" sz="quarter" idx="11"/>
          </p:nvPr>
        </p:nvSpPr>
        <p:spPr/>
        <p:txBody>
          <a:bodyPr/>
          <a:lstStyle/>
          <a:p>
            <a:r>
              <a:rPr lang="fi-FI" smtClean="0"/>
              <a:t>Dr.Ankita Shukla KNC 602                                   Unit :2</a:t>
            </a:r>
            <a:endParaRPr lang="en-US" dirty="0"/>
          </a:p>
        </p:txBody>
      </p:sp>
      <p:sp>
        <p:nvSpPr>
          <p:cNvPr id="6" name="Slide Number Placeholder 5"/>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1592328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FF1B1AF-1A05-4B69-9CB3-94E4B32EA11C}" type="datetime1">
              <a:rPr lang="en-US" smtClean="0"/>
              <a:t>1/14/2022</a:t>
            </a:fld>
            <a:endParaRPr lang="en-US"/>
          </a:p>
        </p:txBody>
      </p:sp>
      <p:sp>
        <p:nvSpPr>
          <p:cNvPr id="5" name="Footer Placeholder 4"/>
          <p:cNvSpPr>
            <a:spLocks noGrp="1"/>
          </p:cNvSpPr>
          <p:nvPr>
            <p:ph type="ftr" sz="quarter" idx="11"/>
          </p:nvPr>
        </p:nvSpPr>
        <p:spPr/>
        <p:txBody>
          <a:bodyPr/>
          <a:lstStyle/>
          <a:p>
            <a:r>
              <a:rPr lang="fi-FI" smtClean="0"/>
              <a:t>Dr.Ankita Shukla KNC 602                                   Unit :2</a:t>
            </a:r>
            <a:endParaRPr lang="en-US" dirty="0"/>
          </a:p>
        </p:txBody>
      </p:sp>
      <p:sp>
        <p:nvSpPr>
          <p:cNvPr id="6" name="Slide Number Placeholder 5"/>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3352135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DA7780-894B-4977-8578-685185592ECA}" type="datetime1">
              <a:rPr lang="en-US" smtClean="0"/>
              <a:t>1/14/2022</a:t>
            </a:fld>
            <a:endParaRPr lang="en-US"/>
          </a:p>
        </p:txBody>
      </p:sp>
      <p:sp>
        <p:nvSpPr>
          <p:cNvPr id="6" name="Footer Placeholder 5"/>
          <p:cNvSpPr>
            <a:spLocks noGrp="1"/>
          </p:cNvSpPr>
          <p:nvPr>
            <p:ph type="ftr" sz="quarter" idx="11"/>
          </p:nvPr>
        </p:nvSpPr>
        <p:spPr/>
        <p:txBody>
          <a:bodyPr/>
          <a:lstStyle/>
          <a:p>
            <a:r>
              <a:rPr lang="fi-FI" smtClean="0"/>
              <a:t>Dr.Ankita Shukla KNC 602                                   Unit :2</a:t>
            </a:r>
            <a:endParaRPr lang="en-US" dirty="0"/>
          </a:p>
        </p:txBody>
      </p:sp>
      <p:sp>
        <p:nvSpPr>
          <p:cNvPr id="7" name="Slide Number Placeholder 6"/>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75378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1DE084-02D4-475A-AA8A-520F62BE2C39}"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1142597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E23909B-9D24-468D-9C4C-01B43A676FC7}" type="datetime1">
              <a:rPr lang="en-US" smtClean="0"/>
              <a:t>1/14/2022</a:t>
            </a:fld>
            <a:endParaRPr lang="en-US"/>
          </a:p>
        </p:txBody>
      </p:sp>
      <p:sp>
        <p:nvSpPr>
          <p:cNvPr id="4" name="Footer Placeholder 3"/>
          <p:cNvSpPr>
            <a:spLocks noGrp="1"/>
          </p:cNvSpPr>
          <p:nvPr>
            <p:ph type="ftr" sz="quarter" idx="11"/>
          </p:nvPr>
        </p:nvSpPr>
        <p:spPr/>
        <p:txBody>
          <a:bodyPr/>
          <a:lstStyle/>
          <a:p>
            <a:r>
              <a:rPr lang="fi-FI" smtClean="0"/>
              <a:t>Dr.Ankita Shukla KNC 602                                   Unit :2</a:t>
            </a:r>
            <a:endParaRPr lang="en-US" dirty="0"/>
          </a:p>
        </p:txBody>
      </p:sp>
      <p:sp>
        <p:nvSpPr>
          <p:cNvPr id="5" name="Slide Number Placeholder 4"/>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1954205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62CCDD-28D8-4C42-9F51-16A8FD668633}" type="datetime1">
              <a:rPr lang="en-US" smtClean="0"/>
              <a:t>1/14/2022</a:t>
            </a:fld>
            <a:endParaRPr lang="en-US"/>
          </a:p>
        </p:txBody>
      </p:sp>
      <p:sp>
        <p:nvSpPr>
          <p:cNvPr id="3" name="Footer Placeholder 2"/>
          <p:cNvSpPr>
            <a:spLocks noGrp="1"/>
          </p:cNvSpPr>
          <p:nvPr>
            <p:ph type="ftr" sz="quarter" idx="11"/>
          </p:nvPr>
        </p:nvSpPr>
        <p:spPr/>
        <p:txBody>
          <a:bodyPr/>
          <a:lstStyle/>
          <a:p>
            <a:r>
              <a:rPr lang="fi-FI" smtClean="0"/>
              <a:t>Dr.Ankita Shukla KNC 602                                   Unit :2</a:t>
            </a:r>
            <a:endParaRPr lang="en-US" dirty="0"/>
          </a:p>
        </p:txBody>
      </p:sp>
      <p:sp>
        <p:nvSpPr>
          <p:cNvPr id="4" name="Slide Number Placeholder 3"/>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830335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401429-C9C4-48A7-AB74-5CC66F2DE1D5}" type="datetime1">
              <a:rPr lang="en-US" smtClean="0"/>
              <a:t>1/14/2022</a:t>
            </a:fld>
            <a:endParaRPr lang="en-US"/>
          </a:p>
        </p:txBody>
      </p:sp>
      <p:sp>
        <p:nvSpPr>
          <p:cNvPr id="6" name="Footer Placeholder 5"/>
          <p:cNvSpPr>
            <a:spLocks noGrp="1"/>
          </p:cNvSpPr>
          <p:nvPr>
            <p:ph type="ftr" sz="quarter" idx="11"/>
          </p:nvPr>
        </p:nvSpPr>
        <p:spPr/>
        <p:txBody>
          <a:bodyPr/>
          <a:lstStyle/>
          <a:p>
            <a:r>
              <a:rPr lang="fi-FI" smtClean="0"/>
              <a:t>Dr.Ankita Shukla KNC 602                                   Unit :2</a:t>
            </a:r>
            <a:endParaRPr lang="en-US" dirty="0"/>
          </a:p>
        </p:txBody>
      </p:sp>
      <p:sp>
        <p:nvSpPr>
          <p:cNvPr id="7" name="Slide Number Placeholder 6"/>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4172759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8964C8-1F17-40B1-AB8E-1F0FEC3A2C76}" type="datetime1">
              <a:rPr lang="en-US" smtClean="0"/>
              <a:t>1/14/2022</a:t>
            </a:fld>
            <a:endParaRPr lang="en-US"/>
          </a:p>
        </p:txBody>
      </p:sp>
      <p:sp>
        <p:nvSpPr>
          <p:cNvPr id="6" name="Footer Placeholder 5"/>
          <p:cNvSpPr>
            <a:spLocks noGrp="1"/>
          </p:cNvSpPr>
          <p:nvPr>
            <p:ph type="ftr" sz="quarter" idx="11"/>
          </p:nvPr>
        </p:nvSpPr>
        <p:spPr/>
        <p:txBody>
          <a:bodyPr/>
          <a:lstStyle/>
          <a:p>
            <a:r>
              <a:rPr lang="fi-FI" smtClean="0"/>
              <a:t>Dr.Ankita Shukla KNC 602                                   Unit :2</a:t>
            </a:r>
            <a:endParaRPr lang="en-US" dirty="0"/>
          </a:p>
        </p:txBody>
      </p:sp>
      <p:sp>
        <p:nvSpPr>
          <p:cNvPr id="7" name="Slide Number Placeholder 6"/>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1479478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59BE9D-350F-4320-9D2C-6B170B338E18}" type="datetime1">
              <a:rPr lang="en-US" smtClean="0"/>
              <a:t>1/14/2022</a:t>
            </a:fld>
            <a:endParaRPr lang="en-US"/>
          </a:p>
        </p:txBody>
      </p:sp>
      <p:sp>
        <p:nvSpPr>
          <p:cNvPr id="5" name="Footer Placeholder 4"/>
          <p:cNvSpPr>
            <a:spLocks noGrp="1"/>
          </p:cNvSpPr>
          <p:nvPr>
            <p:ph type="ftr" sz="quarter" idx="11"/>
          </p:nvPr>
        </p:nvSpPr>
        <p:spPr/>
        <p:txBody>
          <a:bodyPr/>
          <a:lstStyle/>
          <a:p>
            <a:r>
              <a:rPr lang="fi-FI" smtClean="0"/>
              <a:t>Dr.Ankita Shukla KNC 602                                   Unit :2</a:t>
            </a:r>
            <a:endParaRPr lang="en-US" dirty="0"/>
          </a:p>
        </p:txBody>
      </p:sp>
      <p:sp>
        <p:nvSpPr>
          <p:cNvPr id="6" name="Slide Number Placeholder 5"/>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2543323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F58F20-5D05-4372-A571-DCB5E2147DE4}" type="datetime1">
              <a:rPr lang="en-US" smtClean="0"/>
              <a:t>1/14/2022</a:t>
            </a:fld>
            <a:endParaRPr lang="en-US"/>
          </a:p>
        </p:txBody>
      </p:sp>
      <p:sp>
        <p:nvSpPr>
          <p:cNvPr id="5" name="Footer Placeholder 4"/>
          <p:cNvSpPr>
            <a:spLocks noGrp="1"/>
          </p:cNvSpPr>
          <p:nvPr>
            <p:ph type="ftr" sz="quarter" idx="11"/>
          </p:nvPr>
        </p:nvSpPr>
        <p:spPr/>
        <p:txBody>
          <a:bodyPr/>
          <a:lstStyle/>
          <a:p>
            <a:r>
              <a:rPr lang="fi-FI" smtClean="0"/>
              <a:t>Dr.Ankita Shukla KNC 602                                   Unit :2</a:t>
            </a:r>
            <a:endParaRPr lang="en-US" dirty="0"/>
          </a:p>
        </p:txBody>
      </p:sp>
      <p:sp>
        <p:nvSpPr>
          <p:cNvPr id="6" name="Slide Number Placeholder 5"/>
          <p:cNvSpPr>
            <a:spLocks noGrp="1"/>
          </p:cNvSpPr>
          <p:nvPr>
            <p:ph type="sldNum" sz="quarter" idx="12"/>
          </p:nvPr>
        </p:nvSpPr>
        <p:spPr/>
        <p:txBody>
          <a:body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3047330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ABB41B-509D-4C03-858A-4ECA06ECB9AA}" type="datetime1">
              <a:rPr lang="en-US" smtClean="0"/>
              <a:t>1/14/2022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Dr.Ankita Shukla KNC 602                                   Unit :2</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85F1CB-02EA-4782-B654-3ECBE6236E9C}" type="slidenum">
              <a:rPr lang="en-US" smtClean="0"/>
              <a:pPr/>
              <a:t>‹#›</a:t>
            </a:fld>
            <a:endParaRPr lang="en-US"/>
          </a:p>
        </p:txBody>
      </p:sp>
    </p:spTree>
    <p:extLst>
      <p:ext uri="{BB962C8B-B14F-4D97-AF65-F5344CB8AC3E}">
        <p14:creationId xmlns:p14="http://schemas.microsoft.com/office/powerpoint/2010/main" xmlns="" val="3062331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7.jpe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9.jpe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zcRn83BOEJc"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5"/>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smtClean="0"/>
              <a:t>Noida</a:t>
            </a:r>
            <a:r>
              <a:rPr lang="en-US" sz="2400" dirty="0" smtClean="0"/>
              <a:t> Institute of Engineering and Technology, Greater </a:t>
            </a:r>
            <a:r>
              <a:rPr lang="en-US" sz="2400" dirty="0" err="1" smtClean="0"/>
              <a:t>Noida</a:t>
            </a:r>
            <a:endParaRPr lang="en-US" sz="2400" dirty="0"/>
          </a:p>
        </p:txBody>
      </p:sp>
      <p:sp>
        <p:nvSpPr>
          <p:cNvPr id="3" name="Subtitle 2"/>
          <p:cNvSpPr>
            <a:spLocks noGrp="1"/>
          </p:cNvSpPr>
          <p:nvPr>
            <p:ph type="subTitle" idx="1"/>
          </p:nvPr>
        </p:nvSpPr>
        <p:spPr>
          <a:xfrm>
            <a:off x="1447800" y="914400"/>
            <a:ext cx="6400800" cy="1752600"/>
          </a:xfrm>
        </p:spPr>
        <p:style>
          <a:lnRef idx="2">
            <a:schemeClr val="accent5"/>
          </a:lnRef>
          <a:fillRef idx="1">
            <a:schemeClr val="lt1"/>
          </a:fillRef>
          <a:effectRef idx="0">
            <a:schemeClr val="accent5"/>
          </a:effectRef>
          <a:fontRef idx="minor">
            <a:schemeClr val="dk1"/>
          </a:fontRef>
        </p:style>
        <p:txBody>
          <a:bodyPr>
            <a:normAutofit/>
          </a:bodyPr>
          <a:lstStyle/>
          <a:p>
            <a:r>
              <a:rPr lang="en-US" sz="2800" b="1" dirty="0">
                <a:solidFill>
                  <a:schemeClr val="tx1"/>
                </a:solidFill>
              </a:rPr>
              <a:t>Indian Literature, Culture, Tradition, and Practices</a:t>
            </a:r>
            <a:endParaRPr lang="en-US" sz="2800" dirty="0">
              <a:solidFill>
                <a:schemeClr val="tx1"/>
              </a:solidFill>
            </a:endParaRPr>
          </a:p>
        </p:txBody>
      </p:sp>
      <p:sp>
        <p:nvSpPr>
          <p:cNvPr id="9" name="Date Placeholder 8"/>
          <p:cNvSpPr>
            <a:spLocks noGrp="1"/>
          </p:cNvSpPr>
          <p:nvPr>
            <p:ph type="dt" sz="half" idx="10"/>
          </p:nvPr>
        </p:nvSpPr>
        <p:spPr>
          <a:xfrm>
            <a:off x="381000" y="6492879"/>
            <a:ext cx="2133600" cy="365125"/>
          </a:xfrm>
        </p:spPr>
        <p:txBody>
          <a:bodyPr/>
          <a:lstStyle/>
          <a:p>
            <a:fld id="{64CC3CA7-41C3-4F94-8C93-4BF55A74E90A}" type="datetime1">
              <a:rPr lang="en-US" smtClean="0"/>
              <a:t>1/14/2022</a:t>
            </a:fld>
            <a:endParaRPr lang="en-US" dirty="0"/>
          </a:p>
        </p:txBody>
      </p:sp>
      <p:sp>
        <p:nvSpPr>
          <p:cNvPr id="13" name="Footer Placeholder 12"/>
          <p:cNvSpPr>
            <a:spLocks noGrp="1"/>
          </p:cNvSpPr>
          <p:nvPr>
            <p:ph type="ftr" sz="quarter" idx="11"/>
          </p:nvPr>
        </p:nvSpPr>
        <p:spPr>
          <a:xfrm>
            <a:off x="2286000" y="6248404"/>
            <a:ext cx="5029200" cy="365125"/>
          </a:xfrm>
        </p:spPr>
        <p:txBody>
          <a:bodyPr/>
          <a:lstStyle/>
          <a:p>
            <a:r>
              <a:rPr lang="en-US" dirty="0" err="1" smtClean="0"/>
              <a:t>Dr.Ankita</a:t>
            </a:r>
            <a:r>
              <a:rPr lang="en-US" dirty="0" smtClean="0"/>
              <a:t> </a:t>
            </a:r>
            <a:r>
              <a:rPr lang="en-US" dirty="0" err="1" smtClean="0"/>
              <a:t>Shukla</a:t>
            </a:r>
            <a:r>
              <a:rPr lang="en-US" dirty="0" smtClean="0"/>
              <a:t> KNC </a:t>
            </a:r>
            <a:r>
              <a:rPr lang="en-US" dirty="0" smtClean="0"/>
              <a:t>602                                   Unit :2</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0" y="4"/>
            <a:ext cx="1447800" cy="817163"/>
          </a:xfrm>
          <a:prstGeom prst="rect">
            <a:avLst/>
          </a:prstGeom>
          <a:noFill/>
        </p:spPr>
      </p:pic>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Dr.Ankita</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Shukla</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Department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of MBA</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381000" y="5943600"/>
            <a:ext cx="533400" cy="533400"/>
          </a:xfrm>
          <a:prstGeom prst="rect">
            <a:avLst/>
          </a:prstGeom>
          <a:noFill/>
        </p:spPr>
      </p:pic>
      <p:pic>
        <p:nvPicPr>
          <p:cNvPr id="11" name="Picture 4" descr="C:\Users\Manks\Downloads\speak.png"/>
          <p:cNvPicPr>
            <a:picLocks noChangeAspect="1" noChangeArrowheads="1"/>
          </p:cNvPicPr>
          <p:nvPr/>
        </p:nvPicPr>
        <p:blipFill>
          <a:blip r:embed="rId5"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smtClean="0">
                <a:ln>
                  <a:noFill/>
                </a:ln>
                <a:solidFill>
                  <a:schemeClr val="tx1"/>
                </a:solidFill>
                <a:effectLst/>
                <a:uLnTx/>
                <a:uFillTx/>
                <a:latin typeface="+mn-lt"/>
                <a:ea typeface="+mn-ea"/>
                <a:cs typeface="+mn-cs"/>
              </a:rPr>
              <a:t>Unit:2</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r>
              <a:rPr lang="en-US" sz="2000" b="1" dirty="0" smtClean="0"/>
              <a:t>INDIAN </a:t>
            </a:r>
            <a:r>
              <a:rPr lang="en-US" sz="2000" b="1" dirty="0"/>
              <a:t>TRADITIONS, CULTURE AND SOCIETY</a:t>
            </a:r>
            <a:endParaRPr lang="en-US" sz="2000" dirty="0">
              <a:solidFill>
                <a:schemeClr val="tx1"/>
              </a:solidFill>
            </a:endParaRPr>
          </a:p>
        </p:txBody>
      </p:sp>
      <p:sp>
        <p:nvSpPr>
          <p:cNvPr id="15" name="Subtitle 2"/>
          <p:cNvSpPr txBox="1">
            <a:spLocks/>
          </p:cNvSpPr>
          <p:nvPr/>
        </p:nvSpPr>
        <p:spPr>
          <a:xfrm>
            <a:off x="356382" y="5097463"/>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Course</a:t>
            </a:r>
            <a:r>
              <a:rPr kumimoji="0" lang="en-US" sz="2000" b="0" i="0" u="none" strike="noStrike" kern="1200" cap="none" spc="0" normalizeH="0" noProof="0" dirty="0" smtClean="0">
                <a:ln>
                  <a:noFill/>
                </a:ln>
                <a:solidFill>
                  <a:schemeClr val="tx1"/>
                </a:solidFill>
                <a:effectLst/>
                <a:uLnTx/>
                <a:uFillTx/>
                <a:latin typeface="+mn-lt"/>
                <a:ea typeface="+mn-ea"/>
                <a:cs typeface="+mn-cs"/>
              </a:rPr>
              <a:t> Details</a:t>
            </a:r>
            <a:br>
              <a:rPr kumimoji="0" lang="en-US" sz="2000" b="0" i="0" u="none" strike="noStrike" kern="1200" cap="none" spc="0" normalizeH="0" noProof="0" dirty="0" smtClean="0">
                <a:ln>
                  <a:noFill/>
                </a:ln>
                <a:solidFill>
                  <a:schemeClr val="tx1"/>
                </a:solidFill>
                <a:effectLst/>
                <a:uLnTx/>
                <a:uFillTx/>
                <a:latin typeface="+mn-lt"/>
                <a:ea typeface="+mn-ea"/>
                <a:cs typeface="+mn-cs"/>
              </a:rPr>
            </a:br>
            <a:r>
              <a:rPr kumimoji="0" lang="en-US" sz="2000" b="0" i="0" u="none" strike="noStrike" kern="1200" cap="none" spc="0" normalizeH="0" noProof="0" dirty="0" smtClean="0">
                <a:ln>
                  <a:noFill/>
                </a:ln>
                <a:solidFill>
                  <a:schemeClr val="tx1"/>
                </a:solidFill>
                <a:effectLst/>
                <a:uLnTx/>
                <a:uFillTx/>
                <a:latin typeface="+mn-lt"/>
                <a:ea typeface="+mn-ea"/>
                <a:cs typeface="+mn-cs"/>
              </a:rPr>
              <a:t>CH 6</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th</a:t>
            </a:r>
            <a:r>
              <a:rPr kumimoji="0" lang="en-US" sz="2000" b="0" i="0" u="none" strike="noStrike" kern="1200" cap="none" spc="0" normalizeH="0" noProof="0" dirty="0" smtClean="0">
                <a:ln>
                  <a:noFill/>
                </a:ln>
                <a:solidFill>
                  <a:schemeClr val="tx1"/>
                </a:solidFill>
                <a:effectLst/>
                <a:uLnTx/>
                <a:uFillTx/>
                <a:latin typeface="+mn-lt"/>
                <a:ea typeface="+mn-ea"/>
                <a:cs typeface="+mn-cs"/>
              </a:rPr>
              <a:t> Semester</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6145419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E0F18D0-C99A-4ED9-A5C9-9703750FB6CA}" type="datetime1">
              <a:rPr lang="en-US" smtClean="0"/>
              <a:t>1/14/2022</a:t>
            </a:fld>
            <a:endParaRPr lang="en-US" dirty="0"/>
          </a:p>
        </p:txBody>
      </p:sp>
      <p:sp>
        <p:nvSpPr>
          <p:cNvPr id="5" name="Footer Placeholder 4"/>
          <p:cNvSpPr>
            <a:spLocks noGrp="1"/>
          </p:cNvSpPr>
          <p:nvPr>
            <p:ph type="ftr" sz="quarter" idx="11"/>
          </p:nvPr>
        </p:nvSpPr>
        <p:spPr>
          <a:xfrm>
            <a:off x="1752600" y="6356352"/>
            <a:ext cx="64008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371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2"/>
            <a:ext cx="1447800" cy="817163"/>
          </a:xfrm>
          <a:prstGeom prst="rect">
            <a:avLst/>
          </a:prstGeom>
          <a:noFill/>
        </p:spPr>
      </p:pic>
      <p:graphicFrame>
        <p:nvGraphicFramePr>
          <p:cNvPr id="12" name="Table 11"/>
          <p:cNvGraphicFramePr>
            <a:graphicFrameLocks noGrp="1"/>
          </p:cNvGraphicFramePr>
          <p:nvPr/>
        </p:nvGraphicFramePr>
        <p:xfrm>
          <a:off x="609600" y="838200"/>
          <a:ext cx="8229600" cy="5410197"/>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6705600">
                  <a:extLst>
                    <a:ext uri="{9D8B030D-6E8A-4147-A177-3AD203B41FA5}">
                      <a16:colId xmlns:a16="http://schemas.microsoft.com/office/drawing/2014/main" xmlns="" val="20001"/>
                    </a:ext>
                  </a:extLst>
                </a:gridCol>
              </a:tblGrid>
              <a:tr h="601133">
                <a:tc>
                  <a:txBody>
                    <a:bodyPr/>
                    <a:lstStyle/>
                    <a:p>
                      <a:r>
                        <a:rPr lang="en-US" sz="2200" dirty="0"/>
                        <a:t>S. No.</a:t>
                      </a:r>
                    </a:p>
                  </a:txBody>
                  <a:tcPr/>
                </a:tc>
                <a:tc>
                  <a:txBody>
                    <a:bodyPr/>
                    <a:lstStyle/>
                    <a:p>
                      <a:pPr algn="l"/>
                      <a:r>
                        <a:rPr lang="en-US" sz="2200" dirty="0"/>
                        <a:t>Index</a:t>
                      </a:r>
                    </a:p>
                  </a:txBody>
                  <a:tcPr/>
                </a:tc>
                <a:extLst>
                  <a:ext uri="{0D108BD9-81ED-4DB2-BD59-A6C34878D82A}">
                    <a16:rowId xmlns:a16="http://schemas.microsoft.com/office/drawing/2014/main" xmlns="" val="10000"/>
                  </a:ext>
                </a:extLst>
              </a:tr>
              <a:tr h="601133">
                <a:tc>
                  <a:txBody>
                    <a:bodyPr/>
                    <a:lstStyle/>
                    <a:p>
                      <a:r>
                        <a:rPr lang="en-US" sz="2800" b="0" dirty="0">
                          <a:latin typeface="Times New Roman" pitchFamily="18" charset="0"/>
                          <a:cs typeface="Times New Roman" pitchFamily="18" charset="0"/>
                        </a:rPr>
                        <a:t>1.</a:t>
                      </a:r>
                    </a:p>
                  </a:txBody>
                  <a:tcPr/>
                </a:tc>
                <a:tc>
                  <a:txBody>
                    <a:bodyPr/>
                    <a:lstStyle/>
                    <a:p>
                      <a:r>
                        <a:rPr lang="en-US" sz="2800" b="0" dirty="0">
                          <a:latin typeface="Times New Roman" pitchFamily="18" charset="0"/>
                          <a:cs typeface="Times New Roman" pitchFamily="18" charset="0"/>
                        </a:rPr>
                        <a:t>Content</a:t>
                      </a:r>
                    </a:p>
                  </a:txBody>
                  <a:tcPr/>
                </a:tc>
                <a:extLst>
                  <a:ext uri="{0D108BD9-81ED-4DB2-BD59-A6C34878D82A}">
                    <a16:rowId xmlns:a16="http://schemas.microsoft.com/office/drawing/2014/main" xmlns="" val="10001"/>
                  </a:ext>
                </a:extLst>
              </a:tr>
              <a:tr h="601133">
                <a:tc>
                  <a:txBody>
                    <a:bodyPr/>
                    <a:lstStyle/>
                    <a:p>
                      <a:r>
                        <a:rPr lang="en-US" sz="2800" b="0" dirty="0">
                          <a:latin typeface="Times New Roman" pitchFamily="18" charset="0"/>
                          <a:cs typeface="Times New Roman" pitchFamily="18" charset="0"/>
                        </a:rPr>
                        <a:t>2.</a:t>
                      </a:r>
                    </a:p>
                  </a:txBody>
                  <a:tcPr/>
                </a:tc>
                <a:tc>
                  <a:txBody>
                    <a:bodyPr/>
                    <a:lstStyle/>
                    <a:p>
                      <a:r>
                        <a:rPr lang="en-US" sz="2800" b="0" dirty="0">
                          <a:latin typeface="Times New Roman" pitchFamily="18" charset="0"/>
                          <a:cs typeface="Times New Roman" pitchFamily="18" charset="0"/>
                        </a:rPr>
                        <a:t>Unit Objective(s)</a:t>
                      </a:r>
                    </a:p>
                  </a:txBody>
                  <a:tcPr/>
                </a:tc>
                <a:extLst>
                  <a:ext uri="{0D108BD9-81ED-4DB2-BD59-A6C34878D82A}">
                    <a16:rowId xmlns:a16="http://schemas.microsoft.com/office/drawing/2014/main" xmlns="" val="10002"/>
                  </a:ext>
                </a:extLst>
              </a:tr>
              <a:tr h="601133">
                <a:tc>
                  <a:txBody>
                    <a:bodyPr/>
                    <a:lstStyle/>
                    <a:p>
                      <a:r>
                        <a:rPr lang="en-US" sz="2800" b="0" dirty="0">
                          <a:latin typeface="Times New Roman" pitchFamily="18" charset="0"/>
                          <a:cs typeface="Times New Roman" pitchFamily="18" charset="0"/>
                        </a:rPr>
                        <a:t>3.</a:t>
                      </a:r>
                    </a:p>
                  </a:txBody>
                  <a:tcPr/>
                </a:tc>
                <a:tc>
                  <a:txBody>
                    <a:bodyPr/>
                    <a:lstStyle/>
                    <a:p>
                      <a:r>
                        <a:rPr lang="en-US" sz="2800" b="0" dirty="0">
                          <a:latin typeface="Times New Roman" pitchFamily="18" charset="0"/>
                          <a:cs typeface="Times New Roman" pitchFamily="18" charset="0"/>
                        </a:rPr>
                        <a:t>Course Outcome(s)</a:t>
                      </a:r>
                    </a:p>
                  </a:txBody>
                  <a:tcPr/>
                </a:tc>
                <a:extLst>
                  <a:ext uri="{0D108BD9-81ED-4DB2-BD59-A6C34878D82A}">
                    <a16:rowId xmlns:a16="http://schemas.microsoft.com/office/drawing/2014/main" xmlns="" val="10003"/>
                  </a:ext>
                </a:extLst>
              </a:tr>
              <a:tr h="601133">
                <a:tc>
                  <a:txBody>
                    <a:bodyPr/>
                    <a:lstStyle/>
                    <a:p>
                      <a:r>
                        <a:rPr lang="en-US" sz="2800" b="0" dirty="0">
                          <a:latin typeface="Times New Roman" pitchFamily="18" charset="0"/>
                          <a:cs typeface="Times New Roman" pitchFamily="18" charset="0"/>
                        </a:rPr>
                        <a:t>4.</a:t>
                      </a:r>
                    </a:p>
                  </a:txBody>
                  <a:tcPr/>
                </a:tc>
                <a:tc>
                  <a:txBody>
                    <a:bodyPr/>
                    <a:lstStyle/>
                    <a:p>
                      <a:r>
                        <a:rPr lang="en-US" sz="2800" b="0" dirty="0">
                          <a:latin typeface="Times New Roman" pitchFamily="18" charset="0"/>
                          <a:cs typeface="Times New Roman" pitchFamily="18" charset="0"/>
                        </a:rPr>
                        <a:t>CO-PO</a:t>
                      </a:r>
                      <a:r>
                        <a:rPr lang="en-US" sz="2800" b="0" baseline="0" dirty="0">
                          <a:latin typeface="Times New Roman" pitchFamily="18" charset="0"/>
                          <a:cs typeface="Times New Roman" pitchFamily="18" charset="0"/>
                        </a:rPr>
                        <a:t> &amp; PSO Mapping</a:t>
                      </a:r>
                      <a:endParaRPr lang="en-US" sz="2800" b="0" dirty="0">
                        <a:latin typeface="Times New Roman" pitchFamily="18" charset="0"/>
                        <a:cs typeface="Times New Roman" pitchFamily="18" charset="0"/>
                      </a:endParaRPr>
                    </a:p>
                  </a:txBody>
                  <a:tcPr/>
                </a:tc>
                <a:extLst>
                  <a:ext uri="{0D108BD9-81ED-4DB2-BD59-A6C34878D82A}">
                    <a16:rowId xmlns:a16="http://schemas.microsoft.com/office/drawing/2014/main" xmlns="" val="10004"/>
                  </a:ext>
                </a:extLst>
              </a:tr>
              <a:tr h="601133">
                <a:tc>
                  <a:txBody>
                    <a:bodyPr/>
                    <a:lstStyle/>
                    <a:p>
                      <a:r>
                        <a:rPr lang="en-US" sz="2800" b="0" dirty="0">
                          <a:latin typeface="Times New Roman" pitchFamily="18" charset="0"/>
                          <a:cs typeface="Times New Roman" pitchFamily="18" charset="0"/>
                        </a:rPr>
                        <a:t>5.</a:t>
                      </a:r>
                    </a:p>
                  </a:txBody>
                  <a:tcPr/>
                </a:tc>
                <a:tc>
                  <a:txBody>
                    <a:bodyPr/>
                    <a:lstStyle/>
                    <a:p>
                      <a:r>
                        <a:rPr lang="en-US" sz="2800" b="0" dirty="0">
                          <a:latin typeface="Times New Roman" pitchFamily="18" charset="0"/>
                          <a:cs typeface="Times New Roman" pitchFamily="18" charset="0"/>
                        </a:rPr>
                        <a:t>Requisite &amp; Recap</a:t>
                      </a:r>
                    </a:p>
                  </a:txBody>
                  <a:tcPr/>
                </a:tc>
                <a:extLst>
                  <a:ext uri="{0D108BD9-81ED-4DB2-BD59-A6C34878D82A}">
                    <a16:rowId xmlns:a16="http://schemas.microsoft.com/office/drawing/2014/main" xmlns="" val="10005"/>
                  </a:ext>
                </a:extLst>
              </a:tr>
              <a:tr h="601133">
                <a:tc>
                  <a:txBody>
                    <a:bodyPr/>
                    <a:lstStyle/>
                    <a:p>
                      <a:r>
                        <a:rPr lang="en-US" sz="2800" b="0" dirty="0">
                          <a:latin typeface="Times New Roman" pitchFamily="18" charset="0"/>
                          <a:cs typeface="Times New Roman" pitchFamily="18" charset="0"/>
                        </a:rPr>
                        <a:t>6.</a:t>
                      </a:r>
                    </a:p>
                  </a:txBody>
                  <a:tcPr/>
                </a:tc>
                <a:tc>
                  <a:txBody>
                    <a:bodyPr/>
                    <a:lstStyle/>
                    <a:p>
                      <a:r>
                        <a:rPr lang="en-US" sz="2800" b="0" dirty="0">
                          <a:latin typeface="Times New Roman" pitchFamily="18" charset="0"/>
                          <a:cs typeface="Times New Roman" pitchFamily="18" charset="0"/>
                        </a:rPr>
                        <a:t>Objectives of Topic/Session</a:t>
                      </a:r>
                    </a:p>
                  </a:txBody>
                  <a:tcPr/>
                </a:tc>
                <a:extLst>
                  <a:ext uri="{0D108BD9-81ED-4DB2-BD59-A6C34878D82A}">
                    <a16:rowId xmlns:a16="http://schemas.microsoft.com/office/drawing/2014/main" xmlns="" val="10006"/>
                  </a:ext>
                </a:extLst>
              </a:tr>
              <a:tr h="601133">
                <a:tc>
                  <a:txBody>
                    <a:bodyPr/>
                    <a:lstStyle/>
                    <a:p>
                      <a:r>
                        <a:rPr lang="en-US" sz="2800" b="0" dirty="0">
                          <a:latin typeface="Times New Roman" pitchFamily="18" charset="0"/>
                          <a:cs typeface="Times New Roman"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Topic Mapping with course outcomes</a:t>
                      </a:r>
                    </a:p>
                  </a:txBody>
                  <a:tcPr/>
                </a:tc>
                <a:extLst>
                  <a:ext uri="{0D108BD9-81ED-4DB2-BD59-A6C34878D82A}">
                    <a16:rowId xmlns:a16="http://schemas.microsoft.com/office/drawing/2014/main" xmlns="" val="10007"/>
                  </a:ext>
                </a:extLst>
              </a:tr>
              <a:tr h="601133">
                <a:tc>
                  <a:txBody>
                    <a:bodyPr/>
                    <a:lstStyle/>
                    <a:p>
                      <a:r>
                        <a:rPr lang="en-US" sz="2800" b="0" dirty="0">
                          <a:latin typeface="Times New Roman" pitchFamily="18" charset="0"/>
                          <a:cs typeface="Times New Roman" pitchFamily="18" charset="0"/>
                        </a:rPr>
                        <a:t>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0" dirty="0">
                          <a:latin typeface="Times New Roman" pitchFamily="18" charset="0"/>
                          <a:cs typeface="Times New Roman" pitchFamily="18" charset="0"/>
                        </a:rPr>
                        <a:t>Lecture</a:t>
                      </a:r>
                    </a:p>
                  </a:txBody>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xmlns="" val="2350415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533400" y="1143000"/>
          <a:ext cx="8229600" cy="5029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xmlns="" val="20000"/>
                    </a:ext>
                  </a:extLst>
                </a:gridCol>
                <a:gridCol w="6705600">
                  <a:extLst>
                    <a:ext uri="{9D8B030D-6E8A-4147-A177-3AD203B41FA5}">
                      <a16:colId xmlns:a16="http://schemas.microsoft.com/office/drawing/2014/main" xmlns="" val="20001"/>
                    </a:ext>
                  </a:extLst>
                </a:gridCol>
              </a:tblGrid>
              <a:tr h="628650">
                <a:tc>
                  <a:txBody>
                    <a:bodyPr/>
                    <a:lstStyle/>
                    <a:p>
                      <a:r>
                        <a:rPr lang="en-US" sz="2200" dirty="0"/>
                        <a:t>S. No.</a:t>
                      </a:r>
                    </a:p>
                  </a:txBody>
                  <a:tcPr/>
                </a:tc>
                <a:tc>
                  <a:txBody>
                    <a:bodyPr/>
                    <a:lstStyle/>
                    <a:p>
                      <a:pPr algn="l"/>
                      <a:r>
                        <a:rPr lang="en-US" sz="2200" dirty="0"/>
                        <a:t>Index</a:t>
                      </a:r>
                    </a:p>
                  </a:txBody>
                  <a:tcPr/>
                </a:tc>
                <a:extLst>
                  <a:ext uri="{0D108BD9-81ED-4DB2-BD59-A6C34878D82A}">
                    <a16:rowId xmlns:a16="http://schemas.microsoft.com/office/drawing/2014/main" xmlns="" val="10000"/>
                  </a:ext>
                </a:extLst>
              </a:tr>
              <a:tr h="628650">
                <a:tc>
                  <a:txBody>
                    <a:bodyPr/>
                    <a:lstStyle/>
                    <a:p>
                      <a:r>
                        <a:rPr lang="en-US" sz="2800" b="0" dirty="0">
                          <a:latin typeface="Times New Roman" pitchFamily="18" charset="0"/>
                          <a:cs typeface="Times New Roman" pitchFamily="18" charset="0"/>
                        </a:rPr>
                        <a:t>9.</a:t>
                      </a:r>
                    </a:p>
                  </a:txBody>
                  <a:tcPr/>
                </a:tc>
                <a:tc>
                  <a:txBody>
                    <a:bodyPr/>
                    <a:lstStyle/>
                    <a:p>
                      <a:r>
                        <a:rPr lang="en-US" sz="2800" b="0" dirty="0">
                          <a:latin typeface="Times New Roman" pitchFamily="18" charset="0"/>
                          <a:cs typeface="Times New Roman" pitchFamily="18" charset="0"/>
                        </a:rPr>
                        <a:t>Video Links</a:t>
                      </a:r>
                    </a:p>
                  </a:txBody>
                  <a:tcPr/>
                </a:tc>
                <a:extLst>
                  <a:ext uri="{0D108BD9-81ED-4DB2-BD59-A6C34878D82A}">
                    <a16:rowId xmlns:a16="http://schemas.microsoft.com/office/drawing/2014/main" xmlns="" val="10001"/>
                  </a:ext>
                </a:extLst>
              </a:tr>
              <a:tr h="628650">
                <a:tc>
                  <a:txBody>
                    <a:bodyPr/>
                    <a:lstStyle/>
                    <a:p>
                      <a:r>
                        <a:rPr lang="en-US" sz="2800" b="0" dirty="0">
                          <a:latin typeface="Times New Roman" pitchFamily="18" charset="0"/>
                          <a:cs typeface="Times New Roman" pitchFamily="18" charset="0"/>
                        </a:rPr>
                        <a:t>10.</a:t>
                      </a:r>
                    </a:p>
                  </a:txBody>
                  <a:tcPr/>
                </a:tc>
                <a:tc>
                  <a:txBody>
                    <a:bodyPr/>
                    <a:lstStyle/>
                    <a:p>
                      <a:r>
                        <a:rPr lang="en-US" sz="2800" b="0" dirty="0">
                          <a:latin typeface="Times New Roman" pitchFamily="18" charset="0"/>
                          <a:cs typeface="Times New Roman" pitchFamily="18" charset="0"/>
                        </a:rPr>
                        <a:t>Daily Quiz</a:t>
                      </a:r>
                    </a:p>
                  </a:txBody>
                  <a:tcPr/>
                </a:tc>
                <a:extLst>
                  <a:ext uri="{0D108BD9-81ED-4DB2-BD59-A6C34878D82A}">
                    <a16:rowId xmlns:a16="http://schemas.microsoft.com/office/drawing/2014/main" xmlns="" val="10002"/>
                  </a:ext>
                </a:extLst>
              </a:tr>
              <a:tr h="628650">
                <a:tc>
                  <a:txBody>
                    <a:bodyPr/>
                    <a:lstStyle/>
                    <a:p>
                      <a:r>
                        <a:rPr lang="en-US" sz="2800" b="0" dirty="0">
                          <a:latin typeface="Times New Roman" pitchFamily="18" charset="0"/>
                          <a:cs typeface="Times New Roman" pitchFamily="18" charset="0"/>
                        </a:rPr>
                        <a:t>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0" dirty="0">
                          <a:latin typeface="Times New Roman" pitchFamily="18" charset="0"/>
                          <a:cs typeface="Times New Roman" pitchFamily="18" charset="0"/>
                        </a:rPr>
                        <a:t>MCQs</a:t>
                      </a:r>
                    </a:p>
                  </a:txBody>
                  <a:tcPr/>
                </a:tc>
                <a:extLst>
                  <a:ext uri="{0D108BD9-81ED-4DB2-BD59-A6C34878D82A}">
                    <a16:rowId xmlns:a16="http://schemas.microsoft.com/office/drawing/2014/main" xmlns="" val="10003"/>
                  </a:ext>
                </a:extLst>
              </a:tr>
              <a:tr h="628650">
                <a:tc>
                  <a:txBody>
                    <a:bodyPr/>
                    <a:lstStyle/>
                    <a:p>
                      <a:r>
                        <a:rPr lang="en-US" sz="2800" b="0" dirty="0">
                          <a:latin typeface="Times New Roman" pitchFamily="18" charset="0"/>
                          <a:cs typeface="Times New Roman" pitchFamily="18" charset="0"/>
                        </a:rPr>
                        <a:t>12.</a:t>
                      </a:r>
                    </a:p>
                  </a:txBody>
                  <a:tcPr/>
                </a:tc>
                <a:tc>
                  <a:txBody>
                    <a:bodyPr/>
                    <a:lstStyle/>
                    <a:p>
                      <a:r>
                        <a:rPr lang="en-US" sz="2800" b="0" dirty="0">
                          <a:latin typeface="Times New Roman" pitchFamily="18" charset="0"/>
                          <a:cs typeface="Times New Roman" pitchFamily="18" charset="0"/>
                        </a:rPr>
                        <a:t>Assignment</a:t>
                      </a:r>
                    </a:p>
                  </a:txBody>
                  <a:tcPr/>
                </a:tc>
                <a:extLst>
                  <a:ext uri="{0D108BD9-81ED-4DB2-BD59-A6C34878D82A}">
                    <a16:rowId xmlns:a16="http://schemas.microsoft.com/office/drawing/2014/main" xmlns="" val="10004"/>
                  </a:ext>
                </a:extLst>
              </a:tr>
              <a:tr h="628650">
                <a:tc>
                  <a:txBody>
                    <a:bodyPr/>
                    <a:lstStyle/>
                    <a:p>
                      <a:r>
                        <a:rPr lang="en-US" sz="2800" b="0" dirty="0">
                          <a:latin typeface="Times New Roman" pitchFamily="18" charset="0"/>
                          <a:cs typeface="Times New Roman" pitchFamily="18" charset="0"/>
                        </a:rPr>
                        <a:t>13.</a:t>
                      </a:r>
                    </a:p>
                  </a:txBody>
                  <a:tcPr/>
                </a:tc>
                <a:tc>
                  <a:txBody>
                    <a:bodyPr/>
                    <a:lstStyle/>
                    <a:p>
                      <a:r>
                        <a:rPr lang="en-US" sz="2800" b="0" dirty="0">
                          <a:latin typeface="Times New Roman" pitchFamily="18" charset="0"/>
                          <a:cs typeface="Times New Roman" pitchFamily="18" charset="0"/>
                        </a:rPr>
                        <a:t>Old Question Papers</a:t>
                      </a:r>
                    </a:p>
                  </a:txBody>
                  <a:tcPr/>
                </a:tc>
                <a:extLst>
                  <a:ext uri="{0D108BD9-81ED-4DB2-BD59-A6C34878D82A}">
                    <a16:rowId xmlns:a16="http://schemas.microsoft.com/office/drawing/2014/main" xmlns="" val="10005"/>
                  </a:ext>
                </a:extLst>
              </a:tr>
              <a:tr h="628650">
                <a:tc>
                  <a:txBody>
                    <a:bodyPr/>
                    <a:lstStyle/>
                    <a:p>
                      <a:r>
                        <a:rPr lang="en-US" sz="2800" b="0" dirty="0">
                          <a:latin typeface="Times New Roman" pitchFamily="18" charset="0"/>
                          <a:cs typeface="Times New Roman" pitchFamily="18" charset="0"/>
                        </a:rPr>
                        <a:t>14.</a:t>
                      </a:r>
                    </a:p>
                  </a:txBody>
                  <a:tcPr/>
                </a:tc>
                <a:tc>
                  <a:txBody>
                    <a:bodyPr/>
                    <a:lstStyle/>
                    <a:p>
                      <a:r>
                        <a:rPr lang="en-US" sz="2800" b="0" dirty="0">
                          <a:latin typeface="Times New Roman" pitchFamily="18" charset="0"/>
                          <a:cs typeface="Times New Roman" pitchFamily="18" charset="0"/>
                        </a:rPr>
                        <a:t>Summary</a:t>
                      </a:r>
                    </a:p>
                  </a:txBody>
                  <a:tcPr/>
                </a:tc>
                <a:extLst>
                  <a:ext uri="{0D108BD9-81ED-4DB2-BD59-A6C34878D82A}">
                    <a16:rowId xmlns:a16="http://schemas.microsoft.com/office/drawing/2014/main" xmlns="" val="10006"/>
                  </a:ext>
                </a:extLst>
              </a:tr>
              <a:tr h="628650">
                <a:tc>
                  <a:txBody>
                    <a:bodyPr/>
                    <a:lstStyle/>
                    <a:p>
                      <a:r>
                        <a:rPr lang="en-US" sz="2800" b="0" dirty="0">
                          <a:latin typeface="Times New Roman" pitchFamily="18" charset="0"/>
                          <a:cs typeface="Times New Roman" pitchFamily="18" charset="0"/>
                        </a:rPr>
                        <a:t>15.</a:t>
                      </a:r>
                    </a:p>
                  </a:txBody>
                  <a:tcPr/>
                </a:tc>
                <a:tc>
                  <a:txBody>
                    <a:bodyPr/>
                    <a:lstStyle/>
                    <a:p>
                      <a:r>
                        <a:rPr lang="en-US" sz="2800" b="0" dirty="0">
                          <a:latin typeface="Times New Roman" pitchFamily="18" charset="0"/>
                          <a:cs typeface="Times New Roman" pitchFamily="18" charset="0"/>
                        </a:rPr>
                        <a:t>References</a:t>
                      </a:r>
                    </a:p>
                  </a:txBody>
                  <a:tcPr/>
                </a:tc>
                <a:extLst>
                  <a:ext uri="{0D108BD9-81ED-4DB2-BD59-A6C34878D82A}">
                    <a16:rowId xmlns:a16="http://schemas.microsoft.com/office/drawing/2014/main" xmlns="" val="10007"/>
                  </a:ext>
                </a:extLst>
              </a:tr>
            </a:tbl>
          </a:graphicData>
        </a:graphic>
      </p:graphicFrame>
      <p:sp>
        <p:nvSpPr>
          <p:cNvPr id="4" name="Date Placeholder 3"/>
          <p:cNvSpPr>
            <a:spLocks noGrp="1"/>
          </p:cNvSpPr>
          <p:nvPr>
            <p:ph type="dt" sz="half" idx="10"/>
          </p:nvPr>
        </p:nvSpPr>
        <p:spPr/>
        <p:txBody>
          <a:bodyPr/>
          <a:lstStyle/>
          <a:p>
            <a:fld id="{35455AA5-85F3-4EC1-8EAA-FC62DCF36D77}" type="datetime1">
              <a:rPr lang="en-US" smtClean="0"/>
              <a:t>1/14/2022</a:t>
            </a:fld>
            <a:endParaRPr lang="en-US" dirty="0"/>
          </a:p>
        </p:txBody>
      </p:sp>
      <p:sp>
        <p:nvSpPr>
          <p:cNvPr id="5" name="Footer Placeholder 4"/>
          <p:cNvSpPr>
            <a:spLocks noGrp="1"/>
          </p:cNvSpPr>
          <p:nvPr>
            <p:ph type="ftr" sz="quarter" idx="11"/>
          </p:nvPr>
        </p:nvSpPr>
        <p:spPr>
          <a:xfrm>
            <a:off x="1752600" y="6356352"/>
            <a:ext cx="64008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371600" y="2"/>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2"/>
            <a:ext cx="1447800" cy="817163"/>
          </a:xfrm>
          <a:prstGeom prst="rect">
            <a:avLst/>
          </a:prstGeom>
          <a:noFill/>
        </p:spPr>
      </p:pic>
    </p:spTree>
    <p:extLst>
      <p:ext uri="{BB962C8B-B14F-4D97-AF65-F5344CB8AC3E}">
        <p14:creationId xmlns:p14="http://schemas.microsoft.com/office/powerpoint/2010/main" xmlns="" val="3893340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305800" cy="4602167"/>
          </a:xfrm>
        </p:spPr>
        <p:txBody>
          <a:bodyPr>
            <a:normAutofit/>
          </a:bodyPr>
          <a:lstStyle/>
          <a:p>
            <a:pPr algn="just"/>
            <a:r>
              <a:rPr lang="en-US" sz="2000" dirty="0"/>
              <a:t>Evolution of script and languages in </a:t>
            </a:r>
            <a:r>
              <a:rPr lang="en-US" sz="2000" dirty="0" smtClean="0"/>
              <a:t>India.</a:t>
            </a:r>
          </a:p>
          <a:p>
            <a:pPr algn="just"/>
            <a:r>
              <a:rPr lang="en-US" sz="2000" dirty="0" smtClean="0"/>
              <a:t> </a:t>
            </a:r>
            <a:r>
              <a:rPr lang="en-US" sz="2000" dirty="0"/>
              <a:t>The Vedas, </a:t>
            </a:r>
            <a:r>
              <a:rPr lang="en-US" sz="2000" dirty="0" smtClean="0"/>
              <a:t>the Upanishads</a:t>
            </a:r>
            <a:r>
              <a:rPr lang="en-US" sz="2000" dirty="0"/>
              <a:t>, the Ramayana and the Mahabharata, </a:t>
            </a:r>
            <a:r>
              <a:rPr lang="en-US" sz="2000" dirty="0" err="1"/>
              <a:t>Puranas</a:t>
            </a:r>
            <a:r>
              <a:rPr lang="en-US" sz="2000" dirty="0"/>
              <a:t>, </a:t>
            </a:r>
            <a:endParaRPr lang="en-US" sz="2000" dirty="0" smtClean="0"/>
          </a:p>
          <a:p>
            <a:pPr algn="just"/>
            <a:r>
              <a:rPr lang="en-US" sz="2000" dirty="0" smtClean="0"/>
              <a:t>Buddhist </a:t>
            </a:r>
            <a:r>
              <a:rPr lang="en-US" sz="2000" dirty="0"/>
              <a:t>And Jain Literature </a:t>
            </a:r>
            <a:r>
              <a:rPr lang="en-US" sz="2000" dirty="0" smtClean="0"/>
              <a:t>in </a:t>
            </a:r>
            <a:r>
              <a:rPr lang="en-US" sz="2000" dirty="0" err="1" smtClean="0"/>
              <a:t>Pali</a:t>
            </a:r>
            <a:r>
              <a:rPr lang="en-US" sz="2000" dirty="0" smtClean="0"/>
              <a:t>, </a:t>
            </a:r>
            <a:r>
              <a:rPr lang="en-US" sz="2000" dirty="0" err="1" smtClean="0"/>
              <a:t>Prakrit</a:t>
            </a:r>
            <a:r>
              <a:rPr lang="en-US" sz="2000" dirty="0" smtClean="0"/>
              <a:t> </a:t>
            </a:r>
            <a:r>
              <a:rPr lang="en-US" sz="2000" dirty="0"/>
              <a:t>And Sanskrit, </a:t>
            </a:r>
            <a:endParaRPr lang="en-US" sz="2000" dirty="0" smtClean="0"/>
          </a:p>
          <a:p>
            <a:pPr algn="just"/>
            <a:r>
              <a:rPr lang="en-US" sz="2000" dirty="0" err="1" smtClean="0"/>
              <a:t>Kautilya’s</a:t>
            </a:r>
            <a:r>
              <a:rPr lang="en-US" sz="2000" dirty="0" smtClean="0"/>
              <a:t>  </a:t>
            </a:r>
            <a:r>
              <a:rPr lang="en-US" sz="2000" dirty="0" err="1" smtClean="0"/>
              <a:t>Arthashastra</a:t>
            </a:r>
            <a:r>
              <a:rPr lang="en-US" sz="2000" dirty="0"/>
              <a:t>, Famous Sanskrit Authors, Telugu Literature,</a:t>
            </a:r>
          </a:p>
          <a:p>
            <a:pPr algn="just"/>
            <a:r>
              <a:rPr lang="en-US" sz="2000" dirty="0" smtClean="0"/>
              <a:t>Indian Literatures</a:t>
            </a:r>
          </a:p>
          <a:p>
            <a:pPr algn="just"/>
            <a:r>
              <a:rPr lang="en-US" sz="2000" dirty="0" smtClean="0"/>
              <a:t>Persian </a:t>
            </a:r>
            <a:r>
              <a:rPr lang="en-US" sz="2000" dirty="0"/>
              <a:t>And Urdu ,Hindi Literature</a:t>
            </a:r>
            <a:endParaRPr lang="en-US" sz="1800" spc="-5"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FE8CE08-0282-4FAB-AAEB-90319818B5FE}" type="datetime1">
              <a:rPr lang="en-US" smtClean="0">
                <a:solidFill>
                  <a:prstClr val="black">
                    <a:tint val="75000"/>
                  </a:prstClr>
                </a:solidFill>
              </a:rPr>
              <a:t>1/14/2022</a:t>
            </a:fld>
            <a:endParaRPr lang="en-US" dirty="0">
              <a:solidFill>
                <a:prstClr val="black">
                  <a:tint val="75000"/>
                </a:prstClr>
              </a:solidFill>
            </a:endParaRPr>
          </a:p>
        </p:txBody>
      </p:sp>
      <p:sp>
        <p:nvSpPr>
          <p:cNvPr id="5" name="Footer Placeholder 4"/>
          <p:cNvSpPr>
            <a:spLocks noGrp="1"/>
          </p:cNvSpPr>
          <p:nvPr>
            <p:ph type="ftr" sz="quarter" idx="11"/>
          </p:nvPr>
        </p:nvSpPr>
        <p:spPr>
          <a:xfrm>
            <a:off x="1752600" y="6356354"/>
            <a:ext cx="6400800" cy="365125"/>
          </a:xfrm>
        </p:spPr>
        <p:txBody>
          <a:bodyPr/>
          <a:lstStyle/>
          <a:p>
            <a:r>
              <a:rPr lang="fi-FI" smtClean="0">
                <a:solidFill>
                  <a:prstClr val="black"/>
                </a:solidFill>
              </a:rPr>
              <a:t>Dr.Ankita Shukla KNC 602                                   Unit :2</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4</a:t>
            </a:fld>
            <a:endParaRPr lang="en-US" dirty="0">
              <a:solidFill>
                <a:prstClr val="black">
                  <a:tint val="75000"/>
                </a:prstClr>
              </a:solidFill>
            </a:endParaRPr>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solidFill>
                  <a:prstClr val="black"/>
                </a:solidFill>
                <a:latin typeface="Times New Roman" pitchFamily="18" charset="0"/>
                <a:cs typeface="Times New Roman" pitchFamily="18" charset="0"/>
              </a:rPr>
              <a:t>Content</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3986145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4"/>
            <a:ext cx="8229600" cy="4525963"/>
          </a:xfrm>
        </p:spPr>
        <p:txBody>
          <a:bodyPr>
            <a:normAutofit/>
          </a:bodyPr>
          <a:lstStyle/>
          <a:p>
            <a:pPr algn="just"/>
            <a:r>
              <a:rPr lang="en-US" sz="2800" dirty="0">
                <a:latin typeface="Times New Roman" pitchFamily="18" charset="0"/>
                <a:cs typeface="Times New Roman" pitchFamily="18" charset="0"/>
              </a:rPr>
              <a:t>Introduction to ancient India scripts and languages</a:t>
            </a:r>
          </a:p>
          <a:p>
            <a:pPr algn="just"/>
            <a:r>
              <a:rPr lang="en-US" sz="2800" spc="-5" dirty="0">
                <a:latin typeface="Times New Roman" pitchFamily="18" charset="0"/>
                <a:cs typeface="Times New Roman" pitchFamily="18" charset="0"/>
              </a:rPr>
              <a:t>Brief overview on Vedas and Upanishads</a:t>
            </a:r>
          </a:p>
          <a:p>
            <a:pPr algn="just"/>
            <a:r>
              <a:rPr lang="en-US" sz="2800" spc="-5" dirty="0">
                <a:latin typeface="Times New Roman" pitchFamily="18" charset="0"/>
                <a:cs typeface="Times New Roman" pitchFamily="18" charset="0"/>
              </a:rPr>
              <a:t>Brief overview on Buddhist and Jain Literature</a:t>
            </a:r>
          </a:p>
          <a:p>
            <a:pPr marL="0" indent="0">
              <a:buNone/>
            </a:pP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FD25235-19CB-4BF7-99B5-341892DAAE4C}" type="datetime1">
              <a:rPr lang="en-US" smtClean="0">
                <a:solidFill>
                  <a:prstClr val="black">
                    <a:tint val="75000"/>
                  </a:prstClr>
                </a:solidFill>
              </a:rPr>
              <a:t>1/14/2022</a:t>
            </a:fld>
            <a:endParaRPr lang="en-US" dirty="0">
              <a:solidFill>
                <a:prstClr val="black">
                  <a:tint val="75000"/>
                </a:prstClr>
              </a:solidFill>
            </a:endParaRPr>
          </a:p>
        </p:txBody>
      </p:sp>
      <p:sp>
        <p:nvSpPr>
          <p:cNvPr id="5" name="Footer Placeholder 4"/>
          <p:cNvSpPr>
            <a:spLocks noGrp="1"/>
          </p:cNvSpPr>
          <p:nvPr>
            <p:ph type="ftr" sz="quarter" idx="11"/>
          </p:nvPr>
        </p:nvSpPr>
        <p:spPr>
          <a:xfrm>
            <a:off x="1752600" y="6356354"/>
            <a:ext cx="6400800" cy="365125"/>
          </a:xfrm>
        </p:spPr>
        <p:txBody>
          <a:bodyPr/>
          <a:lstStyle/>
          <a:p>
            <a:r>
              <a:rPr lang="fi-FI" smtClean="0">
                <a:solidFill>
                  <a:prstClr val="black"/>
                </a:solidFill>
              </a:rPr>
              <a:t>Dr.Ankita Shukla KNC 602                                   Unit :2</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5</a:t>
            </a:fld>
            <a:endParaRPr lang="en-US" dirty="0">
              <a:solidFill>
                <a:prstClr val="black">
                  <a:tint val="75000"/>
                </a:prstClr>
              </a:solidFill>
            </a:endParaRPr>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dirty="0">
                <a:solidFill>
                  <a:prstClr val="black"/>
                </a:solidFill>
                <a:latin typeface="Times New Roman" pitchFamily="18" charset="0"/>
                <a:cs typeface="Times New Roman" pitchFamily="18" charset="0"/>
              </a:rPr>
              <a:t>                       </a:t>
            </a:r>
            <a:r>
              <a:rPr lang="en-US" sz="2800" b="1" dirty="0">
                <a:solidFill>
                  <a:prstClr val="black"/>
                </a:solidFill>
                <a:latin typeface="Times New Roman" pitchFamily="18" charset="0"/>
                <a:cs typeface="Times New Roman" pitchFamily="18" charset="0"/>
              </a:rPr>
              <a:t>Unit Objective(s)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1185386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4"/>
            <a:ext cx="8229600" cy="4525963"/>
          </a:xfrm>
        </p:spPr>
        <p:txBody>
          <a:bodyPr>
            <a:normAutofit fontScale="62500" lnSpcReduction="20000"/>
          </a:bodyPr>
          <a:lstStyle/>
          <a:p>
            <a:pPr marL="0" indent="0" algn="just">
              <a:buNone/>
            </a:pPr>
            <a:r>
              <a:rPr lang="en-US" sz="2800" dirty="0" smtClean="0"/>
              <a:t>1. The </a:t>
            </a:r>
            <a:r>
              <a:rPr lang="en-US" sz="2800" dirty="0"/>
              <a:t>course aims at imparting basic principles of thought process, reasoning and </a:t>
            </a:r>
            <a:r>
              <a:rPr lang="en-US" sz="2800" dirty="0" smtClean="0"/>
              <a:t>inference to </a:t>
            </a:r>
            <a:r>
              <a:rPr lang="en-US" sz="2800" dirty="0"/>
              <a:t>identify the roots and details of some of the contemporary issues faced by our </a:t>
            </a:r>
            <a:r>
              <a:rPr lang="en-US" sz="2800" dirty="0" smtClean="0"/>
              <a:t>nation and </a:t>
            </a:r>
            <a:r>
              <a:rPr lang="en-US" sz="2800" dirty="0"/>
              <a:t>try to locate possible solutions to these challenges by digging deep into our past</a:t>
            </a:r>
            <a:r>
              <a:rPr lang="en-US" sz="2800" dirty="0" smtClean="0"/>
              <a:t>.</a:t>
            </a:r>
          </a:p>
          <a:p>
            <a:pPr marL="0" indent="0" algn="just">
              <a:buNone/>
            </a:pPr>
            <a:r>
              <a:rPr lang="en-US" sz="2800" dirty="0" smtClean="0"/>
              <a:t>2.  To </a:t>
            </a:r>
            <a:r>
              <a:rPr lang="en-US" sz="2800" dirty="0"/>
              <a:t>enable the students to understand the importance of our surroundings and </a:t>
            </a:r>
            <a:r>
              <a:rPr lang="en-US" sz="2800" dirty="0" smtClean="0"/>
              <a:t>encourage the </a:t>
            </a:r>
            <a:r>
              <a:rPr lang="en-US" sz="2800" dirty="0"/>
              <a:t>students to contribute towards sustainable development</a:t>
            </a:r>
            <a:r>
              <a:rPr lang="en-US" sz="2800" dirty="0" smtClean="0"/>
              <a:t>.</a:t>
            </a:r>
            <a:endParaRPr lang="en-US" sz="2800" dirty="0"/>
          </a:p>
          <a:p>
            <a:pPr marL="0" indent="0" algn="just">
              <a:buNone/>
            </a:pPr>
            <a:r>
              <a:rPr lang="en-US" sz="2800" dirty="0" smtClean="0"/>
              <a:t>3. To </a:t>
            </a:r>
            <a:r>
              <a:rPr lang="en-US" sz="2800" dirty="0"/>
              <a:t>sensitize students towards issues related to ‘Indian’ culture, tradition and its</a:t>
            </a:r>
          </a:p>
          <a:p>
            <a:pPr marL="0" indent="0" algn="just">
              <a:buNone/>
            </a:pPr>
            <a:r>
              <a:rPr lang="en-US" sz="2800" dirty="0"/>
              <a:t>composite character</a:t>
            </a:r>
            <a:r>
              <a:rPr lang="en-US" sz="2800" dirty="0" smtClean="0"/>
              <a:t>.</a:t>
            </a:r>
            <a:endParaRPr lang="en-US" sz="2800" dirty="0"/>
          </a:p>
          <a:p>
            <a:pPr marL="0" indent="0" algn="just">
              <a:buNone/>
            </a:pPr>
            <a:r>
              <a:rPr lang="en-US" sz="2800" dirty="0" smtClean="0"/>
              <a:t>4.  To </a:t>
            </a:r>
            <a:r>
              <a:rPr lang="en-US" sz="2800" dirty="0"/>
              <a:t>make students aware of holistic life styles of Yogic-science and wisdom capsules </a:t>
            </a:r>
            <a:r>
              <a:rPr lang="en-US" sz="2800" dirty="0" smtClean="0"/>
              <a:t>in Sanskrit </a:t>
            </a:r>
            <a:r>
              <a:rPr lang="en-US" sz="2800" dirty="0"/>
              <a:t>literature that are important in modern society with rapid technological</a:t>
            </a:r>
          </a:p>
          <a:p>
            <a:pPr marL="0" indent="0" algn="just">
              <a:buNone/>
            </a:pPr>
            <a:r>
              <a:rPr lang="en-US" sz="2800" dirty="0"/>
              <a:t>advancements and societal disruptions.</a:t>
            </a:r>
          </a:p>
          <a:p>
            <a:pPr marL="0" indent="0" algn="just">
              <a:buNone/>
            </a:pPr>
            <a:r>
              <a:rPr lang="en-US" sz="2800" dirty="0" smtClean="0"/>
              <a:t>5.  To </a:t>
            </a:r>
            <a:r>
              <a:rPr lang="en-US" sz="2800" dirty="0"/>
              <a:t>acquaint students with Indian Knowledge System, Indian perspective of modern</a:t>
            </a:r>
          </a:p>
          <a:p>
            <a:pPr marL="0" indent="0" algn="just">
              <a:buNone/>
            </a:pPr>
            <a:r>
              <a:rPr lang="en-US" sz="2800" dirty="0"/>
              <a:t>scientific world-view and basic principles of Yoga and holistic health care system.</a:t>
            </a: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11F651-CDDC-4177-B725-8D440D0F46F7}" type="datetime1">
              <a:rPr lang="en-US" smtClean="0">
                <a:solidFill>
                  <a:prstClr val="black">
                    <a:tint val="75000"/>
                  </a:prstClr>
                </a:solidFill>
              </a:rPr>
              <a:t>1/14/2022</a:t>
            </a:fld>
            <a:endParaRPr lang="en-US" dirty="0">
              <a:solidFill>
                <a:prstClr val="black">
                  <a:tint val="75000"/>
                </a:prstClr>
              </a:solidFill>
            </a:endParaRPr>
          </a:p>
        </p:txBody>
      </p:sp>
      <p:sp>
        <p:nvSpPr>
          <p:cNvPr id="5" name="Footer Placeholder 4"/>
          <p:cNvSpPr>
            <a:spLocks noGrp="1"/>
          </p:cNvSpPr>
          <p:nvPr>
            <p:ph type="ftr" sz="quarter" idx="11"/>
          </p:nvPr>
        </p:nvSpPr>
        <p:spPr>
          <a:xfrm>
            <a:off x="1447800" y="6356354"/>
            <a:ext cx="6705600" cy="365125"/>
          </a:xfrm>
        </p:spPr>
        <p:txBody>
          <a:bodyPr/>
          <a:lstStyle/>
          <a:p>
            <a:r>
              <a:rPr lang="fi-FI" smtClean="0">
                <a:solidFill>
                  <a:prstClr val="black"/>
                </a:solidFill>
              </a:rPr>
              <a:t>Dr.Ankita Shukla KNC 602                                   Unit :2</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6</a:t>
            </a:fld>
            <a:endParaRPr lang="en-US" dirty="0">
              <a:solidFill>
                <a:prstClr val="black">
                  <a:tint val="75000"/>
                </a:prstClr>
              </a:solidFill>
            </a:endParaRPr>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solidFill>
                  <a:prstClr val="black"/>
                </a:solidFill>
                <a:latin typeface="Times New Roman" pitchFamily="18" charset="0"/>
                <a:cs typeface="Times New Roman" pitchFamily="18" charset="0"/>
              </a:rPr>
              <a:t>Course Outcome</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1724096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24A23B-6E6E-4015-B810-A2E8A24FC0E4}" type="datetime1">
              <a:rPr lang="en-US" smtClean="0">
                <a:solidFill>
                  <a:prstClr val="black">
                    <a:tint val="75000"/>
                  </a:prstClr>
                </a:solidFill>
              </a:rPr>
              <a:t>1/14/2022</a:t>
            </a:fld>
            <a:endParaRPr lang="en-US" dirty="0">
              <a:solidFill>
                <a:prstClr val="black">
                  <a:tint val="75000"/>
                </a:prstClr>
              </a:solidFill>
            </a:endParaRPr>
          </a:p>
        </p:txBody>
      </p:sp>
      <p:sp>
        <p:nvSpPr>
          <p:cNvPr id="5" name="Footer Placeholder 4"/>
          <p:cNvSpPr>
            <a:spLocks noGrp="1"/>
          </p:cNvSpPr>
          <p:nvPr>
            <p:ph type="ftr" sz="quarter" idx="11"/>
          </p:nvPr>
        </p:nvSpPr>
        <p:spPr>
          <a:xfrm>
            <a:off x="1676400" y="6172204"/>
            <a:ext cx="6477000" cy="549275"/>
          </a:xfrm>
        </p:spPr>
        <p:txBody>
          <a:bodyPr/>
          <a:lstStyle/>
          <a:p>
            <a:r>
              <a:rPr lang="fi-FI" smtClean="0">
                <a:solidFill>
                  <a:prstClr val="black"/>
                </a:solidFill>
              </a:rPr>
              <a:t>Dr.Ankita Shukla KNC 602                                   Unit :2</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7</a:t>
            </a:fld>
            <a:endParaRPr lang="en-US" dirty="0">
              <a:solidFill>
                <a:prstClr val="black">
                  <a:tint val="75000"/>
                </a:prstClr>
              </a:solidFill>
            </a:endParaRPr>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solidFill>
                  <a:prstClr val="black"/>
                </a:solidFill>
                <a:latin typeface="Times New Roman" pitchFamily="18" charset="0"/>
                <a:cs typeface="Times New Roman" pitchFamily="18" charset="0"/>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graphicFrame>
        <p:nvGraphicFramePr>
          <p:cNvPr id="9" name="Table 8"/>
          <p:cNvGraphicFramePr>
            <a:graphicFrameLocks noGrp="1"/>
          </p:cNvGraphicFramePr>
          <p:nvPr>
            <p:extLst>
              <p:ext uri="{D42A27DB-BD31-4B8C-83A1-F6EECF244321}">
                <p14:modId xmlns:p14="http://schemas.microsoft.com/office/powerpoint/2010/main" xmlns="" val="4072271374"/>
              </p:ext>
            </p:extLst>
          </p:nvPr>
        </p:nvGraphicFramePr>
        <p:xfrm>
          <a:off x="342901" y="1937269"/>
          <a:ext cx="6172200" cy="3168131"/>
        </p:xfrm>
        <a:graphic>
          <a:graphicData uri="http://schemas.openxmlformats.org/drawingml/2006/table">
            <a:tbl>
              <a:tblPr firstRow="1" firstCol="1" bandRow="1">
                <a:tableStyleId>{5C22544A-7EE6-4342-B048-85BDC9FD1C3A}</a:tableStyleId>
              </a:tblPr>
              <a:tblGrid>
                <a:gridCol w="997464">
                  <a:extLst>
                    <a:ext uri="{9D8B030D-6E8A-4147-A177-3AD203B41FA5}">
                      <a16:colId xmlns:a16="http://schemas.microsoft.com/office/drawing/2014/main" xmlns="" val="20000"/>
                    </a:ext>
                  </a:extLst>
                </a:gridCol>
                <a:gridCol w="472855">
                  <a:extLst>
                    <a:ext uri="{9D8B030D-6E8A-4147-A177-3AD203B41FA5}">
                      <a16:colId xmlns:a16="http://schemas.microsoft.com/office/drawing/2014/main" xmlns="" val="20001"/>
                    </a:ext>
                  </a:extLst>
                </a:gridCol>
                <a:gridCol w="472855">
                  <a:extLst>
                    <a:ext uri="{9D8B030D-6E8A-4147-A177-3AD203B41FA5}">
                      <a16:colId xmlns:a16="http://schemas.microsoft.com/office/drawing/2014/main" xmlns="" val="20002"/>
                    </a:ext>
                  </a:extLst>
                </a:gridCol>
                <a:gridCol w="472855">
                  <a:extLst>
                    <a:ext uri="{9D8B030D-6E8A-4147-A177-3AD203B41FA5}">
                      <a16:colId xmlns:a16="http://schemas.microsoft.com/office/drawing/2014/main" xmlns="" val="20003"/>
                    </a:ext>
                  </a:extLst>
                </a:gridCol>
                <a:gridCol w="490106">
                  <a:extLst>
                    <a:ext uri="{9D8B030D-6E8A-4147-A177-3AD203B41FA5}">
                      <a16:colId xmlns:a16="http://schemas.microsoft.com/office/drawing/2014/main" xmlns="" val="20004"/>
                    </a:ext>
                  </a:extLst>
                </a:gridCol>
                <a:gridCol w="653213">
                  <a:extLst>
                    <a:ext uri="{9D8B030D-6E8A-4147-A177-3AD203B41FA5}">
                      <a16:colId xmlns:a16="http://schemas.microsoft.com/office/drawing/2014/main" xmlns="" val="20005"/>
                    </a:ext>
                  </a:extLst>
                </a:gridCol>
                <a:gridCol w="653213">
                  <a:extLst>
                    <a:ext uri="{9D8B030D-6E8A-4147-A177-3AD203B41FA5}">
                      <a16:colId xmlns:a16="http://schemas.microsoft.com/office/drawing/2014/main" xmlns="" val="20006"/>
                    </a:ext>
                  </a:extLst>
                </a:gridCol>
                <a:gridCol w="653213">
                  <a:extLst>
                    <a:ext uri="{9D8B030D-6E8A-4147-A177-3AD203B41FA5}">
                      <a16:colId xmlns:a16="http://schemas.microsoft.com/office/drawing/2014/main" xmlns="" val="20007"/>
                    </a:ext>
                  </a:extLst>
                </a:gridCol>
                <a:gridCol w="653213">
                  <a:extLst>
                    <a:ext uri="{9D8B030D-6E8A-4147-A177-3AD203B41FA5}">
                      <a16:colId xmlns:a16="http://schemas.microsoft.com/office/drawing/2014/main" xmlns="" val="20008"/>
                    </a:ext>
                  </a:extLst>
                </a:gridCol>
                <a:gridCol w="653213">
                  <a:extLst>
                    <a:ext uri="{9D8B030D-6E8A-4147-A177-3AD203B41FA5}">
                      <a16:colId xmlns:a16="http://schemas.microsoft.com/office/drawing/2014/main" xmlns="" val="20009"/>
                    </a:ext>
                  </a:extLst>
                </a:gridCol>
              </a:tblGrid>
              <a:tr h="940127">
                <a:tc>
                  <a:txBody>
                    <a:bodyPr/>
                    <a:lstStyle/>
                    <a:p>
                      <a:pPr marL="0" marR="0">
                        <a:lnSpc>
                          <a:spcPct val="115000"/>
                        </a:lnSpc>
                        <a:spcBef>
                          <a:spcPts val="0"/>
                        </a:spcBef>
                        <a:spcAft>
                          <a:spcPts val="1000"/>
                        </a:spcAft>
                      </a:pPr>
                      <a:r>
                        <a:rPr lang="en-US" sz="1100" dirty="0">
                          <a:effectLst/>
                        </a:rPr>
                        <a:t>PO</a:t>
                      </a:r>
                    </a:p>
                    <a:p>
                      <a:pPr marL="0" marR="0">
                        <a:lnSpc>
                          <a:spcPct val="115000"/>
                        </a:lnSpc>
                        <a:spcBef>
                          <a:spcPts val="0"/>
                        </a:spcBef>
                        <a:spcAft>
                          <a:spcPts val="1000"/>
                        </a:spcAft>
                      </a:pPr>
                      <a:r>
                        <a:rPr lang="en-US" sz="1100" dirty="0">
                          <a:effectLst/>
                        </a:rPr>
                        <a:t>CO</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PO4</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PO5</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rPr>
                        <a:t>PO6</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rPr>
                        <a:t>PO7</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rPr>
                        <a:t>PO8</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rPr>
                        <a:t>PO9</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rPr>
                        <a:t>PO10</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PO11</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PO12</a:t>
                      </a:r>
                      <a:endParaRPr lang="en-US" sz="1100" dirty="0">
                        <a:effectLst/>
                        <a:latin typeface="Calibri"/>
                        <a:ea typeface="Calibri"/>
                        <a:cs typeface="Times New Roman"/>
                      </a:endParaRPr>
                    </a:p>
                  </a:txBody>
                  <a:tcPr marL="51435" marR="51435" marT="0" marB="0"/>
                </a:tc>
                <a:extLst>
                  <a:ext uri="{0D108BD9-81ED-4DB2-BD59-A6C34878D82A}">
                    <a16:rowId xmlns:a16="http://schemas.microsoft.com/office/drawing/2014/main" xmlns="" val="10000"/>
                  </a:ext>
                </a:extLst>
              </a:tr>
              <a:tr h="371334">
                <a:tc>
                  <a:txBody>
                    <a:bodyPr/>
                    <a:lstStyle/>
                    <a:p>
                      <a:pPr marL="0" marR="0">
                        <a:lnSpc>
                          <a:spcPct val="115000"/>
                        </a:lnSpc>
                        <a:spcBef>
                          <a:spcPts val="0"/>
                        </a:spcBef>
                        <a:spcAft>
                          <a:spcPts val="1000"/>
                        </a:spcAft>
                      </a:pPr>
                      <a:r>
                        <a:rPr lang="en-US" sz="1200" dirty="0" smtClean="0">
                          <a:effectLst/>
                        </a:rPr>
                        <a:t>KNC 602.1</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M</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M</a:t>
                      </a:r>
                      <a:endParaRPr lang="en-US" sz="1100" dirty="0">
                        <a:effectLst/>
                        <a:latin typeface="Calibri"/>
                        <a:ea typeface="Calibri"/>
                        <a:cs typeface="Times New Roman"/>
                      </a:endParaRPr>
                    </a:p>
                  </a:txBody>
                  <a:tcPr marL="51435" marR="51435" marT="0" marB="0"/>
                </a:tc>
                <a:extLst>
                  <a:ext uri="{0D108BD9-81ED-4DB2-BD59-A6C34878D82A}">
                    <a16:rowId xmlns:a16="http://schemas.microsoft.com/office/drawing/2014/main" xmlns="" val="10001"/>
                  </a:ext>
                </a:extLst>
              </a:tr>
              <a:tr h="371334">
                <a:tc>
                  <a:txBody>
                    <a:bodyPr/>
                    <a:lstStyle/>
                    <a:p>
                      <a:pPr marL="0" marR="0">
                        <a:lnSpc>
                          <a:spcPct val="115000"/>
                        </a:lnSpc>
                        <a:spcBef>
                          <a:spcPts val="0"/>
                        </a:spcBef>
                        <a:spcAft>
                          <a:spcPts val="1000"/>
                        </a:spcAft>
                      </a:pPr>
                      <a:r>
                        <a:rPr lang="en-US" sz="1200" dirty="0" smtClean="0">
                          <a:effectLst/>
                        </a:rPr>
                        <a:t>KNC</a:t>
                      </a:r>
                      <a:r>
                        <a:rPr lang="en-US" sz="1200" baseline="0" dirty="0" smtClean="0">
                          <a:effectLst/>
                        </a:rPr>
                        <a:t> 602.2</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H</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M</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extLst>
                  <a:ext uri="{0D108BD9-81ED-4DB2-BD59-A6C34878D82A}">
                    <a16:rowId xmlns:a16="http://schemas.microsoft.com/office/drawing/2014/main" xmlns="" val="10002"/>
                  </a:ext>
                </a:extLst>
              </a:tr>
              <a:tr h="371334">
                <a:tc>
                  <a:txBody>
                    <a:bodyPr/>
                    <a:lstStyle/>
                    <a:p>
                      <a:pPr marL="0" marR="0">
                        <a:lnSpc>
                          <a:spcPct val="115000"/>
                        </a:lnSpc>
                        <a:spcBef>
                          <a:spcPts val="0"/>
                        </a:spcBef>
                        <a:spcAft>
                          <a:spcPts val="1000"/>
                        </a:spcAft>
                      </a:pPr>
                      <a:r>
                        <a:rPr lang="en-US" sz="1200" dirty="0" smtClean="0">
                          <a:effectLst/>
                        </a:rPr>
                        <a:t>KNC 602.3</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H</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M</a:t>
                      </a:r>
                      <a:endParaRPr lang="en-US" sz="1100" dirty="0">
                        <a:effectLst/>
                        <a:latin typeface="Calibri"/>
                        <a:ea typeface="Calibri"/>
                        <a:cs typeface="Times New Roman"/>
                      </a:endParaRPr>
                    </a:p>
                  </a:txBody>
                  <a:tcPr marL="51435" marR="51435" marT="0" marB="0"/>
                </a:tc>
                <a:extLst>
                  <a:ext uri="{0D108BD9-81ED-4DB2-BD59-A6C34878D82A}">
                    <a16:rowId xmlns:a16="http://schemas.microsoft.com/office/drawing/2014/main" xmlns="" val="10003"/>
                  </a:ext>
                </a:extLst>
              </a:tr>
              <a:tr h="371334">
                <a:tc>
                  <a:txBody>
                    <a:bodyPr/>
                    <a:lstStyle/>
                    <a:p>
                      <a:pPr marL="0" marR="0">
                        <a:lnSpc>
                          <a:spcPct val="115000"/>
                        </a:lnSpc>
                        <a:spcBef>
                          <a:spcPts val="0"/>
                        </a:spcBef>
                        <a:spcAft>
                          <a:spcPts val="1000"/>
                        </a:spcAft>
                      </a:pPr>
                      <a:r>
                        <a:rPr lang="en-US" sz="1200" dirty="0" smtClean="0">
                          <a:effectLst/>
                        </a:rPr>
                        <a:t>KNC 602.4</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M</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H</a:t>
                      </a:r>
                      <a:endParaRPr lang="en-US" sz="1100" dirty="0">
                        <a:effectLst/>
                        <a:latin typeface="Calibri"/>
                        <a:ea typeface="Calibri"/>
                        <a:cs typeface="Times New Roman"/>
                      </a:endParaRPr>
                    </a:p>
                  </a:txBody>
                  <a:tcPr marL="51435" marR="51435" marT="0" marB="0"/>
                </a:tc>
                <a:extLst>
                  <a:ext uri="{0D108BD9-81ED-4DB2-BD59-A6C34878D82A}">
                    <a16:rowId xmlns:a16="http://schemas.microsoft.com/office/drawing/2014/main" xmlns="" val="10004"/>
                  </a:ext>
                </a:extLst>
              </a:tr>
              <a:tr h="371334">
                <a:tc>
                  <a:txBody>
                    <a:bodyPr/>
                    <a:lstStyle/>
                    <a:p>
                      <a:pPr marL="0" marR="0">
                        <a:lnSpc>
                          <a:spcPct val="115000"/>
                        </a:lnSpc>
                        <a:spcBef>
                          <a:spcPts val="0"/>
                        </a:spcBef>
                        <a:spcAft>
                          <a:spcPts val="1000"/>
                        </a:spcAft>
                      </a:pPr>
                      <a:r>
                        <a:rPr lang="en-US" sz="1200" dirty="0" smtClean="0">
                          <a:effectLst/>
                        </a:rPr>
                        <a:t>KNC 602.5</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M</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H</a:t>
                      </a:r>
                      <a:endParaRPr lang="en-US" sz="1100" dirty="0">
                        <a:effectLst/>
                        <a:latin typeface="Calibri"/>
                        <a:ea typeface="Calibri"/>
                        <a:cs typeface="Times New Roman"/>
                      </a:endParaRPr>
                    </a:p>
                  </a:txBody>
                  <a:tcPr marL="51435" marR="51435" marT="0" marB="0"/>
                </a:tc>
                <a:extLst>
                  <a:ext uri="{0D108BD9-81ED-4DB2-BD59-A6C34878D82A}">
                    <a16:rowId xmlns:a16="http://schemas.microsoft.com/office/drawing/2014/main" xmlns="" val="10005"/>
                  </a:ext>
                </a:extLst>
              </a:tr>
              <a:tr h="371334">
                <a:tc>
                  <a:txBody>
                    <a:bodyPr/>
                    <a:lstStyle/>
                    <a:p>
                      <a:pPr marL="0" marR="0">
                        <a:lnSpc>
                          <a:spcPct val="115000"/>
                        </a:lnSpc>
                        <a:spcBef>
                          <a:spcPts val="0"/>
                        </a:spcBef>
                        <a:spcAft>
                          <a:spcPts val="1000"/>
                        </a:spcAft>
                      </a:pPr>
                      <a:r>
                        <a:rPr lang="en-US" sz="1200">
                          <a:effectLst/>
                        </a:rPr>
                        <a:t>Average</a:t>
                      </a:r>
                      <a:endParaRPr lang="en-US" sz="110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2</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2.5</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2.5</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2</a:t>
                      </a: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endParaRPr lang="en-US" sz="1100" dirty="0">
                        <a:effectLst/>
                        <a:latin typeface="Calibri"/>
                        <a:ea typeface="Calibri"/>
                        <a:cs typeface="Times New Roman"/>
                      </a:endParaRPr>
                    </a:p>
                  </a:txBody>
                  <a:tcPr marL="51435" marR="51435" marT="0" marB="0"/>
                </a:tc>
                <a:tc>
                  <a:txBody>
                    <a:bodyPr/>
                    <a:lstStyle/>
                    <a:p>
                      <a:pPr marL="0" marR="0" algn="ctr">
                        <a:lnSpc>
                          <a:spcPct val="115000"/>
                        </a:lnSpc>
                        <a:spcBef>
                          <a:spcPts val="0"/>
                        </a:spcBef>
                        <a:spcAft>
                          <a:spcPts val="1000"/>
                        </a:spcAft>
                      </a:pPr>
                      <a:r>
                        <a:rPr lang="en-US" sz="1100" dirty="0" smtClean="0">
                          <a:effectLst/>
                          <a:latin typeface="Calibri"/>
                          <a:ea typeface="Calibri"/>
                          <a:cs typeface="Times New Roman"/>
                        </a:rPr>
                        <a:t>2.5</a:t>
                      </a:r>
                      <a:endParaRPr lang="en-US" sz="1100" dirty="0">
                        <a:effectLst/>
                        <a:latin typeface="Calibri"/>
                        <a:ea typeface="Calibri"/>
                        <a:cs typeface="Times New Roman"/>
                      </a:endParaRPr>
                    </a:p>
                  </a:txBody>
                  <a:tcPr marL="51435" marR="51435" marT="0" marB="0"/>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xmlns="" val="3185316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xmlns="" val="2872336741"/>
              </p:ext>
            </p:extLst>
          </p:nvPr>
        </p:nvGraphicFramePr>
        <p:xfrm>
          <a:off x="381002" y="1153160"/>
          <a:ext cx="7696198" cy="3815080"/>
        </p:xfrm>
        <a:graphic>
          <a:graphicData uri="http://schemas.openxmlformats.org/drawingml/2006/table">
            <a:tbl>
              <a:tblPr firstRow="1" bandRow="1">
                <a:tableStyleId>{5C22544A-7EE6-4342-B048-85BDC9FD1C3A}</a:tableStyleId>
              </a:tblPr>
              <a:tblGrid>
                <a:gridCol w="609598">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5486400">
                  <a:extLst>
                    <a:ext uri="{9D8B030D-6E8A-4147-A177-3AD203B41FA5}">
                      <a16:colId xmlns:a16="http://schemas.microsoft.com/office/drawing/2014/main" xmlns="" val="20002"/>
                    </a:ext>
                  </a:extLst>
                </a:gridCol>
                <a:gridCol w="1143000">
                  <a:extLst>
                    <a:ext uri="{9D8B030D-6E8A-4147-A177-3AD203B41FA5}">
                      <a16:colId xmlns:a16="http://schemas.microsoft.com/office/drawing/2014/main" xmlns="" val="20003"/>
                    </a:ext>
                  </a:extLst>
                </a:gridCol>
              </a:tblGrid>
              <a:tr h="305642">
                <a:tc rowSpan="2">
                  <a:txBody>
                    <a:bodyPr/>
                    <a:lstStyle/>
                    <a:p>
                      <a:endParaRPr lang="en-US" sz="1400" b="1" dirty="0">
                        <a:solidFill>
                          <a:schemeClr val="bg1"/>
                        </a:solidFill>
                      </a:endParaRPr>
                    </a:p>
                    <a:p>
                      <a:r>
                        <a:rPr lang="en-US" sz="1400" b="1" dirty="0">
                          <a:solidFill>
                            <a:schemeClr val="bg1"/>
                          </a:solidFill>
                        </a:rPr>
                        <a:t> Unit-I</a:t>
                      </a:r>
                    </a:p>
                  </a:txBody>
                  <a:tcPr/>
                </a:tc>
                <a:tc rowSpan="2">
                  <a:txBody>
                    <a:bodyPr/>
                    <a:lstStyle/>
                    <a:p>
                      <a:endParaRPr lang="en-US" sz="1400" b="1" dirty="0">
                        <a:solidFill>
                          <a:schemeClr val="bg1"/>
                        </a:solidFill>
                      </a:endParaRPr>
                    </a:p>
                    <a:p>
                      <a:r>
                        <a:rPr lang="en-US" sz="1400" b="1" dirty="0">
                          <a:solidFill>
                            <a:schemeClr val="bg1"/>
                          </a:solidFill>
                        </a:rPr>
                        <a:t>   So. No.</a:t>
                      </a:r>
                    </a:p>
                  </a:txBody>
                  <a:tcPr/>
                </a:tc>
                <a:tc gridSpan="2">
                  <a:txBody>
                    <a:bodyPr/>
                    <a:lstStyle/>
                    <a:p>
                      <a:pPr algn="ctr"/>
                      <a:r>
                        <a:rPr lang="en-US" sz="2200" b="1" dirty="0">
                          <a:solidFill>
                            <a:schemeClr val="bg1"/>
                          </a:solidFill>
                        </a:rPr>
                        <a:t>Mapping</a:t>
                      </a:r>
                    </a:p>
                  </a:txBody>
                  <a:tcPr/>
                </a:tc>
                <a:tc hMerge="1">
                  <a:txBody>
                    <a:bodyPr/>
                    <a:lstStyle/>
                    <a:p>
                      <a:endParaRPr lang="en-US"/>
                    </a:p>
                  </a:txBody>
                  <a:tcPr/>
                </a:tc>
                <a:extLst>
                  <a:ext uri="{0D108BD9-81ED-4DB2-BD59-A6C34878D82A}">
                    <a16:rowId xmlns:a16="http://schemas.microsoft.com/office/drawing/2014/main" xmlns="" val="10000"/>
                  </a:ext>
                </a:extLst>
              </a:tr>
              <a:tr h="706120">
                <a:tc vMerge="1">
                  <a:txBody>
                    <a:bodyPr/>
                    <a:lstStyle/>
                    <a:p>
                      <a:endParaRPr lang="en-US" dirty="0"/>
                    </a:p>
                  </a:txBody>
                  <a:tcPr/>
                </a:tc>
                <a:tc vMerge="1">
                  <a:txBody>
                    <a:bodyPr/>
                    <a:lstStyle/>
                    <a:p>
                      <a:endParaRPr lang="en-US" dirty="0"/>
                    </a:p>
                  </a:txBody>
                  <a:tcPr/>
                </a:tc>
                <a:tc>
                  <a:txBody>
                    <a:bodyPr/>
                    <a:lstStyle/>
                    <a:p>
                      <a:r>
                        <a:rPr lang="en-US" sz="1600" b="1" dirty="0"/>
                        <a:t>                      Topic</a:t>
                      </a:r>
                    </a:p>
                  </a:txBody>
                  <a:tcPr/>
                </a:tc>
                <a:tc>
                  <a:txBody>
                    <a:bodyPr/>
                    <a:lstStyle/>
                    <a:p>
                      <a:r>
                        <a:rPr lang="en-US" sz="1600" b="1" dirty="0"/>
                        <a:t>Course Outcomes</a:t>
                      </a:r>
                    </a:p>
                  </a:txBody>
                  <a:tcPr/>
                </a:tc>
                <a:extLst>
                  <a:ext uri="{0D108BD9-81ED-4DB2-BD59-A6C34878D82A}">
                    <a16:rowId xmlns:a16="http://schemas.microsoft.com/office/drawing/2014/main" xmlns="" val="10001"/>
                  </a:ext>
                </a:extLst>
              </a:tr>
              <a:tr h="629920">
                <a:tc>
                  <a:txBody>
                    <a:bodyPr/>
                    <a:lstStyle/>
                    <a:p>
                      <a:pPr algn="just"/>
                      <a:r>
                        <a:rPr lang="en-US" sz="2200" b="0" dirty="0"/>
                        <a:t>         </a:t>
                      </a:r>
                      <a:r>
                        <a:rPr lang="en-US" sz="2200" b="0" dirty="0" smtClean="0"/>
                        <a:t>2</a:t>
                      </a:r>
                      <a:endParaRPr lang="en-US" sz="2200" b="0" dirty="0"/>
                    </a:p>
                  </a:txBody>
                  <a:tcPr/>
                </a:tc>
                <a:tc>
                  <a:txBody>
                    <a:bodyPr/>
                    <a:lstStyle/>
                    <a:p>
                      <a:pPr algn="ctr"/>
                      <a:r>
                        <a:rPr lang="en-US" sz="1600" b="0" dirty="0"/>
                        <a:t>          1</a:t>
                      </a:r>
                    </a:p>
                  </a:txBody>
                  <a:tcPr/>
                </a:tc>
                <a:tc>
                  <a:txBody>
                    <a:bodyPr/>
                    <a:lstStyle/>
                    <a:p>
                      <a:pPr algn="ctr"/>
                      <a:r>
                        <a:rPr lang="en-US" sz="1800" dirty="0" smtClean="0"/>
                        <a:t>Evolution of script and languages in India.</a:t>
                      </a:r>
                    </a:p>
                    <a:p>
                      <a:pPr algn="ctr"/>
                      <a:r>
                        <a:rPr lang="en-US" sz="1800" dirty="0" smtClean="0"/>
                        <a:t> </a:t>
                      </a:r>
                      <a:endParaRPr lang="en-US" sz="1800" dirty="0">
                        <a:latin typeface="Times New Roman" pitchFamily="18" charset="0"/>
                        <a:cs typeface="Times New Roman" pitchFamily="18" charset="0"/>
                      </a:endParaRPr>
                    </a:p>
                  </a:txBody>
                  <a:tcPr/>
                </a:tc>
                <a:tc>
                  <a:txBody>
                    <a:bodyPr/>
                    <a:lstStyle/>
                    <a:p>
                      <a:pPr algn="just"/>
                      <a:r>
                        <a:rPr lang="en-US" sz="2200" b="0" dirty="0" smtClean="0"/>
                        <a:t>CO2</a:t>
                      </a:r>
                      <a:endParaRPr lang="en-US" sz="2200" b="0" dirty="0"/>
                    </a:p>
                  </a:txBody>
                  <a:tcPr/>
                </a:tc>
                <a:extLst>
                  <a:ext uri="{0D108BD9-81ED-4DB2-BD59-A6C34878D82A}">
                    <a16:rowId xmlns:a16="http://schemas.microsoft.com/office/drawing/2014/main" xmlns="" val="10002"/>
                  </a:ext>
                </a:extLst>
              </a:tr>
              <a:tr h="247910">
                <a:tc>
                  <a:txBody>
                    <a:bodyPr/>
                    <a:lstStyle/>
                    <a:p>
                      <a:pPr algn="just"/>
                      <a:endParaRPr lang="en-US" sz="2200" b="0" dirty="0"/>
                    </a:p>
                  </a:txBody>
                  <a:tcPr/>
                </a:tc>
                <a:tc>
                  <a:txBody>
                    <a:bodyPr/>
                    <a:lstStyle/>
                    <a:p>
                      <a:pPr algn="ctr"/>
                      <a:r>
                        <a:rPr lang="en-US" sz="1600" b="0" dirty="0"/>
                        <a:t>          2</a:t>
                      </a:r>
                    </a:p>
                  </a:txBody>
                  <a:tcPr/>
                </a:tc>
                <a:tc>
                  <a:txBody>
                    <a:bodyPr/>
                    <a:lstStyle/>
                    <a:p>
                      <a:pPr algn="ctr"/>
                      <a:r>
                        <a:rPr lang="en-US" sz="1800" dirty="0" smtClean="0"/>
                        <a:t>The Vedas, the Upanishads, the Ramayana and the Mahabharata, </a:t>
                      </a:r>
                      <a:r>
                        <a:rPr lang="en-US" sz="1800" dirty="0" err="1" smtClean="0"/>
                        <a:t>Puranas</a:t>
                      </a:r>
                      <a:endParaRPr lang="en-US" sz="1800" dirty="0" smtClean="0"/>
                    </a:p>
                    <a:p>
                      <a:pPr algn="ctr"/>
                      <a:endParaRPr lang="en-US" sz="1800" spc="-5" dirty="0">
                        <a:latin typeface="Times New Roman" pitchFamily="18" charset="0"/>
                        <a:cs typeface="Times New Roman" pitchFamily="18" charset="0"/>
                      </a:endParaRPr>
                    </a:p>
                  </a:txBody>
                  <a:tcPr/>
                </a:tc>
                <a:tc>
                  <a:txBody>
                    <a:bodyPr/>
                    <a:lstStyle/>
                    <a:p>
                      <a:pPr algn="just"/>
                      <a:r>
                        <a:rPr lang="en-US" sz="2200" b="0" dirty="0" smtClean="0"/>
                        <a:t>CO2</a:t>
                      </a:r>
                      <a:endParaRPr lang="en-US" sz="2200" b="0" dirty="0"/>
                    </a:p>
                  </a:txBody>
                  <a:tcPr/>
                </a:tc>
                <a:extLst>
                  <a:ext uri="{0D108BD9-81ED-4DB2-BD59-A6C34878D82A}">
                    <a16:rowId xmlns:a16="http://schemas.microsoft.com/office/drawing/2014/main" xmlns="" val="10003"/>
                  </a:ext>
                </a:extLst>
              </a:tr>
              <a:tr h="247910">
                <a:tc>
                  <a:txBody>
                    <a:bodyPr/>
                    <a:lstStyle/>
                    <a:p>
                      <a:pPr algn="just"/>
                      <a:endParaRPr lang="en-US" sz="2200" b="0" dirty="0"/>
                    </a:p>
                  </a:txBody>
                  <a:tcPr/>
                </a:tc>
                <a:tc>
                  <a:txBody>
                    <a:bodyPr/>
                    <a:lstStyle/>
                    <a:p>
                      <a:pPr algn="ctr"/>
                      <a:r>
                        <a:rPr lang="en-US" sz="1600" b="0" dirty="0"/>
                        <a:t>           3</a:t>
                      </a:r>
                    </a:p>
                  </a:txBody>
                  <a:tcPr/>
                </a:tc>
                <a:tc>
                  <a:txBody>
                    <a:bodyPr/>
                    <a:lstStyle/>
                    <a:p>
                      <a:pPr algn="ctr"/>
                      <a:r>
                        <a:rPr lang="en-US" sz="1800" dirty="0" smtClean="0"/>
                        <a:t>Indian Literatures</a:t>
                      </a:r>
                    </a:p>
                    <a:p>
                      <a:pPr algn="ctr"/>
                      <a:r>
                        <a:rPr lang="en-US" sz="1800" dirty="0" smtClean="0"/>
                        <a:t>Persian And Urdu ,Hindi Literature</a:t>
                      </a:r>
                      <a:endParaRPr lang="en-US" sz="1600" spc="-5" dirty="0" smtClean="0">
                        <a:latin typeface="Times New Roman" pitchFamily="18" charset="0"/>
                        <a:cs typeface="Times New Roman" pitchFamily="18" charset="0"/>
                      </a:endParaRPr>
                    </a:p>
                    <a:p>
                      <a:pPr algn="ctr"/>
                      <a:endParaRPr lang="en-US" sz="2400" spc="-5" dirty="0">
                        <a:latin typeface="Times New Roman" pitchFamily="18" charset="0"/>
                        <a:cs typeface="Times New Roman" pitchFamily="18" charset="0"/>
                      </a:endParaRPr>
                    </a:p>
                  </a:txBody>
                  <a:tcPr/>
                </a:tc>
                <a:tc>
                  <a:txBody>
                    <a:bodyPr/>
                    <a:lstStyle/>
                    <a:p>
                      <a:pPr algn="just"/>
                      <a:r>
                        <a:rPr lang="en-US" sz="2200" b="0" dirty="0" smtClean="0"/>
                        <a:t>CO2</a:t>
                      </a:r>
                      <a:endParaRPr lang="en-US" sz="2200" b="0" dirty="0"/>
                    </a:p>
                  </a:txBody>
                  <a:tcPr/>
                </a:tc>
                <a:extLst>
                  <a:ext uri="{0D108BD9-81ED-4DB2-BD59-A6C34878D82A}">
                    <a16:rowId xmlns:a16="http://schemas.microsoft.com/office/drawing/2014/main" xmlns="" val="10004"/>
                  </a:ext>
                </a:extLst>
              </a:tr>
            </a:tbl>
          </a:graphicData>
        </a:graphic>
      </p:graphicFrame>
      <p:sp>
        <p:nvSpPr>
          <p:cNvPr id="4" name="Date Placeholder 3"/>
          <p:cNvSpPr>
            <a:spLocks noGrp="1"/>
          </p:cNvSpPr>
          <p:nvPr>
            <p:ph type="dt" sz="half" idx="10"/>
          </p:nvPr>
        </p:nvSpPr>
        <p:spPr/>
        <p:txBody>
          <a:bodyPr/>
          <a:lstStyle/>
          <a:p>
            <a:fld id="{1FCFB95B-AAC5-4321-9669-DD4177D340CF}" type="datetime1">
              <a:rPr lang="en-US" smtClean="0">
                <a:solidFill>
                  <a:prstClr val="black">
                    <a:tint val="75000"/>
                  </a:prstClr>
                </a:solidFill>
              </a:rPr>
              <a:t>1/14/2022</a:t>
            </a:fld>
            <a:endParaRPr lang="en-US" dirty="0">
              <a:solidFill>
                <a:prstClr val="black">
                  <a:tint val="75000"/>
                </a:prstClr>
              </a:solidFill>
            </a:endParaRPr>
          </a:p>
        </p:txBody>
      </p:sp>
      <p:sp>
        <p:nvSpPr>
          <p:cNvPr id="5" name="Footer Placeholder 4"/>
          <p:cNvSpPr>
            <a:spLocks noGrp="1"/>
          </p:cNvSpPr>
          <p:nvPr>
            <p:ph type="ftr" sz="quarter" idx="11"/>
          </p:nvPr>
        </p:nvSpPr>
        <p:spPr>
          <a:xfrm>
            <a:off x="1676400" y="6172204"/>
            <a:ext cx="6477000" cy="549275"/>
          </a:xfrm>
        </p:spPr>
        <p:txBody>
          <a:bodyPr/>
          <a:lstStyle/>
          <a:p>
            <a:r>
              <a:rPr lang="fi-FI" smtClean="0">
                <a:solidFill>
                  <a:prstClr val="black"/>
                </a:solidFill>
              </a:rPr>
              <a:t>Dr.Ankita Shukla KNC 602                                   Unit :2</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8</a:t>
            </a:fld>
            <a:endParaRPr lang="en-US" dirty="0">
              <a:solidFill>
                <a:prstClr val="black">
                  <a:tint val="75000"/>
                </a:prstClr>
              </a:solidFill>
            </a:endParaRPr>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solidFill>
                  <a:prstClr val="black"/>
                </a:solidFill>
                <a:latin typeface="Times New Roman" pitchFamily="18" charset="0"/>
                <a:cs typeface="Times New Roman" pitchFamily="18" charset="0"/>
              </a:rPr>
              <a:t>Topic Mapping with course outcomes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1234054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4"/>
            <a:ext cx="8229600" cy="4525963"/>
          </a:xfrm>
        </p:spPr>
        <p:txBody>
          <a:bodyPr>
            <a:normAutofit/>
          </a:bodyPr>
          <a:lstStyle/>
          <a:p>
            <a:pPr marL="0" indent="0" algn="just">
              <a:buNone/>
            </a:pPr>
            <a:r>
              <a:rPr lang="en-IN" sz="2800" dirty="0">
                <a:latin typeface="Times New Roman" pitchFamily="18" charset="0"/>
                <a:cs typeface="Times New Roman" pitchFamily="18" charset="0"/>
              </a:rPr>
              <a:t>Students will be able to know the following concepts:</a:t>
            </a:r>
            <a:endParaRPr lang="en-US" sz="28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Introduction to ancient </a:t>
            </a:r>
            <a:r>
              <a:rPr lang="en-US" sz="2400" dirty="0">
                <a:latin typeface="Times New Roman" pitchFamily="18" charset="0"/>
                <a:cs typeface="Times New Roman" pitchFamily="18" charset="0"/>
              </a:rPr>
              <a:t>I</a:t>
            </a:r>
            <a:r>
              <a:rPr lang="en-US" sz="2400" dirty="0" smtClean="0">
                <a:latin typeface="Times New Roman" pitchFamily="18" charset="0"/>
                <a:cs typeface="Times New Roman" pitchFamily="18" charset="0"/>
              </a:rPr>
              <a:t>ndia scripts and languages</a:t>
            </a:r>
          </a:p>
          <a:p>
            <a:pPr algn="just"/>
            <a:r>
              <a:rPr lang="en-US" sz="2400" spc="-5" dirty="0" smtClean="0">
                <a:latin typeface="Times New Roman" pitchFamily="18" charset="0"/>
                <a:cs typeface="Times New Roman" pitchFamily="18" charset="0"/>
              </a:rPr>
              <a:t>Brief overview on Vedas and Upanishads</a:t>
            </a:r>
          </a:p>
          <a:p>
            <a:pPr algn="just"/>
            <a:r>
              <a:rPr lang="en-US" sz="2400" spc="-5" dirty="0" smtClean="0">
                <a:latin typeface="Times New Roman" pitchFamily="18" charset="0"/>
                <a:cs typeface="Times New Roman" pitchFamily="18" charset="0"/>
              </a:rPr>
              <a:t>Brief overview on Buddhist and </a:t>
            </a:r>
            <a:r>
              <a:rPr lang="en-US" sz="2400" spc="-5" dirty="0">
                <a:latin typeface="Times New Roman" pitchFamily="18" charset="0"/>
                <a:cs typeface="Times New Roman" pitchFamily="18" charset="0"/>
              </a:rPr>
              <a:t>J</a:t>
            </a:r>
            <a:r>
              <a:rPr lang="en-US" sz="2400" spc="-5" dirty="0" smtClean="0">
                <a:latin typeface="Times New Roman" pitchFamily="18" charset="0"/>
                <a:cs typeface="Times New Roman" pitchFamily="18" charset="0"/>
              </a:rPr>
              <a:t>ain Literature</a:t>
            </a:r>
            <a:endParaRPr lang="en-US" sz="2400" spc="-5"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A0CCB95-BF78-4F12-967F-3507E80D45CF}" type="datetime1">
              <a:rPr lang="en-US" smtClean="0">
                <a:solidFill>
                  <a:prstClr val="black">
                    <a:tint val="75000"/>
                  </a:prstClr>
                </a:solidFill>
              </a:rPr>
              <a:t>1/14/2022</a:t>
            </a:fld>
            <a:endParaRPr lang="en-US" dirty="0">
              <a:solidFill>
                <a:prstClr val="black">
                  <a:tint val="75000"/>
                </a:prstClr>
              </a:solidFill>
            </a:endParaRPr>
          </a:p>
        </p:txBody>
      </p:sp>
      <p:sp>
        <p:nvSpPr>
          <p:cNvPr id="5" name="Footer Placeholder 4"/>
          <p:cNvSpPr>
            <a:spLocks noGrp="1"/>
          </p:cNvSpPr>
          <p:nvPr>
            <p:ph type="ftr" sz="quarter" idx="11"/>
          </p:nvPr>
        </p:nvSpPr>
        <p:spPr>
          <a:xfrm>
            <a:off x="1752600" y="6356354"/>
            <a:ext cx="6400800" cy="365125"/>
          </a:xfrm>
        </p:spPr>
        <p:txBody>
          <a:bodyPr/>
          <a:lstStyle/>
          <a:p>
            <a:r>
              <a:rPr lang="fi-FI" smtClean="0">
                <a:solidFill>
                  <a:prstClr val="black"/>
                </a:solidFill>
              </a:rPr>
              <a:t>Dr.Ankita Shukla KNC 602                                   Unit :2</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9</a:t>
            </a:fld>
            <a:endParaRPr lang="en-US" dirty="0">
              <a:solidFill>
                <a:prstClr val="black">
                  <a:tint val="75000"/>
                </a:prstClr>
              </a:solidFill>
            </a:endParaRPr>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smtClean="0">
                <a:solidFill>
                  <a:prstClr val="black"/>
                </a:solidFill>
                <a:latin typeface="Times New Roman" pitchFamily="18" charset="0"/>
                <a:cs typeface="Times New Roman" pitchFamily="18" charset="0"/>
              </a:rPr>
              <a:t>Topic objectives</a:t>
            </a:r>
            <a:endParaRPr lang="en-US" sz="2800" b="1" dirty="0">
              <a:solidFill>
                <a:prstClr val="black"/>
              </a:solidFill>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1724431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305800" cy="4906963"/>
          </a:xfrm>
        </p:spPr>
        <p:txBody>
          <a:bodyPr>
            <a:normAutofit fontScale="85000" lnSpcReduction="10000"/>
          </a:bodyPr>
          <a:lstStyle/>
          <a:p>
            <a:pPr algn="just"/>
            <a:r>
              <a:rPr lang="en-US" dirty="0"/>
              <a:t>The </a:t>
            </a:r>
            <a:r>
              <a:rPr lang="en-US" b="1" dirty="0"/>
              <a:t>Indus script</a:t>
            </a:r>
            <a:r>
              <a:rPr lang="en-US" dirty="0"/>
              <a:t> (also known as the </a:t>
            </a:r>
            <a:r>
              <a:rPr lang="en-US" b="1" dirty="0" err="1" smtClean="0"/>
              <a:t>Harappan</a:t>
            </a:r>
            <a:r>
              <a:rPr lang="en-US" b="1" dirty="0" smtClean="0"/>
              <a:t> </a:t>
            </a:r>
            <a:r>
              <a:rPr lang="en-US" b="1" dirty="0"/>
              <a:t>script</a:t>
            </a:r>
            <a:r>
              <a:rPr lang="en-US" dirty="0"/>
              <a:t>) is a corpus of symbols produced by the Indus Valley Civilization. </a:t>
            </a:r>
            <a:endParaRPr lang="en-US" dirty="0" smtClean="0"/>
          </a:p>
          <a:p>
            <a:pPr algn="just"/>
            <a:r>
              <a:rPr lang="en-US" dirty="0" smtClean="0"/>
              <a:t>There </a:t>
            </a:r>
            <a:r>
              <a:rPr lang="en-US" dirty="0"/>
              <a:t>is no known bilingual inscription to help decipher the script, and the script shows no significant changes over time. </a:t>
            </a:r>
            <a:endParaRPr lang="en-US" dirty="0" smtClean="0"/>
          </a:p>
          <a:p>
            <a:pPr algn="just"/>
            <a:r>
              <a:rPr lang="en-US" dirty="0" smtClean="0"/>
              <a:t>The </a:t>
            </a:r>
            <a:r>
              <a:rPr lang="en-US" dirty="0"/>
              <a:t>first publication of a seal with </a:t>
            </a:r>
            <a:r>
              <a:rPr lang="en-US" dirty="0" smtClean="0"/>
              <a:t>Harappa </a:t>
            </a:r>
            <a:r>
              <a:rPr lang="en-US" dirty="0"/>
              <a:t>symbols dates to 1875, in a drawing by Alexander </a:t>
            </a:r>
            <a:r>
              <a:rPr lang="en-US" dirty="0" smtClean="0"/>
              <a:t>Cunningham</a:t>
            </a:r>
          </a:p>
          <a:p>
            <a:pPr algn="just"/>
            <a:r>
              <a:rPr lang="en-US" dirty="0"/>
              <a:t>Generally recognized as the world's expert on the </a:t>
            </a:r>
            <a:r>
              <a:rPr lang="en-US" b="1" dirty="0"/>
              <a:t>Indus script</a:t>
            </a:r>
            <a:r>
              <a:rPr lang="en-US" dirty="0"/>
              <a:t>, </a:t>
            </a:r>
            <a:r>
              <a:rPr lang="en-US" dirty="0" err="1"/>
              <a:t>Asko</a:t>
            </a:r>
            <a:r>
              <a:rPr lang="en-US" dirty="0"/>
              <a:t> </a:t>
            </a:r>
            <a:r>
              <a:rPr lang="en-US" dirty="0" err="1"/>
              <a:t>Parpola</a:t>
            </a:r>
            <a:r>
              <a:rPr lang="en-US" dirty="0"/>
              <a:t> has been studying this </a:t>
            </a:r>
            <a:r>
              <a:rPr lang="en-US" dirty="0" err="1"/>
              <a:t>undeciphered</a:t>
            </a:r>
            <a:r>
              <a:rPr lang="en-US" dirty="0"/>
              <a:t> writing for over 40 years at the University of Helsinki in Finland.</a:t>
            </a:r>
          </a:p>
          <a:p>
            <a:endParaRPr lang="en-US"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smtClean="0"/>
              <a:t>Harappan</a:t>
            </a:r>
            <a:r>
              <a:rPr lang="en-US" sz="2800" dirty="0" smtClean="0"/>
              <a:t> </a:t>
            </a:r>
            <a:r>
              <a:rPr lang="en-US" sz="2800" dirty="0"/>
              <a:t>Script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76A0C15F-CD07-43B3-8456-0302C525818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10</a:t>
            </a:fld>
            <a:endParaRPr lang="en-US"/>
          </a:p>
        </p:txBody>
      </p:sp>
    </p:spTree>
    <p:extLst>
      <p:ext uri="{BB962C8B-B14F-4D97-AF65-F5344CB8AC3E}">
        <p14:creationId xmlns:p14="http://schemas.microsoft.com/office/powerpoint/2010/main" xmlns="" val="4870658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two </a:t>
            </a:r>
            <a:r>
              <a:rPr lang="en-US" b="1" dirty="0"/>
              <a:t>features</a:t>
            </a:r>
            <a:r>
              <a:rPr lang="en-US" dirty="0"/>
              <a:t> of </a:t>
            </a:r>
            <a:r>
              <a:rPr lang="en-US" dirty="0" smtClean="0"/>
              <a:t>Harappa</a:t>
            </a:r>
            <a:r>
              <a:rPr lang="en-US" dirty="0"/>
              <a:t> </a:t>
            </a:r>
            <a:r>
              <a:rPr lang="en-US" b="1" dirty="0"/>
              <a:t>script</a:t>
            </a:r>
            <a:r>
              <a:rPr lang="en-US" dirty="0"/>
              <a:t> are </a:t>
            </a:r>
            <a:r>
              <a:rPr lang="en-US" dirty="0" smtClean="0"/>
              <a:t>– </a:t>
            </a:r>
          </a:p>
          <a:p>
            <a:pPr marL="514350" indent="-514350" algn="just">
              <a:buAutoNum type="arabicPeriod"/>
            </a:pPr>
            <a:r>
              <a:rPr lang="en-US" dirty="0" smtClean="0"/>
              <a:t>It </a:t>
            </a:r>
            <a:r>
              <a:rPr lang="en-US" dirty="0"/>
              <a:t>was pictographic in nature as the </a:t>
            </a:r>
            <a:r>
              <a:rPr lang="en-US" b="1" dirty="0"/>
              <a:t>script</a:t>
            </a:r>
            <a:r>
              <a:rPr lang="en-US" dirty="0"/>
              <a:t> consisted of designs of animals</a:t>
            </a:r>
            <a:r>
              <a:rPr lang="en-US" dirty="0" smtClean="0"/>
              <a:t>, fishes </a:t>
            </a:r>
            <a:r>
              <a:rPr lang="en-US" dirty="0"/>
              <a:t>and various forms of human figure too. </a:t>
            </a:r>
            <a:endParaRPr lang="en-US" dirty="0" smtClean="0"/>
          </a:p>
          <a:p>
            <a:pPr marL="514350" indent="-514350" algn="just">
              <a:buAutoNum type="arabicPeriod"/>
            </a:pPr>
            <a:r>
              <a:rPr lang="en-US" dirty="0" smtClean="0"/>
              <a:t>It </a:t>
            </a:r>
            <a:r>
              <a:rPr lang="en-US" dirty="0"/>
              <a:t>was found to be inscribed on seals, </a:t>
            </a:r>
            <a:r>
              <a:rPr lang="en-US" dirty="0" smtClean="0"/>
              <a:t>terracotta tablets </a:t>
            </a:r>
            <a:r>
              <a:rPr lang="en-US" dirty="0" err="1" smtClean="0"/>
              <a:t>etc</a:t>
            </a:r>
            <a:endParaRPr lang="en-US"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Harappa Script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20622142-BCA8-4E2B-85A6-9E8F59629F1F}"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11</a:t>
            </a:fld>
            <a:endParaRPr lang="en-US"/>
          </a:p>
        </p:txBody>
      </p:sp>
    </p:spTree>
    <p:extLst>
      <p:ext uri="{BB962C8B-B14F-4D97-AF65-F5344CB8AC3E}">
        <p14:creationId xmlns:p14="http://schemas.microsoft.com/office/powerpoint/2010/main" xmlns="" val="38118796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600181" y="1330415"/>
            <a:ext cx="4953019" cy="1990725"/>
          </a:xfrm>
          <a:prstGeom prst="rect">
            <a:avLst/>
          </a:prstGeom>
        </p:spPr>
      </p:pic>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smtClean="0"/>
              <a:t>Harappan</a:t>
            </a:r>
            <a:r>
              <a:rPr lang="en-US" sz="2800" dirty="0" smtClean="0"/>
              <a:t> </a:t>
            </a:r>
            <a:r>
              <a:rPr lang="en-US" sz="2800" dirty="0"/>
              <a:t>Script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ACCCBCCC-45F3-4BF4-9071-461B27C55A41}"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12</a:t>
            </a:fld>
            <a:endParaRPr lang="en-US"/>
          </a:p>
        </p:txBody>
      </p:sp>
      <p:pic>
        <p:nvPicPr>
          <p:cNvPr id="9" name="Picture 8"/>
          <p:cNvPicPr>
            <a:picLocks noChangeAspect="1"/>
          </p:cNvPicPr>
          <p:nvPr/>
        </p:nvPicPr>
        <p:blipFill>
          <a:blip r:embed="rId4"/>
          <a:stretch>
            <a:fillRect/>
          </a:stretch>
        </p:blipFill>
        <p:spPr>
          <a:xfrm>
            <a:off x="1752600" y="3505200"/>
            <a:ext cx="4800600" cy="2514600"/>
          </a:xfrm>
          <a:prstGeom prst="rect">
            <a:avLst/>
          </a:prstGeom>
        </p:spPr>
      </p:pic>
    </p:spTree>
    <p:extLst>
      <p:ext uri="{BB962C8B-B14F-4D97-AF65-F5344CB8AC3E}">
        <p14:creationId xmlns:p14="http://schemas.microsoft.com/office/powerpoint/2010/main" xmlns="" val="11663186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r>
              <a:rPr lang="en-US" dirty="0"/>
              <a:t>The Brahmi writing system, or script, appeared as a fully developed universal one in South Asia in the third century BCE</a:t>
            </a:r>
            <a:r>
              <a:rPr lang="en-US" dirty="0" smtClean="0"/>
              <a:t>,</a:t>
            </a:r>
            <a:r>
              <a:rPr lang="en-US" dirty="0"/>
              <a:t> and is a forerunner of all writing systems that have found use in South Asia with the exception of the Indus script of the third millennium </a:t>
            </a:r>
            <a:r>
              <a:rPr lang="en-US" dirty="0" smtClean="0"/>
              <a:t>BCE</a:t>
            </a:r>
          </a:p>
          <a:p>
            <a:pPr marL="0" indent="0" fontAlgn="base">
              <a:buNone/>
            </a:pPr>
            <a:endParaRPr lang="en-US" sz="2400" dirty="0"/>
          </a:p>
          <a:p>
            <a:endParaRPr lang="en-US" sz="24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Brahmi</a:t>
            </a:r>
            <a:r>
              <a:rPr lang="en-US" sz="2800" dirty="0"/>
              <a:t> Script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8" name="Date Placeholder 7"/>
          <p:cNvSpPr>
            <a:spLocks noGrp="1"/>
          </p:cNvSpPr>
          <p:nvPr>
            <p:ph type="dt" sz="half" idx="10"/>
          </p:nvPr>
        </p:nvSpPr>
        <p:spPr/>
        <p:txBody>
          <a:bodyPr/>
          <a:lstStyle/>
          <a:p>
            <a:fld id="{9E95E86A-B5E8-49D6-A424-BAF9D444788C}" type="datetime1">
              <a:rPr lang="en-US" smtClean="0"/>
              <a:t>1/14/2022</a:t>
            </a:fld>
            <a:endParaRPr lang="en-US"/>
          </a:p>
        </p:txBody>
      </p:sp>
      <p:sp>
        <p:nvSpPr>
          <p:cNvPr id="9" name="Footer Placeholder 8"/>
          <p:cNvSpPr>
            <a:spLocks noGrp="1"/>
          </p:cNvSpPr>
          <p:nvPr>
            <p:ph type="ftr" sz="quarter" idx="11"/>
          </p:nvPr>
        </p:nvSpPr>
        <p:spPr/>
        <p:txBody>
          <a:bodyPr/>
          <a:lstStyle/>
          <a:p>
            <a:r>
              <a:rPr lang="fi-FI" smtClean="0"/>
              <a:t>Dr.Ankita Shukla KNC 602                                   Unit :2</a:t>
            </a:r>
            <a:endParaRPr lang="en-US" dirty="0"/>
          </a:p>
        </p:txBody>
      </p:sp>
      <p:sp>
        <p:nvSpPr>
          <p:cNvPr id="10" name="Slide Number Placeholder 9"/>
          <p:cNvSpPr>
            <a:spLocks noGrp="1"/>
          </p:cNvSpPr>
          <p:nvPr>
            <p:ph type="sldNum" sz="quarter" idx="12"/>
          </p:nvPr>
        </p:nvSpPr>
        <p:spPr/>
        <p:txBody>
          <a:bodyPr/>
          <a:lstStyle/>
          <a:p>
            <a:fld id="{5C85F1CB-02EA-4782-B654-3ECBE6236E9C}" type="slidenum">
              <a:rPr lang="en-US" smtClean="0"/>
              <a:pPr/>
              <a:t>13</a:t>
            </a:fld>
            <a:endParaRPr lang="en-US"/>
          </a:p>
        </p:txBody>
      </p:sp>
    </p:spTree>
    <p:extLst>
      <p:ext uri="{BB962C8B-B14F-4D97-AF65-F5344CB8AC3E}">
        <p14:creationId xmlns:p14="http://schemas.microsoft.com/office/powerpoint/2010/main" xmlns="" val="2858803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r>
              <a:rPr lang="en-US" sz="2400" dirty="0" smtClean="0"/>
              <a:t>Brahmi </a:t>
            </a:r>
            <a:r>
              <a:rPr lang="en-US" sz="2400" dirty="0"/>
              <a:t>is the originator of most of the present Indian scripts, including </a:t>
            </a:r>
            <a:r>
              <a:rPr lang="en-US" sz="2400" b="1" dirty="0"/>
              <a:t>Devanagari, Bengali, Tamil, and Malayalam</a:t>
            </a:r>
            <a:r>
              <a:rPr lang="en-US" sz="2400" dirty="0"/>
              <a:t> etc. </a:t>
            </a:r>
            <a:endParaRPr lang="en-US" sz="2400" dirty="0" smtClean="0"/>
          </a:p>
          <a:p>
            <a:pPr fontAlgn="base"/>
            <a:r>
              <a:rPr lang="en-US" sz="2400" dirty="0" smtClean="0"/>
              <a:t>It </a:t>
            </a:r>
            <a:r>
              <a:rPr lang="en-US" sz="2400" dirty="0"/>
              <a:t>developed into two broad types in Northern and Southern India, in the Northern one being </a:t>
            </a:r>
            <a:r>
              <a:rPr lang="en-US" sz="2400" b="1" dirty="0"/>
              <a:t>more angular and the Southern one being more circular.</a:t>
            </a:r>
            <a:r>
              <a:rPr lang="en-US" sz="2400" dirty="0"/>
              <a:t> </a:t>
            </a:r>
            <a:endParaRPr lang="en-US" sz="2400" dirty="0" smtClean="0"/>
          </a:p>
          <a:p>
            <a:pPr fontAlgn="base"/>
            <a:r>
              <a:rPr lang="en-US" sz="2400" b="1" dirty="0" smtClean="0"/>
              <a:t>It </a:t>
            </a:r>
            <a:r>
              <a:rPr lang="en-US" sz="2400" b="1" dirty="0"/>
              <a:t>was deciphered in 1838 by James </a:t>
            </a:r>
            <a:r>
              <a:rPr lang="en-US" sz="2400" b="1" dirty="0" err="1"/>
              <a:t>Prinsep</a:t>
            </a:r>
            <a:r>
              <a:rPr lang="en-US" sz="2400" dirty="0"/>
              <a:t>. </a:t>
            </a:r>
            <a:endParaRPr lang="en-US" sz="2400" dirty="0" smtClean="0"/>
          </a:p>
          <a:p>
            <a:pPr fontAlgn="base"/>
            <a:r>
              <a:rPr lang="en-US" sz="2400" dirty="0" smtClean="0"/>
              <a:t>The </a:t>
            </a:r>
            <a:r>
              <a:rPr lang="en-US" sz="2400" dirty="0"/>
              <a:t>best-known </a:t>
            </a:r>
            <a:r>
              <a:rPr lang="en-US" sz="2400" dirty="0" err="1"/>
              <a:t>Brahmi</a:t>
            </a:r>
            <a:r>
              <a:rPr lang="en-US" sz="2400" dirty="0"/>
              <a:t> inscriptions are the </a:t>
            </a:r>
            <a:r>
              <a:rPr lang="en-US" sz="2400" b="1" dirty="0"/>
              <a:t>rock-cut edicts of </a:t>
            </a:r>
            <a:r>
              <a:rPr lang="en-US" sz="2400" b="1" dirty="0" err="1"/>
              <a:t>Ashoka</a:t>
            </a:r>
            <a:r>
              <a:rPr lang="en-US" sz="2400" dirty="0"/>
              <a:t> in north-central India, dated to 250–232 BCE.</a:t>
            </a:r>
          </a:p>
          <a:p>
            <a:pPr marL="0" indent="0" fontAlgn="base">
              <a:buNone/>
            </a:pPr>
            <a:endParaRPr lang="en-US" sz="2400" dirty="0"/>
          </a:p>
          <a:p>
            <a:endParaRPr lang="en-US" sz="24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Brahmi</a:t>
            </a:r>
            <a:r>
              <a:rPr lang="en-US" sz="2800" dirty="0"/>
              <a:t> Script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8" name="Date Placeholder 7"/>
          <p:cNvSpPr>
            <a:spLocks noGrp="1"/>
          </p:cNvSpPr>
          <p:nvPr>
            <p:ph type="dt" sz="half" idx="10"/>
          </p:nvPr>
        </p:nvSpPr>
        <p:spPr/>
        <p:txBody>
          <a:bodyPr/>
          <a:lstStyle/>
          <a:p>
            <a:fld id="{221F1F85-BBC2-4F2D-AF0D-1165DC2D59C1}" type="datetime1">
              <a:rPr lang="en-US" smtClean="0"/>
              <a:t>1/14/2022</a:t>
            </a:fld>
            <a:endParaRPr lang="en-US"/>
          </a:p>
        </p:txBody>
      </p:sp>
      <p:sp>
        <p:nvSpPr>
          <p:cNvPr id="9" name="Footer Placeholder 8"/>
          <p:cNvSpPr>
            <a:spLocks noGrp="1"/>
          </p:cNvSpPr>
          <p:nvPr>
            <p:ph type="ftr" sz="quarter" idx="11"/>
          </p:nvPr>
        </p:nvSpPr>
        <p:spPr/>
        <p:txBody>
          <a:bodyPr/>
          <a:lstStyle/>
          <a:p>
            <a:r>
              <a:rPr lang="fi-FI" smtClean="0"/>
              <a:t>Dr.Ankita Shukla KNC 602                                   Unit :2</a:t>
            </a:r>
            <a:endParaRPr lang="en-US" dirty="0"/>
          </a:p>
        </p:txBody>
      </p:sp>
      <p:sp>
        <p:nvSpPr>
          <p:cNvPr id="10" name="Slide Number Placeholder 9"/>
          <p:cNvSpPr>
            <a:spLocks noGrp="1"/>
          </p:cNvSpPr>
          <p:nvPr>
            <p:ph type="sldNum" sz="quarter" idx="12"/>
          </p:nvPr>
        </p:nvSpPr>
        <p:spPr/>
        <p:txBody>
          <a:bodyPr/>
          <a:lstStyle/>
          <a:p>
            <a:fld id="{5C85F1CB-02EA-4782-B654-3ECBE6236E9C}" type="slidenum">
              <a:rPr lang="en-US" smtClean="0"/>
              <a:pPr/>
              <a:t>14</a:t>
            </a:fld>
            <a:endParaRPr lang="en-US"/>
          </a:p>
        </p:txBody>
      </p:sp>
    </p:spTree>
    <p:extLst>
      <p:ext uri="{BB962C8B-B14F-4D97-AF65-F5344CB8AC3E}">
        <p14:creationId xmlns:p14="http://schemas.microsoft.com/office/powerpoint/2010/main" xmlns="" val="2788089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fontAlgn="base">
              <a:buNone/>
            </a:pPr>
            <a:r>
              <a:rPr lang="en-US" dirty="0"/>
              <a:t> </a:t>
            </a:r>
          </a:p>
          <a:p>
            <a:endParaRPr lang="en-US" dirty="0"/>
          </a:p>
        </p:txBody>
      </p:sp>
      <p:sp>
        <p:nvSpPr>
          <p:cNvPr id="4" name="Rectangle 3"/>
          <p:cNvSpPr/>
          <p:nvPr/>
        </p:nvSpPr>
        <p:spPr>
          <a:xfrm>
            <a:off x="609600" y="1447800"/>
            <a:ext cx="8229600" cy="4154984"/>
          </a:xfrm>
          <a:prstGeom prst="rect">
            <a:avLst/>
          </a:prstGeom>
        </p:spPr>
        <p:txBody>
          <a:bodyPr wrap="square">
            <a:spAutoFit/>
          </a:bodyPr>
          <a:lstStyle/>
          <a:p>
            <a:pPr marL="342900" indent="-342900" algn="just" fontAlgn="base">
              <a:buFont typeface="Arial" pitchFamily="34" charset="0"/>
              <a:buChar char="•"/>
            </a:pPr>
            <a:r>
              <a:rPr lang="en-US" sz="2400" dirty="0"/>
              <a:t>The </a:t>
            </a:r>
            <a:r>
              <a:rPr lang="en-US" sz="2400" dirty="0" err="1"/>
              <a:t>Brahmi</a:t>
            </a:r>
            <a:r>
              <a:rPr lang="en-US" sz="2400" dirty="0"/>
              <a:t> script confirms to the syllabic writing system and was used more for writing </a:t>
            </a:r>
            <a:r>
              <a:rPr lang="en-US" sz="2400" dirty="0" err="1"/>
              <a:t>Prakrit</a:t>
            </a:r>
            <a:r>
              <a:rPr lang="en-US" sz="2400" dirty="0"/>
              <a:t>, the language spoken by ordinary people initially and later Sanskrit also was written in this script.</a:t>
            </a:r>
          </a:p>
          <a:p>
            <a:pPr marL="342900" indent="-342900" algn="just" fontAlgn="base">
              <a:buFont typeface="Arial" pitchFamily="34" charset="0"/>
              <a:buChar char="•"/>
            </a:pPr>
            <a:r>
              <a:rPr lang="en-US" sz="2400" dirty="0" smtClean="0"/>
              <a:t>According </a:t>
            </a:r>
            <a:r>
              <a:rPr lang="en-US" sz="2400" dirty="0"/>
              <a:t>to the epigraphers- All Indian scripts are derived from </a:t>
            </a:r>
            <a:r>
              <a:rPr lang="en-US" sz="2400" dirty="0" err="1"/>
              <a:t>Brahmi</a:t>
            </a:r>
            <a:r>
              <a:rPr lang="en-US" sz="2400" dirty="0"/>
              <a:t>. There are two main families of </a:t>
            </a:r>
            <a:r>
              <a:rPr lang="en-US" sz="2400" dirty="0" smtClean="0"/>
              <a:t>scripts:</a:t>
            </a:r>
          </a:p>
          <a:p>
            <a:pPr lvl="0" algn="just" fontAlgn="base"/>
            <a:endParaRPr lang="en-US" sz="2400" dirty="0"/>
          </a:p>
          <a:p>
            <a:pPr lvl="0" algn="just" fontAlgn="base"/>
            <a:r>
              <a:rPr lang="en-US" sz="2400" dirty="0" smtClean="0"/>
              <a:t>1. Devanagari, which is the basis of the languages of northern    and western India: Hindi, Gujarati, Bengali, Marathi, </a:t>
            </a:r>
            <a:r>
              <a:rPr lang="en-US" sz="2400" dirty="0" err="1" smtClean="0"/>
              <a:t>Dogri</a:t>
            </a:r>
            <a:r>
              <a:rPr lang="en-US" sz="2400" dirty="0" smtClean="0"/>
              <a:t>, Panjabi, etc.</a:t>
            </a:r>
          </a:p>
          <a:p>
            <a:pPr lvl="0" algn="just" fontAlgn="base"/>
            <a:r>
              <a:rPr lang="en-US" sz="2400" dirty="0" smtClean="0"/>
              <a:t>2. Dravidian</a:t>
            </a:r>
            <a:r>
              <a:rPr lang="en-US" sz="2400" dirty="0"/>
              <a:t> </a:t>
            </a:r>
            <a:r>
              <a:rPr lang="en-US" sz="2400" dirty="0" smtClean="0"/>
              <a:t>which </a:t>
            </a:r>
            <a:r>
              <a:rPr lang="en-US" sz="2400" dirty="0"/>
              <a:t>shows the formats of </a:t>
            </a:r>
            <a:r>
              <a:rPr lang="en-US" sz="2400" dirty="0" err="1"/>
              <a:t>Grantha</a:t>
            </a:r>
            <a:r>
              <a:rPr lang="en-US" sz="2400" dirty="0"/>
              <a:t> and </a:t>
            </a:r>
            <a:r>
              <a:rPr lang="en-US" sz="2400" dirty="0" err="1"/>
              <a:t>Vatteluttu</a:t>
            </a:r>
            <a:r>
              <a:rPr lang="en-US" sz="2400" dirty="0"/>
              <a:t>.</a:t>
            </a:r>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Brahmi</a:t>
            </a:r>
            <a:r>
              <a:rPr lang="en-US" sz="2800" dirty="0"/>
              <a:t> Script</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C2AB0F00-BFB4-44D7-ADDC-F10B80D20BC9}"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15</a:t>
            </a:fld>
            <a:endParaRPr lang="en-US"/>
          </a:p>
        </p:txBody>
      </p:sp>
    </p:spTree>
    <p:extLst>
      <p:ext uri="{BB962C8B-B14F-4D97-AF65-F5344CB8AC3E}">
        <p14:creationId xmlns:p14="http://schemas.microsoft.com/office/powerpoint/2010/main" xmlns="" val="8793207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The </a:t>
            </a:r>
            <a:r>
              <a:rPr lang="en-US" b="1" dirty="0"/>
              <a:t>Vedas</a:t>
            </a:r>
            <a:r>
              <a:rPr lang="en-US" dirty="0"/>
              <a:t> </a:t>
            </a:r>
            <a:r>
              <a:rPr lang="en-US" dirty="0" smtClean="0"/>
              <a:t>(</a:t>
            </a:r>
            <a:r>
              <a:rPr lang="en-US" dirty="0"/>
              <a:t> </a:t>
            </a:r>
            <a:r>
              <a:rPr lang="en-US" dirty="0" err="1"/>
              <a:t>वेदः</a:t>
            </a:r>
            <a:r>
              <a:rPr lang="en-US" dirty="0"/>
              <a:t> </a:t>
            </a:r>
            <a:r>
              <a:rPr lang="en-US" i="1" dirty="0" err="1"/>
              <a:t>vedaḥ</a:t>
            </a:r>
            <a:r>
              <a:rPr lang="en-US" dirty="0"/>
              <a:t>, "knowledge") are a large body of religious texts originating in ancient India. Composed in Vedic Sanskrit, the texts constitute the oldest layer of Sanskrit literature and the oldest scriptures of Hinduism</a:t>
            </a:r>
            <a:r>
              <a:rPr lang="en-US" dirty="0" smtClean="0"/>
              <a:t>. </a:t>
            </a:r>
          </a:p>
          <a:p>
            <a:r>
              <a:rPr lang="en-US" dirty="0" smtClean="0"/>
              <a:t>The </a:t>
            </a:r>
            <a:r>
              <a:rPr lang="en-US" dirty="0"/>
              <a:t>Vedas are a collection of hymns and other religious texts composed in India between about 1500 and 1000 BCE</a:t>
            </a:r>
            <a:r>
              <a:rPr lang="en-US" dirty="0" smtClean="0"/>
              <a:t>.</a:t>
            </a:r>
            <a:endParaRPr lang="en-US" dirty="0"/>
          </a:p>
          <a:p>
            <a:r>
              <a:rPr lang="en-US" dirty="0" smtClean="0"/>
              <a:t> </a:t>
            </a:r>
            <a:r>
              <a:rPr lang="en-US" dirty="0"/>
              <a:t>It includes elements such as </a:t>
            </a:r>
            <a:r>
              <a:rPr lang="en-US" dirty="0" smtClean="0"/>
              <a:t>mythological </a:t>
            </a:r>
            <a:r>
              <a:rPr lang="en-US" dirty="0"/>
              <a:t>accounts, poems, prayers, and formulas considered to be sacred by the Vedic religion.</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Vedas &amp; Upanishads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887A145A-48F0-4BCE-9881-F1D17A82A48E}"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16</a:t>
            </a:fld>
            <a:endParaRPr lang="en-US"/>
          </a:p>
        </p:txBody>
      </p:sp>
    </p:spTree>
    <p:extLst>
      <p:ext uri="{BB962C8B-B14F-4D97-AF65-F5344CB8AC3E}">
        <p14:creationId xmlns:p14="http://schemas.microsoft.com/office/powerpoint/2010/main" xmlns="" val="2888188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1. Rig-Veda “Knowledge of the Hymns of Praise” </a:t>
            </a:r>
            <a:endParaRPr lang="en-US" dirty="0" smtClean="0"/>
          </a:p>
          <a:p>
            <a:pPr marL="0" indent="0">
              <a:buNone/>
            </a:pPr>
            <a:r>
              <a:rPr lang="en-US" dirty="0" smtClean="0"/>
              <a:t>2</a:t>
            </a:r>
            <a:r>
              <a:rPr lang="en-US" dirty="0"/>
              <a:t>. </a:t>
            </a:r>
            <a:r>
              <a:rPr lang="en-US" dirty="0" err="1"/>
              <a:t>Sama</a:t>
            </a:r>
            <a:r>
              <a:rPr lang="en-US" dirty="0"/>
              <a:t>-Veda “Knowledge of the Melodies” </a:t>
            </a:r>
            <a:endParaRPr lang="en-US" dirty="0" smtClean="0"/>
          </a:p>
          <a:p>
            <a:pPr marL="0" indent="0">
              <a:buNone/>
            </a:pPr>
            <a:r>
              <a:rPr lang="en-US" dirty="0" smtClean="0"/>
              <a:t>3</a:t>
            </a:r>
            <a:r>
              <a:rPr lang="en-US" dirty="0"/>
              <a:t>. </a:t>
            </a:r>
            <a:r>
              <a:rPr lang="en-US" dirty="0" err="1"/>
              <a:t>Yajur</a:t>
            </a:r>
            <a:r>
              <a:rPr lang="en-US" dirty="0"/>
              <a:t>-Veda “Knowledge of the Sacrificial formulas” </a:t>
            </a:r>
            <a:endParaRPr lang="en-US" dirty="0" smtClean="0"/>
          </a:p>
          <a:p>
            <a:pPr marL="0" indent="0">
              <a:buNone/>
            </a:pPr>
            <a:r>
              <a:rPr lang="en-US" dirty="0" smtClean="0"/>
              <a:t>4</a:t>
            </a:r>
            <a:r>
              <a:rPr lang="en-US" dirty="0"/>
              <a:t>. </a:t>
            </a:r>
            <a:r>
              <a:rPr lang="en-US" dirty="0" err="1"/>
              <a:t>Atharva</a:t>
            </a:r>
            <a:r>
              <a:rPr lang="en-US" dirty="0"/>
              <a:t>-Veda “Knowledge of the Magic formulas”</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Vedas Types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D9566C9A-C1EF-4859-93DB-41D6EA031E3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17</a:t>
            </a:fld>
            <a:endParaRPr lang="en-US"/>
          </a:p>
        </p:txBody>
      </p:sp>
    </p:spTree>
    <p:extLst>
      <p:ext uri="{BB962C8B-B14F-4D97-AF65-F5344CB8AC3E}">
        <p14:creationId xmlns:p14="http://schemas.microsoft.com/office/powerpoint/2010/main" xmlns="" val="728783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dirty="0"/>
              <a:t>The RIG-VEDA “Wisdom of the Verses” Rig Veda consists of 10,552 verses (collected into 10 books) of hymns and mantras used by the </a:t>
            </a:r>
            <a:r>
              <a:rPr lang="en-US" sz="2400" dirty="0" smtClean="0"/>
              <a:t>priests</a:t>
            </a:r>
            <a:r>
              <a:rPr lang="en-US" sz="2400" dirty="0"/>
              <a:t>. It is a collection of 1,028 Vedic Sanskrit hymns and 10,600 verses in all, organized into ten books (Sanskrit: </a:t>
            </a:r>
            <a:r>
              <a:rPr lang="en-US" sz="2400" i="1" dirty="0"/>
              <a:t>mandalas</a:t>
            </a:r>
            <a:r>
              <a:rPr lang="en-US" sz="2400" dirty="0" smtClean="0"/>
              <a:t>).</a:t>
            </a:r>
          </a:p>
          <a:p>
            <a:pPr marL="0" indent="0" algn="just">
              <a:buNone/>
            </a:pPr>
            <a:endParaRPr lang="en-US" sz="2400" dirty="0" smtClean="0"/>
          </a:p>
          <a:p>
            <a:pPr algn="just"/>
            <a:r>
              <a:rPr lang="en-US" sz="2400" dirty="0" smtClean="0"/>
              <a:t>The </a:t>
            </a:r>
            <a:r>
              <a:rPr lang="en-US" sz="2400" dirty="0"/>
              <a:t>hymns of the Rig Veda focus on pleasing the principal gods </a:t>
            </a:r>
            <a:r>
              <a:rPr lang="en-US" sz="2400" dirty="0" err="1"/>
              <a:t>Indra</a:t>
            </a:r>
            <a:r>
              <a:rPr lang="en-US" sz="2400" dirty="0"/>
              <a:t> (war, wind and rain), Agni (the sacrificial fire), </a:t>
            </a:r>
            <a:r>
              <a:rPr lang="en-US" sz="2400" dirty="0" err="1"/>
              <a:t>Surga</a:t>
            </a:r>
            <a:r>
              <a:rPr lang="en-US" sz="2400" dirty="0"/>
              <a:t> (the sun) and </a:t>
            </a:r>
            <a:r>
              <a:rPr lang="en-US" sz="2400" dirty="0" err="1"/>
              <a:t>Varuna</a:t>
            </a:r>
            <a:r>
              <a:rPr lang="en-US" sz="2400" dirty="0"/>
              <a:t> (the cosmic order) through ritual sacrifices. the Vedic gods also forgive wrongdoing and mete out justice in the afterlife</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RIG-VEDA</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D883D18A-878B-45F1-99EE-E109BC73DDD8}"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18</a:t>
            </a:fld>
            <a:endParaRPr lang="en-US"/>
          </a:p>
        </p:txBody>
      </p:sp>
    </p:spTree>
    <p:extLst>
      <p:ext uri="{BB962C8B-B14F-4D97-AF65-F5344CB8AC3E}">
        <p14:creationId xmlns:p14="http://schemas.microsoft.com/office/powerpoint/2010/main" xmlns="" val="3584877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The SAMA-VEDA "Wisdom of the Chants” </a:t>
            </a:r>
            <a:r>
              <a:rPr lang="en-US" sz="2400" dirty="0" smtClean="0"/>
              <a:t>consisting </a:t>
            </a:r>
            <a:r>
              <a:rPr lang="en-US" sz="2400" dirty="0"/>
              <a:t>primarily of selections from the Rig Veda. The Samaveda </a:t>
            </a:r>
            <a:r>
              <a:rPr lang="en-US" sz="2400" dirty="0" smtClean="0"/>
              <a:t>Samhita</a:t>
            </a:r>
            <a:r>
              <a:rPr lang="en-US" sz="2400" dirty="0"/>
              <a:t> consists of 1549 stanzas, taken almost entirely (except for 75 mantras) from the </a:t>
            </a:r>
            <a:r>
              <a:rPr lang="en-US" sz="2400" dirty="0" smtClean="0"/>
              <a:t>Rigveda.</a:t>
            </a:r>
          </a:p>
          <a:p>
            <a:r>
              <a:rPr lang="en-US" sz="2400" dirty="0"/>
              <a:t>The Samaveda </a:t>
            </a:r>
            <a:r>
              <a:rPr lang="en-US" sz="2400" dirty="0" err="1"/>
              <a:t>samhita</a:t>
            </a:r>
            <a:r>
              <a:rPr lang="en-US" sz="2400" dirty="0"/>
              <a:t> has two major parts. The first part includes four melody collections (</a:t>
            </a:r>
            <a:r>
              <a:rPr lang="en-US" sz="2400" dirty="0" err="1"/>
              <a:t>gāna</a:t>
            </a:r>
            <a:r>
              <a:rPr lang="en-US" sz="2400" dirty="0"/>
              <a:t>, </a:t>
            </a:r>
            <a:r>
              <a:rPr lang="en-US" sz="2400" dirty="0" err="1"/>
              <a:t>गान</a:t>
            </a:r>
            <a:r>
              <a:rPr lang="en-US" sz="2400" dirty="0"/>
              <a:t>) and the second part three verse “books” (</a:t>
            </a:r>
            <a:r>
              <a:rPr lang="en-US" sz="2400" dirty="0" err="1"/>
              <a:t>ārcika</a:t>
            </a:r>
            <a:r>
              <a:rPr lang="en-US" sz="2400" dirty="0"/>
              <a:t>, </a:t>
            </a:r>
            <a:r>
              <a:rPr lang="en-US" sz="2400" dirty="0" err="1"/>
              <a:t>आर्चिक</a:t>
            </a:r>
            <a:r>
              <a:rPr lang="en-US" sz="2400" dirty="0" smtClean="0"/>
              <a:t>)</a:t>
            </a:r>
            <a:endParaRPr lang="en-US" sz="24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SAMA-VEDA</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E7FD9CC3-92BD-4ED3-9264-7A61E608256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19</a:t>
            </a:fld>
            <a:endParaRPr lang="en-US"/>
          </a:p>
        </p:txBody>
      </p:sp>
    </p:spTree>
    <p:extLst>
      <p:ext uri="{BB962C8B-B14F-4D97-AF65-F5344CB8AC3E}">
        <p14:creationId xmlns:p14="http://schemas.microsoft.com/office/powerpoint/2010/main" xmlns="" val="417262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7383" y="869111"/>
            <a:ext cx="8229600" cy="4525963"/>
          </a:xfrm>
        </p:spPr>
        <p:txBody>
          <a:bodyPr>
            <a:noAutofit/>
          </a:bodyPr>
          <a:lstStyle/>
          <a:p>
            <a:r>
              <a:rPr lang="en-US" sz="2200" dirty="0"/>
              <a:t>The YAJUR-VEDA “Wisdom of the </a:t>
            </a:r>
            <a:r>
              <a:rPr lang="en-US" sz="2200" dirty="0" err="1"/>
              <a:t>Sacrifical</a:t>
            </a:r>
            <a:r>
              <a:rPr lang="en-US" sz="2200" dirty="0"/>
              <a:t> Formulas" liturgical works consisting primarily of selections from the Rig Veda. </a:t>
            </a:r>
            <a:endParaRPr lang="en-US" sz="2200" dirty="0" smtClean="0"/>
          </a:p>
          <a:p>
            <a:r>
              <a:rPr lang="en-US" sz="2200" dirty="0" smtClean="0"/>
              <a:t>The</a:t>
            </a:r>
            <a:r>
              <a:rPr lang="en-US" sz="2200" dirty="0"/>
              <a:t> Yajurveda Samhita consists of prose mantras</a:t>
            </a:r>
            <a:r>
              <a:rPr lang="en-US" sz="2200" dirty="0" smtClean="0"/>
              <a:t>.</a:t>
            </a:r>
            <a:r>
              <a:rPr lang="en-US" sz="2200" dirty="0"/>
              <a:t> It is a compilation of ritual offering formulas that were said by a priest while an individual performed ritual actions such as those before the yajna fire</a:t>
            </a:r>
            <a:r>
              <a:rPr lang="en-US" sz="2200" dirty="0" smtClean="0"/>
              <a:t>.</a:t>
            </a:r>
          </a:p>
          <a:p>
            <a:r>
              <a:rPr lang="en-US" sz="2200" dirty="0"/>
              <a:t>The earliest and most ancient layer of Yajurveda </a:t>
            </a:r>
            <a:r>
              <a:rPr lang="en-US" sz="2200" dirty="0" smtClean="0"/>
              <a:t>includes </a:t>
            </a:r>
            <a:r>
              <a:rPr lang="en-US" sz="2200" dirty="0"/>
              <a:t>about 1,875 verses, that are distinct yet borrow and build upon the foundation of verses in </a:t>
            </a:r>
            <a:r>
              <a:rPr lang="en-US" sz="2200" dirty="0" smtClean="0"/>
              <a:t>Rigveda.</a:t>
            </a:r>
            <a:r>
              <a:rPr lang="en-US" sz="2200" baseline="30000" dirty="0"/>
              <a:t> </a:t>
            </a:r>
            <a:endParaRPr lang="en-US" sz="2200" baseline="30000" dirty="0" smtClean="0"/>
          </a:p>
          <a:p>
            <a:r>
              <a:rPr lang="en-US" sz="2200" dirty="0" smtClean="0"/>
              <a:t>Unlike </a:t>
            </a:r>
            <a:r>
              <a:rPr lang="en-US" sz="2200" dirty="0"/>
              <a:t>the Samaveda which is almost entirely based on Rigveda mantras and structured as songs, the Yajurveda </a:t>
            </a:r>
            <a:r>
              <a:rPr lang="en-US" sz="2200" dirty="0" err="1"/>
              <a:t>samhitas</a:t>
            </a:r>
            <a:r>
              <a:rPr lang="en-US" sz="2200" dirty="0"/>
              <a:t> are in prose and linguistically, they are different from earlier Vedic texts</a:t>
            </a:r>
            <a:r>
              <a:rPr lang="en-US" sz="2200" dirty="0" smtClean="0"/>
              <a:t>.</a:t>
            </a:r>
            <a:endParaRPr lang="en-US" sz="2200" baseline="30000" dirty="0"/>
          </a:p>
          <a:p>
            <a:r>
              <a:rPr lang="en-US" sz="2200" dirty="0"/>
              <a:t> The </a:t>
            </a:r>
            <a:r>
              <a:rPr lang="en-US" sz="2200" dirty="0" err="1"/>
              <a:t>Yajur</a:t>
            </a:r>
            <a:r>
              <a:rPr lang="en-US" sz="2200" dirty="0"/>
              <a:t> Veda has been the primary source of information about sacrifices during Vedic times and associated rituals</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YAJUR-VEDA</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6C5C0E52-F9F3-434E-AE5A-43F1D4C827C3}"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20</a:t>
            </a:fld>
            <a:endParaRPr lang="en-US"/>
          </a:p>
        </p:txBody>
      </p:sp>
    </p:spTree>
    <p:extLst>
      <p:ext uri="{BB962C8B-B14F-4D97-AF65-F5344CB8AC3E}">
        <p14:creationId xmlns:p14="http://schemas.microsoft.com/office/powerpoint/2010/main" xmlns="" val="1656344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Autofit/>
          </a:bodyPr>
          <a:lstStyle/>
          <a:p>
            <a:pPr algn="just"/>
            <a:r>
              <a:rPr lang="en-US" sz="2000" dirty="0"/>
              <a:t>The ATHARVA-VEDA “Wisdom of the </a:t>
            </a:r>
            <a:r>
              <a:rPr lang="en-US" sz="2000" dirty="0" smtClean="0"/>
              <a:t>Magical </a:t>
            </a:r>
            <a:r>
              <a:rPr lang="en-US" sz="2000" dirty="0"/>
              <a:t>Formulas" </a:t>
            </a:r>
            <a:r>
              <a:rPr lang="en-US" sz="2000" dirty="0" smtClean="0"/>
              <a:t>Was </a:t>
            </a:r>
            <a:r>
              <a:rPr lang="en-US" sz="2000" dirty="0"/>
              <a:t>added significantly later than the first three </a:t>
            </a:r>
            <a:r>
              <a:rPr lang="en-US" sz="2000" dirty="0" err="1"/>
              <a:t>Samhitas</a:t>
            </a:r>
            <a:r>
              <a:rPr lang="en-US" sz="2000" dirty="0"/>
              <a:t>, perhaps as late as 500 BC. </a:t>
            </a:r>
            <a:endParaRPr lang="en-US" sz="2000" dirty="0" smtClean="0"/>
          </a:p>
          <a:p>
            <a:pPr algn="just"/>
            <a:r>
              <a:rPr lang="en-US" sz="2000" dirty="0" smtClean="0"/>
              <a:t>It </a:t>
            </a:r>
            <a:r>
              <a:rPr lang="en-US" sz="2000" dirty="0"/>
              <a:t>consists of 20 books of hymns and prose, many of which reflect the religious concerns of everyday life. It has about 760 hymns, and about 160 of the hymns are in common with the Rigveda</a:t>
            </a:r>
            <a:endParaRPr lang="en-US" sz="2000" dirty="0" smtClean="0"/>
          </a:p>
          <a:p>
            <a:pPr algn="just"/>
            <a:r>
              <a:rPr lang="en-US" sz="2000" dirty="0" smtClean="0"/>
              <a:t>The</a:t>
            </a:r>
            <a:r>
              <a:rPr lang="en-US" sz="2000" dirty="0"/>
              <a:t> Samhita layer of the text likely represents a developing 2nd millennium BCE tradition of </a:t>
            </a:r>
            <a:r>
              <a:rPr lang="en-US" sz="2000" dirty="0" err="1"/>
              <a:t>magico</a:t>
            </a:r>
            <a:r>
              <a:rPr lang="en-US" sz="2000" dirty="0"/>
              <a:t>-religious rites to address superstitious anxiety, spells to remove maladies believed to be caused by demons, and herbs- and nature-derived potions as </a:t>
            </a:r>
            <a:r>
              <a:rPr lang="en-US" sz="2000" dirty="0" smtClean="0"/>
              <a:t>medicine</a:t>
            </a:r>
          </a:p>
          <a:p>
            <a:pPr algn="just"/>
            <a:r>
              <a:rPr lang="en-US" sz="2000" dirty="0"/>
              <a:t>The </a:t>
            </a:r>
            <a:r>
              <a:rPr lang="en-US" sz="2000" dirty="0" err="1"/>
              <a:t>Atharva</a:t>
            </a:r>
            <a:r>
              <a:rPr lang="en-US" sz="2000" dirty="0"/>
              <a:t> </a:t>
            </a:r>
            <a:r>
              <a:rPr lang="en-US" sz="2000" dirty="0" err="1"/>
              <a:t>veda</a:t>
            </a:r>
            <a:r>
              <a:rPr lang="en-US" sz="2000" dirty="0"/>
              <a:t> has been a primary source for information about Vedic culture, the customs and beliefs, the aspirations and frustrations of everyday Vedic life, as well as those associated with kings and governance. The text also includes hymns dealing with the two major rituals of passage – marriage and cremation.</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ATHARVA-VEDA</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1930DE5A-FC76-4363-A1CD-2BA3AE22C430}"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21</a:t>
            </a:fld>
            <a:endParaRPr lang="en-US"/>
          </a:p>
        </p:txBody>
      </p:sp>
    </p:spTree>
    <p:extLst>
      <p:ext uri="{BB962C8B-B14F-4D97-AF65-F5344CB8AC3E}">
        <p14:creationId xmlns:p14="http://schemas.microsoft.com/office/powerpoint/2010/main" xmlns="" val="494476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The </a:t>
            </a:r>
            <a:r>
              <a:rPr lang="en-US" sz="2400" dirty="0"/>
              <a:t>term Upanishad means literally "those who sit near". </a:t>
            </a:r>
            <a:r>
              <a:rPr lang="en-US" sz="2400" dirty="0" err="1"/>
              <a:t>Upa</a:t>
            </a:r>
            <a:r>
              <a:rPr lang="en-US" sz="2400" dirty="0"/>
              <a:t>- near, </a:t>
            </a:r>
            <a:r>
              <a:rPr lang="en-US" sz="2400" dirty="0" err="1"/>
              <a:t>ni</a:t>
            </a:r>
            <a:r>
              <a:rPr lang="en-US" sz="2400" dirty="0"/>
              <a:t>- down, sad- to sit: Sitting near the </a:t>
            </a:r>
            <a:r>
              <a:rPr lang="en-US" sz="2400" dirty="0" smtClean="0"/>
              <a:t>teacher</a:t>
            </a:r>
          </a:p>
          <a:p>
            <a:pPr marL="0" indent="0">
              <a:buNone/>
            </a:pPr>
            <a:endParaRPr lang="en-US" sz="2400" dirty="0" smtClean="0"/>
          </a:p>
          <a:p>
            <a:r>
              <a:rPr lang="en-US" sz="2400" dirty="0"/>
              <a:t>Collected by several seers and elders between 800-500 BCE, the Upanishads are a conclusion and accomplishment of an previous form of Hindu sacred texts called the Vedas. </a:t>
            </a:r>
            <a:endParaRPr lang="en-US" sz="2400" dirty="0" smtClean="0"/>
          </a:p>
          <a:p>
            <a:endParaRPr lang="en-US" sz="2400" dirty="0"/>
          </a:p>
          <a:p>
            <a:r>
              <a:rPr lang="en-US" sz="2400" dirty="0" smtClean="0"/>
              <a:t>Upanishads </a:t>
            </a:r>
            <a:r>
              <a:rPr lang="en-US" sz="2400" dirty="0"/>
              <a:t>are Vedanta: End of the Vedas</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Upanishads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9C117297-9E6E-4220-BF8C-D0D031242908}"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22</a:t>
            </a:fld>
            <a:endParaRPr lang="en-US"/>
          </a:p>
        </p:txBody>
      </p:sp>
    </p:spTree>
    <p:extLst>
      <p:ext uri="{BB962C8B-B14F-4D97-AF65-F5344CB8AC3E}">
        <p14:creationId xmlns:p14="http://schemas.microsoft.com/office/powerpoint/2010/main" xmlns="" val="3172695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229600" cy="5334000"/>
          </a:xfrm>
        </p:spPr>
        <p:txBody>
          <a:bodyPr>
            <a:normAutofit fontScale="77500" lnSpcReduction="20000"/>
          </a:bodyPr>
          <a:lstStyle/>
          <a:p>
            <a:pPr marL="0" indent="0">
              <a:buNone/>
            </a:pPr>
            <a:r>
              <a:rPr lang="en-US" sz="2800" dirty="0"/>
              <a:t>Most Important Upanishads </a:t>
            </a:r>
            <a:endParaRPr lang="en-US" sz="2800" dirty="0" smtClean="0"/>
          </a:p>
          <a:p>
            <a:pPr marL="0" indent="0">
              <a:buNone/>
            </a:pPr>
            <a:endParaRPr lang="en-US" sz="2800" dirty="0"/>
          </a:p>
          <a:p>
            <a:r>
              <a:rPr lang="en-US" sz="2800" dirty="0" err="1"/>
              <a:t>Brhadaranyaka</a:t>
            </a:r>
            <a:r>
              <a:rPr lang="en-US" sz="2800" dirty="0"/>
              <a:t> Upanishad</a:t>
            </a:r>
          </a:p>
          <a:p>
            <a:r>
              <a:rPr lang="en-US" sz="2800" dirty="0" err="1"/>
              <a:t>Chandogya</a:t>
            </a:r>
            <a:r>
              <a:rPr lang="en-US" sz="2800" dirty="0"/>
              <a:t> Upanishad</a:t>
            </a:r>
          </a:p>
          <a:p>
            <a:r>
              <a:rPr lang="en-US" sz="2800" dirty="0" err="1"/>
              <a:t>Taittiriya</a:t>
            </a:r>
            <a:r>
              <a:rPr lang="en-US" sz="2800" dirty="0"/>
              <a:t> Upanishad</a:t>
            </a:r>
          </a:p>
          <a:p>
            <a:r>
              <a:rPr lang="en-US" sz="2800" dirty="0" err="1"/>
              <a:t>Aitereya</a:t>
            </a:r>
            <a:r>
              <a:rPr lang="en-US" sz="2800" dirty="0"/>
              <a:t> Upanishad</a:t>
            </a:r>
          </a:p>
          <a:p>
            <a:r>
              <a:rPr lang="en-US" sz="2800" dirty="0" err="1"/>
              <a:t>Kausitaki</a:t>
            </a:r>
            <a:r>
              <a:rPr lang="en-US" sz="2800" dirty="0"/>
              <a:t> Upanishad</a:t>
            </a:r>
          </a:p>
          <a:p>
            <a:r>
              <a:rPr lang="en-US" sz="2800" dirty="0" err="1"/>
              <a:t>Kena</a:t>
            </a:r>
            <a:r>
              <a:rPr lang="en-US" sz="2800" dirty="0"/>
              <a:t> Upanishad</a:t>
            </a:r>
          </a:p>
          <a:p>
            <a:r>
              <a:rPr lang="en-US" sz="2800" dirty="0"/>
              <a:t>Katha Upanishad</a:t>
            </a:r>
          </a:p>
          <a:p>
            <a:r>
              <a:rPr lang="en-US" sz="2800" dirty="0" err="1"/>
              <a:t>Isha</a:t>
            </a:r>
            <a:r>
              <a:rPr lang="en-US" sz="2800" dirty="0"/>
              <a:t> Upanishad</a:t>
            </a:r>
          </a:p>
          <a:p>
            <a:r>
              <a:rPr lang="en-US" sz="2800" dirty="0" err="1"/>
              <a:t>Svetasvatara</a:t>
            </a:r>
            <a:r>
              <a:rPr lang="en-US" sz="2800" dirty="0"/>
              <a:t> Upanishad</a:t>
            </a:r>
          </a:p>
          <a:p>
            <a:r>
              <a:rPr lang="en-US" sz="2800" dirty="0" err="1"/>
              <a:t>Mundaka</a:t>
            </a:r>
            <a:r>
              <a:rPr lang="en-US" sz="2800" dirty="0"/>
              <a:t> Upanishad</a:t>
            </a:r>
          </a:p>
          <a:p>
            <a:r>
              <a:rPr lang="en-US" sz="2800" dirty="0" err="1"/>
              <a:t>Prashna</a:t>
            </a:r>
            <a:r>
              <a:rPr lang="en-US" sz="2800" dirty="0"/>
              <a:t> Upanishad</a:t>
            </a:r>
          </a:p>
          <a:p>
            <a:r>
              <a:rPr lang="en-US" sz="2800" dirty="0" err="1"/>
              <a:t>Maitri</a:t>
            </a:r>
            <a:r>
              <a:rPr lang="en-US" sz="2800" dirty="0"/>
              <a:t> Upanishad</a:t>
            </a:r>
          </a:p>
          <a:p>
            <a:r>
              <a:rPr lang="en-US" sz="2800" dirty="0" err="1"/>
              <a:t>Mandukya</a:t>
            </a:r>
            <a:r>
              <a:rPr lang="en-US" sz="2800" dirty="0"/>
              <a:t> Upanishad</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Upanishads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97ACE6FE-D3AF-4790-8DC3-E91500E21BDC}"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23</a:t>
            </a:fld>
            <a:endParaRPr lang="en-US"/>
          </a:p>
        </p:txBody>
      </p:sp>
    </p:spTree>
    <p:extLst>
      <p:ext uri="{BB962C8B-B14F-4D97-AF65-F5344CB8AC3E}">
        <p14:creationId xmlns:p14="http://schemas.microsoft.com/office/powerpoint/2010/main" xmlns="" val="2194439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t>Human intellect is not an adequate tool to understand the immense complexity of reality. </a:t>
            </a:r>
            <a:endParaRPr lang="en-US" sz="2800" dirty="0" smtClean="0"/>
          </a:p>
          <a:p>
            <a:pPr algn="just"/>
            <a:r>
              <a:rPr lang="en-US" sz="2800" dirty="0" smtClean="0"/>
              <a:t>The </a:t>
            </a:r>
            <a:r>
              <a:rPr lang="en-US" sz="2800" dirty="0"/>
              <a:t>Upanishads do not claim that our brain is entirely useless; it certainly has its use. </a:t>
            </a:r>
            <a:endParaRPr lang="en-US" sz="2800" dirty="0" smtClean="0"/>
          </a:p>
          <a:p>
            <a:pPr marL="0" indent="0" algn="just">
              <a:buNone/>
            </a:pPr>
            <a:r>
              <a:rPr lang="en-US" sz="2800" dirty="0" smtClean="0"/>
              <a:t>• </a:t>
            </a:r>
            <a:r>
              <a:rPr lang="en-US" sz="2800" dirty="0"/>
              <a:t>The highest understanding, according to this view, comes from direct perception and intuition</a:t>
            </a:r>
            <a:r>
              <a:rPr lang="en-US" sz="2800" dirty="0" smtClean="0"/>
              <a:t>.</a:t>
            </a:r>
          </a:p>
          <a:p>
            <a:pPr marL="0" indent="0" algn="just">
              <a:buNone/>
            </a:pPr>
            <a:endParaRPr lang="en-US" sz="2800" dirty="0" smtClean="0"/>
          </a:p>
          <a:p>
            <a:pPr marL="0" indent="0" algn="just">
              <a:buNone/>
            </a:pPr>
            <a:r>
              <a:rPr lang="en-US" sz="2800" dirty="0"/>
              <a:t>The Upanishads tell us that the core of our own self is not the body, or the mind, but atman or “Self”.</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Upanishads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3D12AEDA-D5EF-460E-9D1E-34BF6F1D5CD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24</a:t>
            </a:fld>
            <a:endParaRPr lang="en-US"/>
          </a:p>
        </p:txBody>
      </p:sp>
    </p:spTree>
    <p:extLst>
      <p:ext uri="{BB962C8B-B14F-4D97-AF65-F5344CB8AC3E}">
        <p14:creationId xmlns:p14="http://schemas.microsoft.com/office/powerpoint/2010/main" xmlns="" val="4085381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153400" cy="838200"/>
          </a:xfrm>
        </p:spPr>
        <p:txBody>
          <a:bodyPr>
            <a:normAutofit fontScale="90000"/>
          </a:bodyPr>
          <a:lstStyle/>
          <a:p>
            <a:r>
              <a:rPr lang="en-US" dirty="0"/>
              <a:t/>
            </a:r>
            <a:br>
              <a:rPr lang="en-US" dirty="0"/>
            </a:br>
            <a:endParaRPr lang="en-US" dirty="0"/>
          </a:p>
        </p:txBody>
      </p:sp>
      <p:sp>
        <p:nvSpPr>
          <p:cNvPr id="3" name="Content Placeholder 2"/>
          <p:cNvSpPr>
            <a:spLocks noGrp="1"/>
          </p:cNvSpPr>
          <p:nvPr>
            <p:ph idx="1"/>
          </p:nvPr>
        </p:nvSpPr>
        <p:spPr>
          <a:xfrm>
            <a:off x="381000" y="762000"/>
            <a:ext cx="8229600" cy="5708073"/>
          </a:xfrm>
        </p:spPr>
        <p:txBody>
          <a:bodyPr>
            <a:noAutofit/>
          </a:bodyPr>
          <a:lstStyle/>
          <a:p>
            <a:pPr marL="0" indent="0" algn="just">
              <a:buNone/>
            </a:pPr>
            <a:r>
              <a:rPr lang="en-US" sz="2000" b="1" dirty="0" smtClean="0"/>
              <a:t>1. Brahman</a:t>
            </a:r>
            <a:r>
              <a:rPr lang="en-US" sz="2000" dirty="0" smtClean="0"/>
              <a:t> </a:t>
            </a:r>
            <a:r>
              <a:rPr lang="en-US" sz="2000" dirty="0"/>
              <a:t>was recognized as incomprehensible to a human being, which is why It could only be apprehended even somewhat through the avatars of the Hindu gods, but was also understood as the Source of Life which had given birth to humanity (essentially each person's father and mother</a:t>
            </a:r>
            <a:r>
              <a:rPr lang="en-US" sz="2000" dirty="0" smtClean="0"/>
              <a:t>).</a:t>
            </a:r>
            <a:endParaRPr lang="en-US" sz="2000" dirty="0"/>
          </a:p>
          <a:p>
            <a:pPr marL="457200" indent="-457200" algn="just">
              <a:buAutoNum type="arabicPeriod" startAt="2"/>
            </a:pPr>
            <a:r>
              <a:rPr lang="en-US" sz="2000" dirty="0"/>
              <a:t>R</a:t>
            </a:r>
            <a:r>
              <a:rPr lang="en-US" sz="2000" dirty="0" smtClean="0"/>
              <a:t>ecognition </a:t>
            </a:r>
            <a:r>
              <a:rPr lang="en-US" sz="2000" dirty="0"/>
              <a:t>of a higher self within the self – the </a:t>
            </a:r>
            <a:r>
              <a:rPr lang="en-US" sz="2000" i="1" dirty="0"/>
              <a:t>Atman</a:t>
            </a:r>
            <a:r>
              <a:rPr lang="en-US" sz="2000" dirty="0"/>
              <a:t> </a:t>
            </a:r>
            <a:endParaRPr lang="en-US" sz="2000" dirty="0" smtClean="0"/>
          </a:p>
          <a:p>
            <a:pPr marL="0" indent="0" algn="just">
              <a:buNone/>
            </a:pPr>
            <a:r>
              <a:rPr lang="en-US" sz="2000" dirty="0" smtClean="0"/>
              <a:t>3. The </a:t>
            </a:r>
            <a:r>
              <a:rPr lang="en-US" sz="2000" dirty="0"/>
              <a:t>goal of life, then, is self-actualization – to become completely aware of and in touch with one's higher self – so that one could live as closely as possible in accordance with the Eternal Order of the Universe and, after </a:t>
            </a:r>
            <a:r>
              <a:rPr lang="en-US" sz="2000" b="1" dirty="0"/>
              <a:t>death</a:t>
            </a:r>
            <a:r>
              <a:rPr lang="en-US" sz="2000" dirty="0"/>
              <a:t>, return home to complete union with Brahman. </a:t>
            </a:r>
            <a:endParaRPr lang="en-US" sz="2000" dirty="0" smtClean="0"/>
          </a:p>
          <a:p>
            <a:pPr marL="0" indent="0" algn="just">
              <a:buNone/>
            </a:pPr>
            <a:r>
              <a:rPr lang="en-US" sz="2000" dirty="0" smtClean="0"/>
              <a:t>4. </a:t>
            </a:r>
            <a:r>
              <a:rPr lang="en-US" sz="2000" dirty="0"/>
              <a:t>The transmigration of souls (reincarnation) was considered a given in that, if a person failed to perform their </a:t>
            </a:r>
            <a:r>
              <a:rPr lang="en-US" sz="2000" i="1" dirty="0"/>
              <a:t>dharma</a:t>
            </a:r>
            <a:r>
              <a:rPr lang="en-US" sz="2000" dirty="0"/>
              <a:t> in one life, their </a:t>
            </a:r>
            <a:r>
              <a:rPr lang="en-US" sz="2000" i="1" dirty="0"/>
              <a:t>karma</a:t>
            </a:r>
            <a:r>
              <a:rPr lang="en-US" sz="2000" dirty="0"/>
              <a:t> (past actions) would require them to return to try again. This cycle of rebirth and death was known as </a:t>
            </a:r>
            <a:r>
              <a:rPr lang="en-US" sz="2000" i="1" dirty="0"/>
              <a:t>samsara</a:t>
            </a:r>
            <a:r>
              <a:rPr lang="en-US" sz="2000" dirty="0"/>
              <a:t> and one found liberation (</a:t>
            </a:r>
            <a:r>
              <a:rPr lang="en-US" sz="2000" i="1" dirty="0"/>
              <a:t>moksha</a:t>
            </a:r>
            <a:r>
              <a:rPr lang="en-US" sz="2000" dirty="0"/>
              <a:t>) from </a:t>
            </a:r>
            <a:r>
              <a:rPr lang="en-US" sz="2000" i="1" dirty="0"/>
              <a:t>samsara</a:t>
            </a:r>
            <a:r>
              <a:rPr lang="en-US" sz="2000" dirty="0"/>
              <a:t> through the self-actualization which united the </a:t>
            </a:r>
            <a:r>
              <a:rPr lang="en-US" sz="2000" i="1" dirty="0"/>
              <a:t>Atman</a:t>
            </a:r>
            <a:r>
              <a:rPr lang="en-US" sz="2000" dirty="0"/>
              <a:t> with Brahman.</a:t>
            </a:r>
          </a:p>
        </p:txBody>
      </p:sp>
      <p:sp>
        <p:nvSpPr>
          <p:cNvPr id="4" name="Title 1"/>
          <p:cNvSpPr txBox="1">
            <a:spLocks/>
          </p:cNvSpPr>
          <p:nvPr/>
        </p:nvSpPr>
        <p:spPr>
          <a:xfrm>
            <a:off x="1447800" y="53235"/>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Central Concepts of Upanishads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9F9CF979-B993-40F0-9571-2A84C0BC68FF}"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25</a:t>
            </a:fld>
            <a:endParaRPr lang="en-US"/>
          </a:p>
        </p:txBody>
      </p:sp>
    </p:spTree>
    <p:extLst>
      <p:ext uri="{BB962C8B-B14F-4D97-AF65-F5344CB8AC3E}">
        <p14:creationId xmlns:p14="http://schemas.microsoft.com/office/powerpoint/2010/main" xmlns="" val="1807295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999626" y="1600201"/>
            <a:ext cx="7144748" cy="4382590"/>
          </a:xfrm>
        </p:spPr>
      </p:pic>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The Brahma</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3" name="Date Placeholder 2"/>
          <p:cNvSpPr>
            <a:spLocks noGrp="1"/>
          </p:cNvSpPr>
          <p:nvPr>
            <p:ph type="dt" sz="half" idx="10"/>
          </p:nvPr>
        </p:nvSpPr>
        <p:spPr/>
        <p:txBody>
          <a:bodyPr/>
          <a:lstStyle/>
          <a:p>
            <a:fld id="{2EADEAFE-4421-4AE5-BC23-28ACA0E4179F}"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26</a:t>
            </a:fld>
            <a:endParaRPr lang="en-US"/>
          </a:p>
        </p:txBody>
      </p:sp>
    </p:spTree>
    <p:extLst>
      <p:ext uri="{BB962C8B-B14F-4D97-AF65-F5344CB8AC3E}">
        <p14:creationId xmlns:p14="http://schemas.microsoft.com/office/powerpoint/2010/main" xmlns="" val="566370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1554691" y="1600200"/>
            <a:ext cx="6034617" cy="4525963"/>
          </a:xfrm>
        </p:spPr>
      </p:pic>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t>The Ramayana &amp; The Mahabharata</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3" name="Date Placeholder 2"/>
          <p:cNvSpPr>
            <a:spLocks noGrp="1"/>
          </p:cNvSpPr>
          <p:nvPr>
            <p:ph type="dt" sz="half" idx="10"/>
          </p:nvPr>
        </p:nvSpPr>
        <p:spPr/>
        <p:txBody>
          <a:bodyPr/>
          <a:lstStyle/>
          <a:p>
            <a:fld id="{3F0BD8CE-77A7-4C97-8705-6EF47A42E05B}"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27</a:t>
            </a:fld>
            <a:endParaRPr lang="en-US"/>
          </a:p>
        </p:txBody>
      </p:sp>
    </p:spTree>
    <p:extLst>
      <p:ext uri="{BB962C8B-B14F-4D97-AF65-F5344CB8AC3E}">
        <p14:creationId xmlns:p14="http://schemas.microsoft.com/office/powerpoint/2010/main" xmlns="" val="2113896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31009"/>
            <a:ext cx="142875" cy="330200"/>
          </a:xfrm>
          <a:prstGeom prst="rect">
            <a:avLst/>
          </a:prstGeom>
        </p:spPr>
        <p:txBody>
          <a:bodyPr vert="horz" wrap="square" lIns="0" tIns="12700" rIns="0" bIns="0" rtlCol="0">
            <a:spAutoFit/>
          </a:bodyPr>
          <a:lstStyle/>
          <a:p>
            <a:pPr marL="12700">
              <a:lnSpc>
                <a:spcPct val="100000"/>
              </a:lnSpc>
              <a:spcBef>
                <a:spcPts val="100"/>
              </a:spcBef>
            </a:pPr>
            <a:r>
              <a:rPr sz="2000" spc="525" dirty="0">
                <a:solidFill>
                  <a:srgbClr val="3593B5"/>
                </a:solidFill>
                <a:latin typeface="OpenSymbol"/>
                <a:cs typeface="OpenSymbol"/>
              </a:rPr>
              <a:t></a:t>
            </a:r>
            <a:endParaRPr sz="2000">
              <a:latin typeface="OpenSymbol"/>
              <a:cs typeface="OpenSymbol"/>
            </a:endParaRPr>
          </a:p>
        </p:txBody>
      </p:sp>
      <p:sp>
        <p:nvSpPr>
          <p:cNvPr id="4" name="object 4"/>
          <p:cNvSpPr txBox="1"/>
          <p:nvPr/>
        </p:nvSpPr>
        <p:spPr>
          <a:xfrm>
            <a:off x="1144269" y="3166109"/>
            <a:ext cx="142875" cy="330200"/>
          </a:xfrm>
          <a:prstGeom prst="rect">
            <a:avLst/>
          </a:prstGeom>
        </p:spPr>
        <p:txBody>
          <a:bodyPr vert="horz" wrap="square" lIns="0" tIns="12700" rIns="0" bIns="0" rtlCol="0">
            <a:spAutoFit/>
          </a:bodyPr>
          <a:lstStyle/>
          <a:p>
            <a:pPr marL="12700">
              <a:lnSpc>
                <a:spcPct val="100000"/>
              </a:lnSpc>
              <a:spcBef>
                <a:spcPts val="100"/>
              </a:spcBef>
            </a:pPr>
            <a:r>
              <a:rPr sz="2000" spc="525" dirty="0">
                <a:solidFill>
                  <a:srgbClr val="3593B5"/>
                </a:solidFill>
                <a:latin typeface="OpenSymbol"/>
                <a:cs typeface="OpenSymbol"/>
              </a:rPr>
              <a:t></a:t>
            </a:r>
            <a:endParaRPr sz="2000">
              <a:latin typeface="OpenSymbol"/>
              <a:cs typeface="OpenSymbol"/>
            </a:endParaRPr>
          </a:p>
        </p:txBody>
      </p:sp>
      <p:sp>
        <p:nvSpPr>
          <p:cNvPr id="5" name="object 5"/>
          <p:cNvSpPr txBox="1"/>
          <p:nvPr/>
        </p:nvSpPr>
        <p:spPr>
          <a:xfrm>
            <a:off x="1144269" y="4599940"/>
            <a:ext cx="142875" cy="330200"/>
          </a:xfrm>
          <a:prstGeom prst="rect">
            <a:avLst/>
          </a:prstGeom>
        </p:spPr>
        <p:txBody>
          <a:bodyPr vert="horz" wrap="square" lIns="0" tIns="12700" rIns="0" bIns="0" rtlCol="0">
            <a:spAutoFit/>
          </a:bodyPr>
          <a:lstStyle/>
          <a:p>
            <a:pPr marL="12700">
              <a:lnSpc>
                <a:spcPct val="100000"/>
              </a:lnSpc>
              <a:spcBef>
                <a:spcPts val="100"/>
              </a:spcBef>
            </a:pPr>
            <a:r>
              <a:rPr sz="2000" spc="525" dirty="0">
                <a:solidFill>
                  <a:srgbClr val="3593B5"/>
                </a:solidFill>
                <a:latin typeface="OpenSymbol"/>
                <a:cs typeface="OpenSymbol"/>
              </a:rPr>
              <a:t></a:t>
            </a:r>
            <a:endParaRPr sz="2000">
              <a:latin typeface="OpenSymbol"/>
              <a:cs typeface="OpenSymbol"/>
            </a:endParaRPr>
          </a:p>
        </p:txBody>
      </p:sp>
      <p:sp>
        <p:nvSpPr>
          <p:cNvPr id="6" name="object 6"/>
          <p:cNvSpPr txBox="1"/>
          <p:nvPr/>
        </p:nvSpPr>
        <p:spPr>
          <a:xfrm>
            <a:off x="1487169" y="1756409"/>
            <a:ext cx="3220720" cy="3749040"/>
          </a:xfrm>
          <a:prstGeom prst="rect">
            <a:avLst/>
          </a:prstGeom>
        </p:spPr>
        <p:txBody>
          <a:bodyPr vert="horz" wrap="square" lIns="0" tIns="46990" rIns="0" bIns="0" rtlCol="0">
            <a:spAutoFit/>
          </a:bodyPr>
          <a:lstStyle/>
          <a:p>
            <a:pPr marL="12700" marR="254635">
              <a:lnSpc>
                <a:spcPts val="2160"/>
              </a:lnSpc>
              <a:spcBef>
                <a:spcPts val="370"/>
              </a:spcBef>
            </a:pPr>
            <a:r>
              <a:rPr sz="2000" dirty="0">
                <a:latin typeface="Times New Roman"/>
                <a:cs typeface="Times New Roman"/>
              </a:rPr>
              <a:t>The </a:t>
            </a:r>
            <a:r>
              <a:rPr sz="2000" i="1" dirty="0">
                <a:latin typeface="Times New Roman"/>
                <a:cs typeface="Times New Roman"/>
              </a:rPr>
              <a:t>Ramayana </a:t>
            </a:r>
            <a:r>
              <a:rPr sz="2000" spc="-5" dirty="0">
                <a:latin typeface="Times New Roman"/>
                <a:cs typeface="Times New Roman"/>
              </a:rPr>
              <a:t>and </a:t>
            </a:r>
            <a:r>
              <a:rPr sz="2000" dirty="0">
                <a:latin typeface="Times New Roman"/>
                <a:cs typeface="Times New Roman"/>
              </a:rPr>
              <a:t>the  </a:t>
            </a:r>
            <a:r>
              <a:rPr sz="2000" i="1" dirty="0">
                <a:latin typeface="Times New Roman"/>
                <a:cs typeface="Times New Roman"/>
              </a:rPr>
              <a:t>Mahabharata </a:t>
            </a:r>
            <a:r>
              <a:rPr sz="2000" dirty="0">
                <a:latin typeface="Times New Roman"/>
                <a:cs typeface="Times New Roman"/>
              </a:rPr>
              <a:t>are </a:t>
            </a:r>
            <a:r>
              <a:rPr sz="2000" spc="-5" dirty="0">
                <a:latin typeface="Times New Roman"/>
                <a:cs typeface="Times New Roman"/>
              </a:rPr>
              <a:t>considered  the </a:t>
            </a:r>
            <a:r>
              <a:rPr sz="2000" dirty="0">
                <a:latin typeface="Times New Roman"/>
                <a:cs typeface="Times New Roman"/>
              </a:rPr>
              <a:t>foundation of </a:t>
            </a:r>
            <a:r>
              <a:rPr sz="2000" i="1" dirty="0">
                <a:latin typeface="Times New Roman"/>
                <a:cs typeface="Times New Roman"/>
              </a:rPr>
              <a:t>dharma </a:t>
            </a:r>
            <a:r>
              <a:rPr sz="2000" dirty="0">
                <a:latin typeface="Times New Roman"/>
                <a:cs typeface="Times New Roman"/>
              </a:rPr>
              <a:t>or  </a:t>
            </a:r>
            <a:r>
              <a:rPr sz="2000" spc="-5" dirty="0">
                <a:latin typeface="Times New Roman"/>
                <a:cs typeface="Times New Roman"/>
              </a:rPr>
              <a:t>the </a:t>
            </a:r>
            <a:r>
              <a:rPr sz="2000" dirty="0">
                <a:latin typeface="Times New Roman"/>
                <a:cs typeface="Times New Roman"/>
              </a:rPr>
              <a:t>Hindu code of </a:t>
            </a:r>
            <a:r>
              <a:rPr sz="2000" spc="-5" dirty="0">
                <a:latin typeface="Times New Roman"/>
                <a:cs typeface="Times New Roman"/>
              </a:rPr>
              <a:t>ethical  existence.</a:t>
            </a:r>
            <a:endParaRPr sz="2000">
              <a:latin typeface="Times New Roman"/>
              <a:cs typeface="Times New Roman"/>
            </a:endParaRPr>
          </a:p>
          <a:p>
            <a:pPr marL="12700" marR="5080">
              <a:lnSpc>
                <a:spcPts val="2160"/>
              </a:lnSpc>
              <a:spcBef>
                <a:spcPts val="500"/>
              </a:spcBef>
              <a:tabLst>
                <a:tab pos="1010285" algn="l"/>
              </a:tabLst>
            </a:pPr>
            <a:r>
              <a:rPr sz="2000" spc="-5" dirty="0">
                <a:latin typeface="Times New Roman"/>
                <a:cs typeface="Times New Roman"/>
              </a:rPr>
              <a:t>Duty to parents, </a:t>
            </a:r>
            <a:r>
              <a:rPr sz="2000" dirty="0">
                <a:latin typeface="Times New Roman"/>
                <a:cs typeface="Times New Roman"/>
              </a:rPr>
              <a:t>brotherly </a:t>
            </a:r>
            <a:r>
              <a:rPr sz="2000" spc="-5" dirty="0">
                <a:latin typeface="Times New Roman"/>
                <a:cs typeface="Times New Roman"/>
              </a:rPr>
              <a:t>love,  true </a:t>
            </a:r>
            <a:r>
              <a:rPr sz="2000" dirty="0">
                <a:latin typeface="Times New Roman"/>
                <a:cs typeface="Times New Roman"/>
              </a:rPr>
              <a:t>friendship, </a:t>
            </a:r>
            <a:r>
              <a:rPr sz="2000" spc="-5" dirty="0">
                <a:latin typeface="Times New Roman"/>
                <a:cs typeface="Times New Roman"/>
              </a:rPr>
              <a:t>correct  </a:t>
            </a:r>
            <a:r>
              <a:rPr sz="2000" dirty="0">
                <a:latin typeface="Times New Roman"/>
                <a:cs typeface="Times New Roman"/>
              </a:rPr>
              <a:t>conduct,	courage, </a:t>
            </a:r>
            <a:r>
              <a:rPr sz="2000" spc="-5" dirty="0">
                <a:latin typeface="Times New Roman"/>
                <a:cs typeface="Times New Roman"/>
              </a:rPr>
              <a:t>persistence  and many </a:t>
            </a:r>
            <a:r>
              <a:rPr sz="2000" dirty="0">
                <a:latin typeface="Times New Roman"/>
                <a:cs typeface="Times New Roman"/>
              </a:rPr>
              <a:t>other </a:t>
            </a:r>
            <a:r>
              <a:rPr sz="2000" spc="-5" dirty="0">
                <a:latin typeface="Times New Roman"/>
                <a:cs typeface="Times New Roman"/>
              </a:rPr>
              <a:t>virtues </a:t>
            </a:r>
            <a:r>
              <a:rPr sz="2000" dirty="0">
                <a:latin typeface="Times New Roman"/>
                <a:cs typeface="Times New Roman"/>
              </a:rPr>
              <a:t>are  </a:t>
            </a:r>
            <a:r>
              <a:rPr sz="2000" spc="-5" dirty="0">
                <a:latin typeface="Times New Roman"/>
                <a:cs typeface="Times New Roman"/>
              </a:rPr>
              <a:t>stressed in the</a:t>
            </a:r>
            <a:r>
              <a:rPr sz="2000" spc="10" dirty="0">
                <a:latin typeface="Times New Roman"/>
                <a:cs typeface="Times New Roman"/>
              </a:rPr>
              <a:t> </a:t>
            </a:r>
            <a:r>
              <a:rPr sz="2000" spc="-5" dirty="0">
                <a:latin typeface="Times New Roman"/>
                <a:cs typeface="Times New Roman"/>
              </a:rPr>
              <a:t>epics.</a:t>
            </a:r>
            <a:endParaRPr sz="2000">
              <a:latin typeface="Times New Roman"/>
              <a:cs typeface="Times New Roman"/>
            </a:endParaRPr>
          </a:p>
          <a:p>
            <a:pPr marL="12700" marR="99060">
              <a:lnSpc>
                <a:spcPts val="2160"/>
              </a:lnSpc>
              <a:spcBef>
                <a:spcPts val="500"/>
              </a:spcBef>
            </a:pPr>
            <a:r>
              <a:rPr sz="2000" dirty="0">
                <a:latin typeface="Times New Roman"/>
                <a:cs typeface="Times New Roman"/>
              </a:rPr>
              <a:t>They are </a:t>
            </a:r>
            <a:r>
              <a:rPr sz="2000" spc="-5" dirty="0">
                <a:latin typeface="Times New Roman"/>
                <a:cs typeface="Times New Roman"/>
              </a:rPr>
              <a:t>also entertaining  stories because </a:t>
            </a:r>
            <a:r>
              <a:rPr sz="2000" dirty="0">
                <a:latin typeface="Times New Roman"/>
                <a:cs typeface="Times New Roman"/>
              </a:rPr>
              <a:t>they are full of  </a:t>
            </a:r>
            <a:r>
              <a:rPr sz="2000" spc="-5" dirty="0">
                <a:latin typeface="Times New Roman"/>
                <a:cs typeface="Times New Roman"/>
              </a:rPr>
              <a:t>action and</a:t>
            </a:r>
            <a:r>
              <a:rPr sz="2000" spc="5" dirty="0">
                <a:latin typeface="Times New Roman"/>
                <a:cs typeface="Times New Roman"/>
              </a:rPr>
              <a:t> </a:t>
            </a:r>
            <a:r>
              <a:rPr sz="2000" dirty="0">
                <a:latin typeface="Times New Roman"/>
                <a:cs typeface="Times New Roman"/>
              </a:rPr>
              <a:t>adventure.</a:t>
            </a:r>
            <a:endParaRPr sz="2000">
              <a:latin typeface="Times New Roman"/>
              <a:cs typeface="Times New Roman"/>
            </a:endParaRPr>
          </a:p>
        </p:txBody>
      </p:sp>
      <p:sp>
        <p:nvSpPr>
          <p:cNvPr id="7" name="object 7"/>
          <p:cNvSpPr/>
          <p:nvPr/>
        </p:nvSpPr>
        <p:spPr>
          <a:xfrm>
            <a:off x="4951729" y="1752600"/>
            <a:ext cx="3735070" cy="4114800"/>
          </a:xfrm>
          <a:prstGeom prst="rect">
            <a:avLst/>
          </a:prstGeom>
          <a:blipFill>
            <a:blip r:embed="rId2" cstate="print"/>
            <a:stretch>
              <a:fillRect/>
            </a:stretch>
          </a:blipFill>
        </p:spPr>
        <p:txBody>
          <a:bodyPr wrap="square" lIns="0" tIns="0" rIns="0" bIns="0" rtlCol="0"/>
          <a:lstStyle/>
          <a:p>
            <a:endParaRPr/>
          </a:p>
        </p:txBody>
      </p:sp>
      <p:sp>
        <p:nvSpPr>
          <p:cNvPr id="8"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Why </a:t>
            </a:r>
            <a:r>
              <a:rPr lang="en-US" sz="2800" spc="-10" dirty="0"/>
              <a:t>are </a:t>
            </a:r>
            <a:r>
              <a:rPr lang="en-US" sz="2800" spc="-5" dirty="0"/>
              <a:t>the epics</a:t>
            </a:r>
            <a:r>
              <a:rPr lang="en-US" sz="2800" spc="-35" dirty="0"/>
              <a:t> </a:t>
            </a:r>
            <a:r>
              <a:rPr lang="en-US" sz="2800" dirty="0"/>
              <a:t>important?</a:t>
            </a:r>
            <a:endParaRPr lang="en-US" sz="2800" b="1" dirty="0">
              <a:solidFill>
                <a:prstClr val="black"/>
              </a:solidFill>
              <a:latin typeface="Times New Roman" pitchFamily="18" charset="0"/>
              <a:cs typeface="Times New Roman" pitchFamily="18" charset="0"/>
            </a:endParaRPr>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0" name="Date Placeholder 9"/>
          <p:cNvSpPr>
            <a:spLocks noGrp="1"/>
          </p:cNvSpPr>
          <p:nvPr>
            <p:ph type="dt" sz="half" idx="10"/>
          </p:nvPr>
        </p:nvSpPr>
        <p:spPr/>
        <p:txBody>
          <a:bodyPr/>
          <a:lstStyle/>
          <a:p>
            <a:fld id="{6178CB31-28BA-43DD-A2FC-4D69CB5D43EF}" type="datetime1">
              <a:rPr lang="en-US" smtClean="0"/>
              <a:t>1/14/2022</a:t>
            </a:fld>
            <a:endParaRPr lang="en-US"/>
          </a:p>
        </p:txBody>
      </p:sp>
      <p:sp>
        <p:nvSpPr>
          <p:cNvPr id="11" name="Footer Placeholder 10"/>
          <p:cNvSpPr>
            <a:spLocks noGrp="1"/>
          </p:cNvSpPr>
          <p:nvPr>
            <p:ph type="ftr" sz="quarter" idx="11"/>
          </p:nvPr>
        </p:nvSpPr>
        <p:spPr/>
        <p:txBody>
          <a:bodyPr/>
          <a:lstStyle/>
          <a:p>
            <a:r>
              <a:rPr lang="fi-FI" smtClean="0"/>
              <a:t>Dr.Ankita Shukla KNC 602                                   Unit :2</a:t>
            </a:r>
            <a:endParaRPr lang="en-US" dirty="0"/>
          </a:p>
        </p:txBody>
      </p:sp>
      <p:sp>
        <p:nvSpPr>
          <p:cNvPr id="12" name="Slide Number Placeholder 11"/>
          <p:cNvSpPr>
            <a:spLocks noGrp="1"/>
          </p:cNvSpPr>
          <p:nvPr>
            <p:ph type="sldNum" sz="quarter" idx="12"/>
          </p:nvPr>
        </p:nvSpPr>
        <p:spPr/>
        <p:txBody>
          <a:bodyPr/>
          <a:lstStyle/>
          <a:p>
            <a:fld id="{5C85F1CB-02EA-4782-B654-3ECBE6236E9C}" type="slidenum">
              <a:rPr lang="en-US" smtClean="0"/>
              <a:pPr/>
              <a:t>28</a:t>
            </a:fld>
            <a:endParaRPr lang="en-US"/>
          </a:p>
        </p:txBody>
      </p:sp>
    </p:spTree>
    <p:extLst>
      <p:ext uri="{BB962C8B-B14F-4D97-AF65-F5344CB8AC3E}">
        <p14:creationId xmlns:p14="http://schemas.microsoft.com/office/powerpoint/2010/main" xmlns="" val="857461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4497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4" name="object 4"/>
          <p:cNvSpPr txBox="1"/>
          <p:nvPr/>
        </p:nvSpPr>
        <p:spPr>
          <a:xfrm>
            <a:off x="1144269" y="254127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5" name="object 5"/>
          <p:cNvSpPr txBox="1"/>
          <p:nvPr/>
        </p:nvSpPr>
        <p:spPr>
          <a:xfrm>
            <a:off x="1144269" y="333755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6" name="object 6"/>
          <p:cNvSpPr txBox="1"/>
          <p:nvPr/>
        </p:nvSpPr>
        <p:spPr>
          <a:xfrm>
            <a:off x="1144269" y="413512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7" name="object 7"/>
          <p:cNvSpPr txBox="1"/>
          <p:nvPr/>
        </p:nvSpPr>
        <p:spPr>
          <a:xfrm>
            <a:off x="1144269" y="493140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8" name="object 8"/>
          <p:cNvSpPr txBox="1"/>
          <p:nvPr/>
        </p:nvSpPr>
        <p:spPr>
          <a:xfrm>
            <a:off x="1487169" y="1758950"/>
            <a:ext cx="3181350" cy="3732529"/>
          </a:xfrm>
          <a:prstGeom prst="rect">
            <a:avLst/>
          </a:prstGeom>
        </p:spPr>
        <p:txBody>
          <a:bodyPr vert="horz" wrap="square" lIns="0" tIns="43815" rIns="0" bIns="0" rtlCol="0">
            <a:spAutoFit/>
          </a:bodyPr>
          <a:lstStyle/>
          <a:p>
            <a:pPr marL="12700" marR="27305">
              <a:lnSpc>
                <a:spcPts val="1939"/>
              </a:lnSpc>
              <a:spcBef>
                <a:spcPts val="345"/>
              </a:spcBef>
            </a:pPr>
            <a:r>
              <a:rPr sz="1800" spc="-5" dirty="0">
                <a:latin typeface="Times New Roman"/>
                <a:cs typeface="Times New Roman"/>
              </a:rPr>
              <a:t>The story </a:t>
            </a:r>
            <a:r>
              <a:rPr sz="1800" dirty="0">
                <a:latin typeface="Times New Roman"/>
                <a:cs typeface="Times New Roman"/>
              </a:rPr>
              <a:t>of </a:t>
            </a:r>
            <a:r>
              <a:rPr sz="1800" spc="-5" dirty="0">
                <a:latin typeface="Times New Roman"/>
                <a:cs typeface="Times New Roman"/>
              </a:rPr>
              <a:t>Rama, the  incarnation </a:t>
            </a:r>
            <a:r>
              <a:rPr sz="1800" dirty="0">
                <a:latin typeface="Times New Roman"/>
                <a:cs typeface="Times New Roman"/>
              </a:rPr>
              <a:t>of </a:t>
            </a:r>
            <a:r>
              <a:rPr sz="1800" spc="-5" dirty="0">
                <a:latin typeface="Times New Roman"/>
                <a:cs typeface="Times New Roman"/>
              </a:rPr>
              <a:t>Vishnu </a:t>
            </a:r>
            <a:r>
              <a:rPr sz="1800" dirty="0">
                <a:latin typeface="Times New Roman"/>
                <a:cs typeface="Times New Roman"/>
              </a:rPr>
              <a:t>and the  </a:t>
            </a:r>
            <a:r>
              <a:rPr sz="1800" spc="-5" dirty="0">
                <a:latin typeface="Times New Roman"/>
                <a:cs typeface="Times New Roman"/>
              </a:rPr>
              <a:t>ideal </a:t>
            </a:r>
            <a:r>
              <a:rPr sz="1800" spc="-10" dirty="0">
                <a:latin typeface="Times New Roman"/>
                <a:cs typeface="Times New Roman"/>
              </a:rPr>
              <a:t>man </a:t>
            </a:r>
            <a:r>
              <a:rPr sz="1800" dirty="0">
                <a:latin typeface="Times New Roman"/>
                <a:cs typeface="Times New Roman"/>
              </a:rPr>
              <a:t>(</a:t>
            </a:r>
            <a:r>
              <a:rPr sz="1800" i="1" dirty="0">
                <a:latin typeface="Times New Roman"/>
                <a:cs typeface="Times New Roman"/>
              </a:rPr>
              <a:t>maryada</a:t>
            </a:r>
            <a:r>
              <a:rPr sz="1800" i="1" spc="-5" dirty="0">
                <a:latin typeface="Times New Roman"/>
                <a:cs typeface="Times New Roman"/>
              </a:rPr>
              <a:t> purushottam</a:t>
            </a:r>
            <a:r>
              <a:rPr sz="1800" spc="-5" dirty="0">
                <a:latin typeface="Times New Roman"/>
                <a:cs typeface="Times New Roman"/>
              </a:rPr>
              <a:t>)</a:t>
            </a:r>
            <a:endParaRPr sz="1800" dirty="0">
              <a:latin typeface="Times New Roman"/>
              <a:cs typeface="Times New Roman"/>
            </a:endParaRPr>
          </a:p>
          <a:p>
            <a:pPr marL="12700" marR="129539">
              <a:lnSpc>
                <a:spcPct val="90000"/>
              </a:lnSpc>
              <a:spcBef>
                <a:spcPts val="420"/>
              </a:spcBef>
            </a:pPr>
            <a:r>
              <a:rPr sz="1800" spc="-5" dirty="0">
                <a:latin typeface="Times New Roman"/>
                <a:cs typeface="Times New Roman"/>
              </a:rPr>
              <a:t>Supposed to </a:t>
            </a:r>
            <a:r>
              <a:rPr sz="1800" dirty="0">
                <a:latin typeface="Times New Roman"/>
                <a:cs typeface="Times New Roman"/>
              </a:rPr>
              <a:t>have been </a:t>
            </a:r>
            <a:r>
              <a:rPr sz="1800" spc="-5" dirty="0">
                <a:latin typeface="Times New Roman"/>
                <a:cs typeface="Times New Roman"/>
              </a:rPr>
              <a:t>written  </a:t>
            </a:r>
            <a:r>
              <a:rPr sz="1800" spc="-10" dirty="0">
                <a:latin typeface="Times New Roman"/>
                <a:cs typeface="Times New Roman"/>
              </a:rPr>
              <a:t>some time </a:t>
            </a:r>
            <a:r>
              <a:rPr sz="1800" dirty="0">
                <a:latin typeface="Times New Roman"/>
                <a:cs typeface="Times New Roman"/>
              </a:rPr>
              <a:t>between 500 </a:t>
            </a:r>
            <a:r>
              <a:rPr sz="1800" spc="-5" dirty="0">
                <a:latin typeface="Times New Roman"/>
                <a:cs typeface="Times New Roman"/>
              </a:rPr>
              <a:t>B.C. and  </a:t>
            </a:r>
            <a:r>
              <a:rPr sz="1800" dirty="0">
                <a:latin typeface="Times New Roman"/>
                <a:cs typeface="Times New Roman"/>
              </a:rPr>
              <a:t>100</a:t>
            </a:r>
            <a:r>
              <a:rPr sz="1800" spc="-5" dirty="0">
                <a:latin typeface="Times New Roman"/>
                <a:cs typeface="Times New Roman"/>
              </a:rPr>
              <a:t> B.C.</a:t>
            </a:r>
            <a:endParaRPr sz="1800" dirty="0">
              <a:latin typeface="Times New Roman"/>
              <a:cs typeface="Times New Roman"/>
            </a:endParaRPr>
          </a:p>
          <a:p>
            <a:pPr marL="12700" marR="5080">
              <a:lnSpc>
                <a:spcPts val="1939"/>
              </a:lnSpc>
              <a:spcBef>
                <a:spcPts val="480"/>
              </a:spcBef>
            </a:pPr>
            <a:r>
              <a:rPr sz="1800" i="1" spc="-5" dirty="0">
                <a:latin typeface="Times New Roman"/>
                <a:cs typeface="Times New Roman"/>
              </a:rPr>
              <a:t>Ramayana </a:t>
            </a:r>
            <a:r>
              <a:rPr sz="1800" spc="-5" dirty="0">
                <a:latin typeface="Times New Roman"/>
                <a:cs typeface="Times New Roman"/>
              </a:rPr>
              <a:t>literally </a:t>
            </a:r>
            <a:r>
              <a:rPr sz="1800" spc="-10" dirty="0">
                <a:latin typeface="Times New Roman"/>
                <a:cs typeface="Times New Roman"/>
              </a:rPr>
              <a:t>means  </a:t>
            </a:r>
            <a:r>
              <a:rPr sz="1800" spc="-5" dirty="0">
                <a:latin typeface="Times New Roman"/>
                <a:cs typeface="Times New Roman"/>
              </a:rPr>
              <a:t>‘Rama’s journey’. </a:t>
            </a:r>
            <a:r>
              <a:rPr sz="1800" dirty="0">
                <a:latin typeface="Times New Roman"/>
                <a:cs typeface="Times New Roman"/>
              </a:rPr>
              <a:t>It is </a:t>
            </a:r>
            <a:r>
              <a:rPr sz="1800" spc="-5" dirty="0">
                <a:latin typeface="Times New Roman"/>
                <a:cs typeface="Times New Roman"/>
              </a:rPr>
              <a:t>called </a:t>
            </a:r>
            <a:r>
              <a:rPr sz="1800" dirty="0">
                <a:latin typeface="Times New Roman"/>
                <a:cs typeface="Times New Roman"/>
              </a:rPr>
              <a:t>‘Adi  Kavya,’ </a:t>
            </a:r>
            <a:r>
              <a:rPr sz="1800" spc="-5" dirty="0">
                <a:latin typeface="Times New Roman"/>
                <a:cs typeface="Times New Roman"/>
              </a:rPr>
              <a:t>the first </a:t>
            </a:r>
            <a:r>
              <a:rPr sz="1800" dirty="0">
                <a:latin typeface="Times New Roman"/>
                <a:cs typeface="Times New Roman"/>
              </a:rPr>
              <a:t>and </a:t>
            </a:r>
            <a:r>
              <a:rPr sz="1800" spc="-5" dirty="0">
                <a:latin typeface="Times New Roman"/>
                <a:cs typeface="Times New Roman"/>
              </a:rPr>
              <a:t>ideal</a:t>
            </a:r>
            <a:r>
              <a:rPr sz="1800" dirty="0">
                <a:latin typeface="Times New Roman"/>
                <a:cs typeface="Times New Roman"/>
              </a:rPr>
              <a:t> </a:t>
            </a:r>
            <a:r>
              <a:rPr sz="1800" spc="-5" dirty="0">
                <a:latin typeface="Times New Roman"/>
                <a:cs typeface="Times New Roman"/>
              </a:rPr>
              <a:t>poem.</a:t>
            </a:r>
            <a:endParaRPr sz="1800" dirty="0">
              <a:latin typeface="Times New Roman"/>
              <a:cs typeface="Times New Roman"/>
            </a:endParaRPr>
          </a:p>
          <a:p>
            <a:pPr marL="12700" marR="186690">
              <a:lnSpc>
                <a:spcPts val="1939"/>
              </a:lnSpc>
              <a:spcBef>
                <a:spcPts val="450"/>
              </a:spcBef>
            </a:pPr>
            <a:r>
              <a:rPr sz="1800" dirty="0">
                <a:latin typeface="Times New Roman"/>
                <a:cs typeface="Times New Roman"/>
              </a:rPr>
              <a:t>It </a:t>
            </a:r>
            <a:r>
              <a:rPr sz="1800" spc="-5" dirty="0">
                <a:latin typeface="Times New Roman"/>
                <a:cs typeface="Times New Roman"/>
              </a:rPr>
              <a:t>was composed in Sanskrit </a:t>
            </a:r>
            <a:r>
              <a:rPr sz="1800" dirty="0">
                <a:latin typeface="Times New Roman"/>
                <a:cs typeface="Times New Roman"/>
              </a:rPr>
              <a:t>by  </a:t>
            </a:r>
            <a:r>
              <a:rPr sz="1800" spc="-5" dirty="0">
                <a:latin typeface="Times New Roman"/>
                <a:cs typeface="Times New Roman"/>
              </a:rPr>
              <a:t>Valmiki, who is also called ‘Adi  Kavi’ </a:t>
            </a:r>
            <a:r>
              <a:rPr sz="1800" dirty="0">
                <a:latin typeface="Times New Roman"/>
                <a:cs typeface="Times New Roman"/>
              </a:rPr>
              <a:t>or the first</a:t>
            </a:r>
            <a:r>
              <a:rPr sz="1800" spc="5" dirty="0">
                <a:latin typeface="Times New Roman"/>
                <a:cs typeface="Times New Roman"/>
              </a:rPr>
              <a:t> </a:t>
            </a:r>
            <a:r>
              <a:rPr sz="1800" dirty="0">
                <a:latin typeface="Times New Roman"/>
                <a:cs typeface="Times New Roman"/>
              </a:rPr>
              <a:t>poet.</a:t>
            </a:r>
          </a:p>
          <a:p>
            <a:pPr marL="12700" marR="441959">
              <a:lnSpc>
                <a:spcPts val="1939"/>
              </a:lnSpc>
              <a:spcBef>
                <a:spcPts val="450"/>
              </a:spcBef>
            </a:pPr>
            <a:r>
              <a:rPr sz="1800" dirty="0">
                <a:latin typeface="Times New Roman"/>
                <a:cs typeface="Times New Roman"/>
              </a:rPr>
              <a:t>It </a:t>
            </a:r>
            <a:r>
              <a:rPr sz="1800" spc="-5" dirty="0">
                <a:latin typeface="Times New Roman"/>
                <a:cs typeface="Times New Roman"/>
              </a:rPr>
              <a:t>consists </a:t>
            </a:r>
            <a:r>
              <a:rPr sz="1800" dirty="0">
                <a:latin typeface="Times New Roman"/>
                <a:cs typeface="Times New Roman"/>
              </a:rPr>
              <a:t>of 24,000 verses</a:t>
            </a:r>
            <a:r>
              <a:rPr sz="1800" spc="-75" dirty="0">
                <a:latin typeface="Times New Roman"/>
                <a:cs typeface="Times New Roman"/>
              </a:rPr>
              <a:t> </a:t>
            </a:r>
            <a:r>
              <a:rPr sz="1800" spc="-5" dirty="0">
                <a:latin typeface="Times New Roman"/>
                <a:cs typeface="Times New Roman"/>
              </a:rPr>
              <a:t>in  seven </a:t>
            </a:r>
            <a:r>
              <a:rPr sz="1800" dirty="0">
                <a:latin typeface="Times New Roman"/>
                <a:cs typeface="Times New Roman"/>
              </a:rPr>
              <a:t>books </a:t>
            </a:r>
            <a:r>
              <a:rPr sz="1800" spc="-5" dirty="0">
                <a:latin typeface="Times New Roman"/>
                <a:cs typeface="Times New Roman"/>
              </a:rPr>
              <a:t>called</a:t>
            </a:r>
            <a:r>
              <a:rPr sz="1800" dirty="0">
                <a:latin typeface="Times New Roman"/>
                <a:cs typeface="Times New Roman"/>
              </a:rPr>
              <a:t> </a:t>
            </a:r>
            <a:r>
              <a:rPr sz="1800" i="1" spc="-5" dirty="0">
                <a:latin typeface="Times New Roman"/>
                <a:cs typeface="Times New Roman"/>
              </a:rPr>
              <a:t>kandas</a:t>
            </a:r>
            <a:r>
              <a:rPr sz="1800" spc="-5" dirty="0">
                <a:latin typeface="Times New Roman"/>
                <a:cs typeface="Times New Roman"/>
              </a:rPr>
              <a:t>.</a:t>
            </a:r>
            <a:endParaRPr sz="1800" dirty="0">
              <a:latin typeface="Times New Roman"/>
              <a:cs typeface="Times New Roman"/>
            </a:endParaRPr>
          </a:p>
        </p:txBody>
      </p:sp>
      <p:sp>
        <p:nvSpPr>
          <p:cNvPr id="9" name="object 9"/>
          <p:cNvSpPr/>
          <p:nvPr/>
        </p:nvSpPr>
        <p:spPr>
          <a:xfrm>
            <a:off x="4953000" y="1786659"/>
            <a:ext cx="3962400" cy="3886200"/>
          </a:xfrm>
          <a:prstGeom prst="rect">
            <a:avLst/>
          </a:prstGeom>
          <a:blipFill>
            <a:blip r:embed="rId2" cstate="print"/>
            <a:stretch>
              <a:fillRect/>
            </a:stretch>
          </a:blipFill>
        </p:spPr>
        <p:txBody>
          <a:bodyPr wrap="square" lIns="0" tIns="0" rIns="0" bIns="0" rtlCol="0"/>
          <a:lstStyle/>
          <a:p>
            <a:endParaRPr/>
          </a:p>
        </p:txBody>
      </p:sp>
      <p:sp>
        <p:nvSpPr>
          <p:cNvPr id="10"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The</a:t>
            </a:r>
            <a:r>
              <a:rPr lang="en-US" sz="2800" spc="-55" dirty="0"/>
              <a:t> </a:t>
            </a:r>
            <a:r>
              <a:rPr lang="en-US" sz="2800" i="1" spc="-5" dirty="0">
                <a:latin typeface="Times New Roman"/>
                <a:cs typeface="Times New Roman"/>
              </a:rPr>
              <a:t>Ramayana</a:t>
            </a:r>
            <a:endParaRPr lang="en-US" sz="2800" b="1" dirty="0">
              <a:solidFill>
                <a:prstClr val="black"/>
              </a:solidFill>
              <a:latin typeface="Times New Roman" pitchFamily="18" charset="0"/>
              <a:cs typeface="Times New Roman" pitchFamily="18" charset="0"/>
            </a:endParaRPr>
          </a:p>
        </p:txBody>
      </p:sp>
      <p:pic>
        <p:nvPicPr>
          <p:cNvPr id="11"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2" name="Date Placeholder 11"/>
          <p:cNvSpPr>
            <a:spLocks noGrp="1"/>
          </p:cNvSpPr>
          <p:nvPr>
            <p:ph type="dt" sz="half" idx="10"/>
          </p:nvPr>
        </p:nvSpPr>
        <p:spPr/>
        <p:txBody>
          <a:bodyPr/>
          <a:lstStyle/>
          <a:p>
            <a:fld id="{F3DFDF8B-C44F-450C-B8E2-B4B977A58CC1}" type="datetime1">
              <a:rPr lang="en-US" smtClean="0"/>
              <a:t>1/14/2022</a:t>
            </a:fld>
            <a:endParaRPr lang="en-US"/>
          </a:p>
        </p:txBody>
      </p:sp>
      <p:sp>
        <p:nvSpPr>
          <p:cNvPr id="13" name="Footer Placeholder 12"/>
          <p:cNvSpPr>
            <a:spLocks noGrp="1"/>
          </p:cNvSpPr>
          <p:nvPr>
            <p:ph type="ftr" sz="quarter" idx="11"/>
          </p:nvPr>
        </p:nvSpPr>
        <p:spPr/>
        <p:txBody>
          <a:bodyPr/>
          <a:lstStyle/>
          <a:p>
            <a:r>
              <a:rPr lang="fi-FI" smtClean="0"/>
              <a:t>Dr.Ankita Shukla KNC 602                                   Unit :2</a:t>
            </a:r>
            <a:endParaRPr lang="en-US" dirty="0"/>
          </a:p>
        </p:txBody>
      </p:sp>
      <p:sp>
        <p:nvSpPr>
          <p:cNvPr id="14" name="Slide Number Placeholder 13"/>
          <p:cNvSpPr>
            <a:spLocks noGrp="1"/>
          </p:cNvSpPr>
          <p:nvPr>
            <p:ph type="sldNum" sz="quarter" idx="12"/>
          </p:nvPr>
        </p:nvSpPr>
        <p:spPr/>
        <p:txBody>
          <a:bodyPr/>
          <a:lstStyle/>
          <a:p>
            <a:fld id="{5C85F1CB-02EA-4782-B654-3ECBE6236E9C}" type="slidenum">
              <a:rPr lang="en-US" smtClean="0"/>
              <a:pPr/>
              <a:t>29</a:t>
            </a:fld>
            <a:endParaRPr lang="en-US"/>
          </a:p>
        </p:txBody>
      </p:sp>
    </p:spTree>
    <p:extLst>
      <p:ext uri="{BB962C8B-B14F-4D97-AF65-F5344CB8AC3E}">
        <p14:creationId xmlns:p14="http://schemas.microsoft.com/office/powerpoint/2010/main" xmlns="" val="4173243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1487168" y="1758950"/>
            <a:ext cx="5599432" cy="3606757"/>
          </a:xfrm>
          <a:prstGeom prst="rect">
            <a:avLst/>
          </a:prstGeom>
        </p:spPr>
        <p:txBody>
          <a:bodyPr vert="horz" wrap="square" lIns="0" tIns="43815" rIns="0" bIns="0" rtlCol="0">
            <a:spAutoFit/>
          </a:bodyPr>
          <a:lstStyle/>
          <a:p>
            <a:pPr marL="12700" marR="27305">
              <a:spcBef>
                <a:spcPts val="345"/>
              </a:spcBef>
            </a:pPr>
            <a:r>
              <a:rPr lang="en-US" sz="2800" dirty="0" smtClean="0">
                <a:latin typeface="Times New Roman"/>
                <a:cs typeface="Times New Roman"/>
              </a:rPr>
              <a:t>1.</a:t>
            </a:r>
            <a:r>
              <a:rPr lang="en-US" sz="2800" dirty="0" smtClean="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Bala</a:t>
            </a:r>
            <a:r>
              <a:rPr lang="en-US" sz="2800" i="1" dirty="0">
                <a:latin typeface="Times New Roman" panose="02020603050405020304" pitchFamily="18" charset="0"/>
                <a:cs typeface="Times New Roman" panose="02020603050405020304" pitchFamily="18" charset="0"/>
              </a:rPr>
              <a:t> Kanda</a:t>
            </a:r>
            <a:endParaRPr lang="en-US" sz="2800" dirty="0">
              <a:latin typeface="Times New Roman" panose="02020603050405020304" pitchFamily="18" charset="0"/>
              <a:cs typeface="Times New Roman" panose="02020603050405020304" pitchFamily="18" charset="0"/>
            </a:endParaRPr>
          </a:p>
          <a:p>
            <a:pPr marL="12700" marR="27305">
              <a:spcBef>
                <a:spcPts val="345"/>
              </a:spcBef>
            </a:pPr>
            <a:r>
              <a:rPr lang="en-US" sz="2800" dirty="0" smtClean="0">
                <a:latin typeface="Times New Roman" panose="02020603050405020304" pitchFamily="18" charset="0"/>
                <a:cs typeface="Times New Roman" panose="02020603050405020304" pitchFamily="18" charset="0"/>
              </a:rPr>
              <a:t>2. </a:t>
            </a:r>
            <a:r>
              <a:rPr lang="en-US" sz="2800" i="1" dirty="0" err="1">
                <a:latin typeface="Times New Roman" panose="02020603050405020304" pitchFamily="18" charset="0"/>
                <a:cs typeface="Times New Roman" panose="02020603050405020304" pitchFamily="18" charset="0"/>
              </a:rPr>
              <a:t>Ayodhya</a:t>
            </a:r>
            <a:r>
              <a:rPr lang="en-US" sz="2800" i="1" dirty="0">
                <a:latin typeface="Times New Roman" panose="02020603050405020304" pitchFamily="18" charset="0"/>
                <a:cs typeface="Times New Roman" panose="02020603050405020304" pitchFamily="18" charset="0"/>
              </a:rPr>
              <a:t> Kanda</a:t>
            </a:r>
            <a:endParaRPr lang="en-US" sz="2800" dirty="0">
              <a:latin typeface="Times New Roman" panose="02020603050405020304" pitchFamily="18" charset="0"/>
              <a:cs typeface="Times New Roman" panose="02020603050405020304" pitchFamily="18" charset="0"/>
            </a:endParaRPr>
          </a:p>
          <a:p>
            <a:pPr marL="12700" marR="27305">
              <a:spcBef>
                <a:spcPts val="345"/>
              </a:spcBef>
            </a:pPr>
            <a:r>
              <a:rPr lang="en-US" sz="2800" dirty="0" smtClean="0">
                <a:latin typeface="Times New Roman" panose="02020603050405020304" pitchFamily="18" charset="0"/>
                <a:cs typeface="Times New Roman" panose="02020603050405020304" pitchFamily="18" charset="0"/>
              </a:rPr>
              <a:t>3. </a:t>
            </a:r>
            <a:r>
              <a:rPr lang="en-US" sz="2800" i="1" dirty="0" err="1">
                <a:latin typeface="Times New Roman" panose="02020603050405020304" pitchFamily="18" charset="0"/>
                <a:cs typeface="Times New Roman" panose="02020603050405020304" pitchFamily="18" charset="0"/>
              </a:rPr>
              <a:t>Aranya</a:t>
            </a:r>
            <a:r>
              <a:rPr lang="en-US" sz="2800" i="1" dirty="0">
                <a:latin typeface="Times New Roman" panose="02020603050405020304" pitchFamily="18" charset="0"/>
                <a:cs typeface="Times New Roman" panose="02020603050405020304" pitchFamily="18" charset="0"/>
              </a:rPr>
              <a:t> Kanda</a:t>
            </a:r>
            <a:endParaRPr lang="en-US" sz="2800" dirty="0">
              <a:latin typeface="Times New Roman" panose="02020603050405020304" pitchFamily="18" charset="0"/>
              <a:cs typeface="Times New Roman" panose="02020603050405020304" pitchFamily="18" charset="0"/>
            </a:endParaRPr>
          </a:p>
          <a:p>
            <a:pPr marL="12700" marR="27305">
              <a:spcBef>
                <a:spcPts val="345"/>
              </a:spcBef>
            </a:pPr>
            <a:r>
              <a:rPr lang="en-US" sz="2800" i="1" dirty="0" smtClean="0">
                <a:latin typeface="Times New Roman" panose="02020603050405020304" pitchFamily="18" charset="0"/>
                <a:cs typeface="Times New Roman" panose="02020603050405020304" pitchFamily="18" charset="0"/>
              </a:rPr>
              <a:t>4.Kishkindha </a:t>
            </a:r>
            <a:r>
              <a:rPr lang="en-US" sz="2800" i="1" dirty="0">
                <a:latin typeface="Times New Roman" panose="02020603050405020304" pitchFamily="18" charset="0"/>
                <a:cs typeface="Times New Roman" panose="02020603050405020304" pitchFamily="18" charset="0"/>
              </a:rPr>
              <a:t>Kanda</a:t>
            </a:r>
            <a:endParaRPr lang="en-US" sz="2800" dirty="0">
              <a:latin typeface="Times New Roman" panose="02020603050405020304" pitchFamily="18" charset="0"/>
              <a:cs typeface="Times New Roman" panose="02020603050405020304" pitchFamily="18" charset="0"/>
            </a:endParaRPr>
          </a:p>
          <a:p>
            <a:pPr marL="12700" marR="27305">
              <a:spcBef>
                <a:spcPts val="345"/>
              </a:spcBef>
            </a:pPr>
            <a:r>
              <a:rPr lang="en-US" sz="2800" i="1" dirty="0" smtClean="0">
                <a:latin typeface="Times New Roman" panose="02020603050405020304" pitchFamily="18" charset="0"/>
                <a:cs typeface="Times New Roman" panose="02020603050405020304" pitchFamily="18" charset="0"/>
              </a:rPr>
              <a:t>5.Sundara </a:t>
            </a:r>
            <a:r>
              <a:rPr lang="en-US" sz="2800" i="1" dirty="0">
                <a:latin typeface="Times New Roman" panose="02020603050405020304" pitchFamily="18" charset="0"/>
                <a:cs typeface="Times New Roman" panose="02020603050405020304" pitchFamily="18" charset="0"/>
              </a:rPr>
              <a:t>Kanda</a:t>
            </a:r>
            <a:endParaRPr lang="en-US" sz="2800" dirty="0">
              <a:latin typeface="Times New Roman" panose="02020603050405020304" pitchFamily="18" charset="0"/>
              <a:cs typeface="Times New Roman" panose="02020603050405020304" pitchFamily="18" charset="0"/>
            </a:endParaRPr>
          </a:p>
          <a:p>
            <a:pPr marL="12700" marR="27305">
              <a:spcBef>
                <a:spcPts val="345"/>
              </a:spcBef>
            </a:pPr>
            <a:r>
              <a:rPr lang="en-US" sz="2800" i="1" dirty="0" smtClean="0">
                <a:latin typeface="Times New Roman" panose="02020603050405020304" pitchFamily="18" charset="0"/>
                <a:cs typeface="Times New Roman" panose="02020603050405020304" pitchFamily="18" charset="0"/>
              </a:rPr>
              <a:t>6.Yuddha </a:t>
            </a:r>
            <a:r>
              <a:rPr lang="en-US" sz="2800" i="1" dirty="0">
                <a:latin typeface="Times New Roman" panose="02020603050405020304" pitchFamily="18" charset="0"/>
                <a:cs typeface="Times New Roman" panose="02020603050405020304" pitchFamily="18" charset="0"/>
              </a:rPr>
              <a:t>Kanda</a:t>
            </a:r>
            <a:endParaRPr lang="en-US" sz="2800" dirty="0">
              <a:latin typeface="Times New Roman" panose="02020603050405020304" pitchFamily="18" charset="0"/>
              <a:cs typeface="Times New Roman" panose="02020603050405020304" pitchFamily="18" charset="0"/>
            </a:endParaRPr>
          </a:p>
          <a:p>
            <a:pPr marL="12700" marR="27305">
              <a:spcBef>
                <a:spcPts val="345"/>
              </a:spcBef>
            </a:pPr>
            <a:r>
              <a:rPr lang="en-US" sz="2800" i="1" dirty="0" smtClean="0">
                <a:latin typeface="Times New Roman" panose="02020603050405020304" pitchFamily="18" charset="0"/>
                <a:cs typeface="Times New Roman" panose="02020603050405020304" pitchFamily="18" charset="0"/>
              </a:rPr>
              <a:t>7. Uttara </a:t>
            </a:r>
            <a:r>
              <a:rPr lang="en-US" sz="2800" i="1" dirty="0">
                <a:latin typeface="Times New Roman" panose="02020603050405020304" pitchFamily="18" charset="0"/>
                <a:cs typeface="Times New Roman" panose="02020603050405020304" pitchFamily="18" charset="0"/>
              </a:rPr>
              <a:t>Kanda</a:t>
            </a:r>
            <a:endParaRPr lang="en-US" sz="2800" dirty="0">
              <a:latin typeface="Times New Roman" panose="02020603050405020304" pitchFamily="18" charset="0"/>
              <a:cs typeface="Times New Roman" panose="02020603050405020304" pitchFamily="18" charset="0"/>
            </a:endParaRPr>
          </a:p>
          <a:p>
            <a:pPr marL="12700" marR="27305">
              <a:spcBef>
                <a:spcPts val="345"/>
              </a:spcBef>
            </a:pPr>
            <a:endParaRPr sz="1800" dirty="0">
              <a:latin typeface="Times New Roman"/>
              <a:cs typeface="Times New Roman"/>
            </a:endParaRPr>
          </a:p>
        </p:txBody>
      </p:sp>
      <p:sp>
        <p:nvSpPr>
          <p:cNvPr id="10"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The</a:t>
            </a:r>
            <a:r>
              <a:rPr lang="en-US" sz="2800" spc="-55" dirty="0"/>
              <a:t> </a:t>
            </a:r>
            <a:r>
              <a:rPr lang="en-US" sz="2800" i="1" spc="-5" dirty="0">
                <a:latin typeface="Times New Roman"/>
                <a:cs typeface="Times New Roman"/>
              </a:rPr>
              <a:t>Ramayana</a:t>
            </a:r>
            <a:endParaRPr lang="en-US" sz="2800" b="1" dirty="0">
              <a:solidFill>
                <a:prstClr val="black"/>
              </a:solidFill>
              <a:latin typeface="Times New Roman" pitchFamily="18" charset="0"/>
              <a:cs typeface="Times New Roman" pitchFamily="18" charset="0"/>
            </a:endParaRPr>
          </a:p>
        </p:txBody>
      </p:sp>
      <p:pic>
        <p:nvPicPr>
          <p:cNvPr id="11"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12" name="Date Placeholder 11"/>
          <p:cNvSpPr>
            <a:spLocks noGrp="1"/>
          </p:cNvSpPr>
          <p:nvPr>
            <p:ph type="dt" sz="half" idx="10"/>
          </p:nvPr>
        </p:nvSpPr>
        <p:spPr/>
        <p:txBody>
          <a:bodyPr/>
          <a:lstStyle/>
          <a:p>
            <a:fld id="{106647B3-ED22-4B03-B7AF-2D406358C8CB}" type="datetime1">
              <a:rPr lang="en-US" smtClean="0"/>
              <a:t>1/14/2022</a:t>
            </a:fld>
            <a:endParaRPr lang="en-US"/>
          </a:p>
        </p:txBody>
      </p:sp>
      <p:sp>
        <p:nvSpPr>
          <p:cNvPr id="13" name="Footer Placeholder 12"/>
          <p:cNvSpPr>
            <a:spLocks noGrp="1"/>
          </p:cNvSpPr>
          <p:nvPr>
            <p:ph type="ftr" sz="quarter" idx="11"/>
          </p:nvPr>
        </p:nvSpPr>
        <p:spPr/>
        <p:txBody>
          <a:bodyPr/>
          <a:lstStyle/>
          <a:p>
            <a:r>
              <a:rPr lang="fi-FI" smtClean="0"/>
              <a:t>Dr.Ankita Shukla KNC 602                                   Unit :2</a:t>
            </a:r>
            <a:endParaRPr lang="en-US" dirty="0"/>
          </a:p>
        </p:txBody>
      </p:sp>
      <p:sp>
        <p:nvSpPr>
          <p:cNvPr id="14" name="Slide Number Placeholder 13"/>
          <p:cNvSpPr>
            <a:spLocks noGrp="1"/>
          </p:cNvSpPr>
          <p:nvPr>
            <p:ph type="sldNum" sz="quarter" idx="12"/>
          </p:nvPr>
        </p:nvSpPr>
        <p:spPr/>
        <p:txBody>
          <a:bodyPr/>
          <a:lstStyle/>
          <a:p>
            <a:fld id="{5C85F1CB-02EA-4782-B654-3ECBE6236E9C}" type="slidenum">
              <a:rPr lang="en-US" smtClean="0"/>
              <a:pPr/>
              <a:t>30</a:t>
            </a:fld>
            <a:endParaRPr lang="en-US"/>
          </a:p>
        </p:txBody>
      </p:sp>
    </p:spTree>
    <p:extLst>
      <p:ext uri="{BB962C8B-B14F-4D97-AF65-F5344CB8AC3E}">
        <p14:creationId xmlns:p14="http://schemas.microsoft.com/office/powerpoint/2010/main" xmlns="" val="432273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4497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4" name="object 4"/>
          <p:cNvSpPr txBox="1"/>
          <p:nvPr/>
        </p:nvSpPr>
        <p:spPr>
          <a:xfrm>
            <a:off x="1144269" y="303402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5" name="object 5"/>
          <p:cNvSpPr txBox="1"/>
          <p:nvPr/>
        </p:nvSpPr>
        <p:spPr>
          <a:xfrm>
            <a:off x="1144269" y="358394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6" name="object 6"/>
          <p:cNvSpPr txBox="1"/>
          <p:nvPr/>
        </p:nvSpPr>
        <p:spPr>
          <a:xfrm>
            <a:off x="1144269" y="413512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7" name="object 7"/>
          <p:cNvSpPr txBox="1"/>
          <p:nvPr/>
        </p:nvSpPr>
        <p:spPr>
          <a:xfrm>
            <a:off x="1144269" y="493140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8" name="object 8"/>
          <p:cNvSpPr txBox="1"/>
          <p:nvPr/>
        </p:nvSpPr>
        <p:spPr>
          <a:xfrm>
            <a:off x="1487169" y="1758950"/>
            <a:ext cx="3169920" cy="3980179"/>
          </a:xfrm>
          <a:prstGeom prst="rect">
            <a:avLst/>
          </a:prstGeom>
        </p:spPr>
        <p:txBody>
          <a:bodyPr vert="horz" wrap="square" lIns="0" tIns="40005" rIns="0" bIns="0" rtlCol="0">
            <a:spAutoFit/>
          </a:bodyPr>
          <a:lstStyle/>
          <a:p>
            <a:pPr marL="12700" marR="28575">
              <a:lnSpc>
                <a:spcPct val="89900"/>
              </a:lnSpc>
              <a:spcBef>
                <a:spcPts val="315"/>
              </a:spcBef>
            </a:pPr>
            <a:r>
              <a:rPr sz="1800" spc="-5" dirty="0">
                <a:latin typeface="Times New Roman"/>
                <a:cs typeface="Times New Roman"/>
              </a:rPr>
              <a:t>Valmiki was </a:t>
            </a:r>
            <a:r>
              <a:rPr sz="1800" dirty="0">
                <a:latin typeface="Times New Roman"/>
                <a:cs typeface="Times New Roman"/>
              </a:rPr>
              <a:t>a robber </a:t>
            </a:r>
            <a:r>
              <a:rPr sz="1800" spc="-5" dirty="0">
                <a:latin typeface="Times New Roman"/>
                <a:cs typeface="Times New Roman"/>
              </a:rPr>
              <a:t>who  </a:t>
            </a:r>
            <a:r>
              <a:rPr sz="1800" dirty="0">
                <a:latin typeface="Times New Roman"/>
                <a:cs typeface="Times New Roman"/>
              </a:rPr>
              <a:t>repented of his </a:t>
            </a:r>
            <a:r>
              <a:rPr sz="1800" spc="-5" dirty="0">
                <a:latin typeface="Times New Roman"/>
                <a:cs typeface="Times New Roman"/>
              </a:rPr>
              <a:t>crimes. He asked  sage Narada who </a:t>
            </a:r>
            <a:r>
              <a:rPr sz="1800" dirty="0">
                <a:latin typeface="Times New Roman"/>
                <a:cs typeface="Times New Roman"/>
              </a:rPr>
              <a:t>the perfect </a:t>
            </a:r>
            <a:r>
              <a:rPr sz="1800" spc="-10" dirty="0">
                <a:latin typeface="Times New Roman"/>
                <a:cs typeface="Times New Roman"/>
              </a:rPr>
              <a:t>man  </a:t>
            </a:r>
            <a:r>
              <a:rPr sz="1800" spc="-5" dirty="0">
                <a:latin typeface="Times New Roman"/>
                <a:cs typeface="Times New Roman"/>
              </a:rPr>
              <a:t>was. Narada replied, “Rama,” </a:t>
            </a:r>
            <a:r>
              <a:rPr sz="1800" dirty="0">
                <a:latin typeface="Times New Roman"/>
                <a:cs typeface="Times New Roman"/>
              </a:rPr>
              <a:t>and  narrated </a:t>
            </a:r>
            <a:r>
              <a:rPr sz="1800" spc="-5" dirty="0">
                <a:latin typeface="Times New Roman"/>
                <a:cs typeface="Times New Roman"/>
              </a:rPr>
              <a:t>the story </a:t>
            </a:r>
            <a:r>
              <a:rPr sz="1800" dirty="0">
                <a:latin typeface="Times New Roman"/>
                <a:cs typeface="Times New Roman"/>
              </a:rPr>
              <a:t>of</a:t>
            </a:r>
            <a:r>
              <a:rPr sz="1800" spc="25" dirty="0">
                <a:latin typeface="Times New Roman"/>
                <a:cs typeface="Times New Roman"/>
              </a:rPr>
              <a:t> </a:t>
            </a:r>
            <a:r>
              <a:rPr sz="1800" spc="-5" dirty="0">
                <a:latin typeface="Times New Roman"/>
                <a:cs typeface="Times New Roman"/>
              </a:rPr>
              <a:t>Rama.</a:t>
            </a:r>
            <a:endParaRPr sz="1800">
              <a:latin typeface="Times New Roman"/>
              <a:cs typeface="Times New Roman"/>
            </a:endParaRPr>
          </a:p>
          <a:p>
            <a:pPr marL="12700" marR="5080">
              <a:lnSpc>
                <a:spcPts val="1939"/>
              </a:lnSpc>
              <a:spcBef>
                <a:spcPts val="480"/>
              </a:spcBef>
            </a:pPr>
            <a:r>
              <a:rPr sz="1800" spc="-5" dirty="0">
                <a:latin typeface="Times New Roman"/>
                <a:cs typeface="Times New Roman"/>
              </a:rPr>
              <a:t>Valmiki became preoccupied with  thoughts </a:t>
            </a:r>
            <a:r>
              <a:rPr sz="1800" dirty="0">
                <a:latin typeface="Times New Roman"/>
                <a:cs typeface="Times New Roman"/>
              </a:rPr>
              <a:t>of </a:t>
            </a:r>
            <a:r>
              <a:rPr sz="1800" spc="-5" dirty="0">
                <a:latin typeface="Times New Roman"/>
                <a:cs typeface="Times New Roman"/>
              </a:rPr>
              <a:t>Rama.</a:t>
            </a:r>
            <a:endParaRPr sz="1800">
              <a:latin typeface="Times New Roman"/>
              <a:cs typeface="Times New Roman"/>
            </a:endParaRPr>
          </a:p>
          <a:p>
            <a:pPr marL="12700" marR="425450">
              <a:lnSpc>
                <a:spcPts val="1939"/>
              </a:lnSpc>
              <a:spcBef>
                <a:spcPts val="450"/>
              </a:spcBef>
            </a:pPr>
            <a:r>
              <a:rPr sz="1800" dirty="0">
                <a:latin typeface="Times New Roman"/>
                <a:cs typeface="Times New Roman"/>
              </a:rPr>
              <a:t>Once he </a:t>
            </a:r>
            <a:r>
              <a:rPr sz="1800" spc="-5" dirty="0">
                <a:latin typeface="Times New Roman"/>
                <a:cs typeface="Times New Roman"/>
              </a:rPr>
              <a:t>saw </a:t>
            </a:r>
            <a:r>
              <a:rPr sz="1800" dirty="0">
                <a:latin typeface="Times New Roman"/>
                <a:cs typeface="Times New Roman"/>
              </a:rPr>
              <a:t>a hunter’s</a:t>
            </a:r>
            <a:r>
              <a:rPr sz="1800" spc="-75" dirty="0">
                <a:latin typeface="Times New Roman"/>
                <a:cs typeface="Times New Roman"/>
              </a:rPr>
              <a:t> </a:t>
            </a:r>
            <a:r>
              <a:rPr sz="1800" spc="-5" dirty="0">
                <a:latin typeface="Times New Roman"/>
                <a:cs typeface="Times New Roman"/>
              </a:rPr>
              <a:t>arrow  killing </a:t>
            </a:r>
            <a:r>
              <a:rPr sz="1800" dirty="0">
                <a:latin typeface="Times New Roman"/>
                <a:cs typeface="Times New Roman"/>
              </a:rPr>
              <a:t>a </a:t>
            </a:r>
            <a:r>
              <a:rPr sz="1800" spc="-5" dirty="0">
                <a:latin typeface="Times New Roman"/>
                <a:cs typeface="Times New Roman"/>
              </a:rPr>
              <a:t>male</a:t>
            </a:r>
            <a:r>
              <a:rPr sz="1800" spc="10" dirty="0">
                <a:latin typeface="Times New Roman"/>
                <a:cs typeface="Times New Roman"/>
              </a:rPr>
              <a:t> </a:t>
            </a:r>
            <a:r>
              <a:rPr sz="1800" dirty="0">
                <a:latin typeface="Times New Roman"/>
                <a:cs typeface="Times New Roman"/>
              </a:rPr>
              <a:t>bird.</a:t>
            </a:r>
            <a:endParaRPr sz="1800">
              <a:latin typeface="Times New Roman"/>
              <a:cs typeface="Times New Roman"/>
            </a:endParaRPr>
          </a:p>
          <a:p>
            <a:pPr marL="12700" marR="429895">
              <a:lnSpc>
                <a:spcPts val="1939"/>
              </a:lnSpc>
              <a:spcBef>
                <a:spcPts val="450"/>
              </a:spcBef>
            </a:pPr>
            <a:r>
              <a:rPr sz="1800" spc="-5" dirty="0">
                <a:latin typeface="Times New Roman"/>
                <a:cs typeface="Times New Roman"/>
              </a:rPr>
              <a:t>The cries </a:t>
            </a:r>
            <a:r>
              <a:rPr sz="1800" spc="-10" dirty="0">
                <a:latin typeface="Times New Roman"/>
                <a:cs typeface="Times New Roman"/>
              </a:rPr>
              <a:t>of </a:t>
            </a:r>
            <a:r>
              <a:rPr sz="1800" spc="-5" dirty="0">
                <a:latin typeface="Times New Roman"/>
                <a:cs typeface="Times New Roman"/>
              </a:rPr>
              <a:t>the female </a:t>
            </a:r>
            <a:r>
              <a:rPr sz="1800" dirty="0">
                <a:latin typeface="Times New Roman"/>
                <a:cs typeface="Times New Roman"/>
              </a:rPr>
              <a:t>bird  </a:t>
            </a:r>
            <a:r>
              <a:rPr sz="1800" spc="-5" dirty="0">
                <a:latin typeface="Times New Roman"/>
                <a:cs typeface="Times New Roman"/>
              </a:rPr>
              <a:t>touched Valmiki’s </a:t>
            </a:r>
            <a:r>
              <a:rPr sz="1800" dirty="0">
                <a:latin typeface="Times New Roman"/>
                <a:cs typeface="Times New Roman"/>
              </a:rPr>
              <a:t>heart, </a:t>
            </a:r>
            <a:r>
              <a:rPr sz="1800" spc="-5" dirty="0">
                <a:latin typeface="Times New Roman"/>
                <a:cs typeface="Times New Roman"/>
              </a:rPr>
              <a:t>who  cursed the</a:t>
            </a:r>
            <a:r>
              <a:rPr sz="1800" spc="5" dirty="0">
                <a:latin typeface="Times New Roman"/>
                <a:cs typeface="Times New Roman"/>
              </a:rPr>
              <a:t> </a:t>
            </a:r>
            <a:r>
              <a:rPr sz="1800" dirty="0">
                <a:latin typeface="Times New Roman"/>
                <a:cs typeface="Times New Roman"/>
              </a:rPr>
              <a:t>hunter.</a:t>
            </a:r>
            <a:endParaRPr sz="1800">
              <a:latin typeface="Times New Roman"/>
              <a:cs typeface="Times New Roman"/>
            </a:endParaRPr>
          </a:p>
          <a:p>
            <a:pPr marL="12700" marR="146685">
              <a:lnSpc>
                <a:spcPct val="90000"/>
              </a:lnSpc>
              <a:spcBef>
                <a:spcPts val="420"/>
              </a:spcBef>
            </a:pPr>
            <a:r>
              <a:rPr sz="1800" spc="-5" dirty="0">
                <a:latin typeface="Times New Roman"/>
                <a:cs typeface="Times New Roman"/>
              </a:rPr>
              <a:t>His words formed </a:t>
            </a:r>
            <a:r>
              <a:rPr sz="1800" dirty="0">
                <a:latin typeface="Times New Roman"/>
                <a:cs typeface="Times New Roman"/>
              </a:rPr>
              <a:t>a </a:t>
            </a:r>
            <a:r>
              <a:rPr sz="1800" i="1" spc="-5" dirty="0">
                <a:latin typeface="Times New Roman"/>
                <a:cs typeface="Times New Roman"/>
              </a:rPr>
              <a:t>shloka</a:t>
            </a:r>
            <a:r>
              <a:rPr sz="1800" spc="-5" dirty="0">
                <a:latin typeface="Times New Roman"/>
                <a:cs typeface="Times New Roman"/>
              </a:rPr>
              <a:t>, </a:t>
            </a:r>
            <a:r>
              <a:rPr sz="1800" dirty="0">
                <a:latin typeface="Times New Roman"/>
                <a:cs typeface="Times New Roman"/>
              </a:rPr>
              <a:t>a  piece of </a:t>
            </a:r>
            <a:r>
              <a:rPr sz="1800" spc="-5" dirty="0">
                <a:latin typeface="Times New Roman"/>
                <a:cs typeface="Times New Roman"/>
              </a:rPr>
              <a:t>verse </a:t>
            </a:r>
            <a:r>
              <a:rPr sz="1800" dirty="0">
                <a:latin typeface="Times New Roman"/>
                <a:cs typeface="Times New Roman"/>
              </a:rPr>
              <a:t>that could be </a:t>
            </a:r>
            <a:r>
              <a:rPr sz="1800" spc="-5" dirty="0">
                <a:latin typeface="Times New Roman"/>
                <a:cs typeface="Times New Roman"/>
              </a:rPr>
              <a:t>sung  to</a:t>
            </a:r>
            <a:r>
              <a:rPr sz="1800" dirty="0">
                <a:latin typeface="Times New Roman"/>
                <a:cs typeface="Times New Roman"/>
              </a:rPr>
              <a:t> </a:t>
            </a:r>
            <a:r>
              <a:rPr sz="1800" spc="-10" dirty="0">
                <a:latin typeface="Times New Roman"/>
                <a:cs typeface="Times New Roman"/>
              </a:rPr>
              <a:t>music.</a:t>
            </a:r>
            <a:endParaRPr sz="1800">
              <a:latin typeface="Times New Roman"/>
              <a:cs typeface="Times New Roman"/>
            </a:endParaRPr>
          </a:p>
        </p:txBody>
      </p:sp>
      <p:sp>
        <p:nvSpPr>
          <p:cNvPr id="9" name="object 9"/>
          <p:cNvSpPr/>
          <p:nvPr/>
        </p:nvSpPr>
        <p:spPr>
          <a:xfrm>
            <a:off x="4951729" y="1752600"/>
            <a:ext cx="3735070" cy="4114800"/>
          </a:xfrm>
          <a:prstGeom prst="rect">
            <a:avLst/>
          </a:prstGeom>
          <a:blipFill>
            <a:blip r:embed="rId2" cstate="print"/>
            <a:stretch>
              <a:fillRect/>
            </a:stretch>
          </a:blipFill>
        </p:spPr>
        <p:txBody>
          <a:bodyPr wrap="square" lIns="0" tIns="0" rIns="0" bIns="0" rtlCol="0"/>
          <a:lstStyle/>
          <a:p>
            <a:endParaRPr/>
          </a:p>
        </p:txBody>
      </p:sp>
      <p:sp>
        <p:nvSpPr>
          <p:cNvPr id="10"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How </a:t>
            </a:r>
            <a:r>
              <a:rPr lang="en-US" sz="2800" dirty="0"/>
              <a:t>the </a:t>
            </a:r>
            <a:r>
              <a:rPr lang="en-US" sz="2800" i="1" spc="-5" dirty="0">
                <a:latin typeface="Times New Roman"/>
                <a:cs typeface="Times New Roman"/>
              </a:rPr>
              <a:t>Ramayana </a:t>
            </a:r>
            <a:r>
              <a:rPr lang="en-US" sz="2800" spc="-5" dirty="0"/>
              <a:t>was</a:t>
            </a:r>
            <a:r>
              <a:rPr lang="en-US" sz="2800" spc="40" dirty="0"/>
              <a:t> </a:t>
            </a:r>
            <a:r>
              <a:rPr lang="en-US" sz="2800" spc="-5" dirty="0"/>
              <a:t>Written</a:t>
            </a:r>
            <a:endParaRPr lang="en-US" sz="2800" b="1" dirty="0">
              <a:solidFill>
                <a:prstClr val="black"/>
              </a:solidFill>
              <a:latin typeface="Times New Roman" pitchFamily="18" charset="0"/>
              <a:cs typeface="Times New Roman" pitchFamily="18" charset="0"/>
            </a:endParaRPr>
          </a:p>
        </p:txBody>
      </p:sp>
      <p:pic>
        <p:nvPicPr>
          <p:cNvPr id="11"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2" name="Date Placeholder 11"/>
          <p:cNvSpPr>
            <a:spLocks noGrp="1"/>
          </p:cNvSpPr>
          <p:nvPr>
            <p:ph type="dt" sz="half" idx="10"/>
          </p:nvPr>
        </p:nvSpPr>
        <p:spPr/>
        <p:txBody>
          <a:bodyPr/>
          <a:lstStyle/>
          <a:p>
            <a:fld id="{155A42F6-6C31-4116-8B95-145BB234F3AC}" type="datetime1">
              <a:rPr lang="en-US" smtClean="0"/>
              <a:t>1/14/2022</a:t>
            </a:fld>
            <a:endParaRPr lang="en-US"/>
          </a:p>
        </p:txBody>
      </p:sp>
      <p:sp>
        <p:nvSpPr>
          <p:cNvPr id="13" name="Footer Placeholder 12"/>
          <p:cNvSpPr>
            <a:spLocks noGrp="1"/>
          </p:cNvSpPr>
          <p:nvPr>
            <p:ph type="ftr" sz="quarter" idx="11"/>
          </p:nvPr>
        </p:nvSpPr>
        <p:spPr/>
        <p:txBody>
          <a:bodyPr/>
          <a:lstStyle/>
          <a:p>
            <a:r>
              <a:rPr lang="fi-FI" smtClean="0"/>
              <a:t>Dr.Ankita Shukla KNC 602                                   Unit :2</a:t>
            </a:r>
            <a:endParaRPr lang="en-US" dirty="0"/>
          </a:p>
        </p:txBody>
      </p:sp>
      <p:sp>
        <p:nvSpPr>
          <p:cNvPr id="14" name="Slide Number Placeholder 13"/>
          <p:cNvSpPr>
            <a:spLocks noGrp="1"/>
          </p:cNvSpPr>
          <p:nvPr>
            <p:ph type="sldNum" sz="quarter" idx="12"/>
          </p:nvPr>
        </p:nvSpPr>
        <p:spPr/>
        <p:txBody>
          <a:bodyPr/>
          <a:lstStyle/>
          <a:p>
            <a:fld id="{5C85F1CB-02EA-4782-B654-3ECBE6236E9C}" type="slidenum">
              <a:rPr lang="en-US" smtClean="0"/>
              <a:pPr/>
              <a:t>31</a:t>
            </a:fld>
            <a:endParaRPr lang="en-US"/>
          </a:p>
        </p:txBody>
      </p:sp>
    </p:spTree>
    <p:extLst>
      <p:ext uri="{BB962C8B-B14F-4D97-AF65-F5344CB8AC3E}">
        <p14:creationId xmlns:p14="http://schemas.microsoft.com/office/powerpoint/2010/main" xmlns="" val="3237157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7165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4" name="object 4"/>
          <p:cNvSpPr txBox="1"/>
          <p:nvPr/>
        </p:nvSpPr>
        <p:spPr>
          <a:xfrm>
            <a:off x="1144269" y="237744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5" name="object 5"/>
          <p:cNvSpPr txBox="1"/>
          <p:nvPr/>
        </p:nvSpPr>
        <p:spPr>
          <a:xfrm>
            <a:off x="1144269" y="490347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6" name="object 6"/>
          <p:cNvSpPr txBox="1"/>
          <p:nvPr/>
        </p:nvSpPr>
        <p:spPr>
          <a:xfrm>
            <a:off x="1487169" y="1786890"/>
            <a:ext cx="3227070" cy="3978910"/>
          </a:xfrm>
          <a:prstGeom prst="rect">
            <a:avLst/>
          </a:prstGeom>
        </p:spPr>
        <p:txBody>
          <a:bodyPr vert="horz" wrap="square" lIns="0" tIns="12700" rIns="0" bIns="0" rtlCol="0">
            <a:spAutoFit/>
          </a:bodyPr>
          <a:lstStyle/>
          <a:p>
            <a:pPr marL="12700" marR="168910">
              <a:lnSpc>
                <a:spcPct val="100000"/>
              </a:lnSpc>
              <a:spcBef>
                <a:spcPts val="100"/>
              </a:spcBef>
            </a:pPr>
            <a:r>
              <a:rPr sz="1800" spc="-5" dirty="0">
                <a:latin typeface="Times New Roman"/>
                <a:cs typeface="Times New Roman"/>
              </a:rPr>
              <a:t>This shloka was the first </a:t>
            </a:r>
            <a:r>
              <a:rPr sz="1800" dirty="0">
                <a:latin typeface="Times New Roman"/>
                <a:cs typeface="Times New Roman"/>
              </a:rPr>
              <a:t>poem in  </a:t>
            </a:r>
            <a:r>
              <a:rPr sz="1800" spc="-5" dirty="0">
                <a:latin typeface="Times New Roman"/>
                <a:cs typeface="Times New Roman"/>
              </a:rPr>
              <a:t>Sanskrit.</a:t>
            </a:r>
            <a:endParaRPr sz="1800">
              <a:latin typeface="Times New Roman"/>
              <a:cs typeface="Times New Roman"/>
            </a:endParaRPr>
          </a:p>
          <a:p>
            <a:pPr marL="12700" marR="5080">
              <a:lnSpc>
                <a:spcPct val="100000"/>
              </a:lnSpc>
              <a:spcBef>
                <a:spcPts val="450"/>
              </a:spcBef>
            </a:pPr>
            <a:r>
              <a:rPr sz="1800" spc="-5" dirty="0">
                <a:latin typeface="Times New Roman"/>
                <a:cs typeface="Times New Roman"/>
              </a:rPr>
              <a:t>Later </a:t>
            </a:r>
            <a:r>
              <a:rPr sz="1800" spc="-10" dirty="0">
                <a:latin typeface="Times New Roman"/>
                <a:cs typeface="Times New Roman"/>
              </a:rPr>
              <a:t>Brahma </a:t>
            </a:r>
            <a:r>
              <a:rPr sz="1800" dirty="0">
                <a:latin typeface="Times New Roman"/>
                <a:cs typeface="Times New Roman"/>
              </a:rPr>
              <a:t>the </a:t>
            </a:r>
            <a:r>
              <a:rPr sz="1800" spc="-5" dirty="0">
                <a:latin typeface="Times New Roman"/>
                <a:cs typeface="Times New Roman"/>
              </a:rPr>
              <a:t>creator appeared  to Valmiki saying “Tell the story  </a:t>
            </a:r>
            <a:r>
              <a:rPr sz="1800" dirty="0">
                <a:latin typeface="Times New Roman"/>
                <a:cs typeface="Times New Roman"/>
              </a:rPr>
              <a:t>of </a:t>
            </a:r>
            <a:r>
              <a:rPr sz="1800" spc="-5" dirty="0">
                <a:latin typeface="Times New Roman"/>
                <a:cs typeface="Times New Roman"/>
              </a:rPr>
              <a:t>Rama in the same metre </a:t>
            </a:r>
            <a:r>
              <a:rPr sz="1800" dirty="0">
                <a:latin typeface="Times New Roman"/>
                <a:cs typeface="Times New Roman"/>
              </a:rPr>
              <a:t>and  rhyme. I’ll grant </a:t>
            </a:r>
            <a:r>
              <a:rPr sz="1800" spc="5" dirty="0">
                <a:latin typeface="Times New Roman"/>
                <a:cs typeface="Times New Roman"/>
              </a:rPr>
              <a:t>you </a:t>
            </a:r>
            <a:r>
              <a:rPr sz="1800" dirty="0">
                <a:latin typeface="Times New Roman"/>
                <a:cs typeface="Times New Roman"/>
              </a:rPr>
              <a:t>a vision of  his </a:t>
            </a:r>
            <a:r>
              <a:rPr sz="1800" spc="-5" dirty="0">
                <a:latin typeface="Times New Roman"/>
                <a:cs typeface="Times New Roman"/>
              </a:rPr>
              <a:t>whole life. And as </a:t>
            </a:r>
            <a:r>
              <a:rPr sz="1800" dirty="0">
                <a:latin typeface="Times New Roman"/>
                <a:cs typeface="Times New Roman"/>
              </a:rPr>
              <a:t>long as </a:t>
            </a:r>
            <a:r>
              <a:rPr sz="1800" spc="-5" dirty="0">
                <a:latin typeface="Times New Roman"/>
                <a:cs typeface="Times New Roman"/>
              </a:rPr>
              <a:t>the  mountains </a:t>
            </a:r>
            <a:r>
              <a:rPr sz="1800" dirty="0">
                <a:latin typeface="Times New Roman"/>
                <a:cs typeface="Times New Roman"/>
              </a:rPr>
              <a:t>and seas </a:t>
            </a:r>
            <a:r>
              <a:rPr sz="1800" spc="-5" dirty="0">
                <a:latin typeface="Times New Roman"/>
                <a:cs typeface="Times New Roman"/>
              </a:rPr>
              <a:t>remain, so will  the </a:t>
            </a:r>
            <a:r>
              <a:rPr sz="1800" dirty="0">
                <a:latin typeface="Times New Roman"/>
                <a:cs typeface="Times New Roman"/>
              </a:rPr>
              <a:t>glorious </a:t>
            </a:r>
            <a:r>
              <a:rPr sz="1800" i="1" spc="-5" dirty="0">
                <a:latin typeface="Times New Roman"/>
                <a:cs typeface="Times New Roman"/>
              </a:rPr>
              <a:t>Ramayana </a:t>
            </a:r>
            <a:r>
              <a:rPr sz="1800" dirty="0">
                <a:latin typeface="Times New Roman"/>
                <a:cs typeface="Times New Roman"/>
              </a:rPr>
              <a:t>live </a:t>
            </a:r>
            <a:r>
              <a:rPr sz="1800" spc="-5" dirty="0">
                <a:latin typeface="Times New Roman"/>
                <a:cs typeface="Times New Roman"/>
              </a:rPr>
              <a:t>in the  </a:t>
            </a:r>
            <a:r>
              <a:rPr sz="1800" dirty="0">
                <a:latin typeface="Times New Roman"/>
                <a:cs typeface="Times New Roman"/>
              </a:rPr>
              <a:t>hearts of </a:t>
            </a:r>
            <a:r>
              <a:rPr sz="1800" spc="-10" dirty="0">
                <a:latin typeface="Times New Roman"/>
                <a:cs typeface="Times New Roman"/>
              </a:rPr>
              <a:t>men </a:t>
            </a:r>
            <a:r>
              <a:rPr sz="1800" spc="-5" dirty="0">
                <a:latin typeface="Times New Roman"/>
                <a:cs typeface="Times New Roman"/>
              </a:rPr>
              <a:t>and inspire </a:t>
            </a:r>
            <a:r>
              <a:rPr sz="1800" dirty="0">
                <a:latin typeface="Times New Roman"/>
                <a:cs typeface="Times New Roman"/>
              </a:rPr>
              <a:t>them </a:t>
            </a:r>
            <a:r>
              <a:rPr sz="1800" spc="-5" dirty="0">
                <a:latin typeface="Times New Roman"/>
                <a:cs typeface="Times New Roman"/>
              </a:rPr>
              <a:t>to  </a:t>
            </a:r>
            <a:r>
              <a:rPr sz="1800" dirty="0">
                <a:latin typeface="Times New Roman"/>
                <a:cs typeface="Times New Roman"/>
              </a:rPr>
              <a:t>perform noble </a:t>
            </a:r>
            <a:r>
              <a:rPr sz="1800" spc="-5" dirty="0">
                <a:latin typeface="Times New Roman"/>
                <a:cs typeface="Times New Roman"/>
              </a:rPr>
              <a:t>deeds.”</a:t>
            </a:r>
            <a:endParaRPr sz="1800">
              <a:latin typeface="Times New Roman"/>
              <a:cs typeface="Times New Roman"/>
            </a:endParaRPr>
          </a:p>
          <a:p>
            <a:pPr marL="12700" marR="189230">
              <a:lnSpc>
                <a:spcPct val="100000"/>
              </a:lnSpc>
              <a:spcBef>
                <a:spcPts val="439"/>
              </a:spcBef>
            </a:pPr>
            <a:r>
              <a:rPr sz="1800" spc="-5" dirty="0">
                <a:latin typeface="Times New Roman"/>
                <a:cs typeface="Times New Roman"/>
              </a:rPr>
              <a:t>He taught it first </a:t>
            </a:r>
            <a:r>
              <a:rPr sz="1800" dirty="0">
                <a:latin typeface="Times New Roman"/>
                <a:cs typeface="Times New Roman"/>
              </a:rPr>
              <a:t>to </a:t>
            </a:r>
            <a:r>
              <a:rPr sz="1800" spc="-5" dirty="0">
                <a:latin typeface="Times New Roman"/>
                <a:cs typeface="Times New Roman"/>
              </a:rPr>
              <a:t>Rama’s sons,  Luv and Kush </a:t>
            </a:r>
            <a:r>
              <a:rPr sz="1800" dirty="0">
                <a:latin typeface="Times New Roman"/>
                <a:cs typeface="Times New Roman"/>
              </a:rPr>
              <a:t>then his other  </a:t>
            </a:r>
            <a:r>
              <a:rPr sz="1800" spc="-5" dirty="0">
                <a:latin typeface="Times New Roman"/>
                <a:cs typeface="Times New Roman"/>
              </a:rPr>
              <a:t>disciples.</a:t>
            </a:r>
            <a:endParaRPr sz="1800">
              <a:latin typeface="Times New Roman"/>
              <a:cs typeface="Times New Roman"/>
            </a:endParaRPr>
          </a:p>
        </p:txBody>
      </p:sp>
      <p:sp>
        <p:nvSpPr>
          <p:cNvPr id="7" name="object 7"/>
          <p:cNvSpPr/>
          <p:nvPr/>
        </p:nvSpPr>
        <p:spPr>
          <a:xfrm>
            <a:off x="4951729" y="1752600"/>
            <a:ext cx="3735070" cy="4114800"/>
          </a:xfrm>
          <a:prstGeom prst="rect">
            <a:avLst/>
          </a:prstGeom>
          <a:blipFill>
            <a:blip r:embed="rId2" cstate="print"/>
            <a:stretch>
              <a:fillRect/>
            </a:stretch>
          </a:blipFill>
        </p:spPr>
        <p:txBody>
          <a:bodyPr wrap="square" lIns="0" tIns="0" rIns="0" bIns="0" rtlCol="0"/>
          <a:lstStyle/>
          <a:p>
            <a:endParaRPr/>
          </a:p>
        </p:txBody>
      </p:sp>
      <p:sp>
        <p:nvSpPr>
          <p:cNvPr id="8"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The first </a:t>
            </a:r>
            <a:r>
              <a:rPr lang="en-US" sz="2800" dirty="0"/>
              <a:t>poem in</a:t>
            </a:r>
            <a:r>
              <a:rPr lang="en-US" sz="2800" spc="-25" dirty="0"/>
              <a:t> </a:t>
            </a:r>
            <a:r>
              <a:rPr lang="en-US" sz="2800" spc="-5" dirty="0"/>
              <a:t>Sanskrit</a:t>
            </a:r>
            <a:endParaRPr lang="en-US" sz="2800" b="1" dirty="0">
              <a:solidFill>
                <a:prstClr val="black"/>
              </a:solidFill>
              <a:latin typeface="Times New Roman" pitchFamily="18" charset="0"/>
              <a:cs typeface="Times New Roman" pitchFamily="18" charset="0"/>
            </a:endParaRPr>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0" name="Date Placeholder 9"/>
          <p:cNvSpPr>
            <a:spLocks noGrp="1"/>
          </p:cNvSpPr>
          <p:nvPr>
            <p:ph type="dt" sz="half" idx="10"/>
          </p:nvPr>
        </p:nvSpPr>
        <p:spPr/>
        <p:txBody>
          <a:bodyPr/>
          <a:lstStyle/>
          <a:p>
            <a:fld id="{EA74059B-7A71-4354-A90B-E68D55D89FA7}" type="datetime1">
              <a:rPr lang="en-US" smtClean="0"/>
              <a:t>1/14/2022</a:t>
            </a:fld>
            <a:endParaRPr lang="en-US"/>
          </a:p>
        </p:txBody>
      </p:sp>
      <p:sp>
        <p:nvSpPr>
          <p:cNvPr id="11" name="Footer Placeholder 10"/>
          <p:cNvSpPr>
            <a:spLocks noGrp="1"/>
          </p:cNvSpPr>
          <p:nvPr>
            <p:ph type="ftr" sz="quarter" idx="11"/>
          </p:nvPr>
        </p:nvSpPr>
        <p:spPr/>
        <p:txBody>
          <a:bodyPr/>
          <a:lstStyle/>
          <a:p>
            <a:r>
              <a:rPr lang="fi-FI" smtClean="0"/>
              <a:t>Dr.Ankita Shukla KNC 602                                   Unit :2</a:t>
            </a:r>
            <a:endParaRPr lang="en-US" dirty="0"/>
          </a:p>
        </p:txBody>
      </p:sp>
      <p:sp>
        <p:nvSpPr>
          <p:cNvPr id="12" name="Slide Number Placeholder 11"/>
          <p:cNvSpPr>
            <a:spLocks noGrp="1"/>
          </p:cNvSpPr>
          <p:nvPr>
            <p:ph type="sldNum" sz="quarter" idx="12"/>
          </p:nvPr>
        </p:nvSpPr>
        <p:spPr/>
        <p:txBody>
          <a:bodyPr/>
          <a:lstStyle/>
          <a:p>
            <a:fld id="{5C85F1CB-02EA-4782-B654-3ECBE6236E9C}" type="slidenum">
              <a:rPr lang="en-US" smtClean="0"/>
              <a:pPr/>
              <a:t>32</a:t>
            </a:fld>
            <a:endParaRPr lang="en-US"/>
          </a:p>
        </p:txBody>
      </p:sp>
    </p:spTree>
    <p:extLst>
      <p:ext uri="{BB962C8B-B14F-4D97-AF65-F5344CB8AC3E}">
        <p14:creationId xmlns:p14="http://schemas.microsoft.com/office/powerpoint/2010/main" xmlns="" val="2320638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7165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4" name="object 4"/>
          <p:cNvSpPr txBox="1"/>
          <p:nvPr/>
        </p:nvSpPr>
        <p:spPr>
          <a:xfrm>
            <a:off x="1144269" y="265175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5" name="object 5"/>
          <p:cNvSpPr txBox="1"/>
          <p:nvPr/>
        </p:nvSpPr>
        <p:spPr>
          <a:xfrm>
            <a:off x="1144269" y="353187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6" name="object 6"/>
          <p:cNvSpPr txBox="1"/>
          <p:nvPr/>
        </p:nvSpPr>
        <p:spPr>
          <a:xfrm>
            <a:off x="1487169" y="1786890"/>
            <a:ext cx="3143885" cy="3704590"/>
          </a:xfrm>
          <a:prstGeom prst="rect">
            <a:avLst/>
          </a:prstGeom>
        </p:spPr>
        <p:txBody>
          <a:bodyPr vert="horz" wrap="square" lIns="0" tIns="12700" rIns="0" bIns="0" rtlCol="0">
            <a:spAutoFit/>
          </a:bodyPr>
          <a:lstStyle/>
          <a:p>
            <a:pPr marL="12700" marR="12700">
              <a:lnSpc>
                <a:spcPct val="100000"/>
              </a:lnSpc>
              <a:spcBef>
                <a:spcPts val="100"/>
              </a:spcBef>
            </a:pPr>
            <a:r>
              <a:rPr sz="1800" spc="-5" dirty="0">
                <a:latin typeface="Times New Roman"/>
                <a:cs typeface="Times New Roman"/>
              </a:rPr>
              <a:t>Story tellers and </a:t>
            </a:r>
            <a:r>
              <a:rPr sz="1800" dirty="0">
                <a:latin typeface="Times New Roman"/>
                <a:cs typeface="Times New Roman"/>
              </a:rPr>
              <a:t>bards </a:t>
            </a:r>
            <a:r>
              <a:rPr sz="1800" spc="-5" dirty="0">
                <a:latin typeface="Times New Roman"/>
                <a:cs typeface="Times New Roman"/>
              </a:rPr>
              <a:t>narrated </a:t>
            </a:r>
            <a:r>
              <a:rPr sz="1800" dirty="0">
                <a:latin typeface="Times New Roman"/>
                <a:cs typeface="Times New Roman"/>
              </a:rPr>
              <a:t>or  </a:t>
            </a:r>
            <a:r>
              <a:rPr sz="1800" spc="-5" dirty="0">
                <a:latin typeface="Times New Roman"/>
                <a:cs typeface="Times New Roman"/>
              </a:rPr>
              <a:t>sang </a:t>
            </a:r>
            <a:r>
              <a:rPr sz="1800" dirty="0">
                <a:latin typeface="Times New Roman"/>
                <a:cs typeface="Times New Roman"/>
              </a:rPr>
              <a:t>it </a:t>
            </a:r>
            <a:r>
              <a:rPr sz="1800" spc="-5" dirty="0">
                <a:latin typeface="Times New Roman"/>
                <a:cs typeface="Times New Roman"/>
              </a:rPr>
              <a:t>to </a:t>
            </a:r>
            <a:r>
              <a:rPr sz="1800" dirty="0">
                <a:latin typeface="Times New Roman"/>
                <a:cs typeface="Times New Roman"/>
              </a:rPr>
              <a:t>people and </a:t>
            </a:r>
            <a:r>
              <a:rPr sz="1800" spc="-5" dirty="0">
                <a:latin typeface="Times New Roman"/>
                <a:cs typeface="Times New Roman"/>
              </a:rPr>
              <a:t>soon it  spread through the</a:t>
            </a:r>
            <a:r>
              <a:rPr sz="1800" spc="5" dirty="0">
                <a:latin typeface="Times New Roman"/>
                <a:cs typeface="Times New Roman"/>
              </a:rPr>
              <a:t> </a:t>
            </a:r>
            <a:r>
              <a:rPr sz="1800" dirty="0">
                <a:latin typeface="Times New Roman"/>
                <a:cs typeface="Times New Roman"/>
              </a:rPr>
              <a:t>country.</a:t>
            </a:r>
            <a:endParaRPr sz="1800">
              <a:latin typeface="Times New Roman"/>
              <a:cs typeface="Times New Roman"/>
            </a:endParaRPr>
          </a:p>
          <a:p>
            <a:pPr marL="12700" marR="9525">
              <a:lnSpc>
                <a:spcPct val="100000"/>
              </a:lnSpc>
              <a:spcBef>
                <a:spcPts val="450"/>
              </a:spcBef>
            </a:pPr>
            <a:r>
              <a:rPr sz="1800" dirty="0">
                <a:latin typeface="Times New Roman"/>
                <a:cs typeface="Times New Roman"/>
              </a:rPr>
              <a:t>It </a:t>
            </a:r>
            <a:r>
              <a:rPr sz="1800" spc="-5" dirty="0">
                <a:latin typeface="Times New Roman"/>
                <a:cs typeface="Times New Roman"/>
              </a:rPr>
              <a:t>was </a:t>
            </a:r>
            <a:r>
              <a:rPr sz="1800" dirty="0">
                <a:latin typeface="Times New Roman"/>
                <a:cs typeface="Times New Roman"/>
              </a:rPr>
              <a:t>retold </a:t>
            </a:r>
            <a:r>
              <a:rPr sz="1800" spc="-5" dirty="0">
                <a:latin typeface="Times New Roman"/>
                <a:cs typeface="Times New Roman"/>
              </a:rPr>
              <a:t>in </a:t>
            </a:r>
            <a:r>
              <a:rPr sz="1800" spc="-10" dirty="0">
                <a:latin typeface="Times New Roman"/>
                <a:cs typeface="Times New Roman"/>
              </a:rPr>
              <a:t>many </a:t>
            </a:r>
            <a:r>
              <a:rPr sz="1800" spc="-5" dirty="0">
                <a:latin typeface="Times New Roman"/>
                <a:cs typeface="Times New Roman"/>
              </a:rPr>
              <a:t>Indian  languages </a:t>
            </a:r>
            <a:r>
              <a:rPr sz="1800" dirty="0">
                <a:latin typeface="Times New Roman"/>
                <a:cs typeface="Times New Roman"/>
              </a:rPr>
              <a:t>and </a:t>
            </a:r>
            <a:r>
              <a:rPr sz="1800" spc="-5" dirty="0">
                <a:latin typeface="Times New Roman"/>
                <a:cs typeface="Times New Roman"/>
              </a:rPr>
              <a:t>even entered the  culture </a:t>
            </a:r>
            <a:r>
              <a:rPr sz="1800" dirty="0">
                <a:latin typeface="Times New Roman"/>
                <a:cs typeface="Times New Roman"/>
              </a:rPr>
              <a:t>of </a:t>
            </a:r>
            <a:r>
              <a:rPr sz="1800" spc="-5" dirty="0">
                <a:latin typeface="Times New Roman"/>
                <a:cs typeface="Times New Roman"/>
              </a:rPr>
              <a:t>neighbouring</a:t>
            </a:r>
            <a:r>
              <a:rPr sz="1800" spc="10" dirty="0">
                <a:latin typeface="Times New Roman"/>
                <a:cs typeface="Times New Roman"/>
              </a:rPr>
              <a:t> </a:t>
            </a:r>
            <a:r>
              <a:rPr sz="1800" spc="-5" dirty="0">
                <a:latin typeface="Times New Roman"/>
                <a:cs typeface="Times New Roman"/>
              </a:rPr>
              <a:t>countries.</a:t>
            </a:r>
            <a:endParaRPr sz="1800">
              <a:latin typeface="Times New Roman"/>
              <a:cs typeface="Times New Roman"/>
            </a:endParaRPr>
          </a:p>
          <a:p>
            <a:pPr marL="12700" marR="5080">
              <a:lnSpc>
                <a:spcPct val="100000"/>
              </a:lnSpc>
              <a:spcBef>
                <a:spcPts val="439"/>
              </a:spcBef>
            </a:pPr>
            <a:r>
              <a:rPr sz="1800" dirty="0">
                <a:latin typeface="Times New Roman"/>
                <a:cs typeface="Times New Roman"/>
              </a:rPr>
              <a:t>It </a:t>
            </a:r>
            <a:r>
              <a:rPr sz="1800" spc="-5" dirty="0">
                <a:latin typeface="Times New Roman"/>
                <a:cs typeface="Times New Roman"/>
              </a:rPr>
              <a:t>also entered the </a:t>
            </a:r>
            <a:r>
              <a:rPr sz="1800" dirty="0">
                <a:latin typeface="Times New Roman"/>
                <a:cs typeface="Times New Roman"/>
              </a:rPr>
              <a:t>realm of </a:t>
            </a:r>
            <a:r>
              <a:rPr sz="1800" spc="-5" dirty="0">
                <a:latin typeface="Times New Roman"/>
                <a:cs typeface="Times New Roman"/>
              </a:rPr>
              <a:t>music,  </a:t>
            </a:r>
            <a:r>
              <a:rPr sz="1800" dirty="0">
                <a:latin typeface="Times New Roman"/>
                <a:cs typeface="Times New Roman"/>
              </a:rPr>
              <a:t>dance and theatre </a:t>
            </a:r>
            <a:r>
              <a:rPr sz="1800" spc="-5" dirty="0">
                <a:latin typeface="Times New Roman"/>
                <a:cs typeface="Times New Roman"/>
              </a:rPr>
              <a:t>and to this </a:t>
            </a:r>
            <a:r>
              <a:rPr sz="1800" dirty="0">
                <a:latin typeface="Times New Roman"/>
                <a:cs typeface="Times New Roman"/>
              </a:rPr>
              <a:t>day  </a:t>
            </a:r>
            <a:r>
              <a:rPr sz="1800" spc="-5" dirty="0">
                <a:latin typeface="Times New Roman"/>
                <a:cs typeface="Times New Roman"/>
              </a:rPr>
              <a:t>is performed as </a:t>
            </a:r>
            <a:r>
              <a:rPr sz="1800" dirty="0">
                <a:latin typeface="Times New Roman"/>
                <a:cs typeface="Times New Roman"/>
              </a:rPr>
              <a:t>the </a:t>
            </a:r>
            <a:r>
              <a:rPr sz="1800" spc="-10" dirty="0">
                <a:latin typeface="Times New Roman"/>
                <a:cs typeface="Times New Roman"/>
              </a:rPr>
              <a:t>Rama </a:t>
            </a:r>
            <a:r>
              <a:rPr sz="1800" dirty="0">
                <a:latin typeface="Times New Roman"/>
                <a:cs typeface="Times New Roman"/>
              </a:rPr>
              <a:t>Lila  during </a:t>
            </a:r>
            <a:r>
              <a:rPr sz="1800" spc="-5" dirty="0">
                <a:latin typeface="Times New Roman"/>
                <a:cs typeface="Times New Roman"/>
              </a:rPr>
              <a:t>the </a:t>
            </a:r>
            <a:r>
              <a:rPr sz="1800" dirty="0">
                <a:latin typeface="Times New Roman"/>
                <a:cs typeface="Times New Roman"/>
              </a:rPr>
              <a:t>festival of </a:t>
            </a:r>
            <a:r>
              <a:rPr sz="1800" spc="-10" dirty="0">
                <a:latin typeface="Times New Roman"/>
                <a:cs typeface="Times New Roman"/>
              </a:rPr>
              <a:t>Dusshera  </a:t>
            </a:r>
            <a:r>
              <a:rPr sz="1800" spc="-5" dirty="0">
                <a:latin typeface="Times New Roman"/>
                <a:cs typeface="Times New Roman"/>
              </a:rPr>
              <a:t>which celebrates Rama’s battle  and </a:t>
            </a:r>
            <a:r>
              <a:rPr sz="1800" dirty="0">
                <a:latin typeface="Times New Roman"/>
                <a:cs typeface="Times New Roman"/>
              </a:rPr>
              <a:t>victory </a:t>
            </a:r>
            <a:r>
              <a:rPr sz="1800" spc="-5" dirty="0">
                <a:latin typeface="Times New Roman"/>
                <a:cs typeface="Times New Roman"/>
              </a:rPr>
              <a:t>against the </a:t>
            </a:r>
            <a:r>
              <a:rPr sz="1800" dirty="0">
                <a:latin typeface="Times New Roman"/>
                <a:cs typeface="Times New Roman"/>
              </a:rPr>
              <a:t>demon  king </a:t>
            </a:r>
            <a:r>
              <a:rPr sz="1800" spc="-5" dirty="0">
                <a:latin typeface="Times New Roman"/>
                <a:cs typeface="Times New Roman"/>
              </a:rPr>
              <a:t>Ravana.</a:t>
            </a:r>
            <a:endParaRPr sz="1800">
              <a:latin typeface="Times New Roman"/>
              <a:cs typeface="Times New Roman"/>
            </a:endParaRPr>
          </a:p>
        </p:txBody>
      </p:sp>
      <p:sp>
        <p:nvSpPr>
          <p:cNvPr id="7" name="object 7"/>
          <p:cNvSpPr/>
          <p:nvPr/>
        </p:nvSpPr>
        <p:spPr>
          <a:xfrm>
            <a:off x="4876800" y="2057400"/>
            <a:ext cx="3810000" cy="3810000"/>
          </a:xfrm>
          <a:prstGeom prst="rect">
            <a:avLst/>
          </a:prstGeom>
          <a:blipFill>
            <a:blip r:embed="rId2" cstate="print"/>
            <a:stretch>
              <a:fillRect/>
            </a:stretch>
          </a:blipFill>
        </p:spPr>
        <p:txBody>
          <a:bodyPr wrap="square" lIns="0" tIns="0" rIns="0" bIns="0" rtlCol="0"/>
          <a:lstStyle/>
          <a:p>
            <a:endParaRPr/>
          </a:p>
        </p:txBody>
      </p:sp>
      <p:sp>
        <p:nvSpPr>
          <p:cNvPr id="8"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How </a:t>
            </a:r>
            <a:r>
              <a:rPr lang="en-US" sz="2800" dirty="0"/>
              <a:t>did </a:t>
            </a:r>
            <a:r>
              <a:rPr lang="en-US" sz="2800" spc="-5" dirty="0"/>
              <a:t>the </a:t>
            </a:r>
            <a:r>
              <a:rPr lang="en-US" sz="2800" i="1" spc="-5" dirty="0">
                <a:latin typeface="Times New Roman"/>
                <a:cs typeface="Times New Roman"/>
              </a:rPr>
              <a:t>Ramayana</a:t>
            </a:r>
            <a:r>
              <a:rPr lang="en-US" sz="2800" i="1" spc="-55" dirty="0">
                <a:latin typeface="Times New Roman"/>
                <a:cs typeface="Times New Roman"/>
              </a:rPr>
              <a:t> </a:t>
            </a:r>
            <a:r>
              <a:rPr lang="en-US" sz="2800" spc="-5" dirty="0"/>
              <a:t>become  popular?</a:t>
            </a:r>
            <a:endParaRPr lang="en-US" sz="2800" b="1" dirty="0">
              <a:solidFill>
                <a:prstClr val="black"/>
              </a:solidFill>
              <a:latin typeface="Times New Roman" pitchFamily="18" charset="0"/>
              <a:cs typeface="Times New Roman" pitchFamily="18" charset="0"/>
            </a:endParaRPr>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0" name="Date Placeholder 9"/>
          <p:cNvSpPr>
            <a:spLocks noGrp="1"/>
          </p:cNvSpPr>
          <p:nvPr>
            <p:ph type="dt" sz="half" idx="10"/>
          </p:nvPr>
        </p:nvSpPr>
        <p:spPr/>
        <p:txBody>
          <a:bodyPr/>
          <a:lstStyle/>
          <a:p>
            <a:fld id="{9323FD16-AA4B-4C76-83AB-CD7F446C4F76}" type="datetime1">
              <a:rPr lang="en-US" smtClean="0"/>
              <a:t>1/14/2022</a:t>
            </a:fld>
            <a:endParaRPr lang="en-US"/>
          </a:p>
        </p:txBody>
      </p:sp>
      <p:sp>
        <p:nvSpPr>
          <p:cNvPr id="11" name="Footer Placeholder 10"/>
          <p:cNvSpPr>
            <a:spLocks noGrp="1"/>
          </p:cNvSpPr>
          <p:nvPr>
            <p:ph type="ftr" sz="quarter" idx="11"/>
          </p:nvPr>
        </p:nvSpPr>
        <p:spPr/>
        <p:txBody>
          <a:bodyPr/>
          <a:lstStyle/>
          <a:p>
            <a:r>
              <a:rPr lang="fi-FI" smtClean="0"/>
              <a:t>Dr.Ankita Shukla KNC 602                                   Unit :2</a:t>
            </a:r>
            <a:endParaRPr lang="en-US" dirty="0"/>
          </a:p>
        </p:txBody>
      </p:sp>
      <p:sp>
        <p:nvSpPr>
          <p:cNvPr id="12" name="Slide Number Placeholder 11"/>
          <p:cNvSpPr>
            <a:spLocks noGrp="1"/>
          </p:cNvSpPr>
          <p:nvPr>
            <p:ph type="sldNum" sz="quarter" idx="12"/>
          </p:nvPr>
        </p:nvSpPr>
        <p:spPr/>
        <p:txBody>
          <a:bodyPr/>
          <a:lstStyle/>
          <a:p>
            <a:fld id="{5C85F1CB-02EA-4782-B654-3ECBE6236E9C}" type="slidenum">
              <a:rPr lang="en-US" smtClean="0"/>
              <a:pPr/>
              <a:t>33</a:t>
            </a:fld>
            <a:endParaRPr lang="en-US"/>
          </a:p>
        </p:txBody>
      </p:sp>
    </p:spTree>
    <p:extLst>
      <p:ext uri="{BB962C8B-B14F-4D97-AF65-F5344CB8AC3E}">
        <p14:creationId xmlns:p14="http://schemas.microsoft.com/office/powerpoint/2010/main" xmlns="" val="30002771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70379"/>
            <a:ext cx="11493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a:t>
            </a:r>
            <a:endParaRPr sz="2000">
              <a:latin typeface="Times New Roman"/>
              <a:cs typeface="Times New Roman"/>
            </a:endParaRPr>
          </a:p>
        </p:txBody>
      </p:sp>
      <p:sp>
        <p:nvSpPr>
          <p:cNvPr id="4" name="object 4"/>
          <p:cNvSpPr txBox="1"/>
          <p:nvPr/>
        </p:nvSpPr>
        <p:spPr>
          <a:xfrm>
            <a:off x="1144269" y="3053079"/>
            <a:ext cx="11493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a:t>
            </a:r>
            <a:endParaRPr sz="2000">
              <a:latin typeface="Times New Roman"/>
              <a:cs typeface="Times New Roman"/>
            </a:endParaRPr>
          </a:p>
        </p:txBody>
      </p:sp>
      <p:sp>
        <p:nvSpPr>
          <p:cNvPr id="5" name="object 5"/>
          <p:cNvSpPr txBox="1"/>
          <p:nvPr/>
        </p:nvSpPr>
        <p:spPr>
          <a:xfrm>
            <a:off x="1144269" y="3726179"/>
            <a:ext cx="11493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a:t>
            </a:r>
            <a:endParaRPr sz="2000">
              <a:latin typeface="Times New Roman"/>
              <a:cs typeface="Times New Roman"/>
            </a:endParaRPr>
          </a:p>
        </p:txBody>
      </p:sp>
      <p:sp>
        <p:nvSpPr>
          <p:cNvPr id="6" name="object 6"/>
          <p:cNvSpPr txBox="1"/>
          <p:nvPr/>
        </p:nvSpPr>
        <p:spPr>
          <a:xfrm>
            <a:off x="1144269" y="5010150"/>
            <a:ext cx="11493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a:cs typeface="Times New Roman"/>
              </a:rPr>
              <a:t>•</a:t>
            </a:r>
            <a:endParaRPr sz="2000">
              <a:latin typeface="Times New Roman"/>
              <a:cs typeface="Times New Roman"/>
            </a:endParaRPr>
          </a:p>
        </p:txBody>
      </p:sp>
      <p:sp>
        <p:nvSpPr>
          <p:cNvPr id="7" name="object 7"/>
          <p:cNvSpPr txBox="1"/>
          <p:nvPr/>
        </p:nvSpPr>
        <p:spPr>
          <a:xfrm>
            <a:off x="1487169" y="1786890"/>
            <a:ext cx="3184525" cy="3874770"/>
          </a:xfrm>
          <a:prstGeom prst="rect">
            <a:avLst/>
          </a:prstGeom>
        </p:spPr>
        <p:txBody>
          <a:bodyPr vert="horz" wrap="square" lIns="0" tIns="12700" rIns="0" bIns="0" rtlCol="0">
            <a:spAutoFit/>
          </a:bodyPr>
          <a:lstStyle/>
          <a:p>
            <a:pPr marL="12700" marR="52705">
              <a:lnSpc>
                <a:spcPct val="100000"/>
              </a:lnSpc>
              <a:spcBef>
                <a:spcPts val="100"/>
              </a:spcBef>
            </a:pPr>
            <a:r>
              <a:rPr sz="2000" dirty="0">
                <a:latin typeface="Times New Roman"/>
                <a:cs typeface="Times New Roman"/>
              </a:rPr>
              <a:t>The </a:t>
            </a:r>
            <a:r>
              <a:rPr sz="2000" i="1" dirty="0">
                <a:latin typeface="Times New Roman"/>
                <a:cs typeface="Times New Roman"/>
              </a:rPr>
              <a:t>Mahabharata </a:t>
            </a:r>
            <a:r>
              <a:rPr sz="2000" spc="-5" dirty="0">
                <a:latin typeface="Times New Roman"/>
                <a:cs typeface="Times New Roman"/>
              </a:rPr>
              <a:t>is </a:t>
            </a:r>
            <a:r>
              <a:rPr sz="2000" dirty="0">
                <a:latin typeface="Times New Roman"/>
                <a:cs typeface="Times New Roman"/>
              </a:rPr>
              <a:t>a </a:t>
            </a:r>
            <a:r>
              <a:rPr sz="2000" spc="-10" dirty="0">
                <a:latin typeface="Times New Roman"/>
                <a:cs typeface="Times New Roman"/>
              </a:rPr>
              <a:t>more  </a:t>
            </a:r>
            <a:r>
              <a:rPr sz="2000" spc="-5" dirty="0">
                <a:latin typeface="Times New Roman"/>
                <a:cs typeface="Times New Roman"/>
              </a:rPr>
              <a:t>complex </a:t>
            </a:r>
            <a:r>
              <a:rPr sz="2000" dirty="0">
                <a:latin typeface="Times New Roman"/>
                <a:cs typeface="Times New Roman"/>
              </a:rPr>
              <a:t>work </a:t>
            </a:r>
            <a:r>
              <a:rPr sz="2000" spc="-5" dirty="0">
                <a:latin typeface="Times New Roman"/>
                <a:cs typeface="Times New Roman"/>
              </a:rPr>
              <a:t>which </a:t>
            </a:r>
            <a:r>
              <a:rPr sz="2000" dirty="0">
                <a:latin typeface="Times New Roman"/>
                <a:cs typeface="Times New Roman"/>
              </a:rPr>
              <a:t>covers  </a:t>
            </a:r>
            <a:r>
              <a:rPr sz="2000" spc="-10" dirty="0">
                <a:latin typeface="Times New Roman"/>
                <a:cs typeface="Times New Roman"/>
              </a:rPr>
              <a:t>almost </a:t>
            </a:r>
            <a:r>
              <a:rPr sz="2000" spc="-5" dirty="0">
                <a:latin typeface="Times New Roman"/>
                <a:cs typeface="Times New Roman"/>
              </a:rPr>
              <a:t>every aspect </a:t>
            </a:r>
            <a:r>
              <a:rPr sz="2000" dirty="0">
                <a:latin typeface="Times New Roman"/>
                <a:cs typeface="Times New Roman"/>
              </a:rPr>
              <a:t>of </a:t>
            </a:r>
            <a:r>
              <a:rPr sz="2000" spc="-5" dirty="0">
                <a:latin typeface="Times New Roman"/>
                <a:cs typeface="Times New Roman"/>
              </a:rPr>
              <a:t>life </a:t>
            </a:r>
            <a:r>
              <a:rPr sz="2000" dirty="0">
                <a:latin typeface="Times New Roman"/>
                <a:cs typeface="Times New Roman"/>
              </a:rPr>
              <a:t>and  </a:t>
            </a:r>
            <a:r>
              <a:rPr sz="2000" spc="-5" dirty="0">
                <a:latin typeface="Times New Roman"/>
                <a:cs typeface="Times New Roman"/>
              </a:rPr>
              <a:t>living.</a:t>
            </a:r>
            <a:endParaRPr sz="2000">
              <a:latin typeface="Times New Roman"/>
              <a:cs typeface="Times New Roman"/>
            </a:endParaRPr>
          </a:p>
          <a:p>
            <a:pPr marL="12700" marR="5080">
              <a:lnSpc>
                <a:spcPct val="100000"/>
              </a:lnSpc>
              <a:spcBef>
                <a:spcPts val="500"/>
              </a:spcBef>
            </a:pPr>
            <a:r>
              <a:rPr sz="2000" dirty="0">
                <a:latin typeface="Times New Roman"/>
                <a:cs typeface="Times New Roman"/>
              </a:rPr>
              <a:t>It </a:t>
            </a:r>
            <a:r>
              <a:rPr sz="2000" spc="-5" dirty="0">
                <a:latin typeface="Times New Roman"/>
                <a:cs typeface="Times New Roman"/>
              </a:rPr>
              <a:t>is the </a:t>
            </a:r>
            <a:r>
              <a:rPr sz="2000" dirty="0">
                <a:latin typeface="Times New Roman"/>
                <a:cs typeface="Times New Roman"/>
              </a:rPr>
              <a:t>longest </a:t>
            </a:r>
            <a:r>
              <a:rPr sz="2000" spc="-5" dirty="0">
                <a:latin typeface="Times New Roman"/>
                <a:cs typeface="Times New Roman"/>
              </a:rPr>
              <a:t>existing epic  consisting </a:t>
            </a:r>
            <a:r>
              <a:rPr sz="2000" dirty="0">
                <a:latin typeface="Times New Roman"/>
                <a:cs typeface="Times New Roman"/>
              </a:rPr>
              <a:t>of 1,20,000</a:t>
            </a:r>
            <a:r>
              <a:rPr sz="2000" spc="15" dirty="0">
                <a:latin typeface="Times New Roman"/>
                <a:cs typeface="Times New Roman"/>
              </a:rPr>
              <a:t> </a:t>
            </a:r>
            <a:r>
              <a:rPr sz="2000" spc="-5" dirty="0">
                <a:latin typeface="Times New Roman"/>
                <a:cs typeface="Times New Roman"/>
              </a:rPr>
              <a:t>shlokas.</a:t>
            </a:r>
            <a:endParaRPr sz="2000">
              <a:latin typeface="Times New Roman"/>
              <a:cs typeface="Times New Roman"/>
            </a:endParaRPr>
          </a:p>
          <a:p>
            <a:pPr marL="12700" marR="447040">
              <a:lnSpc>
                <a:spcPct val="100099"/>
              </a:lnSpc>
              <a:spcBef>
                <a:spcPts val="495"/>
              </a:spcBef>
            </a:pPr>
            <a:r>
              <a:rPr sz="2000" spc="-5" dirty="0">
                <a:latin typeface="Times New Roman"/>
                <a:cs typeface="Times New Roman"/>
              </a:rPr>
              <a:t>Said </a:t>
            </a:r>
            <a:r>
              <a:rPr sz="2000" dirty="0">
                <a:latin typeface="Times New Roman"/>
                <a:cs typeface="Times New Roman"/>
              </a:rPr>
              <a:t>to be </a:t>
            </a:r>
            <a:r>
              <a:rPr sz="2000" spc="-5" dirty="0">
                <a:latin typeface="Times New Roman"/>
                <a:cs typeface="Times New Roman"/>
              </a:rPr>
              <a:t>the story </a:t>
            </a:r>
            <a:r>
              <a:rPr sz="2000" dirty="0">
                <a:latin typeface="Times New Roman"/>
                <a:cs typeface="Times New Roman"/>
              </a:rPr>
              <a:t>of </a:t>
            </a:r>
            <a:r>
              <a:rPr sz="2000" spc="-5" dirty="0">
                <a:latin typeface="Times New Roman"/>
                <a:cs typeface="Times New Roman"/>
              </a:rPr>
              <a:t>an  ancient battle between two  </a:t>
            </a:r>
            <a:r>
              <a:rPr sz="2000" dirty="0">
                <a:latin typeface="Times New Roman"/>
                <a:cs typeface="Times New Roman"/>
              </a:rPr>
              <a:t>branches of a </a:t>
            </a:r>
            <a:r>
              <a:rPr sz="2000" spc="-10" dirty="0">
                <a:latin typeface="Times New Roman"/>
                <a:cs typeface="Times New Roman"/>
              </a:rPr>
              <a:t>family, </a:t>
            </a:r>
            <a:r>
              <a:rPr sz="2000" spc="-5" dirty="0">
                <a:latin typeface="Times New Roman"/>
                <a:cs typeface="Times New Roman"/>
              </a:rPr>
              <a:t>the  Bharatas.</a:t>
            </a:r>
            <a:endParaRPr sz="2000">
              <a:latin typeface="Times New Roman"/>
              <a:cs typeface="Times New Roman"/>
            </a:endParaRPr>
          </a:p>
          <a:p>
            <a:pPr marL="12700" marR="278765">
              <a:lnSpc>
                <a:spcPct val="100400"/>
              </a:lnSpc>
              <a:spcBef>
                <a:spcPts val="480"/>
              </a:spcBef>
            </a:pPr>
            <a:r>
              <a:rPr sz="2000" spc="-5" dirty="0">
                <a:latin typeface="Times New Roman"/>
                <a:cs typeface="Times New Roman"/>
              </a:rPr>
              <a:t>Said </a:t>
            </a:r>
            <a:r>
              <a:rPr sz="2000" dirty="0">
                <a:latin typeface="Times New Roman"/>
                <a:cs typeface="Times New Roman"/>
              </a:rPr>
              <a:t>to be </a:t>
            </a:r>
            <a:r>
              <a:rPr sz="2000" spc="-5" dirty="0">
                <a:latin typeface="Times New Roman"/>
                <a:cs typeface="Times New Roman"/>
              </a:rPr>
              <a:t>composed </a:t>
            </a:r>
            <a:r>
              <a:rPr sz="2000" dirty="0">
                <a:latin typeface="Times New Roman"/>
                <a:cs typeface="Times New Roman"/>
              </a:rPr>
              <a:t>around  400</a:t>
            </a:r>
            <a:r>
              <a:rPr sz="2000" spc="10" dirty="0">
                <a:latin typeface="Times New Roman"/>
                <a:cs typeface="Times New Roman"/>
              </a:rPr>
              <a:t> </a:t>
            </a:r>
            <a:r>
              <a:rPr sz="2000" spc="-5" dirty="0">
                <a:latin typeface="Times New Roman"/>
                <a:cs typeface="Times New Roman"/>
              </a:rPr>
              <a:t>B.C.</a:t>
            </a:r>
            <a:endParaRPr sz="2000">
              <a:latin typeface="Times New Roman"/>
              <a:cs typeface="Times New Roman"/>
            </a:endParaRPr>
          </a:p>
        </p:txBody>
      </p:sp>
      <p:sp>
        <p:nvSpPr>
          <p:cNvPr id="8" name="object 8"/>
          <p:cNvSpPr/>
          <p:nvPr/>
        </p:nvSpPr>
        <p:spPr>
          <a:xfrm>
            <a:off x="4951729" y="1752600"/>
            <a:ext cx="3735070" cy="4114800"/>
          </a:xfrm>
          <a:prstGeom prst="rect">
            <a:avLst/>
          </a:prstGeom>
          <a:blipFill>
            <a:blip r:embed="rId2" cstate="print"/>
            <a:stretch>
              <a:fillRect/>
            </a:stretch>
          </a:blipFill>
        </p:spPr>
        <p:txBody>
          <a:bodyPr wrap="square" lIns="0" tIns="0" rIns="0" bIns="0" rtlCol="0"/>
          <a:lstStyle/>
          <a:p>
            <a:endParaRPr/>
          </a:p>
        </p:txBody>
      </p:sp>
      <p:sp>
        <p:nvSpPr>
          <p:cNvPr id="9"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The</a:t>
            </a:r>
            <a:r>
              <a:rPr lang="en-US" sz="2800" spc="-25" dirty="0"/>
              <a:t> </a:t>
            </a:r>
            <a:r>
              <a:rPr lang="en-US" sz="2800" i="1" spc="-5" dirty="0">
                <a:latin typeface="Times New Roman"/>
                <a:cs typeface="Times New Roman"/>
              </a:rPr>
              <a:t>Mahabharata</a:t>
            </a:r>
            <a:endParaRPr lang="en-US" sz="2800" b="1" dirty="0">
              <a:solidFill>
                <a:prstClr val="black"/>
              </a:solidFill>
              <a:latin typeface="Times New Roman" pitchFamily="18" charset="0"/>
              <a:cs typeface="Times New Roman" pitchFamily="18" charset="0"/>
            </a:endParaRPr>
          </a:p>
        </p:txBody>
      </p:sp>
      <p:pic>
        <p:nvPicPr>
          <p:cNvPr id="10"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1" name="Date Placeholder 10"/>
          <p:cNvSpPr>
            <a:spLocks noGrp="1"/>
          </p:cNvSpPr>
          <p:nvPr>
            <p:ph type="dt" sz="half" idx="10"/>
          </p:nvPr>
        </p:nvSpPr>
        <p:spPr/>
        <p:txBody>
          <a:bodyPr/>
          <a:lstStyle/>
          <a:p>
            <a:fld id="{5BEFF14F-1325-48F8-8D55-6104128B9CA1}" type="datetime1">
              <a:rPr lang="en-US" smtClean="0"/>
              <a:t>1/14/2022</a:t>
            </a:fld>
            <a:endParaRPr lang="en-US"/>
          </a:p>
        </p:txBody>
      </p:sp>
      <p:sp>
        <p:nvSpPr>
          <p:cNvPr id="12" name="Footer Placeholder 11"/>
          <p:cNvSpPr>
            <a:spLocks noGrp="1"/>
          </p:cNvSpPr>
          <p:nvPr>
            <p:ph type="ftr" sz="quarter" idx="11"/>
          </p:nvPr>
        </p:nvSpPr>
        <p:spPr/>
        <p:txBody>
          <a:bodyPr/>
          <a:lstStyle/>
          <a:p>
            <a:r>
              <a:rPr lang="fi-FI" smtClean="0"/>
              <a:t>Dr.Ankita Shukla KNC 602                                   Unit :2</a:t>
            </a:r>
            <a:endParaRPr lang="en-US" dirty="0"/>
          </a:p>
        </p:txBody>
      </p:sp>
      <p:sp>
        <p:nvSpPr>
          <p:cNvPr id="13" name="Slide Number Placeholder 12"/>
          <p:cNvSpPr>
            <a:spLocks noGrp="1"/>
          </p:cNvSpPr>
          <p:nvPr>
            <p:ph type="sldNum" sz="quarter" idx="12"/>
          </p:nvPr>
        </p:nvSpPr>
        <p:spPr/>
        <p:txBody>
          <a:bodyPr/>
          <a:lstStyle/>
          <a:p>
            <a:fld id="{5C85F1CB-02EA-4782-B654-3ECBE6236E9C}" type="slidenum">
              <a:rPr lang="en-US" smtClean="0"/>
              <a:pPr/>
              <a:t>34</a:t>
            </a:fld>
            <a:endParaRPr lang="en-US"/>
          </a:p>
        </p:txBody>
      </p:sp>
    </p:spTree>
    <p:extLst>
      <p:ext uri="{BB962C8B-B14F-4D97-AF65-F5344CB8AC3E}">
        <p14:creationId xmlns:p14="http://schemas.microsoft.com/office/powerpoint/2010/main" xmlns="" val="1868430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74190"/>
            <a:ext cx="9715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a:t>
            </a:r>
            <a:endParaRPr sz="1600">
              <a:latin typeface="Times New Roman"/>
              <a:cs typeface="Times New Roman"/>
            </a:endParaRPr>
          </a:p>
        </p:txBody>
      </p:sp>
      <p:sp>
        <p:nvSpPr>
          <p:cNvPr id="4" name="object 4"/>
          <p:cNvSpPr txBox="1"/>
          <p:nvPr/>
        </p:nvSpPr>
        <p:spPr>
          <a:xfrm>
            <a:off x="1144269" y="2797809"/>
            <a:ext cx="9715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a:t>
            </a:r>
            <a:endParaRPr sz="1600">
              <a:latin typeface="Times New Roman"/>
              <a:cs typeface="Times New Roman"/>
            </a:endParaRPr>
          </a:p>
        </p:txBody>
      </p:sp>
      <p:sp>
        <p:nvSpPr>
          <p:cNvPr id="5" name="object 5"/>
          <p:cNvSpPr txBox="1"/>
          <p:nvPr/>
        </p:nvSpPr>
        <p:spPr>
          <a:xfrm>
            <a:off x="1144269" y="3335020"/>
            <a:ext cx="9715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a:t>
            </a:r>
            <a:endParaRPr sz="1600">
              <a:latin typeface="Times New Roman"/>
              <a:cs typeface="Times New Roman"/>
            </a:endParaRPr>
          </a:p>
        </p:txBody>
      </p:sp>
      <p:sp>
        <p:nvSpPr>
          <p:cNvPr id="6" name="object 6"/>
          <p:cNvSpPr txBox="1"/>
          <p:nvPr/>
        </p:nvSpPr>
        <p:spPr>
          <a:xfrm>
            <a:off x="1144269" y="4359909"/>
            <a:ext cx="9715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Times New Roman"/>
                <a:cs typeface="Times New Roman"/>
              </a:rPr>
              <a:t>•</a:t>
            </a:r>
            <a:endParaRPr sz="1600">
              <a:latin typeface="Times New Roman"/>
              <a:cs typeface="Times New Roman"/>
            </a:endParaRPr>
          </a:p>
        </p:txBody>
      </p:sp>
      <p:sp>
        <p:nvSpPr>
          <p:cNvPr id="7" name="object 7"/>
          <p:cNvSpPr txBox="1"/>
          <p:nvPr/>
        </p:nvSpPr>
        <p:spPr>
          <a:xfrm>
            <a:off x="1487169" y="1786890"/>
            <a:ext cx="3229610" cy="3827779"/>
          </a:xfrm>
          <a:prstGeom prst="rect">
            <a:avLst/>
          </a:prstGeom>
        </p:spPr>
        <p:txBody>
          <a:bodyPr vert="horz" wrap="square" lIns="0" tIns="13335" rIns="0" bIns="0" rtlCol="0">
            <a:spAutoFit/>
          </a:bodyPr>
          <a:lstStyle/>
          <a:p>
            <a:pPr marL="12700" marR="66675">
              <a:lnSpc>
                <a:spcPct val="99700"/>
              </a:lnSpc>
              <a:spcBef>
                <a:spcPts val="105"/>
              </a:spcBef>
            </a:pPr>
            <a:r>
              <a:rPr sz="1600" spc="-5" dirty="0">
                <a:latin typeface="Times New Roman"/>
                <a:cs typeface="Times New Roman"/>
              </a:rPr>
              <a:t>Also known as </a:t>
            </a:r>
            <a:r>
              <a:rPr sz="1600" i="1" spc="-5" dirty="0">
                <a:latin typeface="Times New Roman"/>
                <a:cs typeface="Times New Roman"/>
              </a:rPr>
              <a:t>Jaya </a:t>
            </a:r>
            <a:r>
              <a:rPr sz="1600" dirty="0">
                <a:latin typeface="Times New Roman"/>
                <a:cs typeface="Times New Roman"/>
              </a:rPr>
              <a:t>or </a:t>
            </a:r>
            <a:r>
              <a:rPr sz="1600" spc="-5" dirty="0">
                <a:latin typeface="Times New Roman"/>
                <a:cs typeface="Times New Roman"/>
              </a:rPr>
              <a:t>victory, </a:t>
            </a:r>
            <a:r>
              <a:rPr sz="1600" dirty="0">
                <a:latin typeface="Times New Roman"/>
                <a:cs typeface="Times New Roman"/>
              </a:rPr>
              <a:t>the  </a:t>
            </a:r>
            <a:r>
              <a:rPr sz="1600" i="1" dirty="0">
                <a:latin typeface="Times New Roman"/>
                <a:cs typeface="Times New Roman"/>
              </a:rPr>
              <a:t>Mahabharata </a:t>
            </a:r>
            <a:r>
              <a:rPr sz="1600" spc="-5" dirty="0">
                <a:latin typeface="Times New Roman"/>
                <a:cs typeface="Times New Roman"/>
              </a:rPr>
              <a:t>is said </a:t>
            </a:r>
            <a:r>
              <a:rPr sz="1600" dirty="0">
                <a:latin typeface="Times New Roman"/>
                <a:cs typeface="Times New Roman"/>
              </a:rPr>
              <a:t>to have been  </a:t>
            </a:r>
            <a:r>
              <a:rPr sz="1600" spc="-10" dirty="0">
                <a:latin typeface="Times New Roman"/>
                <a:cs typeface="Times New Roman"/>
              </a:rPr>
              <a:t>composed </a:t>
            </a:r>
            <a:r>
              <a:rPr sz="1600" dirty="0">
                <a:latin typeface="Times New Roman"/>
                <a:cs typeface="Times New Roman"/>
              </a:rPr>
              <a:t>by the </a:t>
            </a:r>
            <a:r>
              <a:rPr sz="1600" spc="-5" dirty="0">
                <a:latin typeface="Times New Roman"/>
                <a:cs typeface="Times New Roman"/>
              </a:rPr>
              <a:t>great sage Vyasa,</a:t>
            </a:r>
            <a:r>
              <a:rPr sz="1600" spc="-85" dirty="0">
                <a:latin typeface="Times New Roman"/>
                <a:cs typeface="Times New Roman"/>
              </a:rPr>
              <a:t> </a:t>
            </a:r>
            <a:r>
              <a:rPr sz="1600" dirty="0">
                <a:latin typeface="Times New Roman"/>
                <a:cs typeface="Times New Roman"/>
              </a:rPr>
              <a:t>the  </a:t>
            </a:r>
            <a:r>
              <a:rPr sz="1600" spc="-10" dirty="0">
                <a:latin typeface="Times New Roman"/>
                <a:cs typeface="Times New Roman"/>
              </a:rPr>
              <a:t>compiler </a:t>
            </a:r>
            <a:r>
              <a:rPr sz="1600" dirty="0">
                <a:latin typeface="Times New Roman"/>
                <a:cs typeface="Times New Roman"/>
              </a:rPr>
              <a:t>of the</a:t>
            </a:r>
            <a:r>
              <a:rPr sz="1600" spc="-10" dirty="0">
                <a:latin typeface="Times New Roman"/>
                <a:cs typeface="Times New Roman"/>
              </a:rPr>
              <a:t> </a:t>
            </a:r>
            <a:r>
              <a:rPr sz="1600" spc="-5" dirty="0">
                <a:latin typeface="Times New Roman"/>
                <a:cs typeface="Times New Roman"/>
              </a:rPr>
              <a:t>Vedas.</a:t>
            </a:r>
            <a:endParaRPr sz="1600">
              <a:latin typeface="Times New Roman"/>
              <a:cs typeface="Times New Roman"/>
            </a:endParaRPr>
          </a:p>
          <a:p>
            <a:pPr marL="12700" marR="177165">
              <a:lnSpc>
                <a:spcPct val="100000"/>
              </a:lnSpc>
              <a:spcBef>
                <a:spcPts val="400"/>
              </a:spcBef>
            </a:pPr>
            <a:r>
              <a:rPr sz="1600" spc="-10" dirty="0">
                <a:latin typeface="Times New Roman"/>
                <a:cs typeface="Times New Roman"/>
              </a:rPr>
              <a:t>Vyasa </a:t>
            </a:r>
            <a:r>
              <a:rPr sz="1600" spc="-5" dirty="0">
                <a:latin typeface="Times New Roman"/>
                <a:cs typeface="Times New Roman"/>
              </a:rPr>
              <a:t>taught </a:t>
            </a:r>
            <a:r>
              <a:rPr sz="1600" dirty="0">
                <a:latin typeface="Times New Roman"/>
                <a:cs typeface="Times New Roman"/>
              </a:rPr>
              <a:t>the </a:t>
            </a:r>
            <a:r>
              <a:rPr sz="1600" i="1" dirty="0">
                <a:latin typeface="Times New Roman"/>
                <a:cs typeface="Times New Roman"/>
              </a:rPr>
              <a:t>Mahabharata </a:t>
            </a:r>
            <a:r>
              <a:rPr sz="1600" dirty="0">
                <a:latin typeface="Times New Roman"/>
                <a:cs typeface="Times New Roman"/>
              </a:rPr>
              <a:t>to </a:t>
            </a:r>
            <a:r>
              <a:rPr sz="1600" spc="-5" dirty="0">
                <a:latin typeface="Times New Roman"/>
                <a:cs typeface="Times New Roman"/>
              </a:rPr>
              <a:t>his  son</a:t>
            </a:r>
            <a:r>
              <a:rPr sz="1600" spc="-10" dirty="0">
                <a:latin typeface="Times New Roman"/>
                <a:cs typeface="Times New Roman"/>
              </a:rPr>
              <a:t> </a:t>
            </a:r>
            <a:r>
              <a:rPr sz="1600" dirty="0">
                <a:latin typeface="Times New Roman"/>
                <a:cs typeface="Times New Roman"/>
              </a:rPr>
              <a:t>Suka.</a:t>
            </a:r>
            <a:endParaRPr sz="1600">
              <a:latin typeface="Times New Roman"/>
              <a:cs typeface="Times New Roman"/>
            </a:endParaRPr>
          </a:p>
          <a:p>
            <a:pPr marL="12700" marR="5080">
              <a:lnSpc>
                <a:spcPct val="100000"/>
              </a:lnSpc>
              <a:spcBef>
                <a:spcPts val="390"/>
              </a:spcBef>
            </a:pPr>
            <a:r>
              <a:rPr sz="1600" spc="-10" dirty="0">
                <a:latin typeface="Times New Roman"/>
                <a:cs typeface="Times New Roman"/>
              </a:rPr>
              <a:t>It </a:t>
            </a:r>
            <a:r>
              <a:rPr sz="1600" spc="-5" dirty="0">
                <a:latin typeface="Times New Roman"/>
                <a:cs typeface="Times New Roman"/>
              </a:rPr>
              <a:t>is said Narada taught </a:t>
            </a:r>
            <a:r>
              <a:rPr sz="1600" dirty="0">
                <a:latin typeface="Times New Roman"/>
                <a:cs typeface="Times New Roman"/>
              </a:rPr>
              <a:t>it </a:t>
            </a:r>
            <a:r>
              <a:rPr sz="1600" spc="-5" dirty="0">
                <a:latin typeface="Times New Roman"/>
                <a:cs typeface="Times New Roman"/>
              </a:rPr>
              <a:t>to </a:t>
            </a:r>
            <a:r>
              <a:rPr sz="1600" dirty="0">
                <a:latin typeface="Times New Roman"/>
                <a:cs typeface="Times New Roman"/>
              </a:rPr>
              <a:t>the gods or  devas </a:t>
            </a:r>
            <a:r>
              <a:rPr sz="1600" spc="-5" dirty="0">
                <a:latin typeface="Times New Roman"/>
                <a:cs typeface="Times New Roman"/>
              </a:rPr>
              <a:t>while Suka taught </a:t>
            </a:r>
            <a:r>
              <a:rPr sz="1600" dirty="0">
                <a:latin typeface="Times New Roman"/>
                <a:cs typeface="Times New Roman"/>
              </a:rPr>
              <a:t>it </a:t>
            </a:r>
            <a:r>
              <a:rPr sz="1600" spc="-5" dirty="0">
                <a:latin typeface="Times New Roman"/>
                <a:cs typeface="Times New Roman"/>
              </a:rPr>
              <a:t>to </a:t>
            </a:r>
            <a:r>
              <a:rPr sz="1600" dirty="0">
                <a:latin typeface="Times New Roman"/>
                <a:cs typeface="Times New Roman"/>
              </a:rPr>
              <a:t>the  </a:t>
            </a:r>
            <a:r>
              <a:rPr sz="1600" spc="-5" dirty="0">
                <a:latin typeface="Times New Roman"/>
                <a:cs typeface="Times New Roman"/>
              </a:rPr>
              <a:t>gandharvas, </a:t>
            </a:r>
            <a:r>
              <a:rPr sz="1600" dirty="0">
                <a:latin typeface="Times New Roman"/>
                <a:cs typeface="Times New Roman"/>
              </a:rPr>
              <a:t>the </a:t>
            </a:r>
            <a:r>
              <a:rPr sz="1600" spc="-5" dirty="0">
                <a:latin typeface="Times New Roman"/>
                <a:cs typeface="Times New Roman"/>
              </a:rPr>
              <a:t>rakshasas </a:t>
            </a:r>
            <a:r>
              <a:rPr sz="1600" dirty="0">
                <a:latin typeface="Times New Roman"/>
                <a:cs typeface="Times New Roman"/>
              </a:rPr>
              <a:t>and </a:t>
            </a:r>
            <a:r>
              <a:rPr sz="1600" spc="-5" dirty="0">
                <a:latin typeface="Times New Roman"/>
                <a:cs typeface="Times New Roman"/>
              </a:rPr>
              <a:t>the  yakshas.</a:t>
            </a:r>
            <a:endParaRPr sz="1600">
              <a:latin typeface="Times New Roman"/>
              <a:cs typeface="Times New Roman"/>
            </a:endParaRPr>
          </a:p>
          <a:p>
            <a:pPr marL="12700" marR="45085">
              <a:lnSpc>
                <a:spcPct val="99700"/>
              </a:lnSpc>
              <a:spcBef>
                <a:spcPts val="395"/>
              </a:spcBef>
            </a:pPr>
            <a:r>
              <a:rPr sz="1600" spc="-10" dirty="0">
                <a:latin typeface="Times New Roman"/>
                <a:cs typeface="Times New Roman"/>
              </a:rPr>
              <a:t>Vaisampayana, </a:t>
            </a:r>
            <a:r>
              <a:rPr sz="1600" dirty="0">
                <a:latin typeface="Times New Roman"/>
                <a:cs typeface="Times New Roman"/>
              </a:rPr>
              <a:t>one of </a:t>
            </a:r>
            <a:r>
              <a:rPr sz="1600" spc="-10" dirty="0">
                <a:latin typeface="Times New Roman"/>
                <a:cs typeface="Times New Roman"/>
              </a:rPr>
              <a:t>Vyasa’s </a:t>
            </a:r>
            <a:r>
              <a:rPr sz="1600" spc="-5" dirty="0">
                <a:latin typeface="Times New Roman"/>
                <a:cs typeface="Times New Roman"/>
              </a:rPr>
              <a:t>chief  disciples, narrated </a:t>
            </a:r>
            <a:r>
              <a:rPr sz="1600" dirty="0">
                <a:latin typeface="Times New Roman"/>
                <a:cs typeface="Times New Roman"/>
              </a:rPr>
              <a:t>the </a:t>
            </a:r>
            <a:r>
              <a:rPr sz="1600" spc="-5" dirty="0">
                <a:latin typeface="Times New Roman"/>
                <a:cs typeface="Times New Roman"/>
              </a:rPr>
              <a:t>story at </a:t>
            </a:r>
            <a:r>
              <a:rPr sz="1600" dirty="0">
                <a:latin typeface="Times New Roman"/>
                <a:cs typeface="Times New Roman"/>
              </a:rPr>
              <a:t>a </a:t>
            </a:r>
            <a:r>
              <a:rPr sz="1600" spc="-5" dirty="0">
                <a:latin typeface="Times New Roman"/>
                <a:cs typeface="Times New Roman"/>
              </a:rPr>
              <a:t>great  sacrifice conducted </a:t>
            </a:r>
            <a:r>
              <a:rPr sz="1600" dirty="0">
                <a:latin typeface="Times New Roman"/>
                <a:cs typeface="Times New Roman"/>
              </a:rPr>
              <a:t>by </a:t>
            </a:r>
            <a:r>
              <a:rPr sz="1600" spc="-10" dirty="0">
                <a:latin typeface="Times New Roman"/>
                <a:cs typeface="Times New Roman"/>
              </a:rPr>
              <a:t>Janamejaya, </a:t>
            </a:r>
            <a:r>
              <a:rPr sz="1600" dirty="0">
                <a:latin typeface="Times New Roman"/>
                <a:cs typeface="Times New Roman"/>
              </a:rPr>
              <a:t>the  </a:t>
            </a:r>
            <a:r>
              <a:rPr sz="1600" spc="-5" dirty="0">
                <a:latin typeface="Times New Roman"/>
                <a:cs typeface="Times New Roman"/>
              </a:rPr>
              <a:t>descendent </a:t>
            </a:r>
            <a:r>
              <a:rPr sz="1600" dirty="0">
                <a:latin typeface="Times New Roman"/>
                <a:cs typeface="Times New Roman"/>
              </a:rPr>
              <a:t>of the </a:t>
            </a:r>
            <a:r>
              <a:rPr sz="1600" spc="-5" dirty="0">
                <a:latin typeface="Times New Roman"/>
                <a:cs typeface="Times New Roman"/>
              </a:rPr>
              <a:t>Pandavas </a:t>
            </a:r>
            <a:r>
              <a:rPr sz="1600" dirty="0">
                <a:latin typeface="Times New Roman"/>
                <a:cs typeface="Times New Roman"/>
              </a:rPr>
              <a:t>and </a:t>
            </a:r>
            <a:r>
              <a:rPr sz="1600" spc="-5" dirty="0">
                <a:latin typeface="Times New Roman"/>
                <a:cs typeface="Times New Roman"/>
              </a:rPr>
              <a:t>it  spread</a:t>
            </a:r>
            <a:r>
              <a:rPr sz="1600" spc="-10" dirty="0">
                <a:latin typeface="Times New Roman"/>
                <a:cs typeface="Times New Roman"/>
              </a:rPr>
              <a:t> </a:t>
            </a:r>
            <a:r>
              <a:rPr sz="1600" spc="-5" dirty="0">
                <a:latin typeface="Times New Roman"/>
                <a:cs typeface="Times New Roman"/>
              </a:rPr>
              <a:t>further.</a:t>
            </a:r>
            <a:endParaRPr sz="1600">
              <a:latin typeface="Times New Roman"/>
              <a:cs typeface="Times New Roman"/>
            </a:endParaRPr>
          </a:p>
        </p:txBody>
      </p:sp>
      <p:sp>
        <p:nvSpPr>
          <p:cNvPr id="8" name="object 8"/>
          <p:cNvSpPr/>
          <p:nvPr/>
        </p:nvSpPr>
        <p:spPr>
          <a:xfrm>
            <a:off x="4951729" y="1752600"/>
            <a:ext cx="3735070" cy="4114800"/>
          </a:xfrm>
          <a:prstGeom prst="rect">
            <a:avLst/>
          </a:prstGeom>
          <a:blipFill>
            <a:blip r:embed="rId2" cstate="print"/>
            <a:stretch>
              <a:fillRect/>
            </a:stretch>
          </a:blipFill>
        </p:spPr>
        <p:txBody>
          <a:bodyPr wrap="square" lIns="0" tIns="0" rIns="0" bIns="0" rtlCol="0"/>
          <a:lstStyle/>
          <a:p>
            <a:endParaRPr/>
          </a:p>
        </p:txBody>
      </p:sp>
      <p:sp>
        <p:nvSpPr>
          <p:cNvPr id="9"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Who </a:t>
            </a:r>
            <a:r>
              <a:rPr lang="en-US" sz="2800" spc="-5" dirty="0"/>
              <a:t>wrote </a:t>
            </a:r>
            <a:r>
              <a:rPr lang="en-US" sz="2800" dirty="0"/>
              <a:t>the </a:t>
            </a:r>
            <a:r>
              <a:rPr lang="en-US" sz="2800" i="1" dirty="0">
                <a:latin typeface="Times New Roman"/>
                <a:cs typeface="Times New Roman"/>
              </a:rPr>
              <a:t>Mahabharata</a:t>
            </a:r>
            <a:r>
              <a:rPr lang="en-US" sz="2800" dirty="0"/>
              <a:t>?</a:t>
            </a:r>
            <a:endParaRPr lang="en-US" sz="2800" b="1" dirty="0">
              <a:solidFill>
                <a:prstClr val="black"/>
              </a:solidFill>
              <a:latin typeface="Times New Roman" pitchFamily="18" charset="0"/>
              <a:cs typeface="Times New Roman" pitchFamily="18" charset="0"/>
            </a:endParaRPr>
          </a:p>
        </p:txBody>
      </p:sp>
      <p:pic>
        <p:nvPicPr>
          <p:cNvPr id="10"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1" name="Date Placeholder 10"/>
          <p:cNvSpPr>
            <a:spLocks noGrp="1"/>
          </p:cNvSpPr>
          <p:nvPr>
            <p:ph type="dt" sz="half" idx="10"/>
          </p:nvPr>
        </p:nvSpPr>
        <p:spPr/>
        <p:txBody>
          <a:bodyPr/>
          <a:lstStyle/>
          <a:p>
            <a:fld id="{C5981F9A-3621-40CA-ADFF-2406FC104A36}" type="datetime1">
              <a:rPr lang="en-US" smtClean="0"/>
              <a:t>1/14/2022</a:t>
            </a:fld>
            <a:endParaRPr lang="en-US"/>
          </a:p>
        </p:txBody>
      </p:sp>
      <p:sp>
        <p:nvSpPr>
          <p:cNvPr id="12" name="Footer Placeholder 11"/>
          <p:cNvSpPr>
            <a:spLocks noGrp="1"/>
          </p:cNvSpPr>
          <p:nvPr>
            <p:ph type="ftr" sz="quarter" idx="11"/>
          </p:nvPr>
        </p:nvSpPr>
        <p:spPr/>
        <p:txBody>
          <a:bodyPr/>
          <a:lstStyle/>
          <a:p>
            <a:r>
              <a:rPr lang="fi-FI" smtClean="0"/>
              <a:t>Dr.Ankita Shukla KNC 602                                   Unit :2</a:t>
            </a:r>
            <a:endParaRPr lang="en-US" dirty="0"/>
          </a:p>
        </p:txBody>
      </p:sp>
      <p:sp>
        <p:nvSpPr>
          <p:cNvPr id="13" name="Slide Number Placeholder 12"/>
          <p:cNvSpPr>
            <a:spLocks noGrp="1"/>
          </p:cNvSpPr>
          <p:nvPr>
            <p:ph type="sldNum" sz="quarter" idx="12"/>
          </p:nvPr>
        </p:nvSpPr>
        <p:spPr/>
        <p:txBody>
          <a:bodyPr/>
          <a:lstStyle/>
          <a:p>
            <a:fld id="{5C85F1CB-02EA-4782-B654-3ECBE6236E9C}" type="slidenum">
              <a:rPr lang="en-US" smtClean="0"/>
              <a:pPr/>
              <a:t>35</a:t>
            </a:fld>
            <a:endParaRPr lang="en-US"/>
          </a:p>
        </p:txBody>
      </p:sp>
    </p:spTree>
    <p:extLst>
      <p:ext uri="{BB962C8B-B14F-4D97-AF65-F5344CB8AC3E}">
        <p14:creationId xmlns:p14="http://schemas.microsoft.com/office/powerpoint/2010/main" xmlns="" val="18022821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8F6C57"/>
          </a:solidFill>
        </p:spPr>
        <p:txBody>
          <a:bodyPr wrap="square" lIns="0" tIns="0" rIns="0" bIns="0" rtlCol="0"/>
          <a:lstStyle/>
          <a:p>
            <a:endParaRPr/>
          </a:p>
        </p:txBody>
      </p:sp>
      <p:grpSp>
        <p:nvGrpSpPr>
          <p:cNvPr id="3" name="object 3"/>
          <p:cNvGrpSpPr/>
          <p:nvPr/>
        </p:nvGrpSpPr>
        <p:grpSpPr>
          <a:xfrm>
            <a:off x="0" y="52069"/>
            <a:ext cx="8848090" cy="6742430"/>
            <a:chOff x="0" y="52069"/>
            <a:chExt cx="8848090" cy="6742430"/>
          </a:xfrm>
        </p:grpSpPr>
        <p:sp>
          <p:nvSpPr>
            <p:cNvPr id="4" name="object 4"/>
            <p:cNvSpPr/>
            <p:nvPr/>
          </p:nvSpPr>
          <p:spPr>
            <a:xfrm>
              <a:off x="609600" y="228599"/>
              <a:ext cx="8238490" cy="6391910"/>
            </a:xfrm>
            <a:custGeom>
              <a:avLst/>
              <a:gdLst/>
              <a:ahLst/>
              <a:cxnLst/>
              <a:rect l="l" t="t" r="r" b="b"/>
              <a:pathLst>
                <a:path w="8238490" h="6391909">
                  <a:moveTo>
                    <a:pt x="8238490" y="0"/>
                  </a:moveTo>
                  <a:lnTo>
                    <a:pt x="0" y="0"/>
                  </a:lnTo>
                  <a:lnTo>
                    <a:pt x="0" y="6391910"/>
                  </a:lnTo>
                  <a:lnTo>
                    <a:pt x="8238490" y="6391910"/>
                  </a:lnTo>
                  <a:close/>
                </a:path>
              </a:pathLst>
            </a:custGeom>
            <a:solidFill>
              <a:srgbClr val="ECE6E2"/>
            </a:solidFill>
          </p:spPr>
          <p:txBody>
            <a:bodyPr wrap="square" lIns="0" tIns="0" rIns="0" bIns="0" rtlCol="0"/>
            <a:lstStyle/>
            <a:p>
              <a:endParaRPr/>
            </a:p>
          </p:txBody>
        </p:sp>
        <p:sp>
          <p:nvSpPr>
            <p:cNvPr id="5" name="object 5"/>
            <p:cNvSpPr/>
            <p:nvPr/>
          </p:nvSpPr>
          <p:spPr>
            <a:xfrm>
              <a:off x="0" y="52069"/>
              <a:ext cx="1181100" cy="405637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4222749"/>
              <a:ext cx="1181100" cy="2571750"/>
            </a:xfrm>
            <a:prstGeom prst="rect">
              <a:avLst/>
            </a:prstGeom>
            <a:blipFill>
              <a:blip r:embed="rId3" cstate="print"/>
              <a:stretch>
                <a:fillRect/>
              </a:stretch>
            </a:blipFill>
          </p:spPr>
          <p:txBody>
            <a:bodyPr wrap="square" lIns="0" tIns="0" rIns="0" bIns="0" rtlCol="0"/>
            <a:lstStyle/>
            <a:p>
              <a:endParaRPr/>
            </a:p>
          </p:txBody>
        </p:sp>
      </p:grpSp>
      <p:sp>
        <p:nvSpPr>
          <p:cNvPr id="8" name="object 8"/>
          <p:cNvSpPr txBox="1"/>
          <p:nvPr/>
        </p:nvSpPr>
        <p:spPr>
          <a:xfrm>
            <a:off x="1144269" y="1774190"/>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9" name="object 9"/>
          <p:cNvSpPr txBox="1"/>
          <p:nvPr/>
        </p:nvSpPr>
        <p:spPr>
          <a:xfrm>
            <a:off x="1144269" y="2458720"/>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10" name="object 10"/>
          <p:cNvSpPr txBox="1"/>
          <p:nvPr/>
        </p:nvSpPr>
        <p:spPr>
          <a:xfrm>
            <a:off x="1144269" y="3141979"/>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11" name="object 11"/>
          <p:cNvSpPr txBox="1"/>
          <p:nvPr/>
        </p:nvSpPr>
        <p:spPr>
          <a:xfrm>
            <a:off x="1144269" y="4251959"/>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12" name="object 12"/>
          <p:cNvSpPr txBox="1"/>
          <p:nvPr/>
        </p:nvSpPr>
        <p:spPr>
          <a:xfrm>
            <a:off x="1144269" y="5361940"/>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13" name="object 13"/>
          <p:cNvSpPr txBox="1"/>
          <p:nvPr/>
        </p:nvSpPr>
        <p:spPr>
          <a:xfrm>
            <a:off x="1487169" y="1786890"/>
            <a:ext cx="3196590" cy="4251960"/>
          </a:xfrm>
          <a:prstGeom prst="rect">
            <a:avLst/>
          </a:prstGeom>
        </p:spPr>
        <p:txBody>
          <a:bodyPr vert="horz" wrap="square" lIns="0" tIns="12700" rIns="0" bIns="0" rtlCol="0">
            <a:spAutoFit/>
          </a:bodyPr>
          <a:lstStyle/>
          <a:p>
            <a:pPr marL="12700" marR="45085">
              <a:lnSpc>
                <a:spcPct val="100000"/>
              </a:lnSpc>
              <a:spcBef>
                <a:spcPts val="100"/>
              </a:spcBef>
            </a:pPr>
            <a:r>
              <a:rPr sz="1400" spc="-5" dirty="0">
                <a:latin typeface="Times New Roman"/>
                <a:cs typeface="Times New Roman"/>
              </a:rPr>
              <a:t>It </a:t>
            </a:r>
            <a:r>
              <a:rPr sz="1400" dirty="0">
                <a:latin typeface="Times New Roman"/>
                <a:cs typeface="Times New Roman"/>
              </a:rPr>
              <a:t>is </a:t>
            </a:r>
            <a:r>
              <a:rPr sz="1400" spc="5" dirty="0">
                <a:latin typeface="Times New Roman"/>
                <a:cs typeface="Times New Roman"/>
              </a:rPr>
              <a:t>in </a:t>
            </a:r>
            <a:r>
              <a:rPr sz="1400" dirty="0">
                <a:latin typeface="Times New Roman"/>
                <a:cs typeface="Times New Roman"/>
              </a:rPr>
              <a:t>the form of a dialogue between King  Dhritarashtra and </a:t>
            </a:r>
            <a:r>
              <a:rPr sz="1400" spc="-5" dirty="0">
                <a:latin typeface="Times New Roman"/>
                <a:cs typeface="Times New Roman"/>
              </a:rPr>
              <a:t>Sanjaya </a:t>
            </a:r>
            <a:r>
              <a:rPr sz="1400" dirty="0">
                <a:latin typeface="Times New Roman"/>
                <a:cs typeface="Times New Roman"/>
              </a:rPr>
              <a:t>his advisor and  chariot</a:t>
            </a:r>
            <a:r>
              <a:rPr sz="1400" spc="-5" dirty="0">
                <a:latin typeface="Times New Roman"/>
                <a:cs typeface="Times New Roman"/>
              </a:rPr>
              <a:t> </a:t>
            </a:r>
            <a:r>
              <a:rPr sz="1400" dirty="0">
                <a:latin typeface="Times New Roman"/>
                <a:cs typeface="Times New Roman"/>
              </a:rPr>
              <a:t>driver.</a:t>
            </a:r>
          </a:p>
          <a:p>
            <a:pPr marL="12700" marR="67945">
              <a:lnSpc>
                <a:spcPct val="100000"/>
              </a:lnSpc>
              <a:spcBef>
                <a:spcPts val="340"/>
              </a:spcBef>
            </a:pPr>
            <a:r>
              <a:rPr sz="1400" spc="-5" dirty="0">
                <a:latin typeface="Times New Roman"/>
                <a:cs typeface="Times New Roman"/>
              </a:rPr>
              <a:t>Sanjaya </a:t>
            </a:r>
            <a:r>
              <a:rPr sz="1400" dirty="0">
                <a:latin typeface="Times New Roman"/>
                <a:cs typeface="Times New Roman"/>
              </a:rPr>
              <a:t>narrates each incident of </a:t>
            </a:r>
            <a:r>
              <a:rPr sz="1400" spc="5" dirty="0">
                <a:latin typeface="Times New Roman"/>
                <a:cs typeface="Times New Roman"/>
              </a:rPr>
              <a:t>the  </a:t>
            </a:r>
            <a:r>
              <a:rPr sz="1400" dirty="0">
                <a:latin typeface="Times New Roman"/>
                <a:cs typeface="Times New Roman"/>
              </a:rPr>
              <a:t>Kurukshetra </a:t>
            </a:r>
            <a:r>
              <a:rPr sz="1400" spc="-5" dirty="0">
                <a:latin typeface="Times New Roman"/>
                <a:cs typeface="Times New Roman"/>
              </a:rPr>
              <a:t>War, </a:t>
            </a:r>
            <a:r>
              <a:rPr sz="1400" dirty="0">
                <a:latin typeface="Times New Roman"/>
                <a:cs typeface="Times New Roman"/>
              </a:rPr>
              <a:t>fought in 18 </a:t>
            </a:r>
            <a:r>
              <a:rPr sz="1400" spc="-5" dirty="0">
                <a:latin typeface="Times New Roman"/>
                <a:cs typeface="Times New Roman"/>
              </a:rPr>
              <a:t>days, as </a:t>
            </a:r>
            <a:r>
              <a:rPr sz="1400" dirty="0">
                <a:latin typeface="Times New Roman"/>
                <a:cs typeface="Times New Roman"/>
              </a:rPr>
              <a:t>and  when </a:t>
            </a:r>
            <a:r>
              <a:rPr sz="1400" spc="5" dirty="0">
                <a:latin typeface="Times New Roman"/>
                <a:cs typeface="Times New Roman"/>
              </a:rPr>
              <a:t>it</a:t>
            </a:r>
            <a:r>
              <a:rPr sz="1400" spc="-10" dirty="0">
                <a:latin typeface="Times New Roman"/>
                <a:cs typeface="Times New Roman"/>
              </a:rPr>
              <a:t> </a:t>
            </a:r>
            <a:r>
              <a:rPr sz="1400" dirty="0">
                <a:latin typeface="Times New Roman"/>
                <a:cs typeface="Times New Roman"/>
              </a:rPr>
              <a:t>happened.</a:t>
            </a:r>
          </a:p>
          <a:p>
            <a:pPr marL="12700" marR="5080" indent="43180">
              <a:lnSpc>
                <a:spcPct val="100000"/>
              </a:lnSpc>
              <a:spcBef>
                <a:spcPts val="340"/>
              </a:spcBef>
            </a:pPr>
            <a:r>
              <a:rPr sz="1400" dirty="0">
                <a:latin typeface="Times New Roman"/>
                <a:cs typeface="Times New Roman"/>
              </a:rPr>
              <a:t>Dhritarashtra </a:t>
            </a:r>
            <a:r>
              <a:rPr sz="1400" spc="-5" dirty="0">
                <a:latin typeface="Times New Roman"/>
                <a:cs typeface="Times New Roman"/>
              </a:rPr>
              <a:t>sometimes </a:t>
            </a:r>
            <a:r>
              <a:rPr sz="1400" dirty="0">
                <a:latin typeface="Times New Roman"/>
                <a:cs typeface="Times New Roman"/>
              </a:rPr>
              <a:t>asks questions and  </a:t>
            </a:r>
            <a:r>
              <a:rPr sz="1400" spc="-5" dirty="0">
                <a:latin typeface="Times New Roman"/>
                <a:cs typeface="Times New Roman"/>
              </a:rPr>
              <a:t>laments </a:t>
            </a:r>
            <a:r>
              <a:rPr sz="1400" spc="5" dirty="0">
                <a:latin typeface="Times New Roman"/>
                <a:cs typeface="Times New Roman"/>
              </a:rPr>
              <a:t>the </a:t>
            </a:r>
            <a:r>
              <a:rPr sz="1400" dirty="0">
                <a:latin typeface="Times New Roman"/>
                <a:cs typeface="Times New Roman"/>
              </a:rPr>
              <a:t>destruction caused by </a:t>
            </a:r>
            <a:r>
              <a:rPr sz="1400" spc="5" dirty="0">
                <a:latin typeface="Times New Roman"/>
                <a:cs typeface="Times New Roman"/>
              </a:rPr>
              <a:t>the </a:t>
            </a:r>
            <a:r>
              <a:rPr sz="1400" dirty="0">
                <a:latin typeface="Times New Roman"/>
                <a:cs typeface="Times New Roman"/>
              </a:rPr>
              <a:t>war,  to his sons, friends and </a:t>
            </a:r>
            <a:r>
              <a:rPr sz="1400" spc="-5" dirty="0">
                <a:latin typeface="Times New Roman"/>
                <a:cs typeface="Times New Roman"/>
              </a:rPr>
              <a:t>kinsmen. </a:t>
            </a:r>
            <a:r>
              <a:rPr sz="1400" dirty="0">
                <a:latin typeface="Times New Roman"/>
                <a:cs typeface="Times New Roman"/>
              </a:rPr>
              <a:t>He also  feels guilty, because he was partly  responsible.</a:t>
            </a:r>
          </a:p>
          <a:p>
            <a:pPr marL="12700" marR="176530">
              <a:lnSpc>
                <a:spcPct val="100000"/>
              </a:lnSpc>
              <a:spcBef>
                <a:spcPts val="340"/>
              </a:spcBef>
            </a:pPr>
            <a:r>
              <a:rPr sz="1400" spc="-5" dirty="0">
                <a:latin typeface="Times New Roman"/>
                <a:cs typeface="Times New Roman"/>
              </a:rPr>
              <a:t>Sanjaya </a:t>
            </a:r>
            <a:r>
              <a:rPr sz="1400" dirty="0">
                <a:latin typeface="Times New Roman"/>
                <a:cs typeface="Times New Roman"/>
              </a:rPr>
              <a:t>begins with a description of the  earth, </a:t>
            </a:r>
            <a:r>
              <a:rPr sz="1400" spc="5" dirty="0">
                <a:latin typeface="Times New Roman"/>
                <a:cs typeface="Times New Roman"/>
              </a:rPr>
              <a:t>the </a:t>
            </a:r>
            <a:r>
              <a:rPr sz="1400" dirty="0">
                <a:latin typeface="Times New Roman"/>
                <a:cs typeface="Times New Roman"/>
              </a:rPr>
              <a:t>other planets, and gives </a:t>
            </a:r>
            <a:r>
              <a:rPr sz="1400" spc="-5" dirty="0">
                <a:latin typeface="Times New Roman"/>
                <a:cs typeface="Times New Roman"/>
              </a:rPr>
              <a:t>an  </a:t>
            </a:r>
            <a:r>
              <a:rPr sz="1400" dirty="0">
                <a:latin typeface="Times New Roman"/>
                <a:cs typeface="Times New Roman"/>
              </a:rPr>
              <a:t>elaborate list of the kingdoms, tribes,  provinces, cities, </a:t>
            </a:r>
            <a:r>
              <a:rPr sz="1400" spc="5" dirty="0">
                <a:latin typeface="Times New Roman"/>
                <a:cs typeface="Times New Roman"/>
              </a:rPr>
              <a:t>towns, </a:t>
            </a:r>
            <a:r>
              <a:rPr sz="1400" dirty="0">
                <a:latin typeface="Times New Roman"/>
                <a:cs typeface="Times New Roman"/>
              </a:rPr>
              <a:t>villages, rivers,  mountains, forests, etc. of</a:t>
            </a:r>
            <a:r>
              <a:rPr sz="1400" spc="260" dirty="0">
                <a:latin typeface="Times New Roman"/>
                <a:cs typeface="Times New Roman"/>
              </a:rPr>
              <a:t> </a:t>
            </a:r>
            <a:r>
              <a:rPr sz="1400" dirty="0">
                <a:latin typeface="Times New Roman"/>
                <a:cs typeface="Times New Roman"/>
              </a:rPr>
              <a:t>Bharatavarsha.</a:t>
            </a:r>
          </a:p>
          <a:p>
            <a:pPr marL="12700" marR="47625">
              <a:lnSpc>
                <a:spcPct val="100000"/>
              </a:lnSpc>
              <a:spcBef>
                <a:spcPts val="340"/>
              </a:spcBef>
            </a:pPr>
            <a:r>
              <a:rPr sz="1400" dirty="0">
                <a:latin typeface="Times New Roman"/>
                <a:cs typeface="Times New Roman"/>
              </a:rPr>
              <a:t>He also explains the </a:t>
            </a:r>
            <a:r>
              <a:rPr sz="1400" spc="-5" dirty="0">
                <a:latin typeface="Times New Roman"/>
                <a:cs typeface="Times New Roman"/>
              </a:rPr>
              <a:t>military </a:t>
            </a:r>
            <a:r>
              <a:rPr sz="1400" dirty="0">
                <a:latin typeface="Times New Roman"/>
                <a:cs typeface="Times New Roman"/>
              </a:rPr>
              <a:t>formations  adopted on each </a:t>
            </a:r>
            <a:r>
              <a:rPr sz="1400" spc="-5" dirty="0">
                <a:latin typeface="Times New Roman"/>
                <a:cs typeface="Times New Roman"/>
              </a:rPr>
              <a:t>day, </a:t>
            </a:r>
            <a:r>
              <a:rPr sz="1400" spc="5" dirty="0">
                <a:latin typeface="Times New Roman"/>
                <a:cs typeface="Times New Roman"/>
              </a:rPr>
              <a:t>the </a:t>
            </a:r>
            <a:r>
              <a:rPr sz="1400" dirty="0">
                <a:latin typeface="Times New Roman"/>
                <a:cs typeface="Times New Roman"/>
              </a:rPr>
              <a:t>death of </a:t>
            </a:r>
            <a:r>
              <a:rPr sz="1400" spc="-5" dirty="0">
                <a:latin typeface="Times New Roman"/>
                <a:cs typeface="Times New Roman"/>
              </a:rPr>
              <a:t>each </a:t>
            </a:r>
            <a:r>
              <a:rPr sz="1400" dirty="0">
                <a:latin typeface="Times New Roman"/>
                <a:cs typeface="Times New Roman"/>
              </a:rPr>
              <a:t>hero  and </a:t>
            </a:r>
            <a:r>
              <a:rPr sz="1400" spc="5" dirty="0">
                <a:latin typeface="Times New Roman"/>
                <a:cs typeface="Times New Roman"/>
              </a:rPr>
              <a:t>the </a:t>
            </a:r>
            <a:r>
              <a:rPr sz="1400" dirty="0">
                <a:latin typeface="Times New Roman"/>
                <a:cs typeface="Times New Roman"/>
              </a:rPr>
              <a:t>details of </a:t>
            </a:r>
            <a:r>
              <a:rPr sz="1400" spc="-5" dirty="0">
                <a:latin typeface="Times New Roman"/>
                <a:cs typeface="Times New Roman"/>
              </a:rPr>
              <a:t>each</a:t>
            </a:r>
            <a:r>
              <a:rPr sz="1400" spc="-20" dirty="0">
                <a:latin typeface="Times New Roman"/>
                <a:cs typeface="Times New Roman"/>
              </a:rPr>
              <a:t> </a:t>
            </a:r>
            <a:r>
              <a:rPr sz="1400" dirty="0">
                <a:latin typeface="Times New Roman"/>
                <a:cs typeface="Times New Roman"/>
              </a:rPr>
              <a:t>battle.</a:t>
            </a:r>
          </a:p>
        </p:txBody>
      </p:sp>
      <p:sp>
        <p:nvSpPr>
          <p:cNvPr id="14" name="object 14"/>
          <p:cNvSpPr/>
          <p:nvPr/>
        </p:nvSpPr>
        <p:spPr>
          <a:xfrm>
            <a:off x="4951729" y="1752600"/>
            <a:ext cx="3735070" cy="4114800"/>
          </a:xfrm>
          <a:prstGeom prst="rect">
            <a:avLst/>
          </a:prstGeom>
          <a:blipFill>
            <a:blip r:embed="rId4" cstate="print"/>
            <a:stretch>
              <a:fillRect/>
            </a:stretch>
          </a:blipFill>
        </p:spPr>
        <p:txBody>
          <a:bodyPr wrap="square" lIns="0" tIns="0" rIns="0" bIns="0" rtlCol="0"/>
          <a:lstStyle/>
          <a:p>
            <a:endParaRPr/>
          </a:p>
        </p:txBody>
      </p:sp>
      <p:sp>
        <p:nvSpPr>
          <p:cNvPr id="15" name="Title 1"/>
          <p:cNvSpPr txBox="1">
            <a:spLocks/>
          </p:cNvSpPr>
          <p:nvPr/>
        </p:nvSpPr>
        <p:spPr>
          <a:xfrm>
            <a:off x="1487169"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37465">
              <a:lnSpc>
                <a:spcPct val="100000"/>
              </a:lnSpc>
              <a:spcBef>
                <a:spcPts val="100"/>
              </a:spcBef>
              <a:tabLst>
                <a:tab pos="4463415" algn="l"/>
              </a:tabLst>
            </a:pPr>
            <a:r>
              <a:rPr lang="en-US" sz="2800" spc="-5" dirty="0"/>
              <a:t>How </a:t>
            </a:r>
            <a:r>
              <a:rPr lang="en-US" sz="2800" dirty="0"/>
              <a:t>is </a:t>
            </a:r>
            <a:r>
              <a:rPr lang="en-US" sz="2800" spc="-5" dirty="0"/>
              <a:t>the</a:t>
            </a:r>
            <a:r>
              <a:rPr lang="en-US" sz="2800" spc="20" dirty="0"/>
              <a:t> </a:t>
            </a:r>
            <a:r>
              <a:rPr lang="en-US" sz="2800" spc="-5" dirty="0"/>
              <a:t>story</a:t>
            </a:r>
            <a:r>
              <a:rPr lang="en-US" sz="2800" spc="10" dirty="0"/>
              <a:t> </a:t>
            </a:r>
            <a:r>
              <a:rPr lang="en-US" sz="2800" dirty="0" smtClean="0"/>
              <a:t>of </a:t>
            </a:r>
            <a:r>
              <a:rPr lang="en-US" sz="2800" spc="-5" dirty="0" smtClean="0"/>
              <a:t>the</a:t>
            </a:r>
            <a:r>
              <a:rPr lang="en-US" sz="2800" spc="-15" dirty="0" smtClean="0"/>
              <a:t> </a:t>
            </a:r>
            <a:r>
              <a:rPr lang="en-US" sz="2800" spc="-5" dirty="0"/>
              <a:t>battle</a:t>
            </a:r>
          </a:p>
          <a:p>
            <a:pPr>
              <a:lnSpc>
                <a:spcPct val="100000"/>
              </a:lnSpc>
              <a:tabLst>
                <a:tab pos="3298825" algn="l"/>
                <a:tab pos="7670165" algn="l"/>
              </a:tabLst>
            </a:pPr>
            <a:r>
              <a:rPr lang="en-US" sz="2800" u="sng" dirty="0">
                <a:uFill>
                  <a:solidFill>
                    <a:srgbClr val="CABC82"/>
                  </a:solidFill>
                </a:uFill>
              </a:rPr>
              <a:t> 	told?</a:t>
            </a:r>
            <a:endParaRPr lang="en-US" sz="2800" b="1" dirty="0">
              <a:solidFill>
                <a:prstClr val="black"/>
              </a:solidFill>
              <a:latin typeface="Times New Roman" pitchFamily="18" charset="0"/>
              <a:cs typeface="Times New Roman" pitchFamily="18" charset="0"/>
            </a:endParaRPr>
          </a:p>
        </p:txBody>
      </p:sp>
      <p:pic>
        <p:nvPicPr>
          <p:cNvPr id="16" name="Picture 2" descr="E:\NIET\Project\xLogo11.png.pagespeed.ic.pydHLuCQEZ.png"/>
          <p:cNvPicPr>
            <a:picLocks noChangeAspect="1" noChangeArrowheads="1"/>
          </p:cNvPicPr>
          <p:nvPr/>
        </p:nvPicPr>
        <p:blipFill>
          <a:blip r:embed="rId5"/>
          <a:srcRect/>
          <a:stretch>
            <a:fillRect/>
          </a:stretch>
        </p:blipFill>
        <p:spPr bwMode="auto">
          <a:xfrm>
            <a:off x="-75800" y="-76841"/>
            <a:ext cx="1675981" cy="945952"/>
          </a:xfrm>
          <a:prstGeom prst="rect">
            <a:avLst/>
          </a:prstGeom>
          <a:noFill/>
        </p:spPr>
      </p:pic>
      <p:sp>
        <p:nvSpPr>
          <p:cNvPr id="18" name="Date Placeholder 17"/>
          <p:cNvSpPr>
            <a:spLocks noGrp="1"/>
          </p:cNvSpPr>
          <p:nvPr>
            <p:ph type="dt" sz="half" idx="10"/>
          </p:nvPr>
        </p:nvSpPr>
        <p:spPr/>
        <p:txBody>
          <a:bodyPr/>
          <a:lstStyle/>
          <a:p>
            <a:fld id="{4883C167-CCE5-435F-853E-B5A315BF5B3A}" type="datetime1">
              <a:rPr lang="en-US" smtClean="0"/>
              <a:t>1/14/2022</a:t>
            </a:fld>
            <a:endParaRPr lang="en-US"/>
          </a:p>
        </p:txBody>
      </p:sp>
      <p:sp>
        <p:nvSpPr>
          <p:cNvPr id="19" name="Footer Placeholder 18"/>
          <p:cNvSpPr>
            <a:spLocks noGrp="1"/>
          </p:cNvSpPr>
          <p:nvPr>
            <p:ph type="ftr" sz="quarter" idx="11"/>
          </p:nvPr>
        </p:nvSpPr>
        <p:spPr/>
        <p:txBody>
          <a:bodyPr/>
          <a:lstStyle/>
          <a:p>
            <a:r>
              <a:rPr lang="fi-FI" smtClean="0"/>
              <a:t>Dr.Ankita Shukla KNC 602                                   Unit :2</a:t>
            </a:r>
            <a:endParaRPr lang="en-US" dirty="0"/>
          </a:p>
        </p:txBody>
      </p:sp>
      <p:sp>
        <p:nvSpPr>
          <p:cNvPr id="20" name="Slide Number Placeholder 19"/>
          <p:cNvSpPr>
            <a:spLocks noGrp="1"/>
          </p:cNvSpPr>
          <p:nvPr>
            <p:ph type="sldNum" sz="quarter" idx="12"/>
          </p:nvPr>
        </p:nvSpPr>
        <p:spPr/>
        <p:txBody>
          <a:bodyPr/>
          <a:lstStyle/>
          <a:p>
            <a:fld id="{5C85F1CB-02EA-4782-B654-3ECBE6236E9C}" type="slidenum">
              <a:rPr lang="en-US" smtClean="0"/>
              <a:pPr/>
              <a:t>36</a:t>
            </a:fld>
            <a:endParaRPr lang="en-US"/>
          </a:p>
        </p:txBody>
      </p:sp>
    </p:spTree>
    <p:extLst>
      <p:ext uri="{BB962C8B-B14F-4D97-AF65-F5344CB8AC3E}">
        <p14:creationId xmlns:p14="http://schemas.microsoft.com/office/powerpoint/2010/main" xmlns="" val="1357094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52600"/>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4" name="object 4"/>
          <p:cNvSpPr txBox="1"/>
          <p:nvPr/>
        </p:nvSpPr>
        <p:spPr>
          <a:xfrm>
            <a:off x="1144269" y="2372359"/>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5" name="object 5"/>
          <p:cNvSpPr txBox="1"/>
          <p:nvPr/>
        </p:nvSpPr>
        <p:spPr>
          <a:xfrm>
            <a:off x="1144269" y="2990850"/>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6" name="object 6"/>
          <p:cNvSpPr txBox="1"/>
          <p:nvPr/>
        </p:nvSpPr>
        <p:spPr>
          <a:xfrm>
            <a:off x="1144269" y="3801109"/>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7" name="object 7"/>
          <p:cNvSpPr txBox="1"/>
          <p:nvPr/>
        </p:nvSpPr>
        <p:spPr>
          <a:xfrm>
            <a:off x="1144269" y="4419600"/>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8" name="object 8"/>
          <p:cNvSpPr txBox="1"/>
          <p:nvPr/>
        </p:nvSpPr>
        <p:spPr>
          <a:xfrm>
            <a:off x="1144269" y="4847590"/>
            <a:ext cx="8826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Times New Roman"/>
                <a:cs typeface="Times New Roman"/>
              </a:rPr>
              <a:t>•</a:t>
            </a:r>
            <a:endParaRPr sz="1400">
              <a:latin typeface="Times New Roman"/>
              <a:cs typeface="Times New Roman"/>
            </a:endParaRPr>
          </a:p>
        </p:txBody>
      </p:sp>
      <p:sp>
        <p:nvSpPr>
          <p:cNvPr id="9" name="object 9"/>
          <p:cNvSpPr txBox="1"/>
          <p:nvPr/>
        </p:nvSpPr>
        <p:spPr>
          <a:xfrm>
            <a:off x="1487169" y="1765300"/>
            <a:ext cx="3192780" cy="3716020"/>
          </a:xfrm>
          <a:prstGeom prst="rect">
            <a:avLst/>
          </a:prstGeom>
        </p:spPr>
        <p:txBody>
          <a:bodyPr vert="horz" wrap="square" lIns="0" tIns="34925" rIns="0" bIns="0" rtlCol="0">
            <a:spAutoFit/>
          </a:bodyPr>
          <a:lstStyle/>
          <a:p>
            <a:pPr marL="12700" marR="116205">
              <a:lnSpc>
                <a:spcPct val="89600"/>
              </a:lnSpc>
              <a:spcBef>
                <a:spcPts val="275"/>
              </a:spcBef>
            </a:pPr>
            <a:r>
              <a:rPr sz="1400" spc="-5" dirty="0">
                <a:latin typeface="Times New Roman"/>
                <a:cs typeface="Times New Roman"/>
              </a:rPr>
              <a:t>The </a:t>
            </a:r>
            <a:r>
              <a:rPr sz="1400" i="1" dirty="0">
                <a:latin typeface="Times New Roman"/>
                <a:cs typeface="Times New Roman"/>
              </a:rPr>
              <a:t>Bhagwad </a:t>
            </a:r>
            <a:r>
              <a:rPr sz="1400" i="1" spc="5" dirty="0">
                <a:latin typeface="Times New Roman"/>
                <a:cs typeface="Times New Roman"/>
              </a:rPr>
              <a:t>Gita, </a:t>
            </a:r>
            <a:r>
              <a:rPr sz="1400" dirty="0">
                <a:latin typeface="Times New Roman"/>
                <a:cs typeface="Times New Roman"/>
              </a:rPr>
              <a:t>one of the </a:t>
            </a:r>
            <a:r>
              <a:rPr sz="1400" spc="-5" dirty="0">
                <a:latin typeface="Times New Roman"/>
                <a:cs typeface="Times New Roman"/>
              </a:rPr>
              <a:t>most sacred  </a:t>
            </a:r>
            <a:r>
              <a:rPr sz="1400" dirty="0">
                <a:latin typeface="Times New Roman"/>
                <a:cs typeface="Times New Roman"/>
              </a:rPr>
              <a:t>texts of </a:t>
            </a:r>
            <a:r>
              <a:rPr sz="1400" spc="5" dirty="0">
                <a:latin typeface="Times New Roman"/>
                <a:cs typeface="Times New Roman"/>
              </a:rPr>
              <a:t>the </a:t>
            </a:r>
            <a:r>
              <a:rPr sz="1400" dirty="0">
                <a:latin typeface="Times New Roman"/>
                <a:cs typeface="Times New Roman"/>
              </a:rPr>
              <a:t>Hindus, constitutes </a:t>
            </a:r>
            <a:r>
              <a:rPr sz="1400" spc="-10" dirty="0">
                <a:latin typeface="Times New Roman"/>
                <a:cs typeface="Times New Roman"/>
              </a:rPr>
              <a:t>some </a:t>
            </a:r>
            <a:r>
              <a:rPr sz="1400" dirty="0">
                <a:latin typeface="Times New Roman"/>
                <a:cs typeface="Times New Roman"/>
              </a:rPr>
              <a:t>18  chapters of </a:t>
            </a:r>
            <a:r>
              <a:rPr sz="1400" spc="5" dirty="0">
                <a:latin typeface="Times New Roman"/>
                <a:cs typeface="Times New Roman"/>
              </a:rPr>
              <a:t>the</a:t>
            </a:r>
            <a:r>
              <a:rPr sz="1400" spc="-20" dirty="0">
                <a:latin typeface="Times New Roman"/>
                <a:cs typeface="Times New Roman"/>
              </a:rPr>
              <a:t> </a:t>
            </a:r>
            <a:r>
              <a:rPr sz="1400" spc="-5" dirty="0">
                <a:latin typeface="Times New Roman"/>
                <a:cs typeface="Times New Roman"/>
              </a:rPr>
              <a:t>Mahabharata.</a:t>
            </a:r>
            <a:endParaRPr sz="1400">
              <a:latin typeface="Times New Roman"/>
              <a:cs typeface="Times New Roman"/>
            </a:endParaRPr>
          </a:p>
          <a:p>
            <a:pPr marL="12700" marR="66675">
              <a:lnSpc>
                <a:spcPts val="1510"/>
              </a:lnSpc>
              <a:spcBef>
                <a:spcPts val="370"/>
              </a:spcBef>
            </a:pPr>
            <a:r>
              <a:rPr sz="1400" spc="-5" dirty="0">
                <a:latin typeface="Times New Roman"/>
                <a:cs typeface="Times New Roman"/>
              </a:rPr>
              <a:t>The </a:t>
            </a:r>
            <a:r>
              <a:rPr sz="1400" i="1" dirty="0">
                <a:latin typeface="Times New Roman"/>
                <a:cs typeface="Times New Roman"/>
              </a:rPr>
              <a:t>Gita </a:t>
            </a:r>
            <a:r>
              <a:rPr sz="1400" spc="5" dirty="0">
                <a:latin typeface="Times New Roman"/>
                <a:cs typeface="Times New Roman"/>
              </a:rPr>
              <a:t>is </a:t>
            </a:r>
            <a:r>
              <a:rPr sz="1400" dirty="0">
                <a:latin typeface="Times New Roman"/>
                <a:cs typeface="Times New Roman"/>
              </a:rPr>
              <a:t>the conversation between </a:t>
            </a:r>
            <a:r>
              <a:rPr sz="1400" spc="-5" dirty="0">
                <a:latin typeface="Times New Roman"/>
                <a:cs typeface="Times New Roman"/>
              </a:rPr>
              <a:t>Lord  </a:t>
            </a:r>
            <a:r>
              <a:rPr sz="1400" dirty="0">
                <a:latin typeface="Times New Roman"/>
                <a:cs typeface="Times New Roman"/>
              </a:rPr>
              <a:t>Krishna and Arjuna </a:t>
            </a:r>
            <a:r>
              <a:rPr sz="1400" spc="-5" dirty="0">
                <a:latin typeface="Times New Roman"/>
                <a:cs typeface="Times New Roman"/>
              </a:rPr>
              <a:t>before </a:t>
            </a:r>
            <a:r>
              <a:rPr sz="1400" dirty="0">
                <a:latin typeface="Times New Roman"/>
                <a:cs typeface="Times New Roman"/>
              </a:rPr>
              <a:t>the battle of  Kurukshetra.</a:t>
            </a:r>
            <a:endParaRPr sz="1400">
              <a:latin typeface="Times New Roman"/>
              <a:cs typeface="Times New Roman"/>
            </a:endParaRPr>
          </a:p>
          <a:p>
            <a:pPr marL="12700" marR="5080">
              <a:lnSpc>
                <a:spcPts val="1510"/>
              </a:lnSpc>
              <a:spcBef>
                <a:spcPts val="340"/>
              </a:spcBef>
            </a:pPr>
            <a:r>
              <a:rPr sz="1400" dirty="0">
                <a:latin typeface="Times New Roman"/>
                <a:cs typeface="Times New Roman"/>
              </a:rPr>
              <a:t>Arjuna wonders </a:t>
            </a:r>
            <a:r>
              <a:rPr sz="1400" spc="5" dirty="0">
                <a:latin typeface="Times New Roman"/>
                <a:cs typeface="Times New Roman"/>
              </a:rPr>
              <a:t>if it is </a:t>
            </a:r>
            <a:r>
              <a:rPr sz="1400" dirty="0">
                <a:latin typeface="Times New Roman"/>
                <a:cs typeface="Times New Roman"/>
              </a:rPr>
              <a:t>right </a:t>
            </a:r>
            <a:r>
              <a:rPr sz="1400" spc="5" dirty="0">
                <a:latin typeface="Times New Roman"/>
                <a:cs typeface="Times New Roman"/>
              </a:rPr>
              <a:t>to </a:t>
            </a:r>
            <a:r>
              <a:rPr sz="1400" dirty="0">
                <a:latin typeface="Times New Roman"/>
                <a:cs typeface="Times New Roman"/>
              </a:rPr>
              <a:t>fight his own  cousins, and Krishna explains </a:t>
            </a:r>
            <a:r>
              <a:rPr sz="1400" spc="5" dirty="0">
                <a:latin typeface="Times New Roman"/>
                <a:cs typeface="Times New Roman"/>
              </a:rPr>
              <a:t>his </a:t>
            </a:r>
            <a:r>
              <a:rPr sz="1400" dirty="0">
                <a:latin typeface="Times New Roman"/>
                <a:cs typeface="Times New Roman"/>
              </a:rPr>
              <a:t>duties </a:t>
            </a:r>
            <a:r>
              <a:rPr sz="1400" spc="-5" dirty="0">
                <a:latin typeface="Times New Roman"/>
                <a:cs typeface="Times New Roman"/>
              </a:rPr>
              <a:t>as  </a:t>
            </a:r>
            <a:r>
              <a:rPr sz="1400" dirty="0">
                <a:latin typeface="Times New Roman"/>
                <a:cs typeface="Times New Roman"/>
              </a:rPr>
              <a:t>a warrior and prince </a:t>
            </a:r>
            <a:r>
              <a:rPr sz="1400" spc="5" dirty="0">
                <a:latin typeface="Times New Roman"/>
                <a:cs typeface="Times New Roman"/>
              </a:rPr>
              <a:t>to him </a:t>
            </a:r>
            <a:r>
              <a:rPr sz="1400" dirty="0">
                <a:latin typeface="Times New Roman"/>
                <a:cs typeface="Times New Roman"/>
              </a:rPr>
              <a:t>and </a:t>
            </a:r>
            <a:r>
              <a:rPr sz="1400" spc="5" dirty="0">
                <a:latin typeface="Times New Roman"/>
                <a:cs typeface="Times New Roman"/>
              </a:rPr>
              <a:t>the  </a:t>
            </a:r>
            <a:r>
              <a:rPr sz="1400" spc="-5" dirty="0">
                <a:latin typeface="Times New Roman"/>
                <a:cs typeface="Times New Roman"/>
              </a:rPr>
              <a:t>importance </a:t>
            </a:r>
            <a:r>
              <a:rPr sz="1400" dirty="0">
                <a:latin typeface="Times New Roman"/>
                <a:cs typeface="Times New Roman"/>
              </a:rPr>
              <a:t>of appropriate</a:t>
            </a:r>
            <a:r>
              <a:rPr sz="1400" spc="-20" dirty="0">
                <a:latin typeface="Times New Roman"/>
                <a:cs typeface="Times New Roman"/>
              </a:rPr>
              <a:t> </a:t>
            </a:r>
            <a:r>
              <a:rPr sz="1400" dirty="0">
                <a:latin typeface="Times New Roman"/>
                <a:cs typeface="Times New Roman"/>
              </a:rPr>
              <a:t>action.</a:t>
            </a:r>
            <a:endParaRPr sz="1400">
              <a:latin typeface="Times New Roman"/>
              <a:cs typeface="Times New Roman"/>
            </a:endParaRPr>
          </a:p>
          <a:p>
            <a:pPr marL="12700" marR="251460">
              <a:lnSpc>
                <a:spcPts val="1510"/>
              </a:lnSpc>
              <a:spcBef>
                <a:spcPts val="340"/>
              </a:spcBef>
            </a:pPr>
            <a:r>
              <a:rPr sz="1400" spc="-5" dirty="0">
                <a:latin typeface="Times New Roman"/>
                <a:cs typeface="Times New Roman"/>
              </a:rPr>
              <a:t>This </a:t>
            </a:r>
            <a:r>
              <a:rPr sz="1400" dirty="0">
                <a:latin typeface="Times New Roman"/>
                <a:cs typeface="Times New Roman"/>
              </a:rPr>
              <a:t>has led </a:t>
            </a:r>
            <a:r>
              <a:rPr sz="1400" spc="5" dirty="0">
                <a:latin typeface="Times New Roman"/>
                <a:cs typeface="Times New Roman"/>
              </a:rPr>
              <a:t>to the </a:t>
            </a:r>
            <a:r>
              <a:rPr sz="1400" i="1" dirty="0">
                <a:latin typeface="Times New Roman"/>
                <a:cs typeface="Times New Roman"/>
              </a:rPr>
              <a:t>Gita </a:t>
            </a:r>
            <a:r>
              <a:rPr sz="1400" dirty="0">
                <a:latin typeface="Times New Roman"/>
                <a:cs typeface="Times New Roman"/>
              </a:rPr>
              <a:t>often being  described </a:t>
            </a:r>
            <a:r>
              <a:rPr sz="1400" spc="-5" dirty="0">
                <a:latin typeface="Times New Roman"/>
                <a:cs typeface="Times New Roman"/>
              </a:rPr>
              <a:t>as </a:t>
            </a:r>
            <a:r>
              <a:rPr sz="1400" dirty="0">
                <a:latin typeface="Times New Roman"/>
                <a:cs typeface="Times New Roman"/>
              </a:rPr>
              <a:t>a practical guide </a:t>
            </a:r>
            <a:r>
              <a:rPr sz="1400" spc="5" dirty="0">
                <a:latin typeface="Times New Roman"/>
                <a:cs typeface="Times New Roman"/>
              </a:rPr>
              <a:t>to </a:t>
            </a:r>
            <a:r>
              <a:rPr sz="1400" dirty="0">
                <a:latin typeface="Times New Roman"/>
                <a:cs typeface="Times New Roman"/>
              </a:rPr>
              <a:t>life and  living.</a:t>
            </a:r>
            <a:endParaRPr sz="1400">
              <a:latin typeface="Times New Roman"/>
              <a:cs typeface="Times New Roman"/>
            </a:endParaRPr>
          </a:p>
          <a:p>
            <a:pPr marL="12700" marR="214629">
              <a:lnSpc>
                <a:spcPts val="1500"/>
              </a:lnSpc>
              <a:spcBef>
                <a:spcPts val="359"/>
              </a:spcBef>
            </a:pPr>
            <a:r>
              <a:rPr sz="1400" dirty="0">
                <a:latin typeface="Times New Roman"/>
                <a:cs typeface="Times New Roman"/>
              </a:rPr>
              <a:t>Krishna stressed that the soul </a:t>
            </a:r>
            <a:r>
              <a:rPr sz="1400" spc="5" dirty="0">
                <a:latin typeface="Times New Roman"/>
                <a:cs typeface="Times New Roman"/>
              </a:rPr>
              <a:t>is </a:t>
            </a:r>
            <a:r>
              <a:rPr sz="1400" spc="-5" dirty="0">
                <a:latin typeface="Times New Roman"/>
                <a:cs typeface="Times New Roman"/>
              </a:rPr>
              <a:t>immortal  </a:t>
            </a:r>
            <a:r>
              <a:rPr sz="1400" dirty="0">
                <a:latin typeface="Times New Roman"/>
                <a:cs typeface="Times New Roman"/>
              </a:rPr>
              <a:t>and </a:t>
            </a:r>
            <a:r>
              <a:rPr sz="1400" spc="5" dirty="0">
                <a:latin typeface="Times New Roman"/>
                <a:cs typeface="Times New Roman"/>
              </a:rPr>
              <a:t>the </a:t>
            </a:r>
            <a:r>
              <a:rPr sz="1400" dirty="0">
                <a:latin typeface="Times New Roman"/>
                <a:cs typeface="Times New Roman"/>
              </a:rPr>
              <a:t>body</a:t>
            </a:r>
            <a:r>
              <a:rPr sz="1400" spc="-35" dirty="0">
                <a:latin typeface="Times New Roman"/>
                <a:cs typeface="Times New Roman"/>
              </a:rPr>
              <a:t> </a:t>
            </a:r>
            <a:r>
              <a:rPr sz="1400" dirty="0">
                <a:latin typeface="Times New Roman"/>
                <a:cs typeface="Times New Roman"/>
              </a:rPr>
              <a:t>perishable.</a:t>
            </a:r>
            <a:endParaRPr sz="1400">
              <a:latin typeface="Times New Roman"/>
              <a:cs typeface="Times New Roman"/>
            </a:endParaRPr>
          </a:p>
          <a:p>
            <a:pPr marL="12700" marR="55244">
              <a:lnSpc>
                <a:spcPts val="1510"/>
              </a:lnSpc>
              <a:spcBef>
                <a:spcPts val="350"/>
              </a:spcBef>
            </a:pPr>
            <a:r>
              <a:rPr sz="1400" dirty="0">
                <a:latin typeface="Times New Roman"/>
                <a:cs typeface="Times New Roman"/>
              </a:rPr>
              <a:t>He finally reveals </a:t>
            </a:r>
            <a:r>
              <a:rPr sz="1400" spc="5" dirty="0">
                <a:latin typeface="Times New Roman"/>
                <a:cs typeface="Times New Roman"/>
              </a:rPr>
              <a:t>his </a:t>
            </a:r>
            <a:r>
              <a:rPr sz="1400" dirty="0">
                <a:latin typeface="Times New Roman"/>
                <a:cs typeface="Times New Roman"/>
              </a:rPr>
              <a:t>identity as the  </a:t>
            </a:r>
            <a:r>
              <a:rPr sz="1400" spc="-5" dirty="0">
                <a:latin typeface="Times New Roman"/>
                <a:cs typeface="Times New Roman"/>
              </a:rPr>
              <a:t>Supreme </a:t>
            </a:r>
            <a:r>
              <a:rPr sz="1400" dirty="0">
                <a:latin typeface="Times New Roman"/>
                <a:cs typeface="Times New Roman"/>
              </a:rPr>
              <a:t>Being Himself and blesses Arjuna  with an awe-inspiring</a:t>
            </a:r>
            <a:r>
              <a:rPr sz="1400" spc="-10" dirty="0">
                <a:latin typeface="Times New Roman"/>
                <a:cs typeface="Times New Roman"/>
              </a:rPr>
              <a:t> </a:t>
            </a:r>
            <a:r>
              <a:rPr sz="1400" dirty="0">
                <a:latin typeface="Times New Roman"/>
                <a:cs typeface="Times New Roman"/>
              </a:rPr>
              <a:t>vision.</a:t>
            </a:r>
            <a:endParaRPr sz="1400">
              <a:latin typeface="Times New Roman"/>
              <a:cs typeface="Times New Roman"/>
            </a:endParaRPr>
          </a:p>
        </p:txBody>
      </p:sp>
      <p:sp>
        <p:nvSpPr>
          <p:cNvPr id="10" name="object 10"/>
          <p:cNvSpPr/>
          <p:nvPr/>
        </p:nvSpPr>
        <p:spPr>
          <a:xfrm>
            <a:off x="4801870" y="1981200"/>
            <a:ext cx="3884929" cy="3886200"/>
          </a:xfrm>
          <a:prstGeom prst="rect">
            <a:avLst/>
          </a:prstGeom>
          <a:blipFill>
            <a:blip r:embed="rId2" cstate="print"/>
            <a:stretch>
              <a:fillRect/>
            </a:stretch>
          </a:blipFill>
        </p:spPr>
        <p:txBody>
          <a:bodyPr wrap="square" lIns="0" tIns="0" rIns="0" bIns="0" rtlCol="0"/>
          <a:lstStyle/>
          <a:p>
            <a:endParaRPr/>
          </a:p>
        </p:txBody>
      </p:sp>
      <p:sp>
        <p:nvSpPr>
          <p:cNvPr id="11"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The </a:t>
            </a:r>
            <a:r>
              <a:rPr lang="en-US" sz="2800" i="1" spc="-5" dirty="0" err="1">
                <a:latin typeface="Times New Roman"/>
                <a:cs typeface="Times New Roman"/>
              </a:rPr>
              <a:t>Bhagwad</a:t>
            </a:r>
            <a:r>
              <a:rPr lang="en-US" sz="2800" i="1" spc="-25" dirty="0">
                <a:latin typeface="Times New Roman"/>
                <a:cs typeface="Times New Roman"/>
              </a:rPr>
              <a:t> </a:t>
            </a:r>
            <a:r>
              <a:rPr lang="en-US" sz="2800" i="1" spc="-5" dirty="0">
                <a:latin typeface="Times New Roman"/>
                <a:cs typeface="Times New Roman"/>
              </a:rPr>
              <a:t>Gita</a:t>
            </a:r>
            <a:endParaRPr lang="en-US" sz="2800" b="1" dirty="0">
              <a:solidFill>
                <a:prstClr val="black"/>
              </a:solidFill>
              <a:latin typeface="Times New Roman" pitchFamily="18" charset="0"/>
              <a:cs typeface="Times New Roman" pitchFamily="18" charset="0"/>
            </a:endParaRPr>
          </a:p>
        </p:txBody>
      </p:sp>
      <p:pic>
        <p:nvPicPr>
          <p:cNvPr id="12"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3" name="Date Placeholder 12"/>
          <p:cNvSpPr>
            <a:spLocks noGrp="1"/>
          </p:cNvSpPr>
          <p:nvPr>
            <p:ph type="dt" sz="half" idx="10"/>
          </p:nvPr>
        </p:nvSpPr>
        <p:spPr/>
        <p:txBody>
          <a:bodyPr/>
          <a:lstStyle/>
          <a:p>
            <a:fld id="{732E88EF-7654-4BAC-BCC7-C8B23EEE1D91}" type="datetime1">
              <a:rPr lang="en-US" smtClean="0"/>
              <a:t>1/14/2022</a:t>
            </a:fld>
            <a:endParaRPr lang="en-US"/>
          </a:p>
        </p:txBody>
      </p:sp>
      <p:sp>
        <p:nvSpPr>
          <p:cNvPr id="14" name="Footer Placeholder 13"/>
          <p:cNvSpPr>
            <a:spLocks noGrp="1"/>
          </p:cNvSpPr>
          <p:nvPr>
            <p:ph type="ftr" sz="quarter" idx="11"/>
          </p:nvPr>
        </p:nvSpPr>
        <p:spPr/>
        <p:txBody>
          <a:bodyPr/>
          <a:lstStyle/>
          <a:p>
            <a:r>
              <a:rPr lang="fi-FI" smtClean="0"/>
              <a:t>Dr.Ankita Shukla KNC 602                                   Unit :2</a:t>
            </a:r>
            <a:endParaRPr lang="en-US" dirty="0"/>
          </a:p>
        </p:txBody>
      </p:sp>
      <p:sp>
        <p:nvSpPr>
          <p:cNvPr id="15" name="Slide Number Placeholder 14"/>
          <p:cNvSpPr>
            <a:spLocks noGrp="1"/>
          </p:cNvSpPr>
          <p:nvPr>
            <p:ph type="sldNum" sz="quarter" idx="12"/>
          </p:nvPr>
        </p:nvSpPr>
        <p:spPr/>
        <p:txBody>
          <a:bodyPr/>
          <a:lstStyle/>
          <a:p>
            <a:fld id="{5C85F1CB-02EA-4782-B654-3ECBE6236E9C}" type="slidenum">
              <a:rPr lang="en-US" smtClean="0"/>
              <a:pPr/>
              <a:t>37</a:t>
            </a:fld>
            <a:endParaRPr lang="en-US"/>
          </a:p>
        </p:txBody>
      </p:sp>
    </p:spTree>
    <p:extLst>
      <p:ext uri="{BB962C8B-B14F-4D97-AF65-F5344CB8AC3E}">
        <p14:creationId xmlns:p14="http://schemas.microsoft.com/office/powerpoint/2010/main" xmlns="" val="203591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8F6C57"/>
          </a:solidFill>
        </p:spPr>
        <p:txBody>
          <a:bodyPr wrap="square" lIns="0" tIns="0" rIns="0" bIns="0" rtlCol="0"/>
          <a:lstStyle/>
          <a:p>
            <a:endParaRPr/>
          </a:p>
        </p:txBody>
      </p:sp>
      <p:grpSp>
        <p:nvGrpSpPr>
          <p:cNvPr id="3" name="object 3"/>
          <p:cNvGrpSpPr/>
          <p:nvPr/>
        </p:nvGrpSpPr>
        <p:grpSpPr>
          <a:xfrm>
            <a:off x="0" y="52069"/>
            <a:ext cx="8848090" cy="6742430"/>
            <a:chOff x="0" y="52069"/>
            <a:chExt cx="8848090" cy="6742430"/>
          </a:xfrm>
        </p:grpSpPr>
        <p:sp>
          <p:nvSpPr>
            <p:cNvPr id="4" name="object 4"/>
            <p:cNvSpPr/>
            <p:nvPr/>
          </p:nvSpPr>
          <p:spPr>
            <a:xfrm>
              <a:off x="609600" y="228599"/>
              <a:ext cx="8238490" cy="6391910"/>
            </a:xfrm>
            <a:custGeom>
              <a:avLst/>
              <a:gdLst/>
              <a:ahLst/>
              <a:cxnLst/>
              <a:rect l="l" t="t" r="r" b="b"/>
              <a:pathLst>
                <a:path w="8238490" h="6391909">
                  <a:moveTo>
                    <a:pt x="8238490" y="0"/>
                  </a:moveTo>
                  <a:lnTo>
                    <a:pt x="0" y="0"/>
                  </a:lnTo>
                  <a:lnTo>
                    <a:pt x="0" y="6391910"/>
                  </a:lnTo>
                  <a:lnTo>
                    <a:pt x="8238490" y="6391910"/>
                  </a:lnTo>
                  <a:close/>
                </a:path>
              </a:pathLst>
            </a:custGeom>
            <a:solidFill>
              <a:srgbClr val="ECE6E2"/>
            </a:solidFill>
          </p:spPr>
          <p:txBody>
            <a:bodyPr wrap="square" lIns="0" tIns="0" rIns="0" bIns="0" rtlCol="0"/>
            <a:lstStyle/>
            <a:p>
              <a:endParaRPr/>
            </a:p>
          </p:txBody>
        </p:sp>
        <p:sp>
          <p:nvSpPr>
            <p:cNvPr id="5" name="object 5"/>
            <p:cNvSpPr/>
            <p:nvPr/>
          </p:nvSpPr>
          <p:spPr>
            <a:xfrm>
              <a:off x="0" y="52069"/>
              <a:ext cx="1181100" cy="405637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4222749"/>
              <a:ext cx="1181100" cy="2571750"/>
            </a:xfrm>
            <a:prstGeom prst="rect">
              <a:avLst/>
            </a:prstGeom>
            <a:blipFill>
              <a:blip r:embed="rId3" cstate="print"/>
              <a:stretch>
                <a:fillRect/>
              </a:stretch>
            </a:blipFill>
          </p:spPr>
          <p:txBody>
            <a:bodyPr wrap="square" lIns="0" tIns="0" rIns="0" bIns="0" rtlCol="0"/>
            <a:lstStyle/>
            <a:p>
              <a:endParaRPr/>
            </a:p>
          </p:txBody>
        </p:sp>
      </p:grpSp>
      <p:sp>
        <p:nvSpPr>
          <p:cNvPr id="8" name="object 8"/>
          <p:cNvSpPr txBox="1"/>
          <p:nvPr/>
        </p:nvSpPr>
        <p:spPr>
          <a:xfrm>
            <a:off x="1144269" y="347472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9" name="object 9"/>
          <p:cNvSpPr txBox="1"/>
          <p:nvPr/>
        </p:nvSpPr>
        <p:spPr>
          <a:xfrm>
            <a:off x="1144269" y="1786890"/>
            <a:ext cx="3561715" cy="3923029"/>
          </a:xfrm>
          <a:prstGeom prst="rect">
            <a:avLst/>
          </a:prstGeom>
        </p:spPr>
        <p:txBody>
          <a:bodyPr vert="horz" wrap="square" lIns="0" tIns="12700" rIns="0" bIns="0" rtlCol="0">
            <a:spAutoFit/>
          </a:bodyPr>
          <a:lstStyle/>
          <a:p>
            <a:pPr marL="355600" marR="5080" indent="-342900">
              <a:lnSpc>
                <a:spcPct val="100000"/>
              </a:lnSpc>
              <a:spcBef>
                <a:spcPts val="100"/>
              </a:spcBef>
              <a:buChar char="•"/>
              <a:tabLst>
                <a:tab pos="354965" algn="l"/>
                <a:tab pos="355600" algn="l"/>
              </a:tabLst>
            </a:pPr>
            <a:r>
              <a:rPr sz="1800" spc="-5" dirty="0">
                <a:latin typeface="Times New Roman"/>
                <a:cs typeface="Times New Roman"/>
              </a:rPr>
              <a:t>Stories </a:t>
            </a:r>
            <a:r>
              <a:rPr sz="1800" dirty="0">
                <a:latin typeface="Times New Roman"/>
                <a:cs typeface="Times New Roman"/>
              </a:rPr>
              <a:t>from the </a:t>
            </a:r>
            <a:r>
              <a:rPr sz="1800" i="1" spc="-5" dirty="0">
                <a:latin typeface="Times New Roman"/>
                <a:cs typeface="Times New Roman"/>
              </a:rPr>
              <a:t>Mahabharata  </a:t>
            </a:r>
            <a:r>
              <a:rPr sz="1800" dirty="0">
                <a:latin typeface="Times New Roman"/>
                <a:cs typeface="Times New Roman"/>
              </a:rPr>
              <a:t>have </a:t>
            </a:r>
            <a:r>
              <a:rPr sz="1800" spc="-5" dirty="0">
                <a:latin typeface="Times New Roman"/>
                <a:cs typeface="Times New Roman"/>
              </a:rPr>
              <a:t>inspired </a:t>
            </a:r>
            <a:r>
              <a:rPr sz="1800" dirty="0">
                <a:latin typeface="Times New Roman"/>
                <a:cs typeface="Times New Roman"/>
              </a:rPr>
              <a:t>great </a:t>
            </a:r>
            <a:r>
              <a:rPr sz="1800" spc="-5" dirty="0">
                <a:latin typeface="Times New Roman"/>
                <a:cs typeface="Times New Roman"/>
              </a:rPr>
              <a:t>works </a:t>
            </a:r>
            <a:r>
              <a:rPr sz="1800" dirty="0">
                <a:latin typeface="Times New Roman"/>
                <a:cs typeface="Times New Roman"/>
              </a:rPr>
              <a:t>of </a:t>
            </a:r>
            <a:r>
              <a:rPr sz="1800" spc="-5" dirty="0">
                <a:latin typeface="Times New Roman"/>
                <a:cs typeface="Times New Roman"/>
              </a:rPr>
              <a:t>art  and literature </a:t>
            </a:r>
            <a:r>
              <a:rPr sz="1800" dirty="0">
                <a:latin typeface="Times New Roman"/>
                <a:cs typeface="Times New Roman"/>
              </a:rPr>
              <a:t>like </a:t>
            </a:r>
            <a:r>
              <a:rPr sz="1800" spc="-5" dirty="0">
                <a:latin typeface="Times New Roman"/>
                <a:cs typeface="Times New Roman"/>
              </a:rPr>
              <a:t>Kalidasa’s play  </a:t>
            </a:r>
            <a:r>
              <a:rPr sz="1800" i="1" spc="-5" dirty="0">
                <a:latin typeface="Times New Roman"/>
                <a:cs typeface="Times New Roman"/>
              </a:rPr>
              <a:t>Abhigyana </a:t>
            </a:r>
            <a:r>
              <a:rPr sz="1800" i="1" dirty="0">
                <a:latin typeface="Times New Roman"/>
                <a:cs typeface="Times New Roman"/>
              </a:rPr>
              <a:t>Shakuntalam </a:t>
            </a:r>
            <a:r>
              <a:rPr sz="1800" dirty="0">
                <a:latin typeface="Times New Roman"/>
                <a:cs typeface="Times New Roman"/>
              </a:rPr>
              <a:t>on </a:t>
            </a:r>
            <a:r>
              <a:rPr sz="1800" spc="-5" dirty="0">
                <a:latin typeface="Times New Roman"/>
                <a:cs typeface="Times New Roman"/>
              </a:rPr>
              <a:t>the  story </a:t>
            </a:r>
            <a:r>
              <a:rPr sz="1800" dirty="0">
                <a:latin typeface="Times New Roman"/>
                <a:cs typeface="Times New Roman"/>
              </a:rPr>
              <a:t>of </a:t>
            </a:r>
            <a:r>
              <a:rPr sz="1800" spc="-5" dirty="0">
                <a:latin typeface="Times New Roman"/>
                <a:cs typeface="Times New Roman"/>
              </a:rPr>
              <a:t>Shakuntala, and Raja Ravi  Verma’s</a:t>
            </a:r>
            <a:r>
              <a:rPr sz="1800" spc="-10" dirty="0">
                <a:latin typeface="Times New Roman"/>
                <a:cs typeface="Times New Roman"/>
              </a:rPr>
              <a:t> </a:t>
            </a:r>
            <a:r>
              <a:rPr sz="1800" spc="-5" dirty="0">
                <a:latin typeface="Times New Roman"/>
                <a:cs typeface="Times New Roman"/>
              </a:rPr>
              <a:t>paintings.</a:t>
            </a:r>
            <a:endParaRPr sz="1800" dirty="0">
              <a:latin typeface="Times New Roman"/>
              <a:cs typeface="Times New Roman"/>
            </a:endParaRPr>
          </a:p>
          <a:p>
            <a:pPr marL="355600" marR="167640">
              <a:lnSpc>
                <a:spcPct val="100000"/>
              </a:lnSpc>
              <a:spcBef>
                <a:spcPts val="450"/>
              </a:spcBef>
            </a:pPr>
            <a:r>
              <a:rPr sz="1800" spc="-5" dirty="0">
                <a:latin typeface="Times New Roman"/>
                <a:cs typeface="Times New Roman"/>
              </a:rPr>
              <a:t>Bhima’s </a:t>
            </a:r>
            <a:r>
              <a:rPr sz="1800" dirty="0">
                <a:latin typeface="Times New Roman"/>
                <a:cs typeface="Times New Roman"/>
              </a:rPr>
              <a:t>slaying of the </a:t>
            </a:r>
            <a:r>
              <a:rPr sz="1800" spc="-5" dirty="0">
                <a:latin typeface="Times New Roman"/>
                <a:cs typeface="Times New Roman"/>
              </a:rPr>
              <a:t>demon  Bakasura, the righteous </a:t>
            </a:r>
            <a:r>
              <a:rPr sz="1800" dirty="0">
                <a:latin typeface="Times New Roman"/>
                <a:cs typeface="Times New Roman"/>
              </a:rPr>
              <a:t>and truth  </a:t>
            </a:r>
            <a:r>
              <a:rPr sz="1800" spc="-5" dirty="0">
                <a:latin typeface="Times New Roman"/>
                <a:cs typeface="Times New Roman"/>
              </a:rPr>
              <a:t>loving Raja </a:t>
            </a:r>
            <a:r>
              <a:rPr sz="1800" dirty="0">
                <a:latin typeface="Times New Roman"/>
                <a:cs typeface="Times New Roman"/>
              </a:rPr>
              <a:t>Harishchandra, the  Akshayapatra or the </a:t>
            </a:r>
            <a:r>
              <a:rPr sz="1800" spc="-5" dirty="0">
                <a:latin typeface="Times New Roman"/>
                <a:cs typeface="Times New Roman"/>
              </a:rPr>
              <a:t>wondrous  vessel </a:t>
            </a:r>
            <a:r>
              <a:rPr sz="1800" dirty="0">
                <a:latin typeface="Times New Roman"/>
                <a:cs typeface="Times New Roman"/>
              </a:rPr>
              <a:t>of plenty, </a:t>
            </a:r>
            <a:r>
              <a:rPr sz="1800" spc="-5" dirty="0">
                <a:latin typeface="Times New Roman"/>
                <a:cs typeface="Times New Roman"/>
              </a:rPr>
              <a:t>Nala and  Damayanti, </a:t>
            </a:r>
            <a:r>
              <a:rPr sz="1800" dirty="0">
                <a:latin typeface="Times New Roman"/>
                <a:cs typeface="Times New Roman"/>
              </a:rPr>
              <a:t>Agastya and  </a:t>
            </a:r>
            <a:r>
              <a:rPr sz="1800" spc="-5" dirty="0">
                <a:latin typeface="Times New Roman"/>
                <a:cs typeface="Times New Roman"/>
              </a:rPr>
              <a:t>Lopamudra are </a:t>
            </a:r>
            <a:r>
              <a:rPr sz="1800" dirty="0">
                <a:latin typeface="Times New Roman"/>
                <a:cs typeface="Times New Roman"/>
              </a:rPr>
              <a:t>other </a:t>
            </a:r>
            <a:r>
              <a:rPr sz="1800" spc="-5" dirty="0">
                <a:latin typeface="Times New Roman"/>
                <a:cs typeface="Times New Roman"/>
              </a:rPr>
              <a:t>popular  stories </a:t>
            </a:r>
            <a:r>
              <a:rPr sz="1800" dirty="0">
                <a:latin typeface="Times New Roman"/>
                <a:cs typeface="Times New Roman"/>
              </a:rPr>
              <a:t>from the</a:t>
            </a:r>
            <a:r>
              <a:rPr sz="1800" spc="5" dirty="0">
                <a:latin typeface="Times New Roman"/>
                <a:cs typeface="Times New Roman"/>
              </a:rPr>
              <a:t> </a:t>
            </a:r>
            <a:r>
              <a:rPr sz="1800" i="1" spc="-5" dirty="0">
                <a:latin typeface="Times New Roman"/>
                <a:cs typeface="Times New Roman"/>
              </a:rPr>
              <a:t>Mahabharata.</a:t>
            </a:r>
            <a:endParaRPr sz="1800" dirty="0">
              <a:latin typeface="Times New Roman"/>
              <a:cs typeface="Times New Roman"/>
            </a:endParaRPr>
          </a:p>
        </p:txBody>
      </p:sp>
      <p:sp>
        <p:nvSpPr>
          <p:cNvPr id="10" name="object 10"/>
          <p:cNvSpPr/>
          <p:nvPr/>
        </p:nvSpPr>
        <p:spPr>
          <a:xfrm>
            <a:off x="4951729" y="1752600"/>
            <a:ext cx="3735070" cy="4114800"/>
          </a:xfrm>
          <a:prstGeom prst="rect">
            <a:avLst/>
          </a:prstGeom>
          <a:blipFill>
            <a:blip r:embed="rId4" cstate="print"/>
            <a:stretch>
              <a:fillRect/>
            </a:stretch>
          </a:blipFill>
        </p:spPr>
        <p:txBody>
          <a:bodyPr wrap="square" lIns="0" tIns="0" rIns="0" bIns="0" rtlCol="0"/>
          <a:lstStyle/>
          <a:p>
            <a:endParaRPr/>
          </a:p>
        </p:txBody>
      </p:sp>
      <p:sp>
        <p:nvSpPr>
          <p:cNvPr id="11"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45085" algn="ctr">
              <a:lnSpc>
                <a:spcPct val="100000"/>
              </a:lnSpc>
              <a:spcBef>
                <a:spcPts val="100"/>
              </a:spcBef>
            </a:pPr>
            <a:r>
              <a:rPr lang="en-US" sz="2800" i="1" dirty="0">
                <a:latin typeface="Times New Roman"/>
                <a:cs typeface="Times New Roman"/>
              </a:rPr>
              <a:t>Mahabharata </a:t>
            </a:r>
            <a:r>
              <a:rPr lang="en-US" sz="2800" spc="-5" dirty="0"/>
              <a:t>in art</a:t>
            </a:r>
            <a:r>
              <a:rPr lang="en-US" sz="2800" spc="30" dirty="0"/>
              <a:t> </a:t>
            </a:r>
            <a:r>
              <a:rPr lang="en-US" sz="2800" dirty="0"/>
              <a:t>and</a:t>
            </a:r>
          </a:p>
          <a:p>
            <a:pPr algn="ctr">
              <a:lnSpc>
                <a:spcPct val="100000"/>
              </a:lnSpc>
              <a:tabLst>
                <a:tab pos="2850515" algn="l"/>
                <a:tab pos="7670165" algn="l"/>
              </a:tabLst>
            </a:pPr>
            <a:r>
              <a:rPr lang="en-US" sz="2800" u="sng" dirty="0">
                <a:uFill>
                  <a:solidFill>
                    <a:srgbClr val="CABC82"/>
                  </a:solidFill>
                </a:uFill>
              </a:rPr>
              <a:t> 	</a:t>
            </a:r>
            <a:r>
              <a:rPr lang="en-US" sz="2800" u="sng" spc="-5" dirty="0">
                <a:uFill>
                  <a:solidFill>
                    <a:srgbClr val="CABC82"/>
                  </a:solidFill>
                </a:uFill>
              </a:rPr>
              <a:t>literature</a:t>
            </a:r>
            <a:endParaRPr lang="en-US" sz="2800" b="1" dirty="0">
              <a:solidFill>
                <a:prstClr val="black"/>
              </a:solidFill>
              <a:latin typeface="Times New Roman" pitchFamily="18" charset="0"/>
              <a:cs typeface="Times New Roman" pitchFamily="18" charset="0"/>
            </a:endParaRPr>
          </a:p>
        </p:txBody>
      </p:sp>
      <p:pic>
        <p:nvPicPr>
          <p:cNvPr id="12" name="Picture 2" descr="E:\NIET\Project\xLogo11.png.pagespeed.ic.pydHLuCQEZ.png"/>
          <p:cNvPicPr>
            <a:picLocks noChangeAspect="1" noChangeArrowheads="1"/>
          </p:cNvPicPr>
          <p:nvPr/>
        </p:nvPicPr>
        <p:blipFill>
          <a:blip r:embed="rId5"/>
          <a:srcRect/>
          <a:stretch>
            <a:fillRect/>
          </a:stretch>
        </p:blipFill>
        <p:spPr bwMode="auto">
          <a:xfrm>
            <a:off x="-75800" y="-76841"/>
            <a:ext cx="1675981" cy="945952"/>
          </a:xfrm>
          <a:prstGeom prst="rect">
            <a:avLst/>
          </a:prstGeom>
          <a:noFill/>
        </p:spPr>
      </p:pic>
      <p:sp>
        <p:nvSpPr>
          <p:cNvPr id="14" name="Date Placeholder 13"/>
          <p:cNvSpPr>
            <a:spLocks noGrp="1"/>
          </p:cNvSpPr>
          <p:nvPr>
            <p:ph type="dt" sz="half" idx="10"/>
          </p:nvPr>
        </p:nvSpPr>
        <p:spPr/>
        <p:txBody>
          <a:bodyPr/>
          <a:lstStyle/>
          <a:p>
            <a:fld id="{02671507-BAFE-4675-BEE1-B049D19785BF}" type="datetime1">
              <a:rPr lang="en-US" smtClean="0"/>
              <a:t>1/14/2022</a:t>
            </a:fld>
            <a:endParaRPr lang="en-US"/>
          </a:p>
        </p:txBody>
      </p:sp>
      <p:sp>
        <p:nvSpPr>
          <p:cNvPr id="15" name="Footer Placeholder 14"/>
          <p:cNvSpPr>
            <a:spLocks noGrp="1"/>
          </p:cNvSpPr>
          <p:nvPr>
            <p:ph type="ftr" sz="quarter" idx="11"/>
          </p:nvPr>
        </p:nvSpPr>
        <p:spPr/>
        <p:txBody>
          <a:bodyPr/>
          <a:lstStyle/>
          <a:p>
            <a:r>
              <a:rPr lang="fi-FI" smtClean="0"/>
              <a:t>Dr.Ankita Shukla KNC 602                                   Unit :2</a:t>
            </a:r>
            <a:endParaRPr lang="en-US" dirty="0"/>
          </a:p>
        </p:txBody>
      </p:sp>
      <p:sp>
        <p:nvSpPr>
          <p:cNvPr id="16" name="Slide Number Placeholder 15"/>
          <p:cNvSpPr>
            <a:spLocks noGrp="1"/>
          </p:cNvSpPr>
          <p:nvPr>
            <p:ph type="sldNum" sz="quarter" idx="12"/>
          </p:nvPr>
        </p:nvSpPr>
        <p:spPr/>
        <p:txBody>
          <a:bodyPr/>
          <a:lstStyle/>
          <a:p>
            <a:fld id="{5C85F1CB-02EA-4782-B654-3ECBE6236E9C}" type="slidenum">
              <a:rPr lang="en-US" smtClean="0"/>
              <a:pPr/>
              <a:t>38</a:t>
            </a:fld>
            <a:endParaRPr lang="en-US"/>
          </a:p>
        </p:txBody>
      </p:sp>
    </p:spTree>
    <p:extLst>
      <p:ext uri="{BB962C8B-B14F-4D97-AF65-F5344CB8AC3E}">
        <p14:creationId xmlns:p14="http://schemas.microsoft.com/office/powerpoint/2010/main" xmlns="" val="20538277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4269" y="177165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4" name="object 4"/>
          <p:cNvSpPr txBox="1"/>
          <p:nvPr/>
        </p:nvSpPr>
        <p:spPr>
          <a:xfrm>
            <a:off x="1144269" y="237744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5" name="object 5"/>
          <p:cNvSpPr txBox="1"/>
          <p:nvPr/>
        </p:nvSpPr>
        <p:spPr>
          <a:xfrm>
            <a:off x="1144269" y="2983229"/>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6" name="object 6"/>
          <p:cNvSpPr txBox="1"/>
          <p:nvPr/>
        </p:nvSpPr>
        <p:spPr>
          <a:xfrm>
            <a:off x="1144269" y="358902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7" name="object 7"/>
          <p:cNvSpPr txBox="1"/>
          <p:nvPr/>
        </p:nvSpPr>
        <p:spPr>
          <a:xfrm>
            <a:off x="1144269" y="4138929"/>
            <a:ext cx="106045" cy="685800"/>
          </a:xfrm>
          <a:prstGeom prst="rect">
            <a:avLst/>
          </a:prstGeom>
        </p:spPr>
        <p:txBody>
          <a:bodyPr vert="horz" wrap="square" lIns="0" tIns="68580" rIns="0" bIns="0" rtlCol="0">
            <a:spAutoFit/>
          </a:bodyPr>
          <a:lstStyle/>
          <a:p>
            <a:pPr marL="12700">
              <a:lnSpc>
                <a:spcPct val="100000"/>
              </a:lnSpc>
              <a:spcBef>
                <a:spcPts val="540"/>
              </a:spcBef>
            </a:pPr>
            <a:r>
              <a:rPr sz="1800" dirty="0">
                <a:latin typeface="Times New Roman"/>
                <a:cs typeface="Times New Roman"/>
              </a:rPr>
              <a:t>•</a:t>
            </a:r>
            <a:endParaRPr sz="1800">
              <a:latin typeface="Times New Roman"/>
              <a:cs typeface="Times New Roman"/>
            </a:endParaRPr>
          </a:p>
          <a:p>
            <a:pPr marL="12700">
              <a:lnSpc>
                <a:spcPct val="100000"/>
              </a:lnSpc>
              <a:spcBef>
                <a:spcPts val="440"/>
              </a:spcBef>
            </a:pPr>
            <a:r>
              <a:rPr sz="1800" dirty="0">
                <a:latin typeface="Times New Roman"/>
                <a:cs typeface="Times New Roman"/>
              </a:rPr>
              <a:t>•</a:t>
            </a:r>
            <a:endParaRPr sz="1800">
              <a:latin typeface="Times New Roman"/>
              <a:cs typeface="Times New Roman"/>
            </a:endParaRPr>
          </a:p>
        </p:txBody>
      </p:sp>
      <p:sp>
        <p:nvSpPr>
          <p:cNvPr id="8" name="object 8"/>
          <p:cNvSpPr txBox="1"/>
          <p:nvPr/>
        </p:nvSpPr>
        <p:spPr>
          <a:xfrm>
            <a:off x="1144269" y="5130800"/>
            <a:ext cx="1060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endParaRPr sz="1800">
              <a:latin typeface="Times New Roman"/>
              <a:cs typeface="Times New Roman"/>
            </a:endParaRPr>
          </a:p>
        </p:txBody>
      </p:sp>
      <p:sp>
        <p:nvSpPr>
          <p:cNvPr id="9" name="object 9"/>
          <p:cNvSpPr txBox="1"/>
          <p:nvPr/>
        </p:nvSpPr>
        <p:spPr>
          <a:xfrm>
            <a:off x="1487169" y="1786890"/>
            <a:ext cx="3171825" cy="365760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imes New Roman"/>
                <a:cs typeface="Times New Roman"/>
              </a:rPr>
              <a:t>Ayodhya—Rama’s city, </a:t>
            </a:r>
            <a:r>
              <a:rPr sz="1800" spc="-5" dirty="0">
                <a:latin typeface="Times New Roman"/>
                <a:cs typeface="Times New Roman"/>
              </a:rPr>
              <a:t>capital </a:t>
            </a:r>
            <a:r>
              <a:rPr sz="1800" spc="-10" dirty="0">
                <a:latin typeface="Times New Roman"/>
                <a:cs typeface="Times New Roman"/>
              </a:rPr>
              <a:t>of  </a:t>
            </a:r>
            <a:r>
              <a:rPr sz="1800" spc="-5" dirty="0">
                <a:latin typeface="Times New Roman"/>
                <a:cs typeface="Times New Roman"/>
              </a:rPr>
              <a:t>Kosala</a:t>
            </a:r>
            <a:endParaRPr sz="1800">
              <a:latin typeface="Times New Roman"/>
              <a:cs typeface="Times New Roman"/>
            </a:endParaRPr>
          </a:p>
          <a:p>
            <a:pPr marL="12700" marR="51435">
              <a:lnSpc>
                <a:spcPct val="100000"/>
              </a:lnSpc>
              <a:spcBef>
                <a:spcPts val="450"/>
              </a:spcBef>
            </a:pPr>
            <a:r>
              <a:rPr sz="1800" dirty="0">
                <a:latin typeface="Times New Roman"/>
                <a:cs typeface="Times New Roman"/>
              </a:rPr>
              <a:t>Videha—kingdom of </a:t>
            </a:r>
            <a:r>
              <a:rPr sz="1800" spc="-5" dirty="0">
                <a:latin typeface="Times New Roman"/>
                <a:cs typeface="Times New Roman"/>
              </a:rPr>
              <a:t>King</a:t>
            </a:r>
            <a:r>
              <a:rPr sz="1800" spc="-70" dirty="0">
                <a:latin typeface="Times New Roman"/>
                <a:cs typeface="Times New Roman"/>
              </a:rPr>
              <a:t> </a:t>
            </a:r>
            <a:r>
              <a:rPr sz="1800" spc="-5" dirty="0">
                <a:latin typeface="Times New Roman"/>
                <a:cs typeface="Times New Roman"/>
              </a:rPr>
              <a:t>Janak,  Sita’s</a:t>
            </a:r>
            <a:r>
              <a:rPr sz="1800" dirty="0">
                <a:latin typeface="Times New Roman"/>
                <a:cs typeface="Times New Roman"/>
              </a:rPr>
              <a:t> father</a:t>
            </a:r>
            <a:endParaRPr sz="1800">
              <a:latin typeface="Times New Roman"/>
              <a:cs typeface="Times New Roman"/>
            </a:endParaRPr>
          </a:p>
          <a:p>
            <a:pPr marL="12700" marR="303530">
              <a:lnSpc>
                <a:spcPct val="100000"/>
              </a:lnSpc>
              <a:spcBef>
                <a:spcPts val="439"/>
              </a:spcBef>
            </a:pPr>
            <a:r>
              <a:rPr sz="1800" spc="-5" dirty="0">
                <a:latin typeface="Times New Roman"/>
                <a:cs typeface="Times New Roman"/>
              </a:rPr>
              <a:t>Panchavati—Lakshman </a:t>
            </a:r>
            <a:r>
              <a:rPr sz="1800" dirty="0">
                <a:latin typeface="Times New Roman"/>
                <a:cs typeface="Times New Roman"/>
              </a:rPr>
              <a:t>cut off  </a:t>
            </a:r>
            <a:r>
              <a:rPr sz="1800" spc="-5" dirty="0">
                <a:latin typeface="Times New Roman"/>
                <a:cs typeface="Times New Roman"/>
              </a:rPr>
              <a:t>Surpanakha’s nose</a:t>
            </a:r>
            <a:r>
              <a:rPr sz="1800" spc="10" dirty="0">
                <a:latin typeface="Times New Roman"/>
                <a:cs typeface="Times New Roman"/>
              </a:rPr>
              <a:t> </a:t>
            </a:r>
            <a:r>
              <a:rPr sz="1800" dirty="0">
                <a:latin typeface="Times New Roman"/>
                <a:cs typeface="Times New Roman"/>
              </a:rPr>
              <a:t>here</a:t>
            </a:r>
            <a:endParaRPr sz="1800">
              <a:latin typeface="Times New Roman"/>
              <a:cs typeface="Times New Roman"/>
            </a:endParaRPr>
          </a:p>
          <a:p>
            <a:pPr marL="12700" marR="250825">
              <a:lnSpc>
                <a:spcPct val="100000"/>
              </a:lnSpc>
              <a:spcBef>
                <a:spcPts val="450"/>
              </a:spcBef>
            </a:pPr>
            <a:r>
              <a:rPr sz="1800" dirty="0">
                <a:latin typeface="Times New Roman"/>
                <a:cs typeface="Times New Roman"/>
              </a:rPr>
              <a:t>Dandakaranya </a:t>
            </a:r>
            <a:r>
              <a:rPr sz="1800" spc="-5" dirty="0">
                <a:latin typeface="Times New Roman"/>
                <a:cs typeface="Times New Roman"/>
              </a:rPr>
              <a:t>forest—Sita was  abducted </a:t>
            </a:r>
            <a:r>
              <a:rPr sz="1800" dirty="0">
                <a:latin typeface="Times New Roman"/>
                <a:cs typeface="Times New Roman"/>
              </a:rPr>
              <a:t>from here</a:t>
            </a:r>
            <a:endParaRPr sz="1800">
              <a:latin typeface="Times New Roman"/>
              <a:cs typeface="Times New Roman"/>
            </a:endParaRPr>
          </a:p>
          <a:p>
            <a:pPr marL="12700">
              <a:lnSpc>
                <a:spcPct val="100000"/>
              </a:lnSpc>
              <a:spcBef>
                <a:spcPts val="450"/>
              </a:spcBef>
            </a:pPr>
            <a:r>
              <a:rPr sz="1800" spc="-5" dirty="0">
                <a:latin typeface="Times New Roman"/>
                <a:cs typeface="Times New Roman"/>
              </a:rPr>
              <a:t>Kishkindha—Sugriva’s</a:t>
            </a:r>
            <a:r>
              <a:rPr sz="1800" dirty="0">
                <a:latin typeface="Times New Roman"/>
                <a:cs typeface="Times New Roman"/>
              </a:rPr>
              <a:t> kingdom</a:t>
            </a:r>
            <a:endParaRPr sz="1800">
              <a:latin typeface="Times New Roman"/>
              <a:cs typeface="Times New Roman"/>
            </a:endParaRPr>
          </a:p>
          <a:p>
            <a:pPr marL="12700" marR="393700">
              <a:lnSpc>
                <a:spcPct val="100000"/>
              </a:lnSpc>
              <a:spcBef>
                <a:spcPts val="450"/>
              </a:spcBef>
            </a:pPr>
            <a:r>
              <a:rPr sz="1800" spc="-5" dirty="0">
                <a:latin typeface="Times New Roman"/>
                <a:cs typeface="Times New Roman"/>
              </a:rPr>
              <a:t>Rameshwar—the </a:t>
            </a:r>
            <a:r>
              <a:rPr sz="1800" dirty="0">
                <a:latin typeface="Times New Roman"/>
                <a:cs typeface="Times New Roman"/>
              </a:rPr>
              <a:t>place from  where </a:t>
            </a:r>
            <a:r>
              <a:rPr sz="1800" spc="-10" dirty="0">
                <a:latin typeface="Times New Roman"/>
                <a:cs typeface="Times New Roman"/>
              </a:rPr>
              <a:t>Rama </a:t>
            </a:r>
            <a:r>
              <a:rPr sz="1800" spc="-5" dirty="0">
                <a:latin typeface="Times New Roman"/>
                <a:cs typeface="Times New Roman"/>
              </a:rPr>
              <a:t>crossed to</a:t>
            </a:r>
            <a:r>
              <a:rPr sz="1800" spc="-30" dirty="0">
                <a:latin typeface="Times New Roman"/>
                <a:cs typeface="Times New Roman"/>
              </a:rPr>
              <a:t> </a:t>
            </a:r>
            <a:r>
              <a:rPr sz="1800" dirty="0">
                <a:latin typeface="Times New Roman"/>
                <a:cs typeface="Times New Roman"/>
              </a:rPr>
              <a:t>Lanka</a:t>
            </a:r>
            <a:endParaRPr sz="1800">
              <a:latin typeface="Times New Roman"/>
              <a:cs typeface="Times New Roman"/>
            </a:endParaRPr>
          </a:p>
          <a:p>
            <a:pPr marL="12700">
              <a:lnSpc>
                <a:spcPct val="100000"/>
              </a:lnSpc>
              <a:spcBef>
                <a:spcPts val="439"/>
              </a:spcBef>
            </a:pPr>
            <a:r>
              <a:rPr sz="1800" spc="-5" dirty="0">
                <a:latin typeface="Times New Roman"/>
                <a:cs typeface="Times New Roman"/>
              </a:rPr>
              <a:t>Sri Lanka—Ravana’s</a:t>
            </a:r>
            <a:r>
              <a:rPr sz="1800" spc="-10" dirty="0">
                <a:latin typeface="Times New Roman"/>
                <a:cs typeface="Times New Roman"/>
              </a:rPr>
              <a:t> </a:t>
            </a:r>
            <a:r>
              <a:rPr sz="1800" dirty="0">
                <a:latin typeface="Times New Roman"/>
                <a:cs typeface="Times New Roman"/>
              </a:rPr>
              <a:t>kingdom</a:t>
            </a:r>
            <a:endParaRPr sz="1800">
              <a:latin typeface="Times New Roman"/>
              <a:cs typeface="Times New Roman"/>
            </a:endParaRPr>
          </a:p>
        </p:txBody>
      </p:sp>
      <p:sp>
        <p:nvSpPr>
          <p:cNvPr id="10" name="object 10"/>
          <p:cNvSpPr/>
          <p:nvPr/>
        </p:nvSpPr>
        <p:spPr>
          <a:xfrm>
            <a:off x="4953000" y="1752600"/>
            <a:ext cx="3733800" cy="4114800"/>
          </a:xfrm>
          <a:prstGeom prst="rect">
            <a:avLst/>
          </a:prstGeom>
          <a:blipFill>
            <a:blip r:embed="rId2" cstate="print"/>
            <a:stretch>
              <a:fillRect/>
            </a:stretch>
          </a:blipFill>
        </p:spPr>
        <p:txBody>
          <a:bodyPr wrap="square" lIns="0" tIns="0" rIns="0" bIns="0" rtlCol="0"/>
          <a:lstStyle/>
          <a:p>
            <a:endParaRPr/>
          </a:p>
        </p:txBody>
      </p:sp>
      <p:sp>
        <p:nvSpPr>
          <p:cNvPr id="11"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5" dirty="0"/>
              <a:t>Where the </a:t>
            </a:r>
            <a:r>
              <a:rPr lang="en-US" sz="2800" i="1" spc="-5" dirty="0">
                <a:latin typeface="Times New Roman"/>
                <a:cs typeface="Times New Roman"/>
              </a:rPr>
              <a:t>Ramayana </a:t>
            </a:r>
            <a:r>
              <a:rPr lang="en-US" sz="2800" spc="-5" dirty="0"/>
              <a:t>took</a:t>
            </a:r>
            <a:r>
              <a:rPr lang="en-US" sz="2800" spc="85" dirty="0"/>
              <a:t> </a:t>
            </a:r>
            <a:r>
              <a:rPr lang="en-US" sz="2800" spc="-5" dirty="0"/>
              <a:t>place</a:t>
            </a:r>
            <a:endParaRPr lang="en-US" sz="2800" b="1" dirty="0">
              <a:solidFill>
                <a:prstClr val="black"/>
              </a:solidFill>
              <a:latin typeface="Times New Roman" pitchFamily="18" charset="0"/>
              <a:cs typeface="Times New Roman" pitchFamily="18" charset="0"/>
            </a:endParaRPr>
          </a:p>
        </p:txBody>
      </p:sp>
      <p:pic>
        <p:nvPicPr>
          <p:cNvPr id="12"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13" name="Date Placeholder 12"/>
          <p:cNvSpPr>
            <a:spLocks noGrp="1"/>
          </p:cNvSpPr>
          <p:nvPr>
            <p:ph type="dt" sz="half" idx="10"/>
          </p:nvPr>
        </p:nvSpPr>
        <p:spPr/>
        <p:txBody>
          <a:bodyPr/>
          <a:lstStyle/>
          <a:p>
            <a:fld id="{8DF246D3-EEBB-44FE-B7FE-489E6767BED1}" type="datetime1">
              <a:rPr lang="en-US" smtClean="0"/>
              <a:t>1/14/2022</a:t>
            </a:fld>
            <a:endParaRPr lang="en-US"/>
          </a:p>
        </p:txBody>
      </p:sp>
      <p:sp>
        <p:nvSpPr>
          <p:cNvPr id="14" name="Footer Placeholder 13"/>
          <p:cNvSpPr>
            <a:spLocks noGrp="1"/>
          </p:cNvSpPr>
          <p:nvPr>
            <p:ph type="ftr" sz="quarter" idx="11"/>
          </p:nvPr>
        </p:nvSpPr>
        <p:spPr/>
        <p:txBody>
          <a:bodyPr/>
          <a:lstStyle/>
          <a:p>
            <a:r>
              <a:rPr lang="fi-FI" smtClean="0"/>
              <a:t>Dr.Ankita Shukla KNC 602                                   Unit :2</a:t>
            </a:r>
            <a:endParaRPr lang="en-US" dirty="0"/>
          </a:p>
        </p:txBody>
      </p:sp>
      <p:sp>
        <p:nvSpPr>
          <p:cNvPr id="15" name="Slide Number Placeholder 14"/>
          <p:cNvSpPr>
            <a:spLocks noGrp="1"/>
          </p:cNvSpPr>
          <p:nvPr>
            <p:ph type="sldNum" sz="quarter" idx="12"/>
          </p:nvPr>
        </p:nvSpPr>
        <p:spPr/>
        <p:txBody>
          <a:bodyPr/>
          <a:lstStyle/>
          <a:p>
            <a:fld id="{5C85F1CB-02EA-4782-B654-3ECBE6236E9C}" type="slidenum">
              <a:rPr lang="en-US" smtClean="0"/>
              <a:pPr/>
              <a:t>39</a:t>
            </a:fld>
            <a:endParaRPr lang="en-US"/>
          </a:p>
        </p:txBody>
      </p:sp>
    </p:spTree>
    <p:extLst>
      <p:ext uri="{BB962C8B-B14F-4D97-AF65-F5344CB8AC3E}">
        <p14:creationId xmlns:p14="http://schemas.microsoft.com/office/powerpoint/2010/main" xmlns="" val="553229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8F6C57"/>
          </a:solidFill>
        </p:spPr>
        <p:txBody>
          <a:bodyPr wrap="square" lIns="0" tIns="0" rIns="0" bIns="0" rtlCol="0"/>
          <a:lstStyle/>
          <a:p>
            <a:endParaRPr/>
          </a:p>
        </p:txBody>
      </p:sp>
      <p:grpSp>
        <p:nvGrpSpPr>
          <p:cNvPr id="3" name="object 3"/>
          <p:cNvGrpSpPr/>
          <p:nvPr/>
        </p:nvGrpSpPr>
        <p:grpSpPr>
          <a:xfrm>
            <a:off x="0" y="52069"/>
            <a:ext cx="8848090" cy="6742430"/>
            <a:chOff x="0" y="52069"/>
            <a:chExt cx="8848090" cy="6742430"/>
          </a:xfrm>
        </p:grpSpPr>
        <p:sp>
          <p:nvSpPr>
            <p:cNvPr id="4" name="object 4"/>
            <p:cNvSpPr/>
            <p:nvPr/>
          </p:nvSpPr>
          <p:spPr>
            <a:xfrm>
              <a:off x="609600" y="228599"/>
              <a:ext cx="8238490" cy="6391910"/>
            </a:xfrm>
            <a:custGeom>
              <a:avLst/>
              <a:gdLst/>
              <a:ahLst/>
              <a:cxnLst/>
              <a:rect l="l" t="t" r="r" b="b"/>
              <a:pathLst>
                <a:path w="8238490" h="6391909">
                  <a:moveTo>
                    <a:pt x="8238490" y="0"/>
                  </a:moveTo>
                  <a:lnTo>
                    <a:pt x="0" y="0"/>
                  </a:lnTo>
                  <a:lnTo>
                    <a:pt x="0" y="6391910"/>
                  </a:lnTo>
                  <a:lnTo>
                    <a:pt x="8238490" y="6391910"/>
                  </a:lnTo>
                  <a:close/>
                </a:path>
              </a:pathLst>
            </a:custGeom>
            <a:solidFill>
              <a:srgbClr val="ECE6E2"/>
            </a:solidFill>
          </p:spPr>
          <p:txBody>
            <a:bodyPr wrap="square" lIns="0" tIns="0" rIns="0" bIns="0" rtlCol="0"/>
            <a:lstStyle/>
            <a:p>
              <a:endParaRPr/>
            </a:p>
          </p:txBody>
        </p:sp>
        <p:sp>
          <p:nvSpPr>
            <p:cNvPr id="5" name="object 5"/>
            <p:cNvSpPr/>
            <p:nvPr/>
          </p:nvSpPr>
          <p:spPr>
            <a:xfrm>
              <a:off x="0" y="52069"/>
              <a:ext cx="1181100" cy="405637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0" y="4222749"/>
              <a:ext cx="1181100" cy="2571750"/>
            </a:xfrm>
            <a:prstGeom prst="rect">
              <a:avLst/>
            </a:prstGeom>
            <a:blipFill>
              <a:blip r:embed="rId3" cstate="print"/>
              <a:stretch>
                <a:fillRect/>
              </a:stretch>
            </a:blipFill>
          </p:spPr>
          <p:txBody>
            <a:bodyPr wrap="square" lIns="0" tIns="0" rIns="0" bIns="0" rtlCol="0"/>
            <a:lstStyle/>
            <a:p>
              <a:endParaRPr/>
            </a:p>
          </p:txBody>
        </p:sp>
      </p:grpSp>
      <p:sp>
        <p:nvSpPr>
          <p:cNvPr id="7" name="object 7"/>
          <p:cNvSpPr txBox="1">
            <a:spLocks noGrp="1"/>
          </p:cNvSpPr>
          <p:nvPr>
            <p:ph type="title"/>
          </p:nvPr>
        </p:nvSpPr>
        <p:spPr>
          <a:xfrm>
            <a:off x="1003300" y="607534"/>
            <a:ext cx="7696200" cy="689932"/>
          </a:xfrm>
          <a:prstGeom prst="rect">
            <a:avLst/>
          </a:prstGeom>
        </p:spPr>
        <p:txBody>
          <a:bodyPr vert="horz" wrap="square" lIns="0" tIns="12700" rIns="0" bIns="0" rtlCol="0">
            <a:spAutoFit/>
          </a:bodyPr>
          <a:lstStyle/>
          <a:p>
            <a:pPr marL="46990" algn="ctr">
              <a:lnSpc>
                <a:spcPct val="100000"/>
              </a:lnSpc>
              <a:spcBef>
                <a:spcPts val="100"/>
              </a:spcBef>
            </a:pPr>
            <a:r>
              <a:rPr u="sng" dirty="0">
                <a:uFill>
                  <a:solidFill>
                    <a:srgbClr val="CABC82"/>
                  </a:solidFill>
                </a:uFill>
              </a:rPr>
              <a:t>	</a:t>
            </a:r>
          </a:p>
        </p:txBody>
      </p:sp>
      <p:sp>
        <p:nvSpPr>
          <p:cNvPr id="8" name="object 8"/>
          <p:cNvSpPr txBox="1"/>
          <p:nvPr/>
        </p:nvSpPr>
        <p:spPr>
          <a:xfrm>
            <a:off x="1144269" y="2463800"/>
            <a:ext cx="1327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a:t>
            </a:r>
            <a:endParaRPr sz="2400">
              <a:latin typeface="Times New Roman"/>
              <a:cs typeface="Times New Roman"/>
            </a:endParaRPr>
          </a:p>
        </p:txBody>
      </p:sp>
      <p:sp>
        <p:nvSpPr>
          <p:cNvPr id="9" name="object 9"/>
          <p:cNvSpPr txBox="1"/>
          <p:nvPr/>
        </p:nvSpPr>
        <p:spPr>
          <a:xfrm>
            <a:off x="1144269" y="3197859"/>
            <a:ext cx="1327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1144269" y="3931920"/>
            <a:ext cx="1327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a:t>
            </a:r>
            <a:endParaRPr sz="2400">
              <a:latin typeface="Times New Roman"/>
              <a:cs typeface="Times New Roman"/>
            </a:endParaRPr>
          </a:p>
        </p:txBody>
      </p:sp>
      <p:sp>
        <p:nvSpPr>
          <p:cNvPr id="11" name="object 11"/>
          <p:cNvSpPr txBox="1"/>
          <p:nvPr/>
        </p:nvSpPr>
        <p:spPr>
          <a:xfrm>
            <a:off x="1144269" y="4665979"/>
            <a:ext cx="1327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a:t>
            </a:r>
            <a:endParaRPr sz="2400">
              <a:latin typeface="Times New Roman"/>
              <a:cs typeface="Times New Roman"/>
            </a:endParaRPr>
          </a:p>
        </p:txBody>
      </p:sp>
      <p:sp>
        <p:nvSpPr>
          <p:cNvPr id="12" name="object 12"/>
          <p:cNvSpPr txBox="1"/>
          <p:nvPr/>
        </p:nvSpPr>
        <p:spPr>
          <a:xfrm>
            <a:off x="1144269" y="5400040"/>
            <a:ext cx="1327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a:t>
            </a:r>
            <a:endParaRPr sz="2400">
              <a:latin typeface="Times New Roman"/>
              <a:cs typeface="Times New Roman"/>
            </a:endParaRPr>
          </a:p>
        </p:txBody>
      </p:sp>
      <p:sp>
        <p:nvSpPr>
          <p:cNvPr id="13" name="object 13"/>
          <p:cNvSpPr txBox="1"/>
          <p:nvPr/>
        </p:nvSpPr>
        <p:spPr>
          <a:xfrm>
            <a:off x="1144269" y="6134100"/>
            <a:ext cx="1327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a:t>
            </a:r>
            <a:endParaRPr sz="2400">
              <a:latin typeface="Times New Roman"/>
              <a:cs typeface="Times New Roman"/>
            </a:endParaRPr>
          </a:p>
        </p:txBody>
      </p:sp>
      <p:sp>
        <p:nvSpPr>
          <p:cNvPr id="14" name="object 14"/>
          <p:cNvSpPr txBox="1"/>
          <p:nvPr/>
        </p:nvSpPr>
        <p:spPr>
          <a:xfrm>
            <a:off x="1144269" y="1750059"/>
            <a:ext cx="3458845" cy="4795520"/>
          </a:xfrm>
          <a:prstGeom prst="rect">
            <a:avLst/>
          </a:prstGeom>
        </p:spPr>
        <p:txBody>
          <a:bodyPr vert="horz" wrap="square" lIns="0" tIns="53975" rIns="0" bIns="0" rtlCol="0">
            <a:spAutoFit/>
          </a:bodyPr>
          <a:lstStyle/>
          <a:p>
            <a:pPr marL="355600" marR="367030" indent="-342900">
              <a:lnSpc>
                <a:spcPts val="2590"/>
              </a:lnSpc>
              <a:spcBef>
                <a:spcPts val="425"/>
              </a:spcBef>
              <a:buChar char="•"/>
              <a:tabLst>
                <a:tab pos="354965" algn="l"/>
                <a:tab pos="355600" algn="l"/>
              </a:tabLst>
            </a:pPr>
            <a:r>
              <a:rPr sz="2400" spc="-5" dirty="0">
                <a:latin typeface="Times New Roman"/>
                <a:cs typeface="Times New Roman"/>
              </a:rPr>
              <a:t>Indraprastha—Pandav  </a:t>
            </a:r>
            <a:r>
              <a:rPr sz="2400" dirty="0">
                <a:latin typeface="Times New Roman"/>
                <a:cs typeface="Times New Roman"/>
              </a:rPr>
              <a:t>capital</a:t>
            </a:r>
          </a:p>
          <a:p>
            <a:pPr marL="355600" marR="554990">
              <a:lnSpc>
                <a:spcPts val="2590"/>
              </a:lnSpc>
              <a:spcBef>
                <a:spcPts val="600"/>
              </a:spcBef>
            </a:pPr>
            <a:r>
              <a:rPr sz="2400" spc="-5" dirty="0">
                <a:latin typeface="Times New Roman"/>
                <a:cs typeface="Times New Roman"/>
              </a:rPr>
              <a:t>Ha</a:t>
            </a:r>
            <a:r>
              <a:rPr sz="2400" dirty="0">
                <a:latin typeface="Times New Roman"/>
                <a:cs typeface="Times New Roman"/>
              </a:rPr>
              <a:t>stinapur—</a:t>
            </a:r>
            <a:r>
              <a:rPr sz="2400" spc="-5" dirty="0">
                <a:latin typeface="Times New Roman"/>
                <a:cs typeface="Times New Roman"/>
              </a:rPr>
              <a:t>K</a:t>
            </a:r>
            <a:r>
              <a:rPr sz="2400" dirty="0">
                <a:latin typeface="Times New Roman"/>
                <a:cs typeface="Times New Roman"/>
              </a:rPr>
              <a:t>aurav  capital</a:t>
            </a:r>
          </a:p>
          <a:p>
            <a:pPr marL="355600" marR="384810">
              <a:lnSpc>
                <a:spcPts val="2590"/>
              </a:lnSpc>
              <a:spcBef>
                <a:spcPts val="600"/>
              </a:spcBef>
            </a:pPr>
            <a:r>
              <a:rPr sz="2400" spc="-5" dirty="0">
                <a:latin typeface="Times New Roman"/>
                <a:cs typeface="Times New Roman"/>
              </a:rPr>
              <a:t>Gandhar—Gandhari’s  home</a:t>
            </a:r>
            <a:endParaRPr sz="2400" dirty="0">
              <a:latin typeface="Times New Roman"/>
              <a:cs typeface="Times New Roman"/>
            </a:endParaRPr>
          </a:p>
          <a:p>
            <a:pPr marL="355600" marR="909319">
              <a:lnSpc>
                <a:spcPts val="2590"/>
              </a:lnSpc>
              <a:spcBef>
                <a:spcPts val="600"/>
              </a:spcBef>
            </a:pPr>
            <a:r>
              <a:rPr sz="2400" spc="-5" dirty="0">
                <a:latin typeface="Times New Roman"/>
                <a:cs typeface="Times New Roman"/>
              </a:rPr>
              <a:t>K</a:t>
            </a:r>
            <a:r>
              <a:rPr sz="2400" spc="-10" dirty="0">
                <a:latin typeface="Times New Roman"/>
                <a:cs typeface="Times New Roman"/>
              </a:rPr>
              <a:t>u</a:t>
            </a:r>
            <a:r>
              <a:rPr sz="2400" spc="5" dirty="0">
                <a:latin typeface="Times New Roman"/>
                <a:cs typeface="Times New Roman"/>
              </a:rPr>
              <a:t>r</a:t>
            </a:r>
            <a:r>
              <a:rPr sz="2400" dirty="0">
                <a:latin typeface="Times New Roman"/>
                <a:cs typeface="Times New Roman"/>
              </a:rPr>
              <a:t>uk</a:t>
            </a:r>
            <a:r>
              <a:rPr sz="2400" spc="-5" dirty="0">
                <a:latin typeface="Times New Roman"/>
                <a:cs typeface="Times New Roman"/>
              </a:rPr>
              <a:t>s</a:t>
            </a:r>
            <a:r>
              <a:rPr sz="2400" dirty="0">
                <a:latin typeface="Times New Roman"/>
                <a:cs typeface="Times New Roman"/>
              </a:rPr>
              <a:t>he</a:t>
            </a:r>
            <a:r>
              <a:rPr sz="2400" spc="10" dirty="0">
                <a:latin typeface="Times New Roman"/>
                <a:cs typeface="Times New Roman"/>
              </a:rPr>
              <a:t>t</a:t>
            </a:r>
            <a:r>
              <a:rPr sz="2400" dirty="0">
                <a:latin typeface="Times New Roman"/>
                <a:cs typeface="Times New Roman"/>
              </a:rPr>
              <a:t>ra—the  </a:t>
            </a:r>
            <a:r>
              <a:rPr sz="2400" spc="-5" dirty="0">
                <a:latin typeface="Times New Roman"/>
                <a:cs typeface="Times New Roman"/>
              </a:rPr>
              <a:t>battlefield</a:t>
            </a:r>
            <a:endParaRPr sz="2400" dirty="0">
              <a:latin typeface="Times New Roman"/>
              <a:cs typeface="Times New Roman"/>
            </a:endParaRPr>
          </a:p>
          <a:p>
            <a:pPr marL="355600" marR="469265">
              <a:lnSpc>
                <a:spcPts val="2590"/>
              </a:lnSpc>
              <a:spcBef>
                <a:spcPts val="600"/>
              </a:spcBef>
            </a:pPr>
            <a:r>
              <a:rPr sz="2400" spc="-5" dirty="0">
                <a:latin typeface="Times New Roman"/>
                <a:cs typeface="Times New Roman"/>
              </a:rPr>
              <a:t>Panchal—Draupadi’s  home</a:t>
            </a:r>
            <a:endParaRPr sz="2400" dirty="0">
              <a:latin typeface="Times New Roman"/>
              <a:cs typeface="Times New Roman"/>
            </a:endParaRPr>
          </a:p>
          <a:p>
            <a:pPr marL="355600" marR="640715">
              <a:lnSpc>
                <a:spcPts val="2590"/>
              </a:lnSpc>
              <a:spcBef>
                <a:spcPts val="600"/>
              </a:spcBef>
            </a:pPr>
            <a:r>
              <a:rPr sz="2400" spc="-5" dirty="0">
                <a:latin typeface="Times New Roman"/>
                <a:cs typeface="Times New Roman"/>
              </a:rPr>
              <a:t>D</a:t>
            </a:r>
            <a:r>
              <a:rPr sz="2400" spc="-15" dirty="0">
                <a:latin typeface="Times New Roman"/>
                <a:cs typeface="Times New Roman"/>
              </a:rPr>
              <a:t>w</a:t>
            </a:r>
            <a:r>
              <a:rPr sz="2400" dirty="0">
                <a:latin typeface="Times New Roman"/>
                <a:cs typeface="Times New Roman"/>
              </a:rPr>
              <a:t>a</a:t>
            </a:r>
            <a:r>
              <a:rPr sz="2400" spc="5" dirty="0">
                <a:latin typeface="Times New Roman"/>
                <a:cs typeface="Times New Roman"/>
              </a:rPr>
              <a:t>r</a:t>
            </a:r>
            <a:r>
              <a:rPr sz="2400" spc="-10" dirty="0">
                <a:latin typeface="Times New Roman"/>
                <a:cs typeface="Times New Roman"/>
              </a:rPr>
              <a:t>k</a:t>
            </a:r>
            <a:r>
              <a:rPr sz="2400" dirty="0">
                <a:latin typeface="Times New Roman"/>
                <a:cs typeface="Times New Roman"/>
              </a:rPr>
              <a:t>a—</a:t>
            </a:r>
            <a:r>
              <a:rPr sz="2400" spc="-5" dirty="0">
                <a:latin typeface="Times New Roman"/>
                <a:cs typeface="Times New Roman"/>
              </a:rPr>
              <a:t>K</a:t>
            </a:r>
            <a:r>
              <a:rPr sz="2400" spc="5" dirty="0">
                <a:latin typeface="Times New Roman"/>
                <a:cs typeface="Times New Roman"/>
              </a:rPr>
              <a:t>r</a:t>
            </a:r>
            <a:r>
              <a:rPr sz="2400" dirty="0">
                <a:latin typeface="Times New Roman"/>
                <a:cs typeface="Times New Roman"/>
              </a:rPr>
              <a:t>i</a:t>
            </a:r>
            <a:r>
              <a:rPr sz="2400" spc="-10" dirty="0">
                <a:latin typeface="Times New Roman"/>
                <a:cs typeface="Times New Roman"/>
              </a:rPr>
              <a:t>s</a:t>
            </a:r>
            <a:r>
              <a:rPr sz="2400" dirty="0">
                <a:latin typeface="Times New Roman"/>
                <a:cs typeface="Times New Roman"/>
              </a:rPr>
              <a:t>hna’s  kingdom</a:t>
            </a:r>
          </a:p>
          <a:p>
            <a:pPr marL="355600">
              <a:lnSpc>
                <a:spcPct val="100000"/>
              </a:lnSpc>
              <a:spcBef>
                <a:spcPts val="275"/>
              </a:spcBef>
            </a:pPr>
            <a:r>
              <a:rPr sz="2400" spc="-5" dirty="0">
                <a:latin typeface="Times New Roman"/>
                <a:cs typeface="Times New Roman"/>
              </a:rPr>
              <a:t>Anga—Karna’s</a:t>
            </a:r>
            <a:r>
              <a:rPr sz="2400" spc="-50" dirty="0">
                <a:latin typeface="Times New Roman"/>
                <a:cs typeface="Times New Roman"/>
              </a:rPr>
              <a:t> </a:t>
            </a:r>
            <a:r>
              <a:rPr sz="2400" dirty="0">
                <a:latin typeface="Times New Roman"/>
                <a:cs typeface="Times New Roman"/>
              </a:rPr>
              <a:t>kingdom</a:t>
            </a:r>
          </a:p>
        </p:txBody>
      </p:sp>
      <p:sp>
        <p:nvSpPr>
          <p:cNvPr id="15" name="object 15"/>
          <p:cNvSpPr/>
          <p:nvPr/>
        </p:nvSpPr>
        <p:spPr>
          <a:xfrm>
            <a:off x="4953000" y="1752600"/>
            <a:ext cx="3733800" cy="4114800"/>
          </a:xfrm>
          <a:prstGeom prst="rect">
            <a:avLst/>
          </a:prstGeom>
          <a:blipFill>
            <a:blip r:embed="rId4" cstate="print"/>
            <a:stretch>
              <a:fillRect/>
            </a:stretch>
          </a:blipFill>
        </p:spPr>
        <p:txBody>
          <a:bodyPr wrap="square" lIns="0" tIns="0" rIns="0" bIns="0" rtlCol="0"/>
          <a:lstStyle/>
          <a:p>
            <a:endParaRPr/>
          </a:p>
        </p:txBody>
      </p:sp>
      <p:sp>
        <p:nvSpPr>
          <p:cNvPr id="16"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46990" algn="ctr">
              <a:lnSpc>
                <a:spcPct val="100000"/>
              </a:lnSpc>
              <a:spcBef>
                <a:spcPts val="100"/>
              </a:spcBef>
            </a:pPr>
            <a:r>
              <a:rPr lang="en-US" sz="2800" spc="-5" dirty="0"/>
              <a:t>Where the </a:t>
            </a:r>
            <a:r>
              <a:rPr lang="en-US" sz="2800" i="1" dirty="0">
                <a:latin typeface="Times New Roman"/>
                <a:cs typeface="Times New Roman"/>
              </a:rPr>
              <a:t>Mahabharata</a:t>
            </a:r>
            <a:r>
              <a:rPr lang="en-US" sz="2800" i="1" spc="65" dirty="0">
                <a:latin typeface="Times New Roman"/>
                <a:cs typeface="Times New Roman"/>
              </a:rPr>
              <a:t> </a:t>
            </a:r>
            <a:r>
              <a:rPr lang="en-US" sz="2800" spc="-5" dirty="0"/>
              <a:t>took</a:t>
            </a:r>
          </a:p>
          <a:p>
            <a:pPr algn="ctr">
              <a:lnSpc>
                <a:spcPct val="100000"/>
              </a:lnSpc>
              <a:tabLst>
                <a:tab pos="3269615" algn="l"/>
                <a:tab pos="7670165" algn="l"/>
              </a:tabLst>
            </a:pPr>
            <a:r>
              <a:rPr lang="en-US" sz="2800" u="sng" dirty="0">
                <a:uFill>
                  <a:solidFill>
                    <a:srgbClr val="CABC82"/>
                  </a:solidFill>
                </a:uFill>
              </a:rPr>
              <a:t> 	place</a:t>
            </a:r>
            <a:endParaRPr lang="en-US" sz="2800" b="1" dirty="0">
              <a:solidFill>
                <a:prstClr val="black"/>
              </a:solidFill>
              <a:latin typeface="Times New Roman" pitchFamily="18" charset="0"/>
              <a:cs typeface="Times New Roman" pitchFamily="18" charset="0"/>
            </a:endParaRPr>
          </a:p>
        </p:txBody>
      </p:sp>
      <p:pic>
        <p:nvPicPr>
          <p:cNvPr id="17" name="Picture 2" descr="E:\NIET\Project\xLogo11.png.pagespeed.ic.pydHLuCQEZ.png"/>
          <p:cNvPicPr>
            <a:picLocks noChangeAspect="1" noChangeArrowheads="1"/>
          </p:cNvPicPr>
          <p:nvPr/>
        </p:nvPicPr>
        <p:blipFill>
          <a:blip r:embed="rId5"/>
          <a:srcRect/>
          <a:stretch>
            <a:fillRect/>
          </a:stretch>
        </p:blipFill>
        <p:spPr bwMode="auto">
          <a:xfrm>
            <a:off x="-75800" y="-76841"/>
            <a:ext cx="1675981" cy="945952"/>
          </a:xfrm>
          <a:prstGeom prst="rect">
            <a:avLst/>
          </a:prstGeom>
          <a:noFill/>
        </p:spPr>
      </p:pic>
      <p:sp>
        <p:nvSpPr>
          <p:cNvPr id="18" name="Date Placeholder 17"/>
          <p:cNvSpPr>
            <a:spLocks noGrp="1"/>
          </p:cNvSpPr>
          <p:nvPr>
            <p:ph type="dt" sz="half" idx="10"/>
          </p:nvPr>
        </p:nvSpPr>
        <p:spPr/>
        <p:txBody>
          <a:bodyPr/>
          <a:lstStyle/>
          <a:p>
            <a:fld id="{7D5D72FB-4D54-44CF-B326-F0294793A03F}" type="datetime1">
              <a:rPr lang="en-US" smtClean="0"/>
              <a:t>1/14/2022</a:t>
            </a:fld>
            <a:endParaRPr lang="en-US"/>
          </a:p>
        </p:txBody>
      </p:sp>
      <p:sp>
        <p:nvSpPr>
          <p:cNvPr id="19" name="Footer Placeholder 18"/>
          <p:cNvSpPr>
            <a:spLocks noGrp="1"/>
          </p:cNvSpPr>
          <p:nvPr>
            <p:ph type="ftr" sz="quarter" idx="11"/>
          </p:nvPr>
        </p:nvSpPr>
        <p:spPr/>
        <p:txBody>
          <a:bodyPr/>
          <a:lstStyle/>
          <a:p>
            <a:r>
              <a:rPr lang="fi-FI" smtClean="0"/>
              <a:t>Dr.Ankita Shukla KNC 602                                   Unit :2</a:t>
            </a:r>
            <a:endParaRPr lang="en-US" dirty="0"/>
          </a:p>
        </p:txBody>
      </p:sp>
      <p:sp>
        <p:nvSpPr>
          <p:cNvPr id="20" name="Slide Number Placeholder 19"/>
          <p:cNvSpPr>
            <a:spLocks noGrp="1"/>
          </p:cNvSpPr>
          <p:nvPr>
            <p:ph type="sldNum" sz="quarter" idx="12"/>
          </p:nvPr>
        </p:nvSpPr>
        <p:spPr/>
        <p:txBody>
          <a:bodyPr/>
          <a:lstStyle/>
          <a:p>
            <a:fld id="{5C85F1CB-02EA-4782-B654-3ECBE6236E9C}" type="slidenum">
              <a:rPr lang="en-US" smtClean="0"/>
              <a:pPr/>
              <a:t>40</a:t>
            </a:fld>
            <a:endParaRPr lang="en-US"/>
          </a:p>
        </p:txBody>
      </p:sp>
    </p:spTree>
    <p:extLst>
      <p:ext uri="{BB962C8B-B14F-4D97-AF65-F5344CB8AC3E}">
        <p14:creationId xmlns:p14="http://schemas.microsoft.com/office/powerpoint/2010/main" xmlns="" val="1685242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560" y="1226127"/>
            <a:ext cx="5505926" cy="4780219"/>
          </a:xfrm>
          <a:prstGeom prst="rect">
            <a:avLst/>
          </a:prstGeom>
        </p:spPr>
        <p:txBody>
          <a:bodyPr vert="horz" wrap="square" lIns="0" tIns="12700" rIns="0" bIns="0" rtlCol="0">
            <a:spAutoFit/>
          </a:bodyPr>
          <a:lstStyle/>
          <a:p>
            <a:pPr marL="241300" indent="-228600" algn="just">
              <a:lnSpc>
                <a:spcPct val="100000"/>
              </a:lnSpc>
              <a:spcBef>
                <a:spcPts val="100"/>
              </a:spcBef>
              <a:buFont typeface="Arial"/>
              <a:buChar char="•"/>
              <a:tabLst>
                <a:tab pos="241300" algn="l"/>
              </a:tabLst>
            </a:pPr>
            <a:r>
              <a:rPr lang="en-US" sz="2400" i="1" dirty="0" err="1"/>
              <a:t>Purana</a:t>
            </a:r>
            <a:r>
              <a:rPr lang="en-US" sz="2400" i="1" dirty="0"/>
              <a:t> </a:t>
            </a:r>
            <a:r>
              <a:rPr lang="en-US" sz="2400" dirty="0"/>
              <a:t>is a Sanskrit word that means "ancient" or "old." It is a genre of ancient Indian literature found both in Hinduism and Jainism</a:t>
            </a:r>
            <a:r>
              <a:rPr lang="en-US" sz="2400" dirty="0" smtClean="0"/>
              <a:t>.</a:t>
            </a:r>
          </a:p>
          <a:p>
            <a:pPr marL="241300" indent="-228600" algn="just">
              <a:lnSpc>
                <a:spcPct val="100000"/>
              </a:lnSpc>
              <a:spcBef>
                <a:spcPts val="100"/>
              </a:spcBef>
              <a:buFont typeface="Arial"/>
              <a:buChar char="•"/>
              <a:tabLst>
                <a:tab pos="241300" algn="l"/>
              </a:tabLst>
            </a:pPr>
            <a:r>
              <a:rPr sz="2400" spc="-20" dirty="0" smtClean="0">
                <a:latin typeface="Carlito"/>
                <a:cs typeface="Carlito"/>
              </a:rPr>
              <a:t>Literature </a:t>
            </a:r>
            <a:r>
              <a:rPr sz="2400" spc="-5" dirty="0">
                <a:latin typeface="Carlito"/>
                <a:cs typeface="Carlito"/>
              </a:rPr>
              <a:t>of </a:t>
            </a:r>
            <a:r>
              <a:rPr sz="2400" spc="-30" dirty="0">
                <a:latin typeface="Carlito"/>
                <a:cs typeface="Carlito"/>
              </a:rPr>
              <a:t>Vedic</a:t>
            </a:r>
            <a:r>
              <a:rPr sz="2400" spc="-20" dirty="0">
                <a:latin typeface="Carlito"/>
                <a:cs typeface="Carlito"/>
              </a:rPr>
              <a:t> </a:t>
            </a:r>
            <a:r>
              <a:rPr sz="2400" spc="-10" dirty="0">
                <a:latin typeface="Carlito"/>
                <a:cs typeface="Carlito"/>
              </a:rPr>
              <a:t>tradition.</a:t>
            </a:r>
            <a:endParaRPr sz="2400" dirty="0">
              <a:latin typeface="Carlito"/>
              <a:cs typeface="Carlito"/>
            </a:endParaRPr>
          </a:p>
          <a:p>
            <a:pPr marL="241300" indent="-228600" algn="just">
              <a:lnSpc>
                <a:spcPct val="100000"/>
              </a:lnSpc>
              <a:spcBef>
                <a:spcPts val="2445"/>
              </a:spcBef>
              <a:buFont typeface="Arial"/>
              <a:buChar char="•"/>
              <a:tabLst>
                <a:tab pos="241300" algn="l"/>
              </a:tabLst>
            </a:pPr>
            <a:r>
              <a:rPr sz="2400" spc="-30" dirty="0">
                <a:latin typeface="Carlito"/>
                <a:cs typeface="Carlito"/>
              </a:rPr>
              <a:t>Written </a:t>
            </a:r>
            <a:r>
              <a:rPr sz="2400" spc="-5" dirty="0">
                <a:latin typeface="Carlito"/>
                <a:cs typeface="Carlito"/>
              </a:rPr>
              <a:t>almost </a:t>
            </a:r>
            <a:r>
              <a:rPr sz="2400" spc="-15" dirty="0">
                <a:latin typeface="Carlito"/>
                <a:cs typeface="Carlito"/>
              </a:rPr>
              <a:t>entirely </a:t>
            </a:r>
            <a:r>
              <a:rPr sz="2400" dirty="0">
                <a:latin typeface="Carlito"/>
                <a:cs typeface="Carlito"/>
              </a:rPr>
              <a:t>in </a:t>
            </a:r>
            <a:r>
              <a:rPr sz="2400" spc="-20" dirty="0">
                <a:latin typeface="Carlito"/>
                <a:cs typeface="Carlito"/>
              </a:rPr>
              <a:t>narrative</a:t>
            </a:r>
            <a:r>
              <a:rPr sz="2400" spc="20" dirty="0">
                <a:latin typeface="Carlito"/>
                <a:cs typeface="Carlito"/>
              </a:rPr>
              <a:t> </a:t>
            </a:r>
            <a:r>
              <a:rPr sz="2400" spc="-10" dirty="0">
                <a:latin typeface="Carlito"/>
                <a:cs typeface="Carlito"/>
              </a:rPr>
              <a:t>couplets.</a:t>
            </a:r>
            <a:endParaRPr sz="2400" dirty="0">
              <a:latin typeface="Carlito"/>
              <a:cs typeface="Carlito"/>
            </a:endParaRPr>
          </a:p>
          <a:p>
            <a:pPr marL="184785" marR="1724025" indent="-172720" algn="just">
              <a:lnSpc>
                <a:spcPct val="167700"/>
              </a:lnSpc>
              <a:buFont typeface="Arial"/>
              <a:buChar char="•"/>
              <a:tabLst>
                <a:tab pos="241300" algn="l"/>
              </a:tabLst>
            </a:pPr>
            <a:r>
              <a:rPr sz="2400" dirty="0"/>
              <a:t>	</a:t>
            </a:r>
            <a:r>
              <a:rPr sz="2400" spc="-15" dirty="0">
                <a:latin typeface="Carlito"/>
                <a:cs typeface="Carlito"/>
              </a:rPr>
              <a:t>Earliest written versions </a:t>
            </a:r>
            <a:r>
              <a:rPr sz="2400" spc="-20" dirty="0">
                <a:latin typeface="Carlito"/>
                <a:cs typeface="Carlito"/>
              </a:rPr>
              <a:t>were  </a:t>
            </a:r>
            <a:r>
              <a:rPr sz="2400" spc="-10" dirty="0">
                <a:latin typeface="Carlito"/>
                <a:cs typeface="Carlito"/>
              </a:rPr>
              <a:t>compiled during </a:t>
            </a:r>
            <a:r>
              <a:rPr sz="2400" dirty="0">
                <a:latin typeface="Carlito"/>
                <a:cs typeface="Carlito"/>
              </a:rPr>
              <a:t>the </a:t>
            </a:r>
            <a:r>
              <a:rPr sz="2400" spc="-15" dirty="0">
                <a:latin typeface="Carlito"/>
                <a:cs typeface="Carlito"/>
              </a:rPr>
              <a:t>Gupta</a:t>
            </a:r>
            <a:r>
              <a:rPr sz="2400" spc="-20" dirty="0">
                <a:latin typeface="Carlito"/>
                <a:cs typeface="Carlito"/>
              </a:rPr>
              <a:t> </a:t>
            </a:r>
            <a:r>
              <a:rPr sz="2400" spc="-10" dirty="0">
                <a:latin typeface="Carlito"/>
                <a:cs typeface="Carlito"/>
              </a:rPr>
              <a:t>empire.</a:t>
            </a:r>
            <a:endParaRPr sz="2400" dirty="0">
              <a:latin typeface="Carlito"/>
              <a:cs typeface="Carlito"/>
            </a:endParaRPr>
          </a:p>
        </p:txBody>
      </p:sp>
      <p:sp>
        <p:nvSpPr>
          <p:cNvPr id="4" name="object 4"/>
          <p:cNvSpPr/>
          <p:nvPr/>
        </p:nvSpPr>
        <p:spPr>
          <a:xfrm>
            <a:off x="5796585" y="1905000"/>
            <a:ext cx="3214116" cy="3497580"/>
          </a:xfrm>
          <a:prstGeom prst="rect">
            <a:avLst/>
          </a:prstGeom>
          <a:blipFill>
            <a:blip r:embed="rId2" cstate="print"/>
            <a:stretch>
              <a:fillRect/>
            </a:stretch>
          </a:blipFill>
        </p:spPr>
        <p:txBody>
          <a:bodyPr wrap="square" lIns="0" tIns="0" rIns="0" bIns="0" rtlCol="0"/>
          <a:lstStyle/>
          <a:p>
            <a:endParaRPr/>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30" dirty="0"/>
              <a:t>What </a:t>
            </a:r>
            <a:r>
              <a:rPr lang="en-US" sz="2800" spc="-114" dirty="0"/>
              <a:t>are </a:t>
            </a:r>
            <a:r>
              <a:rPr lang="en-US" sz="2800" dirty="0"/>
              <a:t>the </a:t>
            </a:r>
            <a:r>
              <a:rPr lang="en-US" sz="2800" spc="-114" dirty="0" err="1"/>
              <a:t>Puranas</a:t>
            </a:r>
            <a:r>
              <a:rPr lang="en-US" sz="2800" spc="-475" dirty="0"/>
              <a:t> </a:t>
            </a:r>
            <a:r>
              <a:rPr lang="en-US" sz="2800" spc="-220" dirty="0"/>
              <a:t>?</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5A6571ED-735F-44A6-8C29-19FDFBFC7C50}"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41</a:t>
            </a:fld>
            <a:endParaRPr lang="en-US"/>
          </a:p>
        </p:txBody>
      </p:sp>
    </p:spTree>
    <p:extLst>
      <p:ext uri="{BB962C8B-B14F-4D97-AF65-F5344CB8AC3E}">
        <p14:creationId xmlns:p14="http://schemas.microsoft.com/office/powerpoint/2010/main" xmlns="" val="4066521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30" dirty="0"/>
              <a:t>What </a:t>
            </a:r>
            <a:r>
              <a:rPr lang="en-US" sz="2800" spc="-114" dirty="0"/>
              <a:t>are </a:t>
            </a:r>
            <a:r>
              <a:rPr lang="en-US" sz="2800" dirty="0"/>
              <a:t>the </a:t>
            </a:r>
            <a:r>
              <a:rPr lang="en-US" sz="2800" spc="-114" dirty="0" err="1"/>
              <a:t>Puranas</a:t>
            </a:r>
            <a:r>
              <a:rPr lang="en-US" sz="2800" spc="-475" dirty="0"/>
              <a:t> </a:t>
            </a:r>
            <a:r>
              <a:rPr lang="en-US" sz="2800" spc="-220" dirty="0"/>
              <a:t>?</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644CCECF-1879-4245-976E-BF0B98433A90}"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42</a:t>
            </a:fld>
            <a:endParaRPr lang="en-US"/>
          </a:p>
        </p:txBody>
      </p:sp>
      <p:sp>
        <p:nvSpPr>
          <p:cNvPr id="2" name="Rectangle 1"/>
          <p:cNvSpPr/>
          <p:nvPr/>
        </p:nvSpPr>
        <p:spPr>
          <a:xfrm>
            <a:off x="1066800" y="1305342"/>
            <a:ext cx="7772400" cy="4154984"/>
          </a:xfrm>
          <a:prstGeom prst="rect">
            <a:avLst/>
          </a:prstGeom>
        </p:spPr>
        <p:txBody>
          <a:bodyPr wrap="square">
            <a:spAutoFit/>
          </a:bodyPr>
          <a:lstStyle/>
          <a:p>
            <a:pPr marL="342900" indent="-342900" algn="just">
              <a:buFont typeface="Wingdings" panose="05000000000000000000" pitchFamily="2" charset="2"/>
              <a:buChar char="§"/>
            </a:pPr>
            <a:r>
              <a:rPr lang="en-US" sz="2400" dirty="0" err="1">
                <a:solidFill>
                  <a:srgbClr val="333333"/>
                </a:solidFill>
                <a:latin typeface="Open-sans"/>
              </a:rPr>
              <a:t>Puranas</a:t>
            </a:r>
            <a:r>
              <a:rPr lang="en-US" sz="2400" dirty="0">
                <a:solidFill>
                  <a:srgbClr val="333333"/>
                </a:solidFill>
                <a:latin typeface="Open-sans"/>
              </a:rPr>
              <a:t> are encyclopedic texts that cover various topics such as cosmogony, cosmology, folk tales, pilgrimages, temples, medicine, astronomy, grammar, mineralogy, humor, love stories, theology and philosophy as well as the genealogies of gods, goddesses, kings, heroes, sages and demigods.</a:t>
            </a:r>
          </a:p>
          <a:p>
            <a:pPr marL="342900" indent="-342900" algn="just">
              <a:buFont typeface="Wingdings" panose="05000000000000000000" pitchFamily="2" charset="2"/>
              <a:buChar char="§"/>
            </a:pPr>
            <a:r>
              <a:rPr lang="en-US" sz="2400" dirty="0">
                <a:solidFill>
                  <a:srgbClr val="333333"/>
                </a:solidFill>
                <a:latin typeface="Open-sans"/>
              </a:rPr>
              <a:t>It is believed that the first </a:t>
            </a:r>
            <a:r>
              <a:rPr lang="en-US" sz="2400" dirty="0" err="1">
                <a:solidFill>
                  <a:srgbClr val="333333"/>
                </a:solidFill>
                <a:latin typeface="Open-sans"/>
              </a:rPr>
              <a:t>puranas</a:t>
            </a:r>
            <a:r>
              <a:rPr lang="en-US" sz="2400" dirty="0">
                <a:solidFill>
                  <a:srgbClr val="333333"/>
                </a:solidFill>
                <a:latin typeface="Open-sans"/>
              </a:rPr>
              <a:t> were composed between the 3rd and 10th centuries C.E. The most famous </a:t>
            </a:r>
            <a:r>
              <a:rPr lang="en-US" sz="2400" dirty="0" err="1">
                <a:solidFill>
                  <a:srgbClr val="333333"/>
                </a:solidFill>
                <a:latin typeface="Open-sans"/>
              </a:rPr>
              <a:t>purana</a:t>
            </a:r>
            <a:r>
              <a:rPr lang="en-US" sz="2400" dirty="0">
                <a:solidFill>
                  <a:srgbClr val="333333"/>
                </a:solidFill>
                <a:latin typeface="Open-sans"/>
              </a:rPr>
              <a:t> by far is the "</a:t>
            </a:r>
            <a:r>
              <a:rPr lang="en-US" sz="2400" i="1" dirty="0" err="1">
                <a:solidFill>
                  <a:srgbClr val="333333"/>
                </a:solidFill>
                <a:latin typeface="Open-sans"/>
              </a:rPr>
              <a:t>Bhagavata</a:t>
            </a:r>
            <a:r>
              <a:rPr lang="en-US" sz="2400" i="1" dirty="0">
                <a:solidFill>
                  <a:srgbClr val="333333"/>
                </a:solidFill>
                <a:latin typeface="Open-sans"/>
              </a:rPr>
              <a:t> </a:t>
            </a:r>
            <a:r>
              <a:rPr lang="en-US" sz="2400" i="1" dirty="0" err="1">
                <a:solidFill>
                  <a:srgbClr val="333333"/>
                </a:solidFill>
                <a:latin typeface="Open-sans"/>
              </a:rPr>
              <a:t>Purana</a:t>
            </a:r>
            <a:r>
              <a:rPr lang="en-US" sz="2400" dirty="0">
                <a:solidFill>
                  <a:srgbClr val="333333"/>
                </a:solidFill>
                <a:latin typeface="Open-sans"/>
              </a:rPr>
              <a:t>," which outlines the childhood and early life of Krishna, the incarnation of the Hindu god, Vishnu.</a:t>
            </a:r>
            <a:endParaRPr lang="en-US" sz="2400" b="0" i="0" dirty="0">
              <a:solidFill>
                <a:srgbClr val="333333"/>
              </a:solidFill>
              <a:effectLst/>
              <a:latin typeface="Open-sans"/>
            </a:endParaRPr>
          </a:p>
        </p:txBody>
      </p:sp>
    </p:spTree>
    <p:extLst>
      <p:ext uri="{BB962C8B-B14F-4D97-AF65-F5344CB8AC3E}">
        <p14:creationId xmlns:p14="http://schemas.microsoft.com/office/powerpoint/2010/main" xmlns="" val="3014858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28700" y="1219200"/>
            <a:ext cx="7886700" cy="4629472"/>
          </a:xfrm>
          <a:prstGeom prst="rect">
            <a:avLst/>
          </a:prstGeom>
        </p:spPr>
        <p:txBody>
          <a:bodyPr vert="horz" wrap="square" lIns="0" tIns="12700" rIns="0" bIns="0" rtlCol="0">
            <a:spAutoFit/>
          </a:bodyPr>
          <a:lstStyle/>
          <a:p>
            <a:r>
              <a:rPr lang="en-US" sz="2000" dirty="0"/>
              <a:t>There are ''five signs'' or marks in the </a:t>
            </a:r>
            <a:r>
              <a:rPr lang="en-US" sz="2000" i="1" dirty="0" err="1"/>
              <a:t>Puranas</a:t>
            </a:r>
            <a:r>
              <a:rPr lang="en-US" sz="2000" dirty="0"/>
              <a:t> that are standards for all the major </a:t>
            </a:r>
            <a:r>
              <a:rPr lang="en-US" sz="2000" i="1" dirty="0" err="1"/>
              <a:t>Puranas</a:t>
            </a:r>
            <a:r>
              <a:rPr lang="en-US" sz="2000" dirty="0"/>
              <a:t> to meet. </a:t>
            </a:r>
            <a:endParaRPr lang="en-US" sz="2000" dirty="0" smtClean="0"/>
          </a:p>
          <a:p>
            <a:pPr marL="285750" indent="-285750">
              <a:buFont typeface="Wingdings" panose="05000000000000000000" pitchFamily="2" charset="2"/>
              <a:buChar char="§"/>
            </a:pPr>
            <a:r>
              <a:rPr lang="en-US" sz="2000" dirty="0" smtClean="0"/>
              <a:t>First</a:t>
            </a:r>
            <a:r>
              <a:rPr lang="en-US" sz="2000" dirty="0"/>
              <a:t>, there is a depiction of the creation of the universe. These are your traditional stories of how the world was created, who created it, and why it was created</a:t>
            </a:r>
            <a:r>
              <a:rPr lang="en-US" sz="2000" dirty="0" smtClean="0"/>
              <a:t>.</a:t>
            </a:r>
          </a:p>
          <a:p>
            <a:pPr marL="285750" indent="-285750">
              <a:buFont typeface="Wingdings" panose="05000000000000000000" pitchFamily="2" charset="2"/>
              <a:buChar char="§"/>
            </a:pPr>
            <a:r>
              <a:rPr lang="en-US" sz="2000" dirty="0" smtClean="0"/>
              <a:t> </a:t>
            </a:r>
            <a:r>
              <a:rPr lang="en-US" sz="2000" dirty="0"/>
              <a:t>In the Hindu tradition, forces of evil often caused chaos and destruction, so the second sign is the repeated creation of the universe after it has been disrupted.</a:t>
            </a:r>
          </a:p>
          <a:p>
            <a:pPr marL="285750" indent="-285750">
              <a:buFont typeface="Wingdings" panose="05000000000000000000" pitchFamily="2" charset="2"/>
              <a:buChar char="§"/>
            </a:pPr>
            <a:r>
              <a:rPr lang="en-US" sz="2000" dirty="0"/>
              <a:t>The third sign is, perhaps, the most well-known: it is the tales of the gods and goddess and their genealogies, like who their parents and children are. </a:t>
            </a:r>
            <a:endParaRPr lang="en-US" sz="2000" dirty="0" smtClean="0"/>
          </a:p>
          <a:p>
            <a:pPr marL="285750" indent="-285750">
              <a:buFont typeface="Wingdings" panose="05000000000000000000" pitchFamily="2" charset="2"/>
              <a:buChar char="§"/>
            </a:pPr>
            <a:r>
              <a:rPr lang="en-US" sz="2000" dirty="0" smtClean="0"/>
              <a:t>The </a:t>
            </a:r>
            <a:r>
              <a:rPr lang="en-US" sz="2000" dirty="0"/>
              <a:t>fourth sign deals with the first humans and their earthly reigns. </a:t>
            </a:r>
            <a:endParaRPr lang="en-US" sz="2000" dirty="0" smtClean="0"/>
          </a:p>
          <a:p>
            <a:pPr marL="285750" indent="-285750">
              <a:buFont typeface="Wingdings" panose="05000000000000000000" pitchFamily="2" charset="2"/>
              <a:buChar char="§"/>
            </a:pPr>
            <a:r>
              <a:rPr lang="en-US" sz="2000" dirty="0" smtClean="0"/>
              <a:t>The </a:t>
            </a:r>
            <a:r>
              <a:rPr lang="en-US" sz="2000" dirty="0"/>
              <a:t>fifth and final sign of the </a:t>
            </a:r>
            <a:r>
              <a:rPr lang="en-US" sz="2000" i="1" dirty="0" err="1"/>
              <a:t>Puranas</a:t>
            </a:r>
            <a:r>
              <a:rPr lang="en-US" sz="2000" dirty="0"/>
              <a:t> is the solar and lunar dynasties. </a:t>
            </a:r>
            <a:endParaRPr lang="en-US" sz="2000" dirty="0" smtClean="0"/>
          </a:p>
          <a:p>
            <a:pPr marL="285750" indent="-285750">
              <a:buFont typeface="Wingdings" panose="05000000000000000000" pitchFamily="2" charset="2"/>
              <a:buChar char="§"/>
            </a:pPr>
            <a:r>
              <a:rPr lang="en-US" sz="2000" dirty="0" smtClean="0"/>
              <a:t>Essentially</a:t>
            </a:r>
            <a:r>
              <a:rPr lang="en-US" sz="2000" dirty="0"/>
              <a:t>, two beings claimed one was descended from the sun and one from the moon, and this sign tells of those dynasties. </a:t>
            </a:r>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75" dirty="0" err="1"/>
              <a:t>Pancha</a:t>
            </a:r>
            <a:r>
              <a:rPr lang="en-US" sz="2800" spc="-170" dirty="0"/>
              <a:t> </a:t>
            </a:r>
            <a:r>
              <a:rPr lang="en-US" sz="2800" spc="-85" dirty="0" err="1" smtClean="0"/>
              <a:t>Lakshana</a:t>
            </a:r>
            <a:r>
              <a:rPr lang="en-US" sz="2800" spc="-85" dirty="0" smtClean="0"/>
              <a:t> or Five signs of </a:t>
            </a:r>
            <a:r>
              <a:rPr lang="en-US" sz="2800" spc="-85" dirty="0" err="1" smtClean="0"/>
              <a:t>Puranas</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5B58D492-CCCA-4E2D-89C9-D4CB59D914F8}"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43</a:t>
            </a:fld>
            <a:endParaRPr lang="en-US"/>
          </a:p>
        </p:txBody>
      </p:sp>
    </p:spTree>
    <p:extLst>
      <p:ext uri="{BB962C8B-B14F-4D97-AF65-F5344CB8AC3E}">
        <p14:creationId xmlns:p14="http://schemas.microsoft.com/office/powerpoint/2010/main" xmlns="" val="11996391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600" y="1143000"/>
            <a:ext cx="7905750" cy="5121915"/>
          </a:xfrm>
          <a:prstGeom prst="rect">
            <a:avLst/>
          </a:prstGeom>
        </p:spPr>
        <p:txBody>
          <a:bodyPr vert="horz" wrap="square" lIns="0" tIns="12700" rIns="0" bIns="0" rtlCol="0">
            <a:spAutoFit/>
          </a:bodyPr>
          <a:lstStyle/>
          <a:p>
            <a:r>
              <a:rPr lang="en-US" sz="2400" dirty="0"/>
              <a:t>There are a few major groupings of the </a:t>
            </a:r>
            <a:r>
              <a:rPr lang="en-US" sz="2400" i="1" dirty="0" err="1"/>
              <a:t>Puranas</a:t>
            </a:r>
            <a:r>
              <a:rPr lang="en-US" sz="2400" dirty="0"/>
              <a:t>. The first and most important of these is the </a:t>
            </a:r>
            <a:r>
              <a:rPr lang="en-US" sz="2400" b="1" i="1" dirty="0" err="1"/>
              <a:t>Mahapuranas</a:t>
            </a:r>
            <a:r>
              <a:rPr lang="en-US" sz="2400" dirty="0"/>
              <a:t>, or the ''greater'' </a:t>
            </a:r>
            <a:r>
              <a:rPr lang="en-US" sz="2400" i="1" dirty="0" err="1"/>
              <a:t>Puranas</a:t>
            </a:r>
            <a:r>
              <a:rPr lang="en-US" sz="2400" dirty="0"/>
              <a:t>. These are called the ''greater'' </a:t>
            </a:r>
            <a:r>
              <a:rPr lang="en-US" sz="2400" i="1" dirty="0" err="1"/>
              <a:t>Puranas</a:t>
            </a:r>
            <a:r>
              <a:rPr lang="en-US" sz="2400" dirty="0"/>
              <a:t> not because they are better than the others, but because most Hindus accept them as sacred literature</a:t>
            </a:r>
            <a:r>
              <a:rPr lang="en-US" sz="2400" dirty="0" smtClean="0"/>
              <a:t>.</a:t>
            </a:r>
          </a:p>
          <a:p>
            <a:r>
              <a:rPr lang="en-US" sz="2400" b="1" i="1" dirty="0" err="1"/>
              <a:t>Bhagavata</a:t>
            </a:r>
            <a:r>
              <a:rPr lang="en-US" sz="2400" b="1" i="1" dirty="0"/>
              <a:t> </a:t>
            </a:r>
            <a:r>
              <a:rPr lang="en-US" sz="2400" b="1" i="1" dirty="0" err="1"/>
              <a:t>Purana</a:t>
            </a:r>
            <a:endParaRPr lang="en-US" sz="2400" b="1" dirty="0"/>
          </a:p>
          <a:p>
            <a:r>
              <a:rPr lang="en-US" sz="2400" dirty="0"/>
              <a:t>There are 18 different </a:t>
            </a:r>
            <a:r>
              <a:rPr lang="en-US" sz="2400" i="1" dirty="0" err="1"/>
              <a:t>Mahapuranas</a:t>
            </a:r>
            <a:r>
              <a:rPr lang="en-US" sz="2400" dirty="0"/>
              <a:t> dedicated to different gods and one of the most popular </a:t>
            </a:r>
            <a:r>
              <a:rPr lang="en-US" sz="2400" i="1" dirty="0" err="1"/>
              <a:t>Mahapuranas</a:t>
            </a:r>
            <a:r>
              <a:rPr lang="en-US" sz="2400" dirty="0"/>
              <a:t> is the </a:t>
            </a:r>
            <a:r>
              <a:rPr lang="en-US" sz="2400" b="1" i="1" dirty="0" err="1"/>
              <a:t>Bhagavata</a:t>
            </a:r>
            <a:r>
              <a:rPr lang="en-US" sz="2400" b="1" i="1" dirty="0"/>
              <a:t> </a:t>
            </a:r>
            <a:r>
              <a:rPr lang="en-US" sz="2400" b="1" i="1" dirty="0" err="1"/>
              <a:t>Purana</a:t>
            </a:r>
            <a:r>
              <a:rPr lang="en-US" sz="2400" dirty="0"/>
              <a:t>. This </a:t>
            </a:r>
            <a:r>
              <a:rPr lang="en-US" sz="2400" i="1" dirty="0" err="1"/>
              <a:t>Purana</a:t>
            </a:r>
            <a:r>
              <a:rPr lang="en-US" sz="2400" dirty="0"/>
              <a:t> is concerned with depicting </a:t>
            </a:r>
            <a:r>
              <a:rPr lang="en-US" sz="2400" b="1" i="1" dirty="0"/>
              <a:t>bhakti</a:t>
            </a:r>
            <a:r>
              <a:rPr lang="en-US" sz="2400" dirty="0"/>
              <a:t>, or devotion. In this case, the </a:t>
            </a:r>
            <a:r>
              <a:rPr lang="en-US" sz="2400" i="1" dirty="0"/>
              <a:t>bhakti</a:t>
            </a:r>
            <a:r>
              <a:rPr lang="en-US" sz="2400" dirty="0"/>
              <a:t> is directed towards Vishnu, the preserver god. The </a:t>
            </a:r>
            <a:r>
              <a:rPr lang="en-US" sz="2400" i="1" dirty="0" err="1"/>
              <a:t>Bhagavata</a:t>
            </a:r>
            <a:r>
              <a:rPr lang="en-US" sz="2400" i="1" dirty="0"/>
              <a:t> </a:t>
            </a:r>
            <a:r>
              <a:rPr lang="en-US" sz="2400" i="1" dirty="0" err="1"/>
              <a:t>Purana</a:t>
            </a:r>
            <a:r>
              <a:rPr lang="en-US" sz="2400" dirty="0"/>
              <a:t> tells the story of </a:t>
            </a:r>
            <a:r>
              <a:rPr lang="en-US" sz="2400" b="1" dirty="0"/>
              <a:t>Krishna</a:t>
            </a:r>
            <a:r>
              <a:rPr lang="en-US" sz="2400" dirty="0"/>
              <a:t>, the youthful incarnation of Vishnu, as a child. </a:t>
            </a:r>
          </a:p>
          <a:p>
            <a:endParaRPr lang="en-US" sz="2000" dirty="0"/>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err="1" smtClean="0">
                <a:solidFill>
                  <a:prstClr val="black"/>
                </a:solidFill>
                <a:latin typeface="Times New Roman" pitchFamily="18" charset="0"/>
                <a:cs typeface="Times New Roman" pitchFamily="18" charset="0"/>
              </a:rPr>
              <a:t>Maha</a:t>
            </a:r>
            <a:r>
              <a:rPr lang="en-US" sz="2800" b="1" dirty="0" smtClean="0">
                <a:solidFill>
                  <a:prstClr val="black"/>
                </a:solidFill>
                <a:latin typeface="Times New Roman" pitchFamily="18" charset="0"/>
                <a:cs typeface="Times New Roman" pitchFamily="18" charset="0"/>
              </a:rPr>
              <a:t> </a:t>
            </a:r>
            <a:r>
              <a:rPr lang="en-US" sz="2800" b="1" dirty="0" err="1" smtClean="0">
                <a:solidFill>
                  <a:prstClr val="black"/>
                </a:solidFill>
                <a:latin typeface="Times New Roman" pitchFamily="18" charset="0"/>
                <a:cs typeface="Times New Roman" pitchFamily="18" charset="0"/>
              </a:rPr>
              <a:t>Purana</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A11DC2B3-4B64-4BE5-BA13-AC4DF693BBE5}"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44</a:t>
            </a:fld>
            <a:endParaRPr lang="en-US"/>
          </a:p>
        </p:txBody>
      </p:sp>
    </p:spTree>
    <p:extLst>
      <p:ext uri="{BB962C8B-B14F-4D97-AF65-F5344CB8AC3E}">
        <p14:creationId xmlns:p14="http://schemas.microsoft.com/office/powerpoint/2010/main" xmlns="" val="7777357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3872" y="930712"/>
            <a:ext cx="7954328" cy="3939540"/>
          </a:xfrm>
          <a:prstGeom prst="rect">
            <a:avLst/>
          </a:prstGeom>
        </p:spPr>
        <p:txBody>
          <a:bodyPr vert="horz" wrap="square" lIns="0" tIns="60960" rIns="0" bIns="0" rtlCol="0">
            <a:spAutoFit/>
          </a:bodyPr>
          <a:lstStyle/>
          <a:p>
            <a:r>
              <a:rPr lang="en-US" sz="2800" dirty="0" smtClean="0"/>
              <a:t>The</a:t>
            </a:r>
            <a:r>
              <a:rPr lang="en-US" sz="2800" dirty="0"/>
              <a:t> </a:t>
            </a:r>
            <a:r>
              <a:rPr lang="en-US" sz="2800" b="1" i="1" dirty="0" err="1"/>
              <a:t>Skanda</a:t>
            </a:r>
            <a:r>
              <a:rPr lang="en-US" sz="2800" b="1" i="1" dirty="0"/>
              <a:t> </a:t>
            </a:r>
            <a:r>
              <a:rPr lang="en-US" sz="2800" b="1" i="1" dirty="0" err="1"/>
              <a:t>Purana</a:t>
            </a:r>
            <a:r>
              <a:rPr lang="en-US" sz="2800" dirty="0"/>
              <a:t> is another text from the </a:t>
            </a:r>
            <a:r>
              <a:rPr lang="en-US" sz="2800" i="1" dirty="0" err="1"/>
              <a:t>Mahapuranas</a:t>
            </a:r>
            <a:r>
              <a:rPr lang="en-US" sz="2800" dirty="0"/>
              <a:t>. It is the longest of all the </a:t>
            </a:r>
            <a:r>
              <a:rPr lang="en-US" sz="2800" i="1" dirty="0" err="1"/>
              <a:t>Puranas</a:t>
            </a:r>
            <a:r>
              <a:rPr lang="en-US" sz="2800" dirty="0"/>
              <a:t> at over 81,000 verses - the </a:t>
            </a:r>
            <a:r>
              <a:rPr lang="en-US" sz="2800" i="1" dirty="0" err="1"/>
              <a:t>Bhagavata</a:t>
            </a:r>
            <a:r>
              <a:rPr lang="en-US" sz="2800" i="1" dirty="0"/>
              <a:t> </a:t>
            </a:r>
            <a:r>
              <a:rPr lang="en-US" sz="2800" i="1" dirty="0" err="1"/>
              <a:t>Purana</a:t>
            </a:r>
            <a:r>
              <a:rPr lang="en-US" sz="2800" dirty="0"/>
              <a:t> is less that 20,000 verses and spans 1,500 pages in a translated volume you would see today! </a:t>
            </a:r>
            <a:endParaRPr lang="en-US" sz="2800" dirty="0" smtClean="0"/>
          </a:p>
          <a:p>
            <a:endParaRPr lang="en-US" sz="2800" dirty="0"/>
          </a:p>
          <a:p>
            <a:r>
              <a:rPr lang="en-US" sz="2800" dirty="0" smtClean="0"/>
              <a:t>The</a:t>
            </a:r>
            <a:r>
              <a:rPr lang="en-US" sz="2800" dirty="0"/>
              <a:t> </a:t>
            </a:r>
            <a:r>
              <a:rPr lang="en-US" sz="2800" i="1" dirty="0" err="1"/>
              <a:t>Skanda</a:t>
            </a:r>
            <a:r>
              <a:rPr lang="en-US" sz="2800" i="1" dirty="0"/>
              <a:t> </a:t>
            </a:r>
            <a:r>
              <a:rPr lang="en-US" sz="2800" i="1" dirty="0" err="1"/>
              <a:t>Purana</a:t>
            </a:r>
            <a:r>
              <a:rPr lang="en-US" sz="2800" dirty="0"/>
              <a:t> is filled with stories from different regions, legends of various gods - with </a:t>
            </a:r>
            <a:r>
              <a:rPr lang="en-US" sz="2800" b="1" dirty="0"/>
              <a:t>Shiva</a:t>
            </a:r>
            <a:r>
              <a:rPr lang="en-US" sz="2800" dirty="0"/>
              <a:t> the destroyer at the forefront - and religious teachings.</a:t>
            </a:r>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280" dirty="0">
                <a:solidFill>
                  <a:srgbClr val="001F5F"/>
                </a:solidFill>
                <a:latin typeface="Arial"/>
                <a:cs typeface="Arial"/>
              </a:rPr>
              <a:t>Largest </a:t>
            </a:r>
            <a:r>
              <a:rPr lang="en-US" sz="2800" spc="-265" dirty="0" err="1">
                <a:solidFill>
                  <a:srgbClr val="001F5F"/>
                </a:solidFill>
                <a:latin typeface="Arial"/>
                <a:cs typeface="Arial"/>
              </a:rPr>
              <a:t>Purana</a:t>
            </a:r>
            <a:r>
              <a:rPr lang="en-US" sz="2800" spc="-265" dirty="0">
                <a:solidFill>
                  <a:srgbClr val="001F5F"/>
                </a:solidFill>
                <a:latin typeface="Arial"/>
                <a:cs typeface="Arial"/>
              </a:rPr>
              <a:t>: </a:t>
            </a:r>
            <a:r>
              <a:rPr lang="en-US" sz="2800" spc="-350" dirty="0" err="1">
                <a:solidFill>
                  <a:srgbClr val="001F5F"/>
                </a:solidFill>
                <a:latin typeface="Arial"/>
                <a:cs typeface="Arial"/>
              </a:rPr>
              <a:t>Skanda</a:t>
            </a:r>
            <a:r>
              <a:rPr lang="en-US" sz="2800" spc="-10" dirty="0">
                <a:solidFill>
                  <a:srgbClr val="001F5F"/>
                </a:solidFill>
                <a:latin typeface="Arial"/>
                <a:cs typeface="Arial"/>
              </a:rPr>
              <a:t> </a:t>
            </a:r>
            <a:r>
              <a:rPr lang="en-US" sz="2800" spc="-245" dirty="0" err="1">
                <a:solidFill>
                  <a:srgbClr val="001F5F"/>
                </a:solidFill>
                <a:latin typeface="Arial"/>
                <a:cs typeface="Arial"/>
              </a:rPr>
              <a:t>Purana</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AA0E1FB0-1F90-4BF5-82DB-2C4FC903E82F}"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45</a:t>
            </a:fld>
            <a:endParaRPr lang="en-US"/>
          </a:p>
        </p:txBody>
      </p:sp>
    </p:spTree>
    <p:extLst>
      <p:ext uri="{BB962C8B-B14F-4D97-AF65-F5344CB8AC3E}">
        <p14:creationId xmlns:p14="http://schemas.microsoft.com/office/powerpoint/2010/main" xmlns="" val="11667229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7200" y="1295400"/>
            <a:ext cx="4495800" cy="4576125"/>
          </a:xfrm>
          <a:prstGeom prst="rect">
            <a:avLst/>
          </a:prstGeom>
        </p:spPr>
        <p:txBody>
          <a:bodyPr vert="horz" wrap="square" lIns="0" tIns="60960" rIns="0" bIns="0" rtlCol="0">
            <a:spAutoFit/>
          </a:bodyPr>
          <a:lstStyle/>
          <a:p>
            <a:pPr marL="241300" marR="5715" indent="-229235" algn="just">
              <a:lnSpc>
                <a:spcPts val="3020"/>
              </a:lnSpc>
              <a:spcBef>
                <a:spcPts val="480"/>
              </a:spcBef>
              <a:buFont typeface="Arial"/>
              <a:buChar char="•"/>
              <a:tabLst>
                <a:tab pos="241935" algn="l"/>
              </a:tabLst>
            </a:pPr>
            <a:r>
              <a:rPr sz="2800" spc="-5" dirty="0">
                <a:latin typeface="Carlito"/>
                <a:cs typeface="Carlito"/>
              </a:rPr>
              <a:t>It </a:t>
            </a:r>
            <a:r>
              <a:rPr sz="2800" spc="-10" dirty="0">
                <a:latin typeface="Carlito"/>
                <a:cs typeface="Carlito"/>
              </a:rPr>
              <a:t>primarily </a:t>
            </a:r>
            <a:r>
              <a:rPr sz="2800" spc="-20" dirty="0">
                <a:latin typeface="Carlito"/>
                <a:cs typeface="Carlito"/>
              </a:rPr>
              <a:t>centers </a:t>
            </a:r>
            <a:r>
              <a:rPr sz="2800" spc="-15" dirty="0">
                <a:latin typeface="Carlito"/>
                <a:cs typeface="Carlito"/>
              </a:rPr>
              <a:t>around </a:t>
            </a:r>
            <a:r>
              <a:rPr sz="2800" spc="-5" dirty="0">
                <a:latin typeface="Carlito"/>
                <a:cs typeface="Carlito"/>
              </a:rPr>
              <a:t>the </a:t>
            </a:r>
            <a:r>
              <a:rPr sz="2800" spc="-10" dirty="0">
                <a:latin typeface="Carlito"/>
                <a:cs typeface="Carlito"/>
              </a:rPr>
              <a:t>Hindu  </a:t>
            </a:r>
            <a:r>
              <a:rPr sz="2800" spc="-15" dirty="0">
                <a:latin typeface="Carlito"/>
                <a:cs typeface="Carlito"/>
              </a:rPr>
              <a:t>god </a:t>
            </a:r>
            <a:r>
              <a:rPr sz="2800" spc="-10" dirty="0">
                <a:latin typeface="Carlito"/>
                <a:cs typeface="Carlito"/>
              </a:rPr>
              <a:t>Vishnu </a:t>
            </a:r>
            <a:r>
              <a:rPr sz="2800" spc="-5" dirty="0">
                <a:latin typeface="Carlito"/>
                <a:cs typeface="Carlito"/>
              </a:rPr>
              <a:t>and </a:t>
            </a:r>
            <a:r>
              <a:rPr sz="2800" spc="-10" dirty="0">
                <a:latin typeface="Carlito"/>
                <a:cs typeface="Carlito"/>
              </a:rPr>
              <a:t>his </a:t>
            </a:r>
            <a:r>
              <a:rPr sz="2800" spc="-30" dirty="0">
                <a:latin typeface="Carlito"/>
                <a:cs typeface="Carlito"/>
              </a:rPr>
              <a:t>avatars</a:t>
            </a:r>
            <a:r>
              <a:rPr sz="2800" spc="105" dirty="0">
                <a:latin typeface="Carlito"/>
                <a:cs typeface="Carlito"/>
              </a:rPr>
              <a:t> </a:t>
            </a:r>
            <a:r>
              <a:rPr sz="2800" spc="-10" dirty="0">
                <a:latin typeface="Carlito"/>
                <a:cs typeface="Carlito"/>
              </a:rPr>
              <a:t>such</a:t>
            </a:r>
            <a:endParaRPr sz="2800" dirty="0">
              <a:latin typeface="Carlito"/>
              <a:cs typeface="Carlito"/>
            </a:endParaRPr>
          </a:p>
          <a:p>
            <a:pPr marL="241300" algn="just">
              <a:lnSpc>
                <a:spcPts val="2985"/>
              </a:lnSpc>
            </a:pPr>
            <a:r>
              <a:rPr sz="2800" spc="-5" dirty="0">
                <a:latin typeface="Carlito"/>
                <a:cs typeface="Carlito"/>
              </a:rPr>
              <a:t>as </a:t>
            </a:r>
            <a:r>
              <a:rPr sz="2800" spc="-15" dirty="0">
                <a:latin typeface="Carlito"/>
                <a:cs typeface="Carlito"/>
              </a:rPr>
              <a:t>Krishna.</a:t>
            </a:r>
            <a:endParaRPr sz="2800" dirty="0">
              <a:latin typeface="Carlito"/>
              <a:cs typeface="Carlito"/>
            </a:endParaRPr>
          </a:p>
          <a:p>
            <a:pPr marL="241300" indent="-229235" algn="just">
              <a:lnSpc>
                <a:spcPct val="100000"/>
              </a:lnSpc>
              <a:spcBef>
                <a:spcPts val="675"/>
              </a:spcBef>
              <a:buFont typeface="Arial"/>
              <a:buChar char="•"/>
              <a:tabLst>
                <a:tab pos="241935" algn="l"/>
              </a:tabLst>
            </a:pPr>
            <a:r>
              <a:rPr sz="2800" b="1" spc="-10" dirty="0">
                <a:latin typeface="Carlito"/>
                <a:cs typeface="Carlito"/>
              </a:rPr>
              <a:t>Who </a:t>
            </a:r>
            <a:r>
              <a:rPr sz="2800" b="1" spc="-5" dirty="0">
                <a:latin typeface="Carlito"/>
                <a:cs typeface="Carlito"/>
              </a:rPr>
              <a:t>is</a:t>
            </a:r>
            <a:r>
              <a:rPr sz="2800" b="1" spc="5" dirty="0">
                <a:latin typeface="Carlito"/>
                <a:cs typeface="Carlito"/>
              </a:rPr>
              <a:t> </a:t>
            </a:r>
            <a:r>
              <a:rPr sz="2800" b="1" spc="-5" dirty="0">
                <a:latin typeface="Carlito"/>
                <a:cs typeface="Carlito"/>
              </a:rPr>
              <a:t>Vishnu?</a:t>
            </a:r>
            <a:endParaRPr sz="2800" dirty="0">
              <a:latin typeface="Carlito"/>
              <a:cs typeface="Carlito"/>
            </a:endParaRPr>
          </a:p>
          <a:p>
            <a:pPr marL="12700" marR="63500" algn="just">
              <a:lnSpc>
                <a:spcPct val="90000"/>
              </a:lnSpc>
              <a:spcBef>
                <a:spcPts val="994"/>
              </a:spcBef>
            </a:pPr>
            <a:r>
              <a:rPr sz="2800" spc="-10" dirty="0">
                <a:latin typeface="Carlito"/>
                <a:cs typeface="Carlito"/>
              </a:rPr>
              <a:t>Out </a:t>
            </a:r>
            <a:r>
              <a:rPr sz="2800" spc="-5" dirty="0">
                <a:latin typeface="Carlito"/>
                <a:cs typeface="Carlito"/>
              </a:rPr>
              <a:t>of </a:t>
            </a:r>
            <a:r>
              <a:rPr sz="2800" spc="-10" dirty="0">
                <a:latin typeface="Carlito"/>
                <a:cs typeface="Carlito"/>
              </a:rPr>
              <a:t>Vishnu this </a:t>
            </a:r>
            <a:r>
              <a:rPr sz="2800" spc="-20" dirty="0">
                <a:latin typeface="Carlito"/>
                <a:cs typeface="Carlito"/>
              </a:rPr>
              <a:t>universe </a:t>
            </a:r>
            <a:r>
              <a:rPr sz="2800" spc="-10" dirty="0">
                <a:latin typeface="Carlito"/>
                <a:cs typeface="Carlito"/>
              </a:rPr>
              <a:t>has </a:t>
            </a:r>
            <a:r>
              <a:rPr sz="2800" spc="-5" dirty="0">
                <a:latin typeface="Carlito"/>
                <a:cs typeface="Carlito"/>
              </a:rPr>
              <a:t>arisen,  in </a:t>
            </a:r>
            <a:r>
              <a:rPr sz="2800" spc="-10" dirty="0">
                <a:latin typeface="Carlito"/>
                <a:cs typeface="Carlito"/>
              </a:rPr>
              <a:t>him </a:t>
            </a:r>
            <a:r>
              <a:rPr sz="2800" spc="-5" dirty="0">
                <a:latin typeface="Carlito"/>
                <a:cs typeface="Carlito"/>
              </a:rPr>
              <a:t>its </a:t>
            </a:r>
            <a:r>
              <a:rPr sz="2800" spc="-20" dirty="0">
                <a:latin typeface="Carlito"/>
                <a:cs typeface="Carlito"/>
              </a:rPr>
              <a:t>exists, </a:t>
            </a:r>
            <a:r>
              <a:rPr sz="2800" spc="-5" dirty="0">
                <a:latin typeface="Carlito"/>
                <a:cs typeface="Carlito"/>
              </a:rPr>
              <a:t>he is the one who  </a:t>
            </a:r>
            <a:r>
              <a:rPr sz="2800" spc="-15" dirty="0">
                <a:latin typeface="Carlito"/>
                <a:cs typeface="Carlito"/>
              </a:rPr>
              <a:t>governs </a:t>
            </a:r>
            <a:r>
              <a:rPr sz="2800" spc="-5" dirty="0">
                <a:latin typeface="Carlito"/>
                <a:cs typeface="Carlito"/>
              </a:rPr>
              <a:t>its </a:t>
            </a:r>
            <a:r>
              <a:rPr sz="2800" spc="-20" dirty="0">
                <a:latin typeface="Carlito"/>
                <a:cs typeface="Carlito"/>
              </a:rPr>
              <a:t>existence </a:t>
            </a:r>
            <a:r>
              <a:rPr sz="2800" spc="-5" dirty="0">
                <a:latin typeface="Carlito"/>
                <a:cs typeface="Carlito"/>
              </a:rPr>
              <a:t>and </a:t>
            </a:r>
            <a:r>
              <a:rPr sz="2800" spc="-10" dirty="0">
                <a:latin typeface="Carlito"/>
                <a:cs typeface="Carlito"/>
              </a:rPr>
              <a:t>destruction,  </a:t>
            </a:r>
            <a:r>
              <a:rPr sz="2800" spc="-5" dirty="0">
                <a:latin typeface="Carlito"/>
                <a:cs typeface="Carlito"/>
              </a:rPr>
              <a:t>he is the</a:t>
            </a:r>
            <a:r>
              <a:rPr sz="2800" spc="5" dirty="0">
                <a:latin typeface="Carlito"/>
                <a:cs typeface="Carlito"/>
              </a:rPr>
              <a:t> </a:t>
            </a:r>
            <a:r>
              <a:rPr sz="2800" spc="-20" dirty="0">
                <a:latin typeface="Carlito"/>
                <a:cs typeface="Carlito"/>
              </a:rPr>
              <a:t>universe.</a:t>
            </a:r>
            <a:endParaRPr sz="2800" dirty="0">
              <a:latin typeface="Carlito"/>
              <a:cs typeface="Carlito"/>
            </a:endParaRPr>
          </a:p>
        </p:txBody>
      </p:sp>
      <p:sp>
        <p:nvSpPr>
          <p:cNvPr id="4" name="object 4"/>
          <p:cNvSpPr/>
          <p:nvPr/>
        </p:nvSpPr>
        <p:spPr>
          <a:xfrm>
            <a:off x="5722862" y="1447800"/>
            <a:ext cx="3001518" cy="4739640"/>
          </a:xfrm>
          <a:prstGeom prst="rect">
            <a:avLst/>
          </a:prstGeom>
          <a:blipFill>
            <a:blip r:embed="rId2" cstate="print"/>
            <a:stretch>
              <a:fillRect/>
            </a:stretch>
          </a:blipFill>
        </p:spPr>
        <p:txBody>
          <a:bodyPr wrap="square" lIns="0" tIns="0" rIns="0" bIns="0" rtlCol="0"/>
          <a:lstStyle/>
          <a:p>
            <a:endParaRPr/>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220" dirty="0">
                <a:solidFill>
                  <a:srgbClr val="001F5F"/>
                </a:solidFill>
                <a:latin typeface="Arial"/>
                <a:cs typeface="Arial"/>
              </a:rPr>
              <a:t>Oldest </a:t>
            </a:r>
            <a:r>
              <a:rPr lang="en-US" sz="2800" spc="-265" dirty="0" err="1">
                <a:solidFill>
                  <a:srgbClr val="001F5F"/>
                </a:solidFill>
                <a:latin typeface="Arial"/>
                <a:cs typeface="Arial"/>
              </a:rPr>
              <a:t>Purana</a:t>
            </a:r>
            <a:r>
              <a:rPr lang="en-US" sz="2800" spc="-265" dirty="0">
                <a:solidFill>
                  <a:srgbClr val="001F5F"/>
                </a:solidFill>
                <a:latin typeface="Arial"/>
                <a:cs typeface="Arial"/>
              </a:rPr>
              <a:t>: </a:t>
            </a:r>
            <a:r>
              <a:rPr lang="en-US" sz="2800" spc="-125" dirty="0">
                <a:solidFill>
                  <a:srgbClr val="001F5F"/>
                </a:solidFill>
                <a:latin typeface="Arial"/>
                <a:cs typeface="Arial"/>
              </a:rPr>
              <a:t>Vishnu</a:t>
            </a:r>
            <a:r>
              <a:rPr lang="en-US" sz="2800" spc="-65" dirty="0">
                <a:solidFill>
                  <a:srgbClr val="001F5F"/>
                </a:solidFill>
                <a:latin typeface="Arial"/>
                <a:cs typeface="Arial"/>
              </a:rPr>
              <a:t> </a:t>
            </a:r>
            <a:r>
              <a:rPr lang="en-US" sz="2800" spc="-245" dirty="0" err="1">
                <a:solidFill>
                  <a:srgbClr val="001F5F"/>
                </a:solidFill>
                <a:latin typeface="Arial"/>
                <a:cs typeface="Arial"/>
              </a:rPr>
              <a:t>Purana</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657905E4-3521-447D-B2C6-E4D0133A67FB}"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46</a:t>
            </a:fld>
            <a:endParaRPr lang="en-US"/>
          </a:p>
        </p:txBody>
      </p:sp>
    </p:spTree>
    <p:extLst>
      <p:ext uri="{BB962C8B-B14F-4D97-AF65-F5344CB8AC3E}">
        <p14:creationId xmlns:p14="http://schemas.microsoft.com/office/powerpoint/2010/main" xmlns="" val="29429685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8482" y="1504264"/>
            <a:ext cx="1206838" cy="474489"/>
          </a:xfrm>
          <a:prstGeom prst="rect">
            <a:avLst/>
          </a:prstGeom>
        </p:spPr>
        <p:txBody>
          <a:bodyPr vert="horz" wrap="square" lIns="0" tIns="12700" rIns="0" bIns="0" rtlCol="0">
            <a:spAutoFit/>
          </a:bodyPr>
          <a:lstStyle/>
          <a:p>
            <a:pPr marL="12700">
              <a:lnSpc>
                <a:spcPct val="100000"/>
              </a:lnSpc>
              <a:spcBef>
                <a:spcPts val="100"/>
              </a:spcBef>
            </a:pPr>
            <a:r>
              <a:rPr sz="3000" spc="295" dirty="0">
                <a:solidFill>
                  <a:srgbClr val="0D0D0D"/>
                </a:solidFill>
                <a:latin typeface="Carlito"/>
                <a:cs typeface="Carlito"/>
              </a:rPr>
              <a:t>A</a:t>
            </a:r>
            <a:r>
              <a:rPr sz="3000" spc="300" dirty="0">
                <a:solidFill>
                  <a:srgbClr val="0D0D0D"/>
                </a:solidFill>
                <a:latin typeface="Carlito"/>
                <a:cs typeface="Carlito"/>
              </a:rPr>
              <a:t>g</a:t>
            </a:r>
            <a:r>
              <a:rPr sz="3000" spc="290" dirty="0">
                <a:solidFill>
                  <a:srgbClr val="0D0D0D"/>
                </a:solidFill>
                <a:latin typeface="Carlito"/>
                <a:cs typeface="Carlito"/>
              </a:rPr>
              <a:t>n</a:t>
            </a:r>
            <a:r>
              <a:rPr sz="3000" dirty="0">
                <a:solidFill>
                  <a:srgbClr val="0D0D0D"/>
                </a:solidFill>
                <a:latin typeface="Carlito"/>
                <a:cs typeface="Carlito"/>
              </a:rPr>
              <a:t>i</a:t>
            </a:r>
            <a:endParaRPr sz="3000" dirty="0">
              <a:latin typeface="Carlito"/>
              <a:cs typeface="Carlito"/>
            </a:endParaRPr>
          </a:p>
        </p:txBody>
      </p:sp>
      <p:sp>
        <p:nvSpPr>
          <p:cNvPr id="4" name="object 4"/>
          <p:cNvSpPr txBox="1"/>
          <p:nvPr/>
        </p:nvSpPr>
        <p:spPr>
          <a:xfrm>
            <a:off x="444932" y="3323590"/>
            <a:ext cx="2145868" cy="474489"/>
          </a:xfrm>
          <a:prstGeom prst="rect">
            <a:avLst/>
          </a:prstGeom>
        </p:spPr>
        <p:txBody>
          <a:bodyPr vert="horz" wrap="square" lIns="0" tIns="12700" rIns="0" bIns="0" rtlCol="0">
            <a:spAutoFit/>
          </a:bodyPr>
          <a:lstStyle/>
          <a:p>
            <a:pPr marL="12700">
              <a:lnSpc>
                <a:spcPct val="100000"/>
              </a:lnSpc>
              <a:spcBef>
                <a:spcPts val="100"/>
              </a:spcBef>
            </a:pPr>
            <a:r>
              <a:rPr sz="3000" spc="295" dirty="0">
                <a:solidFill>
                  <a:srgbClr val="0D0D0D"/>
                </a:solidFill>
                <a:latin typeface="Carlito"/>
                <a:cs typeface="Carlito"/>
              </a:rPr>
              <a:t>B</a:t>
            </a:r>
            <a:r>
              <a:rPr sz="3000" spc="290" dirty="0">
                <a:solidFill>
                  <a:srgbClr val="0D0D0D"/>
                </a:solidFill>
                <a:latin typeface="Carlito"/>
                <a:cs typeface="Carlito"/>
              </a:rPr>
              <a:t>h</a:t>
            </a:r>
            <a:r>
              <a:rPr sz="3000" spc="300" dirty="0">
                <a:solidFill>
                  <a:srgbClr val="0D0D0D"/>
                </a:solidFill>
                <a:latin typeface="Carlito"/>
                <a:cs typeface="Carlito"/>
              </a:rPr>
              <a:t>a</a:t>
            </a:r>
            <a:r>
              <a:rPr sz="3000" spc="240" dirty="0">
                <a:solidFill>
                  <a:srgbClr val="0D0D0D"/>
                </a:solidFill>
                <a:latin typeface="Carlito"/>
                <a:cs typeface="Carlito"/>
              </a:rPr>
              <a:t>g</a:t>
            </a:r>
            <a:r>
              <a:rPr sz="3000" spc="250" dirty="0">
                <a:solidFill>
                  <a:srgbClr val="0D0D0D"/>
                </a:solidFill>
                <a:latin typeface="Carlito"/>
                <a:cs typeface="Carlito"/>
              </a:rPr>
              <a:t>av</a:t>
            </a:r>
            <a:r>
              <a:rPr sz="3000" spc="275" dirty="0">
                <a:solidFill>
                  <a:srgbClr val="0D0D0D"/>
                </a:solidFill>
                <a:latin typeface="Carlito"/>
                <a:cs typeface="Carlito"/>
              </a:rPr>
              <a:t>a</a:t>
            </a:r>
            <a:r>
              <a:rPr sz="3000" spc="260" dirty="0">
                <a:solidFill>
                  <a:srgbClr val="0D0D0D"/>
                </a:solidFill>
                <a:latin typeface="Carlito"/>
                <a:cs typeface="Carlito"/>
              </a:rPr>
              <a:t>t</a:t>
            </a:r>
            <a:r>
              <a:rPr sz="3000" dirty="0">
                <a:solidFill>
                  <a:srgbClr val="0D0D0D"/>
                </a:solidFill>
                <a:latin typeface="Carlito"/>
                <a:cs typeface="Carlito"/>
              </a:rPr>
              <a:t>a</a:t>
            </a:r>
            <a:endParaRPr sz="3000" dirty="0">
              <a:latin typeface="Carlito"/>
              <a:cs typeface="Carlito"/>
            </a:endParaRPr>
          </a:p>
        </p:txBody>
      </p:sp>
      <p:sp>
        <p:nvSpPr>
          <p:cNvPr id="5" name="object 5"/>
          <p:cNvSpPr txBox="1"/>
          <p:nvPr/>
        </p:nvSpPr>
        <p:spPr>
          <a:xfrm>
            <a:off x="434644" y="2414981"/>
            <a:ext cx="1599095" cy="474489"/>
          </a:xfrm>
          <a:prstGeom prst="rect">
            <a:avLst/>
          </a:prstGeom>
        </p:spPr>
        <p:txBody>
          <a:bodyPr vert="horz" wrap="square" lIns="0" tIns="12700" rIns="0" bIns="0" rtlCol="0">
            <a:spAutoFit/>
          </a:bodyPr>
          <a:lstStyle/>
          <a:p>
            <a:pPr marL="12700">
              <a:lnSpc>
                <a:spcPct val="100000"/>
              </a:lnSpc>
              <a:spcBef>
                <a:spcPts val="100"/>
              </a:spcBef>
            </a:pPr>
            <a:r>
              <a:rPr sz="3000" spc="290" dirty="0">
                <a:solidFill>
                  <a:srgbClr val="0D0D0D"/>
                </a:solidFill>
                <a:latin typeface="Carlito"/>
                <a:cs typeface="Carlito"/>
              </a:rPr>
              <a:t>Bh</a:t>
            </a:r>
            <a:r>
              <a:rPr sz="3000" spc="235" dirty="0">
                <a:solidFill>
                  <a:srgbClr val="0D0D0D"/>
                </a:solidFill>
                <a:latin typeface="Carlito"/>
                <a:cs typeface="Carlito"/>
              </a:rPr>
              <a:t>r</a:t>
            </a:r>
            <a:r>
              <a:rPr sz="3000" spc="300" dirty="0">
                <a:solidFill>
                  <a:srgbClr val="0D0D0D"/>
                </a:solidFill>
                <a:latin typeface="Carlito"/>
                <a:cs typeface="Carlito"/>
              </a:rPr>
              <a:t>a</a:t>
            </a:r>
            <a:r>
              <a:rPr sz="3000" spc="295" dirty="0">
                <a:solidFill>
                  <a:srgbClr val="0D0D0D"/>
                </a:solidFill>
                <a:latin typeface="Carlito"/>
                <a:cs typeface="Carlito"/>
              </a:rPr>
              <a:t>m</a:t>
            </a:r>
            <a:r>
              <a:rPr sz="3000" dirty="0">
                <a:solidFill>
                  <a:srgbClr val="0D0D0D"/>
                </a:solidFill>
                <a:latin typeface="Carlito"/>
                <a:cs typeface="Carlito"/>
              </a:rPr>
              <a:t>a</a:t>
            </a:r>
            <a:endParaRPr sz="3000" dirty="0">
              <a:latin typeface="Carlito"/>
              <a:cs typeface="Carlito"/>
            </a:endParaRPr>
          </a:p>
        </p:txBody>
      </p:sp>
      <p:sp>
        <p:nvSpPr>
          <p:cNvPr id="6" name="object 6"/>
          <p:cNvSpPr txBox="1"/>
          <p:nvPr/>
        </p:nvSpPr>
        <p:spPr>
          <a:xfrm>
            <a:off x="449732" y="4240783"/>
            <a:ext cx="2397024" cy="474489"/>
          </a:xfrm>
          <a:prstGeom prst="rect">
            <a:avLst/>
          </a:prstGeom>
        </p:spPr>
        <p:txBody>
          <a:bodyPr vert="horz" wrap="square" lIns="0" tIns="12700" rIns="0" bIns="0" rtlCol="0">
            <a:spAutoFit/>
          </a:bodyPr>
          <a:lstStyle/>
          <a:p>
            <a:pPr marL="12700">
              <a:lnSpc>
                <a:spcPct val="100000"/>
              </a:lnSpc>
              <a:spcBef>
                <a:spcPts val="100"/>
              </a:spcBef>
            </a:pPr>
            <a:r>
              <a:rPr sz="3000" spc="295" dirty="0">
                <a:solidFill>
                  <a:srgbClr val="0D0D0D"/>
                </a:solidFill>
                <a:latin typeface="Carlito"/>
                <a:cs typeface="Carlito"/>
              </a:rPr>
              <a:t>B</a:t>
            </a:r>
            <a:r>
              <a:rPr sz="3000" spc="235" dirty="0">
                <a:solidFill>
                  <a:srgbClr val="0D0D0D"/>
                </a:solidFill>
                <a:latin typeface="Carlito"/>
                <a:cs typeface="Carlito"/>
              </a:rPr>
              <a:t>r</a:t>
            </a:r>
            <a:r>
              <a:rPr sz="3000" spc="300" dirty="0">
                <a:solidFill>
                  <a:srgbClr val="0D0D0D"/>
                </a:solidFill>
                <a:latin typeface="Carlito"/>
                <a:cs typeface="Carlito"/>
              </a:rPr>
              <a:t>a</a:t>
            </a:r>
            <a:r>
              <a:rPr sz="3000" spc="290" dirty="0">
                <a:solidFill>
                  <a:srgbClr val="0D0D0D"/>
                </a:solidFill>
                <a:latin typeface="Carlito"/>
                <a:cs typeface="Carlito"/>
              </a:rPr>
              <a:t>h</a:t>
            </a:r>
            <a:r>
              <a:rPr sz="3000" spc="300" dirty="0">
                <a:solidFill>
                  <a:srgbClr val="0D0D0D"/>
                </a:solidFill>
                <a:latin typeface="Carlito"/>
                <a:cs typeface="Carlito"/>
              </a:rPr>
              <a:t>ma</a:t>
            </a:r>
            <a:r>
              <a:rPr sz="3000" spc="290" dirty="0">
                <a:solidFill>
                  <a:srgbClr val="0D0D0D"/>
                </a:solidFill>
                <a:latin typeface="Carlito"/>
                <a:cs typeface="Carlito"/>
              </a:rPr>
              <a:t>nd</a:t>
            </a:r>
            <a:r>
              <a:rPr sz="3000" dirty="0">
                <a:solidFill>
                  <a:srgbClr val="0D0D0D"/>
                </a:solidFill>
                <a:latin typeface="Carlito"/>
                <a:cs typeface="Carlito"/>
              </a:rPr>
              <a:t>a</a:t>
            </a:r>
            <a:endParaRPr sz="3000" dirty="0">
              <a:latin typeface="Carlito"/>
              <a:cs typeface="Carlito"/>
            </a:endParaRPr>
          </a:p>
        </p:txBody>
      </p:sp>
      <p:sp>
        <p:nvSpPr>
          <p:cNvPr id="7" name="object 7"/>
          <p:cNvSpPr txBox="1"/>
          <p:nvPr/>
        </p:nvSpPr>
        <p:spPr>
          <a:xfrm>
            <a:off x="191320" y="5931230"/>
            <a:ext cx="3237680" cy="474489"/>
          </a:xfrm>
          <a:prstGeom prst="rect">
            <a:avLst/>
          </a:prstGeom>
        </p:spPr>
        <p:txBody>
          <a:bodyPr vert="horz" wrap="square" lIns="0" tIns="12700" rIns="0" bIns="0" rtlCol="0">
            <a:spAutoFit/>
          </a:bodyPr>
          <a:lstStyle/>
          <a:p>
            <a:pPr marL="12700">
              <a:lnSpc>
                <a:spcPct val="100000"/>
              </a:lnSpc>
              <a:spcBef>
                <a:spcPts val="100"/>
              </a:spcBef>
            </a:pPr>
            <a:r>
              <a:rPr sz="3000" spc="270" dirty="0">
                <a:solidFill>
                  <a:srgbClr val="0D0D0D"/>
                </a:solidFill>
                <a:latin typeface="Arial"/>
                <a:cs typeface="Arial"/>
              </a:rPr>
              <a:t>Brahmavaivarta</a:t>
            </a:r>
            <a:endParaRPr sz="3000" dirty="0">
              <a:latin typeface="Arial"/>
              <a:cs typeface="Arial"/>
            </a:endParaRPr>
          </a:p>
        </p:txBody>
      </p:sp>
      <p:sp>
        <p:nvSpPr>
          <p:cNvPr id="8" name="object 8"/>
          <p:cNvSpPr txBox="1"/>
          <p:nvPr/>
        </p:nvSpPr>
        <p:spPr>
          <a:xfrm>
            <a:off x="479451" y="5204561"/>
            <a:ext cx="2111349" cy="474489"/>
          </a:xfrm>
          <a:prstGeom prst="rect">
            <a:avLst/>
          </a:prstGeom>
        </p:spPr>
        <p:txBody>
          <a:bodyPr vert="horz" wrap="square" lIns="0" tIns="12700" rIns="0" bIns="0" rtlCol="0">
            <a:spAutoFit/>
          </a:bodyPr>
          <a:lstStyle/>
          <a:p>
            <a:pPr marL="12700">
              <a:lnSpc>
                <a:spcPct val="100000"/>
              </a:lnSpc>
              <a:spcBef>
                <a:spcPts val="100"/>
              </a:spcBef>
            </a:pPr>
            <a:r>
              <a:rPr sz="3000" spc="290" dirty="0">
                <a:solidFill>
                  <a:srgbClr val="0D0D0D"/>
                </a:solidFill>
                <a:latin typeface="Arial"/>
                <a:cs typeface="Arial"/>
              </a:rPr>
              <a:t>Grarud</a:t>
            </a:r>
            <a:r>
              <a:rPr sz="3000" spc="-5" dirty="0">
                <a:solidFill>
                  <a:srgbClr val="0D0D0D"/>
                </a:solidFill>
                <a:latin typeface="Arial"/>
                <a:cs typeface="Arial"/>
              </a:rPr>
              <a:t>a</a:t>
            </a:r>
            <a:endParaRPr sz="3000" dirty="0">
              <a:latin typeface="Arial"/>
              <a:cs typeface="Arial"/>
            </a:endParaRPr>
          </a:p>
        </p:txBody>
      </p:sp>
      <p:sp>
        <p:nvSpPr>
          <p:cNvPr id="9" name="object 9"/>
          <p:cNvSpPr txBox="1"/>
          <p:nvPr/>
        </p:nvSpPr>
        <p:spPr>
          <a:xfrm>
            <a:off x="3900202" y="3367785"/>
            <a:ext cx="1586198" cy="474489"/>
          </a:xfrm>
          <a:prstGeom prst="rect">
            <a:avLst/>
          </a:prstGeom>
        </p:spPr>
        <p:txBody>
          <a:bodyPr vert="horz" wrap="square" lIns="0" tIns="12700" rIns="0" bIns="0" rtlCol="0">
            <a:spAutoFit/>
          </a:bodyPr>
          <a:lstStyle/>
          <a:p>
            <a:pPr marL="12700">
              <a:lnSpc>
                <a:spcPct val="100000"/>
              </a:lnSpc>
              <a:spcBef>
                <a:spcPts val="100"/>
              </a:spcBef>
            </a:pPr>
            <a:r>
              <a:rPr sz="3000" spc="300" dirty="0">
                <a:solidFill>
                  <a:srgbClr val="0D0D0D"/>
                </a:solidFill>
                <a:latin typeface="Arial"/>
                <a:cs typeface="Arial"/>
              </a:rPr>
              <a:t>K</a:t>
            </a:r>
            <a:r>
              <a:rPr sz="3000" spc="290" dirty="0">
                <a:solidFill>
                  <a:srgbClr val="0D0D0D"/>
                </a:solidFill>
                <a:latin typeface="Arial"/>
                <a:cs typeface="Arial"/>
              </a:rPr>
              <a:t>urm</a:t>
            </a:r>
            <a:r>
              <a:rPr sz="3000" spc="-5" dirty="0">
                <a:solidFill>
                  <a:srgbClr val="0D0D0D"/>
                </a:solidFill>
                <a:latin typeface="Arial"/>
                <a:cs typeface="Arial"/>
              </a:rPr>
              <a:t>a</a:t>
            </a:r>
            <a:endParaRPr sz="3000" dirty="0">
              <a:latin typeface="Arial"/>
              <a:cs typeface="Arial"/>
            </a:endParaRPr>
          </a:p>
        </p:txBody>
      </p:sp>
      <p:sp>
        <p:nvSpPr>
          <p:cNvPr id="10" name="object 10"/>
          <p:cNvSpPr txBox="1"/>
          <p:nvPr/>
        </p:nvSpPr>
        <p:spPr>
          <a:xfrm>
            <a:off x="3900202" y="1476502"/>
            <a:ext cx="1586198" cy="474489"/>
          </a:xfrm>
          <a:prstGeom prst="rect">
            <a:avLst/>
          </a:prstGeom>
        </p:spPr>
        <p:txBody>
          <a:bodyPr vert="horz" wrap="square" lIns="0" tIns="12700" rIns="0" bIns="0" rtlCol="0">
            <a:spAutoFit/>
          </a:bodyPr>
          <a:lstStyle/>
          <a:p>
            <a:pPr marL="12700">
              <a:lnSpc>
                <a:spcPct val="100000"/>
              </a:lnSpc>
              <a:spcBef>
                <a:spcPts val="100"/>
              </a:spcBef>
            </a:pPr>
            <a:r>
              <a:rPr sz="3000" spc="290" dirty="0">
                <a:solidFill>
                  <a:srgbClr val="0D0D0D"/>
                </a:solidFill>
                <a:latin typeface="Arial"/>
                <a:cs typeface="Arial"/>
              </a:rPr>
              <a:t>L</a:t>
            </a:r>
            <a:r>
              <a:rPr sz="3000" spc="295" dirty="0">
                <a:solidFill>
                  <a:srgbClr val="0D0D0D"/>
                </a:solidFill>
                <a:latin typeface="Arial"/>
                <a:cs typeface="Arial"/>
              </a:rPr>
              <a:t>i</a:t>
            </a:r>
            <a:r>
              <a:rPr sz="3000" spc="290" dirty="0">
                <a:solidFill>
                  <a:srgbClr val="0D0D0D"/>
                </a:solidFill>
                <a:latin typeface="Arial"/>
                <a:cs typeface="Arial"/>
              </a:rPr>
              <a:t>ng</a:t>
            </a:r>
            <a:r>
              <a:rPr sz="3000" spc="-5" dirty="0">
                <a:solidFill>
                  <a:srgbClr val="0D0D0D"/>
                </a:solidFill>
                <a:latin typeface="Arial"/>
                <a:cs typeface="Arial"/>
              </a:rPr>
              <a:t>a</a:t>
            </a:r>
            <a:endParaRPr sz="3000" dirty="0">
              <a:latin typeface="Arial"/>
              <a:cs typeface="Arial"/>
            </a:endParaRPr>
          </a:p>
        </p:txBody>
      </p:sp>
      <p:sp>
        <p:nvSpPr>
          <p:cNvPr id="11" name="object 11"/>
          <p:cNvSpPr txBox="1"/>
          <p:nvPr/>
        </p:nvSpPr>
        <p:spPr>
          <a:xfrm>
            <a:off x="3900202" y="6119571"/>
            <a:ext cx="2729198" cy="474489"/>
          </a:xfrm>
          <a:prstGeom prst="rect">
            <a:avLst/>
          </a:prstGeom>
        </p:spPr>
        <p:txBody>
          <a:bodyPr vert="horz" wrap="square" lIns="0" tIns="12700" rIns="0" bIns="0" rtlCol="0">
            <a:spAutoFit/>
          </a:bodyPr>
          <a:lstStyle/>
          <a:p>
            <a:pPr marL="12700">
              <a:lnSpc>
                <a:spcPct val="100000"/>
              </a:lnSpc>
              <a:spcBef>
                <a:spcPts val="100"/>
              </a:spcBef>
            </a:pPr>
            <a:r>
              <a:rPr sz="3000" spc="260" dirty="0">
                <a:solidFill>
                  <a:srgbClr val="0D0D0D"/>
                </a:solidFill>
                <a:latin typeface="Arial"/>
                <a:cs typeface="Arial"/>
              </a:rPr>
              <a:t>Markandeya</a:t>
            </a:r>
            <a:endParaRPr sz="3000" dirty="0">
              <a:latin typeface="Arial"/>
              <a:cs typeface="Arial"/>
            </a:endParaRPr>
          </a:p>
        </p:txBody>
      </p:sp>
      <p:sp>
        <p:nvSpPr>
          <p:cNvPr id="12" name="object 12"/>
          <p:cNvSpPr txBox="1"/>
          <p:nvPr/>
        </p:nvSpPr>
        <p:spPr>
          <a:xfrm>
            <a:off x="3887152" y="4326458"/>
            <a:ext cx="1599248" cy="474489"/>
          </a:xfrm>
          <a:prstGeom prst="rect">
            <a:avLst/>
          </a:prstGeom>
        </p:spPr>
        <p:txBody>
          <a:bodyPr vert="horz" wrap="square" lIns="0" tIns="12700" rIns="0" bIns="0" rtlCol="0">
            <a:spAutoFit/>
          </a:bodyPr>
          <a:lstStyle/>
          <a:p>
            <a:pPr marL="12700">
              <a:lnSpc>
                <a:spcPct val="100000"/>
              </a:lnSpc>
              <a:spcBef>
                <a:spcPts val="100"/>
              </a:spcBef>
            </a:pPr>
            <a:r>
              <a:rPr sz="3000" spc="240" dirty="0">
                <a:solidFill>
                  <a:srgbClr val="0D0D0D"/>
                </a:solidFill>
                <a:latin typeface="Arial"/>
                <a:cs typeface="Arial"/>
              </a:rPr>
              <a:t>Matsya</a:t>
            </a:r>
            <a:endParaRPr sz="3000" dirty="0">
              <a:latin typeface="Arial"/>
              <a:cs typeface="Arial"/>
            </a:endParaRPr>
          </a:p>
        </p:txBody>
      </p:sp>
      <p:sp>
        <p:nvSpPr>
          <p:cNvPr id="13" name="object 13"/>
          <p:cNvSpPr txBox="1"/>
          <p:nvPr/>
        </p:nvSpPr>
        <p:spPr>
          <a:xfrm>
            <a:off x="3900202" y="5223154"/>
            <a:ext cx="1586198" cy="474489"/>
          </a:xfrm>
          <a:prstGeom prst="rect">
            <a:avLst/>
          </a:prstGeom>
        </p:spPr>
        <p:txBody>
          <a:bodyPr vert="horz" wrap="square" lIns="0" tIns="12700" rIns="0" bIns="0" rtlCol="0">
            <a:spAutoFit/>
          </a:bodyPr>
          <a:lstStyle/>
          <a:p>
            <a:pPr marL="12700">
              <a:lnSpc>
                <a:spcPct val="100000"/>
              </a:lnSpc>
              <a:spcBef>
                <a:spcPts val="100"/>
              </a:spcBef>
            </a:pPr>
            <a:r>
              <a:rPr sz="3000" spc="295" dirty="0">
                <a:solidFill>
                  <a:srgbClr val="0D0D0D"/>
                </a:solidFill>
                <a:latin typeface="Arial"/>
                <a:cs typeface="Arial"/>
              </a:rPr>
              <a:t>N</a:t>
            </a:r>
            <a:r>
              <a:rPr sz="3000" spc="290" dirty="0">
                <a:solidFill>
                  <a:srgbClr val="0D0D0D"/>
                </a:solidFill>
                <a:latin typeface="Arial"/>
                <a:cs typeface="Arial"/>
              </a:rPr>
              <a:t>arad</a:t>
            </a:r>
            <a:r>
              <a:rPr sz="3000" spc="-5" dirty="0">
                <a:solidFill>
                  <a:srgbClr val="0D0D0D"/>
                </a:solidFill>
                <a:latin typeface="Arial"/>
                <a:cs typeface="Arial"/>
              </a:rPr>
              <a:t>a</a:t>
            </a:r>
            <a:endParaRPr sz="3000" dirty="0">
              <a:latin typeface="Arial"/>
              <a:cs typeface="Arial"/>
            </a:endParaRPr>
          </a:p>
        </p:txBody>
      </p:sp>
      <p:sp>
        <p:nvSpPr>
          <p:cNvPr id="14" name="object 14"/>
          <p:cNvSpPr txBox="1"/>
          <p:nvPr/>
        </p:nvSpPr>
        <p:spPr>
          <a:xfrm>
            <a:off x="3900202" y="2421128"/>
            <a:ext cx="1586198" cy="474489"/>
          </a:xfrm>
          <a:prstGeom prst="rect">
            <a:avLst/>
          </a:prstGeom>
        </p:spPr>
        <p:txBody>
          <a:bodyPr vert="horz" wrap="square" lIns="0" tIns="12700" rIns="0" bIns="0" rtlCol="0">
            <a:spAutoFit/>
          </a:bodyPr>
          <a:lstStyle/>
          <a:p>
            <a:pPr marL="12700">
              <a:lnSpc>
                <a:spcPct val="100000"/>
              </a:lnSpc>
              <a:spcBef>
                <a:spcPts val="100"/>
              </a:spcBef>
            </a:pPr>
            <a:r>
              <a:rPr sz="3000" spc="300" dirty="0">
                <a:solidFill>
                  <a:srgbClr val="0D0D0D"/>
                </a:solidFill>
                <a:latin typeface="Arial"/>
                <a:cs typeface="Arial"/>
              </a:rPr>
              <a:t>P</a:t>
            </a:r>
            <a:r>
              <a:rPr sz="3000" spc="290" dirty="0">
                <a:solidFill>
                  <a:srgbClr val="0D0D0D"/>
                </a:solidFill>
                <a:latin typeface="Arial"/>
                <a:cs typeface="Arial"/>
              </a:rPr>
              <a:t>adm</a:t>
            </a:r>
            <a:r>
              <a:rPr sz="3000" spc="-5" dirty="0">
                <a:solidFill>
                  <a:srgbClr val="0D0D0D"/>
                </a:solidFill>
                <a:latin typeface="Arial"/>
                <a:cs typeface="Arial"/>
              </a:rPr>
              <a:t>a</a:t>
            </a:r>
            <a:endParaRPr sz="3000" dirty="0">
              <a:latin typeface="Arial"/>
              <a:cs typeface="Arial"/>
            </a:endParaRPr>
          </a:p>
        </p:txBody>
      </p:sp>
      <p:sp>
        <p:nvSpPr>
          <p:cNvPr id="15" name="object 15"/>
          <p:cNvSpPr txBox="1"/>
          <p:nvPr/>
        </p:nvSpPr>
        <p:spPr>
          <a:xfrm>
            <a:off x="7334250" y="1520444"/>
            <a:ext cx="1352550" cy="474489"/>
          </a:xfrm>
          <a:prstGeom prst="rect">
            <a:avLst/>
          </a:prstGeom>
        </p:spPr>
        <p:txBody>
          <a:bodyPr vert="horz" wrap="square" lIns="0" tIns="12700" rIns="0" bIns="0" rtlCol="0">
            <a:spAutoFit/>
          </a:bodyPr>
          <a:lstStyle/>
          <a:p>
            <a:pPr marL="12700">
              <a:lnSpc>
                <a:spcPct val="100000"/>
              </a:lnSpc>
              <a:spcBef>
                <a:spcPts val="100"/>
              </a:spcBef>
            </a:pPr>
            <a:r>
              <a:rPr sz="3000" spc="300" dirty="0">
                <a:solidFill>
                  <a:srgbClr val="0D0D0D"/>
                </a:solidFill>
                <a:latin typeface="Arial"/>
                <a:cs typeface="Arial"/>
              </a:rPr>
              <a:t>S</a:t>
            </a:r>
            <a:r>
              <a:rPr sz="3000" spc="290" dirty="0">
                <a:solidFill>
                  <a:srgbClr val="0D0D0D"/>
                </a:solidFill>
                <a:latin typeface="Arial"/>
                <a:cs typeface="Arial"/>
              </a:rPr>
              <a:t>h</a:t>
            </a:r>
            <a:r>
              <a:rPr sz="3000" spc="295" dirty="0">
                <a:solidFill>
                  <a:srgbClr val="0D0D0D"/>
                </a:solidFill>
                <a:latin typeface="Arial"/>
                <a:cs typeface="Arial"/>
              </a:rPr>
              <a:t>iv</a:t>
            </a:r>
            <a:r>
              <a:rPr sz="3000" spc="-5" dirty="0">
                <a:solidFill>
                  <a:srgbClr val="0D0D0D"/>
                </a:solidFill>
                <a:latin typeface="Arial"/>
                <a:cs typeface="Arial"/>
              </a:rPr>
              <a:t>a</a:t>
            </a:r>
            <a:endParaRPr sz="3000">
              <a:latin typeface="Arial"/>
              <a:cs typeface="Arial"/>
            </a:endParaRPr>
          </a:p>
        </p:txBody>
      </p:sp>
      <p:sp>
        <p:nvSpPr>
          <p:cNvPr id="16" name="object 16"/>
          <p:cNvSpPr txBox="1"/>
          <p:nvPr/>
        </p:nvSpPr>
        <p:spPr>
          <a:xfrm>
            <a:off x="7086600" y="2418969"/>
            <a:ext cx="1600199" cy="474489"/>
          </a:xfrm>
          <a:prstGeom prst="rect">
            <a:avLst/>
          </a:prstGeom>
        </p:spPr>
        <p:txBody>
          <a:bodyPr vert="horz" wrap="square" lIns="0" tIns="12700" rIns="0" bIns="0" rtlCol="0">
            <a:spAutoFit/>
          </a:bodyPr>
          <a:lstStyle/>
          <a:p>
            <a:pPr marL="12700">
              <a:lnSpc>
                <a:spcPct val="100000"/>
              </a:lnSpc>
              <a:spcBef>
                <a:spcPts val="100"/>
              </a:spcBef>
            </a:pPr>
            <a:r>
              <a:rPr sz="3000" spc="300" dirty="0">
                <a:solidFill>
                  <a:srgbClr val="0D0D0D"/>
                </a:solidFill>
                <a:latin typeface="Arial"/>
                <a:cs typeface="Arial"/>
              </a:rPr>
              <a:t>S</a:t>
            </a:r>
            <a:r>
              <a:rPr sz="3000" spc="295" dirty="0">
                <a:solidFill>
                  <a:srgbClr val="0D0D0D"/>
                </a:solidFill>
                <a:latin typeface="Arial"/>
                <a:cs typeface="Arial"/>
              </a:rPr>
              <a:t>k</a:t>
            </a:r>
            <a:r>
              <a:rPr sz="3000" spc="290" dirty="0">
                <a:solidFill>
                  <a:srgbClr val="0D0D0D"/>
                </a:solidFill>
                <a:latin typeface="Arial"/>
                <a:cs typeface="Arial"/>
              </a:rPr>
              <a:t>and</a:t>
            </a:r>
            <a:r>
              <a:rPr sz="3000" spc="-5" dirty="0">
                <a:solidFill>
                  <a:srgbClr val="0D0D0D"/>
                </a:solidFill>
                <a:latin typeface="Arial"/>
                <a:cs typeface="Arial"/>
              </a:rPr>
              <a:t>a</a:t>
            </a:r>
            <a:endParaRPr sz="3000" dirty="0">
              <a:latin typeface="Arial"/>
              <a:cs typeface="Arial"/>
            </a:endParaRPr>
          </a:p>
        </p:txBody>
      </p:sp>
      <p:sp>
        <p:nvSpPr>
          <p:cNvPr id="17" name="object 17"/>
          <p:cNvSpPr txBox="1"/>
          <p:nvPr/>
        </p:nvSpPr>
        <p:spPr>
          <a:xfrm>
            <a:off x="7086600" y="3346450"/>
            <a:ext cx="1752600" cy="474489"/>
          </a:xfrm>
          <a:prstGeom prst="rect">
            <a:avLst/>
          </a:prstGeom>
        </p:spPr>
        <p:txBody>
          <a:bodyPr vert="horz" wrap="square" lIns="0" tIns="12700" rIns="0" bIns="0" rtlCol="0">
            <a:spAutoFit/>
          </a:bodyPr>
          <a:lstStyle/>
          <a:p>
            <a:pPr marL="12700">
              <a:lnSpc>
                <a:spcPct val="100000"/>
              </a:lnSpc>
              <a:spcBef>
                <a:spcPts val="100"/>
              </a:spcBef>
            </a:pPr>
            <a:r>
              <a:rPr sz="3000" spc="70" dirty="0">
                <a:solidFill>
                  <a:srgbClr val="0D0D0D"/>
                </a:solidFill>
                <a:latin typeface="Arial"/>
                <a:cs typeface="Arial"/>
              </a:rPr>
              <a:t>V</a:t>
            </a:r>
            <a:r>
              <a:rPr sz="3000" spc="290" dirty="0">
                <a:solidFill>
                  <a:srgbClr val="0D0D0D"/>
                </a:solidFill>
                <a:latin typeface="Arial"/>
                <a:cs typeface="Arial"/>
              </a:rPr>
              <a:t>aman</a:t>
            </a:r>
            <a:r>
              <a:rPr sz="3000" spc="-5" dirty="0">
                <a:solidFill>
                  <a:srgbClr val="0D0D0D"/>
                </a:solidFill>
                <a:latin typeface="Arial"/>
                <a:cs typeface="Arial"/>
              </a:rPr>
              <a:t>a</a:t>
            </a:r>
            <a:endParaRPr sz="3000" dirty="0">
              <a:latin typeface="Arial"/>
              <a:cs typeface="Arial"/>
            </a:endParaRPr>
          </a:p>
        </p:txBody>
      </p:sp>
      <p:sp>
        <p:nvSpPr>
          <p:cNvPr id="18" name="object 18"/>
          <p:cNvSpPr txBox="1"/>
          <p:nvPr/>
        </p:nvSpPr>
        <p:spPr>
          <a:xfrm>
            <a:off x="7086600" y="4254830"/>
            <a:ext cx="1600200" cy="474489"/>
          </a:xfrm>
          <a:prstGeom prst="rect">
            <a:avLst/>
          </a:prstGeom>
        </p:spPr>
        <p:txBody>
          <a:bodyPr vert="horz" wrap="square" lIns="0" tIns="12700" rIns="0" bIns="0" rtlCol="0">
            <a:spAutoFit/>
          </a:bodyPr>
          <a:lstStyle/>
          <a:p>
            <a:pPr marL="12700">
              <a:lnSpc>
                <a:spcPct val="100000"/>
              </a:lnSpc>
              <a:spcBef>
                <a:spcPts val="100"/>
              </a:spcBef>
            </a:pPr>
            <a:r>
              <a:rPr sz="3000" spc="65" dirty="0">
                <a:solidFill>
                  <a:srgbClr val="0D0D0D"/>
                </a:solidFill>
                <a:latin typeface="Arial"/>
                <a:cs typeface="Arial"/>
              </a:rPr>
              <a:t>V</a:t>
            </a:r>
            <a:r>
              <a:rPr sz="3000" spc="290" dirty="0">
                <a:solidFill>
                  <a:srgbClr val="0D0D0D"/>
                </a:solidFill>
                <a:latin typeface="Arial"/>
                <a:cs typeface="Arial"/>
              </a:rPr>
              <a:t>arah</a:t>
            </a:r>
            <a:r>
              <a:rPr sz="3000" dirty="0">
                <a:solidFill>
                  <a:srgbClr val="0D0D0D"/>
                </a:solidFill>
                <a:latin typeface="Arial"/>
                <a:cs typeface="Arial"/>
              </a:rPr>
              <a:t>a</a:t>
            </a:r>
            <a:endParaRPr sz="3000" dirty="0">
              <a:latin typeface="Arial"/>
              <a:cs typeface="Arial"/>
            </a:endParaRPr>
          </a:p>
        </p:txBody>
      </p:sp>
      <p:sp>
        <p:nvSpPr>
          <p:cNvPr id="19" name="object 19"/>
          <p:cNvSpPr txBox="1"/>
          <p:nvPr/>
        </p:nvSpPr>
        <p:spPr>
          <a:xfrm>
            <a:off x="7272622" y="5144647"/>
            <a:ext cx="1134618" cy="474489"/>
          </a:xfrm>
          <a:prstGeom prst="rect">
            <a:avLst/>
          </a:prstGeom>
        </p:spPr>
        <p:txBody>
          <a:bodyPr vert="horz" wrap="square" lIns="0" tIns="12700" rIns="0" bIns="0" rtlCol="0">
            <a:spAutoFit/>
          </a:bodyPr>
          <a:lstStyle/>
          <a:p>
            <a:pPr marL="12700">
              <a:lnSpc>
                <a:spcPct val="100000"/>
              </a:lnSpc>
              <a:spcBef>
                <a:spcPts val="100"/>
              </a:spcBef>
            </a:pPr>
            <a:r>
              <a:rPr sz="3000" spc="70" dirty="0">
                <a:solidFill>
                  <a:srgbClr val="0D0D0D"/>
                </a:solidFill>
                <a:latin typeface="Arial"/>
                <a:cs typeface="Arial"/>
              </a:rPr>
              <a:t>V</a:t>
            </a:r>
            <a:r>
              <a:rPr sz="3000" spc="290" dirty="0">
                <a:solidFill>
                  <a:srgbClr val="0D0D0D"/>
                </a:solidFill>
                <a:latin typeface="Arial"/>
                <a:cs typeface="Arial"/>
              </a:rPr>
              <a:t>a</a:t>
            </a:r>
            <a:r>
              <a:rPr sz="3000" spc="295" dirty="0">
                <a:solidFill>
                  <a:srgbClr val="0D0D0D"/>
                </a:solidFill>
                <a:latin typeface="Arial"/>
                <a:cs typeface="Arial"/>
              </a:rPr>
              <a:t>y</a:t>
            </a:r>
            <a:r>
              <a:rPr sz="3000" spc="-5" dirty="0">
                <a:solidFill>
                  <a:srgbClr val="0D0D0D"/>
                </a:solidFill>
                <a:latin typeface="Arial"/>
                <a:cs typeface="Arial"/>
              </a:rPr>
              <a:t>u</a:t>
            </a:r>
            <a:endParaRPr sz="3000" dirty="0">
              <a:latin typeface="Arial"/>
              <a:cs typeface="Arial"/>
            </a:endParaRPr>
          </a:p>
        </p:txBody>
      </p:sp>
      <p:sp>
        <p:nvSpPr>
          <p:cNvPr id="20" name="object 20"/>
          <p:cNvSpPr txBox="1"/>
          <p:nvPr/>
        </p:nvSpPr>
        <p:spPr>
          <a:xfrm>
            <a:off x="7086600" y="6091529"/>
            <a:ext cx="1828799" cy="474489"/>
          </a:xfrm>
          <a:prstGeom prst="rect">
            <a:avLst/>
          </a:prstGeom>
        </p:spPr>
        <p:txBody>
          <a:bodyPr vert="horz" wrap="square" lIns="0" tIns="12700" rIns="0" bIns="0" rtlCol="0">
            <a:spAutoFit/>
          </a:bodyPr>
          <a:lstStyle/>
          <a:p>
            <a:pPr marL="12700">
              <a:lnSpc>
                <a:spcPct val="100000"/>
              </a:lnSpc>
              <a:spcBef>
                <a:spcPts val="100"/>
              </a:spcBef>
            </a:pPr>
            <a:r>
              <a:rPr sz="3000" spc="250" dirty="0">
                <a:solidFill>
                  <a:srgbClr val="0D0D0D"/>
                </a:solidFill>
                <a:latin typeface="Arial"/>
                <a:cs typeface="Arial"/>
              </a:rPr>
              <a:t>V</a:t>
            </a:r>
            <a:r>
              <a:rPr sz="3000" spc="295" dirty="0">
                <a:solidFill>
                  <a:srgbClr val="0D0D0D"/>
                </a:solidFill>
                <a:latin typeface="Arial"/>
                <a:cs typeface="Arial"/>
              </a:rPr>
              <a:t>is</a:t>
            </a:r>
            <a:r>
              <a:rPr sz="3000" spc="290" dirty="0">
                <a:solidFill>
                  <a:srgbClr val="0D0D0D"/>
                </a:solidFill>
                <a:latin typeface="Arial"/>
                <a:cs typeface="Arial"/>
              </a:rPr>
              <a:t>hn</a:t>
            </a:r>
            <a:r>
              <a:rPr sz="3000" spc="-5" dirty="0">
                <a:solidFill>
                  <a:srgbClr val="0D0D0D"/>
                </a:solidFill>
                <a:latin typeface="Arial"/>
                <a:cs typeface="Arial"/>
              </a:rPr>
              <a:t>u</a:t>
            </a:r>
            <a:endParaRPr sz="3000" dirty="0">
              <a:latin typeface="Arial"/>
              <a:cs typeface="Arial"/>
            </a:endParaRPr>
          </a:p>
        </p:txBody>
      </p:sp>
      <p:sp>
        <p:nvSpPr>
          <p:cNvPr id="21"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440" dirty="0"/>
              <a:t>18</a:t>
            </a:r>
            <a:r>
              <a:rPr lang="en-US" sz="2800" spc="-35" dirty="0"/>
              <a:t> </a:t>
            </a:r>
            <a:r>
              <a:rPr lang="en-US" sz="2800" spc="-135" dirty="0"/>
              <a:t>PURANAS</a:t>
            </a:r>
            <a:endParaRPr lang="en-US" sz="2800" b="1" dirty="0">
              <a:solidFill>
                <a:prstClr val="black"/>
              </a:solidFill>
              <a:latin typeface="Times New Roman" pitchFamily="18" charset="0"/>
              <a:cs typeface="Times New Roman" pitchFamily="18" charset="0"/>
            </a:endParaRPr>
          </a:p>
        </p:txBody>
      </p:sp>
      <p:pic>
        <p:nvPicPr>
          <p:cNvPr id="22"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23" name="Date Placeholder 22"/>
          <p:cNvSpPr>
            <a:spLocks noGrp="1"/>
          </p:cNvSpPr>
          <p:nvPr>
            <p:ph type="dt" sz="half" idx="10"/>
          </p:nvPr>
        </p:nvSpPr>
        <p:spPr/>
        <p:txBody>
          <a:bodyPr/>
          <a:lstStyle/>
          <a:p>
            <a:fld id="{5F1CA739-4242-4531-BD76-5804C412A25A}" type="datetime1">
              <a:rPr lang="en-US" smtClean="0"/>
              <a:t>1/14/2022</a:t>
            </a:fld>
            <a:endParaRPr lang="en-US"/>
          </a:p>
        </p:txBody>
      </p:sp>
      <p:sp>
        <p:nvSpPr>
          <p:cNvPr id="24" name="Footer Placeholder 23"/>
          <p:cNvSpPr>
            <a:spLocks noGrp="1"/>
          </p:cNvSpPr>
          <p:nvPr>
            <p:ph type="ftr" sz="quarter" idx="11"/>
          </p:nvPr>
        </p:nvSpPr>
        <p:spPr/>
        <p:txBody>
          <a:bodyPr/>
          <a:lstStyle/>
          <a:p>
            <a:r>
              <a:rPr lang="fi-FI" smtClean="0"/>
              <a:t>Dr.Ankita Shukla KNC 602                                   Unit :2</a:t>
            </a:r>
            <a:endParaRPr lang="en-US" dirty="0"/>
          </a:p>
        </p:txBody>
      </p:sp>
      <p:sp>
        <p:nvSpPr>
          <p:cNvPr id="25" name="Slide Number Placeholder 24"/>
          <p:cNvSpPr>
            <a:spLocks noGrp="1"/>
          </p:cNvSpPr>
          <p:nvPr>
            <p:ph type="sldNum" sz="quarter" idx="12"/>
          </p:nvPr>
        </p:nvSpPr>
        <p:spPr/>
        <p:txBody>
          <a:bodyPr/>
          <a:lstStyle/>
          <a:p>
            <a:fld id="{5C85F1CB-02EA-4782-B654-3ECBE6236E9C}" type="slidenum">
              <a:rPr lang="en-US" smtClean="0"/>
              <a:pPr/>
              <a:t>47</a:t>
            </a:fld>
            <a:endParaRPr lang="en-US"/>
          </a:p>
        </p:txBody>
      </p:sp>
    </p:spTree>
    <p:extLst>
      <p:ext uri="{BB962C8B-B14F-4D97-AF65-F5344CB8AC3E}">
        <p14:creationId xmlns:p14="http://schemas.microsoft.com/office/powerpoint/2010/main" xmlns="" val="26758536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87704" y="1676400"/>
            <a:ext cx="3748088" cy="3982500"/>
          </a:xfrm>
          <a:prstGeom prst="rect">
            <a:avLst/>
          </a:prstGeom>
        </p:spPr>
        <p:txBody>
          <a:bodyPr vert="horz" wrap="square" lIns="0" tIns="12065" rIns="0" bIns="0" rtlCol="0">
            <a:spAutoFit/>
          </a:bodyPr>
          <a:lstStyle/>
          <a:p>
            <a:pPr marL="329565" indent="-317500">
              <a:lnSpc>
                <a:spcPct val="100000"/>
              </a:lnSpc>
              <a:spcBef>
                <a:spcPts val="95"/>
              </a:spcBef>
              <a:buSzPct val="96428"/>
              <a:buFont typeface="Wingdings"/>
              <a:buChar char=""/>
              <a:tabLst>
                <a:tab pos="330200" algn="l"/>
              </a:tabLst>
            </a:pPr>
            <a:r>
              <a:rPr sz="2800" spc="-10" dirty="0">
                <a:latin typeface="Carlito"/>
                <a:cs typeface="Carlito"/>
              </a:rPr>
              <a:t>Our </a:t>
            </a:r>
            <a:r>
              <a:rPr sz="2800" spc="-30" dirty="0">
                <a:latin typeface="Carlito"/>
                <a:cs typeface="Carlito"/>
              </a:rPr>
              <a:t>Traditions </a:t>
            </a:r>
            <a:r>
              <a:rPr sz="2800" spc="-5" dirty="0">
                <a:latin typeface="Carlito"/>
                <a:cs typeface="Carlito"/>
              </a:rPr>
              <a:t>and </a:t>
            </a:r>
            <a:r>
              <a:rPr sz="2800" spc="-35" dirty="0">
                <a:latin typeface="Carlito"/>
                <a:cs typeface="Carlito"/>
              </a:rPr>
              <a:t>Value</a:t>
            </a:r>
            <a:r>
              <a:rPr sz="2800" spc="55" dirty="0">
                <a:latin typeface="Carlito"/>
                <a:cs typeface="Carlito"/>
              </a:rPr>
              <a:t> </a:t>
            </a:r>
            <a:r>
              <a:rPr sz="2800" spc="-30" dirty="0">
                <a:latin typeface="Carlito"/>
                <a:cs typeface="Carlito"/>
              </a:rPr>
              <a:t>System</a:t>
            </a:r>
            <a:endParaRPr sz="2800" dirty="0">
              <a:latin typeface="Carlito"/>
              <a:cs typeface="Carlito"/>
            </a:endParaRPr>
          </a:p>
          <a:p>
            <a:pPr marL="329565" indent="-317500">
              <a:lnSpc>
                <a:spcPct val="100000"/>
              </a:lnSpc>
              <a:spcBef>
                <a:spcPts val="2690"/>
              </a:spcBef>
              <a:buSzPct val="96428"/>
              <a:buFont typeface="Wingdings"/>
              <a:buChar char=""/>
              <a:tabLst>
                <a:tab pos="330200" algn="l"/>
              </a:tabLst>
            </a:pPr>
            <a:r>
              <a:rPr sz="2800" spc="-10" dirty="0">
                <a:latin typeface="Carlito"/>
                <a:cs typeface="Carlito"/>
              </a:rPr>
              <a:t>Our</a:t>
            </a:r>
            <a:r>
              <a:rPr sz="2800" spc="-5" dirty="0">
                <a:latin typeface="Carlito"/>
                <a:cs typeface="Carlito"/>
              </a:rPr>
              <a:t> </a:t>
            </a:r>
            <a:r>
              <a:rPr sz="2800" spc="-20" dirty="0">
                <a:latin typeface="Carlito"/>
                <a:cs typeface="Carlito"/>
              </a:rPr>
              <a:t>Festivals</a:t>
            </a:r>
            <a:endParaRPr sz="2800" dirty="0">
              <a:latin typeface="Carlito"/>
              <a:cs typeface="Carlito"/>
            </a:endParaRPr>
          </a:p>
          <a:p>
            <a:pPr marL="329565" indent="-317500">
              <a:lnSpc>
                <a:spcPct val="100000"/>
              </a:lnSpc>
              <a:spcBef>
                <a:spcPts val="2675"/>
              </a:spcBef>
              <a:buSzPct val="96428"/>
              <a:buFont typeface="Wingdings"/>
              <a:buChar char=""/>
              <a:tabLst>
                <a:tab pos="330200" algn="l"/>
              </a:tabLst>
            </a:pPr>
            <a:r>
              <a:rPr sz="2800" spc="-5" dirty="0">
                <a:latin typeface="Carlito"/>
                <a:cs typeface="Carlito"/>
              </a:rPr>
              <a:t>Rituals</a:t>
            </a:r>
            <a:r>
              <a:rPr sz="2800" spc="10" dirty="0">
                <a:latin typeface="Carlito"/>
                <a:cs typeface="Carlito"/>
              </a:rPr>
              <a:t> </a:t>
            </a:r>
            <a:r>
              <a:rPr sz="2800" spc="-5" dirty="0">
                <a:latin typeface="Carlito"/>
                <a:cs typeface="Carlito"/>
              </a:rPr>
              <a:t>(</a:t>
            </a:r>
            <a:r>
              <a:rPr sz="2800" i="1" spc="-5" dirty="0">
                <a:latin typeface="Carlito"/>
                <a:cs typeface="Carlito"/>
              </a:rPr>
              <a:t>puja</a:t>
            </a:r>
            <a:r>
              <a:rPr sz="2800" spc="-5" dirty="0">
                <a:latin typeface="Carlito"/>
                <a:cs typeface="Carlito"/>
              </a:rPr>
              <a:t>s)</a:t>
            </a:r>
            <a:endParaRPr sz="2800" dirty="0">
              <a:latin typeface="Carlito"/>
              <a:cs typeface="Carlito"/>
            </a:endParaRPr>
          </a:p>
          <a:p>
            <a:pPr marL="329565" indent="-317500">
              <a:lnSpc>
                <a:spcPct val="100000"/>
              </a:lnSpc>
              <a:spcBef>
                <a:spcPts val="2680"/>
              </a:spcBef>
              <a:buSzPct val="96428"/>
              <a:buFont typeface="Wingdings"/>
              <a:buChar char=""/>
              <a:tabLst>
                <a:tab pos="330200" algn="l"/>
              </a:tabLst>
            </a:pPr>
            <a:r>
              <a:rPr sz="2800" spc="-5" dirty="0">
                <a:latin typeface="Carlito"/>
                <a:cs typeface="Carlito"/>
              </a:rPr>
              <a:t>Arts and</a:t>
            </a:r>
            <a:r>
              <a:rPr sz="2800" spc="30" dirty="0">
                <a:latin typeface="Carlito"/>
                <a:cs typeface="Carlito"/>
              </a:rPr>
              <a:t> </a:t>
            </a:r>
            <a:r>
              <a:rPr sz="2800" spc="-15" dirty="0">
                <a:latin typeface="Carlito"/>
                <a:cs typeface="Carlito"/>
              </a:rPr>
              <a:t>Culture</a:t>
            </a:r>
            <a:endParaRPr sz="2800" dirty="0">
              <a:latin typeface="Carlito"/>
              <a:cs typeface="Carlito"/>
            </a:endParaRPr>
          </a:p>
          <a:p>
            <a:pPr marL="329565" indent="-317500">
              <a:lnSpc>
                <a:spcPct val="100000"/>
              </a:lnSpc>
              <a:spcBef>
                <a:spcPts val="2685"/>
              </a:spcBef>
              <a:buSzPct val="96428"/>
              <a:buFont typeface="Wingdings"/>
              <a:buChar char=""/>
              <a:tabLst>
                <a:tab pos="330200" algn="l"/>
              </a:tabLst>
            </a:pPr>
            <a:r>
              <a:rPr sz="2800" spc="-10" dirty="0">
                <a:latin typeface="Carlito"/>
                <a:cs typeface="Carlito"/>
              </a:rPr>
              <a:t>Pilgrimage</a:t>
            </a:r>
            <a:endParaRPr sz="2800" dirty="0">
              <a:latin typeface="Carlito"/>
              <a:cs typeface="Carlito"/>
            </a:endParaRPr>
          </a:p>
        </p:txBody>
      </p:sp>
      <p:sp>
        <p:nvSpPr>
          <p:cNvPr id="4" name="object 4"/>
          <p:cNvSpPr/>
          <p:nvPr/>
        </p:nvSpPr>
        <p:spPr>
          <a:xfrm>
            <a:off x="5972175" y="1371600"/>
            <a:ext cx="2543175" cy="5029200"/>
          </a:xfrm>
          <a:prstGeom prst="rect">
            <a:avLst/>
          </a:prstGeom>
          <a:blipFill>
            <a:blip r:embed="rId2" cstate="print"/>
            <a:stretch>
              <a:fillRect/>
            </a:stretch>
          </a:blipFill>
        </p:spPr>
        <p:txBody>
          <a:bodyPr wrap="square" lIns="0" tIns="0" rIns="0" bIns="0" rtlCol="0"/>
          <a:lstStyle/>
          <a:p>
            <a:endParaRPr/>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spc="-70" dirty="0"/>
              <a:t>Impact </a:t>
            </a:r>
            <a:r>
              <a:rPr lang="en-US" sz="2800" spc="-35" dirty="0"/>
              <a:t>of</a:t>
            </a:r>
            <a:r>
              <a:rPr lang="en-US" sz="2800" spc="-65" dirty="0"/>
              <a:t> </a:t>
            </a:r>
            <a:r>
              <a:rPr lang="en-US" sz="2800" spc="-114" dirty="0" err="1"/>
              <a:t>Puranas</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3"/>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6FC5613E-4693-4522-9B91-D8CA76A5057B}"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48</a:t>
            </a:fld>
            <a:endParaRPr lang="en-US"/>
          </a:p>
        </p:txBody>
      </p:sp>
    </p:spTree>
    <p:extLst>
      <p:ext uri="{BB962C8B-B14F-4D97-AF65-F5344CB8AC3E}">
        <p14:creationId xmlns:p14="http://schemas.microsoft.com/office/powerpoint/2010/main" xmlns="" val="8221981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Buddhist texts</a:t>
            </a:r>
            <a:r>
              <a:rPr lang="en-US" dirty="0"/>
              <a:t> are those religious texts which are part of the Buddhist tradition. The first Buddhist texts were initially passed on orally by Buddhist monastics, but were later written down and composed as manuscripts in various Indo-Aryan languages (such as </a:t>
            </a:r>
            <a:r>
              <a:rPr lang="en-US" dirty="0" err="1"/>
              <a:t>Pali</a:t>
            </a:r>
            <a:r>
              <a:rPr lang="en-US" dirty="0"/>
              <a:t>, </a:t>
            </a:r>
            <a:r>
              <a:rPr lang="en-US" dirty="0" err="1"/>
              <a:t>Gāndhārī</a:t>
            </a:r>
            <a:r>
              <a:rPr lang="en-US" dirty="0"/>
              <a:t> and Buddhist Hybrid Sanskrit) and collected into various Buddhist canons. These were then translated into other languages such as Buddhist Chinese (</a:t>
            </a:r>
            <a:r>
              <a:rPr lang="en-US" i="1" dirty="0" err="1"/>
              <a:t>fójiào</a:t>
            </a:r>
            <a:r>
              <a:rPr lang="en-US" i="1" dirty="0"/>
              <a:t> </a:t>
            </a:r>
            <a:r>
              <a:rPr lang="en-US" i="1" dirty="0" err="1"/>
              <a:t>hànyǔ</a:t>
            </a:r>
            <a:r>
              <a:rPr lang="en-US" dirty="0"/>
              <a:t> </a:t>
            </a:r>
            <a:r>
              <a:rPr lang="ja-JP" altLang="en-US" dirty="0"/>
              <a:t>佛教漢語</a:t>
            </a:r>
            <a:r>
              <a:rPr lang="en-US" altLang="ja-JP" dirty="0"/>
              <a:t>) </a:t>
            </a:r>
            <a:r>
              <a:rPr lang="en-US" dirty="0"/>
              <a:t>and Classical Tibetan as Buddhism spread outside of India</a:t>
            </a:r>
            <a:r>
              <a:rPr lang="en-US" dirty="0" smtClean="0"/>
              <a:t>.</a:t>
            </a:r>
            <a:endParaRPr lang="en-US" dirty="0"/>
          </a:p>
        </p:txBody>
      </p:sp>
      <p:sp>
        <p:nvSpPr>
          <p:cNvPr id="4" name="Title 1"/>
          <p:cNvSpPr txBox="1">
            <a:spLocks/>
          </p:cNvSpPr>
          <p:nvPr/>
        </p:nvSpPr>
        <p:spPr>
          <a:xfrm>
            <a:off x="1447800" y="0"/>
            <a:ext cx="7620000" cy="86911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Buddhist And Jain Literature in</a:t>
            </a:r>
            <a:br>
              <a:rPr lang="en-US" sz="2800" dirty="0"/>
            </a:br>
            <a:r>
              <a:rPr lang="en-US" sz="2800" dirty="0" err="1"/>
              <a:t>Pali,Prakrit</a:t>
            </a:r>
            <a:r>
              <a:rPr lang="en-US" sz="2800" dirty="0"/>
              <a:t> And </a:t>
            </a:r>
            <a:r>
              <a:rPr lang="en-US" sz="2800" dirty="0" smtClean="0"/>
              <a:t>Sanskrit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C958EF5D-7917-4F67-8321-7835D3C59386}"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49</a:t>
            </a:fld>
            <a:endParaRPr lang="en-US"/>
          </a:p>
        </p:txBody>
      </p:sp>
    </p:spTree>
    <p:extLst>
      <p:ext uri="{BB962C8B-B14F-4D97-AF65-F5344CB8AC3E}">
        <p14:creationId xmlns:p14="http://schemas.microsoft.com/office/powerpoint/2010/main" xmlns="" val="147107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smtClean="0"/>
              <a:t>Buddhist </a:t>
            </a:r>
            <a:r>
              <a:rPr lang="en-US" dirty="0"/>
              <a:t>texts can be categorized in a number of ways. The Western terms "scripture" and "canonical" are applied to Buddhism in inconsistent ways by Western scholars: for example, one authority refers to "scriptures and other canonical texts", while another says that scriptures can be categorized into canonical, commentarial, and pseudo-canonical. Buddhist traditions have generally divided these texts with their own categories and divisions, such as that between </a:t>
            </a:r>
            <a:r>
              <a:rPr lang="en-US" i="1" dirty="0"/>
              <a:t>buddhavacana</a:t>
            </a:r>
            <a:r>
              <a:rPr lang="en-US" dirty="0"/>
              <a:t> "word of the Buddha," many of which are known as "sutras," and other texts, such as </a:t>
            </a:r>
            <a:r>
              <a:rPr lang="en-US" dirty="0" err="1"/>
              <a:t>shastras</a:t>
            </a:r>
            <a:r>
              <a:rPr lang="en-US" dirty="0"/>
              <a:t> (treatises) or </a:t>
            </a:r>
            <a:r>
              <a:rPr lang="en-US" dirty="0" err="1"/>
              <a:t>Abhidharma</a:t>
            </a:r>
            <a:endParaRPr lang="en-US" dirty="0"/>
          </a:p>
        </p:txBody>
      </p:sp>
      <p:sp>
        <p:nvSpPr>
          <p:cNvPr id="4" name="Title 1"/>
          <p:cNvSpPr txBox="1">
            <a:spLocks/>
          </p:cNvSpPr>
          <p:nvPr/>
        </p:nvSpPr>
        <p:spPr>
          <a:xfrm>
            <a:off x="1447800" y="0"/>
            <a:ext cx="7620000" cy="86911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Buddhist And Jain Literature in</a:t>
            </a:r>
            <a:br>
              <a:rPr lang="en-US" sz="2800" dirty="0"/>
            </a:br>
            <a:r>
              <a:rPr lang="en-US" sz="2800" dirty="0" err="1"/>
              <a:t>Pali,Prakrit</a:t>
            </a:r>
            <a:r>
              <a:rPr lang="en-US" sz="2800" dirty="0"/>
              <a:t> And </a:t>
            </a:r>
            <a:r>
              <a:rPr lang="en-US" sz="2800" dirty="0" smtClean="0"/>
              <a:t>Sanskrit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3369320F-9382-4462-95AA-23534B5776A1}"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50</a:t>
            </a:fld>
            <a:endParaRPr lang="en-US"/>
          </a:p>
        </p:txBody>
      </p:sp>
    </p:spTree>
    <p:extLst>
      <p:ext uri="{BB962C8B-B14F-4D97-AF65-F5344CB8AC3E}">
        <p14:creationId xmlns:p14="http://schemas.microsoft.com/office/powerpoint/2010/main" xmlns="" val="282044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US" dirty="0"/>
              <a:t>The religious books of the Jains and the Buddhists refer to historical persons or incidents. The earliest Buddhist works were written in </a:t>
            </a:r>
            <a:r>
              <a:rPr lang="en-US" dirty="0" err="1"/>
              <a:t>Pali</a:t>
            </a:r>
            <a:r>
              <a:rPr lang="en-US" dirty="0"/>
              <a:t>, which was spoken in Magadha and South Bihar. </a:t>
            </a:r>
            <a:endParaRPr lang="en-US" dirty="0" smtClean="0"/>
          </a:p>
          <a:p>
            <a:endParaRPr lang="en-US" dirty="0"/>
          </a:p>
          <a:p>
            <a:r>
              <a:rPr lang="en-US" dirty="0" smtClean="0"/>
              <a:t>The </a:t>
            </a:r>
            <a:r>
              <a:rPr lang="en-US" dirty="0"/>
              <a:t>Buddhist works can be divided into the canonical and the non-canonical. </a:t>
            </a:r>
            <a:endParaRPr lang="en-US" dirty="0" smtClean="0"/>
          </a:p>
          <a:p>
            <a:endParaRPr lang="en-US" dirty="0"/>
          </a:p>
          <a:p>
            <a:r>
              <a:rPr lang="en-US" dirty="0" smtClean="0"/>
              <a:t>The </a:t>
            </a:r>
            <a:r>
              <a:rPr lang="en-US" dirty="0"/>
              <a:t>canonical literature is best represented by the “</a:t>
            </a:r>
            <a:r>
              <a:rPr lang="en-US" dirty="0" err="1"/>
              <a:t>Tripitakas</a:t>
            </a:r>
            <a:r>
              <a:rPr lang="en-US" dirty="0"/>
              <a:t>”, that is, three baskets - </a:t>
            </a:r>
            <a:r>
              <a:rPr lang="en-US" dirty="0" err="1"/>
              <a:t>Vinaya</a:t>
            </a:r>
            <a:r>
              <a:rPr lang="en-US" dirty="0"/>
              <a:t> </a:t>
            </a:r>
            <a:r>
              <a:rPr lang="en-US" dirty="0" err="1"/>
              <a:t>Pitaka</a:t>
            </a:r>
            <a:r>
              <a:rPr lang="en-US" dirty="0"/>
              <a:t>, </a:t>
            </a:r>
            <a:r>
              <a:rPr lang="en-US" dirty="0" err="1"/>
              <a:t>Sutta</a:t>
            </a:r>
            <a:r>
              <a:rPr lang="en-US" dirty="0"/>
              <a:t> </a:t>
            </a:r>
            <a:r>
              <a:rPr lang="en-US" dirty="0" err="1"/>
              <a:t>Pitaka</a:t>
            </a:r>
            <a:r>
              <a:rPr lang="en-US" dirty="0"/>
              <a:t> and </a:t>
            </a:r>
            <a:r>
              <a:rPr lang="en-US" dirty="0" err="1"/>
              <a:t>Abhidhamma</a:t>
            </a:r>
            <a:r>
              <a:rPr lang="en-US" dirty="0"/>
              <a:t> </a:t>
            </a:r>
            <a:r>
              <a:rPr lang="en-US" dirty="0" err="1"/>
              <a:t>Pitaka</a:t>
            </a:r>
            <a:r>
              <a:rPr lang="en-US" dirty="0"/>
              <a:t>. </a:t>
            </a:r>
            <a:endParaRPr lang="en-US" dirty="0" smtClean="0"/>
          </a:p>
          <a:p>
            <a:endParaRPr lang="en-US" dirty="0"/>
          </a:p>
          <a:p>
            <a:r>
              <a:rPr lang="en-US" dirty="0" err="1" smtClean="0"/>
              <a:t>Vinaya</a:t>
            </a:r>
            <a:r>
              <a:rPr lang="en-US" dirty="0" smtClean="0"/>
              <a:t> </a:t>
            </a:r>
            <a:r>
              <a:rPr lang="en-US" dirty="0" err="1"/>
              <a:t>Pitaka</a:t>
            </a:r>
            <a:r>
              <a:rPr lang="en-US" dirty="0"/>
              <a:t> deals with rules and regulations of daily life. </a:t>
            </a:r>
            <a:r>
              <a:rPr lang="en-US" dirty="0" err="1"/>
              <a:t>Sutta</a:t>
            </a:r>
            <a:r>
              <a:rPr lang="en-US" dirty="0"/>
              <a:t> </a:t>
            </a:r>
            <a:r>
              <a:rPr lang="en-US" dirty="0" err="1"/>
              <a:t>Pitaka</a:t>
            </a:r>
            <a:r>
              <a:rPr lang="en-US" dirty="0"/>
              <a:t> contains dialogues and discourses on morality and deals with Dharma while </a:t>
            </a:r>
            <a:r>
              <a:rPr lang="en-US" dirty="0" err="1"/>
              <a:t>Abhidhamma</a:t>
            </a:r>
            <a:r>
              <a:rPr lang="en-US" dirty="0"/>
              <a:t> </a:t>
            </a:r>
            <a:r>
              <a:rPr lang="en-US" dirty="0" err="1"/>
              <a:t>Pitaka</a:t>
            </a:r>
            <a:r>
              <a:rPr lang="en-US" dirty="0"/>
              <a:t> deals with philosophy and metaphysics. It includes discourses on various subjects such as ethics, psychology, theories of knowledge and </a:t>
            </a:r>
            <a:r>
              <a:rPr lang="en-US" dirty="0" err="1"/>
              <a:t>mataphysical</a:t>
            </a:r>
            <a:r>
              <a:rPr lang="en-US" dirty="0"/>
              <a:t> problems.</a:t>
            </a:r>
          </a:p>
        </p:txBody>
      </p:sp>
      <p:sp>
        <p:nvSpPr>
          <p:cNvPr id="4" name="Title 1"/>
          <p:cNvSpPr txBox="1">
            <a:spLocks/>
          </p:cNvSpPr>
          <p:nvPr/>
        </p:nvSpPr>
        <p:spPr>
          <a:xfrm>
            <a:off x="1447800" y="0"/>
            <a:ext cx="7620000" cy="86911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Buddhist And Jain Literature in</a:t>
            </a:r>
            <a:br>
              <a:rPr lang="en-US" sz="2800" dirty="0"/>
            </a:br>
            <a:r>
              <a:rPr lang="en-US" sz="2800" dirty="0" err="1"/>
              <a:t>Pali,Prakrit</a:t>
            </a:r>
            <a:r>
              <a:rPr lang="en-US" sz="2800" dirty="0"/>
              <a:t> And </a:t>
            </a:r>
            <a:r>
              <a:rPr lang="en-US" sz="2800" dirty="0" smtClean="0"/>
              <a:t>Sanskrit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1E89B42D-CD35-4B19-8D2F-0C3DFDF3F212}"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51</a:t>
            </a:fld>
            <a:endParaRPr lang="en-US"/>
          </a:p>
        </p:txBody>
      </p:sp>
    </p:spTree>
    <p:extLst>
      <p:ext uri="{BB962C8B-B14F-4D97-AF65-F5344CB8AC3E}">
        <p14:creationId xmlns:p14="http://schemas.microsoft.com/office/powerpoint/2010/main" xmlns="" val="1162372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t>The non-canonical literature is best represented by the </a:t>
            </a:r>
            <a:r>
              <a:rPr lang="en-US" sz="2800" dirty="0" err="1"/>
              <a:t>Jatakas</a:t>
            </a:r>
            <a:r>
              <a:rPr lang="en-US" sz="2800" dirty="0"/>
              <a:t>. </a:t>
            </a:r>
            <a:r>
              <a:rPr lang="en-US" sz="2800" dirty="0" err="1"/>
              <a:t>Jatakas</a:t>
            </a:r>
            <a:r>
              <a:rPr lang="en-US" sz="2800" dirty="0"/>
              <a:t> are the most interesting stories on the previous births of the Buddha. </a:t>
            </a:r>
            <a:endParaRPr lang="en-US" sz="2800" dirty="0" smtClean="0"/>
          </a:p>
          <a:p>
            <a:pPr marL="0" indent="0" algn="just">
              <a:buNone/>
            </a:pPr>
            <a:endParaRPr lang="en-US" sz="2800" dirty="0" smtClean="0"/>
          </a:p>
          <a:p>
            <a:pPr algn="just"/>
            <a:r>
              <a:rPr lang="en-US" sz="2800" dirty="0"/>
              <a:t>Each birth story is called a </a:t>
            </a:r>
            <a:r>
              <a:rPr lang="en-US" sz="2800" dirty="0" err="1"/>
              <a:t>Jataka</a:t>
            </a:r>
            <a:r>
              <a:rPr lang="en-US" sz="2800" dirty="0"/>
              <a:t>. The </a:t>
            </a:r>
            <a:r>
              <a:rPr lang="en-US" sz="2800" dirty="0" err="1"/>
              <a:t>Jatakas</a:t>
            </a:r>
            <a:r>
              <a:rPr lang="en-US" sz="2800" dirty="0"/>
              <a:t> throw invaluable light on the social and economic conditions ranging from the sixth century BC to the second century BC</a:t>
            </a:r>
          </a:p>
        </p:txBody>
      </p:sp>
      <p:sp>
        <p:nvSpPr>
          <p:cNvPr id="4" name="Title 1"/>
          <p:cNvSpPr txBox="1">
            <a:spLocks/>
          </p:cNvSpPr>
          <p:nvPr/>
        </p:nvSpPr>
        <p:spPr>
          <a:xfrm>
            <a:off x="1565564" y="76200"/>
            <a:ext cx="7502236" cy="86911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Buddhist And Jain Literature in</a:t>
            </a:r>
            <a:br>
              <a:rPr lang="en-US" sz="2800" dirty="0"/>
            </a:br>
            <a:r>
              <a:rPr lang="en-US" sz="2800" dirty="0" err="1"/>
              <a:t>Pali</a:t>
            </a:r>
            <a:r>
              <a:rPr lang="en-US" sz="2800" dirty="0" smtClean="0"/>
              <a:t>, </a:t>
            </a:r>
            <a:r>
              <a:rPr lang="en-US" sz="2800" dirty="0" err="1" smtClean="0"/>
              <a:t>Prakrit</a:t>
            </a:r>
            <a:r>
              <a:rPr lang="en-US" sz="2800" dirty="0" smtClean="0"/>
              <a:t> </a:t>
            </a:r>
            <a:r>
              <a:rPr lang="en-US" sz="2800" dirty="0"/>
              <a:t>And </a:t>
            </a:r>
            <a:r>
              <a:rPr lang="en-US" sz="2800" dirty="0" smtClean="0"/>
              <a:t>Sanskrit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C434A6FB-AEC3-4FEA-8570-EC6248BFBCFD}"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52</a:t>
            </a:fld>
            <a:endParaRPr lang="en-US"/>
          </a:p>
        </p:txBody>
      </p:sp>
    </p:spTree>
    <p:extLst>
      <p:ext uri="{BB962C8B-B14F-4D97-AF65-F5344CB8AC3E}">
        <p14:creationId xmlns:p14="http://schemas.microsoft.com/office/powerpoint/2010/main" xmlns="" val="2835265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t>The Jain texts were written in </a:t>
            </a:r>
            <a:r>
              <a:rPr lang="en-US" dirty="0" err="1"/>
              <a:t>Prakrit</a:t>
            </a:r>
            <a:r>
              <a:rPr lang="en-US" dirty="0"/>
              <a:t> and were finally compiled in the sixth century AD in </a:t>
            </a:r>
            <a:r>
              <a:rPr lang="en-US" dirty="0" err="1"/>
              <a:t>Valabhi</a:t>
            </a:r>
            <a:r>
              <a:rPr lang="en-US" dirty="0"/>
              <a:t> in Gujarat. The important works are known as </a:t>
            </a:r>
            <a:r>
              <a:rPr lang="en-US" dirty="0" err="1"/>
              <a:t>Angas</a:t>
            </a:r>
            <a:r>
              <a:rPr lang="en-US" dirty="0"/>
              <a:t>, </a:t>
            </a:r>
            <a:r>
              <a:rPr lang="en-US" dirty="0" err="1"/>
              <a:t>Upangas</a:t>
            </a:r>
            <a:r>
              <a:rPr lang="en-US" dirty="0"/>
              <a:t>, </a:t>
            </a:r>
            <a:r>
              <a:rPr lang="en-US" dirty="0" err="1"/>
              <a:t>Prakirnas</a:t>
            </a:r>
            <a:r>
              <a:rPr lang="en-US" dirty="0"/>
              <a:t>, </a:t>
            </a:r>
            <a:r>
              <a:rPr lang="en-US" dirty="0" err="1"/>
              <a:t>Chhedab</a:t>
            </a:r>
            <a:r>
              <a:rPr lang="en-US" dirty="0"/>
              <a:t> Sutras and </a:t>
            </a:r>
            <a:r>
              <a:rPr lang="en-US" dirty="0" err="1"/>
              <a:t>Malasutras</a:t>
            </a:r>
            <a:r>
              <a:rPr lang="en-US" dirty="0"/>
              <a:t>. </a:t>
            </a:r>
            <a:endParaRPr lang="en-US" dirty="0" smtClean="0"/>
          </a:p>
          <a:p>
            <a:endParaRPr lang="en-US" dirty="0"/>
          </a:p>
          <a:p>
            <a:r>
              <a:rPr lang="en-US" dirty="0" smtClean="0"/>
              <a:t>Among </a:t>
            </a:r>
            <a:r>
              <a:rPr lang="en-US" dirty="0"/>
              <a:t>the important Jain scholars, reference may be made to </a:t>
            </a:r>
            <a:r>
              <a:rPr lang="en-US" dirty="0" err="1"/>
              <a:t>Haribhadra</a:t>
            </a:r>
            <a:r>
              <a:rPr lang="en-US" dirty="0"/>
              <a:t> </a:t>
            </a:r>
            <a:r>
              <a:rPr lang="en-US" dirty="0" err="1"/>
              <a:t>Suri</a:t>
            </a:r>
            <a:r>
              <a:rPr lang="en-US" dirty="0"/>
              <a:t>, (eighth century AD) and </a:t>
            </a:r>
            <a:r>
              <a:rPr lang="en-US" dirty="0" err="1"/>
              <a:t>Hemchandra</a:t>
            </a:r>
            <a:r>
              <a:rPr lang="en-US" dirty="0"/>
              <a:t> </a:t>
            </a:r>
            <a:r>
              <a:rPr lang="en-US" dirty="0" err="1"/>
              <a:t>Suri</a:t>
            </a:r>
            <a:r>
              <a:rPr lang="en-US" dirty="0"/>
              <a:t>, (twelfth century AD</a:t>
            </a:r>
            <a:r>
              <a:rPr lang="en-US" dirty="0" smtClean="0"/>
              <a:t>).</a:t>
            </a:r>
          </a:p>
          <a:p>
            <a:endParaRPr lang="en-US" dirty="0"/>
          </a:p>
          <a:p>
            <a:r>
              <a:rPr lang="en-US" dirty="0" smtClean="0"/>
              <a:t> </a:t>
            </a:r>
            <a:r>
              <a:rPr lang="en-US" dirty="0"/>
              <a:t>Jainism helped in the growth of a rich literature comprising poetry, philosophy and grammar. These works contain many passages which help us to reconstruct the political history of eastern Uttar Pradesh and Bihar. The Jain texts refer repeatedly to trade and traders</a:t>
            </a:r>
          </a:p>
        </p:txBody>
      </p:sp>
      <p:sp>
        <p:nvSpPr>
          <p:cNvPr id="4" name="Title 1"/>
          <p:cNvSpPr txBox="1">
            <a:spLocks/>
          </p:cNvSpPr>
          <p:nvPr/>
        </p:nvSpPr>
        <p:spPr>
          <a:xfrm>
            <a:off x="1565564" y="0"/>
            <a:ext cx="7502236" cy="86911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Buddhist And Jain Literature in</a:t>
            </a:r>
            <a:br>
              <a:rPr lang="en-US" sz="2800" dirty="0"/>
            </a:br>
            <a:r>
              <a:rPr lang="en-US" sz="2800" dirty="0" err="1"/>
              <a:t>Pali,Prakrit</a:t>
            </a:r>
            <a:r>
              <a:rPr lang="en-US" sz="2800" dirty="0"/>
              <a:t> And Sanskrit</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CEAC6A74-0A7F-462F-B5E6-A6D8766BF34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53</a:t>
            </a:fld>
            <a:endParaRPr lang="en-US"/>
          </a:p>
        </p:txBody>
      </p:sp>
    </p:spTree>
    <p:extLst>
      <p:ext uri="{BB962C8B-B14F-4D97-AF65-F5344CB8AC3E}">
        <p14:creationId xmlns:p14="http://schemas.microsoft.com/office/powerpoint/2010/main" xmlns="" val="13118673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Kautilya’s</a:t>
            </a:r>
            <a:r>
              <a:rPr lang="en-US" dirty="0"/>
              <a:t> </a:t>
            </a:r>
            <a:r>
              <a:rPr lang="en-US" dirty="0" err="1"/>
              <a:t>Arthashastra</a:t>
            </a:r>
            <a:r>
              <a:rPr lang="en-US" dirty="0"/>
              <a:t> is an important treatise of the </a:t>
            </a:r>
            <a:r>
              <a:rPr lang="en-US" dirty="0" err="1"/>
              <a:t>Mauryan</a:t>
            </a:r>
            <a:r>
              <a:rPr lang="en-US" dirty="0"/>
              <a:t> times. It reflects the state of society and economy at that time and provides rich material for the study of ancient Indian polity and economy</a:t>
            </a:r>
            <a:r>
              <a:rPr lang="en-US" dirty="0" smtClean="0"/>
              <a:t>.</a:t>
            </a:r>
          </a:p>
          <a:p>
            <a:endParaRPr lang="en-US"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a:t>Kautilya’s Arthashastra</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09334A5E-996C-434F-A96B-E82C65FF81A4}"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54</a:t>
            </a:fld>
            <a:endParaRPr lang="en-US"/>
          </a:p>
        </p:txBody>
      </p:sp>
    </p:spTree>
    <p:extLst>
      <p:ext uri="{BB962C8B-B14F-4D97-AF65-F5344CB8AC3E}">
        <p14:creationId xmlns:p14="http://schemas.microsoft.com/office/powerpoint/2010/main" xmlns="" val="16460572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0077" y="1307490"/>
            <a:ext cx="7903845" cy="4872990"/>
          </a:xfrm>
          <a:prstGeom prst="rect">
            <a:avLst/>
          </a:prstGeom>
        </p:spPr>
        <p:txBody>
          <a:bodyPr vert="horz" wrap="square" lIns="0" tIns="12700" rIns="0" bIns="0" rtlCol="0">
            <a:spAutoFit/>
          </a:bodyPr>
          <a:lstStyle/>
          <a:p>
            <a:pPr marL="38100" marR="306705">
              <a:lnSpc>
                <a:spcPct val="100000"/>
              </a:lnSpc>
              <a:spcBef>
                <a:spcPts val="100"/>
              </a:spcBef>
              <a:buClr>
                <a:srgbClr val="3891A7"/>
              </a:buClr>
              <a:buSzPct val="79166"/>
              <a:buFont typeface="Wingdings"/>
              <a:buChar char=""/>
              <a:tabLst>
                <a:tab pos="315595" algn="l"/>
              </a:tabLst>
            </a:pPr>
            <a:r>
              <a:rPr sz="2400" spc="-5" dirty="0">
                <a:solidFill>
                  <a:srgbClr val="310D04"/>
                </a:solidFill>
                <a:latin typeface="Arial"/>
                <a:cs typeface="Arial"/>
              </a:rPr>
              <a:t>Kautilya: Kautilya is believed </a:t>
            </a:r>
            <a:r>
              <a:rPr sz="2400" dirty="0">
                <a:solidFill>
                  <a:srgbClr val="310D04"/>
                </a:solidFill>
                <a:latin typeface="Arial"/>
                <a:cs typeface="Arial"/>
              </a:rPr>
              <a:t>to </a:t>
            </a:r>
            <a:r>
              <a:rPr sz="2400" spc="-10" dirty="0">
                <a:solidFill>
                  <a:srgbClr val="310D04"/>
                </a:solidFill>
                <a:latin typeface="Arial"/>
                <a:cs typeface="Arial"/>
              </a:rPr>
              <a:t>be </a:t>
            </a:r>
            <a:r>
              <a:rPr sz="2400" spc="-5" dirty="0">
                <a:solidFill>
                  <a:srgbClr val="310D04"/>
                </a:solidFill>
                <a:latin typeface="Arial"/>
                <a:cs typeface="Arial"/>
              </a:rPr>
              <a:t>the chief adivser of  Chandragupta</a:t>
            </a:r>
            <a:r>
              <a:rPr sz="2400" spc="35" dirty="0">
                <a:solidFill>
                  <a:srgbClr val="310D04"/>
                </a:solidFill>
                <a:latin typeface="Arial"/>
                <a:cs typeface="Arial"/>
              </a:rPr>
              <a:t> </a:t>
            </a:r>
            <a:r>
              <a:rPr sz="2400" spc="-5" dirty="0">
                <a:solidFill>
                  <a:srgbClr val="310D04"/>
                </a:solidFill>
                <a:latin typeface="Arial"/>
                <a:cs typeface="Arial"/>
              </a:rPr>
              <a:t>Maurya.</a:t>
            </a:r>
            <a:endParaRPr sz="2400" dirty="0">
              <a:latin typeface="Arial"/>
              <a:cs typeface="Arial"/>
            </a:endParaRPr>
          </a:p>
          <a:p>
            <a:pPr marL="38100" marR="30480">
              <a:lnSpc>
                <a:spcPct val="100000"/>
              </a:lnSpc>
              <a:spcBef>
                <a:spcPts val="600"/>
              </a:spcBef>
              <a:buClr>
                <a:srgbClr val="3891A7"/>
              </a:buClr>
              <a:buSzPct val="79166"/>
              <a:buFont typeface="Wingdings"/>
              <a:buChar char=""/>
              <a:tabLst>
                <a:tab pos="315595" algn="l"/>
              </a:tabLst>
            </a:pPr>
            <a:r>
              <a:rPr sz="2400" spc="-10" dirty="0">
                <a:solidFill>
                  <a:srgbClr val="310D04"/>
                </a:solidFill>
                <a:latin typeface="Arial"/>
                <a:cs typeface="Arial"/>
              </a:rPr>
              <a:t>Kautilya’s </a:t>
            </a:r>
            <a:r>
              <a:rPr sz="2400" dirty="0">
                <a:solidFill>
                  <a:srgbClr val="310D04"/>
                </a:solidFill>
                <a:latin typeface="Arial"/>
                <a:cs typeface="Arial"/>
              </a:rPr>
              <a:t>Arthashtra, </a:t>
            </a:r>
            <a:r>
              <a:rPr sz="2400" spc="-5" dirty="0">
                <a:solidFill>
                  <a:srgbClr val="310D04"/>
                </a:solidFill>
                <a:latin typeface="Arial"/>
                <a:cs typeface="Arial"/>
              </a:rPr>
              <a:t>a book on </a:t>
            </a:r>
            <a:r>
              <a:rPr sz="2400" dirty="0">
                <a:solidFill>
                  <a:srgbClr val="310D04"/>
                </a:solidFill>
                <a:latin typeface="Arial"/>
                <a:cs typeface="Arial"/>
              </a:rPr>
              <a:t>statecraft </a:t>
            </a:r>
            <a:r>
              <a:rPr sz="2400" spc="-5" dirty="0">
                <a:solidFill>
                  <a:srgbClr val="310D04"/>
                </a:solidFill>
                <a:latin typeface="Arial"/>
                <a:cs typeface="Arial"/>
              </a:rPr>
              <a:t>was </a:t>
            </a:r>
            <a:r>
              <a:rPr sz="2400" dirty="0">
                <a:solidFill>
                  <a:srgbClr val="310D04"/>
                </a:solidFill>
                <a:latin typeface="Arial"/>
                <a:cs typeface="Arial"/>
              </a:rPr>
              <a:t>written</a:t>
            </a:r>
            <a:r>
              <a:rPr sz="2400" spc="-140" dirty="0">
                <a:solidFill>
                  <a:srgbClr val="310D04"/>
                </a:solidFill>
                <a:latin typeface="Arial"/>
                <a:cs typeface="Arial"/>
              </a:rPr>
              <a:t> </a:t>
            </a:r>
            <a:r>
              <a:rPr sz="2400" spc="-5" dirty="0">
                <a:solidFill>
                  <a:srgbClr val="310D04"/>
                </a:solidFill>
                <a:latin typeface="Arial"/>
                <a:cs typeface="Arial"/>
              </a:rPr>
              <a:t>in  the Maurya period in </a:t>
            </a:r>
            <a:r>
              <a:rPr sz="2400" dirty="0">
                <a:solidFill>
                  <a:srgbClr val="310D04"/>
                </a:solidFill>
                <a:latin typeface="Arial"/>
                <a:cs typeface="Arial"/>
              </a:rPr>
              <a:t>4</a:t>
            </a:r>
            <a:r>
              <a:rPr sz="2400" baseline="24305" dirty="0">
                <a:solidFill>
                  <a:srgbClr val="310D04"/>
                </a:solidFill>
                <a:latin typeface="Arial"/>
                <a:cs typeface="Arial"/>
              </a:rPr>
              <a:t>th </a:t>
            </a:r>
            <a:r>
              <a:rPr sz="2400" dirty="0">
                <a:solidFill>
                  <a:srgbClr val="310D04"/>
                </a:solidFill>
                <a:latin typeface="Arial"/>
                <a:cs typeface="Arial"/>
              </a:rPr>
              <a:t>century</a:t>
            </a:r>
            <a:r>
              <a:rPr sz="2400" spc="-195" dirty="0">
                <a:solidFill>
                  <a:srgbClr val="310D04"/>
                </a:solidFill>
                <a:latin typeface="Arial"/>
                <a:cs typeface="Arial"/>
              </a:rPr>
              <a:t> </a:t>
            </a:r>
            <a:r>
              <a:rPr sz="2400" dirty="0">
                <a:solidFill>
                  <a:srgbClr val="310D04"/>
                </a:solidFill>
                <a:latin typeface="Arial"/>
                <a:cs typeface="Arial"/>
              </a:rPr>
              <a:t>B.C.</a:t>
            </a:r>
            <a:endParaRPr sz="2400" dirty="0">
              <a:latin typeface="Arial"/>
              <a:cs typeface="Arial"/>
            </a:endParaRPr>
          </a:p>
          <a:p>
            <a:pPr marL="38100" marR="281940">
              <a:lnSpc>
                <a:spcPct val="100000"/>
              </a:lnSpc>
              <a:spcBef>
                <a:spcPts val="600"/>
              </a:spcBef>
              <a:buClr>
                <a:srgbClr val="3891A7"/>
              </a:buClr>
              <a:buSzPct val="79166"/>
              <a:buFont typeface="Wingdings"/>
              <a:buChar char=""/>
              <a:tabLst>
                <a:tab pos="311150" algn="l"/>
              </a:tabLst>
            </a:pPr>
            <a:r>
              <a:rPr sz="2400" dirty="0">
                <a:solidFill>
                  <a:srgbClr val="310D04"/>
                </a:solidFill>
                <a:latin typeface="Arial"/>
                <a:cs typeface="Arial"/>
              </a:rPr>
              <a:t>The </a:t>
            </a:r>
            <a:r>
              <a:rPr sz="2400" spc="-5" dirty="0">
                <a:solidFill>
                  <a:srgbClr val="310D04"/>
                </a:solidFill>
                <a:latin typeface="Arial"/>
                <a:cs typeface="Arial"/>
              </a:rPr>
              <a:t>text was divided into 15chapters known as </a:t>
            </a:r>
            <a:r>
              <a:rPr sz="2400" dirty="0">
                <a:solidFill>
                  <a:srgbClr val="310D04"/>
                </a:solidFill>
                <a:latin typeface="Arial"/>
                <a:cs typeface="Arial"/>
              </a:rPr>
              <a:t>books.  </a:t>
            </a:r>
            <a:r>
              <a:rPr sz="2400" spc="-10" dirty="0">
                <a:solidFill>
                  <a:srgbClr val="310D04"/>
                </a:solidFill>
                <a:latin typeface="Arial"/>
                <a:cs typeface="Arial"/>
              </a:rPr>
              <a:t>Different </a:t>
            </a:r>
            <a:r>
              <a:rPr sz="2400" dirty="0">
                <a:solidFill>
                  <a:srgbClr val="310D04"/>
                </a:solidFill>
                <a:latin typeface="Arial"/>
                <a:cs typeface="Arial"/>
              </a:rPr>
              <a:t>books deal </a:t>
            </a:r>
            <a:r>
              <a:rPr sz="2400" spc="-5" dirty="0">
                <a:solidFill>
                  <a:srgbClr val="310D04"/>
                </a:solidFill>
                <a:latin typeface="Arial"/>
                <a:cs typeface="Arial"/>
              </a:rPr>
              <a:t>with different </a:t>
            </a:r>
            <a:r>
              <a:rPr sz="2400" dirty="0">
                <a:solidFill>
                  <a:srgbClr val="310D04"/>
                </a:solidFill>
                <a:latin typeface="Arial"/>
                <a:cs typeface="Arial"/>
              </a:rPr>
              <a:t>subject</a:t>
            </a:r>
            <a:r>
              <a:rPr sz="2400" spc="10" dirty="0">
                <a:solidFill>
                  <a:srgbClr val="310D04"/>
                </a:solidFill>
                <a:latin typeface="Arial"/>
                <a:cs typeface="Arial"/>
              </a:rPr>
              <a:t> </a:t>
            </a:r>
            <a:r>
              <a:rPr sz="2400" dirty="0">
                <a:solidFill>
                  <a:srgbClr val="310D04"/>
                </a:solidFill>
                <a:latin typeface="Arial"/>
                <a:cs typeface="Arial"/>
              </a:rPr>
              <a:t>matters.</a:t>
            </a:r>
            <a:endParaRPr sz="2400" dirty="0">
              <a:latin typeface="Arial"/>
              <a:cs typeface="Arial"/>
            </a:endParaRPr>
          </a:p>
          <a:p>
            <a:pPr marL="207010" indent="-169545">
              <a:lnSpc>
                <a:spcPct val="100000"/>
              </a:lnSpc>
              <a:spcBef>
                <a:spcPts val="605"/>
              </a:spcBef>
              <a:buClr>
                <a:srgbClr val="3891A7"/>
              </a:buClr>
              <a:buSzPct val="79166"/>
              <a:buChar char="•"/>
              <a:tabLst>
                <a:tab pos="207645" algn="l"/>
              </a:tabLst>
            </a:pPr>
            <a:r>
              <a:rPr sz="2400" spc="-5" dirty="0">
                <a:solidFill>
                  <a:srgbClr val="310D04"/>
                </a:solidFill>
                <a:latin typeface="Arial"/>
                <a:cs typeface="Arial"/>
              </a:rPr>
              <a:t>Polity</a:t>
            </a:r>
            <a:endParaRPr sz="2400" dirty="0">
              <a:latin typeface="Arial"/>
              <a:cs typeface="Arial"/>
            </a:endParaRPr>
          </a:p>
          <a:p>
            <a:pPr marL="207010" indent="-169545">
              <a:lnSpc>
                <a:spcPct val="100000"/>
              </a:lnSpc>
              <a:spcBef>
                <a:spcPts val="600"/>
              </a:spcBef>
              <a:buClr>
                <a:srgbClr val="3891A7"/>
              </a:buClr>
              <a:buSzPct val="79166"/>
              <a:buChar char="•"/>
              <a:tabLst>
                <a:tab pos="207645" algn="l"/>
              </a:tabLst>
            </a:pPr>
            <a:r>
              <a:rPr sz="2400" spc="-5" dirty="0">
                <a:solidFill>
                  <a:srgbClr val="310D04"/>
                </a:solidFill>
                <a:latin typeface="Arial"/>
                <a:cs typeface="Arial"/>
              </a:rPr>
              <a:t>Economy</a:t>
            </a:r>
            <a:endParaRPr sz="2400" dirty="0">
              <a:latin typeface="Arial"/>
              <a:cs typeface="Arial"/>
            </a:endParaRPr>
          </a:p>
          <a:p>
            <a:pPr marL="207010" indent="-169545">
              <a:lnSpc>
                <a:spcPct val="100000"/>
              </a:lnSpc>
              <a:spcBef>
                <a:spcPts val="600"/>
              </a:spcBef>
              <a:buClr>
                <a:srgbClr val="3891A7"/>
              </a:buClr>
              <a:buSzPct val="79166"/>
              <a:buChar char="•"/>
              <a:tabLst>
                <a:tab pos="207645" algn="l"/>
              </a:tabLst>
            </a:pPr>
            <a:r>
              <a:rPr sz="2400" spc="-5" dirty="0">
                <a:solidFill>
                  <a:srgbClr val="310D04"/>
                </a:solidFill>
                <a:latin typeface="Arial"/>
                <a:cs typeface="Arial"/>
              </a:rPr>
              <a:t>Society</a:t>
            </a:r>
            <a:endParaRPr sz="2400" dirty="0">
              <a:latin typeface="Arial"/>
              <a:cs typeface="Arial"/>
            </a:endParaRPr>
          </a:p>
          <a:p>
            <a:pPr marL="38100" marR="205104">
              <a:lnSpc>
                <a:spcPct val="100000"/>
              </a:lnSpc>
              <a:spcBef>
                <a:spcPts val="600"/>
              </a:spcBef>
              <a:buClr>
                <a:srgbClr val="3891A7"/>
              </a:buClr>
              <a:buSzPct val="79166"/>
              <a:buFont typeface="Wingdings"/>
              <a:buChar char=""/>
              <a:tabLst>
                <a:tab pos="311150" algn="l"/>
              </a:tabLst>
            </a:pPr>
            <a:r>
              <a:rPr sz="2400" dirty="0">
                <a:solidFill>
                  <a:srgbClr val="310D04"/>
                </a:solidFill>
                <a:latin typeface="Arial"/>
                <a:cs typeface="Arial"/>
              </a:rPr>
              <a:t>The </a:t>
            </a:r>
            <a:r>
              <a:rPr sz="2400" spc="-10" dirty="0">
                <a:solidFill>
                  <a:srgbClr val="310D04"/>
                </a:solidFill>
                <a:latin typeface="Arial"/>
                <a:cs typeface="Arial"/>
              </a:rPr>
              <a:t>king’s </a:t>
            </a:r>
            <a:r>
              <a:rPr sz="2400" spc="-5" dirty="0">
                <a:solidFill>
                  <a:srgbClr val="310D04"/>
                </a:solidFill>
                <a:latin typeface="Arial"/>
                <a:cs typeface="Arial"/>
              </a:rPr>
              <a:t>duties, </a:t>
            </a:r>
            <a:r>
              <a:rPr sz="2400" dirty="0">
                <a:solidFill>
                  <a:srgbClr val="310D04"/>
                </a:solidFill>
                <a:latin typeface="Arial"/>
                <a:cs typeface="Arial"/>
              </a:rPr>
              <a:t>the code </a:t>
            </a:r>
            <a:r>
              <a:rPr sz="2400" spc="-5" dirty="0">
                <a:solidFill>
                  <a:srgbClr val="310D04"/>
                </a:solidFill>
                <a:latin typeface="Arial"/>
                <a:cs typeface="Arial"/>
              </a:rPr>
              <a:t>of conduct of </a:t>
            </a:r>
            <a:r>
              <a:rPr sz="2400" spc="-10" dirty="0">
                <a:solidFill>
                  <a:srgbClr val="310D04"/>
                </a:solidFill>
                <a:latin typeface="Arial"/>
                <a:cs typeface="Arial"/>
              </a:rPr>
              <a:t>officers,  </a:t>
            </a:r>
            <a:r>
              <a:rPr sz="2400" spc="-5" dirty="0">
                <a:solidFill>
                  <a:srgbClr val="310D04"/>
                </a:solidFill>
                <a:latin typeface="Arial"/>
                <a:cs typeface="Arial"/>
              </a:rPr>
              <a:t>agriculture and </a:t>
            </a:r>
            <a:r>
              <a:rPr sz="2400" spc="-25" dirty="0">
                <a:solidFill>
                  <a:srgbClr val="310D04"/>
                </a:solidFill>
                <a:latin typeface="Arial"/>
                <a:cs typeface="Arial"/>
              </a:rPr>
              <a:t>industry, </a:t>
            </a:r>
            <a:r>
              <a:rPr sz="2400" spc="-5" dirty="0">
                <a:solidFill>
                  <a:srgbClr val="310D04"/>
                </a:solidFill>
                <a:latin typeface="Arial"/>
                <a:cs typeface="Arial"/>
              </a:rPr>
              <a:t>taxation, the </a:t>
            </a:r>
            <a:r>
              <a:rPr sz="2400" dirty="0">
                <a:solidFill>
                  <a:srgbClr val="310D04"/>
                </a:solidFill>
                <a:latin typeface="Arial"/>
                <a:cs typeface="Arial"/>
              </a:rPr>
              <a:t>inter-state </a:t>
            </a:r>
            <a:r>
              <a:rPr sz="2400" spc="-5" dirty="0">
                <a:solidFill>
                  <a:srgbClr val="310D04"/>
                </a:solidFill>
                <a:latin typeface="Arial"/>
                <a:cs typeface="Arial"/>
              </a:rPr>
              <a:t>relations  </a:t>
            </a:r>
            <a:r>
              <a:rPr sz="2400" dirty="0">
                <a:solidFill>
                  <a:srgbClr val="310D04"/>
                </a:solidFill>
                <a:latin typeface="Arial"/>
                <a:cs typeface="Arial"/>
              </a:rPr>
              <a:t>etc. </a:t>
            </a:r>
            <a:r>
              <a:rPr sz="2400" spc="-5" dirty="0">
                <a:solidFill>
                  <a:srgbClr val="310D04"/>
                </a:solidFill>
                <a:latin typeface="Arial"/>
                <a:cs typeface="Arial"/>
              </a:rPr>
              <a:t>were all detailed in </a:t>
            </a:r>
            <a:r>
              <a:rPr sz="2400" dirty="0">
                <a:solidFill>
                  <a:srgbClr val="310D04"/>
                </a:solidFill>
                <a:latin typeface="Arial"/>
                <a:cs typeface="Arial"/>
              </a:rPr>
              <a:t>the</a:t>
            </a:r>
            <a:r>
              <a:rPr sz="2400" spc="45" dirty="0">
                <a:solidFill>
                  <a:srgbClr val="310D04"/>
                </a:solidFill>
                <a:latin typeface="Arial"/>
                <a:cs typeface="Arial"/>
              </a:rPr>
              <a:t> </a:t>
            </a:r>
            <a:r>
              <a:rPr sz="2400" spc="-5" dirty="0">
                <a:solidFill>
                  <a:srgbClr val="310D04"/>
                </a:solidFill>
                <a:latin typeface="Arial"/>
                <a:cs typeface="Arial"/>
              </a:rPr>
              <a:t>work.</a:t>
            </a:r>
            <a:endParaRPr sz="2400" dirty="0">
              <a:latin typeface="Arial"/>
              <a:cs typeface="Arial"/>
            </a:endParaRPr>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5"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a:t>Kautilya’s Arthashastra</a:t>
            </a:r>
            <a:endParaRPr lang="en-US" sz="2800" b="1" dirty="0">
              <a:solidFill>
                <a:prstClr val="black"/>
              </a:solidFill>
              <a:latin typeface="Times New Roman" pitchFamily="18" charset="0"/>
              <a:cs typeface="Times New Roman" pitchFamily="18" charset="0"/>
            </a:endParaRPr>
          </a:p>
        </p:txBody>
      </p:sp>
      <p:pic>
        <p:nvPicPr>
          <p:cNvPr id="6"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7C516DCB-6EF9-49DE-85A5-4EB0F8448F9F}"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55</a:t>
            </a:fld>
            <a:endParaRPr lang="en-US"/>
          </a:p>
        </p:txBody>
      </p:sp>
    </p:spTree>
    <p:extLst>
      <p:ext uri="{BB962C8B-B14F-4D97-AF65-F5344CB8AC3E}">
        <p14:creationId xmlns:p14="http://schemas.microsoft.com/office/powerpoint/2010/main" xmlns="" val="7651141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0600" y="1396856"/>
            <a:ext cx="7895590" cy="4140835"/>
          </a:xfrm>
          <a:prstGeom prst="rect">
            <a:avLst/>
          </a:prstGeom>
        </p:spPr>
        <p:txBody>
          <a:bodyPr vert="horz" wrap="square" lIns="0" tIns="12700" rIns="0" bIns="0" rtlCol="0">
            <a:spAutoFit/>
          </a:bodyPr>
          <a:lstStyle/>
          <a:p>
            <a:pPr marL="12700" marR="5080">
              <a:lnSpc>
                <a:spcPct val="100000"/>
              </a:lnSpc>
              <a:spcBef>
                <a:spcPts val="100"/>
              </a:spcBef>
              <a:buFont typeface="Wingdings"/>
              <a:buChar char=""/>
              <a:tabLst>
                <a:tab pos="339090" algn="l"/>
              </a:tabLst>
            </a:pPr>
            <a:r>
              <a:rPr sz="2400" spc="-5" dirty="0">
                <a:latin typeface="Arial"/>
                <a:cs typeface="Arial"/>
              </a:rPr>
              <a:t>Kautilya mentioned seven elements essential </a:t>
            </a:r>
            <a:r>
              <a:rPr sz="2400" dirty="0">
                <a:latin typeface="Arial"/>
                <a:cs typeface="Arial"/>
              </a:rPr>
              <a:t>for </a:t>
            </a:r>
            <a:r>
              <a:rPr sz="2400" spc="-5" dirty="0">
                <a:latin typeface="Arial"/>
                <a:cs typeface="Arial"/>
              </a:rPr>
              <a:t>a </a:t>
            </a:r>
            <a:r>
              <a:rPr sz="2400" dirty="0">
                <a:latin typeface="Arial"/>
                <a:cs typeface="Arial"/>
              </a:rPr>
              <a:t>state  </a:t>
            </a:r>
            <a:r>
              <a:rPr sz="2400" spc="-5" dirty="0">
                <a:latin typeface="Arial"/>
                <a:cs typeface="Arial"/>
              </a:rPr>
              <a:t>namely:-</a:t>
            </a:r>
            <a:endParaRPr sz="2400" dirty="0">
              <a:latin typeface="Arial"/>
              <a:cs typeface="Arial"/>
            </a:endParaRPr>
          </a:p>
          <a:p>
            <a:pPr>
              <a:lnSpc>
                <a:spcPct val="100000"/>
              </a:lnSpc>
              <a:spcBef>
                <a:spcPts val="5"/>
              </a:spcBef>
              <a:buFont typeface="Wingdings"/>
              <a:buChar char=""/>
            </a:pPr>
            <a:endParaRPr sz="2500" dirty="0">
              <a:latin typeface="Arial"/>
              <a:cs typeface="Arial"/>
            </a:endParaRPr>
          </a:p>
          <a:p>
            <a:pPr marL="551815" lvl="1" indent="-457834">
              <a:lnSpc>
                <a:spcPct val="100000"/>
              </a:lnSpc>
              <a:buClr>
                <a:srgbClr val="0D0D0D"/>
              </a:buClr>
              <a:buSzPct val="79166"/>
              <a:buAutoNum type="arabicParenR"/>
              <a:tabLst>
                <a:tab pos="551815" algn="l"/>
                <a:tab pos="552450" algn="l"/>
              </a:tabLst>
            </a:pPr>
            <a:r>
              <a:rPr sz="2400" spc="-5" dirty="0">
                <a:latin typeface="Arial"/>
                <a:cs typeface="Arial"/>
              </a:rPr>
              <a:t>Swami</a:t>
            </a:r>
            <a:r>
              <a:rPr sz="2400" spc="5" dirty="0">
                <a:latin typeface="Arial"/>
                <a:cs typeface="Arial"/>
              </a:rPr>
              <a:t> </a:t>
            </a:r>
            <a:r>
              <a:rPr sz="2400" spc="-5" dirty="0">
                <a:latin typeface="Arial"/>
                <a:cs typeface="Arial"/>
              </a:rPr>
              <a:t>–(King)</a:t>
            </a:r>
            <a:endParaRPr sz="2400" dirty="0">
              <a:latin typeface="Arial"/>
              <a:cs typeface="Arial"/>
            </a:endParaRPr>
          </a:p>
          <a:p>
            <a:pPr marL="551815" lvl="1" indent="-457834">
              <a:lnSpc>
                <a:spcPct val="100000"/>
              </a:lnSpc>
              <a:spcBef>
                <a:spcPts val="600"/>
              </a:spcBef>
              <a:buClr>
                <a:srgbClr val="0D0D0D"/>
              </a:buClr>
              <a:buSzPct val="79166"/>
              <a:buAutoNum type="arabicParenR"/>
              <a:tabLst>
                <a:tab pos="551815" algn="l"/>
                <a:tab pos="552450" algn="l"/>
              </a:tabLst>
            </a:pPr>
            <a:r>
              <a:rPr sz="2400" spc="-5" dirty="0">
                <a:latin typeface="Arial"/>
                <a:cs typeface="Arial"/>
              </a:rPr>
              <a:t>Janapada</a:t>
            </a:r>
            <a:r>
              <a:rPr sz="2400" spc="20" dirty="0">
                <a:latin typeface="Arial"/>
                <a:cs typeface="Arial"/>
              </a:rPr>
              <a:t> </a:t>
            </a:r>
            <a:r>
              <a:rPr sz="2400" spc="-5" dirty="0">
                <a:latin typeface="Arial"/>
                <a:cs typeface="Arial"/>
              </a:rPr>
              <a:t>–(People)</a:t>
            </a:r>
            <a:endParaRPr sz="2400" dirty="0">
              <a:latin typeface="Arial"/>
              <a:cs typeface="Arial"/>
            </a:endParaRPr>
          </a:p>
          <a:p>
            <a:pPr marL="551815" lvl="1" indent="-457834">
              <a:lnSpc>
                <a:spcPct val="100000"/>
              </a:lnSpc>
              <a:spcBef>
                <a:spcPts val="600"/>
              </a:spcBef>
              <a:buClr>
                <a:srgbClr val="0D0D0D"/>
              </a:buClr>
              <a:buSzPct val="79166"/>
              <a:buAutoNum type="arabicParenR"/>
              <a:tabLst>
                <a:tab pos="551815" algn="l"/>
                <a:tab pos="552450" algn="l"/>
              </a:tabLst>
            </a:pPr>
            <a:r>
              <a:rPr sz="2400" dirty="0">
                <a:latin typeface="Arial"/>
                <a:cs typeface="Arial"/>
              </a:rPr>
              <a:t>Amatya</a:t>
            </a:r>
            <a:r>
              <a:rPr sz="2400" spc="-15" dirty="0">
                <a:latin typeface="Arial"/>
                <a:cs typeface="Arial"/>
              </a:rPr>
              <a:t> </a:t>
            </a:r>
            <a:r>
              <a:rPr sz="2400" spc="-5" dirty="0">
                <a:latin typeface="Arial"/>
                <a:cs typeface="Arial"/>
              </a:rPr>
              <a:t>–(Ministers)</a:t>
            </a:r>
            <a:endParaRPr sz="2400" dirty="0">
              <a:latin typeface="Arial"/>
              <a:cs typeface="Arial"/>
            </a:endParaRPr>
          </a:p>
          <a:p>
            <a:pPr marL="551815" lvl="1" indent="-457834">
              <a:lnSpc>
                <a:spcPct val="100000"/>
              </a:lnSpc>
              <a:spcBef>
                <a:spcPts val="600"/>
              </a:spcBef>
              <a:buClr>
                <a:srgbClr val="0D0D0D"/>
              </a:buClr>
              <a:buSzPct val="79166"/>
              <a:buAutoNum type="arabicParenR"/>
              <a:tabLst>
                <a:tab pos="551815" algn="l"/>
                <a:tab pos="552450" algn="l"/>
              </a:tabLst>
            </a:pPr>
            <a:r>
              <a:rPr sz="2400" spc="-5" dirty="0">
                <a:latin typeface="Arial"/>
                <a:cs typeface="Arial"/>
              </a:rPr>
              <a:t>Danda</a:t>
            </a:r>
            <a:r>
              <a:rPr sz="2400" spc="15" dirty="0">
                <a:latin typeface="Arial"/>
                <a:cs typeface="Arial"/>
              </a:rPr>
              <a:t> </a:t>
            </a:r>
            <a:r>
              <a:rPr sz="2400" spc="-5" dirty="0">
                <a:latin typeface="Arial"/>
                <a:cs typeface="Arial"/>
              </a:rPr>
              <a:t>–(Sovereignty)</a:t>
            </a:r>
            <a:endParaRPr sz="2400" dirty="0">
              <a:latin typeface="Arial"/>
              <a:cs typeface="Arial"/>
            </a:endParaRPr>
          </a:p>
          <a:p>
            <a:pPr marL="551815" lvl="1" indent="-457834">
              <a:lnSpc>
                <a:spcPct val="100000"/>
              </a:lnSpc>
              <a:spcBef>
                <a:spcPts val="600"/>
              </a:spcBef>
              <a:buClr>
                <a:srgbClr val="0D0D0D"/>
              </a:buClr>
              <a:buSzPct val="79166"/>
              <a:buAutoNum type="arabicParenR"/>
              <a:tabLst>
                <a:tab pos="551815" algn="l"/>
                <a:tab pos="552450" algn="l"/>
              </a:tabLst>
            </a:pPr>
            <a:r>
              <a:rPr sz="2400" spc="-5" dirty="0">
                <a:latin typeface="Arial"/>
                <a:cs typeface="Arial"/>
              </a:rPr>
              <a:t>Kosha</a:t>
            </a:r>
            <a:r>
              <a:rPr sz="2400" dirty="0">
                <a:latin typeface="Arial"/>
                <a:cs typeface="Arial"/>
              </a:rPr>
              <a:t> </a:t>
            </a:r>
            <a:r>
              <a:rPr sz="2400" spc="-10" dirty="0">
                <a:latin typeface="Arial"/>
                <a:cs typeface="Arial"/>
              </a:rPr>
              <a:t>–(Treasury)</a:t>
            </a:r>
            <a:endParaRPr sz="2400" dirty="0">
              <a:latin typeface="Arial"/>
              <a:cs typeface="Arial"/>
            </a:endParaRPr>
          </a:p>
          <a:p>
            <a:pPr marL="551815" lvl="1" indent="-457834">
              <a:lnSpc>
                <a:spcPct val="100000"/>
              </a:lnSpc>
              <a:spcBef>
                <a:spcPts val="605"/>
              </a:spcBef>
              <a:buClr>
                <a:srgbClr val="0D0D0D"/>
              </a:buClr>
              <a:buSzPct val="79166"/>
              <a:buAutoNum type="arabicParenR"/>
              <a:tabLst>
                <a:tab pos="551815" algn="l"/>
                <a:tab pos="552450" algn="l"/>
              </a:tabLst>
            </a:pPr>
            <a:r>
              <a:rPr sz="2400" spc="-5" dirty="0">
                <a:latin typeface="Arial"/>
                <a:cs typeface="Arial"/>
              </a:rPr>
              <a:t>Durga</a:t>
            </a:r>
            <a:r>
              <a:rPr sz="2400" spc="10" dirty="0">
                <a:latin typeface="Arial"/>
                <a:cs typeface="Arial"/>
              </a:rPr>
              <a:t> </a:t>
            </a:r>
            <a:r>
              <a:rPr sz="2400" spc="-5" dirty="0">
                <a:latin typeface="Arial"/>
                <a:cs typeface="Arial"/>
              </a:rPr>
              <a:t>–(Fort-Defence)</a:t>
            </a:r>
            <a:endParaRPr sz="2400" dirty="0">
              <a:latin typeface="Arial"/>
              <a:cs typeface="Arial"/>
            </a:endParaRPr>
          </a:p>
          <a:p>
            <a:pPr marL="551815" lvl="1" indent="-457834">
              <a:lnSpc>
                <a:spcPct val="100000"/>
              </a:lnSpc>
              <a:spcBef>
                <a:spcPts val="600"/>
              </a:spcBef>
              <a:buClr>
                <a:srgbClr val="0D0D0D"/>
              </a:buClr>
              <a:buSzPct val="79166"/>
              <a:buAutoNum type="arabicParenR"/>
              <a:tabLst>
                <a:tab pos="551815" algn="l"/>
                <a:tab pos="552450" algn="l"/>
              </a:tabLst>
            </a:pPr>
            <a:r>
              <a:rPr sz="2400" dirty="0">
                <a:latin typeface="Arial"/>
                <a:cs typeface="Arial"/>
              </a:rPr>
              <a:t>Mitra </a:t>
            </a:r>
            <a:r>
              <a:rPr sz="2400" spc="-5" dirty="0">
                <a:latin typeface="Arial"/>
                <a:cs typeface="Arial"/>
              </a:rPr>
              <a:t>–(Foreign</a:t>
            </a:r>
            <a:r>
              <a:rPr sz="2400" dirty="0">
                <a:latin typeface="Arial"/>
                <a:cs typeface="Arial"/>
              </a:rPr>
              <a:t> </a:t>
            </a:r>
            <a:r>
              <a:rPr sz="2400" spc="-5" dirty="0">
                <a:latin typeface="Arial"/>
                <a:cs typeface="Arial"/>
              </a:rPr>
              <a:t>Relations)</a:t>
            </a:r>
            <a:endParaRPr sz="2400" dirty="0">
              <a:latin typeface="Arial"/>
              <a:cs typeface="Arial"/>
            </a:endParaRPr>
          </a:p>
        </p:txBody>
      </p:sp>
      <p:sp>
        <p:nvSpPr>
          <p:cNvPr id="3" name="Title 1"/>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Kautilya’s</a:t>
            </a:r>
            <a:r>
              <a:rPr lang="en-US" sz="2800" dirty="0"/>
              <a:t> </a:t>
            </a:r>
            <a:r>
              <a:rPr lang="en-US" sz="2800" dirty="0" err="1"/>
              <a:t>Arthashastra</a:t>
            </a:r>
            <a:endParaRPr lang="en-US" sz="2800"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E7D9F735-0BBA-4A5D-B061-1AE701B47E20}"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56</a:t>
            </a:fld>
            <a:endParaRPr lang="en-US"/>
          </a:p>
        </p:txBody>
      </p:sp>
    </p:spTree>
    <p:extLst>
      <p:ext uri="{BB962C8B-B14F-4D97-AF65-F5344CB8AC3E}">
        <p14:creationId xmlns:p14="http://schemas.microsoft.com/office/powerpoint/2010/main" xmlns="" val="3873323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3400" y="1417638"/>
            <a:ext cx="7785734" cy="4140835"/>
          </a:xfrm>
          <a:prstGeom prst="rect">
            <a:avLst/>
          </a:prstGeom>
        </p:spPr>
        <p:txBody>
          <a:bodyPr vert="horz" wrap="square" lIns="0" tIns="12700" rIns="0" bIns="0" rtlCol="0">
            <a:spAutoFit/>
          </a:bodyPr>
          <a:lstStyle/>
          <a:p>
            <a:pPr marL="12700" marR="5080">
              <a:lnSpc>
                <a:spcPct val="100000"/>
              </a:lnSpc>
              <a:spcBef>
                <a:spcPts val="100"/>
              </a:spcBef>
              <a:buSzPct val="95833"/>
              <a:buFont typeface="Wingdings"/>
              <a:buChar char=""/>
              <a:tabLst>
                <a:tab pos="255904" algn="l"/>
              </a:tabLst>
            </a:pPr>
            <a:r>
              <a:rPr sz="2400" spc="-10" dirty="0">
                <a:latin typeface="Arial"/>
                <a:cs typeface="Arial"/>
              </a:rPr>
              <a:t>Kautilya’s </a:t>
            </a:r>
            <a:r>
              <a:rPr sz="2400" dirty="0">
                <a:latin typeface="Arial"/>
                <a:cs typeface="Arial"/>
              </a:rPr>
              <a:t>Arthashastra </a:t>
            </a:r>
            <a:r>
              <a:rPr sz="2400" spc="-5" dirty="0">
                <a:latin typeface="Arial"/>
                <a:cs typeface="Arial"/>
              </a:rPr>
              <a:t>regards </a:t>
            </a:r>
            <a:r>
              <a:rPr sz="2400" dirty="0">
                <a:latin typeface="Arial"/>
                <a:cs typeface="Arial"/>
              </a:rPr>
              <a:t>the </a:t>
            </a:r>
            <a:r>
              <a:rPr sz="2400" spc="-10" dirty="0">
                <a:latin typeface="Arial"/>
                <a:cs typeface="Arial"/>
              </a:rPr>
              <a:t>king </a:t>
            </a:r>
            <a:r>
              <a:rPr sz="2400" dirty="0">
                <a:latin typeface="Arial"/>
                <a:cs typeface="Arial"/>
              </a:rPr>
              <a:t>to </a:t>
            </a:r>
            <a:r>
              <a:rPr sz="2400" spc="-10" dirty="0">
                <a:latin typeface="Arial"/>
                <a:cs typeface="Arial"/>
              </a:rPr>
              <a:t>be </a:t>
            </a:r>
            <a:r>
              <a:rPr sz="2400" spc="-5" dirty="0">
                <a:latin typeface="Arial"/>
                <a:cs typeface="Arial"/>
              </a:rPr>
              <a:t>the </a:t>
            </a:r>
            <a:r>
              <a:rPr sz="2400" dirty="0">
                <a:latin typeface="Arial"/>
                <a:cs typeface="Arial"/>
              </a:rPr>
              <a:t>key</a:t>
            </a:r>
            <a:r>
              <a:rPr sz="2400" spc="-70" dirty="0">
                <a:latin typeface="Arial"/>
                <a:cs typeface="Arial"/>
              </a:rPr>
              <a:t> </a:t>
            </a:r>
            <a:r>
              <a:rPr sz="2400" spc="-5" dirty="0">
                <a:latin typeface="Arial"/>
                <a:cs typeface="Arial"/>
              </a:rPr>
              <a:t>in  the working </a:t>
            </a:r>
            <a:r>
              <a:rPr sz="2400" dirty="0">
                <a:latin typeface="Arial"/>
                <a:cs typeface="Arial"/>
              </a:rPr>
              <a:t>of the state </a:t>
            </a:r>
            <a:r>
              <a:rPr sz="2400" spc="-5" dirty="0">
                <a:latin typeface="Arial"/>
                <a:cs typeface="Arial"/>
              </a:rPr>
              <a:t>administrative</a:t>
            </a:r>
            <a:r>
              <a:rPr sz="2400" spc="15" dirty="0">
                <a:latin typeface="Arial"/>
                <a:cs typeface="Arial"/>
              </a:rPr>
              <a:t> </a:t>
            </a:r>
            <a:r>
              <a:rPr sz="2400" spc="-20" dirty="0">
                <a:latin typeface="Arial"/>
                <a:cs typeface="Arial"/>
              </a:rPr>
              <a:t>machinery.</a:t>
            </a:r>
            <a:endParaRPr sz="2400" dirty="0">
              <a:latin typeface="Arial"/>
              <a:cs typeface="Arial"/>
            </a:endParaRPr>
          </a:p>
          <a:p>
            <a:pPr>
              <a:lnSpc>
                <a:spcPct val="100000"/>
              </a:lnSpc>
              <a:spcBef>
                <a:spcPts val="5"/>
              </a:spcBef>
              <a:buFont typeface="Wingdings"/>
              <a:buChar char=""/>
            </a:pPr>
            <a:endParaRPr sz="2500" dirty="0">
              <a:latin typeface="Arial"/>
              <a:cs typeface="Arial"/>
            </a:endParaRPr>
          </a:p>
          <a:p>
            <a:pPr marL="551815" lvl="1" indent="-457834">
              <a:lnSpc>
                <a:spcPct val="100000"/>
              </a:lnSpc>
              <a:buClr>
                <a:srgbClr val="0D0D0D"/>
              </a:buClr>
              <a:buSzPct val="79166"/>
              <a:buAutoNum type="alphaLcParenR"/>
              <a:tabLst>
                <a:tab pos="551815" algn="l"/>
                <a:tab pos="552450" algn="l"/>
              </a:tabLst>
            </a:pPr>
            <a:r>
              <a:rPr sz="2400" spc="-5" dirty="0">
                <a:latin typeface="Arial"/>
                <a:cs typeface="Arial"/>
              </a:rPr>
              <a:t>Education </a:t>
            </a:r>
            <a:r>
              <a:rPr sz="2400" dirty="0">
                <a:latin typeface="Arial"/>
                <a:cs typeface="Arial"/>
              </a:rPr>
              <a:t>of the</a:t>
            </a:r>
            <a:r>
              <a:rPr sz="2400" spc="-10" dirty="0">
                <a:latin typeface="Arial"/>
                <a:cs typeface="Arial"/>
              </a:rPr>
              <a:t> </a:t>
            </a:r>
            <a:r>
              <a:rPr sz="2400" spc="-5" dirty="0">
                <a:latin typeface="Arial"/>
                <a:cs typeface="Arial"/>
              </a:rPr>
              <a:t>princes</a:t>
            </a:r>
            <a:endParaRPr sz="2400" dirty="0">
              <a:latin typeface="Arial"/>
              <a:cs typeface="Arial"/>
            </a:endParaRPr>
          </a:p>
          <a:p>
            <a:pPr marL="551815" lvl="1" indent="-457834">
              <a:lnSpc>
                <a:spcPct val="100000"/>
              </a:lnSpc>
              <a:spcBef>
                <a:spcPts val="600"/>
              </a:spcBef>
              <a:buClr>
                <a:srgbClr val="0D0D0D"/>
              </a:buClr>
              <a:buSzPct val="79166"/>
              <a:buAutoNum type="alphaLcParenR"/>
              <a:tabLst>
                <a:tab pos="551815" algn="l"/>
                <a:tab pos="552450" algn="l"/>
              </a:tabLst>
            </a:pPr>
            <a:r>
              <a:rPr sz="2400" spc="-5" dirty="0">
                <a:latin typeface="Arial"/>
                <a:cs typeface="Arial"/>
              </a:rPr>
              <a:t>Duties </a:t>
            </a:r>
            <a:r>
              <a:rPr sz="2400" dirty="0">
                <a:latin typeface="Arial"/>
                <a:cs typeface="Arial"/>
              </a:rPr>
              <a:t>of the</a:t>
            </a:r>
            <a:r>
              <a:rPr sz="2400" spc="-5" dirty="0">
                <a:latin typeface="Arial"/>
                <a:cs typeface="Arial"/>
              </a:rPr>
              <a:t> king</a:t>
            </a:r>
            <a:endParaRPr sz="2400" dirty="0">
              <a:latin typeface="Arial"/>
              <a:cs typeface="Arial"/>
            </a:endParaRPr>
          </a:p>
          <a:p>
            <a:pPr marL="551815" lvl="1" indent="-457834">
              <a:lnSpc>
                <a:spcPct val="100000"/>
              </a:lnSpc>
              <a:spcBef>
                <a:spcPts val="600"/>
              </a:spcBef>
              <a:buClr>
                <a:srgbClr val="0D0D0D"/>
              </a:buClr>
              <a:buSzPct val="79166"/>
              <a:buAutoNum type="alphaLcParenR"/>
              <a:tabLst>
                <a:tab pos="551815" algn="l"/>
                <a:tab pos="552450" algn="l"/>
              </a:tabLst>
            </a:pPr>
            <a:r>
              <a:rPr sz="2400" spc="-5" dirty="0">
                <a:latin typeface="Arial"/>
                <a:cs typeface="Arial"/>
              </a:rPr>
              <a:t>Selection </a:t>
            </a:r>
            <a:r>
              <a:rPr sz="2400" dirty="0">
                <a:latin typeface="Arial"/>
                <a:cs typeface="Arial"/>
              </a:rPr>
              <a:t>of</a:t>
            </a:r>
            <a:r>
              <a:rPr sz="2400" spc="20" dirty="0">
                <a:latin typeface="Arial"/>
                <a:cs typeface="Arial"/>
              </a:rPr>
              <a:t> </a:t>
            </a:r>
            <a:r>
              <a:rPr sz="2400" spc="-5" dirty="0">
                <a:latin typeface="Arial"/>
                <a:cs typeface="Arial"/>
              </a:rPr>
              <a:t>ministers</a:t>
            </a:r>
            <a:endParaRPr sz="2400" dirty="0">
              <a:latin typeface="Arial"/>
              <a:cs typeface="Arial"/>
            </a:endParaRPr>
          </a:p>
          <a:p>
            <a:pPr marL="551815" lvl="1" indent="-457834">
              <a:lnSpc>
                <a:spcPct val="100000"/>
              </a:lnSpc>
              <a:spcBef>
                <a:spcPts val="600"/>
              </a:spcBef>
              <a:buClr>
                <a:srgbClr val="0D0D0D"/>
              </a:buClr>
              <a:buSzPct val="79166"/>
              <a:buAutoNum type="alphaLcParenR"/>
              <a:tabLst>
                <a:tab pos="551815" algn="l"/>
                <a:tab pos="552450" algn="l"/>
              </a:tabLst>
            </a:pPr>
            <a:r>
              <a:rPr sz="2400" spc="-5" dirty="0">
                <a:latin typeface="Arial"/>
                <a:cs typeface="Arial"/>
              </a:rPr>
              <a:t>Organisation </a:t>
            </a:r>
            <a:r>
              <a:rPr sz="2400" dirty="0">
                <a:latin typeface="Arial"/>
                <a:cs typeface="Arial"/>
              </a:rPr>
              <a:t>of the </a:t>
            </a:r>
            <a:r>
              <a:rPr sz="2400" spc="-10" dirty="0">
                <a:latin typeface="Arial"/>
                <a:cs typeface="Arial"/>
              </a:rPr>
              <a:t>different </a:t>
            </a:r>
            <a:r>
              <a:rPr sz="2400" spc="-5" dirty="0">
                <a:latin typeface="Arial"/>
                <a:cs typeface="Arial"/>
              </a:rPr>
              <a:t>departments </a:t>
            </a:r>
            <a:r>
              <a:rPr sz="2400" dirty="0">
                <a:latin typeface="Arial"/>
                <a:cs typeface="Arial"/>
              </a:rPr>
              <a:t>of the</a:t>
            </a:r>
            <a:r>
              <a:rPr sz="2400" spc="45" dirty="0">
                <a:latin typeface="Arial"/>
                <a:cs typeface="Arial"/>
              </a:rPr>
              <a:t> </a:t>
            </a:r>
            <a:r>
              <a:rPr sz="2400" spc="-5" dirty="0">
                <a:latin typeface="Arial"/>
                <a:cs typeface="Arial"/>
              </a:rPr>
              <a:t>state</a:t>
            </a:r>
            <a:endParaRPr sz="2400" dirty="0">
              <a:latin typeface="Arial"/>
              <a:cs typeface="Arial"/>
            </a:endParaRPr>
          </a:p>
          <a:p>
            <a:pPr marL="551815" lvl="1" indent="-457834">
              <a:lnSpc>
                <a:spcPct val="100000"/>
              </a:lnSpc>
              <a:spcBef>
                <a:spcPts val="600"/>
              </a:spcBef>
              <a:buClr>
                <a:srgbClr val="0D0D0D"/>
              </a:buClr>
              <a:buSzPct val="79166"/>
              <a:buAutoNum type="alphaLcParenR"/>
              <a:tabLst>
                <a:tab pos="551815" algn="l"/>
                <a:tab pos="552450" algn="l"/>
              </a:tabLst>
            </a:pPr>
            <a:r>
              <a:rPr sz="2400" spc="-5" dirty="0">
                <a:latin typeface="Arial"/>
                <a:cs typeface="Arial"/>
              </a:rPr>
              <a:t>Justice</a:t>
            </a:r>
            <a:endParaRPr sz="2400" dirty="0">
              <a:latin typeface="Arial"/>
              <a:cs typeface="Arial"/>
            </a:endParaRPr>
          </a:p>
          <a:p>
            <a:pPr marL="551815" lvl="1" indent="-457834">
              <a:lnSpc>
                <a:spcPct val="100000"/>
              </a:lnSpc>
              <a:spcBef>
                <a:spcPts val="605"/>
              </a:spcBef>
              <a:buClr>
                <a:srgbClr val="0D0D0D"/>
              </a:buClr>
              <a:buSzPct val="79166"/>
              <a:buAutoNum type="alphaLcParenR"/>
              <a:tabLst>
                <a:tab pos="551815" algn="l"/>
                <a:tab pos="552450" algn="l"/>
              </a:tabLst>
            </a:pPr>
            <a:r>
              <a:rPr sz="2400" spc="-40" dirty="0">
                <a:latin typeface="Arial"/>
                <a:cs typeface="Arial"/>
              </a:rPr>
              <a:t>Taxation</a:t>
            </a:r>
            <a:endParaRPr sz="2400" dirty="0">
              <a:latin typeface="Arial"/>
              <a:cs typeface="Arial"/>
            </a:endParaRPr>
          </a:p>
          <a:p>
            <a:pPr marL="551815" lvl="1" indent="-457834">
              <a:lnSpc>
                <a:spcPct val="100000"/>
              </a:lnSpc>
              <a:spcBef>
                <a:spcPts val="600"/>
              </a:spcBef>
              <a:buClr>
                <a:srgbClr val="0D0D0D"/>
              </a:buClr>
              <a:buSzPct val="79166"/>
              <a:buAutoNum type="alphaLcParenR"/>
              <a:tabLst>
                <a:tab pos="551815" algn="l"/>
                <a:tab pos="552450" algn="l"/>
              </a:tabLst>
            </a:pPr>
            <a:r>
              <a:rPr sz="2400" spc="-5" dirty="0">
                <a:latin typeface="Arial"/>
                <a:cs typeface="Arial"/>
              </a:rPr>
              <a:t>Foreign policy</a:t>
            </a:r>
            <a:r>
              <a:rPr sz="2400" spc="30" dirty="0">
                <a:latin typeface="Arial"/>
                <a:cs typeface="Arial"/>
              </a:rPr>
              <a:t> </a:t>
            </a:r>
            <a:r>
              <a:rPr sz="2400" dirty="0">
                <a:latin typeface="Arial"/>
                <a:cs typeface="Arial"/>
              </a:rPr>
              <a:t>etc</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Kautilya’s</a:t>
            </a:r>
            <a:r>
              <a:rPr lang="en-US" sz="2800" dirty="0"/>
              <a:t> </a:t>
            </a:r>
            <a:r>
              <a:rPr lang="en-US" sz="2800" dirty="0" err="1"/>
              <a:t>Arthashastra</a:t>
            </a:r>
            <a:endParaRPr lang="en-US" sz="2800"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E51D1848-F1E3-46E8-B51E-E7135EF3FB3B}"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57</a:t>
            </a:fld>
            <a:endParaRPr lang="en-US"/>
          </a:p>
        </p:txBody>
      </p:sp>
    </p:spTree>
    <p:extLst>
      <p:ext uri="{BB962C8B-B14F-4D97-AF65-F5344CB8AC3E}">
        <p14:creationId xmlns:p14="http://schemas.microsoft.com/office/powerpoint/2010/main" xmlns="" val="42022760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908619"/>
            <a:ext cx="8229600" cy="4883388"/>
          </a:xfrm>
          <a:prstGeom prst="rect">
            <a:avLst/>
          </a:prstGeom>
        </p:spPr>
        <p:txBody>
          <a:bodyPr vert="horz" wrap="square" lIns="0" tIns="12700" rIns="0" bIns="0" rtlCol="0">
            <a:spAutoFit/>
          </a:bodyPr>
          <a:lstStyle/>
          <a:p>
            <a:pPr marL="255270" indent="-243204">
              <a:lnSpc>
                <a:spcPct val="100000"/>
              </a:lnSpc>
              <a:spcBef>
                <a:spcPts val="100"/>
              </a:spcBef>
              <a:buSzPct val="95833"/>
              <a:buFont typeface="Wingdings"/>
              <a:buChar char=""/>
              <a:tabLst>
                <a:tab pos="255904" algn="l"/>
              </a:tabLst>
            </a:pPr>
            <a:r>
              <a:rPr sz="2400" spc="-5" dirty="0">
                <a:latin typeface="Arial"/>
                <a:cs typeface="Arial"/>
              </a:rPr>
              <a:t>Kautilya separated ethics </a:t>
            </a:r>
            <a:r>
              <a:rPr sz="2400" dirty="0">
                <a:latin typeface="Arial"/>
                <a:cs typeface="Arial"/>
              </a:rPr>
              <a:t>from</a:t>
            </a:r>
            <a:r>
              <a:rPr sz="2400" spc="25" dirty="0">
                <a:latin typeface="Arial"/>
                <a:cs typeface="Arial"/>
              </a:rPr>
              <a:t> </a:t>
            </a:r>
            <a:r>
              <a:rPr sz="2400" spc="-5" dirty="0">
                <a:latin typeface="Arial"/>
                <a:cs typeface="Arial"/>
              </a:rPr>
              <a:t>politics.</a:t>
            </a:r>
            <a:endParaRPr sz="2400" dirty="0">
              <a:latin typeface="Arial"/>
              <a:cs typeface="Arial"/>
            </a:endParaRPr>
          </a:p>
          <a:p>
            <a:pPr>
              <a:lnSpc>
                <a:spcPct val="100000"/>
              </a:lnSpc>
              <a:spcBef>
                <a:spcPts val="5"/>
              </a:spcBef>
              <a:buFont typeface="Wingdings"/>
              <a:buChar char=""/>
            </a:pPr>
            <a:endParaRPr sz="3750" dirty="0">
              <a:latin typeface="Arial"/>
              <a:cs typeface="Arial"/>
            </a:endParaRPr>
          </a:p>
          <a:p>
            <a:pPr marL="666115" marR="266065" lvl="1" indent="-571500" algn="just">
              <a:lnSpc>
                <a:spcPct val="100000"/>
              </a:lnSpc>
              <a:buSzPct val="79166"/>
              <a:buAutoNum type="romanLcPeriod"/>
              <a:tabLst>
                <a:tab pos="666115" algn="l"/>
                <a:tab pos="666750" algn="l"/>
              </a:tabLst>
            </a:pPr>
            <a:r>
              <a:rPr sz="2400" dirty="0">
                <a:latin typeface="Arial"/>
                <a:cs typeface="Arial"/>
              </a:rPr>
              <a:t>He was of the </a:t>
            </a:r>
            <a:r>
              <a:rPr sz="2400" spc="-5" dirty="0">
                <a:latin typeface="Arial"/>
                <a:cs typeface="Arial"/>
              </a:rPr>
              <a:t>view </a:t>
            </a:r>
            <a:r>
              <a:rPr sz="2400" dirty="0">
                <a:latin typeface="Arial"/>
                <a:cs typeface="Arial"/>
              </a:rPr>
              <a:t>that the </a:t>
            </a:r>
            <a:r>
              <a:rPr sz="2400" spc="-5" dirty="0">
                <a:latin typeface="Arial"/>
                <a:cs typeface="Arial"/>
              </a:rPr>
              <a:t>king </a:t>
            </a:r>
            <a:r>
              <a:rPr sz="2400" dirty="0">
                <a:latin typeface="Arial"/>
                <a:cs typeface="Arial"/>
              </a:rPr>
              <a:t>may resort to  </a:t>
            </a:r>
            <a:r>
              <a:rPr sz="2400" spc="-5" dirty="0">
                <a:latin typeface="Arial"/>
                <a:cs typeface="Arial"/>
              </a:rPr>
              <a:t>ruthless approach </a:t>
            </a:r>
            <a:r>
              <a:rPr sz="2400" dirty="0">
                <a:latin typeface="Arial"/>
                <a:cs typeface="Arial"/>
              </a:rPr>
              <a:t>for the security </a:t>
            </a:r>
            <a:r>
              <a:rPr sz="2400" spc="-5" dirty="0">
                <a:latin typeface="Arial"/>
                <a:cs typeface="Arial"/>
              </a:rPr>
              <a:t>and </a:t>
            </a:r>
            <a:r>
              <a:rPr sz="2400" dirty="0">
                <a:latin typeface="Arial"/>
                <a:cs typeface="Arial"/>
              </a:rPr>
              <a:t>safety </a:t>
            </a:r>
            <a:r>
              <a:rPr sz="2400" spc="-5" dirty="0">
                <a:latin typeface="Arial"/>
                <a:cs typeface="Arial"/>
              </a:rPr>
              <a:t>of </a:t>
            </a:r>
            <a:r>
              <a:rPr sz="2400" dirty="0">
                <a:latin typeface="Arial"/>
                <a:cs typeface="Arial"/>
              </a:rPr>
              <a:t>the  </a:t>
            </a:r>
            <a:r>
              <a:rPr sz="2400" spc="-5" dirty="0">
                <a:latin typeface="Arial"/>
                <a:cs typeface="Arial"/>
              </a:rPr>
              <a:t>empire.</a:t>
            </a:r>
            <a:endParaRPr sz="2400" dirty="0">
              <a:latin typeface="Arial"/>
              <a:cs typeface="Arial"/>
            </a:endParaRPr>
          </a:p>
          <a:p>
            <a:pPr marL="666115" lvl="1" indent="-572135" algn="just">
              <a:lnSpc>
                <a:spcPct val="100000"/>
              </a:lnSpc>
              <a:spcBef>
                <a:spcPts val="605"/>
              </a:spcBef>
              <a:buSzPct val="79166"/>
              <a:buAutoNum type="romanLcPeriod"/>
              <a:tabLst>
                <a:tab pos="666115" algn="l"/>
                <a:tab pos="666750" algn="l"/>
              </a:tabLst>
            </a:pPr>
            <a:r>
              <a:rPr sz="2400" spc="-5" dirty="0">
                <a:latin typeface="Arial"/>
                <a:cs typeface="Arial"/>
              </a:rPr>
              <a:t>But </a:t>
            </a:r>
            <a:r>
              <a:rPr sz="2400" dirty="0">
                <a:latin typeface="Arial"/>
                <a:cs typeface="Arial"/>
              </a:rPr>
              <a:t>this </a:t>
            </a:r>
            <a:r>
              <a:rPr sz="2400" spc="-5" dirty="0">
                <a:latin typeface="Arial"/>
                <a:cs typeface="Arial"/>
              </a:rPr>
              <a:t>does </a:t>
            </a:r>
            <a:r>
              <a:rPr sz="2400" dirty="0">
                <a:latin typeface="Arial"/>
                <a:cs typeface="Arial"/>
              </a:rPr>
              <a:t>not </a:t>
            </a:r>
            <a:r>
              <a:rPr sz="2400" spc="-5" dirty="0">
                <a:latin typeface="Arial"/>
                <a:cs typeface="Arial"/>
              </a:rPr>
              <a:t>mean </a:t>
            </a:r>
            <a:r>
              <a:rPr sz="2400" dirty="0">
                <a:latin typeface="Arial"/>
                <a:cs typeface="Arial"/>
              </a:rPr>
              <a:t>that the </a:t>
            </a:r>
            <a:r>
              <a:rPr sz="2400" spc="-10" dirty="0">
                <a:latin typeface="Arial"/>
                <a:cs typeface="Arial"/>
              </a:rPr>
              <a:t>king </a:t>
            </a:r>
            <a:r>
              <a:rPr sz="2400" spc="-5" dirty="0">
                <a:latin typeface="Arial"/>
                <a:cs typeface="Arial"/>
              </a:rPr>
              <a:t>was</a:t>
            </a:r>
            <a:r>
              <a:rPr sz="2400" spc="-10" dirty="0">
                <a:latin typeface="Arial"/>
                <a:cs typeface="Arial"/>
              </a:rPr>
              <a:t> </a:t>
            </a:r>
            <a:r>
              <a:rPr sz="2400" dirty="0">
                <a:latin typeface="Arial"/>
                <a:cs typeface="Arial"/>
              </a:rPr>
              <a:t>immoral.</a:t>
            </a:r>
          </a:p>
          <a:p>
            <a:pPr marL="666115" lvl="1" indent="-572135" algn="just">
              <a:lnSpc>
                <a:spcPct val="100000"/>
              </a:lnSpc>
              <a:spcBef>
                <a:spcPts val="600"/>
              </a:spcBef>
              <a:buSzPct val="79166"/>
              <a:buAutoNum type="romanLcPeriod"/>
              <a:tabLst>
                <a:tab pos="666115" algn="l"/>
                <a:tab pos="666750" algn="l"/>
              </a:tabLst>
            </a:pPr>
            <a:r>
              <a:rPr sz="2400" spc="-5" dirty="0">
                <a:latin typeface="Arial"/>
                <a:cs typeface="Arial"/>
              </a:rPr>
              <a:t>Kautilya </a:t>
            </a:r>
            <a:r>
              <a:rPr sz="2400" dirty="0">
                <a:latin typeface="Arial"/>
                <a:cs typeface="Arial"/>
              </a:rPr>
              <a:t>lays much stress </a:t>
            </a:r>
            <a:r>
              <a:rPr sz="2400" spc="-5" dirty="0">
                <a:latin typeface="Arial"/>
                <a:cs typeface="Arial"/>
              </a:rPr>
              <a:t>on morality </a:t>
            </a:r>
            <a:r>
              <a:rPr sz="2400" dirty="0">
                <a:latin typeface="Arial"/>
                <a:cs typeface="Arial"/>
              </a:rPr>
              <a:t>in the</a:t>
            </a:r>
            <a:r>
              <a:rPr sz="2400" spc="40" dirty="0">
                <a:latin typeface="Arial"/>
                <a:cs typeface="Arial"/>
              </a:rPr>
              <a:t> </a:t>
            </a:r>
            <a:r>
              <a:rPr sz="2400" dirty="0">
                <a:latin typeface="Arial"/>
                <a:cs typeface="Arial"/>
              </a:rPr>
              <a:t>personal</a:t>
            </a:r>
          </a:p>
          <a:p>
            <a:pPr marL="666115" algn="just">
              <a:lnSpc>
                <a:spcPct val="100000"/>
              </a:lnSpc>
            </a:pPr>
            <a:r>
              <a:rPr sz="2400" spc="-5" dirty="0">
                <a:latin typeface="Arial"/>
                <a:cs typeface="Arial"/>
              </a:rPr>
              <a:t>life </a:t>
            </a:r>
            <a:r>
              <a:rPr sz="2400" dirty="0">
                <a:latin typeface="Arial"/>
                <a:cs typeface="Arial"/>
              </a:rPr>
              <a:t>of </a:t>
            </a:r>
            <a:r>
              <a:rPr sz="2400" spc="-5" dirty="0">
                <a:latin typeface="Arial"/>
                <a:cs typeface="Arial"/>
              </a:rPr>
              <a:t>the</a:t>
            </a:r>
            <a:r>
              <a:rPr sz="2400" spc="5" dirty="0">
                <a:latin typeface="Arial"/>
                <a:cs typeface="Arial"/>
              </a:rPr>
              <a:t> </a:t>
            </a:r>
            <a:r>
              <a:rPr sz="2400" spc="-5" dirty="0">
                <a:latin typeface="Arial"/>
                <a:cs typeface="Arial"/>
              </a:rPr>
              <a:t>king.</a:t>
            </a:r>
            <a:endParaRPr sz="2400" dirty="0">
              <a:latin typeface="Arial"/>
              <a:cs typeface="Arial"/>
            </a:endParaRPr>
          </a:p>
          <a:p>
            <a:pPr marL="666115" marR="68580" lvl="1" indent="-571500" algn="just">
              <a:lnSpc>
                <a:spcPct val="100000"/>
              </a:lnSpc>
              <a:spcBef>
                <a:spcPts val="600"/>
              </a:spcBef>
              <a:buSzPct val="79166"/>
              <a:buAutoNum type="romanLcPeriod" startAt="4"/>
              <a:tabLst>
                <a:tab pos="666115" algn="l"/>
                <a:tab pos="666750" algn="l"/>
              </a:tabLst>
            </a:pPr>
            <a:r>
              <a:rPr sz="2400" spc="-5" dirty="0">
                <a:latin typeface="Arial"/>
                <a:cs typeface="Arial"/>
              </a:rPr>
              <a:t>King should have full control over his senses viz.,  lust, </a:t>
            </a:r>
            <a:r>
              <a:rPr sz="2400" spc="-30" dirty="0">
                <a:latin typeface="Arial"/>
                <a:cs typeface="Arial"/>
              </a:rPr>
              <a:t>anger, </a:t>
            </a:r>
            <a:r>
              <a:rPr sz="2400" spc="-5" dirty="0">
                <a:latin typeface="Arial"/>
                <a:cs typeface="Arial"/>
              </a:rPr>
              <a:t>greed, </a:t>
            </a:r>
            <a:r>
              <a:rPr sz="2400" spc="-30" dirty="0">
                <a:latin typeface="Arial"/>
                <a:cs typeface="Arial"/>
              </a:rPr>
              <a:t>vanity, </a:t>
            </a:r>
            <a:r>
              <a:rPr sz="2400" spc="-5" dirty="0">
                <a:latin typeface="Arial"/>
                <a:cs typeface="Arial"/>
              </a:rPr>
              <a:t>haughtiness and pleasure,  because </a:t>
            </a:r>
            <a:r>
              <a:rPr sz="2400" dirty="0">
                <a:latin typeface="Arial"/>
                <a:cs typeface="Arial"/>
              </a:rPr>
              <a:t>they </a:t>
            </a:r>
            <a:r>
              <a:rPr sz="2400" spc="-5" dirty="0">
                <a:latin typeface="Arial"/>
                <a:cs typeface="Arial"/>
              </a:rPr>
              <a:t>have </a:t>
            </a:r>
            <a:r>
              <a:rPr sz="2400" dirty="0">
                <a:latin typeface="Arial"/>
                <a:cs typeface="Arial"/>
              </a:rPr>
              <a:t>often </a:t>
            </a:r>
            <a:r>
              <a:rPr sz="2400" spc="-5" dirty="0">
                <a:latin typeface="Arial"/>
                <a:cs typeface="Arial"/>
              </a:rPr>
              <a:t>brought </a:t>
            </a:r>
            <a:r>
              <a:rPr sz="2400" dirty="0">
                <a:latin typeface="Arial"/>
                <a:cs typeface="Arial"/>
              </a:rPr>
              <a:t>the </a:t>
            </a:r>
            <a:r>
              <a:rPr sz="2400" spc="-5" dirty="0">
                <a:latin typeface="Arial"/>
                <a:cs typeface="Arial"/>
              </a:rPr>
              <a:t>downfall </a:t>
            </a:r>
            <a:r>
              <a:rPr sz="2400" dirty="0">
                <a:latin typeface="Arial"/>
                <a:cs typeface="Arial"/>
              </a:rPr>
              <a:t>of  </a:t>
            </a:r>
            <a:r>
              <a:rPr sz="2400" spc="-5" dirty="0">
                <a:latin typeface="Arial"/>
                <a:cs typeface="Arial"/>
              </a:rPr>
              <a:t>various</a:t>
            </a:r>
            <a:r>
              <a:rPr sz="2400" dirty="0">
                <a:latin typeface="Arial"/>
                <a:cs typeface="Arial"/>
              </a:rPr>
              <a:t> </a:t>
            </a:r>
            <a:r>
              <a:rPr sz="2400" spc="-5" dirty="0">
                <a:latin typeface="Arial"/>
                <a:cs typeface="Arial"/>
              </a:rPr>
              <a:t>kingdoms.</a:t>
            </a:r>
            <a:endParaRPr sz="2400" dirty="0">
              <a:latin typeface="Arial"/>
              <a:cs typeface="Arial"/>
            </a:endParaRPr>
          </a:p>
        </p:txBody>
      </p:sp>
      <p:sp>
        <p:nvSpPr>
          <p:cNvPr id="3" name="Title 1"/>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Kautilya’s</a:t>
            </a:r>
            <a:r>
              <a:rPr lang="en-US" sz="2800" dirty="0"/>
              <a:t> </a:t>
            </a:r>
            <a:r>
              <a:rPr lang="en-US" sz="2800" dirty="0" err="1"/>
              <a:t>Arthashastra</a:t>
            </a:r>
            <a:endParaRPr lang="en-US" sz="2800"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E8606CD6-FFD4-464B-9AFA-2DAA55B496DA}"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58</a:t>
            </a:fld>
            <a:endParaRPr lang="en-US"/>
          </a:p>
        </p:txBody>
      </p:sp>
    </p:spTree>
    <p:extLst>
      <p:ext uri="{BB962C8B-B14F-4D97-AF65-F5344CB8AC3E}">
        <p14:creationId xmlns:p14="http://schemas.microsoft.com/office/powerpoint/2010/main" xmlns="" val="35845604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5317" y="1491385"/>
            <a:ext cx="7873365" cy="2623795"/>
          </a:xfrm>
          <a:prstGeom prst="rect">
            <a:avLst/>
          </a:prstGeom>
        </p:spPr>
        <p:txBody>
          <a:bodyPr vert="horz" wrap="square" lIns="0" tIns="12700" rIns="0" bIns="0" rtlCol="0">
            <a:spAutoFit/>
          </a:bodyPr>
          <a:lstStyle/>
          <a:p>
            <a:pPr marL="12700" marR="5080">
              <a:lnSpc>
                <a:spcPct val="100000"/>
              </a:lnSpc>
              <a:spcBef>
                <a:spcPts val="100"/>
              </a:spcBef>
              <a:buSzPct val="95833"/>
              <a:buFont typeface="Wingdings"/>
              <a:buChar char=""/>
              <a:tabLst>
                <a:tab pos="255904" algn="l"/>
              </a:tabLst>
            </a:pPr>
            <a:r>
              <a:rPr sz="2400" spc="-10" dirty="0">
                <a:latin typeface="Arial"/>
                <a:cs typeface="Arial"/>
              </a:rPr>
              <a:t>Kautilya’s </a:t>
            </a:r>
            <a:r>
              <a:rPr sz="2400" spc="-5" dirty="0">
                <a:latin typeface="Arial"/>
                <a:cs typeface="Arial"/>
              </a:rPr>
              <a:t>work is </a:t>
            </a:r>
            <a:r>
              <a:rPr sz="2400" dirty="0">
                <a:latin typeface="Arial"/>
                <a:cs typeface="Arial"/>
              </a:rPr>
              <a:t>far </a:t>
            </a:r>
            <a:r>
              <a:rPr sz="2400" spc="-5" dirty="0">
                <a:latin typeface="Arial"/>
                <a:cs typeface="Arial"/>
              </a:rPr>
              <a:t>more varied-and entertaining-than  usual accounts </a:t>
            </a:r>
            <a:r>
              <a:rPr sz="2400" dirty="0">
                <a:latin typeface="Arial"/>
                <a:cs typeface="Arial"/>
              </a:rPr>
              <a:t>of </a:t>
            </a:r>
            <a:r>
              <a:rPr sz="2400" spc="-5" dirty="0">
                <a:latin typeface="Arial"/>
                <a:cs typeface="Arial"/>
              </a:rPr>
              <a:t>its indication. </a:t>
            </a:r>
            <a:endParaRPr lang="en-US" sz="2400" spc="-5" dirty="0" smtClean="0">
              <a:latin typeface="Arial"/>
              <a:cs typeface="Arial"/>
            </a:endParaRPr>
          </a:p>
          <a:p>
            <a:pPr marL="12700" marR="5080">
              <a:lnSpc>
                <a:spcPct val="100000"/>
              </a:lnSpc>
              <a:spcBef>
                <a:spcPts val="100"/>
              </a:spcBef>
              <a:buSzPct val="95833"/>
              <a:buFont typeface="Wingdings"/>
              <a:buChar char=""/>
              <a:tabLst>
                <a:tab pos="255904" algn="l"/>
              </a:tabLst>
            </a:pPr>
            <a:r>
              <a:rPr sz="2400" spc="-5" dirty="0" smtClean="0">
                <a:latin typeface="Arial"/>
                <a:cs typeface="Arial"/>
              </a:rPr>
              <a:t>He </a:t>
            </a:r>
            <a:r>
              <a:rPr sz="2400" spc="-5" dirty="0">
                <a:latin typeface="Arial"/>
                <a:cs typeface="Arial"/>
              </a:rPr>
              <a:t>mixes </a:t>
            </a:r>
            <a:r>
              <a:rPr sz="2400" dirty="0">
                <a:latin typeface="Arial"/>
                <a:cs typeface="Arial"/>
              </a:rPr>
              <a:t>the </a:t>
            </a:r>
            <a:r>
              <a:rPr sz="2400" spc="-5" dirty="0">
                <a:latin typeface="Arial"/>
                <a:cs typeface="Arial"/>
              </a:rPr>
              <a:t>harsh  </a:t>
            </a:r>
            <a:r>
              <a:rPr sz="2400" dirty="0">
                <a:latin typeface="Arial"/>
                <a:cs typeface="Arial"/>
              </a:rPr>
              <a:t>pragmatism for </a:t>
            </a:r>
            <a:r>
              <a:rPr sz="2400" spc="-5" dirty="0">
                <a:latin typeface="Arial"/>
                <a:cs typeface="Arial"/>
              </a:rPr>
              <a:t>which </a:t>
            </a:r>
            <a:r>
              <a:rPr sz="2400" dirty="0">
                <a:latin typeface="Arial"/>
                <a:cs typeface="Arial"/>
              </a:rPr>
              <a:t>he is famed </a:t>
            </a:r>
            <a:r>
              <a:rPr sz="2400" spc="-5" dirty="0">
                <a:latin typeface="Arial"/>
                <a:cs typeface="Arial"/>
              </a:rPr>
              <a:t>with compassion </a:t>
            </a:r>
            <a:r>
              <a:rPr sz="2400" dirty="0">
                <a:latin typeface="Arial"/>
                <a:cs typeface="Arial"/>
              </a:rPr>
              <a:t>for the  </a:t>
            </a:r>
            <a:r>
              <a:rPr sz="2400" spc="-30" dirty="0">
                <a:latin typeface="Arial"/>
                <a:cs typeface="Arial"/>
              </a:rPr>
              <a:t>poor, </a:t>
            </a:r>
            <a:r>
              <a:rPr sz="2400" dirty="0">
                <a:latin typeface="Arial"/>
                <a:cs typeface="Arial"/>
              </a:rPr>
              <a:t>for </a:t>
            </a:r>
            <a:r>
              <a:rPr sz="2400" spc="-5" dirty="0">
                <a:latin typeface="Arial"/>
                <a:cs typeface="Arial"/>
              </a:rPr>
              <a:t>slaves,and </a:t>
            </a:r>
            <a:r>
              <a:rPr sz="2400" dirty="0">
                <a:latin typeface="Arial"/>
                <a:cs typeface="Arial"/>
              </a:rPr>
              <a:t>for </a:t>
            </a:r>
            <a:r>
              <a:rPr sz="2400" spc="-5" dirty="0">
                <a:latin typeface="Arial"/>
                <a:cs typeface="Arial"/>
              </a:rPr>
              <a:t>women</a:t>
            </a:r>
            <a:r>
              <a:rPr sz="2400" spc="-5" dirty="0" smtClean="0">
                <a:latin typeface="Arial"/>
                <a:cs typeface="Arial"/>
              </a:rPr>
              <a:t>.</a:t>
            </a:r>
            <a:endParaRPr lang="en-US" sz="2400" spc="-5" dirty="0" smtClean="0">
              <a:latin typeface="Arial"/>
              <a:cs typeface="Arial"/>
            </a:endParaRPr>
          </a:p>
          <a:p>
            <a:pPr marL="12700" marR="5080">
              <a:lnSpc>
                <a:spcPct val="100000"/>
              </a:lnSpc>
              <a:spcBef>
                <a:spcPts val="100"/>
              </a:spcBef>
              <a:buSzPct val="95833"/>
              <a:buFont typeface="Wingdings"/>
              <a:buChar char=""/>
              <a:tabLst>
                <a:tab pos="255904" algn="l"/>
              </a:tabLst>
            </a:pPr>
            <a:r>
              <a:rPr sz="2400" spc="-5" dirty="0" smtClean="0">
                <a:latin typeface="Arial"/>
                <a:cs typeface="Arial"/>
              </a:rPr>
              <a:t> </a:t>
            </a:r>
            <a:r>
              <a:rPr sz="2400" spc="-5" dirty="0">
                <a:latin typeface="Arial"/>
                <a:cs typeface="Arial"/>
              </a:rPr>
              <a:t>He reveals </a:t>
            </a:r>
            <a:r>
              <a:rPr sz="2400" dirty="0">
                <a:latin typeface="Arial"/>
                <a:cs typeface="Arial"/>
              </a:rPr>
              <a:t>the  </a:t>
            </a:r>
            <a:r>
              <a:rPr sz="2400" spc="-5" dirty="0">
                <a:latin typeface="Arial"/>
                <a:cs typeface="Arial"/>
              </a:rPr>
              <a:t>imagination </a:t>
            </a:r>
            <a:r>
              <a:rPr sz="2400" dirty="0">
                <a:latin typeface="Arial"/>
                <a:cs typeface="Arial"/>
              </a:rPr>
              <a:t>of </a:t>
            </a:r>
            <a:r>
              <a:rPr sz="2400" spc="-5" dirty="0">
                <a:latin typeface="Arial"/>
                <a:cs typeface="Arial"/>
              </a:rPr>
              <a:t>a </a:t>
            </a:r>
            <a:r>
              <a:rPr sz="2400" dirty="0">
                <a:latin typeface="Arial"/>
                <a:cs typeface="Arial"/>
              </a:rPr>
              <a:t>romancer </a:t>
            </a:r>
            <a:r>
              <a:rPr sz="2400" spc="-5" dirty="0">
                <a:latin typeface="Arial"/>
                <a:cs typeface="Arial"/>
              </a:rPr>
              <a:t>in imagining all manner </a:t>
            </a:r>
            <a:r>
              <a:rPr sz="2400" dirty="0">
                <a:latin typeface="Arial"/>
                <a:cs typeface="Arial"/>
              </a:rPr>
              <a:t>of  </a:t>
            </a:r>
            <a:r>
              <a:rPr sz="2400" spc="-5" dirty="0">
                <a:latin typeface="Arial"/>
                <a:cs typeface="Arial"/>
              </a:rPr>
              <a:t>scenarios which can hardly have been common place in  real</a:t>
            </a:r>
            <a:r>
              <a:rPr sz="2400" spc="5" dirty="0">
                <a:latin typeface="Arial"/>
                <a:cs typeface="Arial"/>
              </a:rPr>
              <a:t> </a:t>
            </a:r>
            <a:r>
              <a:rPr sz="2400" spc="-5" dirty="0">
                <a:latin typeface="Arial"/>
                <a:cs typeface="Arial"/>
              </a:rPr>
              <a:t>life.</a:t>
            </a:r>
            <a:endParaRPr sz="2400" dirty="0">
              <a:latin typeface="Arial"/>
              <a:cs typeface="Arial"/>
            </a:endParaRP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Kautilya’s</a:t>
            </a:r>
            <a:r>
              <a:rPr lang="en-US" sz="2800" dirty="0"/>
              <a:t> </a:t>
            </a:r>
            <a:r>
              <a:rPr lang="en-US" sz="2800" dirty="0" err="1"/>
              <a:t>Arthashastra</a:t>
            </a:r>
            <a:endParaRPr lang="en-US" sz="2800"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093A9A1D-5414-4937-B382-4A4594871A29}"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59</a:t>
            </a:fld>
            <a:endParaRPr lang="en-US"/>
          </a:p>
        </p:txBody>
      </p:sp>
    </p:spTree>
    <p:extLst>
      <p:ext uri="{BB962C8B-B14F-4D97-AF65-F5344CB8AC3E}">
        <p14:creationId xmlns:p14="http://schemas.microsoft.com/office/powerpoint/2010/main" xmlns="" val="15564541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1465834"/>
            <a:ext cx="8487714" cy="4075475"/>
          </a:xfrm>
          <a:prstGeom prst="rect">
            <a:avLst/>
          </a:prstGeom>
        </p:spPr>
        <p:txBody>
          <a:bodyPr vert="horz" wrap="square" lIns="0" tIns="12700" rIns="0" bIns="0" rtlCol="0">
            <a:spAutoFit/>
          </a:bodyPr>
          <a:lstStyle/>
          <a:p>
            <a:pPr marL="12700" marR="524510" algn="just">
              <a:lnSpc>
                <a:spcPct val="100000"/>
              </a:lnSpc>
              <a:spcBef>
                <a:spcPts val="100"/>
              </a:spcBef>
              <a:buSzPct val="95833"/>
              <a:buFont typeface="Wingdings"/>
              <a:buChar char=""/>
              <a:tabLst>
                <a:tab pos="255904" algn="l"/>
              </a:tabLst>
            </a:pPr>
            <a:r>
              <a:rPr sz="2400" spc="-5" dirty="0">
                <a:latin typeface="Arial"/>
                <a:cs typeface="Arial"/>
              </a:rPr>
              <a:t>Kautilya has laid down </a:t>
            </a:r>
            <a:r>
              <a:rPr sz="2400" dirty="0">
                <a:latin typeface="Arial"/>
                <a:cs typeface="Arial"/>
              </a:rPr>
              <a:t>the </a:t>
            </a:r>
            <a:r>
              <a:rPr sz="2400" spc="-5" dirty="0">
                <a:latin typeface="Arial"/>
                <a:cs typeface="Arial"/>
              </a:rPr>
              <a:t>ideals </a:t>
            </a:r>
            <a:r>
              <a:rPr sz="2400" dirty="0">
                <a:latin typeface="Arial"/>
                <a:cs typeface="Arial"/>
              </a:rPr>
              <a:t>of </a:t>
            </a:r>
            <a:r>
              <a:rPr sz="2400" spc="-5" dirty="0">
                <a:latin typeface="Arial"/>
                <a:cs typeface="Arial"/>
              </a:rPr>
              <a:t>kingship </a:t>
            </a:r>
            <a:r>
              <a:rPr sz="2400" dirty="0">
                <a:latin typeface="Arial"/>
                <a:cs typeface="Arial"/>
              </a:rPr>
              <a:t>thus.  “In the </a:t>
            </a:r>
            <a:r>
              <a:rPr sz="2400" spc="-5" dirty="0">
                <a:latin typeface="Arial"/>
                <a:cs typeface="Arial"/>
              </a:rPr>
              <a:t>happiness of his </a:t>
            </a:r>
            <a:r>
              <a:rPr sz="2400" dirty="0">
                <a:latin typeface="Arial"/>
                <a:cs typeface="Arial"/>
              </a:rPr>
              <a:t>subjects </a:t>
            </a:r>
            <a:r>
              <a:rPr sz="2400" spc="-5" dirty="0">
                <a:latin typeface="Arial"/>
                <a:cs typeface="Arial"/>
              </a:rPr>
              <a:t>lies his happiness,</a:t>
            </a:r>
            <a:r>
              <a:rPr sz="2400" spc="-10" dirty="0">
                <a:latin typeface="Arial"/>
                <a:cs typeface="Arial"/>
              </a:rPr>
              <a:t> </a:t>
            </a:r>
            <a:r>
              <a:rPr sz="2400" spc="-5" dirty="0">
                <a:latin typeface="Arial"/>
                <a:cs typeface="Arial"/>
              </a:rPr>
              <a:t>in</a:t>
            </a:r>
            <a:endParaRPr sz="2400" dirty="0">
              <a:latin typeface="Arial"/>
              <a:cs typeface="Arial"/>
            </a:endParaRPr>
          </a:p>
          <a:p>
            <a:pPr marL="12700" marR="236220" algn="just">
              <a:lnSpc>
                <a:spcPct val="100000"/>
              </a:lnSpc>
            </a:pPr>
            <a:r>
              <a:rPr sz="2400" spc="-5" dirty="0">
                <a:latin typeface="Arial"/>
                <a:cs typeface="Arial"/>
              </a:rPr>
              <a:t>their welfare, his welfare, what pleases him, </a:t>
            </a:r>
            <a:r>
              <a:rPr sz="2400" spc="-10" dirty="0">
                <a:latin typeface="Arial"/>
                <a:cs typeface="Arial"/>
              </a:rPr>
              <a:t>he </a:t>
            </a:r>
            <a:r>
              <a:rPr sz="2400" spc="-5" dirty="0">
                <a:latin typeface="Arial"/>
                <a:cs typeface="Arial"/>
              </a:rPr>
              <a:t>shall </a:t>
            </a:r>
            <a:r>
              <a:rPr sz="2400" dirty="0">
                <a:latin typeface="Arial"/>
                <a:cs typeface="Arial"/>
              </a:rPr>
              <a:t>not  </a:t>
            </a:r>
            <a:r>
              <a:rPr sz="2400" spc="-5" dirty="0">
                <a:latin typeface="Arial"/>
                <a:cs typeface="Arial"/>
              </a:rPr>
              <a:t>consider as good, </a:t>
            </a:r>
            <a:r>
              <a:rPr sz="2400" dirty="0">
                <a:latin typeface="Arial"/>
                <a:cs typeface="Arial"/>
              </a:rPr>
              <a:t>but </a:t>
            </a:r>
            <a:r>
              <a:rPr sz="2400" spc="-5" dirty="0">
                <a:latin typeface="Arial"/>
                <a:cs typeface="Arial"/>
              </a:rPr>
              <a:t>whatever pleases his subjects he  shall consider as</a:t>
            </a:r>
            <a:r>
              <a:rPr sz="2400" spc="30" dirty="0">
                <a:latin typeface="Arial"/>
                <a:cs typeface="Arial"/>
              </a:rPr>
              <a:t> </a:t>
            </a:r>
            <a:r>
              <a:rPr sz="2400" spc="-5" dirty="0">
                <a:latin typeface="Arial"/>
                <a:cs typeface="Arial"/>
              </a:rPr>
              <a:t>good</a:t>
            </a:r>
            <a:r>
              <a:rPr sz="2400" spc="-5" dirty="0" smtClean="0">
                <a:latin typeface="Arial"/>
                <a:cs typeface="Arial"/>
              </a:rPr>
              <a:t>.”</a:t>
            </a:r>
            <a:endParaRPr lang="en-US" sz="2400" spc="-5" dirty="0" smtClean="0">
              <a:latin typeface="Arial"/>
              <a:cs typeface="Arial"/>
            </a:endParaRPr>
          </a:p>
          <a:p>
            <a:pPr marL="12700" marR="236220" algn="just">
              <a:lnSpc>
                <a:spcPct val="100000"/>
              </a:lnSpc>
            </a:pPr>
            <a:endParaRPr sz="2400" dirty="0">
              <a:latin typeface="Arial"/>
              <a:cs typeface="Arial"/>
            </a:endParaRPr>
          </a:p>
          <a:p>
            <a:pPr marL="12700" marR="5080">
              <a:lnSpc>
                <a:spcPct val="100000"/>
              </a:lnSpc>
            </a:pPr>
            <a:r>
              <a:rPr sz="2400" spc="-5" dirty="0">
                <a:latin typeface="Arial"/>
                <a:cs typeface="Arial"/>
              </a:rPr>
              <a:t>Far </a:t>
            </a:r>
            <a:r>
              <a:rPr sz="2400" dirty="0">
                <a:latin typeface="Arial"/>
                <a:cs typeface="Arial"/>
              </a:rPr>
              <a:t>from </a:t>
            </a:r>
            <a:r>
              <a:rPr sz="2400" spc="-5" dirty="0">
                <a:latin typeface="Arial"/>
                <a:cs typeface="Arial"/>
              </a:rPr>
              <a:t>being single-mindedly aimed </a:t>
            </a:r>
            <a:r>
              <a:rPr sz="2400" dirty="0">
                <a:latin typeface="Arial"/>
                <a:cs typeface="Arial"/>
              </a:rPr>
              <a:t>at </a:t>
            </a:r>
            <a:r>
              <a:rPr sz="2400" spc="-5" dirty="0">
                <a:latin typeface="Arial"/>
                <a:cs typeface="Arial"/>
              </a:rPr>
              <a:t>preserving </a:t>
            </a:r>
            <a:r>
              <a:rPr sz="2400" dirty="0">
                <a:latin typeface="Arial"/>
                <a:cs typeface="Arial"/>
              </a:rPr>
              <a:t>the  </a:t>
            </a:r>
            <a:r>
              <a:rPr sz="2400" spc="-10" dirty="0">
                <a:latin typeface="Arial"/>
                <a:cs typeface="Arial"/>
              </a:rPr>
              <a:t>monarch’s </a:t>
            </a:r>
            <a:r>
              <a:rPr sz="2400" spc="-5" dirty="0">
                <a:latin typeface="Arial"/>
                <a:cs typeface="Arial"/>
              </a:rPr>
              <a:t>power </a:t>
            </a:r>
            <a:r>
              <a:rPr sz="2400" dirty="0">
                <a:latin typeface="Arial"/>
                <a:cs typeface="Arial"/>
              </a:rPr>
              <a:t>for </a:t>
            </a:r>
            <a:r>
              <a:rPr sz="2400" spc="-5" dirty="0">
                <a:latin typeface="Arial"/>
                <a:cs typeface="Arial"/>
              </a:rPr>
              <a:t>its own </a:t>
            </a:r>
            <a:r>
              <a:rPr sz="2400" dirty="0">
                <a:latin typeface="Arial"/>
                <a:cs typeface="Arial"/>
              </a:rPr>
              <a:t>sake, the Arthasastra  </a:t>
            </a:r>
            <a:r>
              <a:rPr sz="2400" spc="-5" dirty="0">
                <a:latin typeface="Arial"/>
                <a:cs typeface="Arial"/>
              </a:rPr>
              <a:t>requires </a:t>
            </a:r>
            <a:r>
              <a:rPr sz="2400" dirty="0">
                <a:latin typeface="Arial"/>
                <a:cs typeface="Arial"/>
              </a:rPr>
              <a:t>the </a:t>
            </a:r>
            <a:r>
              <a:rPr sz="2400" spc="-5" dirty="0">
                <a:latin typeface="Arial"/>
                <a:cs typeface="Arial"/>
              </a:rPr>
              <a:t>ruler </a:t>
            </a:r>
            <a:r>
              <a:rPr sz="2400" dirty="0">
                <a:latin typeface="Arial"/>
                <a:cs typeface="Arial"/>
              </a:rPr>
              <a:t>to </a:t>
            </a:r>
            <a:r>
              <a:rPr sz="2400" spc="-5" dirty="0">
                <a:latin typeface="Arial"/>
                <a:cs typeface="Arial"/>
              </a:rPr>
              <a:t>benefit and </a:t>
            </a:r>
            <a:r>
              <a:rPr sz="2400" dirty="0">
                <a:latin typeface="Arial"/>
                <a:cs typeface="Arial"/>
              </a:rPr>
              <a:t>protect </a:t>
            </a:r>
            <a:r>
              <a:rPr sz="2400" spc="-5" dirty="0">
                <a:latin typeface="Arial"/>
                <a:cs typeface="Arial"/>
              </a:rPr>
              <a:t>his citizens,  including </a:t>
            </a:r>
            <a:r>
              <a:rPr sz="2400" dirty="0">
                <a:latin typeface="Arial"/>
                <a:cs typeface="Arial"/>
              </a:rPr>
              <a:t>the </a:t>
            </a:r>
            <a:r>
              <a:rPr sz="2400" spc="-5" dirty="0">
                <a:latin typeface="Arial"/>
                <a:cs typeface="Arial"/>
              </a:rPr>
              <a:t>peasants, whom Kautilya </a:t>
            </a:r>
            <a:r>
              <a:rPr sz="2400" dirty="0">
                <a:latin typeface="Arial"/>
                <a:cs typeface="Arial"/>
              </a:rPr>
              <a:t>correctly </a:t>
            </a:r>
            <a:r>
              <a:rPr sz="2400" spc="-5" dirty="0">
                <a:latin typeface="Arial"/>
                <a:cs typeface="Arial"/>
              </a:rPr>
              <a:t>believes  </a:t>
            </a:r>
            <a:r>
              <a:rPr sz="2400" dirty="0">
                <a:latin typeface="Arial"/>
                <a:cs typeface="Arial"/>
              </a:rPr>
              <a:t>to </a:t>
            </a:r>
            <a:r>
              <a:rPr sz="2400" spc="-10" dirty="0">
                <a:latin typeface="Arial"/>
                <a:cs typeface="Arial"/>
              </a:rPr>
              <a:t>be </a:t>
            </a:r>
            <a:r>
              <a:rPr sz="2400" spc="-5" dirty="0">
                <a:latin typeface="Arial"/>
                <a:cs typeface="Arial"/>
              </a:rPr>
              <a:t>the ultimate source </a:t>
            </a:r>
            <a:r>
              <a:rPr sz="2400" dirty="0">
                <a:latin typeface="Arial"/>
                <a:cs typeface="Arial"/>
              </a:rPr>
              <a:t>of the </a:t>
            </a:r>
            <a:r>
              <a:rPr sz="2400" spc="-5" dirty="0">
                <a:latin typeface="Arial"/>
                <a:cs typeface="Arial"/>
              </a:rPr>
              <a:t>prosperity </a:t>
            </a:r>
            <a:r>
              <a:rPr sz="2400" dirty="0">
                <a:latin typeface="Arial"/>
                <a:cs typeface="Arial"/>
              </a:rPr>
              <a:t>of the</a:t>
            </a:r>
            <a:r>
              <a:rPr sz="2400" spc="65" dirty="0">
                <a:latin typeface="Arial"/>
                <a:cs typeface="Arial"/>
              </a:rPr>
              <a:t> </a:t>
            </a:r>
            <a:r>
              <a:rPr sz="2400" spc="-5" dirty="0">
                <a:latin typeface="Arial"/>
                <a:cs typeface="Arial"/>
              </a:rPr>
              <a:t>kingdom.</a:t>
            </a:r>
            <a:endParaRPr sz="2400" dirty="0">
              <a:latin typeface="Arial"/>
              <a:cs typeface="Arial"/>
            </a:endParaRPr>
          </a:p>
        </p:txBody>
      </p:sp>
      <p:sp>
        <p:nvSpPr>
          <p:cNvPr id="3" name="Title 1"/>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err="1"/>
              <a:t>Kautilya’s</a:t>
            </a:r>
            <a:r>
              <a:rPr lang="en-US" sz="2800" dirty="0"/>
              <a:t> </a:t>
            </a:r>
            <a:r>
              <a:rPr lang="en-US" sz="2800" dirty="0" err="1"/>
              <a:t>Arthashastra</a:t>
            </a:r>
            <a:endParaRPr lang="en-US" sz="2800" dirty="0"/>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9FCFE917-5DB7-420D-AA4C-712426EEEF1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60</a:t>
            </a:fld>
            <a:endParaRPr lang="en-US"/>
          </a:p>
        </p:txBody>
      </p:sp>
    </p:spTree>
    <p:extLst>
      <p:ext uri="{BB962C8B-B14F-4D97-AF65-F5344CB8AC3E}">
        <p14:creationId xmlns:p14="http://schemas.microsoft.com/office/powerpoint/2010/main" xmlns="" val="2621500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dirty="0"/>
              <a:t>The Gupta period was India’s golden age of culture and one of the greatest and most glorious times. The Gupta kings patronized the classical Sanskrit literature. </a:t>
            </a:r>
            <a:endParaRPr lang="en-US" sz="2400" dirty="0" smtClean="0"/>
          </a:p>
          <a:p>
            <a:pPr algn="just"/>
            <a:endParaRPr lang="en-US" sz="2400" dirty="0"/>
          </a:p>
          <a:p>
            <a:pPr algn="just"/>
            <a:r>
              <a:rPr lang="en-US" sz="2400" dirty="0" smtClean="0"/>
              <a:t>They </a:t>
            </a:r>
            <a:r>
              <a:rPr lang="en-US" sz="2400" dirty="0"/>
              <a:t>helped liberally the scholars and poets of Sanskrit. This enriched the Sanskrit </a:t>
            </a:r>
            <a:r>
              <a:rPr lang="en-US" sz="2400" dirty="0" err="1"/>
              <a:t>langauge</a:t>
            </a:r>
            <a:r>
              <a:rPr lang="en-US" sz="2400" dirty="0"/>
              <a:t>. In fact Sanskrit language became the language of cultured and educated people. </a:t>
            </a:r>
            <a:endParaRPr lang="en-US" sz="2400" dirty="0" smtClean="0"/>
          </a:p>
          <a:p>
            <a:pPr algn="just"/>
            <a:endParaRPr lang="en-US" sz="2400" dirty="0"/>
          </a:p>
          <a:p>
            <a:pPr algn="just"/>
            <a:r>
              <a:rPr lang="en-US" sz="2400" dirty="0" smtClean="0"/>
              <a:t>Many </a:t>
            </a:r>
            <a:r>
              <a:rPr lang="en-US" sz="2400" dirty="0"/>
              <a:t>great poets, dramatists and scholars appeared during this period and works in Sanskrit reached great heights.</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Famous Sanskrit Authors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7" name="Date Placeholder 6"/>
          <p:cNvSpPr>
            <a:spLocks noGrp="1"/>
          </p:cNvSpPr>
          <p:nvPr>
            <p:ph type="dt" sz="half" idx="10"/>
          </p:nvPr>
        </p:nvSpPr>
        <p:spPr/>
        <p:txBody>
          <a:bodyPr/>
          <a:lstStyle/>
          <a:p>
            <a:fld id="{0D534806-69BE-4D2D-BBC7-B88B757CC692}" type="datetime1">
              <a:rPr lang="en-US" smtClean="0"/>
              <a:t>1/14/2022</a:t>
            </a:fld>
            <a:endParaRPr lang="en-US"/>
          </a:p>
        </p:txBody>
      </p:sp>
      <p:sp>
        <p:nvSpPr>
          <p:cNvPr id="8" name="Footer Placeholder 7"/>
          <p:cNvSpPr>
            <a:spLocks noGrp="1"/>
          </p:cNvSpPr>
          <p:nvPr>
            <p:ph type="ftr" sz="quarter" idx="11"/>
          </p:nvPr>
        </p:nvSpPr>
        <p:spPr/>
        <p:txBody>
          <a:bodyPr/>
          <a:lstStyle/>
          <a:p>
            <a:r>
              <a:rPr lang="fi-FI" smtClean="0"/>
              <a:t>Dr.Ankita Shukla KNC 602                                   Unit :2</a:t>
            </a:r>
            <a:endParaRPr lang="en-US" dirty="0"/>
          </a:p>
        </p:txBody>
      </p:sp>
      <p:sp>
        <p:nvSpPr>
          <p:cNvPr id="9" name="Slide Number Placeholder 8"/>
          <p:cNvSpPr>
            <a:spLocks noGrp="1"/>
          </p:cNvSpPr>
          <p:nvPr>
            <p:ph type="sldNum" sz="quarter" idx="12"/>
          </p:nvPr>
        </p:nvSpPr>
        <p:spPr/>
        <p:txBody>
          <a:bodyPr/>
          <a:lstStyle/>
          <a:p>
            <a:fld id="{5C85F1CB-02EA-4782-B654-3ECBE6236E9C}" type="slidenum">
              <a:rPr lang="en-US" smtClean="0"/>
              <a:pPr/>
              <a:t>61</a:t>
            </a:fld>
            <a:endParaRPr lang="en-US"/>
          </a:p>
        </p:txBody>
      </p:sp>
    </p:spTree>
    <p:extLst>
      <p:ext uri="{BB962C8B-B14F-4D97-AF65-F5344CB8AC3E}">
        <p14:creationId xmlns:p14="http://schemas.microsoft.com/office/powerpoint/2010/main" xmlns="" val="30167440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lgn="just">
              <a:buNone/>
            </a:pPr>
            <a:r>
              <a:rPr lang="en-US" dirty="0"/>
              <a:t>1. </a:t>
            </a:r>
            <a:r>
              <a:rPr lang="en-US" dirty="0" err="1"/>
              <a:t>Kalidas</a:t>
            </a:r>
            <a:r>
              <a:rPr lang="en-US" dirty="0"/>
              <a:t>: Poet </a:t>
            </a:r>
            <a:r>
              <a:rPr lang="en-US" dirty="0" err="1"/>
              <a:t>Kalidas</a:t>
            </a:r>
            <a:r>
              <a:rPr lang="en-US" dirty="0"/>
              <a:t> wrote many beautiful poems and plays. His works in Sanskrit are considered the gems of Literature. He wrote passionate plays and poems. His wonderful skill is exhibited in his poem </a:t>
            </a:r>
            <a:r>
              <a:rPr lang="en-US" dirty="0" err="1"/>
              <a:t>Meghaduta</a:t>
            </a:r>
            <a:r>
              <a:rPr lang="en-US" dirty="0"/>
              <a:t>, </a:t>
            </a:r>
            <a:r>
              <a:rPr lang="en-US" dirty="0" err="1"/>
              <a:t>Ritusambara</a:t>
            </a:r>
            <a:r>
              <a:rPr lang="en-US" dirty="0"/>
              <a:t>. Kumar </a:t>
            </a:r>
            <a:r>
              <a:rPr lang="en-US" dirty="0" err="1"/>
              <a:t>Sambhavam</a:t>
            </a:r>
            <a:r>
              <a:rPr lang="en-US" dirty="0"/>
              <a:t> and </a:t>
            </a:r>
            <a:r>
              <a:rPr lang="en-US" dirty="0" err="1"/>
              <a:t>Raghuvamsha</a:t>
            </a:r>
            <a:r>
              <a:rPr lang="en-US" dirty="0"/>
              <a:t>. His plays are </a:t>
            </a:r>
            <a:r>
              <a:rPr lang="en-US" dirty="0" err="1"/>
              <a:t>Abhijan</a:t>
            </a:r>
            <a:r>
              <a:rPr lang="en-US" dirty="0"/>
              <a:t> </a:t>
            </a:r>
            <a:r>
              <a:rPr lang="en-US" dirty="0" err="1"/>
              <a:t>Shakuntalam</a:t>
            </a:r>
            <a:r>
              <a:rPr lang="en-US" dirty="0"/>
              <a:t>, </a:t>
            </a:r>
            <a:r>
              <a:rPr lang="en-US" dirty="0" err="1"/>
              <a:t>Vikramorvashi</a:t>
            </a:r>
            <a:r>
              <a:rPr lang="en-US" dirty="0"/>
              <a:t> and </a:t>
            </a:r>
            <a:r>
              <a:rPr lang="en-US" dirty="0" err="1"/>
              <a:t>Malvikaganimithram</a:t>
            </a:r>
            <a:r>
              <a:rPr lang="en-US" dirty="0"/>
              <a:t>. </a:t>
            </a:r>
            <a:endParaRPr lang="en-US" dirty="0" smtClean="0"/>
          </a:p>
          <a:p>
            <a:pPr marL="0" indent="0" algn="just">
              <a:buNone/>
            </a:pPr>
            <a:endParaRPr lang="en-US" dirty="0"/>
          </a:p>
          <a:p>
            <a:pPr marL="0" indent="0" algn="just">
              <a:buNone/>
            </a:pPr>
            <a:r>
              <a:rPr lang="en-US" dirty="0" smtClean="0"/>
              <a:t>2</a:t>
            </a:r>
            <a:r>
              <a:rPr lang="en-US" dirty="0"/>
              <a:t>. </a:t>
            </a:r>
            <a:r>
              <a:rPr lang="en-US" dirty="0" err="1"/>
              <a:t>Vishakhdutta</a:t>
            </a:r>
            <a:r>
              <a:rPr lang="en-US" dirty="0"/>
              <a:t>: </a:t>
            </a:r>
            <a:r>
              <a:rPr lang="en-US" dirty="0" err="1"/>
              <a:t>Vishakhdutta</a:t>
            </a:r>
            <a:r>
              <a:rPr lang="en-US" dirty="0"/>
              <a:t> was another great play writer of this period. He wrote two great historical plays like- Mudra </a:t>
            </a:r>
            <a:r>
              <a:rPr lang="en-US" dirty="0" err="1"/>
              <a:t>Rakshas</a:t>
            </a:r>
            <a:r>
              <a:rPr lang="en-US" dirty="0"/>
              <a:t> and </a:t>
            </a:r>
            <a:r>
              <a:rPr lang="en-US" dirty="0" err="1"/>
              <a:t>Dev</a:t>
            </a:r>
            <a:r>
              <a:rPr lang="en-US" dirty="0"/>
              <a:t> Chandra Gupta. </a:t>
            </a:r>
            <a:endParaRPr lang="en-US" dirty="0" smtClean="0"/>
          </a:p>
          <a:p>
            <a:pPr marL="0" indent="0" algn="just">
              <a:buNone/>
            </a:pPr>
            <a:endParaRPr lang="en-US" dirty="0"/>
          </a:p>
          <a:p>
            <a:pPr marL="0" indent="0" algn="just">
              <a:buNone/>
            </a:pPr>
            <a:r>
              <a:rPr lang="en-US" dirty="0" smtClean="0"/>
              <a:t>3</a:t>
            </a:r>
            <a:r>
              <a:rPr lang="en-US" dirty="0"/>
              <a:t>. </a:t>
            </a:r>
            <a:r>
              <a:rPr lang="en-US" dirty="0" err="1"/>
              <a:t>Shudraka</a:t>
            </a:r>
            <a:r>
              <a:rPr lang="en-US" dirty="0"/>
              <a:t>: He wrote an exciting play </a:t>
            </a:r>
            <a:r>
              <a:rPr lang="en-US" dirty="0" err="1"/>
              <a:t>Mrichchha</a:t>
            </a:r>
            <a:r>
              <a:rPr lang="en-US" dirty="0"/>
              <a:t> </a:t>
            </a:r>
            <a:r>
              <a:rPr lang="en-US" dirty="0" err="1"/>
              <a:t>Katikam</a:t>
            </a:r>
            <a:r>
              <a:rPr lang="en-US" dirty="0"/>
              <a:t> or the Toy Cart. It is a great source of socio-cultural conditions of that time. </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Famous Sanskrit Authors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CB9328FB-9CDE-4380-B86D-FFF93BF0B5BD}"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62</a:t>
            </a:fld>
            <a:endParaRPr lang="en-US"/>
          </a:p>
        </p:txBody>
      </p:sp>
    </p:spTree>
    <p:extLst>
      <p:ext uri="{BB962C8B-B14F-4D97-AF65-F5344CB8AC3E}">
        <p14:creationId xmlns:p14="http://schemas.microsoft.com/office/powerpoint/2010/main" xmlns="" val="2800900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lstStyle/>
          <a:p>
            <a:pPr marL="0" indent="0" algn="just">
              <a:buNone/>
            </a:pPr>
            <a:r>
              <a:rPr lang="en-US" sz="2400" dirty="0"/>
              <a:t>4. </a:t>
            </a:r>
            <a:r>
              <a:rPr lang="en-US" sz="2400" dirty="0" err="1"/>
              <a:t>Harisena</a:t>
            </a:r>
            <a:r>
              <a:rPr lang="en-US" sz="2400" dirty="0"/>
              <a:t>: Among the great poets and play writers of the Gupta period was </a:t>
            </a:r>
            <a:r>
              <a:rPr lang="en-US" sz="2400" dirty="0" err="1"/>
              <a:t>Harisena</a:t>
            </a:r>
            <a:r>
              <a:rPr lang="en-US" sz="2400" dirty="0"/>
              <a:t>. He wrote poems praising the </a:t>
            </a:r>
            <a:r>
              <a:rPr lang="en-US" sz="2400" dirty="0" err="1"/>
              <a:t>valour</a:t>
            </a:r>
            <a:r>
              <a:rPr lang="en-US" sz="2400" dirty="0"/>
              <a:t> of </a:t>
            </a:r>
            <a:r>
              <a:rPr lang="en-US" sz="2400" dirty="0" err="1"/>
              <a:t>Samudra</a:t>
            </a:r>
            <a:r>
              <a:rPr lang="en-US" sz="2400" dirty="0"/>
              <a:t> Gupta. It is inscribed on Allahabad pillar</a:t>
            </a:r>
            <a:r>
              <a:rPr lang="en-US" sz="2400" dirty="0" smtClean="0"/>
              <a:t>.</a:t>
            </a:r>
          </a:p>
          <a:p>
            <a:pPr marL="0" indent="0" algn="just">
              <a:buNone/>
            </a:pPr>
            <a:endParaRPr lang="en-US" sz="2400" dirty="0"/>
          </a:p>
          <a:p>
            <a:pPr marL="0" indent="0" algn="just">
              <a:buNone/>
            </a:pPr>
            <a:r>
              <a:rPr lang="en-US" sz="2400" dirty="0" smtClean="0"/>
              <a:t> </a:t>
            </a:r>
            <a:r>
              <a:rPr lang="en-US" sz="2400" dirty="0"/>
              <a:t>5. </a:t>
            </a:r>
            <a:r>
              <a:rPr lang="en-US" sz="2400" dirty="0" err="1"/>
              <a:t>Bhasa</a:t>
            </a:r>
            <a:r>
              <a:rPr lang="en-US" sz="2400" dirty="0"/>
              <a:t>: He wrote thirteen plays which echo the lifestyle of the era along with its prevalent beliefs and culture.</a:t>
            </a:r>
          </a:p>
          <a:p>
            <a:endParaRPr lang="en-US"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Famous Sanskrit Authors</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956273E2-F934-4AB0-9B0A-5DDEE32AA890}"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63</a:t>
            </a:fld>
            <a:endParaRPr lang="en-US"/>
          </a:p>
        </p:txBody>
      </p:sp>
    </p:spTree>
    <p:extLst>
      <p:ext uri="{BB962C8B-B14F-4D97-AF65-F5344CB8AC3E}">
        <p14:creationId xmlns:p14="http://schemas.microsoft.com/office/powerpoint/2010/main" xmlns="" val="13843526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Autofit/>
          </a:bodyPr>
          <a:lstStyle/>
          <a:p>
            <a:pPr algn="just"/>
            <a:r>
              <a:rPr lang="en-US" sz="2000" dirty="0"/>
              <a:t>The </a:t>
            </a:r>
            <a:r>
              <a:rPr lang="en-US" sz="2000" dirty="0" err="1"/>
              <a:t>Vijayanagara</a:t>
            </a:r>
            <a:r>
              <a:rPr lang="en-US" sz="2000" dirty="0"/>
              <a:t> period was the golden age of Telugu literature. </a:t>
            </a:r>
            <a:r>
              <a:rPr lang="en-US" sz="2000" dirty="0" err="1"/>
              <a:t>Nachana</a:t>
            </a:r>
            <a:r>
              <a:rPr lang="en-US" sz="2000" dirty="0"/>
              <a:t> </a:t>
            </a:r>
            <a:r>
              <a:rPr lang="en-US" sz="2000" dirty="0" err="1"/>
              <a:t>Somanatha</a:t>
            </a:r>
            <a:r>
              <a:rPr lang="en-US" sz="2000" dirty="0"/>
              <a:t>, a court poet of </a:t>
            </a:r>
            <a:r>
              <a:rPr lang="en-US" sz="2000" dirty="0" err="1"/>
              <a:t>Bukka</a:t>
            </a:r>
            <a:r>
              <a:rPr lang="en-US" sz="2000" dirty="0"/>
              <a:t> I, produced a poetical work titled </a:t>
            </a:r>
            <a:r>
              <a:rPr lang="en-US" sz="2000" dirty="0" err="1"/>
              <a:t>Uttaraharivamsam</a:t>
            </a:r>
            <a:r>
              <a:rPr lang="en-US" sz="2000" dirty="0"/>
              <a:t>. </a:t>
            </a:r>
            <a:endParaRPr lang="en-US" sz="2000" dirty="0" smtClean="0"/>
          </a:p>
          <a:p>
            <a:pPr algn="just"/>
            <a:endParaRPr lang="en-US" sz="2000" dirty="0"/>
          </a:p>
          <a:p>
            <a:pPr algn="just"/>
            <a:r>
              <a:rPr lang="en-US" sz="2000" dirty="0" err="1" smtClean="0"/>
              <a:t>Krishnadevaraya</a:t>
            </a:r>
            <a:r>
              <a:rPr lang="en-US" sz="2000" dirty="0" smtClean="0"/>
              <a:t> </a:t>
            </a:r>
            <a:r>
              <a:rPr lang="en-US" sz="2000" dirty="0"/>
              <a:t>(1509-1529), the greatest of the </a:t>
            </a:r>
            <a:r>
              <a:rPr lang="en-US" sz="2000" dirty="0" err="1"/>
              <a:t>Vijayanagara</a:t>
            </a:r>
            <a:r>
              <a:rPr lang="en-US" sz="2000" dirty="0"/>
              <a:t> emperors, was a poet of great merit. His work </a:t>
            </a:r>
            <a:r>
              <a:rPr lang="en-US" sz="2000" dirty="0" err="1"/>
              <a:t>Amukta</a:t>
            </a:r>
            <a:r>
              <a:rPr lang="en-US" sz="2000" dirty="0"/>
              <a:t> </a:t>
            </a:r>
            <a:r>
              <a:rPr lang="en-US" sz="2000" dirty="0" err="1"/>
              <a:t>Malyada</a:t>
            </a:r>
            <a:r>
              <a:rPr lang="en-US" sz="2000" dirty="0"/>
              <a:t> is regarded as an excellent </a:t>
            </a:r>
            <a:r>
              <a:rPr lang="en-US" sz="2000" dirty="0" err="1"/>
              <a:t>prabandha</a:t>
            </a:r>
            <a:r>
              <a:rPr lang="en-US" sz="2000" dirty="0"/>
              <a:t> in Telugu literature</a:t>
            </a:r>
            <a:r>
              <a:rPr lang="en-US" sz="2000" dirty="0" smtClean="0"/>
              <a:t>.</a:t>
            </a:r>
          </a:p>
          <a:p>
            <a:pPr algn="just"/>
            <a:endParaRPr lang="en-US" sz="2000" dirty="0"/>
          </a:p>
          <a:p>
            <a:pPr algn="just"/>
            <a:r>
              <a:rPr lang="en-US" sz="2000" dirty="0" smtClean="0"/>
              <a:t> </a:t>
            </a:r>
            <a:r>
              <a:rPr lang="en-US" sz="2000" dirty="0"/>
              <a:t>Eight Telugu literary luminaries, popularly known as </a:t>
            </a:r>
            <a:r>
              <a:rPr lang="en-US" sz="2000" dirty="0" err="1"/>
              <a:t>ashtadiggajas</a:t>
            </a:r>
            <a:r>
              <a:rPr lang="en-US" sz="2000" dirty="0"/>
              <a:t> adorned his court. Among them, </a:t>
            </a:r>
            <a:r>
              <a:rPr lang="en-US" sz="2000" dirty="0" err="1"/>
              <a:t>Allasani</a:t>
            </a:r>
            <a:r>
              <a:rPr lang="en-US" sz="2000" dirty="0"/>
              <a:t> </a:t>
            </a:r>
            <a:r>
              <a:rPr lang="en-US" sz="2000" dirty="0" err="1"/>
              <a:t>Peddana</a:t>
            </a:r>
            <a:r>
              <a:rPr lang="en-US" sz="2000" dirty="0"/>
              <a:t>, the author of </a:t>
            </a:r>
            <a:r>
              <a:rPr lang="en-US" sz="2000" dirty="0" err="1"/>
              <a:t>Manucharitram</a:t>
            </a:r>
            <a:r>
              <a:rPr lang="en-US" sz="2000" dirty="0"/>
              <a:t>, was the greatest. He was known as Andhra </a:t>
            </a:r>
            <a:r>
              <a:rPr lang="en-US" sz="2000" dirty="0" err="1"/>
              <a:t>kavitapitamaha</a:t>
            </a:r>
            <a:r>
              <a:rPr lang="en-US" sz="2000" dirty="0"/>
              <a:t>. </a:t>
            </a:r>
            <a:endParaRPr lang="en-US" sz="2000" dirty="0" smtClean="0"/>
          </a:p>
          <a:p>
            <a:pPr algn="just"/>
            <a:r>
              <a:rPr lang="en-US" sz="2000" dirty="0" smtClean="0"/>
              <a:t>The </a:t>
            </a:r>
            <a:r>
              <a:rPr lang="en-US" sz="2000" dirty="0"/>
              <a:t>other seven poets of the group were Nandi </a:t>
            </a:r>
            <a:r>
              <a:rPr lang="en-US" sz="2000" dirty="0" err="1"/>
              <a:t>Timmana</a:t>
            </a:r>
            <a:r>
              <a:rPr lang="en-US" sz="2000" dirty="0"/>
              <a:t>, the author of </a:t>
            </a:r>
            <a:r>
              <a:rPr lang="en-US" sz="2000" dirty="0" err="1"/>
              <a:t>Parijathapaharanam</a:t>
            </a:r>
            <a:r>
              <a:rPr lang="en-US" sz="2000" dirty="0"/>
              <a:t>, </a:t>
            </a:r>
            <a:r>
              <a:rPr lang="en-US" sz="2000" dirty="0" err="1"/>
              <a:t>Madayagari</a:t>
            </a:r>
            <a:r>
              <a:rPr lang="en-US" sz="2000" dirty="0"/>
              <a:t> </a:t>
            </a:r>
            <a:r>
              <a:rPr lang="en-US" sz="2000" dirty="0" err="1"/>
              <a:t>Mallana</a:t>
            </a:r>
            <a:r>
              <a:rPr lang="en-US" sz="2000" dirty="0"/>
              <a:t>, </a:t>
            </a:r>
            <a:r>
              <a:rPr lang="en-US" sz="2000" dirty="0" err="1"/>
              <a:t>Dhurjati</a:t>
            </a:r>
            <a:r>
              <a:rPr lang="en-US" sz="2000" dirty="0"/>
              <a:t>, </a:t>
            </a:r>
            <a:r>
              <a:rPr lang="en-US" sz="2000" dirty="0" err="1"/>
              <a:t>Ayyalaraju</a:t>
            </a:r>
            <a:r>
              <a:rPr lang="en-US" sz="2000" dirty="0"/>
              <a:t> </a:t>
            </a:r>
            <a:r>
              <a:rPr lang="en-US" sz="2000" dirty="0" err="1"/>
              <a:t>Ramabhadra</a:t>
            </a:r>
            <a:r>
              <a:rPr lang="en-US" sz="2000" dirty="0"/>
              <a:t> </a:t>
            </a:r>
            <a:r>
              <a:rPr lang="en-US" sz="2000" dirty="0" err="1"/>
              <a:t>Kavi</a:t>
            </a:r>
            <a:r>
              <a:rPr lang="en-US" sz="2000" dirty="0"/>
              <a:t>, </a:t>
            </a:r>
            <a:r>
              <a:rPr lang="en-US" sz="2000" dirty="0" err="1"/>
              <a:t>Pingali</a:t>
            </a:r>
            <a:r>
              <a:rPr lang="en-US" sz="2000" dirty="0"/>
              <a:t> </a:t>
            </a:r>
            <a:r>
              <a:rPr lang="en-US" sz="2000" dirty="0" err="1"/>
              <a:t>Surana</a:t>
            </a:r>
            <a:r>
              <a:rPr lang="en-US" sz="2000" dirty="0"/>
              <a:t>, </a:t>
            </a:r>
            <a:r>
              <a:rPr lang="en-US" sz="2000" dirty="0" err="1"/>
              <a:t>Ramaraja</a:t>
            </a:r>
            <a:r>
              <a:rPr lang="en-US" sz="2000" dirty="0"/>
              <a:t> </a:t>
            </a:r>
            <a:r>
              <a:rPr lang="en-US" sz="2000" dirty="0" err="1"/>
              <a:t>Bhushana</a:t>
            </a:r>
            <a:r>
              <a:rPr lang="en-US" sz="2000" dirty="0"/>
              <a:t> and </a:t>
            </a:r>
            <a:r>
              <a:rPr lang="en-US" sz="2000" dirty="0" err="1"/>
              <a:t>Tenali</a:t>
            </a:r>
            <a:r>
              <a:rPr lang="en-US" sz="2000" dirty="0"/>
              <a:t> Ramakrishna</a:t>
            </a:r>
          </a:p>
        </p:txBody>
      </p:sp>
      <p:sp>
        <p:nvSpPr>
          <p:cNvPr id="4" name="Title 1"/>
          <p:cNvSpPr txBox="1">
            <a:spLocks/>
          </p:cNvSpPr>
          <p:nvPr/>
        </p:nvSpPr>
        <p:spPr>
          <a:xfrm>
            <a:off x="1565545" y="53235"/>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Telugu </a:t>
            </a:r>
            <a:r>
              <a:rPr lang="en-US" sz="2800" dirty="0" smtClean="0"/>
              <a:t>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25CFEDC2-3B6D-42BA-8A7C-748A07E34133}"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64</a:t>
            </a:fld>
            <a:endParaRPr lang="en-US"/>
          </a:p>
        </p:txBody>
      </p:sp>
    </p:spTree>
    <p:extLst>
      <p:ext uri="{BB962C8B-B14F-4D97-AF65-F5344CB8AC3E}">
        <p14:creationId xmlns:p14="http://schemas.microsoft.com/office/powerpoint/2010/main" xmlns="" val="324904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dirty="0"/>
              <a:t>Ramakrishna was the author of </a:t>
            </a:r>
            <a:r>
              <a:rPr lang="en-US" sz="2400" dirty="0" err="1"/>
              <a:t>Panduranga</a:t>
            </a:r>
            <a:r>
              <a:rPr lang="en-US" sz="2400" dirty="0"/>
              <a:t> </a:t>
            </a:r>
            <a:r>
              <a:rPr lang="en-US" sz="2400" dirty="0" err="1"/>
              <a:t>Mahatmayam</a:t>
            </a:r>
            <a:r>
              <a:rPr lang="en-US" sz="2400" dirty="0"/>
              <a:t> which was considered one of the greatest poetical works of Telugu literature. </a:t>
            </a:r>
            <a:endParaRPr lang="en-US" sz="2400" dirty="0" smtClean="0"/>
          </a:p>
          <a:p>
            <a:pPr algn="just"/>
            <a:endParaRPr lang="en-US" sz="2400" dirty="0"/>
          </a:p>
          <a:p>
            <a:pPr algn="just"/>
            <a:r>
              <a:rPr lang="en-US" sz="2400" dirty="0" err="1" smtClean="0"/>
              <a:t>Ramarajabhushana</a:t>
            </a:r>
            <a:r>
              <a:rPr lang="en-US" sz="2400" dirty="0" smtClean="0"/>
              <a:t> </a:t>
            </a:r>
            <a:r>
              <a:rPr lang="en-US" sz="2400" dirty="0"/>
              <a:t>was the author of </a:t>
            </a:r>
            <a:r>
              <a:rPr lang="en-US" sz="2400" dirty="0" err="1"/>
              <a:t>Vasucharitram</a:t>
            </a:r>
            <a:r>
              <a:rPr lang="en-US" sz="2400" dirty="0"/>
              <a:t>. He was also known as </a:t>
            </a:r>
            <a:r>
              <a:rPr lang="en-US" sz="2400" dirty="0" err="1"/>
              <a:t>Bhattumurti</a:t>
            </a:r>
            <a:r>
              <a:rPr lang="en-US" sz="2400" dirty="0"/>
              <a:t>. His other works include </a:t>
            </a:r>
            <a:r>
              <a:rPr lang="en-US" sz="2400" dirty="0" err="1"/>
              <a:t>Narasabhupaliyam</a:t>
            </a:r>
            <a:r>
              <a:rPr lang="en-US" sz="2400" dirty="0"/>
              <a:t> and </a:t>
            </a:r>
            <a:r>
              <a:rPr lang="en-US" sz="2400" dirty="0" err="1"/>
              <a:t>Harishchandra</a:t>
            </a:r>
            <a:r>
              <a:rPr lang="en-US" sz="2400" dirty="0"/>
              <a:t> </a:t>
            </a:r>
            <a:r>
              <a:rPr lang="en-US" sz="2400" dirty="0" err="1"/>
              <a:t>Nalopakhyanam</a:t>
            </a:r>
            <a:endParaRPr lang="en-US" sz="24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Telugu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97C35691-A1DA-4AB7-99ED-C88937245FB0}"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65</a:t>
            </a:fld>
            <a:endParaRPr lang="en-US"/>
          </a:p>
        </p:txBody>
      </p:sp>
    </p:spTree>
    <p:extLst>
      <p:ext uri="{BB962C8B-B14F-4D97-AF65-F5344CB8AC3E}">
        <p14:creationId xmlns:p14="http://schemas.microsoft.com/office/powerpoint/2010/main" xmlns="" val="10549562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fontScale="77500" lnSpcReduction="20000"/>
          </a:bodyPr>
          <a:lstStyle/>
          <a:p>
            <a:pPr algn="just"/>
            <a:r>
              <a:rPr lang="en-US" b="1" dirty="0"/>
              <a:t>Kannada literature</a:t>
            </a:r>
            <a:r>
              <a:rPr lang="en-US" dirty="0"/>
              <a:t>, also spelled </a:t>
            </a:r>
            <a:r>
              <a:rPr lang="en-US" b="1" dirty="0" err="1"/>
              <a:t>Kannaḍa</a:t>
            </a:r>
            <a:r>
              <a:rPr lang="en-US" b="1" dirty="0"/>
              <a:t>, </a:t>
            </a:r>
            <a:r>
              <a:rPr lang="en-US" dirty="0"/>
              <a:t>also called </a:t>
            </a:r>
            <a:r>
              <a:rPr lang="en-US" b="1" dirty="0"/>
              <a:t>Kanarese</a:t>
            </a:r>
            <a:r>
              <a:rPr lang="en-US" dirty="0"/>
              <a:t>, the literature written in Kannada, which, like the other languages of South India, is of the Dravidian family. </a:t>
            </a:r>
            <a:endParaRPr lang="en-US" dirty="0" smtClean="0"/>
          </a:p>
          <a:p>
            <a:pPr algn="just"/>
            <a:r>
              <a:rPr lang="en-US" dirty="0" smtClean="0"/>
              <a:t>The </a:t>
            </a:r>
            <a:r>
              <a:rPr lang="en-US" dirty="0"/>
              <a:t>earliest records in Kannada are inscriptions dating from the 6th century </a:t>
            </a:r>
            <a:r>
              <a:rPr lang="en-US" cap="all" dirty="0"/>
              <a:t>AD</a:t>
            </a:r>
            <a:r>
              <a:rPr lang="en-US" dirty="0"/>
              <a:t> onward. The earliest literary work is the </a:t>
            </a:r>
            <a:r>
              <a:rPr lang="en-US" i="1" dirty="0" err="1"/>
              <a:t>Kavirājamārga</a:t>
            </a:r>
            <a:r>
              <a:rPr lang="en-US" dirty="0"/>
              <a:t> (</a:t>
            </a:r>
            <a:r>
              <a:rPr lang="en-US" i="1" dirty="0"/>
              <a:t>c.</a:t>
            </a:r>
            <a:r>
              <a:rPr lang="en-US" dirty="0"/>
              <a:t> </a:t>
            </a:r>
            <a:r>
              <a:rPr lang="en-US" cap="all" dirty="0"/>
              <a:t>AD</a:t>
            </a:r>
            <a:r>
              <a:rPr lang="en-US" dirty="0"/>
              <a:t> 850), a treatise on poetics based on a Sanskrit model. Nearly all of the extant early texts in Kannada are poems on religious subjects written by </a:t>
            </a:r>
            <a:r>
              <a:rPr lang="en-US" dirty="0" err="1"/>
              <a:t>Jaina</a:t>
            </a:r>
            <a:r>
              <a:rPr lang="en-US" dirty="0"/>
              <a:t> authors. One of the most remarkable of these is the 12th-century </a:t>
            </a:r>
            <a:r>
              <a:rPr lang="en-US" i="1" dirty="0"/>
              <a:t>Rāmāyaṇa</a:t>
            </a:r>
            <a:r>
              <a:rPr lang="en-US" dirty="0"/>
              <a:t> of </a:t>
            </a:r>
            <a:r>
              <a:rPr lang="en-US" dirty="0" err="1"/>
              <a:t>Abhinava</a:t>
            </a:r>
            <a:r>
              <a:rPr lang="en-US" dirty="0"/>
              <a:t> Pampa; this work is a Jain version of the famous epic poem of the same name.</a:t>
            </a:r>
            <a:endParaRPr lang="en-US" sz="20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Kannada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1B14FB4D-A041-4B5A-966A-69D85210DA9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66</a:t>
            </a:fld>
            <a:endParaRPr lang="en-US"/>
          </a:p>
        </p:txBody>
      </p:sp>
    </p:spTree>
    <p:extLst>
      <p:ext uri="{BB962C8B-B14F-4D97-AF65-F5344CB8AC3E}">
        <p14:creationId xmlns:p14="http://schemas.microsoft.com/office/powerpoint/2010/main" xmlns="" val="12083321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After the 12th century the Hindu sect known </a:t>
            </a:r>
            <a:r>
              <a:rPr lang="en-US" dirty="0" smtClean="0"/>
              <a:t>as</a:t>
            </a:r>
            <a:r>
              <a:rPr lang="en-US" dirty="0"/>
              <a:t> Liṅgāyat replaced Jainism as the most important religious influence on Kannada literature. (The </a:t>
            </a:r>
            <a:r>
              <a:rPr lang="en-US" dirty="0" err="1"/>
              <a:t>Liṅgāyats</a:t>
            </a:r>
            <a:r>
              <a:rPr lang="en-US" dirty="0"/>
              <a:t> worship Śiva as the only deity.) Most Liṅgāyat works are simple in style, and many were meant to be sung. </a:t>
            </a:r>
            <a:endParaRPr lang="en-US" dirty="0" smtClean="0"/>
          </a:p>
          <a:p>
            <a:r>
              <a:rPr lang="en-US" dirty="0" smtClean="0"/>
              <a:t>The </a:t>
            </a:r>
            <a:r>
              <a:rPr lang="en-US" dirty="0"/>
              <a:t>most popular works were the </a:t>
            </a:r>
            <a:r>
              <a:rPr lang="en-US" i="1" dirty="0" err="1"/>
              <a:t>Vacanakāvya</a:t>
            </a:r>
            <a:r>
              <a:rPr lang="en-US" dirty="0" err="1"/>
              <a:t>s</a:t>
            </a:r>
            <a:r>
              <a:rPr lang="en-US" dirty="0"/>
              <a:t>, which were devotional poems to Śiva written in rhythmic prose. The earliest work in Kannada that may be termed a novel is </a:t>
            </a:r>
            <a:r>
              <a:rPr lang="en-US" dirty="0" err="1"/>
              <a:t>Nemicandra’s</a:t>
            </a:r>
            <a:r>
              <a:rPr lang="en-US" dirty="0"/>
              <a:t> </a:t>
            </a:r>
            <a:r>
              <a:rPr lang="en-US" i="1" dirty="0" err="1"/>
              <a:t>Līlāvatī</a:t>
            </a:r>
            <a:r>
              <a:rPr lang="en-US" dirty="0"/>
              <a:t> (1370), a love story involving a prince and a princess. </a:t>
            </a:r>
            <a:endParaRPr lang="en-US" dirty="0" smtClean="0"/>
          </a:p>
          <a:p>
            <a:r>
              <a:rPr lang="en-US" dirty="0"/>
              <a:t/>
            </a:r>
            <a:br>
              <a:rPr lang="en-US" dirty="0"/>
            </a:br>
            <a:endParaRPr lang="en-US" sz="20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Kannada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86B8A4C9-1036-4DFA-9FE9-FA0F7FFEB91D}"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67</a:t>
            </a:fld>
            <a:endParaRPr lang="en-US"/>
          </a:p>
        </p:txBody>
      </p:sp>
    </p:spTree>
    <p:extLst>
      <p:ext uri="{BB962C8B-B14F-4D97-AF65-F5344CB8AC3E}">
        <p14:creationId xmlns:p14="http://schemas.microsoft.com/office/powerpoint/2010/main" xmlns="" val="36190995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smtClean="0"/>
              <a:t>One </a:t>
            </a:r>
            <a:r>
              <a:rPr lang="en-US" dirty="0"/>
              <a:t>of the most famous Kannada works is the </a:t>
            </a:r>
            <a:r>
              <a:rPr lang="en-US" i="1" dirty="0" err="1"/>
              <a:t>Rājaśekharavilāsa</a:t>
            </a:r>
            <a:r>
              <a:rPr lang="en-US" i="1" dirty="0"/>
              <a:t>,</a:t>
            </a:r>
            <a:r>
              <a:rPr lang="en-US" dirty="0"/>
              <a:t> a fictional tale written in 1657 by </a:t>
            </a:r>
            <a:r>
              <a:rPr lang="en-US" dirty="0" err="1"/>
              <a:t>Ṣaḍakṣaradeva</a:t>
            </a:r>
            <a:r>
              <a:rPr lang="en-US" dirty="0"/>
              <a:t> in verse interspersed with prose. This work is a morality tale in which the divine intervention of Śiva saves a royal family from self-inflicted tragedy in their efforts to uphold the law.</a:t>
            </a:r>
          </a:p>
          <a:p>
            <a:r>
              <a:rPr lang="en-US" dirty="0"/>
              <a:t>Twentieth-century Kannada literature, like other Indian literatures, has modeled itself on European forms, especially the novel and short story.</a:t>
            </a:r>
          </a:p>
          <a:p>
            <a:r>
              <a:rPr lang="en-US" dirty="0"/>
              <a:t/>
            </a:r>
            <a:br>
              <a:rPr lang="en-US" dirty="0"/>
            </a:br>
            <a:endParaRPr lang="en-US" sz="20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Kannada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A002A137-3755-42BC-8178-06CD45032BD5}"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68</a:t>
            </a:fld>
            <a:endParaRPr lang="en-US"/>
          </a:p>
        </p:txBody>
      </p:sp>
    </p:spTree>
    <p:extLst>
      <p:ext uri="{BB962C8B-B14F-4D97-AF65-F5344CB8AC3E}">
        <p14:creationId xmlns:p14="http://schemas.microsoft.com/office/powerpoint/2010/main" xmlns="" val="18210991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rmAutofit fontScale="85000" lnSpcReduction="20000"/>
          </a:bodyPr>
          <a:lstStyle/>
          <a:p>
            <a:r>
              <a:rPr lang="en-US" sz="2900" b="1" dirty="0">
                <a:latin typeface="Times New Roman" panose="02020603050405020304" pitchFamily="18" charset="0"/>
                <a:cs typeface="Times New Roman" panose="02020603050405020304" pitchFamily="18" charset="0"/>
              </a:rPr>
              <a:t>Malayalam literature</a:t>
            </a:r>
            <a:r>
              <a:rPr lang="en-US" sz="2900" dirty="0">
                <a:latin typeface="Times New Roman" panose="02020603050405020304" pitchFamily="18" charset="0"/>
                <a:cs typeface="Times New Roman" panose="02020603050405020304" pitchFamily="18" charset="0"/>
              </a:rPr>
              <a:t> (</a:t>
            </a:r>
            <a:r>
              <a:rPr lang="en-US" sz="2900" dirty="0" err="1">
                <a:latin typeface="Times New Roman" panose="02020603050405020304" pitchFamily="18" charset="0"/>
                <a:cs typeface="Times New Roman" panose="02020603050405020304" pitchFamily="18" charset="0"/>
              </a:rPr>
              <a:t>മലയാള</a:t>
            </a:r>
            <a:r>
              <a:rPr lang="en-US" sz="2900" dirty="0">
                <a:latin typeface="Times New Roman" panose="02020603050405020304" pitchFamily="18" charset="0"/>
                <a:cs typeface="Times New Roman" panose="02020603050405020304" pitchFamily="18" charset="0"/>
              </a:rPr>
              <a:t> </a:t>
            </a:r>
            <a:r>
              <a:rPr lang="en-US" sz="2900" dirty="0" err="1">
                <a:latin typeface="Times New Roman" panose="02020603050405020304" pitchFamily="18" charset="0"/>
                <a:cs typeface="Times New Roman" panose="02020603050405020304" pitchFamily="18" charset="0"/>
              </a:rPr>
              <a:t>സാഹിത്യം</a:t>
            </a:r>
            <a:r>
              <a:rPr lang="en-US" sz="2900" dirty="0">
                <a:latin typeface="Times New Roman" panose="02020603050405020304" pitchFamily="18" charset="0"/>
                <a:cs typeface="Times New Roman" panose="02020603050405020304" pitchFamily="18" charset="0"/>
              </a:rPr>
              <a:t>) comprises those literary texts written in Malayalam, a South-Dravidian language spoken in the Indian state of Kerala.</a:t>
            </a:r>
          </a:p>
          <a:p>
            <a:r>
              <a:rPr lang="en-US" sz="2900" dirty="0">
                <a:latin typeface="Times New Roman" panose="02020603050405020304" pitchFamily="18" charset="0"/>
                <a:cs typeface="Times New Roman" panose="02020603050405020304" pitchFamily="18" charset="0"/>
              </a:rPr>
              <a:t>The earliest known literary work in Malayalam is </a:t>
            </a:r>
            <a:r>
              <a:rPr lang="en-US" sz="2900" i="1" dirty="0">
                <a:latin typeface="Times New Roman" panose="02020603050405020304" pitchFamily="18" charset="0"/>
                <a:cs typeface="Times New Roman" panose="02020603050405020304" pitchFamily="18" charset="0"/>
              </a:rPr>
              <a:t>Ramacharitam</a:t>
            </a:r>
            <a:r>
              <a:rPr lang="en-US" sz="2900" dirty="0">
                <a:latin typeface="Times New Roman" panose="02020603050405020304" pitchFamily="18" charset="0"/>
                <a:cs typeface="Times New Roman" panose="02020603050405020304" pitchFamily="18" charset="0"/>
              </a:rPr>
              <a:t>, an epic poem written by </a:t>
            </a:r>
            <a:r>
              <a:rPr lang="en-US" sz="2900" dirty="0" err="1">
                <a:latin typeface="Times New Roman" panose="02020603050405020304" pitchFamily="18" charset="0"/>
                <a:cs typeface="Times New Roman" panose="02020603050405020304" pitchFamily="18" charset="0"/>
              </a:rPr>
              <a:t>Cheeraman</a:t>
            </a:r>
            <a:r>
              <a:rPr lang="en-US" sz="2900" dirty="0">
                <a:latin typeface="Times New Roman" panose="02020603050405020304" pitchFamily="18" charset="0"/>
                <a:cs typeface="Times New Roman" panose="02020603050405020304" pitchFamily="18" charset="0"/>
              </a:rPr>
              <a:t> in 1198 CE. But it is highly influenced by Tamil language, as well as much distinct from modern Malayalam. In the subsequent centuries, besides a popular </a:t>
            </a:r>
            <a:r>
              <a:rPr lang="en-US" sz="2900" i="1" dirty="0" err="1">
                <a:latin typeface="Times New Roman" panose="02020603050405020304" pitchFamily="18" charset="0"/>
                <a:cs typeface="Times New Roman" panose="02020603050405020304" pitchFamily="18" charset="0"/>
              </a:rPr>
              <a:t>pattu</a:t>
            </a:r>
            <a:r>
              <a:rPr lang="en-US" sz="2900" dirty="0">
                <a:latin typeface="Times New Roman" panose="02020603050405020304" pitchFamily="18" charset="0"/>
                <a:cs typeface="Times New Roman" panose="02020603050405020304" pitchFamily="18" charset="0"/>
              </a:rPr>
              <a:t> ("song") literature, the </a:t>
            </a:r>
            <a:r>
              <a:rPr lang="en-US" sz="2900" i="1" dirty="0" err="1">
                <a:latin typeface="Times New Roman" panose="02020603050405020304" pitchFamily="18" charset="0"/>
                <a:cs typeface="Times New Roman" panose="02020603050405020304" pitchFamily="18" charset="0"/>
              </a:rPr>
              <a:t>manipravalam</a:t>
            </a:r>
            <a:r>
              <a:rPr lang="en-US" sz="2900" dirty="0">
                <a:latin typeface="Times New Roman" panose="02020603050405020304" pitchFamily="18" charset="0"/>
                <a:cs typeface="Times New Roman" panose="02020603050405020304" pitchFamily="18" charset="0"/>
              </a:rPr>
              <a:t> poetry also flourished. </a:t>
            </a:r>
            <a:r>
              <a:rPr lang="en-US" sz="2900" i="1" dirty="0" err="1">
                <a:latin typeface="Times New Roman" panose="02020603050405020304" pitchFamily="18" charset="0"/>
                <a:cs typeface="Times New Roman" panose="02020603050405020304" pitchFamily="18" charset="0"/>
              </a:rPr>
              <a:t>Manipravalam</a:t>
            </a:r>
            <a:r>
              <a:rPr lang="en-US" sz="2900" dirty="0">
                <a:latin typeface="Times New Roman" panose="02020603050405020304" pitchFamily="18" charset="0"/>
                <a:cs typeface="Times New Roman" panose="02020603050405020304" pitchFamily="18" charset="0"/>
              </a:rPr>
              <a:t> (translates "ruby coral") style consisted of poetry in an admixture of Malayalam and </a:t>
            </a:r>
            <a:r>
              <a:rPr lang="en-US" sz="2900" u="sng" dirty="0" smtClean="0">
                <a:latin typeface="Times New Roman" panose="02020603050405020304" pitchFamily="18" charset="0"/>
                <a:cs typeface="Times New Roman" panose="02020603050405020304" pitchFamily="18" charset="0"/>
              </a:rPr>
              <a:t>Sanskrit</a:t>
            </a:r>
            <a:endParaRPr lang="en-US" sz="2900"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Malayalam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385ED9B4-9B3A-4410-B31F-A4DEE3BDEB13}"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69</a:t>
            </a:fld>
            <a:endParaRPr lang="en-US"/>
          </a:p>
        </p:txBody>
      </p:sp>
    </p:spTree>
    <p:extLst>
      <p:ext uri="{BB962C8B-B14F-4D97-AF65-F5344CB8AC3E}">
        <p14:creationId xmlns:p14="http://schemas.microsoft.com/office/powerpoint/2010/main" xmlns="" val="13819634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rmAutofit/>
          </a:bodyPr>
          <a:lstStyle/>
          <a:p>
            <a:pPr algn="just"/>
            <a:r>
              <a:rPr lang="en-US" sz="2900" dirty="0" err="1" smtClean="0">
                <a:latin typeface="Times New Roman" panose="02020603050405020304" pitchFamily="18" charset="0"/>
                <a:cs typeface="Times New Roman" panose="02020603050405020304" pitchFamily="18" charset="0"/>
              </a:rPr>
              <a:t>Bhasa</a:t>
            </a:r>
            <a:r>
              <a:rPr lang="en-US" sz="2900" dirty="0" smtClean="0">
                <a:latin typeface="Times New Roman" panose="02020603050405020304" pitchFamily="18" charset="0"/>
                <a:cs typeface="Times New Roman" panose="02020603050405020304" pitchFamily="18" charset="0"/>
              </a:rPr>
              <a:t> </a:t>
            </a:r>
            <a:r>
              <a:rPr lang="en-US" sz="2900" dirty="0" err="1">
                <a:latin typeface="Times New Roman" panose="02020603050405020304" pitchFamily="18" charset="0"/>
                <a:cs typeface="Times New Roman" panose="02020603050405020304" pitchFamily="18" charset="0"/>
              </a:rPr>
              <a:t>Kautilya</a:t>
            </a:r>
            <a:r>
              <a:rPr lang="en-US" sz="2900" dirty="0">
                <a:latin typeface="Times New Roman" panose="02020603050405020304" pitchFamily="18" charset="0"/>
                <a:cs typeface="Times New Roman" panose="02020603050405020304" pitchFamily="18" charset="0"/>
              </a:rPr>
              <a:t>, a commentary on </a:t>
            </a:r>
            <a:r>
              <a:rPr lang="en-US" sz="2900" dirty="0" err="1">
                <a:latin typeface="Times New Roman" panose="02020603050405020304" pitchFamily="18" charset="0"/>
                <a:cs typeface="Times New Roman" panose="02020603050405020304" pitchFamily="18" charset="0"/>
              </a:rPr>
              <a:t>Arthashastra</a:t>
            </a:r>
            <a:r>
              <a:rPr lang="en-US" sz="2900" dirty="0">
                <a:latin typeface="Times New Roman" panose="02020603050405020304" pitchFamily="18" charset="0"/>
                <a:cs typeface="Times New Roman" panose="02020603050405020304" pitchFamily="18" charset="0"/>
              </a:rPr>
              <a:t> and </a:t>
            </a:r>
            <a:r>
              <a:rPr lang="en-US" sz="2900" dirty="0" err="1">
                <a:latin typeface="Times New Roman" panose="02020603050405020304" pitchFamily="18" charset="0"/>
                <a:cs typeface="Times New Roman" panose="02020603050405020304" pitchFamily="18" charset="0"/>
              </a:rPr>
              <a:t>Kokasandisan</a:t>
            </a:r>
            <a:r>
              <a:rPr lang="en-US" sz="2900" dirty="0">
                <a:latin typeface="Times New Roman" panose="02020603050405020304" pitchFamily="18" charset="0"/>
                <a:cs typeface="Times New Roman" panose="02020603050405020304" pitchFamily="18" charset="0"/>
              </a:rPr>
              <a:t> are two great works. Rama </a:t>
            </a:r>
            <a:r>
              <a:rPr lang="en-US" sz="2900" dirty="0" err="1">
                <a:latin typeface="Times New Roman" panose="02020603050405020304" pitchFamily="18" charset="0"/>
                <a:cs typeface="Times New Roman" panose="02020603050405020304" pitchFamily="18" charset="0"/>
              </a:rPr>
              <a:t>Panikkar</a:t>
            </a:r>
            <a:r>
              <a:rPr lang="en-US" sz="2900" dirty="0">
                <a:latin typeface="Times New Roman" panose="02020603050405020304" pitchFamily="18" charset="0"/>
                <a:cs typeface="Times New Roman" panose="02020603050405020304" pitchFamily="18" charset="0"/>
              </a:rPr>
              <a:t> and </a:t>
            </a:r>
            <a:r>
              <a:rPr lang="en-US" sz="2900" dirty="0" err="1">
                <a:latin typeface="Times New Roman" panose="02020603050405020304" pitchFamily="18" charset="0"/>
                <a:cs typeface="Times New Roman" panose="02020603050405020304" pitchFamily="18" charset="0"/>
              </a:rPr>
              <a:t>Ramanuj</a:t>
            </a:r>
            <a:r>
              <a:rPr lang="en-US" sz="2900" dirty="0">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are </a:t>
            </a:r>
            <a:r>
              <a:rPr lang="en-US" sz="2900" dirty="0">
                <a:latin typeface="Times New Roman" panose="02020603050405020304" pitchFamily="18" charset="0"/>
                <a:cs typeface="Times New Roman" panose="02020603050405020304" pitchFamily="18" charset="0"/>
              </a:rPr>
              <a:t>well known authors of Malayalam literature. Though it developed much later compared to other South Indian languages, Malayalam has made a mark as a powerful medium of expression</a:t>
            </a:r>
            <a:endParaRPr lang="en-US" sz="2900" dirty="0" smtClean="0">
              <a:latin typeface="Times New Roman" panose="02020603050405020304" pitchFamily="18" charset="0"/>
              <a:cs typeface="Times New Roman" panose="02020603050405020304" pitchFamily="18" charset="0"/>
            </a:endParaRPr>
          </a:p>
          <a:p>
            <a:pPr algn="just"/>
            <a:endParaRPr lang="en-US" sz="2000" dirty="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Malayalam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3B8DA7D7-72F7-477A-9D37-F46A5B0CA30F}"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70</a:t>
            </a:fld>
            <a:endParaRPr lang="en-US"/>
          </a:p>
        </p:txBody>
      </p:sp>
    </p:spTree>
    <p:extLst>
      <p:ext uri="{BB962C8B-B14F-4D97-AF65-F5344CB8AC3E}">
        <p14:creationId xmlns:p14="http://schemas.microsoft.com/office/powerpoint/2010/main" xmlns="" val="2634125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000" dirty="0"/>
              <a:t>Tamil as a written language was known since the beginning of the Christian era. It is, therefore, no wonder that considerable </a:t>
            </a:r>
            <a:r>
              <a:rPr lang="en-US" sz="2000" dirty="0" err="1"/>
              <a:t>Sangama</a:t>
            </a:r>
            <a:r>
              <a:rPr lang="en-US" sz="2000" dirty="0"/>
              <a:t> literature was produced in the early four centuries of the Christian era, although it was finally compiled by 600 AD. </a:t>
            </a:r>
            <a:endParaRPr lang="en-US" sz="2000" dirty="0" smtClean="0"/>
          </a:p>
          <a:p>
            <a:pPr algn="just"/>
            <a:r>
              <a:rPr lang="en-US" sz="2000" dirty="0" smtClean="0"/>
              <a:t>Poets </a:t>
            </a:r>
            <a:r>
              <a:rPr lang="en-US" sz="2000" dirty="0"/>
              <a:t>who in these assemblies were </a:t>
            </a:r>
            <a:r>
              <a:rPr lang="en-US" sz="2000" dirty="0" err="1"/>
              <a:t>patronised</a:t>
            </a:r>
            <a:r>
              <a:rPr lang="en-US" sz="2000" dirty="0"/>
              <a:t> by kings and chieftains produced the </a:t>
            </a:r>
            <a:r>
              <a:rPr lang="en-US" sz="2000" dirty="0" err="1"/>
              <a:t>Sangama</a:t>
            </a:r>
            <a:r>
              <a:rPr lang="en-US" sz="2000" dirty="0"/>
              <a:t> literature over a period of three to four centuries. Poets, bards and writers, authors came from various parts of South India to Madurai. </a:t>
            </a:r>
            <a:endParaRPr lang="en-US" sz="2000" dirty="0" smtClean="0"/>
          </a:p>
          <a:p>
            <a:pPr algn="just"/>
            <a:r>
              <a:rPr lang="en-US" sz="2000" dirty="0" smtClean="0"/>
              <a:t>Such </a:t>
            </a:r>
            <a:r>
              <a:rPr lang="en-US" sz="2000" dirty="0"/>
              <a:t>assemblies were called “</a:t>
            </a:r>
            <a:r>
              <a:rPr lang="en-US" sz="2000" dirty="0" err="1"/>
              <a:t>Sangamas</a:t>
            </a:r>
            <a:r>
              <a:rPr lang="en-US" sz="2000" dirty="0"/>
              <a:t>”, and the literature produced in these assemblies was called “</a:t>
            </a:r>
            <a:r>
              <a:rPr lang="en-US" sz="2000" dirty="0" err="1"/>
              <a:t>Sangama</a:t>
            </a:r>
            <a:r>
              <a:rPr lang="en-US" sz="2000" dirty="0"/>
              <a:t> literature</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TAMIL OR SANGAMA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E243E348-D793-4A9C-9219-1164709C4E23}"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71</a:t>
            </a:fld>
            <a:endParaRPr lang="en-US"/>
          </a:p>
        </p:txBody>
      </p:sp>
    </p:spTree>
    <p:extLst>
      <p:ext uri="{BB962C8B-B14F-4D97-AF65-F5344CB8AC3E}">
        <p14:creationId xmlns:p14="http://schemas.microsoft.com/office/powerpoint/2010/main" xmlns="" val="18719712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45952"/>
            <a:ext cx="8077200" cy="5180211"/>
          </a:xfrm>
        </p:spPr>
        <p:txBody>
          <a:bodyPr>
            <a:normAutofit fontScale="92500" lnSpcReduction="20000"/>
          </a:bodyPr>
          <a:lstStyle/>
          <a:p>
            <a:r>
              <a:rPr lang="en-US" b="1" dirty="0"/>
              <a:t>Tamil literature</a:t>
            </a:r>
            <a:r>
              <a:rPr lang="en-US" dirty="0"/>
              <a:t> has a rich and long literary tradition spanning more than two thousand years. </a:t>
            </a:r>
            <a:endParaRPr lang="en-US" dirty="0" smtClean="0"/>
          </a:p>
          <a:p>
            <a:r>
              <a:rPr lang="en-US" dirty="0" smtClean="0"/>
              <a:t> </a:t>
            </a:r>
            <a:r>
              <a:rPr lang="en-US" dirty="0"/>
              <a:t>Contributors to the Tamil literature are mainly from </a:t>
            </a:r>
            <a:r>
              <a:rPr lang="en-US" dirty="0" smtClean="0"/>
              <a:t>Tamil </a:t>
            </a:r>
            <a:r>
              <a:rPr lang="en-US" dirty="0"/>
              <a:t>people from South India, including the land now comprising Tamil Nadu, Kerala, Sri Lankan Tamils from Sri Lanka, as well as the Tamil diaspora.</a:t>
            </a:r>
          </a:p>
          <a:p>
            <a:r>
              <a:rPr lang="en-US" dirty="0"/>
              <a:t>The history of Tamil literature follows the history of Tamil Nadu, closely following the social, economical, political and cultural trends of various periods. </a:t>
            </a:r>
            <a:endParaRPr lang="en-US" dirty="0" smtClean="0"/>
          </a:p>
          <a:p>
            <a:r>
              <a:rPr lang="en-US" dirty="0" smtClean="0"/>
              <a:t>. </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TAMIL OR SANGAMA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298771DC-E93F-4362-8507-690800FD62C6}"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72</a:t>
            </a:fld>
            <a:endParaRPr lang="en-US"/>
          </a:p>
        </p:txBody>
      </p:sp>
    </p:spTree>
    <p:extLst>
      <p:ext uri="{BB962C8B-B14F-4D97-AF65-F5344CB8AC3E}">
        <p14:creationId xmlns:p14="http://schemas.microsoft.com/office/powerpoint/2010/main" xmlns="" val="31697588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45952"/>
            <a:ext cx="8077200" cy="5180211"/>
          </a:xfrm>
        </p:spPr>
        <p:txBody>
          <a:bodyPr>
            <a:normAutofit fontScale="92500" lnSpcReduction="20000"/>
          </a:bodyPr>
          <a:lstStyle/>
          <a:p>
            <a:r>
              <a:rPr lang="en-US" dirty="0" smtClean="0"/>
              <a:t>The </a:t>
            </a:r>
            <a:r>
              <a:rPr lang="en-US" dirty="0"/>
              <a:t>early </a:t>
            </a:r>
            <a:r>
              <a:rPr lang="en-US" dirty="0" err="1"/>
              <a:t>Sangam</a:t>
            </a:r>
            <a:r>
              <a:rPr lang="en-US" dirty="0"/>
              <a:t> literature, dated before 300 BCE, contain anthologies of various poets dealing with many aspects of life, including love, war, social values and religion</a:t>
            </a:r>
            <a:r>
              <a:rPr lang="en-US" dirty="0" smtClean="0"/>
              <a:t>.</a:t>
            </a:r>
            <a:r>
              <a:rPr lang="en-US" dirty="0"/>
              <a:t> </a:t>
            </a:r>
            <a:endParaRPr lang="en-US" dirty="0" smtClean="0"/>
          </a:p>
          <a:p>
            <a:r>
              <a:rPr lang="en-US" dirty="0" smtClean="0"/>
              <a:t>This </a:t>
            </a:r>
            <a:r>
              <a:rPr lang="en-US" dirty="0"/>
              <a:t>was followed by the early epics and moral </a:t>
            </a:r>
            <a:r>
              <a:rPr lang="en-US" dirty="0" err="1" smtClean="0"/>
              <a:t>literature,authoredby</a:t>
            </a:r>
            <a:r>
              <a:rPr lang="en-US" dirty="0"/>
              <a:t> </a:t>
            </a:r>
            <a:r>
              <a:rPr lang="en-US" dirty="0" err="1"/>
              <a:t>Shaivite</a:t>
            </a:r>
            <a:r>
              <a:rPr lang="en-US" dirty="0"/>
              <a:t> </a:t>
            </a:r>
            <a:r>
              <a:rPr lang="en-US" dirty="0" err="1"/>
              <a:t>Vaishnavite</a:t>
            </a:r>
            <a:r>
              <a:rPr lang="en-US" dirty="0"/>
              <a:t> Jain and Buddhist authors and poets lasting up to the 5th century CE. </a:t>
            </a:r>
            <a:endParaRPr lang="en-US" dirty="0" smtClean="0"/>
          </a:p>
          <a:p>
            <a:r>
              <a:rPr lang="en-US" dirty="0" smtClean="0"/>
              <a:t>From </a:t>
            </a:r>
            <a:r>
              <a:rPr lang="en-US" dirty="0"/>
              <a:t>the 6th to 12th century CE, the Tamil devotional poems written by </a:t>
            </a:r>
            <a:r>
              <a:rPr lang="en-US" dirty="0" err="1"/>
              <a:t>Nayanmars</a:t>
            </a:r>
            <a:r>
              <a:rPr lang="en-US" dirty="0"/>
              <a:t> (sages of Shaivism) and </a:t>
            </a:r>
            <a:r>
              <a:rPr lang="en-US" dirty="0" err="1"/>
              <a:t>Alvars</a:t>
            </a:r>
            <a:r>
              <a:rPr lang="en-US" dirty="0"/>
              <a:t> (sages of Vaishnavism), heralded the great Bhakti movement which later engulfed the entire Indian subcontinent. </a:t>
            </a:r>
            <a:endParaRPr lang="en-US" dirty="0" smtClean="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TAMIL OR SANGAMA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8607B426-14BA-4E43-9E08-B95BC1C3FE80}"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73</a:t>
            </a:fld>
            <a:endParaRPr lang="en-US"/>
          </a:p>
        </p:txBody>
      </p:sp>
    </p:spTree>
    <p:extLst>
      <p:ext uri="{BB962C8B-B14F-4D97-AF65-F5344CB8AC3E}">
        <p14:creationId xmlns:p14="http://schemas.microsoft.com/office/powerpoint/2010/main" xmlns="" val="11377699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45952"/>
            <a:ext cx="8229600" cy="5180211"/>
          </a:xfrm>
        </p:spPr>
        <p:txBody>
          <a:bodyPr>
            <a:normAutofit/>
          </a:bodyPr>
          <a:lstStyle/>
          <a:p>
            <a:pPr algn="just"/>
            <a:r>
              <a:rPr lang="en-US" sz="2400" dirty="0"/>
              <a:t>It is during this era that some of the grandest of Tamil literary classics like </a:t>
            </a:r>
            <a:r>
              <a:rPr lang="en-US" sz="2400" dirty="0" err="1"/>
              <a:t>Kambaramayanam</a:t>
            </a:r>
            <a:r>
              <a:rPr lang="en-US" sz="2400" dirty="0"/>
              <a:t> and </a:t>
            </a:r>
            <a:r>
              <a:rPr lang="en-US" sz="2400" dirty="0" err="1"/>
              <a:t>Periya</a:t>
            </a:r>
            <a:r>
              <a:rPr lang="en-US" sz="2400" dirty="0"/>
              <a:t> </a:t>
            </a:r>
            <a:r>
              <a:rPr lang="en-US" sz="2400" dirty="0" err="1"/>
              <a:t>Puranam</a:t>
            </a:r>
            <a:r>
              <a:rPr lang="en-US" sz="2400" dirty="0"/>
              <a:t> were authored and many poets were patronized by the imperial </a:t>
            </a:r>
            <a:r>
              <a:rPr lang="en-US" sz="2400" dirty="0" err="1"/>
              <a:t>Chola</a:t>
            </a:r>
            <a:r>
              <a:rPr lang="en-US" sz="2400" dirty="0"/>
              <a:t> and Pandya empires. The later medieval period saw many assorted minor literary works and also contributions by a few Muslim and European authors.</a:t>
            </a:r>
          </a:p>
          <a:p>
            <a:pPr algn="just"/>
            <a:r>
              <a:rPr lang="en-US" sz="2400" dirty="0" smtClean="0"/>
              <a:t>There </a:t>
            </a:r>
            <a:r>
              <a:rPr lang="en-US" sz="2400" dirty="0"/>
              <a:t>are about 30,000 lines of poetry, which are arranged in eight anthologies called </a:t>
            </a:r>
            <a:r>
              <a:rPr lang="en-US" sz="2400" dirty="0" err="1"/>
              <a:t>Ettuttokoi</a:t>
            </a:r>
            <a:r>
              <a:rPr lang="en-US" sz="2400" dirty="0"/>
              <a:t>. There are two main groups – the </a:t>
            </a:r>
            <a:r>
              <a:rPr lang="en-US" sz="2400" dirty="0" err="1"/>
              <a:t>Patinenkil</a:t>
            </a:r>
            <a:r>
              <a:rPr lang="en-US" sz="2400" dirty="0"/>
              <a:t> </a:t>
            </a:r>
            <a:r>
              <a:rPr lang="en-US" sz="2400" dirty="0" err="1"/>
              <a:t>Kcollections</a:t>
            </a:r>
            <a:r>
              <a:rPr lang="en-US" sz="2400" dirty="0"/>
              <a:t>) and </a:t>
            </a:r>
            <a:r>
              <a:rPr lang="en-US" sz="2400" dirty="0" err="1"/>
              <a:t>Pattupattu</a:t>
            </a:r>
            <a:r>
              <a:rPr lang="en-US" sz="2400" dirty="0"/>
              <a:t> (the ten songs). </a:t>
            </a:r>
            <a:endParaRPr lang="en-US" sz="2400" dirty="0" smtClean="0"/>
          </a:p>
          <a:p>
            <a:pPr marL="0" indent="0" algn="just">
              <a:buNone/>
            </a:pPr>
            <a:endParaRPr lang="en-US" sz="2400" dirty="0" smtClean="0"/>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TAMIL OR SANGAMA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70097E10-590B-416C-8E3F-98DF496AC1A6}"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74</a:t>
            </a:fld>
            <a:endParaRPr lang="en-US"/>
          </a:p>
        </p:txBody>
      </p:sp>
    </p:spTree>
    <p:extLst>
      <p:ext uri="{BB962C8B-B14F-4D97-AF65-F5344CB8AC3E}">
        <p14:creationId xmlns:p14="http://schemas.microsoft.com/office/powerpoint/2010/main" xmlns="" val="2097301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45952"/>
            <a:ext cx="8229600" cy="5180211"/>
          </a:xfrm>
        </p:spPr>
        <p:txBody>
          <a:bodyPr>
            <a:normAutofit/>
          </a:bodyPr>
          <a:lstStyle/>
          <a:p>
            <a:pPr marL="0" indent="0" algn="just">
              <a:buNone/>
            </a:pPr>
            <a:endParaRPr lang="en-US" sz="2400" dirty="0" smtClean="0"/>
          </a:p>
          <a:p>
            <a:pPr algn="just"/>
            <a:r>
              <a:rPr lang="en-US" sz="2400" dirty="0" smtClean="0"/>
              <a:t>The </a:t>
            </a:r>
            <a:r>
              <a:rPr lang="en-US" sz="2400" dirty="0"/>
              <a:t>former is generally assumed to be older than the latter, and considered to be of more historical importance. </a:t>
            </a:r>
            <a:r>
              <a:rPr lang="en-US" sz="2400" dirty="0" err="1"/>
              <a:t>Thiruvallurar’s</a:t>
            </a:r>
            <a:r>
              <a:rPr lang="en-US" sz="2400" dirty="0"/>
              <a:t> work ‘</a:t>
            </a:r>
            <a:r>
              <a:rPr lang="en-US" sz="2400" dirty="0" err="1"/>
              <a:t>Kural</a:t>
            </a:r>
            <a:r>
              <a:rPr lang="en-US" sz="2400" dirty="0"/>
              <a:t>’ is divided into three </a:t>
            </a:r>
            <a:r>
              <a:rPr lang="en-US" sz="2400" dirty="0" err="1"/>
              <a:t>parts.anakku</a:t>
            </a:r>
            <a:r>
              <a:rPr lang="en-US" sz="2400" dirty="0"/>
              <a:t> (the eighteen </a:t>
            </a:r>
            <a:r>
              <a:rPr lang="en-US" sz="2400" dirty="0" smtClean="0"/>
              <a:t>lower </a:t>
            </a:r>
            <a:r>
              <a:rPr lang="en-US" sz="2400" dirty="0"/>
              <a:t>collections) and </a:t>
            </a:r>
            <a:r>
              <a:rPr lang="en-US" sz="2400" dirty="0" err="1"/>
              <a:t>Pattupattu</a:t>
            </a:r>
            <a:r>
              <a:rPr lang="en-US" sz="2400" dirty="0"/>
              <a:t> (the ten songs). </a:t>
            </a:r>
            <a:endParaRPr lang="en-US" sz="2400" dirty="0" smtClean="0"/>
          </a:p>
          <a:p>
            <a:pPr algn="just"/>
            <a:endParaRPr lang="en-US" sz="2400" dirty="0"/>
          </a:p>
          <a:p>
            <a:pPr algn="just"/>
            <a:r>
              <a:rPr lang="en-US" sz="2400" dirty="0" smtClean="0"/>
              <a:t>The </a:t>
            </a:r>
            <a:r>
              <a:rPr lang="en-US" sz="2400" dirty="0"/>
              <a:t>former is generally assumed to be older than the latter, and considered to be of more historical importance. </a:t>
            </a:r>
            <a:r>
              <a:rPr lang="en-US" sz="2400" dirty="0" err="1"/>
              <a:t>Thiruvallurar’s</a:t>
            </a:r>
            <a:r>
              <a:rPr lang="en-US" sz="2400" dirty="0"/>
              <a:t> work ‘</a:t>
            </a:r>
            <a:r>
              <a:rPr lang="en-US" sz="2400" dirty="0" err="1"/>
              <a:t>Kural</a:t>
            </a:r>
            <a:r>
              <a:rPr lang="en-US" sz="2400" dirty="0"/>
              <a:t>’ is divided into three parts. The first part deals with the epics, the second part with polity and government and the third part with love.</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TAMIL OR SANGAMA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7003782F-62EE-47E9-AA5F-C0CA25AF4CA2}"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75</a:t>
            </a:fld>
            <a:endParaRPr lang="en-US"/>
          </a:p>
        </p:txBody>
      </p:sp>
    </p:spTree>
    <p:extLst>
      <p:ext uri="{BB962C8B-B14F-4D97-AF65-F5344CB8AC3E}">
        <p14:creationId xmlns:p14="http://schemas.microsoft.com/office/powerpoint/2010/main" xmlns="" val="11440415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sz="2000" dirty="0"/>
              <a:t>Languages were evolving at two levels: The spoken language </a:t>
            </a:r>
            <a:r>
              <a:rPr lang="en-US" sz="2000" dirty="0" smtClean="0"/>
              <a:t>and The </a:t>
            </a:r>
            <a:r>
              <a:rPr lang="en-US" sz="2000" dirty="0"/>
              <a:t>written </a:t>
            </a:r>
            <a:r>
              <a:rPr lang="en-US" sz="2000" dirty="0" smtClean="0"/>
              <a:t>language. </a:t>
            </a:r>
            <a:r>
              <a:rPr lang="en-US" sz="2000" dirty="0"/>
              <a:t>The old Brahmi script of the </a:t>
            </a:r>
            <a:r>
              <a:rPr lang="en-US" sz="2000" dirty="0" err="1"/>
              <a:t>Ashoka</a:t>
            </a:r>
            <a:r>
              <a:rPr lang="en-US" sz="2000" dirty="0"/>
              <a:t> days had undergone a great change. The alphabets during </a:t>
            </a:r>
            <a:r>
              <a:rPr lang="en-US" sz="2000" dirty="0" err="1"/>
              <a:t>Ashoka՚s</a:t>
            </a:r>
            <a:r>
              <a:rPr lang="en-US" sz="2000" dirty="0"/>
              <a:t> period were uneven in size but by the time of </a:t>
            </a:r>
            <a:r>
              <a:rPr lang="en-US" sz="2000" dirty="0" err="1"/>
              <a:t>Harsha</a:t>
            </a:r>
            <a:r>
              <a:rPr lang="en-US" sz="2000" dirty="0"/>
              <a:t>, the letters had become of the same size and were regular, presenting the picture of a cultivated hand. </a:t>
            </a:r>
            <a:endParaRPr lang="en-US" sz="2000" dirty="0" smtClean="0"/>
          </a:p>
          <a:p>
            <a:pPr algn="just"/>
            <a:endParaRPr lang="en-US" sz="2000" dirty="0"/>
          </a:p>
          <a:p>
            <a:pPr algn="just"/>
            <a:r>
              <a:rPr lang="en-US" sz="2000" dirty="0" smtClean="0"/>
              <a:t>The </a:t>
            </a:r>
            <a:r>
              <a:rPr lang="en-US" sz="2000" dirty="0"/>
              <a:t>studies have indicated that all the scripts of present northern Indian languages, except that of Urdu, have had their origin in old </a:t>
            </a:r>
            <a:r>
              <a:rPr lang="en-US" sz="2000" dirty="0" err="1"/>
              <a:t>Brahmi</a:t>
            </a:r>
            <a:r>
              <a:rPr lang="en-US" sz="2000" dirty="0"/>
              <a:t>. If we compare the scripts of Gujarati, Hindi and Punjabi, we can easily understand this change. </a:t>
            </a:r>
            <a:endParaRPr lang="en-US" sz="2000" dirty="0" smtClean="0"/>
          </a:p>
          <a:p>
            <a:pPr algn="just"/>
            <a:r>
              <a:rPr lang="en-US" sz="2000" dirty="0"/>
              <a:t>As for the spoken word, there are over 200 languages or dialects spoken in India at present. Some are widely used while others are limited to a particular area. Out of all these, only twenty-two have found their way into our Constitution. </a:t>
            </a:r>
          </a:p>
        </p:txBody>
      </p:sp>
      <p:sp>
        <p:nvSpPr>
          <p:cNvPr id="4" name="Title 1"/>
          <p:cNvSpPr txBox="1">
            <a:spLocks/>
          </p:cNvSpPr>
          <p:nvPr/>
        </p:nvSpPr>
        <p:spPr>
          <a:xfrm>
            <a:off x="1447800" y="53235"/>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Northern Indian Languages &amp;</a:t>
            </a:r>
            <a:br>
              <a:rPr lang="en-US" sz="2800" dirty="0"/>
            </a:br>
            <a:r>
              <a:rPr lang="en-US" sz="2800" dirty="0"/>
              <a:t>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5CA6830E-C80F-4E05-801E-E766B7FAB639}"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76</a:t>
            </a:fld>
            <a:endParaRPr lang="en-US"/>
          </a:p>
        </p:txBody>
      </p:sp>
    </p:spTree>
    <p:extLst>
      <p:ext uri="{BB962C8B-B14F-4D97-AF65-F5344CB8AC3E}">
        <p14:creationId xmlns:p14="http://schemas.microsoft.com/office/powerpoint/2010/main" xmlns="" val="27279975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95400"/>
            <a:ext cx="8458200" cy="5181600"/>
          </a:xfrm>
        </p:spPr>
        <p:txBody>
          <a:bodyPr>
            <a:noAutofit/>
          </a:bodyPr>
          <a:lstStyle/>
          <a:p>
            <a:pPr algn="just"/>
            <a:r>
              <a:rPr lang="en-US" sz="2000" dirty="0"/>
              <a:t>Urdu emerged as an independent language towards the end of the 4th century AD</a:t>
            </a:r>
            <a:r>
              <a:rPr lang="en-US" sz="2000" dirty="0" smtClean="0"/>
              <a:t>.</a:t>
            </a:r>
          </a:p>
          <a:p>
            <a:pPr algn="just"/>
            <a:endParaRPr lang="en-US" sz="2000" dirty="0" smtClean="0"/>
          </a:p>
          <a:p>
            <a:pPr algn="just"/>
            <a:r>
              <a:rPr lang="en-US" sz="2000" dirty="0" smtClean="0"/>
              <a:t>Arabic </a:t>
            </a:r>
            <a:r>
              <a:rPr lang="en-US" sz="2000" dirty="0"/>
              <a:t>and Persian were introduced in India with the coming of the Turks and the Mongols. Persian remained the court language for many centuries. Urdu as a language was born out of the interaction between Hindi and Persian. </a:t>
            </a:r>
            <a:endParaRPr lang="en-US" sz="2000" dirty="0" smtClean="0"/>
          </a:p>
          <a:p>
            <a:pPr algn="just"/>
            <a:endParaRPr lang="en-US" sz="2000" dirty="0" smtClean="0"/>
          </a:p>
          <a:p>
            <a:pPr algn="just"/>
            <a:r>
              <a:rPr lang="en-US" sz="2000" dirty="0" smtClean="0"/>
              <a:t>Originally </a:t>
            </a:r>
            <a:r>
              <a:rPr lang="en-US" sz="2000" dirty="0"/>
              <a:t>it was a dialect but slowly it acquired all the features of a formal language when the authors started using Persian script. Urdu became more popular in the early eighteenth century. </a:t>
            </a:r>
            <a:endParaRPr lang="en-US" sz="2000" dirty="0" smtClean="0"/>
          </a:p>
          <a:p>
            <a:pPr algn="just"/>
            <a:endParaRPr lang="en-US" sz="2000" dirty="0" smtClean="0"/>
          </a:p>
          <a:p>
            <a:pPr algn="just"/>
            <a:r>
              <a:rPr lang="en-US" sz="2000" dirty="0" smtClean="0"/>
              <a:t>People </a:t>
            </a:r>
            <a:r>
              <a:rPr lang="en-US" sz="2000" dirty="0"/>
              <a:t>even wrote accounts of later Mughals in Urdu. Urdu was </a:t>
            </a:r>
            <a:r>
              <a:rPr lang="en-US" sz="2000" dirty="0" err="1"/>
              <a:t>patronised</a:t>
            </a:r>
            <a:r>
              <a:rPr lang="en-US" sz="2000" dirty="0"/>
              <a:t> by the </a:t>
            </a:r>
            <a:r>
              <a:rPr lang="en-US" sz="2000" dirty="0" err="1"/>
              <a:t>Nawabs</a:t>
            </a:r>
            <a:r>
              <a:rPr lang="en-US" sz="2000" dirty="0"/>
              <a:t> of </a:t>
            </a:r>
            <a:r>
              <a:rPr lang="en-US" sz="2000" dirty="0" err="1"/>
              <a:t>Lucknow</a:t>
            </a:r>
            <a:r>
              <a:rPr lang="en-US" sz="2000" dirty="0"/>
              <a:t>, who held symposiums in this language. Slowly it became quite popular. Pakistan has adopted Urdu as the state language. </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Persian and Urdu</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AA5F7952-F747-41CB-810E-4B1F2F42DC47}"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77</a:t>
            </a:fld>
            <a:endParaRPr lang="en-US"/>
          </a:p>
        </p:txBody>
      </p:sp>
    </p:spTree>
    <p:extLst>
      <p:ext uri="{BB962C8B-B14F-4D97-AF65-F5344CB8AC3E}">
        <p14:creationId xmlns:p14="http://schemas.microsoft.com/office/powerpoint/2010/main" xmlns="" val="23499810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153400" cy="4983163"/>
          </a:xfrm>
        </p:spPr>
        <p:txBody>
          <a:bodyPr>
            <a:noAutofit/>
          </a:bodyPr>
          <a:lstStyle/>
          <a:p>
            <a:pPr algn="just"/>
            <a:r>
              <a:rPr lang="en-US" sz="2000" dirty="0"/>
              <a:t>There was a tremendous growth of regional languages like Hindi, Bengali, Assamese, Oriya, Marathi and Gujarati during this time. </a:t>
            </a:r>
            <a:endParaRPr lang="en-US" sz="2000" dirty="0" smtClean="0"/>
          </a:p>
          <a:p>
            <a:pPr marL="0" indent="0" algn="just">
              <a:buNone/>
            </a:pPr>
            <a:endParaRPr lang="en-US" sz="2000" dirty="0" smtClean="0"/>
          </a:p>
          <a:p>
            <a:pPr algn="just"/>
            <a:r>
              <a:rPr lang="en-US" sz="2000" dirty="0" smtClean="0"/>
              <a:t>The </a:t>
            </a:r>
            <a:r>
              <a:rPr lang="en-US" sz="2000" dirty="0"/>
              <a:t>emergence of all these languages resulted in the decline of Sanskrit as they came to be used as the medium through which the administrative machinery functioned. We have already noted the various dialects that developed in northern and western India. </a:t>
            </a:r>
            <a:endParaRPr lang="en-US" sz="2000" dirty="0" smtClean="0"/>
          </a:p>
          <a:p>
            <a:pPr marL="0" indent="0" algn="just">
              <a:buNone/>
            </a:pPr>
            <a:endParaRPr lang="en-US" sz="2000" dirty="0" smtClean="0"/>
          </a:p>
          <a:p>
            <a:pPr algn="just"/>
            <a:r>
              <a:rPr lang="en-US" sz="2000" dirty="0" err="1" smtClean="0"/>
              <a:t>Prithviraj</a:t>
            </a:r>
            <a:r>
              <a:rPr lang="en-US" sz="2000" dirty="0" smtClean="0"/>
              <a:t> </a:t>
            </a:r>
            <a:r>
              <a:rPr lang="en-US" sz="2000" dirty="0" err="1"/>
              <a:t>Raso</a:t>
            </a:r>
            <a:r>
              <a:rPr lang="en-US" sz="2000" dirty="0"/>
              <a:t> is supposed to be the first book in Hindi language. It is an account of exploits of </a:t>
            </a:r>
            <a:r>
              <a:rPr lang="en-US" sz="2000" dirty="0" err="1"/>
              <a:t>Prithvi</a:t>
            </a:r>
            <a:r>
              <a:rPr lang="en-US" sz="2000" dirty="0"/>
              <a:t> Raj </a:t>
            </a:r>
            <a:r>
              <a:rPr lang="en-US" sz="2000" dirty="0" err="1"/>
              <a:t>Chauhan</a:t>
            </a:r>
            <a:r>
              <a:rPr lang="en-US" sz="2000" dirty="0" smtClean="0"/>
              <a:t>.</a:t>
            </a:r>
          </a:p>
          <a:p>
            <a:pPr marL="0" indent="0" algn="just">
              <a:buNone/>
            </a:pPr>
            <a:endParaRPr lang="en-US" sz="2000" dirty="0" smtClean="0"/>
          </a:p>
          <a:p>
            <a:pPr algn="just"/>
            <a:r>
              <a:rPr lang="en-US" sz="2000" dirty="0"/>
              <a:t>Hindi literature looked to Sanskrit classics for guidance and </a:t>
            </a:r>
            <a:r>
              <a:rPr lang="en-US" sz="2000" dirty="0" err="1"/>
              <a:t>Bharata՚s</a:t>
            </a:r>
            <a:r>
              <a:rPr lang="en-US" sz="2000" dirty="0"/>
              <a:t> </a:t>
            </a:r>
            <a:r>
              <a:rPr lang="en-US" sz="2000" dirty="0" err="1"/>
              <a:t>Natyashastra</a:t>
            </a:r>
            <a:r>
              <a:rPr lang="en-US" sz="2000" dirty="0"/>
              <a:t> was kept in mind by Hindi writers. As its influence reached the north, it started affecting the prose and poetry that were being composed in Hindi. </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Hindi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9A889859-E068-41E3-8E73-54B0E68DF06C}"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78</a:t>
            </a:fld>
            <a:endParaRPr lang="en-US"/>
          </a:p>
        </p:txBody>
      </p:sp>
    </p:spTree>
    <p:extLst>
      <p:ext uri="{BB962C8B-B14F-4D97-AF65-F5344CB8AC3E}">
        <p14:creationId xmlns:p14="http://schemas.microsoft.com/office/powerpoint/2010/main" xmlns="" val="18892370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000" dirty="0"/>
              <a:t>Hindi evolved during the </a:t>
            </a:r>
            <a:r>
              <a:rPr lang="en-US" sz="2000" dirty="0" err="1"/>
              <a:t>Apabhramsha</a:t>
            </a:r>
            <a:r>
              <a:rPr lang="en-US" sz="2000" dirty="0"/>
              <a:t> stage between the 7th and 8th centuries A. D. and the 14th C</a:t>
            </a:r>
            <a:r>
              <a:rPr lang="en-US" sz="2000" dirty="0" smtClean="0"/>
              <a:t>.</a:t>
            </a:r>
          </a:p>
          <a:p>
            <a:pPr marL="0" indent="0" algn="just">
              <a:buNone/>
            </a:pPr>
            <a:endParaRPr lang="en-US" sz="2000" dirty="0" smtClean="0"/>
          </a:p>
          <a:p>
            <a:pPr algn="just"/>
            <a:r>
              <a:rPr lang="en-US" sz="2000" dirty="0" smtClean="0"/>
              <a:t> </a:t>
            </a:r>
            <a:r>
              <a:rPr lang="en-US" sz="2000" dirty="0"/>
              <a:t>It was </a:t>
            </a:r>
            <a:r>
              <a:rPr lang="en-US" sz="2000" dirty="0" err="1"/>
              <a:t>patronised</a:t>
            </a:r>
            <a:r>
              <a:rPr lang="en-US" sz="2000" dirty="0"/>
              <a:t> by the Rajput rulers as it glorified </a:t>
            </a:r>
            <a:r>
              <a:rPr lang="en-US" sz="2000" dirty="0" err="1"/>
              <a:t>chiralry</a:t>
            </a:r>
            <a:r>
              <a:rPr lang="en-US" sz="2000" dirty="0"/>
              <a:t> and poetry. The most famous figures from this period were </a:t>
            </a:r>
            <a:r>
              <a:rPr lang="en-US" sz="2000" dirty="0" err="1"/>
              <a:t>Kabir</a:t>
            </a:r>
            <a:r>
              <a:rPr lang="en-US" sz="2000" dirty="0"/>
              <a:t> and </a:t>
            </a:r>
            <a:r>
              <a:rPr lang="en-US" sz="2000" dirty="0" err="1"/>
              <a:t>Tulsidas</a:t>
            </a:r>
            <a:r>
              <a:rPr lang="en-US" sz="2000" dirty="0"/>
              <a:t>. All the above mentioned Hindi poets, except </a:t>
            </a:r>
            <a:r>
              <a:rPr lang="en-US" sz="2000" dirty="0" err="1"/>
              <a:t>Kabir</a:t>
            </a:r>
            <a:r>
              <a:rPr lang="en-US" sz="2000" dirty="0"/>
              <a:t>, expressed their sentiments essentially to satisfy their own devotional instincts. </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Hindi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B8C04EF8-EEE0-49DE-9AF5-865BCB03DB16}"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79</a:t>
            </a:fld>
            <a:endParaRPr lang="en-US"/>
          </a:p>
        </p:txBody>
      </p:sp>
    </p:spTree>
    <p:extLst>
      <p:ext uri="{BB962C8B-B14F-4D97-AF65-F5344CB8AC3E}">
        <p14:creationId xmlns:p14="http://schemas.microsoft.com/office/powerpoint/2010/main" xmlns="" val="27459495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dirty="0"/>
              <a:t>The development of modern language states at the end of the 18th </a:t>
            </a:r>
            <a:r>
              <a:rPr lang="en-US" sz="2400" dirty="0" smtClean="0"/>
              <a:t>century</a:t>
            </a:r>
          </a:p>
          <a:p>
            <a:pPr marL="0" indent="0" algn="just">
              <a:buNone/>
            </a:pPr>
            <a:endParaRPr lang="en-US" sz="2400" dirty="0" smtClean="0"/>
          </a:p>
          <a:p>
            <a:pPr algn="just"/>
            <a:r>
              <a:rPr lang="en-US" sz="2400" dirty="0"/>
              <a:t>The main writers of this period were </a:t>
            </a:r>
            <a:r>
              <a:rPr lang="en-US" sz="2400" dirty="0" err="1"/>
              <a:t>Sadasukh</a:t>
            </a:r>
            <a:r>
              <a:rPr lang="en-US" sz="2400" dirty="0"/>
              <a:t> </a:t>
            </a:r>
            <a:r>
              <a:rPr lang="en-US" sz="2400" dirty="0" err="1"/>
              <a:t>Lal</a:t>
            </a:r>
            <a:r>
              <a:rPr lang="en-US" sz="2400" dirty="0"/>
              <a:t> and </a:t>
            </a:r>
            <a:r>
              <a:rPr lang="en-US" sz="2400" dirty="0" err="1"/>
              <a:t>Enshallah</a:t>
            </a:r>
            <a:r>
              <a:rPr lang="en-US" sz="2400" dirty="0"/>
              <a:t> Khan. </a:t>
            </a:r>
            <a:r>
              <a:rPr lang="en-US" sz="2400" dirty="0" err="1"/>
              <a:t>Bhartendu</a:t>
            </a:r>
            <a:r>
              <a:rPr lang="en-US" sz="2400" dirty="0"/>
              <a:t> </a:t>
            </a:r>
            <a:r>
              <a:rPr lang="en-US" sz="2400" dirty="0" err="1"/>
              <a:t>Harishchandra</a:t>
            </a:r>
            <a:r>
              <a:rPr lang="en-US" sz="2400" dirty="0"/>
              <a:t> also strengthened Hindi language. Similarly, Raja </a:t>
            </a:r>
            <a:r>
              <a:rPr lang="en-US" sz="2400" dirty="0" err="1"/>
              <a:t>Lakshman</a:t>
            </a:r>
            <a:r>
              <a:rPr lang="en-US" sz="2400" dirty="0"/>
              <a:t> Singh translated </a:t>
            </a:r>
            <a:r>
              <a:rPr lang="en-US" sz="2400" dirty="0" err="1"/>
              <a:t>Shakuntala</a:t>
            </a:r>
            <a:r>
              <a:rPr lang="en-US" sz="2400" dirty="0"/>
              <a:t> into Hindi. Hindi continued to develop in adverse circumstances as the office work was done in Urdu. </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Hindi Language Makes Progress in Modern Period</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C058A3F2-4B22-41A1-BC11-B2C6E9A3EFF2}"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80</a:t>
            </a:fld>
            <a:endParaRPr lang="en-US"/>
          </a:p>
        </p:txBody>
      </p:sp>
    </p:spTree>
    <p:extLst>
      <p:ext uri="{BB962C8B-B14F-4D97-AF65-F5344CB8AC3E}">
        <p14:creationId xmlns:p14="http://schemas.microsoft.com/office/powerpoint/2010/main" xmlns="" val="33954285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000" dirty="0" err="1"/>
              <a:t>Bhartendu</a:t>
            </a:r>
            <a:r>
              <a:rPr lang="en-US" sz="2000" dirty="0"/>
              <a:t> Harish Chandra, </a:t>
            </a:r>
            <a:r>
              <a:rPr lang="en-US" sz="2000" dirty="0" err="1"/>
              <a:t>Mahavira</a:t>
            </a:r>
            <a:r>
              <a:rPr lang="en-US" sz="2000" dirty="0"/>
              <a:t> Prasad </a:t>
            </a:r>
            <a:r>
              <a:rPr lang="en-US" sz="2000" dirty="0" err="1"/>
              <a:t>Dwivedi</a:t>
            </a:r>
            <a:r>
              <a:rPr lang="en-US" sz="2000" dirty="0"/>
              <a:t>, </a:t>
            </a:r>
            <a:r>
              <a:rPr lang="en-US" sz="2000" dirty="0" err="1"/>
              <a:t>Ramchandra</a:t>
            </a:r>
            <a:r>
              <a:rPr lang="en-US" sz="2000" dirty="0"/>
              <a:t> </a:t>
            </a:r>
            <a:r>
              <a:rPr lang="en-US" sz="2000" dirty="0" err="1"/>
              <a:t>Shukla</a:t>
            </a:r>
            <a:r>
              <a:rPr lang="en-US" sz="2000" dirty="0"/>
              <a:t> and </a:t>
            </a:r>
            <a:r>
              <a:rPr lang="en-US" sz="2000" dirty="0" err="1"/>
              <a:t>Shyam</a:t>
            </a:r>
            <a:r>
              <a:rPr lang="en-US" sz="2000" dirty="0"/>
              <a:t> Sunder Das were the main among the prose writers of Hindi literature. Jai </a:t>
            </a:r>
            <a:r>
              <a:rPr lang="en-US" sz="2000" dirty="0" err="1"/>
              <a:t>Shanker</a:t>
            </a:r>
            <a:r>
              <a:rPr lang="en-US" sz="2000" dirty="0"/>
              <a:t> Prasad, </a:t>
            </a:r>
            <a:r>
              <a:rPr lang="en-US" sz="2000" dirty="0" err="1"/>
              <a:t>Maithalisharan</a:t>
            </a:r>
            <a:r>
              <a:rPr lang="en-US" sz="2000" dirty="0"/>
              <a:t> Gupta, </a:t>
            </a:r>
            <a:r>
              <a:rPr lang="en-US" sz="2000" dirty="0" err="1"/>
              <a:t>Sumitranandan</a:t>
            </a:r>
            <a:r>
              <a:rPr lang="en-US" sz="2000" dirty="0"/>
              <a:t> Pant, </a:t>
            </a:r>
            <a:r>
              <a:rPr lang="en-US" sz="2000" dirty="0" err="1"/>
              <a:t>SuryakantTripathi</a:t>
            </a:r>
            <a:r>
              <a:rPr lang="en-US" sz="2000" dirty="0"/>
              <a:t> ‘</a:t>
            </a:r>
            <a:r>
              <a:rPr lang="en-US" sz="2000" dirty="0" err="1"/>
              <a:t>Nirala</a:t>
            </a:r>
            <a:r>
              <a:rPr lang="en-US" sz="2000" dirty="0"/>
              <a:t>’ , </a:t>
            </a:r>
            <a:r>
              <a:rPr lang="en-US" sz="2000" dirty="0" err="1"/>
              <a:t>MahadeviVerma</a:t>
            </a:r>
            <a:r>
              <a:rPr lang="en-US" sz="2000" dirty="0"/>
              <a:t>, </a:t>
            </a:r>
            <a:r>
              <a:rPr lang="en-US" sz="2000" dirty="0" err="1"/>
              <a:t>Ramdhari</a:t>
            </a:r>
            <a:r>
              <a:rPr lang="en-US" sz="2000" dirty="0"/>
              <a:t> Singh ‘</a:t>
            </a:r>
            <a:r>
              <a:rPr lang="en-US" sz="2000" dirty="0" err="1"/>
              <a:t>Dinkar</a:t>
            </a:r>
            <a:r>
              <a:rPr lang="en-US" sz="2000" dirty="0"/>
              <a:t>’ and </a:t>
            </a:r>
            <a:r>
              <a:rPr lang="en-US" sz="2000" dirty="0" err="1"/>
              <a:t>Haribans</a:t>
            </a:r>
            <a:r>
              <a:rPr lang="en-US" sz="2000" dirty="0"/>
              <a:t> </a:t>
            </a:r>
            <a:r>
              <a:rPr lang="en-US" sz="2000" dirty="0" err="1"/>
              <a:t>Rai</a:t>
            </a:r>
            <a:r>
              <a:rPr lang="en-US" sz="2000" dirty="0"/>
              <a:t> ‘</a:t>
            </a:r>
            <a:r>
              <a:rPr lang="en-US" sz="2000" dirty="0" err="1"/>
              <a:t>Bacchan</a:t>
            </a:r>
            <a:r>
              <a:rPr lang="en-US" sz="2000" dirty="0"/>
              <a:t>’ made great contribution to the development of Hindi poetry. </a:t>
            </a:r>
          </a:p>
        </p:txBody>
      </p:sp>
      <p:sp>
        <p:nvSpPr>
          <p:cNvPr id="4" name="Title 1"/>
          <p:cNvSpPr txBox="1">
            <a:spLocks/>
          </p:cNvSpPr>
          <p:nvPr/>
        </p:nvSpPr>
        <p:spPr>
          <a:xfrm>
            <a:off x="1565564" y="0"/>
            <a:ext cx="75022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dirty="0"/>
              <a:t>Hindi Literature</a:t>
            </a:r>
            <a:endParaRPr lang="en-US" sz="2800" b="1" dirty="0">
              <a:solidFill>
                <a:prstClr val="black"/>
              </a:solidFill>
              <a:latin typeface="Times New Roman" pitchFamily="18" charset="0"/>
              <a:cs typeface="Times New Roman" pitchFamily="18" charset="0"/>
            </a:endParaRPr>
          </a:p>
        </p:txBody>
      </p:sp>
      <p:pic>
        <p:nvPicPr>
          <p:cNvPr id="5" name="Picture 2" descr="E:\NIET\Project\xLogo11.png.pagespeed.ic.pydHLuCQEZ.png"/>
          <p:cNvPicPr>
            <a:picLocks noChangeAspect="1" noChangeArrowheads="1"/>
          </p:cNvPicPr>
          <p:nvPr/>
        </p:nvPicPr>
        <p:blipFill>
          <a:blip r:embed="rId2"/>
          <a:srcRect/>
          <a:stretch>
            <a:fillRect/>
          </a:stretch>
        </p:blipFill>
        <p:spPr bwMode="auto">
          <a:xfrm>
            <a:off x="-75800" y="-76841"/>
            <a:ext cx="1675981" cy="945952"/>
          </a:xfrm>
          <a:prstGeom prst="rect">
            <a:avLst/>
          </a:prstGeom>
          <a:noFill/>
        </p:spPr>
      </p:pic>
      <p:sp>
        <p:nvSpPr>
          <p:cNvPr id="6" name="Date Placeholder 5"/>
          <p:cNvSpPr>
            <a:spLocks noGrp="1"/>
          </p:cNvSpPr>
          <p:nvPr>
            <p:ph type="dt" sz="half" idx="10"/>
          </p:nvPr>
        </p:nvSpPr>
        <p:spPr/>
        <p:txBody>
          <a:bodyPr/>
          <a:lstStyle/>
          <a:p>
            <a:fld id="{46574CBC-779E-4021-BF20-5DEC51C2ED2B}" type="datetime1">
              <a:rPr lang="en-US" smtClean="0"/>
              <a:t>1/14/2022</a:t>
            </a:fld>
            <a:endParaRPr lang="en-US"/>
          </a:p>
        </p:txBody>
      </p:sp>
      <p:sp>
        <p:nvSpPr>
          <p:cNvPr id="7" name="Footer Placeholder 6"/>
          <p:cNvSpPr>
            <a:spLocks noGrp="1"/>
          </p:cNvSpPr>
          <p:nvPr>
            <p:ph type="ftr" sz="quarter" idx="11"/>
          </p:nvPr>
        </p:nvSpPr>
        <p:spPr/>
        <p:txBody>
          <a:bodyPr/>
          <a:lstStyle/>
          <a:p>
            <a:r>
              <a:rPr lang="fi-FI" smtClean="0"/>
              <a:t>Dr.Ankita Shukla KNC 602                                   Unit :2</a:t>
            </a:r>
            <a:endParaRPr lang="en-US" dirty="0"/>
          </a:p>
        </p:txBody>
      </p:sp>
      <p:sp>
        <p:nvSpPr>
          <p:cNvPr id="8" name="Slide Number Placeholder 7"/>
          <p:cNvSpPr>
            <a:spLocks noGrp="1"/>
          </p:cNvSpPr>
          <p:nvPr>
            <p:ph type="sldNum" sz="quarter" idx="12"/>
          </p:nvPr>
        </p:nvSpPr>
        <p:spPr/>
        <p:txBody>
          <a:bodyPr/>
          <a:lstStyle/>
          <a:p>
            <a:fld id="{5C85F1CB-02EA-4782-B654-3ECBE6236E9C}" type="slidenum">
              <a:rPr lang="en-US" smtClean="0"/>
              <a:pPr/>
              <a:t>81</a:t>
            </a:fld>
            <a:endParaRPr lang="en-US"/>
          </a:p>
        </p:txBody>
      </p:sp>
    </p:spTree>
    <p:extLst>
      <p:ext uri="{BB962C8B-B14F-4D97-AF65-F5344CB8AC3E}">
        <p14:creationId xmlns:p14="http://schemas.microsoft.com/office/powerpoint/2010/main" xmlns="" val="13720378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4"/>
            <a:ext cx="8229600" cy="4525963"/>
          </a:xfrm>
        </p:spPr>
        <p:txBody>
          <a:bodyPr/>
          <a:lstStyle/>
          <a:p>
            <a:pPr>
              <a:buNone/>
            </a:pPr>
            <a:endParaRPr lang="en-US" sz="2000" dirty="0"/>
          </a:p>
          <a:p>
            <a:pPr>
              <a:buNone/>
            </a:pP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Youtube/other  Video Links:</a:t>
            </a:r>
          </a:p>
          <a:p>
            <a:pPr>
              <a:buNone/>
            </a:pPr>
            <a:r>
              <a:rPr lang="en-US" sz="2400" dirty="0">
                <a:latin typeface="Times New Roman" pitchFamily="18" charset="0"/>
                <a:cs typeface="Times New Roman" pitchFamily="18" charset="0"/>
                <a:hlinkClick r:id="rId2"/>
              </a:rPr>
              <a:t>https://</a:t>
            </a:r>
            <a:r>
              <a:rPr lang="en-US" sz="2400" dirty="0" smtClean="0">
                <a:latin typeface="Times New Roman" pitchFamily="18" charset="0"/>
                <a:cs typeface="Times New Roman" pitchFamily="18" charset="0"/>
                <a:hlinkClick r:id="rId2"/>
              </a:rPr>
              <a:t>www.youtube.com/watch?v=zcRn83BOEJc</a:t>
            </a:r>
            <a:endParaRPr lang="en-US" sz="2400" dirty="0" smtClean="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https://www.youtube.com/watch?v=Cuc04Og5UAo</a:t>
            </a:r>
            <a:endParaRPr lang="en-US" sz="2400" dirty="0" smtClean="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D87449F-690E-424B-BC5C-1DA8E5E0BE91}" type="datetime1">
              <a:rPr lang="en-US" smtClean="0"/>
              <a:t>1/14/2022</a:t>
            </a:fld>
            <a:endParaRPr lang="en-US" dirty="0"/>
          </a:p>
        </p:txBody>
      </p:sp>
      <p:sp>
        <p:nvSpPr>
          <p:cNvPr id="5" name="Footer Placeholder 4"/>
          <p:cNvSpPr>
            <a:spLocks noGrp="1"/>
          </p:cNvSpPr>
          <p:nvPr>
            <p:ph type="ftr" sz="quarter" idx="11"/>
          </p:nvPr>
        </p:nvSpPr>
        <p:spPr>
          <a:xfrm>
            <a:off x="1676400" y="6356354"/>
            <a:ext cx="64008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dirty="0"/>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smtClean="0">
                <a:latin typeface="Times New Roman" pitchFamily="18" charset="0"/>
                <a:cs typeface="Times New Roman" pitchFamily="18" charset="0"/>
              </a:rPr>
              <a:t>Video Link</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12962568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410200"/>
          </a:xfrm>
        </p:spPr>
        <p:txBody>
          <a:bodyPr>
            <a:normAutofit/>
          </a:bodyPr>
          <a:lstStyle/>
          <a:p>
            <a:pPr marL="457200" indent="-457200">
              <a:buAutoNum type="arabicPeriod"/>
            </a:pPr>
            <a:r>
              <a:rPr lang="en-US" sz="2000" dirty="0" smtClean="0">
                <a:latin typeface="Times New Roman" pitchFamily="18" charset="0"/>
                <a:cs typeface="Times New Roman" pitchFamily="18" charset="0"/>
              </a:rPr>
              <a:t>What do the 4 Vedas contain?</a:t>
            </a:r>
          </a:p>
          <a:p>
            <a:pPr marL="457200" indent="-457200">
              <a:buAutoNum type="arabicPeriod"/>
            </a:pPr>
            <a:r>
              <a:rPr lang="en-US" sz="2000" dirty="0" smtClean="0">
                <a:latin typeface="Times New Roman" pitchFamily="18" charset="0"/>
                <a:cs typeface="Times New Roman" pitchFamily="18" charset="0"/>
              </a:rPr>
              <a:t>How was Malayalam Literature developed?</a:t>
            </a:r>
          </a:p>
          <a:p>
            <a:pPr marL="457200" indent="-457200">
              <a:buAutoNum type="arabicPeriod"/>
            </a:pPr>
            <a:r>
              <a:rPr lang="en-US" sz="2000" dirty="0" smtClean="0">
                <a:latin typeface="Times New Roman" pitchFamily="18" charset="0"/>
                <a:cs typeface="Times New Roman" pitchFamily="18" charset="0"/>
              </a:rPr>
              <a:t>What is the importance of </a:t>
            </a:r>
            <a:r>
              <a:rPr lang="en-US" sz="2000" dirty="0" err="1" smtClean="0">
                <a:latin typeface="Times New Roman" pitchFamily="18" charset="0"/>
                <a:cs typeface="Times New Roman" pitchFamily="18" charset="0"/>
              </a:rPr>
              <a:t>Koutilya’s</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Arthashastra</a:t>
            </a:r>
            <a:r>
              <a:rPr lang="en-US" sz="2000" dirty="0" smtClean="0">
                <a:latin typeface="Times New Roman" pitchFamily="18" charset="0"/>
                <a:cs typeface="Times New Roman" pitchFamily="18" charset="0"/>
              </a:rPr>
              <a:t>?</a:t>
            </a:r>
          </a:p>
          <a:p>
            <a:pPr marL="457200" indent="-457200">
              <a:buAutoNum type="arabicPeriod"/>
            </a:pPr>
            <a:endParaRPr lang="en-US" sz="2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E921D76-583D-45A6-AFBC-0C1B15FD88FB}" type="datetime1">
              <a:rPr lang="en-US" smtClean="0"/>
              <a:t>1/14/2022</a:t>
            </a:fld>
            <a:endParaRPr lang="en-US" dirty="0"/>
          </a:p>
        </p:txBody>
      </p:sp>
      <p:sp>
        <p:nvSpPr>
          <p:cNvPr id="5" name="Footer Placeholder 4"/>
          <p:cNvSpPr>
            <a:spLocks noGrp="1"/>
          </p:cNvSpPr>
          <p:nvPr>
            <p:ph type="ftr" sz="quarter" idx="11"/>
          </p:nvPr>
        </p:nvSpPr>
        <p:spPr>
          <a:xfrm>
            <a:off x="1524000" y="6356354"/>
            <a:ext cx="6629400" cy="365125"/>
          </a:xfrm>
        </p:spPr>
        <p:txBody>
          <a:bodyPr/>
          <a:lstStyle/>
          <a:p>
            <a:r>
              <a:rPr lang="fi-FI" smtClean="0">
                <a:solidFill>
                  <a:schemeClr val="tx1"/>
                </a:solidFill>
              </a:rPr>
              <a:t>Dr.Ankita Shukla KNC 602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dirty="0"/>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latin typeface="Times New Roman" pitchFamily="18" charset="0"/>
                <a:cs typeface="Times New Roman" pitchFamily="18" charset="0"/>
              </a:rPr>
              <a:t>Daily Quiz</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36101844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10200"/>
          </a:xfrm>
        </p:spPr>
        <p:txBody>
          <a:bodyPr>
            <a:normAutofit fontScale="25000" lnSpcReduction="20000"/>
          </a:bodyPr>
          <a:lstStyle/>
          <a:p>
            <a:pPr marL="0" indent="0">
              <a:buNone/>
            </a:pPr>
            <a:r>
              <a:rPr lang="en-US" sz="7200" b="1" dirty="0" smtClean="0"/>
              <a:t>1.  Which </a:t>
            </a:r>
            <a:r>
              <a:rPr lang="en-US" sz="7200" b="1" dirty="0"/>
              <a:t>of the following Vedic literature where the Varna system was discussed?</a:t>
            </a:r>
            <a:endParaRPr lang="en-US" sz="7200" dirty="0"/>
          </a:p>
          <a:p>
            <a:pPr marL="0" indent="0">
              <a:buNone/>
            </a:pPr>
            <a:r>
              <a:rPr lang="en-US" sz="7200" dirty="0"/>
              <a:t>A. </a:t>
            </a:r>
            <a:r>
              <a:rPr lang="en-US" sz="7200" b="1" dirty="0" err="1"/>
              <a:t>Rigveda</a:t>
            </a:r>
            <a:endParaRPr lang="en-US" sz="7200" b="1" dirty="0"/>
          </a:p>
          <a:p>
            <a:pPr marL="0" indent="0">
              <a:buNone/>
            </a:pPr>
            <a:r>
              <a:rPr lang="en-US" sz="7200" dirty="0"/>
              <a:t>B. Samaveda</a:t>
            </a:r>
          </a:p>
          <a:p>
            <a:pPr marL="0" indent="0">
              <a:buNone/>
            </a:pPr>
            <a:r>
              <a:rPr lang="en-US" sz="7200" dirty="0"/>
              <a:t>C. </a:t>
            </a:r>
            <a:r>
              <a:rPr lang="en-US" sz="7200" dirty="0" err="1"/>
              <a:t>Yajurveda</a:t>
            </a:r>
            <a:endParaRPr lang="en-US" sz="7200" dirty="0"/>
          </a:p>
          <a:p>
            <a:pPr marL="0" indent="0">
              <a:buNone/>
            </a:pPr>
            <a:r>
              <a:rPr lang="en-US" sz="7200" dirty="0"/>
              <a:t>D. </a:t>
            </a:r>
            <a:r>
              <a:rPr lang="en-US" sz="7200" dirty="0" err="1" smtClean="0"/>
              <a:t>Atharvaveda</a:t>
            </a:r>
            <a:endParaRPr lang="en-US" sz="7200" dirty="0" smtClean="0"/>
          </a:p>
          <a:p>
            <a:pPr marL="0" indent="0">
              <a:buNone/>
            </a:pPr>
            <a:r>
              <a:rPr lang="en-US" sz="7200" b="1" dirty="0" smtClean="0"/>
              <a:t>2. The </a:t>
            </a:r>
            <a:r>
              <a:rPr lang="en-US" sz="7200" b="1" dirty="0" err="1"/>
              <a:t>Arthashastra</a:t>
            </a:r>
            <a:r>
              <a:rPr lang="en-US" sz="7200" b="1" dirty="0"/>
              <a:t> of </a:t>
            </a:r>
            <a:r>
              <a:rPr lang="en-US" sz="7200" b="1" dirty="0" err="1"/>
              <a:t>Kautilya</a:t>
            </a:r>
            <a:r>
              <a:rPr lang="en-US" sz="7200" b="1" dirty="0"/>
              <a:t> is a</a:t>
            </a:r>
            <a:endParaRPr lang="en-US" sz="7200" dirty="0"/>
          </a:p>
          <a:p>
            <a:pPr marL="0" indent="0">
              <a:buNone/>
            </a:pPr>
            <a:r>
              <a:rPr lang="en-US" sz="7200" dirty="0"/>
              <a:t>(A) Play about Chandragupta </a:t>
            </a:r>
            <a:r>
              <a:rPr lang="en-US" sz="7200" dirty="0" err="1"/>
              <a:t>Maurya</a:t>
            </a:r>
            <a:endParaRPr lang="en-US" sz="7200" dirty="0"/>
          </a:p>
          <a:p>
            <a:pPr marL="0" indent="0">
              <a:buNone/>
            </a:pPr>
            <a:r>
              <a:rPr lang="en-US" sz="7200" dirty="0"/>
              <a:t>(B) Biography</a:t>
            </a:r>
          </a:p>
          <a:p>
            <a:pPr marL="0" indent="0">
              <a:buNone/>
            </a:pPr>
            <a:r>
              <a:rPr lang="en-US" sz="7200" dirty="0"/>
              <a:t>(C) History of Chandragupta </a:t>
            </a:r>
            <a:r>
              <a:rPr lang="en-US" sz="7200" dirty="0" err="1"/>
              <a:t>Maurya</a:t>
            </a:r>
            <a:endParaRPr lang="en-US" sz="7200" dirty="0"/>
          </a:p>
          <a:p>
            <a:pPr marL="0" indent="0">
              <a:buNone/>
            </a:pPr>
            <a:r>
              <a:rPr lang="en-US" sz="7200" b="1" dirty="0" smtClean="0"/>
              <a:t>(D) Book on Principles of Government</a:t>
            </a:r>
          </a:p>
          <a:p>
            <a:pPr marL="0" indent="0">
              <a:buNone/>
            </a:pPr>
            <a:r>
              <a:rPr lang="en-US" sz="7200" b="1" dirty="0" smtClean="0"/>
              <a:t>3. </a:t>
            </a:r>
            <a:r>
              <a:rPr lang="en-US" sz="7200" b="1" dirty="0"/>
              <a:t>The </a:t>
            </a:r>
            <a:r>
              <a:rPr lang="en-US" sz="7200" b="1" dirty="0" err="1"/>
              <a:t>Brahmi</a:t>
            </a:r>
            <a:r>
              <a:rPr lang="en-US" sz="7200" b="1" dirty="0"/>
              <a:t> Script was first deciphered by letters inscribed on</a:t>
            </a:r>
            <a:endParaRPr lang="en-US" sz="7200" dirty="0"/>
          </a:p>
          <a:p>
            <a:pPr marL="0" indent="0">
              <a:buNone/>
            </a:pPr>
            <a:r>
              <a:rPr lang="en-US" sz="7200" b="1" dirty="0"/>
              <a:t>(A) Stone tablets</a:t>
            </a:r>
          </a:p>
          <a:p>
            <a:pPr marL="0" indent="0">
              <a:buNone/>
            </a:pPr>
            <a:r>
              <a:rPr lang="en-US" sz="7200" dirty="0"/>
              <a:t>(B) Seal</a:t>
            </a:r>
          </a:p>
          <a:p>
            <a:pPr marL="0" indent="0">
              <a:buNone/>
            </a:pPr>
            <a:r>
              <a:rPr lang="en-US" sz="7200" dirty="0"/>
              <a:t>(C) Pillars</a:t>
            </a:r>
          </a:p>
          <a:p>
            <a:pPr marL="0" indent="0">
              <a:buNone/>
            </a:pPr>
            <a:r>
              <a:rPr lang="en-US" sz="7200" dirty="0"/>
              <a:t>(D) Coins</a:t>
            </a:r>
          </a:p>
          <a:p>
            <a:pPr marL="0" indent="0">
              <a:buNone/>
            </a:pPr>
            <a:r>
              <a:rPr lang="en-US" sz="7200" b="1" dirty="0" smtClean="0"/>
              <a:t>4. </a:t>
            </a:r>
            <a:r>
              <a:rPr lang="en-US" sz="7200" dirty="0"/>
              <a:t>Which is the </a:t>
            </a:r>
            <a:r>
              <a:rPr lang="en-US" sz="7200" b="1" dirty="0"/>
              <a:t>script</a:t>
            </a:r>
            <a:r>
              <a:rPr lang="en-US" sz="7200" dirty="0"/>
              <a:t> of </a:t>
            </a:r>
            <a:r>
              <a:rPr lang="en-US" sz="7200" b="1" dirty="0"/>
              <a:t>Indus</a:t>
            </a:r>
            <a:r>
              <a:rPr lang="en-US" sz="7200" dirty="0"/>
              <a:t> Valley Civilization? </a:t>
            </a:r>
            <a:endParaRPr lang="en-US" sz="7200" dirty="0" smtClean="0"/>
          </a:p>
          <a:p>
            <a:pPr>
              <a:buAutoNum type="alphaUcPeriod"/>
            </a:pPr>
            <a:r>
              <a:rPr lang="en-US" sz="7200" dirty="0" smtClean="0"/>
              <a:t>Tamil</a:t>
            </a:r>
            <a:r>
              <a:rPr lang="en-US" sz="7200" dirty="0"/>
              <a:t>. </a:t>
            </a:r>
            <a:endParaRPr lang="en-US" sz="7200" dirty="0" smtClean="0"/>
          </a:p>
          <a:p>
            <a:pPr>
              <a:buAutoNum type="alphaUcPeriod"/>
            </a:pPr>
            <a:r>
              <a:rPr lang="en-US" sz="7200" dirty="0" err="1" smtClean="0"/>
              <a:t>Kharshthi</a:t>
            </a:r>
            <a:r>
              <a:rPr lang="en-US" sz="7200" dirty="0"/>
              <a:t>. </a:t>
            </a:r>
            <a:endParaRPr lang="en-US" sz="7200" dirty="0" smtClean="0"/>
          </a:p>
          <a:p>
            <a:pPr>
              <a:buAutoNum type="alphaUcPeriod"/>
            </a:pPr>
            <a:r>
              <a:rPr lang="en-US" sz="7200" dirty="0" smtClean="0"/>
              <a:t>Unknown.</a:t>
            </a:r>
          </a:p>
          <a:p>
            <a:pPr>
              <a:buAutoNum type="alphaUcPeriod"/>
            </a:pPr>
            <a:r>
              <a:rPr lang="en-US" sz="7200" dirty="0"/>
              <a:t> </a:t>
            </a:r>
            <a:r>
              <a:rPr lang="en-US" sz="7200" b="1" dirty="0" err="1"/>
              <a:t>Brahmi</a:t>
            </a:r>
            <a:r>
              <a:rPr lang="en-US" sz="7200" dirty="0"/>
              <a:t> </a:t>
            </a:r>
            <a:endParaRPr lang="en-US" sz="7200" b="1" dirty="0" smtClean="0"/>
          </a:p>
          <a:p>
            <a:pPr marL="0" indent="0">
              <a:buNone/>
            </a:pPr>
            <a:endParaRPr lang="en-US" sz="7200" b="1" dirty="0" smtClean="0"/>
          </a:p>
          <a:p>
            <a:pPr marL="0" indent="0">
              <a:buNone/>
            </a:pPr>
            <a:endParaRPr lang="en-US" sz="2400" dirty="0"/>
          </a:p>
          <a:p>
            <a:pPr marL="0" indent="0">
              <a:buNone/>
            </a:pPr>
            <a:r>
              <a:rPr lang="en-US" sz="2400" dirty="0" smtClean="0"/>
              <a:t> </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B41E0C1-BD65-424F-B7AC-969781F195B6}" type="datetime1">
              <a:rPr lang="en-US" smtClean="0"/>
              <a:t>1/14/2022</a:t>
            </a:fld>
            <a:endParaRPr lang="en-US" dirty="0"/>
          </a:p>
        </p:txBody>
      </p:sp>
      <p:sp>
        <p:nvSpPr>
          <p:cNvPr id="5" name="Footer Placeholder 4"/>
          <p:cNvSpPr>
            <a:spLocks noGrp="1"/>
          </p:cNvSpPr>
          <p:nvPr>
            <p:ph type="ftr" sz="quarter" idx="11"/>
          </p:nvPr>
        </p:nvSpPr>
        <p:spPr>
          <a:xfrm>
            <a:off x="1524000" y="6324604"/>
            <a:ext cx="65532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dirty="0"/>
          </a:p>
        </p:txBody>
      </p:sp>
      <p:sp>
        <p:nvSpPr>
          <p:cNvPr id="7" name="Title 1"/>
          <p:cNvSpPr txBox="1">
            <a:spLocks/>
          </p:cNvSpPr>
          <p:nvPr/>
        </p:nvSpPr>
        <p:spPr>
          <a:xfrm>
            <a:off x="1371600" y="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MCQ</a:t>
            </a:r>
            <a:r>
              <a:rPr kumimoji="0" lang="en-US" sz="2800" b="1" i="0" u="none" strike="noStrike" kern="1200" cap="none" spc="0" normalizeH="0" noProof="0" dirty="0">
                <a:ln>
                  <a:noFill/>
                </a:ln>
                <a:solidFill>
                  <a:schemeClr val="dk1"/>
                </a:solidFill>
                <a:effectLst/>
                <a:uLnTx/>
                <a:uFillTx/>
                <a:latin typeface="Times New Roman" pitchFamily="18" charset="0"/>
                <a:cs typeface="Times New Roman" pitchFamily="18" charset="0"/>
              </a:rPr>
              <a:t> 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35224503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4"/>
            <a:ext cx="8229600" cy="4525963"/>
          </a:xfrm>
        </p:spPr>
        <p:txBody>
          <a:bodyPr>
            <a:normAutofit/>
          </a:bodyPr>
          <a:lstStyle/>
          <a:p>
            <a:pPr marL="457200" indent="-457200">
              <a:buAutoNum type="arabicPeriod"/>
            </a:pPr>
            <a:r>
              <a:rPr lang="en-IN" sz="2400" dirty="0" smtClean="0">
                <a:latin typeface="Times New Roman" pitchFamily="18" charset="0"/>
                <a:cs typeface="Times New Roman" pitchFamily="18" charset="0"/>
              </a:rPr>
              <a:t>Explain the evolution of </a:t>
            </a:r>
            <a:r>
              <a:rPr lang="en-IN" sz="2400" dirty="0" err="1" smtClean="0">
                <a:latin typeface="Times New Roman" pitchFamily="18" charset="0"/>
                <a:cs typeface="Times New Roman" pitchFamily="18" charset="0"/>
              </a:rPr>
              <a:t>Brahmi</a:t>
            </a:r>
            <a:r>
              <a:rPr lang="en-IN" sz="2400" dirty="0" smtClean="0">
                <a:latin typeface="Times New Roman" pitchFamily="18" charset="0"/>
                <a:cs typeface="Times New Roman" pitchFamily="18" charset="0"/>
              </a:rPr>
              <a:t> Script in Ancient India.</a:t>
            </a:r>
          </a:p>
          <a:p>
            <a:pPr marL="457200" indent="-457200">
              <a:buAutoNum type="arabicPeriod"/>
            </a:pPr>
            <a:r>
              <a:rPr lang="en-IN" sz="2400" dirty="0" smtClean="0">
                <a:latin typeface="Times New Roman" pitchFamily="18" charset="0"/>
                <a:cs typeface="Times New Roman" pitchFamily="18" charset="0"/>
              </a:rPr>
              <a:t>Critically analyse the ancient India Tales of Mahabharata and </a:t>
            </a:r>
            <a:r>
              <a:rPr lang="en-IN" sz="2400" dirty="0" err="1" smtClean="0">
                <a:latin typeface="Times New Roman" pitchFamily="18" charset="0"/>
                <a:cs typeface="Times New Roman" pitchFamily="18" charset="0"/>
              </a:rPr>
              <a:t>Ramayan</a:t>
            </a:r>
            <a:r>
              <a:rPr lang="en-IN" sz="2400" dirty="0" smtClean="0">
                <a:latin typeface="Times New Roman" pitchFamily="18" charset="0"/>
                <a:cs typeface="Times New Roman" pitchFamily="18" charset="0"/>
              </a:rPr>
              <a:t>.</a:t>
            </a:r>
          </a:p>
          <a:p>
            <a:pPr marL="457200" indent="-457200">
              <a:buAutoNum type="arabicPeriod"/>
            </a:pPr>
            <a:r>
              <a:rPr lang="en-IN" sz="2400" dirty="0" smtClean="0">
                <a:latin typeface="Times New Roman" pitchFamily="18" charset="0"/>
                <a:cs typeface="Times New Roman" pitchFamily="18" charset="0"/>
              </a:rPr>
              <a:t>Give a brief overview of Famous authors of Sanskrit in Ancient India.</a:t>
            </a:r>
          </a:p>
          <a:p>
            <a:pPr marL="457200" indent="-457200">
              <a:buAutoNum type="arabicPeriod"/>
            </a:pPr>
            <a:endParaRPr lang="en-IN" sz="2400" dirty="0" smtClean="0">
              <a:latin typeface="Times New Roman" pitchFamily="18" charset="0"/>
              <a:cs typeface="Times New Roman" pitchFamily="18" charset="0"/>
            </a:endParaRPr>
          </a:p>
          <a:p>
            <a:pPr marL="457200" indent="-457200">
              <a:buAutoNum type="arabicPeriod"/>
            </a:pPr>
            <a:endParaRPr lang="en-IN" sz="2400" dirty="0" smtClean="0">
              <a:latin typeface="Times New Roman" pitchFamily="18" charset="0"/>
              <a:cs typeface="Times New Roman" pitchFamily="18" charset="0"/>
            </a:endParaRPr>
          </a:p>
          <a:p>
            <a:pPr marL="457200" indent="-457200">
              <a:buAutoNum type="arabicPeriod"/>
            </a:pPr>
            <a:endParaRPr lang="en-IN" sz="2400" dirty="0" smtClean="0">
              <a:latin typeface="Times New Roman" pitchFamily="18" charset="0"/>
              <a:cs typeface="Times New Roman" pitchFamily="18" charset="0"/>
            </a:endParaRPr>
          </a:p>
          <a:p>
            <a:pPr marL="457200" indent="-457200">
              <a:buAutoNum type="arabicPeriod"/>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A30D268-BE8A-4247-9EA9-BC18FD986E21}" type="datetime1">
              <a:rPr lang="en-US" smtClean="0"/>
              <a:t>1/14/2022</a:t>
            </a:fld>
            <a:endParaRPr lang="en-US" dirty="0"/>
          </a:p>
        </p:txBody>
      </p:sp>
      <p:sp>
        <p:nvSpPr>
          <p:cNvPr id="5" name="Footer Placeholder 4"/>
          <p:cNvSpPr>
            <a:spLocks noGrp="1"/>
          </p:cNvSpPr>
          <p:nvPr>
            <p:ph type="ftr" sz="quarter" idx="11"/>
          </p:nvPr>
        </p:nvSpPr>
        <p:spPr>
          <a:xfrm>
            <a:off x="1524000" y="6356354"/>
            <a:ext cx="66294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dirty="0"/>
          </a:p>
        </p:txBody>
      </p:sp>
      <p:sp>
        <p:nvSpPr>
          <p:cNvPr id="7" name="Title 1"/>
          <p:cNvSpPr txBox="1">
            <a:spLocks/>
          </p:cNvSpPr>
          <p:nvPr/>
        </p:nvSpPr>
        <p:spPr>
          <a:xfrm>
            <a:off x="1371600" y="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noProof="0" dirty="0" smtClean="0">
                <a:ln>
                  <a:noFill/>
                </a:ln>
                <a:solidFill>
                  <a:schemeClr val="dk1"/>
                </a:solidFill>
                <a:effectLst/>
                <a:uLnTx/>
                <a:uFillTx/>
                <a:latin typeface="Times New Roman" pitchFamily="18" charset="0"/>
                <a:cs typeface="Times New Roman" pitchFamily="18" charset="0"/>
              </a:rPr>
              <a:t>Assignment</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3265197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4"/>
            <a:ext cx="8229600" cy="4830763"/>
          </a:xfrm>
        </p:spPr>
        <p:txBody>
          <a:bodyPr>
            <a:normAutofit/>
          </a:bodyPr>
          <a:lstStyle/>
          <a:p>
            <a:pPr>
              <a:buNone/>
            </a:pPr>
            <a:r>
              <a:rPr lang="en-US" sz="2400" dirty="0" smtClean="0">
                <a:latin typeface="Times New Roman" pitchFamily="18" charset="0"/>
                <a:cs typeface="Times New Roman" pitchFamily="18" charset="0"/>
              </a:rPr>
              <a:t>1. Briefly explain how many </a:t>
            </a:r>
            <a:r>
              <a:rPr lang="en-US" sz="2400" dirty="0" err="1">
                <a:latin typeface="Times New Roman" pitchFamily="18" charset="0"/>
                <a:cs typeface="Times New Roman" pitchFamily="18" charset="0"/>
              </a:rPr>
              <a:t>P</a:t>
            </a:r>
            <a:r>
              <a:rPr lang="en-US" sz="2400" dirty="0" err="1" smtClean="0">
                <a:latin typeface="Times New Roman" pitchFamily="18" charset="0"/>
                <a:cs typeface="Times New Roman" pitchFamily="18" charset="0"/>
              </a:rPr>
              <a:t>uranas</a:t>
            </a:r>
            <a:r>
              <a:rPr lang="en-US" sz="2400" dirty="0" smtClean="0">
                <a:latin typeface="Times New Roman" pitchFamily="18" charset="0"/>
                <a:cs typeface="Times New Roman" pitchFamily="18" charset="0"/>
              </a:rPr>
              <a:t> are there ? Name few characteristics of </a:t>
            </a:r>
            <a:r>
              <a:rPr lang="en-US" sz="2400" dirty="0" err="1" smtClean="0">
                <a:latin typeface="Times New Roman" pitchFamily="18" charset="0"/>
                <a:cs typeface="Times New Roman" pitchFamily="18" charset="0"/>
              </a:rPr>
              <a:t>Puranas</a:t>
            </a:r>
            <a:r>
              <a:rPr lang="en-US" sz="2400" dirty="0" smtClean="0">
                <a:latin typeface="Times New Roman" pitchFamily="18" charset="0"/>
                <a:cs typeface="Times New Roman" pitchFamily="18" charset="0"/>
              </a:rPr>
              <a:t>.</a:t>
            </a:r>
          </a:p>
          <a:p>
            <a:pPr>
              <a:buNone/>
            </a:pPr>
            <a:r>
              <a:rPr lang="en-US" sz="2400" dirty="0" smtClean="0">
                <a:latin typeface="Times New Roman" pitchFamily="18" charset="0"/>
                <a:cs typeface="Times New Roman" pitchFamily="18" charset="0"/>
              </a:rPr>
              <a:t>2. Explain what do the </a:t>
            </a:r>
            <a:r>
              <a:rPr lang="en-US" sz="2400" dirty="0" err="1" smtClean="0">
                <a:latin typeface="Times New Roman" pitchFamily="18" charset="0"/>
                <a:cs typeface="Times New Roman" pitchFamily="18" charset="0"/>
              </a:rPr>
              <a:t>Jataka</a:t>
            </a:r>
            <a:r>
              <a:rPr lang="en-US" sz="2400" dirty="0" smtClean="0">
                <a:latin typeface="Times New Roman" pitchFamily="18" charset="0"/>
                <a:cs typeface="Times New Roman" pitchFamily="18" charset="0"/>
              </a:rPr>
              <a:t> Tales tell us about.</a:t>
            </a:r>
          </a:p>
          <a:p>
            <a:pPr>
              <a:buNone/>
            </a:pPr>
            <a:r>
              <a:rPr lang="en-US" sz="2400" dirty="0" smtClean="0">
                <a:latin typeface="Times New Roman" pitchFamily="18" charset="0"/>
                <a:cs typeface="Times New Roman" pitchFamily="18" charset="0"/>
              </a:rPr>
              <a:t>3. Discuss the importance of Upanishads.</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4110964-7CED-48E4-892D-6ABE265686DB}" type="datetime1">
              <a:rPr lang="en-US" smtClean="0"/>
              <a:t>1/14/2022</a:t>
            </a:fld>
            <a:endParaRPr lang="en-US" dirty="0"/>
          </a:p>
        </p:txBody>
      </p:sp>
      <p:sp>
        <p:nvSpPr>
          <p:cNvPr id="5" name="Footer Placeholder 4"/>
          <p:cNvSpPr>
            <a:spLocks noGrp="1"/>
          </p:cNvSpPr>
          <p:nvPr>
            <p:ph type="ftr" sz="quarter" idx="11"/>
          </p:nvPr>
        </p:nvSpPr>
        <p:spPr>
          <a:xfrm>
            <a:off x="1524000" y="6356354"/>
            <a:ext cx="65532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dirty="0"/>
          </a:p>
        </p:txBody>
      </p:sp>
      <p:sp>
        <p:nvSpPr>
          <p:cNvPr id="7" name="Title 1"/>
          <p:cNvSpPr txBox="1">
            <a:spLocks/>
          </p:cNvSpPr>
          <p:nvPr/>
        </p:nvSpPr>
        <p:spPr>
          <a:xfrm>
            <a:off x="1371600" y="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Expected Questions for University Exam </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753650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4"/>
            <a:ext cx="8229600" cy="4830763"/>
          </a:xfrm>
        </p:spPr>
        <p:txBody>
          <a:bodyPr>
            <a:normAutofit/>
          </a:bodyPr>
          <a:lstStyle/>
          <a:p>
            <a:pPr>
              <a:buNone/>
            </a:pPr>
            <a:r>
              <a:rPr lang="en-US" sz="2400" dirty="0" smtClean="0">
                <a:latin typeface="Times New Roman" pitchFamily="18" charset="0"/>
                <a:cs typeface="Times New Roman" pitchFamily="18" charset="0"/>
              </a:rPr>
              <a:t>    			</a:t>
            </a:r>
          </a:p>
          <a:p>
            <a:pPr>
              <a:buNone/>
            </a:pPr>
            <a:endParaRPr lang="en-US" sz="2400" dirty="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Subject introduced for the first time!!</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DFEA5BD-E2EE-4129-A681-49BBFB98DC92}" type="datetime1">
              <a:rPr lang="en-US" smtClean="0"/>
              <a:t>1/14/2022</a:t>
            </a:fld>
            <a:endParaRPr lang="en-US" dirty="0"/>
          </a:p>
        </p:txBody>
      </p:sp>
      <p:sp>
        <p:nvSpPr>
          <p:cNvPr id="5" name="Footer Placeholder 4"/>
          <p:cNvSpPr>
            <a:spLocks noGrp="1"/>
          </p:cNvSpPr>
          <p:nvPr>
            <p:ph type="ftr" sz="quarter" idx="11"/>
          </p:nvPr>
        </p:nvSpPr>
        <p:spPr>
          <a:xfrm>
            <a:off x="1524000" y="6356354"/>
            <a:ext cx="65532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dirty="0"/>
          </a:p>
        </p:txBody>
      </p:sp>
      <p:sp>
        <p:nvSpPr>
          <p:cNvPr id="7" name="Title 1"/>
          <p:cNvSpPr txBox="1">
            <a:spLocks/>
          </p:cNvSpPr>
          <p:nvPr/>
        </p:nvSpPr>
        <p:spPr>
          <a:xfrm>
            <a:off x="1371600" y="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smtClean="0">
                <a:latin typeface="Times New Roman" pitchFamily="18" charset="0"/>
                <a:cs typeface="Times New Roman" pitchFamily="18" charset="0"/>
              </a:rPr>
              <a:t>Old Question papers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Tree>
    <p:extLst>
      <p:ext uri="{BB962C8B-B14F-4D97-AF65-F5344CB8AC3E}">
        <p14:creationId xmlns:p14="http://schemas.microsoft.com/office/powerpoint/2010/main" xmlns="" val="37641136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4"/>
            <a:ext cx="8229600" cy="4525963"/>
          </a:xfrm>
        </p:spPr>
        <p:txBody>
          <a:bodyPr>
            <a:normAutofit/>
          </a:bodyPr>
          <a:lstStyle/>
          <a:p>
            <a:pPr>
              <a:buNone/>
            </a:pPr>
            <a:r>
              <a:rPr lang="en-US" sz="2000" dirty="0" smtClean="0"/>
              <a:t>This unit gives overview on how different scripts and languages evolved in ancient India.</a:t>
            </a:r>
            <a:endParaRPr lang="en-US" sz="2000" dirty="0"/>
          </a:p>
          <a:p>
            <a:endParaRPr lang="en-US" sz="2000" dirty="0"/>
          </a:p>
          <a:p>
            <a:endParaRPr lang="en-US" sz="2400" b="1" dirty="0"/>
          </a:p>
          <a:p>
            <a:endParaRPr lang="en-US" sz="2400" b="1" dirty="0"/>
          </a:p>
        </p:txBody>
      </p:sp>
      <p:sp>
        <p:nvSpPr>
          <p:cNvPr id="4" name="Date Placeholder 3"/>
          <p:cNvSpPr>
            <a:spLocks noGrp="1"/>
          </p:cNvSpPr>
          <p:nvPr>
            <p:ph type="dt" sz="half" idx="10"/>
          </p:nvPr>
        </p:nvSpPr>
        <p:spPr/>
        <p:txBody>
          <a:bodyPr/>
          <a:lstStyle/>
          <a:p>
            <a:fld id="{0D48F5CE-3322-414B-9F4A-FB9C543253EC}" type="datetime1">
              <a:rPr lang="en-US" smtClean="0"/>
              <a:t>1/14/2022</a:t>
            </a:fld>
            <a:endParaRPr lang="en-US" dirty="0"/>
          </a:p>
        </p:txBody>
      </p:sp>
      <p:sp>
        <p:nvSpPr>
          <p:cNvPr id="5" name="Footer Placeholder 4"/>
          <p:cNvSpPr>
            <a:spLocks noGrp="1"/>
          </p:cNvSpPr>
          <p:nvPr>
            <p:ph type="ftr" sz="quarter" idx="11"/>
          </p:nvPr>
        </p:nvSpPr>
        <p:spPr>
          <a:xfrm>
            <a:off x="1447800" y="6356354"/>
            <a:ext cx="6629400" cy="365125"/>
          </a:xfrm>
        </p:spPr>
        <p:txBody>
          <a:bodyPr/>
          <a:lstStyle/>
          <a:p>
            <a:r>
              <a:rPr lang="fi-FI" smtClean="0">
                <a:solidFill>
                  <a:schemeClr val="tx1"/>
                </a:solidFill>
              </a:rPr>
              <a:t>Dr.Ankita Shukla KNC 602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dirty="0"/>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
        <p:nvSpPr>
          <p:cNvPr id="10" name="Title 1"/>
          <p:cNvSpPr txBox="1">
            <a:spLocks/>
          </p:cNvSpPr>
          <p:nvPr/>
        </p:nvSpPr>
        <p:spPr>
          <a:xfrm>
            <a:off x="1371600" y="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rPr>
              <a:t>Summary</a:t>
            </a:r>
          </a:p>
        </p:txBody>
      </p:sp>
    </p:spTree>
    <p:extLst>
      <p:ext uri="{BB962C8B-B14F-4D97-AF65-F5344CB8AC3E}">
        <p14:creationId xmlns:p14="http://schemas.microsoft.com/office/powerpoint/2010/main" xmlns="" val="12712968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60F679C-0F60-4AAA-AB5C-6BEFFFFE469A}" type="datetime1">
              <a:rPr lang="en-US" smtClean="0"/>
              <a:t>1/14/2022</a:t>
            </a:fld>
            <a:endParaRPr lang="en-US" dirty="0"/>
          </a:p>
        </p:txBody>
      </p:sp>
      <p:sp>
        <p:nvSpPr>
          <p:cNvPr id="5" name="Footer Placeholder 4"/>
          <p:cNvSpPr>
            <a:spLocks noGrp="1"/>
          </p:cNvSpPr>
          <p:nvPr>
            <p:ph type="ftr" sz="quarter" idx="11"/>
          </p:nvPr>
        </p:nvSpPr>
        <p:spPr>
          <a:xfrm>
            <a:off x="1447800" y="6356354"/>
            <a:ext cx="6324600" cy="365125"/>
          </a:xfrm>
        </p:spPr>
        <p:txBody>
          <a:bodyPr/>
          <a:lstStyle/>
          <a:p>
            <a:r>
              <a:rPr lang="fi-FI" smtClean="0">
                <a:solidFill>
                  <a:schemeClr val="tx1"/>
                </a:solidFill>
              </a:rPr>
              <a:t>Dr.Ankita Shukla KNC 602                                   Unit :2</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dirty="0"/>
          </a:p>
        </p:txBody>
      </p:sp>
      <p:sp>
        <p:nvSpPr>
          <p:cNvPr id="7" name="Title 1"/>
          <p:cNvSpPr txBox="1">
            <a:spLocks/>
          </p:cNvSpPr>
          <p:nvPr/>
        </p:nvSpPr>
        <p:spPr>
          <a:xfrm>
            <a:off x="1371600" y="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References</a:t>
            </a:r>
            <a:endParaRPr kumimoji="0" lang="en-US" sz="2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4"/>
            <a:ext cx="1447800" cy="817163"/>
          </a:xfrm>
          <a:prstGeom prst="rect">
            <a:avLst/>
          </a:prstGeom>
          <a:noFill/>
        </p:spPr>
      </p:pic>
      <p:sp>
        <p:nvSpPr>
          <p:cNvPr id="6146" name="Rectangle 2"/>
          <p:cNvSpPr>
            <a:spLocks noChangeArrowheads="1"/>
          </p:cNvSpPr>
          <p:nvPr/>
        </p:nvSpPr>
        <p:spPr bwMode="auto">
          <a:xfrm>
            <a:off x="533400" y="914400"/>
            <a:ext cx="7543800"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sz="24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References :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lvl="0"/>
            <a:r>
              <a:rPr lang="en-US" sz="2400" dirty="0"/>
              <a:t>1. V. </a:t>
            </a:r>
            <a:r>
              <a:rPr lang="en-US" sz="2400" dirty="0" err="1"/>
              <a:t>Sivaramakrishna</a:t>
            </a:r>
            <a:r>
              <a:rPr lang="en-US" sz="2400" dirty="0"/>
              <a:t> (Ed.), </a:t>
            </a:r>
            <a:r>
              <a:rPr lang="en-US" sz="2400" i="1" dirty="0"/>
              <a:t>Cultural Heritage of India-Course Material</a:t>
            </a:r>
            <a:r>
              <a:rPr lang="en-US" sz="2400" dirty="0"/>
              <a:t>, </a:t>
            </a:r>
            <a:r>
              <a:rPr lang="en-US" sz="2400" dirty="0" err="1"/>
              <a:t>Bharatiya</a:t>
            </a:r>
            <a:r>
              <a:rPr lang="en-US" sz="2400" dirty="0"/>
              <a:t> </a:t>
            </a:r>
            <a:r>
              <a:rPr lang="en-US" sz="2400" dirty="0" err="1"/>
              <a:t>Vidya</a:t>
            </a:r>
            <a:r>
              <a:rPr lang="en-US" sz="2400" dirty="0"/>
              <a:t> </a:t>
            </a:r>
            <a:r>
              <a:rPr lang="en-US" sz="2400" dirty="0" err="1"/>
              <a:t>Bhavan</a:t>
            </a:r>
            <a:r>
              <a:rPr lang="en-US" sz="2400" dirty="0"/>
              <a:t>, Mumbai, 5th Edition, 2014</a:t>
            </a:r>
          </a:p>
          <a:p>
            <a:pPr lvl="0"/>
            <a:r>
              <a:rPr lang="en-US" sz="2400" dirty="0"/>
              <a:t>2. S. </a:t>
            </a:r>
            <a:r>
              <a:rPr lang="en-US" sz="2400" dirty="0" err="1"/>
              <a:t>Baliyan</a:t>
            </a:r>
            <a:r>
              <a:rPr lang="en-US" sz="2400" dirty="0"/>
              <a:t>, </a:t>
            </a:r>
            <a:r>
              <a:rPr lang="en-US" sz="2400" i="1" dirty="0"/>
              <a:t>Indian Art and Culture</a:t>
            </a:r>
            <a:r>
              <a:rPr lang="en-US" sz="2400" dirty="0"/>
              <a:t>, Oxford University Press, India</a:t>
            </a:r>
          </a:p>
          <a:p>
            <a:pPr lvl="0"/>
            <a:r>
              <a:rPr lang="en-US" sz="2400" dirty="0"/>
              <a:t>3. Swami </a:t>
            </a:r>
            <a:r>
              <a:rPr lang="en-US" sz="2400" dirty="0" err="1"/>
              <a:t>Jitatmanand</a:t>
            </a:r>
            <a:r>
              <a:rPr lang="en-US" sz="2400" dirty="0"/>
              <a:t>, </a:t>
            </a:r>
            <a:r>
              <a:rPr lang="en-US" sz="2400" i="1" dirty="0"/>
              <a:t>Modern Physics and </a:t>
            </a:r>
            <a:r>
              <a:rPr lang="en-US" sz="2400" i="1" dirty="0" err="1"/>
              <a:t>Vedant</a:t>
            </a:r>
            <a:r>
              <a:rPr lang="en-US" sz="2400" dirty="0"/>
              <a:t>, </a:t>
            </a:r>
            <a:r>
              <a:rPr lang="en-US" sz="2400" dirty="0" err="1"/>
              <a:t>Bharatiya</a:t>
            </a:r>
            <a:r>
              <a:rPr lang="en-US" sz="2400" dirty="0"/>
              <a:t> </a:t>
            </a:r>
            <a:r>
              <a:rPr lang="en-US" sz="2400" dirty="0" err="1"/>
              <a:t>Vidya</a:t>
            </a:r>
            <a:r>
              <a:rPr lang="en-US" sz="2400" dirty="0"/>
              <a:t> </a:t>
            </a:r>
            <a:r>
              <a:rPr lang="en-US" sz="2400" dirty="0" err="1"/>
              <a:t>Bhavan</a:t>
            </a:r>
            <a:endParaRPr lang="en-US" sz="2400" dirty="0"/>
          </a:p>
          <a:p>
            <a:pPr lvl="0"/>
            <a:r>
              <a:rPr lang="en-US" sz="2400" dirty="0"/>
              <a:t>4. </a:t>
            </a:r>
            <a:r>
              <a:rPr lang="en-US" sz="2400" dirty="0" err="1"/>
              <a:t>Romila</a:t>
            </a:r>
            <a:r>
              <a:rPr lang="en-US" sz="2400" dirty="0"/>
              <a:t> </a:t>
            </a:r>
            <a:r>
              <a:rPr lang="en-US" sz="2400" dirty="0" err="1"/>
              <a:t>Thapar</a:t>
            </a:r>
            <a:r>
              <a:rPr lang="en-US" sz="2400" dirty="0"/>
              <a:t>, </a:t>
            </a:r>
            <a:r>
              <a:rPr lang="en-US" sz="2400" i="1" dirty="0"/>
              <a:t>Readings In Early Indian History </a:t>
            </a:r>
            <a:r>
              <a:rPr lang="en-US" sz="2400" dirty="0"/>
              <a:t>Oxford University Press , India</a:t>
            </a:r>
          </a:p>
        </p:txBody>
      </p:sp>
    </p:spTree>
    <p:extLst>
      <p:ext uri="{BB962C8B-B14F-4D97-AF65-F5344CB8AC3E}">
        <p14:creationId xmlns:p14="http://schemas.microsoft.com/office/powerpoint/2010/main" xmlns="" val="2591648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1474</TotalTime>
  <Words>5483</Words>
  <Application>Microsoft Office PowerPoint</Application>
  <PresentationFormat>On-screen Show (4:3)</PresentationFormat>
  <Paragraphs>881</Paragraphs>
  <Slides>89</Slides>
  <Notes>1</Notes>
  <HiddenSlides>0</HiddenSlides>
  <MMClips>0</MMClip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Office Theme</vt:lpstr>
      <vt:lpstr>Noida Institute of Engineering and Technology, Greater Noida</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 </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 </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Literature, Culture, Tradition, and Practices</dc:title>
  <dc:creator>admin</dc:creator>
  <cp:lastModifiedBy>Windows User</cp:lastModifiedBy>
  <cp:revision>87</cp:revision>
  <dcterms:created xsi:type="dcterms:W3CDTF">2021-05-02T06:26:14Z</dcterms:created>
  <dcterms:modified xsi:type="dcterms:W3CDTF">2022-01-14T10:06:58Z</dcterms:modified>
</cp:coreProperties>
</file>