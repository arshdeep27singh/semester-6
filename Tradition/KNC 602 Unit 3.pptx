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handoutMasterIdLst>
    <p:handoutMasterId r:id="rId100"/>
  </p:handoutMasterIdLst>
  <p:sldIdLst>
    <p:sldId id="256" r:id="rId2"/>
    <p:sldId id="388" r:id="rId3"/>
    <p:sldId id="389" r:id="rId4"/>
    <p:sldId id="390" r:id="rId5"/>
    <p:sldId id="391" r:id="rId6"/>
    <p:sldId id="392" r:id="rId7"/>
    <p:sldId id="393" r:id="rId8"/>
    <p:sldId id="395" r:id="rId9"/>
    <p:sldId id="396" r:id="rId10"/>
    <p:sldId id="351" r:id="rId11"/>
    <p:sldId id="426" r:id="rId12"/>
    <p:sldId id="505" r:id="rId13"/>
    <p:sldId id="545" r:id="rId14"/>
    <p:sldId id="546" r:id="rId15"/>
    <p:sldId id="548" r:id="rId16"/>
    <p:sldId id="547" r:id="rId17"/>
    <p:sldId id="506" r:id="rId18"/>
    <p:sldId id="507" r:id="rId19"/>
    <p:sldId id="508" r:id="rId20"/>
    <p:sldId id="509" r:id="rId21"/>
    <p:sldId id="536" r:id="rId22"/>
    <p:sldId id="537" r:id="rId23"/>
    <p:sldId id="538" r:id="rId24"/>
    <p:sldId id="539" r:id="rId25"/>
    <p:sldId id="540" r:id="rId26"/>
    <p:sldId id="541" r:id="rId27"/>
    <p:sldId id="542" r:id="rId28"/>
    <p:sldId id="543" r:id="rId29"/>
    <p:sldId id="544" r:id="rId30"/>
    <p:sldId id="380" r:id="rId31"/>
    <p:sldId id="381" r:id="rId32"/>
    <p:sldId id="510" r:id="rId33"/>
    <p:sldId id="525" r:id="rId34"/>
    <p:sldId id="526" r:id="rId35"/>
    <p:sldId id="527" r:id="rId36"/>
    <p:sldId id="528" r:id="rId37"/>
    <p:sldId id="529" r:id="rId38"/>
    <p:sldId id="530" r:id="rId39"/>
    <p:sldId id="531" r:id="rId40"/>
    <p:sldId id="533" r:id="rId41"/>
    <p:sldId id="382" r:id="rId42"/>
    <p:sldId id="549" r:id="rId43"/>
    <p:sldId id="550" r:id="rId44"/>
    <p:sldId id="383" r:id="rId45"/>
    <p:sldId id="427" r:id="rId46"/>
    <p:sldId id="384" r:id="rId47"/>
    <p:sldId id="428" r:id="rId48"/>
    <p:sldId id="429" r:id="rId49"/>
    <p:sldId id="552" r:id="rId50"/>
    <p:sldId id="551" r:id="rId51"/>
    <p:sldId id="430" r:id="rId52"/>
    <p:sldId id="554" r:id="rId53"/>
    <p:sldId id="553" r:id="rId54"/>
    <p:sldId id="397" r:id="rId55"/>
    <p:sldId id="398" r:id="rId56"/>
    <p:sldId id="399" r:id="rId57"/>
    <p:sldId id="400" r:id="rId58"/>
    <p:sldId id="285" r:id="rId59"/>
    <p:sldId id="385" r:id="rId60"/>
    <p:sldId id="431" r:id="rId61"/>
    <p:sldId id="432" r:id="rId62"/>
    <p:sldId id="555" r:id="rId63"/>
    <p:sldId id="556" r:id="rId64"/>
    <p:sldId id="352" r:id="rId65"/>
    <p:sldId id="387" r:id="rId66"/>
    <p:sldId id="433" r:id="rId67"/>
    <p:sldId id="434" r:id="rId68"/>
    <p:sldId id="444" r:id="rId69"/>
    <p:sldId id="445" r:id="rId70"/>
    <p:sldId id="446" r:id="rId71"/>
    <p:sldId id="447" r:id="rId72"/>
    <p:sldId id="448" r:id="rId73"/>
    <p:sldId id="449" r:id="rId74"/>
    <p:sldId id="450" r:id="rId75"/>
    <p:sldId id="451" r:id="rId76"/>
    <p:sldId id="452" r:id="rId77"/>
    <p:sldId id="453" r:id="rId78"/>
    <p:sldId id="455" r:id="rId79"/>
    <p:sldId id="456" r:id="rId80"/>
    <p:sldId id="457" r:id="rId81"/>
    <p:sldId id="458" r:id="rId82"/>
    <p:sldId id="459" r:id="rId83"/>
    <p:sldId id="460" r:id="rId84"/>
    <p:sldId id="512" r:id="rId85"/>
    <p:sldId id="402" r:id="rId86"/>
    <p:sldId id="403" r:id="rId87"/>
    <p:sldId id="404" r:id="rId88"/>
    <p:sldId id="405" r:id="rId89"/>
    <p:sldId id="406" r:id="rId90"/>
    <p:sldId id="407" r:id="rId91"/>
    <p:sldId id="424" r:id="rId92"/>
    <p:sldId id="425" r:id="rId93"/>
    <p:sldId id="414" r:id="rId94"/>
    <p:sldId id="420" r:id="rId95"/>
    <p:sldId id="513" r:id="rId96"/>
    <p:sldId id="422" r:id="rId97"/>
    <p:sldId id="423"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10" autoAdjust="0"/>
    <p:restoredTop sz="94660"/>
  </p:normalViewPr>
  <p:slideViewPr>
    <p:cSldViewPr>
      <p:cViewPr varScale="1">
        <p:scale>
          <a:sx n="77" d="100"/>
          <a:sy n="77" d="100"/>
        </p:scale>
        <p:origin x="-1086" y="-90"/>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3/26/2022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dirty="0"/>
          </a:p>
        </p:txBody>
      </p:sp>
    </p:spTree>
    <p:extLst>
      <p:ext uri="{BB962C8B-B14F-4D97-AF65-F5344CB8AC3E}">
        <p14:creationId xmlns:p14="http://schemas.microsoft.com/office/powerpoint/2010/main" xmlns="" val="2543136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3/26/2022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dirty="0"/>
          </a:p>
        </p:txBody>
      </p:sp>
    </p:spTree>
    <p:extLst>
      <p:ext uri="{BB962C8B-B14F-4D97-AF65-F5344CB8AC3E}">
        <p14:creationId xmlns:p14="http://schemas.microsoft.com/office/powerpoint/2010/main" xmlns="" val="957272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dirty="0"/>
          </a:p>
        </p:txBody>
      </p:sp>
    </p:spTree>
    <p:extLst>
      <p:ext uri="{BB962C8B-B14F-4D97-AF65-F5344CB8AC3E}">
        <p14:creationId xmlns:p14="http://schemas.microsoft.com/office/powerpoint/2010/main" xmlns="" val="3820389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dirty="0"/>
          </a:p>
        </p:txBody>
      </p:sp>
    </p:spTree>
    <p:extLst>
      <p:ext uri="{BB962C8B-B14F-4D97-AF65-F5344CB8AC3E}">
        <p14:creationId xmlns:p14="http://schemas.microsoft.com/office/powerpoint/2010/main" xmlns="" val="3675845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15</a:t>
            </a:fld>
            <a:endParaRPr lang="en-US" dirty="0"/>
          </a:p>
        </p:txBody>
      </p:sp>
    </p:spTree>
    <p:extLst>
      <p:ext uri="{BB962C8B-B14F-4D97-AF65-F5344CB8AC3E}">
        <p14:creationId xmlns:p14="http://schemas.microsoft.com/office/powerpoint/2010/main" xmlns="" val="3686129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16</a:t>
            </a:fld>
            <a:endParaRPr lang="en-US" dirty="0"/>
          </a:p>
        </p:txBody>
      </p:sp>
    </p:spTree>
    <p:extLst>
      <p:ext uri="{BB962C8B-B14F-4D97-AF65-F5344CB8AC3E}">
        <p14:creationId xmlns:p14="http://schemas.microsoft.com/office/powerpoint/2010/main" xmlns="" val="269284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41</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42</a:t>
            </a:fld>
            <a:endParaRPr lang="en-US" dirty="0"/>
          </a:p>
        </p:txBody>
      </p:sp>
    </p:spTree>
    <p:extLst>
      <p:ext uri="{BB962C8B-B14F-4D97-AF65-F5344CB8AC3E}">
        <p14:creationId xmlns:p14="http://schemas.microsoft.com/office/powerpoint/2010/main" xmlns="" val="2897649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43</a:t>
            </a:fld>
            <a:endParaRPr lang="en-US" dirty="0"/>
          </a:p>
        </p:txBody>
      </p:sp>
    </p:spTree>
    <p:extLst>
      <p:ext uri="{BB962C8B-B14F-4D97-AF65-F5344CB8AC3E}">
        <p14:creationId xmlns:p14="http://schemas.microsoft.com/office/powerpoint/2010/main" xmlns="" val="65001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44</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45</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46</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47</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48</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49</a:t>
            </a:fld>
            <a:endParaRPr lang="en-US" dirty="0"/>
          </a:p>
        </p:txBody>
      </p:sp>
    </p:spTree>
    <p:extLst>
      <p:ext uri="{BB962C8B-B14F-4D97-AF65-F5344CB8AC3E}">
        <p14:creationId xmlns:p14="http://schemas.microsoft.com/office/powerpoint/2010/main" xmlns="" val="3707781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50</a:t>
            </a:fld>
            <a:endParaRPr lang="en-US" dirty="0"/>
          </a:p>
        </p:txBody>
      </p:sp>
    </p:spTree>
    <p:extLst>
      <p:ext uri="{BB962C8B-B14F-4D97-AF65-F5344CB8AC3E}">
        <p14:creationId xmlns:p14="http://schemas.microsoft.com/office/powerpoint/2010/main" xmlns="" val="4267908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51</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52</a:t>
            </a:fld>
            <a:endParaRPr lang="en-US" dirty="0"/>
          </a:p>
        </p:txBody>
      </p:sp>
    </p:spTree>
    <p:extLst>
      <p:ext uri="{BB962C8B-B14F-4D97-AF65-F5344CB8AC3E}">
        <p14:creationId xmlns:p14="http://schemas.microsoft.com/office/powerpoint/2010/main" xmlns="" val="17270051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53</a:t>
            </a:fld>
            <a:endParaRPr lang="en-US" dirty="0"/>
          </a:p>
        </p:txBody>
      </p:sp>
    </p:spTree>
    <p:extLst>
      <p:ext uri="{BB962C8B-B14F-4D97-AF65-F5344CB8AC3E}">
        <p14:creationId xmlns:p14="http://schemas.microsoft.com/office/powerpoint/2010/main" xmlns="" val="3242148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0A3472F-C90E-4C54-AC7E-C7AD0E751E65}" type="datetime1">
              <a:rPr lang="en-US" smtClean="0"/>
              <a:pPr/>
              <a:t>3/26/2022</a:t>
            </a:fld>
            <a:endParaRPr lang="en-US" dirty="0"/>
          </a:p>
        </p:txBody>
      </p:sp>
      <p:sp>
        <p:nvSpPr>
          <p:cNvPr id="5" name="Footer Placeholder 4"/>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B93602-52A7-41BD-9287-F3DDDBC92420}" type="datetime1">
              <a:rPr lang="en-US" smtClean="0"/>
              <a:pPr/>
              <a:t>3/26/2022</a:t>
            </a:fld>
            <a:endParaRPr lang="en-US" dirty="0"/>
          </a:p>
        </p:txBody>
      </p:sp>
      <p:sp>
        <p:nvSpPr>
          <p:cNvPr id="5" name="Footer Placeholder 4"/>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A16F2F4-0617-4B32-978C-B368106ADC21}" type="datetime1">
              <a:rPr lang="en-US" smtClean="0"/>
              <a:pPr/>
              <a:t>3/26/2022</a:t>
            </a:fld>
            <a:endParaRPr lang="en-US" dirty="0"/>
          </a:p>
        </p:txBody>
      </p:sp>
      <p:sp>
        <p:nvSpPr>
          <p:cNvPr id="5" name="Footer Placeholder 4"/>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E72C732-3057-48B3-8A2B-3BEDE1995697}" type="datetime1">
              <a:rPr lang="en-US" smtClean="0"/>
              <a:pPr/>
              <a:t>3/26/2022</a:t>
            </a:fld>
            <a:endParaRPr lang="en-US" dirty="0"/>
          </a:p>
        </p:txBody>
      </p:sp>
      <p:sp>
        <p:nvSpPr>
          <p:cNvPr id="6" name="Footer Placeholder 5"/>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ADF10A1-AD40-4AC8-97BC-FDEA1F2EE011}" type="datetime1">
              <a:rPr lang="en-US" smtClean="0"/>
              <a:pPr/>
              <a:t>3/26/2022</a:t>
            </a:fld>
            <a:endParaRPr lang="en-US" dirty="0"/>
          </a:p>
        </p:txBody>
      </p:sp>
      <p:sp>
        <p:nvSpPr>
          <p:cNvPr id="8" name="Footer Placeholder 7"/>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555168-DE3F-491B-B586-CFFF6885C51A}" type="datetime1">
              <a:rPr lang="en-US" smtClean="0"/>
              <a:pPr/>
              <a:t>3/26/2022</a:t>
            </a:fld>
            <a:endParaRPr lang="en-US" dirty="0"/>
          </a:p>
        </p:txBody>
      </p:sp>
      <p:sp>
        <p:nvSpPr>
          <p:cNvPr id="4" name="Footer Placeholder 3"/>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4EA8A8-F8D3-48CF-923C-0B62478F5787}" type="datetime1">
              <a:rPr lang="en-US" smtClean="0"/>
              <a:pPr/>
              <a:t>3/26/2022</a:t>
            </a:fld>
            <a:endParaRPr lang="en-US" dirty="0"/>
          </a:p>
        </p:txBody>
      </p:sp>
      <p:sp>
        <p:nvSpPr>
          <p:cNvPr id="3" name="Footer Placeholder 2"/>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11B399-9097-4E8E-8F51-FB678130D628}" type="datetime1">
              <a:rPr lang="en-US" smtClean="0"/>
              <a:pPr/>
              <a:t>3/26/2022</a:t>
            </a:fld>
            <a:endParaRPr lang="en-US" dirty="0"/>
          </a:p>
        </p:txBody>
      </p:sp>
      <p:sp>
        <p:nvSpPr>
          <p:cNvPr id="6" name="Footer Placeholder 5"/>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8EEB69-80FC-4F51-AB6E-FC9D97C8DCA2}" type="datetime1">
              <a:rPr lang="en-US" smtClean="0"/>
              <a:pPr/>
              <a:t>3/26/2022</a:t>
            </a:fld>
            <a:endParaRPr lang="en-US" dirty="0"/>
          </a:p>
        </p:txBody>
      </p:sp>
      <p:sp>
        <p:nvSpPr>
          <p:cNvPr id="6" name="Footer Placeholder 5"/>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C6BE65-0F7A-4082-BB3E-CF6EA11218D7}" type="datetime1">
              <a:rPr lang="en-US" smtClean="0"/>
              <a:pPr/>
              <a:t>3/26/2022</a:t>
            </a:fld>
            <a:endParaRPr lang="en-US" dirty="0"/>
          </a:p>
        </p:txBody>
      </p:sp>
      <p:sp>
        <p:nvSpPr>
          <p:cNvPr id="5" name="Footer Placeholder 4"/>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1C41CE-127F-45F4-B638-E15929E4F3C0}" type="datetime1">
              <a:rPr lang="en-US" smtClean="0"/>
              <a:pPr/>
              <a:t>3/26/2022</a:t>
            </a:fld>
            <a:endParaRPr lang="en-US" dirty="0"/>
          </a:p>
        </p:txBody>
      </p:sp>
      <p:sp>
        <p:nvSpPr>
          <p:cNvPr id="5" name="Footer Placeholder 4"/>
          <p:cNvSpPr>
            <a:spLocks noGrp="1"/>
          </p:cNvSpPr>
          <p:nvPr>
            <p:ph type="ftr" sz="quarter" idx="11"/>
          </p:nvPr>
        </p:nvSpPr>
        <p:spPr/>
        <p:txBody>
          <a:bodyPr/>
          <a:lstStyle/>
          <a:p>
            <a:r>
              <a:rPr lang="en-US" smtClean="0"/>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8D763D-58FA-4C0C-AA95-A1AB4988EB9C}" type="datetime1">
              <a:rPr lang="en-US" smtClean="0"/>
              <a:pPr/>
              <a:t>3/26/2022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Faculty Name: Dr.Ankita Shukla Subject code : KNC 602    Unit Number::III</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hyperlink" Target="https://en.wikipedia.org/wiki/Veda" TargetMode="External"/><Relationship Id="rId13" Type="http://schemas.openxmlformats.org/officeDocument/2006/relationships/hyperlink" Target="https://en.wikipedia.org/wiki/Sure%C5%9Bvara" TargetMode="External"/><Relationship Id="rId18" Type="http://schemas.openxmlformats.org/officeDocument/2006/relationships/hyperlink" Target="https://en.wikipedia.org/wiki/Sama_Veda" TargetMode="External"/><Relationship Id="rId3" Type="http://schemas.openxmlformats.org/officeDocument/2006/relationships/image" Target="../media/image1.png"/><Relationship Id="rId21" Type="http://schemas.openxmlformats.org/officeDocument/2006/relationships/hyperlink" Target="https://en.wikipedia.org/wiki/Atharva_Veda" TargetMode="External"/><Relationship Id="rId7" Type="http://schemas.openxmlformats.org/officeDocument/2006/relationships/hyperlink" Target="https://en.wikipedia.org/wiki/Mah%C4%81v%C4%81kya" TargetMode="External"/><Relationship Id="rId12" Type="http://schemas.openxmlformats.org/officeDocument/2006/relationships/hyperlink" Target="https://en.wikipedia.org/wiki/Rig_Veda" TargetMode="External"/><Relationship Id="rId17" Type="http://schemas.openxmlformats.org/officeDocument/2006/relationships/hyperlink" Target="https://en.wikipedia.org/wiki/Dwarka_Sharada_Peetham" TargetMode="External"/><Relationship Id="rId2" Type="http://schemas.openxmlformats.org/officeDocument/2006/relationships/notesSlide" Target="../notesSlides/notesSlide24.xml"/><Relationship Id="rId16" Type="http://schemas.openxmlformats.org/officeDocument/2006/relationships/hyperlink" Target="https://en.wikipedia.org/wiki/Hastamalakacharya" TargetMode="External"/><Relationship Id="rId20" Type="http://schemas.openxmlformats.org/officeDocument/2006/relationships/hyperlink" Target="https://en.wikipedia.org/wiki/Jyotir_Math" TargetMode="External"/><Relationship Id="rId1" Type="http://schemas.openxmlformats.org/officeDocument/2006/relationships/slideLayout" Target="../slideLayouts/slideLayout2.xml"/><Relationship Id="rId6" Type="http://schemas.openxmlformats.org/officeDocument/2006/relationships/hyperlink" Target="https://en.wikipedia.org/wiki/Matha" TargetMode="External"/><Relationship Id="rId11" Type="http://schemas.openxmlformats.org/officeDocument/2006/relationships/hyperlink" Target="https://en.wikipedia.org/wiki/Govardhan_Math" TargetMode="External"/><Relationship Id="rId5" Type="http://schemas.openxmlformats.org/officeDocument/2006/relationships/hyperlink" Target="https://en.wikipedia.org/wiki/Relative_direction" TargetMode="External"/><Relationship Id="rId15" Type="http://schemas.openxmlformats.org/officeDocument/2006/relationships/hyperlink" Target="https://en.wikipedia.org/wiki/Yajur_Veda" TargetMode="External"/><Relationship Id="rId10" Type="http://schemas.openxmlformats.org/officeDocument/2006/relationships/hyperlink" Target="https://en.wikipedia.org/wiki/Padmap%C4%81da" TargetMode="External"/><Relationship Id="rId19" Type="http://schemas.openxmlformats.org/officeDocument/2006/relationships/hyperlink" Target="https://en.wikipedia.org/wiki/Totakacharya" TargetMode="External"/><Relationship Id="rId4" Type="http://schemas.openxmlformats.org/officeDocument/2006/relationships/hyperlink" Target="https://en.wikipedia.org/wiki/Guru-shishya_tradition" TargetMode="External"/><Relationship Id="rId9" Type="http://schemas.openxmlformats.org/officeDocument/2006/relationships/hyperlink" Target="https://en.wikipedia.org/wiki/Sampradaya" TargetMode="External"/><Relationship Id="rId14" Type="http://schemas.openxmlformats.org/officeDocument/2006/relationships/hyperlink" Target="https://en.wikipedia.org/wiki/Sringeri_Sharada_Peetham" TargetMode="Externa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youtu.be/7PuuAgeSRpU" TargetMode="External"/><Relationship Id="rId2" Type="http://schemas.openxmlformats.org/officeDocument/2006/relationships/hyperlink" Target="https://youtu.be/X2SXJiSv3R4"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youtu.be/RVT60SA3KgM" TargetMode="Externa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smtClean="0"/>
              <a:t>Noida Institute of Engineering and Technology, Greater Noida</a:t>
            </a:r>
            <a:endParaRPr lang="en-US" sz="2400" dirty="0"/>
          </a:p>
        </p:txBody>
      </p:sp>
      <p:sp>
        <p:nvSpPr>
          <p:cNvPr id="3" name="Subtitle 2"/>
          <p:cNvSpPr>
            <a:spLocks noGrp="1"/>
          </p:cNvSpPr>
          <p:nvPr>
            <p:ph type="subTitle" idx="1"/>
          </p:nvPr>
        </p:nvSpPr>
        <p:spPr>
          <a:xfrm>
            <a:off x="1447800" y="914400"/>
            <a:ext cx="6400800" cy="1752600"/>
          </a:xfrm>
        </p:spPr>
        <p:style>
          <a:lnRef idx="2">
            <a:schemeClr val="accent5"/>
          </a:lnRef>
          <a:fillRef idx="1">
            <a:schemeClr val="lt1"/>
          </a:fillRef>
          <a:effectRef idx="0">
            <a:schemeClr val="accent5"/>
          </a:effectRef>
          <a:fontRef idx="minor">
            <a:schemeClr val="dk1"/>
          </a:fontRef>
        </p:style>
        <p:txBody>
          <a:bodyPr>
            <a:normAutofit/>
          </a:bodyPr>
          <a:lstStyle/>
          <a:p>
            <a:r>
              <a:rPr lang="en-US" sz="2800" b="1" dirty="0" smtClean="0">
                <a:solidFill>
                  <a:schemeClr val="tx1"/>
                </a:solidFill>
                <a:latin typeface="+mj-lt"/>
              </a:rPr>
              <a:t>Indian Religion, Philosophy, and Practices</a:t>
            </a:r>
            <a:endParaRPr lang="en-US" sz="2500" b="1" dirty="0">
              <a:solidFill>
                <a:schemeClr val="tx1"/>
              </a:solidFill>
              <a:latin typeface="+mj-lt"/>
              <a:cs typeface="Times New Roman" pitchFamily="18" charset="0"/>
            </a:endParaRPr>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6" name="Subtitle 2"/>
          <p:cNvSpPr txBox="1">
            <a:spLocks/>
          </p:cNvSpPr>
          <p:nvPr/>
        </p:nvSpPr>
        <p:spPr>
          <a:xfrm>
            <a:off x="5486400" y="3962400"/>
            <a:ext cx="33528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smtClean="0">
                <a:solidFill>
                  <a:schemeClr val="tx1"/>
                </a:solidFill>
              </a:rPr>
              <a:t>Dr.Ankita</a:t>
            </a:r>
            <a:r>
              <a:rPr lang="en-US" sz="2400" dirty="0" smtClean="0">
                <a:solidFill>
                  <a:schemeClr val="tx1"/>
                </a:solidFill>
              </a:rPr>
              <a:t> </a:t>
            </a:r>
            <a:r>
              <a:rPr lang="en-US" sz="2400" dirty="0" err="1" smtClean="0">
                <a:solidFill>
                  <a:schemeClr val="tx1"/>
                </a:solidFill>
              </a:rPr>
              <a:t>Shukla</a:t>
            </a:r>
            <a:endParaRPr lang="en-US" sz="2400" dirty="0" smtClean="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solidFill>
                  <a:schemeClr val="tx1"/>
                </a:solidFill>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Department-MBA</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4"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5"/>
            <a:ext cx="2133600" cy="365125"/>
          </a:xfrm>
        </p:spPr>
        <p:txBody>
          <a:bodyPr/>
          <a:lstStyle/>
          <a:p>
            <a:fld id="{5512FF79-176A-43B6-AD69-0DB8B0F2A3D9}" type="datetime1">
              <a:rPr lang="en-US" smtClean="0"/>
              <a:pPr/>
              <a:t>3/26/2022</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1" name="Picture 4" descr="C:\Users\Manks\Downloads\speak.png"/>
          <p:cNvPicPr>
            <a:picLocks noChangeAspect="1" noChangeArrowheads="1"/>
          </p:cNvPicPr>
          <p:nvPr/>
        </p:nvPicPr>
        <p:blipFill>
          <a:blip r:embed="rId5"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smtClean="0">
                <a:ln>
                  <a:noFill/>
                </a:ln>
                <a:solidFill>
                  <a:schemeClr val="tx1"/>
                </a:solidFill>
                <a:effectLst/>
                <a:uLnTx/>
                <a:uFillTx/>
                <a:latin typeface="+mn-lt"/>
                <a:ea typeface="+mn-ea"/>
                <a:cs typeface="+mn-cs"/>
              </a:rPr>
              <a:t>Unit:</a:t>
            </a:r>
            <a:r>
              <a:rPr kumimoji="0" lang="en-US" sz="2500" b="0" i="0" u="none" strike="noStrike" kern="1200" cap="none" spc="0" normalizeH="0" noProof="0" dirty="0" smtClean="0">
                <a:ln>
                  <a:noFill/>
                </a:ln>
                <a:solidFill>
                  <a:schemeClr val="tx1"/>
                </a:solidFill>
                <a:effectLst/>
                <a:uLnTx/>
                <a:uFillTx/>
                <a:latin typeface="+mn-lt"/>
                <a:ea typeface="+mn-ea"/>
                <a:cs typeface="+mn-cs"/>
              </a:rPr>
              <a:t> </a:t>
            </a:r>
            <a:r>
              <a:rPr lang="en-US" sz="2500" dirty="0" smtClean="0">
                <a:solidFill>
                  <a:schemeClr val="tx1"/>
                </a:solidFill>
              </a:rPr>
              <a:t>III</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1600200" y="6248400"/>
            <a:ext cx="6781800" cy="365125"/>
          </a:xfrm>
        </p:spPr>
        <p:txBody>
          <a:bodyPr/>
          <a:lstStyle/>
          <a:p>
            <a:r>
              <a:rPr lang="en-US" dirty="0" smtClean="0">
                <a:solidFill>
                  <a:schemeClr val="tx1"/>
                </a:solidFill>
              </a:rPr>
              <a:t>Faculty Name: </a:t>
            </a:r>
            <a:r>
              <a:rPr lang="en-US" dirty="0" err="1" smtClean="0">
                <a:solidFill>
                  <a:schemeClr val="tx1"/>
                </a:solidFill>
              </a:rPr>
              <a:t>Dr.Ankita</a:t>
            </a:r>
            <a:r>
              <a:rPr lang="en-US" dirty="0" smtClean="0">
                <a:solidFill>
                  <a:schemeClr val="tx1"/>
                </a:solidFill>
              </a:rPr>
              <a:t> </a:t>
            </a:r>
            <a:r>
              <a:rPr lang="en-US" dirty="0" err="1" smtClean="0">
                <a:solidFill>
                  <a:schemeClr val="tx1"/>
                </a:solidFill>
              </a:rPr>
              <a:t>Shukla</a:t>
            </a:r>
            <a:r>
              <a:rPr lang="en-US" dirty="0" smtClean="0">
                <a:solidFill>
                  <a:schemeClr val="tx1"/>
                </a:solidFill>
              </a:rPr>
              <a:t> Subject code : KNC 602    Unit Number::III</a:t>
            </a:r>
            <a:endParaRPr lang="en-US" dirty="0">
              <a:solidFill>
                <a:schemeClr val="tx1"/>
              </a:solidFill>
            </a:endParaRPr>
          </a:p>
        </p:txBody>
      </p:sp>
      <p:sp>
        <p:nvSpPr>
          <p:cNvPr id="14" name="Subtitle 2"/>
          <p:cNvSpPr txBox="1">
            <a:spLocks/>
          </p:cNvSpPr>
          <p:nvPr/>
        </p:nvSpPr>
        <p:spPr>
          <a:xfrm>
            <a:off x="152400" y="3581400"/>
            <a:ext cx="4191000" cy="1066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Subject</a:t>
            </a:r>
            <a:r>
              <a:rPr kumimoji="0" lang="en-US" sz="2000" b="0" i="0" u="none" strike="noStrike" kern="1200" cap="none" spc="0" normalizeH="0" noProof="0" dirty="0" smtClean="0">
                <a:ln>
                  <a:noFill/>
                </a:ln>
                <a:solidFill>
                  <a:schemeClr val="tx1"/>
                </a:solidFill>
                <a:effectLst/>
                <a:uLnTx/>
                <a:uFillTx/>
                <a:latin typeface="+mn-lt"/>
                <a:ea typeface="+mn-ea"/>
                <a:cs typeface="+mn-cs"/>
              </a:rPr>
              <a:t> Name:</a:t>
            </a:r>
          </a:p>
          <a:p>
            <a:pPr algn="ctr">
              <a:spcBef>
                <a:spcPct val="20000"/>
              </a:spcBef>
              <a:defRPr/>
            </a:pPr>
            <a:r>
              <a:rPr lang="en-US" sz="2000" dirty="0" smtClean="0"/>
              <a:t>Indian Traditions ,culture &amp; Society</a:t>
            </a:r>
          </a:p>
          <a:p>
            <a:pPr algn="ctr">
              <a:spcBef>
                <a:spcPct val="20000"/>
              </a:spcBef>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(KNC 602)</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Course</a:t>
            </a:r>
            <a:r>
              <a:rPr kumimoji="0" lang="en-US" sz="2000" b="0" i="0" u="none" strike="noStrike" kern="1200" cap="none" spc="0" normalizeH="0" noProof="0" dirty="0" smtClean="0">
                <a:ln>
                  <a:noFill/>
                </a:ln>
                <a:solidFill>
                  <a:schemeClr val="tx1"/>
                </a:solidFill>
                <a:effectLst/>
                <a:uLnTx/>
                <a:uFillTx/>
                <a:latin typeface="+mn-lt"/>
                <a:ea typeface="+mn-ea"/>
                <a:cs typeface="+mn-cs"/>
              </a:rPr>
              <a:t> Details</a:t>
            </a:r>
            <a:br>
              <a:rPr kumimoji="0" lang="en-US" sz="2000" b="0" i="0" u="none" strike="noStrike" kern="1200" cap="none" spc="0" normalizeH="0" noProof="0" dirty="0" smtClean="0">
                <a:ln>
                  <a:noFill/>
                </a:ln>
                <a:solidFill>
                  <a:schemeClr val="tx1"/>
                </a:solidFill>
                <a:effectLst/>
                <a:uLnTx/>
                <a:uFillTx/>
                <a:latin typeface="+mn-lt"/>
                <a:ea typeface="+mn-ea"/>
                <a:cs typeface="+mn-cs"/>
              </a:rPr>
            </a:br>
            <a:r>
              <a:rPr kumimoji="0" lang="en-US" sz="2000" b="0" i="0" u="none" strike="noStrike" kern="1200" cap="none" spc="0" normalizeH="0" noProof="0" dirty="0" smtClean="0">
                <a:ln>
                  <a:noFill/>
                </a:ln>
                <a:solidFill>
                  <a:schemeClr val="tx1"/>
                </a:solidFill>
                <a:effectLst/>
                <a:uLnTx/>
                <a:uFillTx/>
                <a:latin typeface="+mn-lt"/>
                <a:ea typeface="+mn-ea"/>
                <a:cs typeface="+mn-cs"/>
              </a:rPr>
              <a:t>(</a:t>
            </a:r>
            <a:r>
              <a:rPr lang="en-US" sz="2000" dirty="0" smtClean="0">
                <a:solidFill>
                  <a:schemeClr val="tx1"/>
                </a:solidFill>
              </a:rPr>
              <a:t>B.Tech</a:t>
            </a:r>
            <a:r>
              <a:rPr kumimoji="0" lang="en-US" sz="2000" b="0" i="0" u="none" strike="noStrike" kern="1200" cap="none" spc="0" normalizeH="0" noProof="0" dirty="0" smtClean="0">
                <a:ln>
                  <a:noFill/>
                </a:ln>
                <a:solidFill>
                  <a:schemeClr val="tx1"/>
                </a:solidFill>
                <a:effectLst/>
                <a:uLnTx/>
                <a:uFillTx/>
                <a:latin typeface="+mn-lt"/>
                <a:ea typeface="+mn-ea"/>
                <a:cs typeface="+mn-cs"/>
              </a:rPr>
              <a:t>  6</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th</a:t>
            </a:r>
            <a:r>
              <a:rPr kumimoji="0" lang="en-US" sz="2000" b="0" i="0" u="none" strike="noStrike" kern="1200" cap="none" spc="0" normalizeH="0" noProof="0" dirty="0" smtClean="0">
                <a:ln>
                  <a:noFill/>
                </a:ln>
                <a:solidFill>
                  <a:schemeClr val="tx1"/>
                </a:solidFill>
                <a:effectLst/>
                <a:uLnTx/>
                <a:uFillTx/>
                <a:latin typeface="+mn-lt"/>
                <a:ea typeface="+mn-ea"/>
                <a:cs typeface="+mn-cs"/>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E37CDF-9E2C-46E5-8CD5-4074C9160360}"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latin typeface="Times New Roman" pitchFamily="18" charset="0"/>
                <a:cs typeface="Times New Roman" pitchFamily="18" charset="0"/>
              </a:rPr>
              <a:t>Index/Content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12" name="Table 11"/>
          <p:cNvGraphicFramePr>
            <a:graphicFrameLocks noGrp="1"/>
          </p:cNvGraphicFramePr>
          <p:nvPr/>
        </p:nvGraphicFramePr>
        <p:xfrm>
          <a:off x="609600" y="838200"/>
          <a:ext cx="8229600" cy="5410197"/>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20000"/>
                    </a:ext>
                  </a:extLst>
                </a:gridCol>
                <a:gridCol w="6705600">
                  <a:extLst>
                    <a:ext uri="{9D8B030D-6E8A-4147-A177-3AD203B41FA5}">
                      <a16:colId xmlns:a16="http://schemas.microsoft.com/office/drawing/2014/main" xmlns="" val="20001"/>
                    </a:ext>
                  </a:extLst>
                </a:gridCol>
              </a:tblGrid>
              <a:tr h="601133">
                <a:tc>
                  <a:txBody>
                    <a:bodyPr/>
                    <a:lstStyle/>
                    <a:p>
                      <a:r>
                        <a:rPr lang="en-US" sz="2200" dirty="0" smtClean="0"/>
                        <a:t>S. No.</a:t>
                      </a:r>
                      <a:endParaRPr lang="en-US" sz="2200" dirty="0"/>
                    </a:p>
                  </a:txBody>
                  <a:tcPr/>
                </a:tc>
                <a:tc>
                  <a:txBody>
                    <a:bodyPr/>
                    <a:lstStyle/>
                    <a:p>
                      <a:pPr algn="l"/>
                      <a:r>
                        <a:rPr lang="en-US" sz="2200" dirty="0" smtClean="0"/>
                        <a:t>Index</a:t>
                      </a:r>
                      <a:endParaRPr lang="en-US" sz="2200" dirty="0"/>
                    </a:p>
                  </a:txBody>
                  <a:tcPr/>
                </a:tc>
                <a:extLst>
                  <a:ext uri="{0D108BD9-81ED-4DB2-BD59-A6C34878D82A}">
                    <a16:rowId xmlns:a16="http://schemas.microsoft.com/office/drawing/2014/main" xmlns="" val="10000"/>
                  </a:ext>
                </a:extLst>
              </a:tr>
              <a:tr h="601133">
                <a:tc>
                  <a:txBody>
                    <a:bodyPr/>
                    <a:lstStyle/>
                    <a:p>
                      <a:r>
                        <a:rPr lang="en-US" sz="2800" b="0" dirty="0" smtClean="0">
                          <a:latin typeface="Times New Roman" pitchFamily="18" charset="0"/>
                          <a:cs typeface="Times New Roman" pitchFamily="18" charset="0"/>
                        </a:rPr>
                        <a:t>1.</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Content</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1"/>
                  </a:ext>
                </a:extLst>
              </a:tr>
              <a:tr h="601133">
                <a:tc>
                  <a:txBody>
                    <a:bodyPr/>
                    <a:lstStyle/>
                    <a:p>
                      <a:r>
                        <a:rPr lang="en-US" sz="2800" b="0" dirty="0" smtClean="0">
                          <a:latin typeface="Times New Roman" pitchFamily="18" charset="0"/>
                          <a:cs typeface="Times New Roman" pitchFamily="18" charset="0"/>
                        </a:rPr>
                        <a:t>2.</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Unit Objective(s)</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2"/>
                  </a:ext>
                </a:extLst>
              </a:tr>
              <a:tr h="601133">
                <a:tc>
                  <a:txBody>
                    <a:bodyPr/>
                    <a:lstStyle/>
                    <a:p>
                      <a:r>
                        <a:rPr lang="en-US" sz="2800" b="0" dirty="0" smtClean="0">
                          <a:latin typeface="Times New Roman" pitchFamily="18" charset="0"/>
                          <a:cs typeface="Times New Roman" pitchFamily="18" charset="0"/>
                        </a:rPr>
                        <a:t>3.</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Course Outcome(s)</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3"/>
                  </a:ext>
                </a:extLst>
              </a:tr>
              <a:tr h="601133">
                <a:tc>
                  <a:txBody>
                    <a:bodyPr/>
                    <a:lstStyle/>
                    <a:p>
                      <a:r>
                        <a:rPr lang="en-US" sz="2800" b="0" dirty="0" smtClean="0">
                          <a:latin typeface="Times New Roman" pitchFamily="18" charset="0"/>
                          <a:cs typeface="Times New Roman" pitchFamily="18" charset="0"/>
                        </a:rPr>
                        <a:t>4.</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CO-PO</a:t>
                      </a:r>
                      <a:r>
                        <a:rPr lang="en-US" sz="2800" b="0" baseline="0" dirty="0" smtClean="0">
                          <a:latin typeface="Times New Roman" pitchFamily="18" charset="0"/>
                          <a:cs typeface="Times New Roman" pitchFamily="18" charset="0"/>
                        </a:rPr>
                        <a:t> Mapping</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4"/>
                  </a:ext>
                </a:extLst>
              </a:tr>
              <a:tr h="601133">
                <a:tc>
                  <a:txBody>
                    <a:bodyPr/>
                    <a:lstStyle/>
                    <a:p>
                      <a:r>
                        <a:rPr lang="en-US" sz="2800" b="0" dirty="0" smtClean="0">
                          <a:latin typeface="Times New Roman" pitchFamily="18" charset="0"/>
                          <a:cs typeface="Times New Roman" pitchFamily="18" charset="0"/>
                        </a:rPr>
                        <a:t>5.</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Requisite &amp; Recap</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5"/>
                  </a:ext>
                </a:extLst>
              </a:tr>
              <a:tr h="601133">
                <a:tc>
                  <a:txBody>
                    <a:bodyPr/>
                    <a:lstStyle/>
                    <a:p>
                      <a:r>
                        <a:rPr lang="en-US" sz="2800" b="0" dirty="0" smtClean="0">
                          <a:latin typeface="Times New Roman" pitchFamily="18" charset="0"/>
                          <a:cs typeface="Times New Roman" pitchFamily="18" charset="0"/>
                        </a:rPr>
                        <a:t>6.</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Objectives of Topic/Session</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6"/>
                  </a:ext>
                </a:extLst>
              </a:tr>
              <a:tr h="601133">
                <a:tc>
                  <a:txBody>
                    <a:bodyPr/>
                    <a:lstStyle/>
                    <a:p>
                      <a:r>
                        <a:rPr lang="en-US" sz="2800" b="0" dirty="0" smtClean="0">
                          <a:latin typeface="Times New Roman" pitchFamily="18" charset="0"/>
                          <a:cs typeface="Times New Roman" pitchFamily="18" charset="0"/>
                        </a:rPr>
                        <a:t>7.</a:t>
                      </a:r>
                      <a:endParaRPr lang="en-US" sz="2800" b="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Topic Mapping with course outcomes</a:t>
                      </a:r>
                    </a:p>
                  </a:txBody>
                  <a:tcPr/>
                </a:tc>
                <a:extLst>
                  <a:ext uri="{0D108BD9-81ED-4DB2-BD59-A6C34878D82A}">
                    <a16:rowId xmlns:a16="http://schemas.microsoft.com/office/drawing/2014/main" xmlns="" val="10007"/>
                  </a:ext>
                </a:extLst>
              </a:tr>
              <a:tr h="601133">
                <a:tc>
                  <a:txBody>
                    <a:bodyPr/>
                    <a:lstStyle/>
                    <a:p>
                      <a:r>
                        <a:rPr lang="en-US" sz="2800" b="0" dirty="0" smtClean="0">
                          <a:latin typeface="Times New Roman" pitchFamily="18" charset="0"/>
                          <a:cs typeface="Times New Roman" pitchFamily="18" charset="0"/>
                        </a:rPr>
                        <a:t>8.</a:t>
                      </a:r>
                      <a:endParaRPr lang="en-US" sz="28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0" dirty="0" smtClean="0">
                          <a:latin typeface="Times New Roman" pitchFamily="18" charset="0"/>
                          <a:cs typeface="Times New Roman" pitchFamily="18" charset="0"/>
                        </a:rPr>
                        <a:t>Lecture</a:t>
                      </a:r>
                    </a:p>
                  </a:txBody>
                  <a:tcPr/>
                </a:tc>
                <a:extLst>
                  <a:ext uri="{0D108BD9-81ED-4DB2-BD59-A6C34878D82A}">
                    <a16:rowId xmlns:a16="http://schemas.microsoft.com/office/drawing/2014/main" xmlns="" val="10008"/>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533400" y="1143000"/>
          <a:ext cx="8229600" cy="5029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20000"/>
                    </a:ext>
                  </a:extLst>
                </a:gridCol>
                <a:gridCol w="6705600">
                  <a:extLst>
                    <a:ext uri="{9D8B030D-6E8A-4147-A177-3AD203B41FA5}">
                      <a16:colId xmlns:a16="http://schemas.microsoft.com/office/drawing/2014/main" xmlns="" val="20001"/>
                    </a:ext>
                  </a:extLst>
                </a:gridCol>
              </a:tblGrid>
              <a:tr h="628650">
                <a:tc>
                  <a:txBody>
                    <a:bodyPr/>
                    <a:lstStyle/>
                    <a:p>
                      <a:r>
                        <a:rPr lang="en-US" sz="2200" dirty="0" smtClean="0"/>
                        <a:t>S. No.</a:t>
                      </a:r>
                      <a:endParaRPr lang="en-US" sz="2200" dirty="0"/>
                    </a:p>
                  </a:txBody>
                  <a:tcPr/>
                </a:tc>
                <a:tc>
                  <a:txBody>
                    <a:bodyPr/>
                    <a:lstStyle/>
                    <a:p>
                      <a:pPr algn="l"/>
                      <a:r>
                        <a:rPr lang="en-US" sz="2200" dirty="0" smtClean="0"/>
                        <a:t>Index</a:t>
                      </a:r>
                      <a:endParaRPr lang="en-US" sz="2200" dirty="0"/>
                    </a:p>
                  </a:txBody>
                  <a:tcPr/>
                </a:tc>
                <a:extLst>
                  <a:ext uri="{0D108BD9-81ED-4DB2-BD59-A6C34878D82A}">
                    <a16:rowId xmlns:a16="http://schemas.microsoft.com/office/drawing/2014/main" xmlns="" val="10000"/>
                  </a:ext>
                </a:extLst>
              </a:tr>
              <a:tr h="628650">
                <a:tc>
                  <a:txBody>
                    <a:bodyPr/>
                    <a:lstStyle/>
                    <a:p>
                      <a:r>
                        <a:rPr lang="en-US" sz="2800" b="0" dirty="0" smtClean="0">
                          <a:latin typeface="Times New Roman" pitchFamily="18" charset="0"/>
                          <a:cs typeface="Times New Roman" pitchFamily="18" charset="0"/>
                        </a:rPr>
                        <a:t>9.</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Video Links</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1"/>
                  </a:ext>
                </a:extLst>
              </a:tr>
              <a:tr h="628650">
                <a:tc>
                  <a:txBody>
                    <a:bodyPr/>
                    <a:lstStyle/>
                    <a:p>
                      <a:r>
                        <a:rPr lang="en-US" sz="2800" b="0" dirty="0" smtClean="0">
                          <a:latin typeface="Times New Roman" pitchFamily="18" charset="0"/>
                          <a:cs typeface="Times New Roman" pitchFamily="18" charset="0"/>
                        </a:rPr>
                        <a:t>10.</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Daily Quiz</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2"/>
                  </a:ext>
                </a:extLst>
              </a:tr>
              <a:tr h="628650">
                <a:tc>
                  <a:txBody>
                    <a:bodyPr/>
                    <a:lstStyle/>
                    <a:p>
                      <a:r>
                        <a:rPr lang="en-US" sz="2800" b="0" dirty="0" smtClean="0">
                          <a:latin typeface="Times New Roman" pitchFamily="18" charset="0"/>
                          <a:cs typeface="Times New Roman" pitchFamily="18" charset="0"/>
                        </a:rPr>
                        <a:t>11.</a:t>
                      </a:r>
                      <a:endParaRPr lang="en-US" sz="28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0" dirty="0" smtClean="0">
                          <a:latin typeface="Times New Roman" pitchFamily="18" charset="0"/>
                          <a:cs typeface="Times New Roman" pitchFamily="18" charset="0"/>
                        </a:rPr>
                        <a:t>MCQs</a:t>
                      </a:r>
                    </a:p>
                  </a:txBody>
                  <a:tcPr/>
                </a:tc>
                <a:extLst>
                  <a:ext uri="{0D108BD9-81ED-4DB2-BD59-A6C34878D82A}">
                    <a16:rowId xmlns:a16="http://schemas.microsoft.com/office/drawing/2014/main" xmlns="" val="10003"/>
                  </a:ext>
                </a:extLst>
              </a:tr>
              <a:tr h="628650">
                <a:tc>
                  <a:txBody>
                    <a:bodyPr/>
                    <a:lstStyle/>
                    <a:p>
                      <a:r>
                        <a:rPr lang="en-US" sz="2800" b="0" dirty="0" smtClean="0">
                          <a:latin typeface="Times New Roman" pitchFamily="18" charset="0"/>
                          <a:cs typeface="Times New Roman" pitchFamily="18" charset="0"/>
                        </a:rPr>
                        <a:t>12.</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Assignment</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4"/>
                  </a:ext>
                </a:extLst>
              </a:tr>
              <a:tr h="628650">
                <a:tc>
                  <a:txBody>
                    <a:bodyPr/>
                    <a:lstStyle/>
                    <a:p>
                      <a:r>
                        <a:rPr lang="en-US" sz="2800" b="0" dirty="0" smtClean="0">
                          <a:latin typeface="Times New Roman" pitchFamily="18" charset="0"/>
                          <a:cs typeface="Times New Roman" pitchFamily="18" charset="0"/>
                        </a:rPr>
                        <a:t>13.</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Old Question Papers/Expected Questions</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5"/>
                  </a:ext>
                </a:extLst>
              </a:tr>
              <a:tr h="628650">
                <a:tc>
                  <a:txBody>
                    <a:bodyPr/>
                    <a:lstStyle/>
                    <a:p>
                      <a:r>
                        <a:rPr lang="en-US" sz="2800" b="0" dirty="0" smtClean="0">
                          <a:latin typeface="Times New Roman" pitchFamily="18" charset="0"/>
                          <a:cs typeface="Times New Roman" pitchFamily="18" charset="0"/>
                        </a:rPr>
                        <a:t>14.</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Summary</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6"/>
                  </a:ext>
                </a:extLst>
              </a:tr>
              <a:tr h="628650">
                <a:tc>
                  <a:txBody>
                    <a:bodyPr/>
                    <a:lstStyle/>
                    <a:p>
                      <a:r>
                        <a:rPr lang="en-US" sz="2800" b="0" dirty="0" smtClean="0">
                          <a:latin typeface="Times New Roman" pitchFamily="18" charset="0"/>
                          <a:cs typeface="Times New Roman" pitchFamily="18" charset="0"/>
                        </a:rPr>
                        <a:t>15.</a:t>
                      </a:r>
                      <a:endParaRPr lang="en-US" sz="2800" b="0" dirty="0">
                        <a:latin typeface="Times New Roman" pitchFamily="18" charset="0"/>
                        <a:cs typeface="Times New Roman" pitchFamily="18" charset="0"/>
                      </a:endParaRPr>
                    </a:p>
                  </a:txBody>
                  <a:tcPr/>
                </a:tc>
                <a:tc>
                  <a:txBody>
                    <a:bodyPr/>
                    <a:lstStyle/>
                    <a:p>
                      <a:r>
                        <a:rPr lang="en-US" sz="2800" b="0" dirty="0" smtClean="0">
                          <a:latin typeface="Times New Roman" pitchFamily="18" charset="0"/>
                          <a:cs typeface="Times New Roman" pitchFamily="18" charset="0"/>
                        </a:rPr>
                        <a:t>References</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7"/>
                  </a:ext>
                </a:extLst>
              </a:tr>
            </a:tbl>
          </a:graphicData>
        </a:graphic>
      </p:graphicFrame>
      <p:sp>
        <p:nvSpPr>
          <p:cNvPr id="4" name="Date Placeholder 3"/>
          <p:cNvSpPr>
            <a:spLocks noGrp="1"/>
          </p:cNvSpPr>
          <p:nvPr>
            <p:ph type="dt" sz="half" idx="10"/>
          </p:nvPr>
        </p:nvSpPr>
        <p:spPr/>
        <p:txBody>
          <a:bodyPr/>
          <a:lstStyle/>
          <a:p>
            <a:fld id="{1E1057FE-0542-45B2-9BD6-189ED23AB623}"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latin typeface="Times New Roman" pitchFamily="18" charset="0"/>
                <a:cs typeface="Times New Roman" pitchFamily="18" charset="0"/>
              </a:rPr>
              <a:t>Index/Content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457200" indent="-457200" algn="just"/>
            <a:r>
              <a:rPr lang="en-IN" sz="2400" b="1" dirty="0" smtClean="0">
                <a:latin typeface="+mj-lt"/>
                <a:cs typeface="Times New Roman" pitchFamily="18" charset="0"/>
              </a:rPr>
              <a:t>Introduction to </a:t>
            </a:r>
            <a:r>
              <a:rPr lang="en-US" sz="2400" b="1" dirty="0" smtClean="0"/>
              <a:t>Pre-Vedic and Vedic Religion:</a:t>
            </a:r>
            <a:endParaRPr lang="en-US" sz="2400" b="1" dirty="0" smtClean="0">
              <a:latin typeface="+mj-lt"/>
            </a:endParaRPr>
          </a:p>
          <a:p>
            <a:pPr marL="457200" indent="-457200" algn="just"/>
            <a:r>
              <a:rPr lang="en-US" sz="2400" dirty="0" smtClean="0"/>
              <a:t>Pre-Vedic and Vedic Religion </a:t>
            </a:r>
          </a:p>
          <a:p>
            <a:pPr marL="457200" indent="-457200" algn="just"/>
            <a:r>
              <a:rPr lang="en-US" sz="2400" dirty="0" smtClean="0"/>
              <a:t>Buddhism  and Jainism</a:t>
            </a:r>
          </a:p>
          <a:p>
            <a:pPr marL="457200" indent="-457200" algn="just"/>
            <a:r>
              <a:rPr lang="en-US" sz="2400" dirty="0" smtClean="0"/>
              <a:t>Six System Indian Philosophy</a:t>
            </a:r>
          </a:p>
          <a:p>
            <a:pPr marL="457200" indent="-457200" algn="just"/>
            <a:r>
              <a:rPr lang="en-US" sz="2400" dirty="0" smtClean="0"/>
              <a:t>Shankaracharya</a:t>
            </a:r>
          </a:p>
          <a:p>
            <a:pPr marL="457200" indent="-457200" algn="just"/>
            <a:r>
              <a:rPr lang="en-US" sz="2400" dirty="0" smtClean="0"/>
              <a:t>Various Philosophical Doctrines </a:t>
            </a:r>
          </a:p>
          <a:p>
            <a:pPr marL="457200" indent="-457200" algn="just"/>
            <a:r>
              <a:rPr lang="en-US" sz="2400" dirty="0" smtClean="0"/>
              <a:t>Other Heterodox Sects</a:t>
            </a:r>
          </a:p>
          <a:p>
            <a:pPr marL="457200" indent="-457200" algn="just"/>
            <a:r>
              <a:rPr lang="en-US" sz="2400" dirty="0" smtClean="0"/>
              <a:t>Bhakti Movement, Sufi movement, Socio religious reform movement of 19</a:t>
            </a:r>
            <a:r>
              <a:rPr lang="en-US" sz="2400" baseline="30000" dirty="0" smtClean="0"/>
              <a:t>th</a:t>
            </a:r>
            <a:r>
              <a:rPr lang="en-US" sz="2400" dirty="0" smtClean="0"/>
              <a:t> century and </a:t>
            </a:r>
          </a:p>
          <a:p>
            <a:pPr marL="457200" indent="-457200" algn="just"/>
            <a:r>
              <a:rPr lang="en-US" sz="2400" dirty="0" smtClean="0"/>
              <a:t>Modern religious practices.</a:t>
            </a:r>
          </a:p>
          <a:p>
            <a:pPr marL="457200" indent="-457200" algn="just"/>
            <a:endParaRPr lang="en-US" sz="2400" spc="-5" dirty="0" smtClean="0">
              <a:latin typeface="+mj-lt"/>
              <a:cs typeface="Times New Roman" pitchFamily="18" charset="0"/>
            </a:endParaRPr>
          </a:p>
        </p:txBody>
      </p:sp>
      <p:sp>
        <p:nvSpPr>
          <p:cNvPr id="4" name="Date Placeholder 3"/>
          <p:cNvSpPr>
            <a:spLocks noGrp="1"/>
          </p:cNvSpPr>
          <p:nvPr>
            <p:ph type="dt" sz="half" idx="10"/>
          </p:nvPr>
        </p:nvSpPr>
        <p:spPr/>
        <p:txBody>
          <a:bodyPr/>
          <a:lstStyle/>
          <a:p>
            <a:fld id="{C9CEE5EE-8F48-42CB-961F-8F85B37A7A6B}"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latin typeface="Times New Roman" pitchFamily="18" charset="0"/>
                <a:cs typeface="Times New Roman" pitchFamily="18" charset="0"/>
              </a:rPr>
              <a:t>Content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610600" cy="5029200"/>
          </a:xfrm>
        </p:spPr>
        <p:txBody>
          <a:bodyPr>
            <a:normAutofit/>
          </a:bodyPr>
          <a:lstStyle/>
          <a:p>
            <a:r>
              <a:rPr lang="en-US" sz="2800" dirty="0" smtClean="0"/>
              <a:t>To enable the students to understand </a:t>
            </a:r>
          </a:p>
          <a:p>
            <a:r>
              <a:rPr lang="en-US" sz="2800" dirty="0" smtClean="0"/>
              <a:t>Pre-Vedic and Vedic Religion </a:t>
            </a:r>
          </a:p>
          <a:p>
            <a:pPr lvl="0"/>
            <a:r>
              <a:rPr lang="en-US" sz="2800" dirty="0" smtClean="0"/>
              <a:t>To sensitize students towards Bhakti Movement</a:t>
            </a:r>
          </a:p>
          <a:p>
            <a:r>
              <a:rPr lang="en-US" sz="2800" dirty="0" smtClean="0"/>
              <a:t>To aware the students about modern religious practices.</a:t>
            </a:r>
          </a:p>
          <a:p>
            <a:pPr lvl="0">
              <a:buNone/>
            </a:pPr>
            <a:endParaRPr lang="en-US" sz="2800" dirty="0" smtClean="0"/>
          </a:p>
          <a:p>
            <a:pPr>
              <a:buFont typeface="Symbol"/>
              <a:buChar char="·"/>
            </a:pPr>
            <a:endParaRPr lang="en-IN" sz="2800" dirty="0" smtClean="0">
              <a:latin typeface="Times New Roman" pitchFamily="18" charset="0"/>
              <a:cs typeface="Times New Roman" pitchFamily="18" charset="0"/>
            </a:endParaRPr>
          </a:p>
          <a:p>
            <a:pPr>
              <a:buFont typeface="Symbol"/>
              <a:buChar char="·"/>
            </a:pP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622F4EB-CFDB-4F76-9277-39DDB66BC713}"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Unit Objective(s)</a:t>
            </a:r>
            <a:endParaRPr lang="en-US" sz="2800" b="1" dirty="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IN" sz="2800" b="1" dirty="0" smtClean="0">
                <a:latin typeface="Times New Roman" pitchFamily="18" charset="0"/>
                <a:cs typeface="Times New Roman" pitchFamily="18" charset="0"/>
              </a:rPr>
              <a:t>CO3. </a:t>
            </a:r>
            <a:r>
              <a:rPr lang="en-US" sz="2800" dirty="0" smtClean="0"/>
              <a:t>Ability to understand, Pre-Vedic and Vedic Religion.</a:t>
            </a:r>
            <a:endParaRPr lang="en-IN" sz="28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DCF2162-5540-44DD-BC6D-FF34E51B9F88}" type="datetime1">
              <a:rPr lang="en-US" smtClean="0"/>
              <a:pPr/>
              <a:t>3/26/2022</a:t>
            </a:fld>
            <a:endParaRPr lang="en-US" dirty="0"/>
          </a:p>
        </p:txBody>
      </p:sp>
      <p:sp>
        <p:nvSpPr>
          <p:cNvPr id="5" name="Footer Placeholder 4"/>
          <p:cNvSpPr>
            <a:spLocks noGrp="1"/>
          </p:cNvSpPr>
          <p:nvPr>
            <p:ph type="ftr" sz="quarter" idx="11"/>
          </p:nvPr>
        </p:nvSpPr>
        <p:spPr>
          <a:xfrm>
            <a:off x="1447800" y="6356350"/>
            <a:ext cx="6705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Course</a:t>
            </a:r>
            <a:r>
              <a:rPr kumimoji="0" lang="en-US" sz="2800" b="1" i="0" u="none" strike="noStrike" kern="1200" cap="none" spc="0" normalizeH="0" noProof="0" dirty="0" smtClean="0">
                <a:ln>
                  <a:noFill/>
                </a:ln>
                <a:solidFill>
                  <a:schemeClr val="dk1"/>
                </a:solidFill>
                <a:effectLst/>
                <a:uLnTx/>
                <a:uFillTx/>
                <a:latin typeface="Times New Roman" pitchFamily="18" charset="0"/>
                <a:cs typeface="Times New Roman" pitchFamily="18" charset="0"/>
              </a:rPr>
              <a:t> Outcome</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BB6EAF6-8E8B-4A73-92C8-76A30D7FFF0B}" type="datetime1">
              <a:rPr lang="en-US" smtClean="0"/>
              <a:pPr/>
              <a:t>3/26/2022</a:t>
            </a:fld>
            <a:endParaRPr lang="en-US" dirty="0"/>
          </a:p>
        </p:txBody>
      </p:sp>
      <p:sp>
        <p:nvSpPr>
          <p:cNvPr id="5" name="Footer Placeholder 4"/>
          <p:cNvSpPr>
            <a:spLocks noGrp="1"/>
          </p:cNvSpPr>
          <p:nvPr>
            <p:ph type="ftr" sz="quarter" idx="11"/>
          </p:nvPr>
        </p:nvSpPr>
        <p:spPr>
          <a:xfrm>
            <a:off x="1676400" y="6172200"/>
            <a:ext cx="6477000" cy="54927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CO-PO and PSO Mapping</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10" name="Table 9"/>
          <p:cNvGraphicFramePr>
            <a:graphicFrameLocks noGrp="1"/>
          </p:cNvGraphicFramePr>
          <p:nvPr/>
        </p:nvGraphicFramePr>
        <p:xfrm>
          <a:off x="609600" y="2057400"/>
          <a:ext cx="7823518" cy="20421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xmlns="" val="20000"/>
                    </a:ext>
                  </a:extLst>
                </a:gridCol>
                <a:gridCol w="1219200">
                  <a:extLst>
                    <a:ext uri="{9D8B030D-6E8A-4147-A177-3AD203B41FA5}">
                      <a16:colId xmlns:a16="http://schemas.microsoft.com/office/drawing/2014/main" xmlns="" val="20001"/>
                    </a:ext>
                  </a:extLst>
                </a:gridCol>
                <a:gridCol w="609600">
                  <a:extLst>
                    <a:ext uri="{9D8B030D-6E8A-4147-A177-3AD203B41FA5}">
                      <a16:colId xmlns:a16="http://schemas.microsoft.com/office/drawing/2014/main" xmlns="" val="20002"/>
                    </a:ext>
                  </a:extLst>
                </a:gridCol>
                <a:gridCol w="1295400">
                  <a:extLst>
                    <a:ext uri="{9D8B030D-6E8A-4147-A177-3AD203B41FA5}">
                      <a16:colId xmlns:a16="http://schemas.microsoft.com/office/drawing/2014/main" xmlns="" val="20003"/>
                    </a:ext>
                  </a:extLst>
                </a:gridCol>
                <a:gridCol w="914400">
                  <a:extLst>
                    <a:ext uri="{9D8B030D-6E8A-4147-A177-3AD203B41FA5}">
                      <a16:colId xmlns:a16="http://schemas.microsoft.com/office/drawing/2014/main" xmlns="" val="20004"/>
                    </a:ext>
                  </a:extLst>
                </a:gridCol>
                <a:gridCol w="990600">
                  <a:extLst>
                    <a:ext uri="{9D8B030D-6E8A-4147-A177-3AD203B41FA5}">
                      <a16:colId xmlns:a16="http://schemas.microsoft.com/office/drawing/2014/main" xmlns="" val="20005"/>
                    </a:ext>
                  </a:extLst>
                </a:gridCol>
                <a:gridCol w="838200">
                  <a:extLst>
                    <a:ext uri="{9D8B030D-6E8A-4147-A177-3AD203B41FA5}">
                      <a16:colId xmlns:a16="http://schemas.microsoft.com/office/drawing/2014/main" xmlns="" val="20006"/>
                    </a:ext>
                  </a:extLst>
                </a:gridCol>
                <a:gridCol w="813118">
                  <a:extLst>
                    <a:ext uri="{9D8B030D-6E8A-4147-A177-3AD203B41FA5}">
                      <a16:colId xmlns:a16="http://schemas.microsoft.com/office/drawing/2014/main" xmlns="" val="20007"/>
                    </a:ext>
                  </a:extLst>
                </a:gridCol>
              </a:tblGrid>
              <a:tr h="305642">
                <a:tc rowSpan="2">
                  <a:txBody>
                    <a:bodyPr/>
                    <a:lstStyle/>
                    <a:p>
                      <a:endParaRPr lang="en-US" sz="2200" b="1" dirty="0" smtClean="0">
                        <a:solidFill>
                          <a:schemeClr val="bg1"/>
                        </a:solidFill>
                      </a:endParaRPr>
                    </a:p>
                    <a:p>
                      <a:r>
                        <a:rPr lang="en-US" sz="2200" b="1" dirty="0" smtClean="0">
                          <a:solidFill>
                            <a:schemeClr val="bg1"/>
                          </a:solidFill>
                        </a:rPr>
                        <a:t> Unit-III</a:t>
                      </a:r>
                      <a:endParaRPr lang="en-US" sz="2200" b="1" dirty="0">
                        <a:solidFill>
                          <a:schemeClr val="bg1"/>
                        </a:solidFill>
                      </a:endParaRPr>
                    </a:p>
                  </a:txBody>
                  <a:tcPr/>
                </a:tc>
                <a:tc rowSpan="2">
                  <a:txBody>
                    <a:bodyPr/>
                    <a:lstStyle/>
                    <a:p>
                      <a:endParaRPr lang="en-US" sz="2200" b="1" dirty="0" smtClean="0">
                        <a:solidFill>
                          <a:schemeClr val="bg1"/>
                        </a:solidFill>
                      </a:endParaRPr>
                    </a:p>
                    <a:p>
                      <a:r>
                        <a:rPr lang="en-US" sz="2200" b="1" dirty="0" smtClean="0">
                          <a:solidFill>
                            <a:schemeClr val="bg1"/>
                          </a:solidFill>
                        </a:rPr>
                        <a:t>   So. No.</a:t>
                      </a:r>
                      <a:endParaRPr lang="en-US" sz="2200" b="1" dirty="0">
                        <a:solidFill>
                          <a:schemeClr val="bg1"/>
                        </a:solidFill>
                      </a:endParaRPr>
                    </a:p>
                  </a:txBody>
                  <a:tcPr/>
                </a:tc>
                <a:tc gridSpan="6">
                  <a:txBody>
                    <a:bodyPr/>
                    <a:lstStyle/>
                    <a:p>
                      <a:pPr algn="ctr"/>
                      <a:r>
                        <a:rPr lang="en-US" sz="2200" b="1" dirty="0" smtClean="0">
                          <a:solidFill>
                            <a:schemeClr val="bg1"/>
                          </a:solidFill>
                        </a:rPr>
                        <a:t>Mapping</a:t>
                      </a:r>
                      <a:endParaRPr lang="en-US" sz="2200" b="1" dirty="0">
                        <a:solidFill>
                          <a:schemeClr val="bg1"/>
                        </a:solidFill>
                      </a:endParaRPr>
                    </a:p>
                  </a:txBody>
                  <a:tcPr/>
                </a:tc>
                <a:tc hMerge="1">
                  <a:txBody>
                    <a:bodyPr/>
                    <a:lstStyle/>
                    <a:p>
                      <a:endParaRPr lang="en-US"/>
                    </a:p>
                  </a:txBody>
                  <a:tcPr/>
                </a:tc>
                <a:tc hMerge="1">
                  <a:txBody>
                    <a:bodyPr/>
                    <a:lstStyle/>
                    <a:p>
                      <a:endParaRPr lang="en-US" dirty="0">
                        <a:solidFill>
                          <a:schemeClr val="bg1"/>
                        </a:solidFill>
                      </a:endParaRPr>
                    </a:p>
                  </a:txBody>
                  <a:tcPr/>
                </a:tc>
                <a:tc hMerge="1">
                  <a:txBody>
                    <a:bodyPr/>
                    <a:lstStyle/>
                    <a:p>
                      <a:endParaRPr lang="en-US"/>
                    </a:p>
                  </a:txBody>
                  <a:tcPr/>
                </a:tc>
                <a:tc hMerge="1">
                  <a:txBody>
                    <a:bodyPr/>
                    <a:lstStyle/>
                    <a:p>
                      <a:endParaRPr lang="en-US" dirty="0">
                        <a:solidFill>
                          <a:schemeClr val="bg1"/>
                        </a:solidFill>
                      </a:endParaRPr>
                    </a:p>
                  </a:txBody>
                  <a:tcPr/>
                </a:tc>
                <a:tc hMerge="1">
                  <a:txBody>
                    <a:bodyPr/>
                    <a:lstStyle/>
                    <a:p>
                      <a:pPr algn="ctr"/>
                      <a:endParaRPr lang="en-US" sz="2400" b="1" dirty="0">
                        <a:solidFill>
                          <a:schemeClr val="bg1"/>
                        </a:solidFill>
                      </a:endParaRPr>
                    </a:p>
                  </a:txBody>
                  <a:tcPr/>
                </a:tc>
                <a:extLst>
                  <a:ext uri="{0D108BD9-81ED-4DB2-BD59-A6C34878D82A}">
                    <a16:rowId xmlns:a16="http://schemas.microsoft.com/office/drawing/2014/main" xmlns="" val="10000"/>
                  </a:ext>
                </a:extLst>
              </a:tr>
              <a:tr h="427899">
                <a:tc vMerge="1">
                  <a:txBody>
                    <a:bodyPr/>
                    <a:lstStyle/>
                    <a:p>
                      <a:endParaRPr lang="en-US" dirty="0"/>
                    </a:p>
                  </a:txBody>
                  <a:tcPr/>
                </a:tc>
                <a:tc vMerge="1">
                  <a:txBody>
                    <a:bodyPr/>
                    <a:lstStyle/>
                    <a:p>
                      <a:endParaRPr lang="en-US" dirty="0"/>
                    </a:p>
                  </a:txBody>
                  <a:tcPr/>
                </a:tc>
                <a:tc>
                  <a:txBody>
                    <a:bodyPr/>
                    <a:lstStyle/>
                    <a:p>
                      <a:r>
                        <a:rPr lang="en-US" sz="2200" b="1" dirty="0" smtClean="0"/>
                        <a:t>CO</a:t>
                      </a:r>
                      <a:endParaRPr lang="en-US" sz="2200" b="1" dirty="0"/>
                    </a:p>
                  </a:txBody>
                  <a:tcPr/>
                </a:tc>
                <a:tc>
                  <a:txBody>
                    <a:bodyPr/>
                    <a:lstStyle/>
                    <a:p>
                      <a:r>
                        <a:rPr lang="en-US" sz="2200" b="1" dirty="0" smtClean="0"/>
                        <a:t>Level</a:t>
                      </a:r>
                      <a:endParaRPr lang="en-US" sz="22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smtClean="0"/>
                        <a:t>PO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smtClean="0"/>
                        <a:t>Level</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200" b="1" dirty="0" smtClean="0"/>
                    </a:p>
                  </a:txBody>
                  <a:tcPr/>
                </a:tc>
                <a:tc>
                  <a:txBody>
                    <a:bodyPr/>
                    <a:lstStyle/>
                    <a:p>
                      <a:r>
                        <a:rPr lang="en-US" sz="2200" b="1" dirty="0" smtClean="0"/>
                        <a:t>PSO</a:t>
                      </a:r>
                      <a:endParaRPr lang="en-US" sz="22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smtClean="0"/>
                        <a:t>Level</a:t>
                      </a:r>
                    </a:p>
                    <a:p>
                      <a:endParaRPr lang="en-US" sz="2200" b="1" dirty="0"/>
                    </a:p>
                  </a:txBody>
                  <a:tcPr/>
                </a:tc>
                <a:extLst>
                  <a:ext uri="{0D108BD9-81ED-4DB2-BD59-A6C34878D82A}">
                    <a16:rowId xmlns:a16="http://schemas.microsoft.com/office/drawing/2014/main" xmlns="" val="10001"/>
                  </a:ext>
                </a:extLst>
              </a:tr>
              <a:tr h="247910">
                <a:tc>
                  <a:txBody>
                    <a:bodyPr/>
                    <a:lstStyle/>
                    <a:p>
                      <a:r>
                        <a:rPr lang="en-US" sz="2200" b="1" dirty="0" smtClean="0"/>
                        <a:t>         III</a:t>
                      </a:r>
                      <a:endParaRPr lang="en-US" sz="2200" b="1" dirty="0"/>
                    </a:p>
                  </a:txBody>
                  <a:tcPr/>
                </a:tc>
                <a:tc>
                  <a:txBody>
                    <a:bodyPr/>
                    <a:lstStyle/>
                    <a:p>
                      <a:r>
                        <a:rPr lang="en-US" sz="2200" b="1" dirty="0" smtClean="0"/>
                        <a:t>          1</a:t>
                      </a:r>
                      <a:endParaRPr lang="en-US" sz="2200" b="1" dirty="0"/>
                    </a:p>
                  </a:txBody>
                  <a:tcPr/>
                </a:tc>
                <a:tc>
                  <a:txBody>
                    <a:bodyPr/>
                    <a:lstStyle/>
                    <a:p>
                      <a:r>
                        <a:rPr lang="en-US" sz="2200" b="1" dirty="0" smtClean="0"/>
                        <a:t>2</a:t>
                      </a:r>
                      <a:endParaRPr lang="en-US" sz="2200" b="1" dirty="0"/>
                    </a:p>
                  </a:txBody>
                  <a:tcPr/>
                </a:tc>
                <a:tc>
                  <a:txBody>
                    <a:bodyPr/>
                    <a:lstStyle/>
                    <a:p>
                      <a:r>
                        <a:rPr lang="en-US" sz="2200" b="1" dirty="0" smtClean="0"/>
                        <a:t>High</a:t>
                      </a:r>
                      <a:endParaRPr lang="en-US" sz="2200" b="1" dirty="0"/>
                    </a:p>
                  </a:txBody>
                  <a:tcPr/>
                </a:tc>
                <a:tc>
                  <a:txBody>
                    <a:bodyPr/>
                    <a:lstStyle/>
                    <a:p>
                      <a:r>
                        <a:rPr lang="en-US" sz="2200" b="1" dirty="0" smtClean="0"/>
                        <a:t>1</a:t>
                      </a:r>
                      <a:endParaRPr lang="en-US" sz="2200" b="1" dirty="0"/>
                    </a:p>
                  </a:txBody>
                  <a:tcPr/>
                </a:tc>
                <a:tc>
                  <a:txBody>
                    <a:bodyPr/>
                    <a:lstStyle/>
                    <a:p>
                      <a:r>
                        <a:rPr lang="en-US" sz="2200" b="1" dirty="0" smtClean="0"/>
                        <a:t>High</a:t>
                      </a:r>
                      <a:endParaRPr lang="en-US" sz="2200" b="1" dirty="0"/>
                    </a:p>
                  </a:txBody>
                  <a:tcPr/>
                </a:tc>
                <a:tc>
                  <a:txBody>
                    <a:bodyPr/>
                    <a:lstStyle/>
                    <a:p>
                      <a:r>
                        <a:rPr lang="en-US" sz="2200" b="1" dirty="0" smtClean="0"/>
                        <a:t> 1</a:t>
                      </a:r>
                      <a:endParaRPr lang="en-US" sz="2200" b="1" dirty="0"/>
                    </a:p>
                  </a:txBody>
                  <a:tcPr/>
                </a:tc>
                <a:tc>
                  <a:txBody>
                    <a:bodyPr/>
                    <a:lstStyle/>
                    <a:p>
                      <a:r>
                        <a:rPr lang="en-US" sz="2200" b="1" dirty="0" smtClean="0"/>
                        <a:t>High</a:t>
                      </a:r>
                      <a:endParaRPr lang="en-US" sz="2200" b="1" dirty="0"/>
                    </a:p>
                  </a:txBody>
                  <a:tcPr/>
                </a:tc>
                <a:extLst>
                  <a:ext uri="{0D108BD9-81ED-4DB2-BD59-A6C34878D82A}">
                    <a16:rowId xmlns:a16="http://schemas.microsoft.com/office/drawing/2014/main" xmlns="" val="10002"/>
                  </a:ext>
                </a:extLst>
              </a:tr>
              <a:tr h="247910">
                <a:tc>
                  <a:txBody>
                    <a:bodyPr/>
                    <a:lstStyle/>
                    <a:p>
                      <a:endParaRPr lang="en-US" sz="2200" b="1" dirty="0"/>
                    </a:p>
                  </a:txBody>
                  <a:tcPr/>
                </a:tc>
                <a:tc>
                  <a:txBody>
                    <a:bodyPr/>
                    <a:lstStyle/>
                    <a:p>
                      <a:r>
                        <a:rPr lang="en-US" sz="2200" b="1" dirty="0" smtClean="0"/>
                        <a:t>          2</a:t>
                      </a:r>
                      <a:endParaRPr lang="en-US" sz="2200" b="1" dirty="0"/>
                    </a:p>
                  </a:txBody>
                  <a:tcPr/>
                </a:tc>
                <a:tc>
                  <a:txBody>
                    <a:bodyPr/>
                    <a:lstStyle/>
                    <a:p>
                      <a:r>
                        <a:rPr lang="en-US" sz="2200" b="1" dirty="0" smtClean="0"/>
                        <a:t>3</a:t>
                      </a:r>
                      <a:endParaRPr lang="en-US" sz="2200" b="1" dirty="0"/>
                    </a:p>
                  </a:txBody>
                  <a:tcPr/>
                </a:tc>
                <a:tc>
                  <a:txBody>
                    <a:bodyPr/>
                    <a:lstStyle/>
                    <a:p>
                      <a:r>
                        <a:rPr lang="en-US" sz="2200" b="1" dirty="0" smtClean="0"/>
                        <a:t>High</a:t>
                      </a:r>
                      <a:endParaRPr lang="en-US" sz="2200" b="1" dirty="0"/>
                    </a:p>
                  </a:txBody>
                  <a:tcPr/>
                </a:tc>
                <a:tc>
                  <a:txBody>
                    <a:bodyPr/>
                    <a:lstStyle/>
                    <a:p>
                      <a:endParaRPr lang="en-US" sz="2200" b="1" dirty="0"/>
                    </a:p>
                  </a:txBody>
                  <a:tcPr/>
                </a:tc>
                <a:tc>
                  <a:txBody>
                    <a:bodyPr/>
                    <a:lstStyle/>
                    <a:p>
                      <a:endParaRPr lang="en-US" sz="2200" b="1" dirty="0"/>
                    </a:p>
                  </a:txBody>
                  <a:tcPr/>
                </a:tc>
                <a:tc>
                  <a:txBody>
                    <a:bodyPr/>
                    <a:lstStyle/>
                    <a:p>
                      <a:endParaRPr lang="en-US" sz="2200" b="1" dirty="0"/>
                    </a:p>
                  </a:txBody>
                  <a:tcPr/>
                </a:tc>
                <a:tc>
                  <a:txBody>
                    <a:bodyPr/>
                    <a:lstStyle/>
                    <a:p>
                      <a:endParaRPr lang="en-US" sz="2200" b="1" dirty="0"/>
                    </a:p>
                  </a:txBody>
                  <a:tcPr/>
                </a:tc>
                <a:extLst>
                  <a:ext uri="{0D108BD9-81ED-4DB2-BD59-A6C34878D82A}">
                    <a16:rowId xmlns:a16="http://schemas.microsoft.com/office/drawing/2014/main" xmlns="" val="10003"/>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381001" y="1153160"/>
          <a:ext cx="8077199" cy="3474720"/>
        </p:xfrm>
        <a:graphic>
          <a:graphicData uri="http://schemas.openxmlformats.org/drawingml/2006/table">
            <a:tbl>
              <a:tblPr firstRow="1" bandRow="1">
                <a:tableStyleId>{5C22544A-7EE6-4342-B048-85BDC9FD1C3A}</a:tableStyleId>
              </a:tblPr>
              <a:tblGrid>
                <a:gridCol w="914399">
                  <a:extLst>
                    <a:ext uri="{9D8B030D-6E8A-4147-A177-3AD203B41FA5}">
                      <a16:colId xmlns:a16="http://schemas.microsoft.com/office/drawing/2014/main" xmlns="" val="20000"/>
                    </a:ext>
                  </a:extLst>
                </a:gridCol>
                <a:gridCol w="762000">
                  <a:extLst>
                    <a:ext uri="{9D8B030D-6E8A-4147-A177-3AD203B41FA5}">
                      <a16:colId xmlns:a16="http://schemas.microsoft.com/office/drawing/2014/main" xmlns="" val="20001"/>
                    </a:ext>
                  </a:extLst>
                </a:gridCol>
                <a:gridCol w="3733801">
                  <a:extLst>
                    <a:ext uri="{9D8B030D-6E8A-4147-A177-3AD203B41FA5}">
                      <a16:colId xmlns:a16="http://schemas.microsoft.com/office/drawing/2014/main" xmlns="" val="20002"/>
                    </a:ext>
                  </a:extLst>
                </a:gridCol>
                <a:gridCol w="1493121">
                  <a:extLst>
                    <a:ext uri="{9D8B030D-6E8A-4147-A177-3AD203B41FA5}">
                      <a16:colId xmlns:a16="http://schemas.microsoft.com/office/drawing/2014/main" xmlns="" val="20003"/>
                    </a:ext>
                  </a:extLst>
                </a:gridCol>
                <a:gridCol w="1173878">
                  <a:extLst>
                    <a:ext uri="{9D8B030D-6E8A-4147-A177-3AD203B41FA5}">
                      <a16:colId xmlns:a16="http://schemas.microsoft.com/office/drawing/2014/main" xmlns="" val="20004"/>
                    </a:ext>
                  </a:extLst>
                </a:gridCol>
              </a:tblGrid>
              <a:tr h="305642">
                <a:tc rowSpan="2">
                  <a:txBody>
                    <a:bodyPr/>
                    <a:lstStyle/>
                    <a:p>
                      <a:endParaRPr lang="en-US" sz="2200" b="1" dirty="0" smtClean="0">
                        <a:solidFill>
                          <a:schemeClr val="bg1"/>
                        </a:solidFill>
                      </a:endParaRPr>
                    </a:p>
                    <a:p>
                      <a:r>
                        <a:rPr lang="en-US" sz="2200" b="1" dirty="0" smtClean="0">
                          <a:solidFill>
                            <a:schemeClr val="bg1"/>
                          </a:solidFill>
                        </a:rPr>
                        <a:t> Unit-III</a:t>
                      </a:r>
                      <a:endParaRPr lang="en-US" sz="2200" b="1" dirty="0">
                        <a:solidFill>
                          <a:schemeClr val="bg1"/>
                        </a:solidFill>
                      </a:endParaRPr>
                    </a:p>
                  </a:txBody>
                  <a:tcPr/>
                </a:tc>
                <a:tc rowSpan="2">
                  <a:txBody>
                    <a:bodyPr/>
                    <a:lstStyle/>
                    <a:p>
                      <a:endParaRPr lang="en-US" sz="2200" b="1" dirty="0" smtClean="0">
                        <a:solidFill>
                          <a:schemeClr val="bg1"/>
                        </a:solidFill>
                      </a:endParaRPr>
                    </a:p>
                    <a:p>
                      <a:r>
                        <a:rPr lang="en-US" sz="2200" b="1" dirty="0" smtClean="0">
                          <a:solidFill>
                            <a:schemeClr val="bg1"/>
                          </a:solidFill>
                        </a:rPr>
                        <a:t>   So. No.</a:t>
                      </a:r>
                      <a:endParaRPr lang="en-US" sz="2200" b="1" dirty="0">
                        <a:solidFill>
                          <a:schemeClr val="bg1"/>
                        </a:solidFill>
                      </a:endParaRPr>
                    </a:p>
                  </a:txBody>
                  <a:tcPr/>
                </a:tc>
                <a:tc gridSpan="3">
                  <a:txBody>
                    <a:bodyPr/>
                    <a:lstStyle/>
                    <a:p>
                      <a:pPr algn="ctr"/>
                      <a:r>
                        <a:rPr lang="en-US" sz="2200" b="1" dirty="0" smtClean="0">
                          <a:solidFill>
                            <a:schemeClr val="bg1"/>
                          </a:solidFill>
                        </a:rPr>
                        <a:t>Mapping</a:t>
                      </a:r>
                      <a:endParaRPr lang="en-US" sz="2200" b="1" dirty="0">
                        <a:solidFill>
                          <a:schemeClr val="bg1"/>
                        </a:solidFill>
                      </a:endParaRPr>
                    </a:p>
                  </a:txBody>
                  <a:tcPr/>
                </a:tc>
                <a:tc hMerge="1">
                  <a:txBody>
                    <a:bodyPr/>
                    <a:lstStyle/>
                    <a:p>
                      <a:endParaRPr lang="en-US"/>
                    </a:p>
                  </a:txBody>
                  <a:tcPr/>
                </a:tc>
                <a:tc hMerge="1">
                  <a:txBody>
                    <a:bodyPr/>
                    <a:lstStyle/>
                    <a:p>
                      <a:pPr algn="ctr"/>
                      <a:endParaRPr lang="en-US" sz="2200" b="1" dirty="0">
                        <a:solidFill>
                          <a:schemeClr val="bg1"/>
                        </a:solidFill>
                      </a:endParaRPr>
                    </a:p>
                  </a:txBody>
                  <a:tcPr/>
                </a:tc>
                <a:extLst>
                  <a:ext uri="{0D108BD9-81ED-4DB2-BD59-A6C34878D82A}">
                    <a16:rowId xmlns:a16="http://schemas.microsoft.com/office/drawing/2014/main" xmlns="" val="10000"/>
                  </a:ext>
                </a:extLst>
              </a:tr>
              <a:tr h="427899">
                <a:tc vMerge="1">
                  <a:txBody>
                    <a:bodyPr/>
                    <a:lstStyle/>
                    <a:p>
                      <a:endParaRPr lang="en-US" dirty="0"/>
                    </a:p>
                  </a:txBody>
                  <a:tcPr/>
                </a:tc>
                <a:tc vMerge="1">
                  <a:txBody>
                    <a:bodyPr/>
                    <a:lstStyle/>
                    <a:p>
                      <a:endParaRPr lang="en-US" dirty="0"/>
                    </a:p>
                  </a:txBody>
                  <a:tcPr/>
                </a:tc>
                <a:tc>
                  <a:txBody>
                    <a:bodyPr/>
                    <a:lstStyle/>
                    <a:p>
                      <a:r>
                        <a:rPr lang="en-US" sz="2200" b="1" dirty="0" smtClean="0"/>
                        <a:t>                      Topic</a:t>
                      </a:r>
                      <a:endParaRPr lang="en-US" sz="2200" b="1" dirty="0"/>
                    </a:p>
                  </a:txBody>
                  <a:tcPr/>
                </a:tc>
                <a:tc>
                  <a:txBody>
                    <a:bodyPr/>
                    <a:lstStyle/>
                    <a:p>
                      <a:r>
                        <a:rPr lang="en-US" sz="2200" b="1" dirty="0" smtClean="0"/>
                        <a:t>Course Outcomes</a:t>
                      </a:r>
                      <a:endParaRPr lang="en-US" sz="2200" b="1" dirty="0"/>
                    </a:p>
                  </a:txBody>
                  <a:tcPr/>
                </a:tc>
                <a:tc>
                  <a:txBody>
                    <a:bodyPr/>
                    <a:lstStyle/>
                    <a:p>
                      <a:r>
                        <a:rPr lang="en-US" sz="2200" b="1" dirty="0" smtClean="0"/>
                        <a:t>Level</a:t>
                      </a:r>
                      <a:endParaRPr lang="en-US" sz="2200" b="1" dirty="0"/>
                    </a:p>
                  </a:txBody>
                  <a:tcPr/>
                </a:tc>
                <a:extLst>
                  <a:ext uri="{0D108BD9-81ED-4DB2-BD59-A6C34878D82A}">
                    <a16:rowId xmlns:a16="http://schemas.microsoft.com/office/drawing/2014/main" xmlns="" val="10001"/>
                  </a:ext>
                </a:extLst>
              </a:tr>
              <a:tr h="629920">
                <a:tc>
                  <a:txBody>
                    <a:bodyPr/>
                    <a:lstStyle/>
                    <a:p>
                      <a:pPr algn="just"/>
                      <a:r>
                        <a:rPr lang="en-US" sz="2200" b="0" dirty="0" smtClean="0"/>
                        <a:t>         III</a:t>
                      </a:r>
                      <a:endParaRPr lang="en-US" sz="2200" b="0" dirty="0"/>
                    </a:p>
                  </a:txBody>
                  <a:tcPr/>
                </a:tc>
                <a:tc>
                  <a:txBody>
                    <a:bodyPr/>
                    <a:lstStyle/>
                    <a:p>
                      <a:pPr algn="just"/>
                      <a:r>
                        <a:rPr lang="en-US" sz="2200" b="0" dirty="0" smtClean="0"/>
                        <a:t>          1</a:t>
                      </a:r>
                      <a:endParaRPr lang="en-US" sz="2200" b="0"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400" dirty="0" smtClean="0"/>
                        <a:t>Pre-Vedic and Vedic Religion </a:t>
                      </a:r>
                      <a:endParaRPr lang="en-US" sz="2400" dirty="0" smtClean="0">
                        <a:latin typeface="Times New Roman" pitchFamily="18" charset="0"/>
                        <a:cs typeface="Times New Roman" pitchFamily="18" charset="0"/>
                      </a:endParaRPr>
                    </a:p>
                  </a:txBody>
                  <a:tcPr/>
                </a:tc>
                <a:tc>
                  <a:txBody>
                    <a:bodyPr/>
                    <a:lstStyle/>
                    <a:p>
                      <a:pPr algn="just"/>
                      <a:r>
                        <a:rPr lang="en-US" sz="2200" b="0" dirty="0" smtClean="0"/>
                        <a:t>CO1</a:t>
                      </a:r>
                    </a:p>
                    <a:p>
                      <a:pPr algn="just"/>
                      <a:r>
                        <a:rPr lang="en-US" sz="2200" b="0" dirty="0" smtClean="0"/>
                        <a:t>CO3</a:t>
                      </a:r>
                      <a:endParaRPr lang="en-US" sz="2200" b="0" dirty="0"/>
                    </a:p>
                  </a:txBody>
                  <a:tcPr/>
                </a:tc>
                <a:tc>
                  <a:txBody>
                    <a:bodyPr/>
                    <a:lstStyle/>
                    <a:p>
                      <a:pPr algn="just"/>
                      <a:r>
                        <a:rPr lang="en-US" sz="2200" b="0" dirty="0" smtClean="0"/>
                        <a:t>Medium </a:t>
                      </a:r>
                    </a:p>
                    <a:p>
                      <a:pPr algn="just"/>
                      <a:r>
                        <a:rPr lang="en-US" sz="2200" b="0" dirty="0" smtClean="0"/>
                        <a:t>High</a:t>
                      </a:r>
                      <a:endParaRPr lang="en-US" sz="2200" b="0" dirty="0"/>
                    </a:p>
                  </a:txBody>
                  <a:tcPr/>
                </a:tc>
                <a:extLst>
                  <a:ext uri="{0D108BD9-81ED-4DB2-BD59-A6C34878D82A}">
                    <a16:rowId xmlns:a16="http://schemas.microsoft.com/office/drawing/2014/main" xmlns="" val="10002"/>
                  </a:ext>
                </a:extLst>
              </a:tr>
              <a:tr h="247910">
                <a:tc>
                  <a:txBody>
                    <a:bodyPr/>
                    <a:lstStyle/>
                    <a:p>
                      <a:pPr algn="just"/>
                      <a:endParaRPr lang="en-US" sz="2200" b="0" dirty="0"/>
                    </a:p>
                  </a:txBody>
                  <a:tcPr/>
                </a:tc>
                <a:tc>
                  <a:txBody>
                    <a:bodyPr/>
                    <a:lstStyle/>
                    <a:p>
                      <a:pPr algn="just"/>
                      <a:r>
                        <a:rPr lang="en-US" sz="2200" b="0" dirty="0" smtClean="0"/>
                        <a:t>          2</a:t>
                      </a:r>
                      <a:endParaRPr lang="en-US" sz="2200" b="0" dirty="0"/>
                    </a:p>
                  </a:txBody>
                  <a:tcPr/>
                </a:tc>
                <a:tc>
                  <a:txBody>
                    <a:bodyPr/>
                    <a:lstStyle/>
                    <a:p>
                      <a:pPr algn="just"/>
                      <a:r>
                        <a:rPr lang="en-US" sz="2400" dirty="0" smtClean="0"/>
                        <a:t>Bhakti Movement</a:t>
                      </a:r>
                      <a:endParaRPr lang="en-US" sz="2200" spc="-5" dirty="0" smtClean="0">
                        <a:latin typeface="Times New Roman" pitchFamily="18" charset="0"/>
                        <a:cs typeface="Times New Roman" pitchFamily="18" charset="0"/>
                      </a:endParaRPr>
                    </a:p>
                  </a:txBody>
                  <a:tcPr/>
                </a:tc>
                <a:tc>
                  <a:txBody>
                    <a:bodyPr/>
                    <a:lstStyle/>
                    <a:p>
                      <a:pPr algn="just"/>
                      <a:r>
                        <a:rPr lang="en-US" sz="2200" b="0" dirty="0" smtClean="0"/>
                        <a:t>CO1</a:t>
                      </a:r>
                    </a:p>
                    <a:p>
                      <a:pPr algn="just"/>
                      <a:r>
                        <a:rPr lang="en-US" sz="2200" b="0" dirty="0" smtClean="0"/>
                        <a:t>CO3</a:t>
                      </a:r>
                      <a:endParaRPr lang="en-US" sz="2200" b="0" dirty="0"/>
                    </a:p>
                  </a:txBody>
                  <a:tcPr/>
                </a:tc>
                <a:tc>
                  <a:txBody>
                    <a:bodyPr/>
                    <a:lstStyle/>
                    <a:p>
                      <a:pPr algn="just"/>
                      <a:r>
                        <a:rPr lang="en-US" sz="2200" b="0" dirty="0" smtClean="0"/>
                        <a:t>Low</a:t>
                      </a:r>
                    </a:p>
                    <a:p>
                      <a:pPr algn="just"/>
                      <a:r>
                        <a:rPr lang="en-US" sz="2200" b="0" dirty="0" smtClean="0"/>
                        <a:t>High</a:t>
                      </a:r>
                      <a:endParaRPr lang="en-US" sz="2200" b="0" dirty="0"/>
                    </a:p>
                  </a:txBody>
                  <a:tcPr/>
                </a:tc>
                <a:extLst>
                  <a:ext uri="{0D108BD9-81ED-4DB2-BD59-A6C34878D82A}">
                    <a16:rowId xmlns:a16="http://schemas.microsoft.com/office/drawing/2014/main" xmlns="" val="10003"/>
                  </a:ext>
                </a:extLst>
              </a:tr>
              <a:tr h="247910">
                <a:tc>
                  <a:txBody>
                    <a:bodyPr/>
                    <a:lstStyle/>
                    <a:p>
                      <a:pPr algn="just"/>
                      <a:endParaRPr lang="en-US" sz="2200" b="0" dirty="0"/>
                    </a:p>
                  </a:txBody>
                  <a:tcPr/>
                </a:tc>
                <a:tc>
                  <a:txBody>
                    <a:bodyPr/>
                    <a:lstStyle/>
                    <a:p>
                      <a:pPr algn="just"/>
                      <a:r>
                        <a:rPr lang="en-US" sz="2200" b="0" dirty="0" smtClean="0"/>
                        <a:t>           3</a:t>
                      </a:r>
                      <a:endParaRPr lang="en-US" sz="2200" b="0" dirty="0"/>
                    </a:p>
                  </a:txBody>
                  <a:tcPr/>
                </a:tc>
                <a:tc>
                  <a:txBody>
                    <a:bodyPr/>
                    <a:lstStyle/>
                    <a:p>
                      <a:r>
                        <a:rPr lang="en-US" sz="2400" dirty="0" smtClean="0"/>
                        <a:t>Modern religious practices.</a:t>
                      </a:r>
                      <a:endParaRPr lang="en-US" sz="2200" kern="1200" dirty="0">
                        <a:solidFill>
                          <a:schemeClr val="dk1"/>
                        </a:solidFill>
                        <a:latin typeface="+mn-lt"/>
                        <a:ea typeface="+mn-ea"/>
                        <a:cs typeface="+mn-cs"/>
                      </a:endParaRPr>
                    </a:p>
                  </a:txBody>
                  <a:tcPr/>
                </a:tc>
                <a:tc>
                  <a:txBody>
                    <a:bodyPr/>
                    <a:lstStyle/>
                    <a:p>
                      <a:pPr algn="just"/>
                      <a:r>
                        <a:rPr lang="en-US" sz="2200" b="0" dirty="0" smtClean="0"/>
                        <a:t>CO1</a:t>
                      </a:r>
                    </a:p>
                    <a:p>
                      <a:pPr algn="just"/>
                      <a:r>
                        <a:rPr lang="en-US" sz="2200" b="0" dirty="0" smtClean="0"/>
                        <a:t>CO3</a:t>
                      </a:r>
                      <a:endParaRPr lang="en-US" sz="2200" b="0" dirty="0"/>
                    </a:p>
                  </a:txBody>
                  <a:tcPr/>
                </a:tc>
                <a:tc>
                  <a:txBody>
                    <a:bodyPr/>
                    <a:lstStyle/>
                    <a:p>
                      <a:pPr algn="just"/>
                      <a:r>
                        <a:rPr lang="en-US" sz="2200" b="0" dirty="0" smtClean="0"/>
                        <a:t>Low</a:t>
                      </a:r>
                    </a:p>
                    <a:p>
                      <a:pPr algn="just"/>
                      <a:r>
                        <a:rPr lang="en-US" sz="2200" b="0" dirty="0" smtClean="0"/>
                        <a:t>High</a:t>
                      </a:r>
                    </a:p>
                  </a:txBody>
                  <a:tcPr/>
                </a:tc>
                <a:extLst>
                  <a:ext uri="{0D108BD9-81ED-4DB2-BD59-A6C34878D82A}">
                    <a16:rowId xmlns:a16="http://schemas.microsoft.com/office/drawing/2014/main" xmlns="" val="10004"/>
                  </a:ext>
                </a:extLst>
              </a:tr>
            </a:tbl>
          </a:graphicData>
        </a:graphic>
      </p:graphicFrame>
      <p:sp>
        <p:nvSpPr>
          <p:cNvPr id="4" name="Date Placeholder 3"/>
          <p:cNvSpPr>
            <a:spLocks noGrp="1"/>
          </p:cNvSpPr>
          <p:nvPr>
            <p:ph type="dt" sz="half" idx="10"/>
          </p:nvPr>
        </p:nvSpPr>
        <p:spPr/>
        <p:txBody>
          <a:bodyPr/>
          <a:lstStyle/>
          <a:p>
            <a:fld id="{715D8F3A-5EBF-4035-B677-FBD89058BC86}" type="datetime1">
              <a:rPr lang="en-US" smtClean="0"/>
              <a:pPr/>
              <a:t>3/26/2022</a:t>
            </a:fld>
            <a:endParaRPr lang="en-US" dirty="0"/>
          </a:p>
        </p:txBody>
      </p:sp>
      <p:sp>
        <p:nvSpPr>
          <p:cNvPr id="5" name="Footer Placeholder 4"/>
          <p:cNvSpPr>
            <a:spLocks noGrp="1"/>
          </p:cNvSpPr>
          <p:nvPr>
            <p:ph type="ftr" sz="quarter" idx="11"/>
          </p:nvPr>
        </p:nvSpPr>
        <p:spPr>
          <a:xfrm>
            <a:off x="1676400" y="6172200"/>
            <a:ext cx="6477000" cy="54927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Topic Mapping with course outcomes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IN" sz="2800" dirty="0" smtClean="0">
                <a:latin typeface="+mj-lt"/>
                <a:cs typeface="Times New Roman" pitchFamily="18" charset="0"/>
              </a:rPr>
              <a:t>Students will be able to know the following concepts:</a:t>
            </a:r>
            <a:endParaRPr lang="en-US" sz="2800" dirty="0" smtClean="0">
              <a:latin typeface="+mj-lt"/>
              <a:cs typeface="Times New Roman" pitchFamily="18" charset="0"/>
            </a:endParaRPr>
          </a:p>
          <a:p>
            <a:pPr algn="just"/>
            <a:r>
              <a:rPr lang="en-US" sz="2800" dirty="0" smtClean="0">
                <a:latin typeface="+mj-lt"/>
                <a:cs typeface="Times New Roman" pitchFamily="18" charset="0"/>
              </a:rPr>
              <a:t>Introduction to </a:t>
            </a:r>
            <a:r>
              <a:rPr lang="en-US" sz="2800" dirty="0" smtClean="0"/>
              <a:t>Pre-Vedic and Vedic Religion </a:t>
            </a:r>
            <a:endParaRPr lang="en-US" sz="2800" dirty="0" smtClean="0">
              <a:latin typeface="+mj-lt"/>
              <a:cs typeface="Times New Roman" pitchFamily="18" charset="0"/>
            </a:endParaRPr>
          </a:p>
          <a:p>
            <a:pPr algn="just"/>
            <a:r>
              <a:rPr lang="en-US" sz="2800" dirty="0" smtClean="0">
                <a:latin typeface="+mj-lt"/>
                <a:cs typeface="Times New Roman" pitchFamily="18" charset="0"/>
              </a:rPr>
              <a:t>Introduction to </a:t>
            </a:r>
            <a:r>
              <a:rPr lang="en-US" sz="2800" dirty="0" smtClean="0"/>
              <a:t>Buddhism</a:t>
            </a:r>
            <a:endParaRPr lang="en-US" sz="2800" dirty="0" smtClean="0">
              <a:latin typeface="+mj-lt"/>
              <a:cs typeface="Times New Roman" pitchFamily="18" charset="0"/>
            </a:endParaRPr>
          </a:p>
          <a:p>
            <a:r>
              <a:rPr lang="en-US" sz="2800" dirty="0" smtClean="0">
                <a:latin typeface="+mj-lt"/>
                <a:cs typeface="Times New Roman" pitchFamily="18" charset="0"/>
              </a:rPr>
              <a:t>Introduction to </a:t>
            </a:r>
            <a:r>
              <a:rPr lang="en-US" sz="2800" dirty="0" smtClean="0"/>
              <a:t>Jainism</a:t>
            </a:r>
          </a:p>
          <a:p>
            <a:r>
              <a:rPr lang="en-US" sz="2800" dirty="0" smtClean="0"/>
              <a:t>Shankaracharya</a:t>
            </a:r>
            <a:endParaRPr lang="en-US" sz="2800" dirty="0">
              <a:latin typeface="+mj-lt"/>
            </a:endParaRPr>
          </a:p>
        </p:txBody>
      </p:sp>
      <p:sp>
        <p:nvSpPr>
          <p:cNvPr id="4" name="Date Placeholder 3"/>
          <p:cNvSpPr>
            <a:spLocks noGrp="1"/>
          </p:cNvSpPr>
          <p:nvPr>
            <p:ph type="dt" sz="half" idx="10"/>
          </p:nvPr>
        </p:nvSpPr>
        <p:spPr/>
        <p:txBody>
          <a:bodyPr/>
          <a:lstStyle/>
          <a:p>
            <a:fld id="{44FED1A3-EB65-4B90-806E-A32550874DA6}"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latin typeface="Times New Roman" pitchFamily="18" charset="0"/>
                <a:cs typeface="Times New Roman" pitchFamily="18" charset="0"/>
              </a:rPr>
              <a:t>Topic objectives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pPr algn="just"/>
            <a:r>
              <a:rPr lang="en-US" sz="2400" dirty="0" smtClean="0">
                <a:latin typeface="Times New Roman" pitchFamily="18" charset="0"/>
                <a:cs typeface="Times New Roman" pitchFamily="18" charset="0"/>
              </a:rPr>
              <a:t> </a:t>
            </a:r>
            <a:r>
              <a:rPr lang="en-US" sz="2400" dirty="0" smtClean="0"/>
              <a:t>The Vedic age itself is divided into the Early Vedic Period (c.1500 – 1200 BCE) and </a:t>
            </a:r>
          </a:p>
          <a:p>
            <a:pPr algn="just"/>
            <a:r>
              <a:rPr lang="en-US" sz="2400" dirty="0" smtClean="0"/>
              <a:t>Later Vedic Period (c.1100 – 500 BCE). The reason being that society underwent drastic changes from the time the first Vedas were written to the appearance of later Vedic scriptures.</a:t>
            </a:r>
          </a:p>
          <a:p>
            <a:pPr algn="just"/>
            <a:r>
              <a:rPr lang="en-US" sz="2400" dirty="0" smtClean="0"/>
              <a:t>differences between the Early Vedic Period and Later Vedic Period</a:t>
            </a:r>
          </a:p>
          <a:p>
            <a:pPr algn="just">
              <a:buNone/>
            </a:pPr>
            <a:endParaRPr lang="en-US" sz="2400" dirty="0" smtClean="0">
              <a:latin typeface="Times New Roman" pitchFamily="18" charset="0"/>
              <a:cs typeface="Times New Roman" pitchFamily="18" charset="0"/>
            </a:endParaRPr>
          </a:p>
        </p:txBody>
      </p:sp>
      <p:sp>
        <p:nvSpPr>
          <p:cNvPr id="6" name="Date Placeholder 5"/>
          <p:cNvSpPr>
            <a:spLocks noGrp="1"/>
          </p:cNvSpPr>
          <p:nvPr>
            <p:ph type="dt" sz="half" idx="10"/>
          </p:nvPr>
        </p:nvSpPr>
        <p:spPr/>
        <p:txBody>
          <a:bodyPr/>
          <a:lstStyle/>
          <a:p>
            <a:fld id="{4DB04B8F-D442-4DAE-BBCA-27090CCF6514}"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10</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Pre-Vedic and Vedic Religion</a:t>
            </a:r>
            <a:endParaRPr lang="en-US" sz="2800" b="1"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graphicFrame>
        <p:nvGraphicFramePr>
          <p:cNvPr id="10" name="Table 9"/>
          <p:cNvGraphicFramePr>
            <a:graphicFrameLocks noGrp="1"/>
          </p:cNvGraphicFramePr>
          <p:nvPr/>
        </p:nvGraphicFramePr>
        <p:xfrm>
          <a:off x="914400" y="3810000"/>
          <a:ext cx="7696200" cy="20116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20000"/>
                    </a:ext>
                  </a:extLst>
                </a:gridCol>
                <a:gridCol w="3276600">
                  <a:extLst>
                    <a:ext uri="{9D8B030D-6E8A-4147-A177-3AD203B41FA5}">
                      <a16:colId xmlns:a16="http://schemas.microsoft.com/office/drawing/2014/main" xmlns="" val="20001"/>
                    </a:ext>
                  </a:extLst>
                </a:gridCol>
                <a:gridCol w="3657600">
                  <a:extLst>
                    <a:ext uri="{9D8B030D-6E8A-4147-A177-3AD203B41FA5}">
                      <a16:colId xmlns:a16="http://schemas.microsoft.com/office/drawing/2014/main" xmlns="" val="20002"/>
                    </a:ext>
                  </a:extLst>
                </a:gridCol>
              </a:tblGrid>
              <a:tr h="304800">
                <a:tc>
                  <a:txBody>
                    <a:bodyPr/>
                    <a:lstStyle/>
                    <a:p>
                      <a:r>
                        <a:rPr lang="en-US" sz="2000" dirty="0" smtClean="0"/>
                        <a:t>S.No.</a:t>
                      </a:r>
                      <a:endParaRPr lang="en-US" sz="2000" dirty="0"/>
                    </a:p>
                  </a:txBody>
                  <a:tcPr/>
                </a:tc>
                <a:tc>
                  <a:txBody>
                    <a:bodyPr/>
                    <a:lstStyle/>
                    <a:p>
                      <a:r>
                        <a:rPr lang="en-US" sz="2000" b="1" i="0" kern="1200" dirty="0" smtClean="0">
                          <a:solidFill>
                            <a:schemeClr val="lt1"/>
                          </a:solidFill>
                          <a:latin typeface="+mn-lt"/>
                          <a:ea typeface="+mn-ea"/>
                          <a:cs typeface="+mn-cs"/>
                        </a:rPr>
                        <a:t>             Pre-Vedic Period</a:t>
                      </a:r>
                      <a:endParaRPr lang="en-US" sz="2000" dirty="0"/>
                    </a:p>
                  </a:txBody>
                  <a:tcPr/>
                </a:tc>
                <a:tc>
                  <a:txBody>
                    <a:bodyPr/>
                    <a:lstStyle/>
                    <a:p>
                      <a:r>
                        <a:rPr lang="en-US" sz="2000" b="1" i="0" kern="1200" dirty="0" smtClean="0">
                          <a:solidFill>
                            <a:schemeClr val="lt1"/>
                          </a:solidFill>
                          <a:latin typeface="+mn-lt"/>
                          <a:ea typeface="+mn-ea"/>
                          <a:cs typeface="+mn-cs"/>
                        </a:rPr>
                        <a:t>             Vedic Period</a:t>
                      </a:r>
                      <a:endParaRPr lang="en-US" sz="2000" dirty="0"/>
                    </a:p>
                  </a:txBody>
                  <a:tcPr/>
                </a:tc>
                <a:extLst>
                  <a:ext uri="{0D108BD9-81ED-4DB2-BD59-A6C34878D82A}">
                    <a16:rowId xmlns:a16="http://schemas.microsoft.com/office/drawing/2014/main" xmlns="" val="10000"/>
                  </a:ext>
                </a:extLst>
              </a:tr>
              <a:tr h="1189246">
                <a:tc>
                  <a:txBody>
                    <a:bodyPr/>
                    <a:lstStyle/>
                    <a:p>
                      <a:r>
                        <a:rPr lang="en-US" sz="2400" dirty="0" smtClean="0"/>
                        <a:t>1.</a:t>
                      </a:r>
                      <a:endParaRPr lang="en-US" sz="2400" dirty="0"/>
                    </a:p>
                  </a:txBody>
                  <a:tcPr/>
                </a:tc>
                <a:tc>
                  <a:txBody>
                    <a:bodyPr/>
                    <a:lstStyle/>
                    <a:p>
                      <a:pPr fontAlgn="t"/>
                      <a:r>
                        <a:rPr lang="en-US" sz="2400" b="0" dirty="0"/>
                        <a:t>The caste system was flexible and based on profession rather than birth</a:t>
                      </a:r>
                      <a:endParaRPr lang="en-US" sz="2400" dirty="0"/>
                    </a:p>
                  </a:txBody>
                  <a:tcPr marL="76200" marR="76200" marT="76200" marB="76200"/>
                </a:tc>
                <a:tc>
                  <a:txBody>
                    <a:bodyPr/>
                    <a:lstStyle/>
                    <a:p>
                      <a:pPr fontAlgn="t"/>
                      <a:r>
                        <a:rPr lang="en-US" sz="2400" b="0" dirty="0"/>
                        <a:t>The caste system became more rigid in this period with birth being the main criteria </a:t>
                      </a:r>
                      <a:endParaRPr lang="en-US" sz="2400" dirty="0"/>
                    </a:p>
                  </a:txBody>
                  <a:tcPr marL="76200" marR="76200" marT="76200" marB="76200"/>
                </a:tc>
                <a:extLst>
                  <a:ext uri="{0D108BD9-81ED-4DB2-BD59-A6C34878D82A}">
                    <a16:rowId xmlns:a16="http://schemas.microsoft.com/office/drawing/2014/main" xmlns="" val="10001"/>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idx="1"/>
          </p:nvPr>
        </p:nvGraphicFramePr>
        <p:xfrm>
          <a:off x="381000" y="762000"/>
          <a:ext cx="8534400" cy="49987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xmlns="" val="20000"/>
                    </a:ext>
                  </a:extLst>
                </a:gridCol>
                <a:gridCol w="3962400">
                  <a:extLst>
                    <a:ext uri="{9D8B030D-6E8A-4147-A177-3AD203B41FA5}">
                      <a16:colId xmlns:a16="http://schemas.microsoft.com/office/drawing/2014/main" xmlns="" val="20001"/>
                    </a:ext>
                  </a:extLst>
                </a:gridCol>
                <a:gridCol w="3429000">
                  <a:extLst>
                    <a:ext uri="{9D8B030D-6E8A-4147-A177-3AD203B41FA5}">
                      <a16:colId xmlns:a16="http://schemas.microsoft.com/office/drawing/2014/main" xmlns="" val="20002"/>
                    </a:ext>
                  </a:extLst>
                </a:gridCol>
              </a:tblGrid>
              <a:tr h="370840">
                <a:tc>
                  <a:txBody>
                    <a:bodyPr/>
                    <a:lstStyle/>
                    <a:p>
                      <a:r>
                        <a:rPr lang="en-US" sz="1800" dirty="0" smtClean="0"/>
                        <a:t>2.</a:t>
                      </a:r>
                      <a:endParaRPr lang="en-US" sz="1800" dirty="0"/>
                    </a:p>
                  </a:txBody>
                  <a:tcPr/>
                </a:tc>
                <a:tc>
                  <a:txBody>
                    <a:bodyPr/>
                    <a:lstStyle/>
                    <a:p>
                      <a:pPr fontAlgn="t"/>
                      <a:r>
                        <a:rPr lang="en-US" sz="1800" b="0" dirty="0"/>
                        <a:t>There was no concept of Shudra or untouchables</a:t>
                      </a:r>
                      <a:endParaRPr lang="en-US" sz="1800" dirty="0"/>
                    </a:p>
                  </a:txBody>
                  <a:tcPr marL="76200" marR="76200" marT="76200" marB="76200"/>
                </a:tc>
                <a:tc>
                  <a:txBody>
                    <a:bodyPr/>
                    <a:lstStyle/>
                    <a:p>
                      <a:pPr fontAlgn="t"/>
                      <a:r>
                        <a:rPr lang="en-US" sz="1800" b="0" dirty="0"/>
                        <a:t>Shudras became a mainstay in the Later Vedic period. Their sole function was to serve those of the upper-castes</a:t>
                      </a:r>
                      <a:endParaRPr lang="en-US" sz="1800" dirty="0"/>
                    </a:p>
                  </a:txBody>
                  <a:tcPr marL="76200" marR="76200" marT="76200" marB="76200"/>
                </a:tc>
                <a:extLst>
                  <a:ext uri="{0D108BD9-81ED-4DB2-BD59-A6C34878D82A}">
                    <a16:rowId xmlns:a16="http://schemas.microsoft.com/office/drawing/2014/main" xmlns="" val="10000"/>
                  </a:ext>
                </a:extLst>
              </a:tr>
              <a:tr h="370840">
                <a:tc>
                  <a:txBody>
                    <a:bodyPr/>
                    <a:lstStyle/>
                    <a:p>
                      <a:r>
                        <a:rPr lang="en-US" sz="1800" dirty="0" smtClean="0"/>
                        <a:t>3.</a:t>
                      </a:r>
                      <a:endParaRPr lang="en-US" sz="1800" dirty="0"/>
                    </a:p>
                  </a:txBody>
                  <a:tcPr/>
                </a:tc>
                <a:tc>
                  <a:txBody>
                    <a:bodyPr/>
                    <a:lstStyle/>
                    <a:p>
                      <a:pPr fontAlgn="t"/>
                      <a:r>
                        <a:rPr lang="en-US" sz="1800" b="0" dirty="0"/>
                        <a:t>Women were allowed a greater degree of freedom in this period. They were allowed to participate in the political process of the time to a certain extent</a:t>
                      </a:r>
                      <a:endParaRPr lang="en-US" sz="1800" dirty="0"/>
                    </a:p>
                  </a:txBody>
                  <a:tcPr marL="76200" marR="76200" marT="76200" marB="76200"/>
                </a:tc>
                <a:tc>
                  <a:txBody>
                    <a:bodyPr/>
                    <a:lstStyle/>
                    <a:p>
                      <a:pPr fontAlgn="t"/>
                      <a:r>
                        <a:rPr lang="en-US" sz="1800" b="0" dirty="0"/>
                        <a:t>Women were restricted from their participation in society by being relegated to subordinate and docile roles</a:t>
                      </a:r>
                      <a:endParaRPr lang="en-US" sz="1800" dirty="0"/>
                    </a:p>
                  </a:txBody>
                  <a:tcPr marL="76200" marR="76200" marT="76200" marB="76200"/>
                </a:tc>
                <a:extLst>
                  <a:ext uri="{0D108BD9-81ED-4DB2-BD59-A6C34878D82A}">
                    <a16:rowId xmlns:a16="http://schemas.microsoft.com/office/drawing/2014/main" xmlns="" val="10001"/>
                  </a:ext>
                </a:extLst>
              </a:tr>
              <a:tr h="370840">
                <a:tc>
                  <a:txBody>
                    <a:bodyPr/>
                    <a:lstStyle/>
                    <a:p>
                      <a:r>
                        <a:rPr lang="en-US" sz="1800" dirty="0" smtClean="0"/>
                        <a:t>4.</a:t>
                      </a:r>
                      <a:endParaRPr lang="en-US" sz="1800" dirty="0"/>
                    </a:p>
                  </a:txBody>
                  <a:tcPr/>
                </a:tc>
                <a:tc>
                  <a:txBody>
                    <a:bodyPr/>
                    <a:lstStyle/>
                    <a:p>
                      <a:pPr fontAlgn="t"/>
                      <a:r>
                        <a:rPr lang="en-US" sz="1800" b="0" dirty="0"/>
                        <a:t>Kingship was fluid as the kings were elected for a fixed period by the local assembly known as </a:t>
                      </a:r>
                      <a:r>
                        <a:rPr lang="en-US" sz="1800" b="0" i="1" dirty="0"/>
                        <a:t>Samiti</a:t>
                      </a:r>
                      <a:endParaRPr lang="en-US" sz="1800" dirty="0"/>
                    </a:p>
                  </a:txBody>
                  <a:tcPr marL="76200" marR="76200" marT="76200" marB="76200"/>
                </a:tc>
                <a:tc>
                  <a:txBody>
                    <a:bodyPr/>
                    <a:lstStyle/>
                    <a:p>
                      <a:pPr fontAlgn="t"/>
                      <a:r>
                        <a:rPr lang="en-US" sz="1800" b="0" dirty="0"/>
                        <a:t>As society became more urbanized in this period, the need for stable leadership was realized. Thus the absolute rule of the Kings became more and more prominent</a:t>
                      </a:r>
                      <a:endParaRPr lang="en-US" sz="1800" dirty="0"/>
                    </a:p>
                  </a:txBody>
                  <a:tcPr marL="76200" marR="76200" marT="76200" marB="76200"/>
                </a:tc>
                <a:extLst>
                  <a:ext uri="{0D108BD9-81ED-4DB2-BD59-A6C34878D82A}">
                    <a16:rowId xmlns:a16="http://schemas.microsoft.com/office/drawing/2014/main" xmlns="" val="10002"/>
                  </a:ext>
                </a:extLst>
              </a:tr>
              <a:tr h="370840">
                <a:tc>
                  <a:txBody>
                    <a:bodyPr/>
                    <a:lstStyle/>
                    <a:p>
                      <a:r>
                        <a:rPr lang="en-US" sz="1800" dirty="0" smtClean="0"/>
                        <a:t>5.</a:t>
                      </a:r>
                      <a:endParaRPr lang="en-US" sz="1800" dirty="0"/>
                    </a:p>
                  </a:txBody>
                  <a:tcPr/>
                </a:tc>
                <a:tc>
                  <a:txBody>
                    <a:bodyPr/>
                    <a:lstStyle/>
                    <a:p>
                      <a:pPr fontAlgn="t"/>
                      <a:r>
                        <a:rPr lang="en-US" sz="1800" b="0" dirty="0"/>
                        <a:t>Early Vedic society was pastoralist and semi-nomadic  in nature</a:t>
                      </a:r>
                      <a:endParaRPr lang="en-US" sz="1800" dirty="0"/>
                    </a:p>
                  </a:txBody>
                  <a:tcPr marL="76200" marR="76200" marT="76200" marB="76200"/>
                </a:tc>
                <a:tc>
                  <a:txBody>
                    <a:bodyPr/>
                    <a:lstStyle/>
                    <a:p>
                      <a:pPr fontAlgn="t"/>
                      <a:r>
                        <a:rPr lang="en-US" sz="1800" b="0" dirty="0"/>
                        <a:t>Society became more settled in nature. It became centred around agriculture in general</a:t>
                      </a:r>
                      <a:endParaRPr lang="en-US" sz="1800" dirty="0"/>
                    </a:p>
                  </a:txBody>
                  <a:tcPr marL="76200" marR="76200" marT="76200" marB="76200"/>
                </a:tc>
                <a:extLst>
                  <a:ext uri="{0D108BD9-81ED-4DB2-BD59-A6C34878D82A}">
                    <a16:rowId xmlns:a16="http://schemas.microsoft.com/office/drawing/2014/main" xmlns="" val="10003"/>
                  </a:ext>
                </a:extLst>
              </a:tr>
            </a:tbl>
          </a:graphicData>
        </a:graphic>
      </p:graphicFrame>
      <p:sp>
        <p:nvSpPr>
          <p:cNvPr id="6" name="Date Placeholder 5"/>
          <p:cNvSpPr>
            <a:spLocks noGrp="1"/>
          </p:cNvSpPr>
          <p:nvPr>
            <p:ph type="dt" sz="half" idx="10"/>
          </p:nvPr>
        </p:nvSpPr>
        <p:spPr/>
        <p:txBody>
          <a:bodyPr/>
          <a:lstStyle/>
          <a:p>
            <a:fld id="{62152206-4D35-4DF2-AEA9-3367A06A0A31}"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Pre-Vedic and Vedic Religion</a:t>
            </a:r>
            <a:endParaRPr lang="en-US" sz="2800"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idx="1"/>
          </p:nvPr>
        </p:nvGraphicFramePr>
        <p:xfrm>
          <a:off x="381000" y="990600"/>
          <a:ext cx="8534400" cy="24384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xmlns="" val="20000"/>
                    </a:ext>
                  </a:extLst>
                </a:gridCol>
                <a:gridCol w="3962400">
                  <a:extLst>
                    <a:ext uri="{9D8B030D-6E8A-4147-A177-3AD203B41FA5}">
                      <a16:colId xmlns:a16="http://schemas.microsoft.com/office/drawing/2014/main" xmlns="" val="20001"/>
                    </a:ext>
                  </a:extLst>
                </a:gridCol>
                <a:gridCol w="3429000">
                  <a:extLst>
                    <a:ext uri="{9D8B030D-6E8A-4147-A177-3AD203B41FA5}">
                      <a16:colId xmlns:a16="http://schemas.microsoft.com/office/drawing/2014/main" xmlns="" val="20002"/>
                    </a:ext>
                  </a:extLst>
                </a:gridCol>
              </a:tblGrid>
              <a:tr h="370840">
                <a:tc>
                  <a:txBody>
                    <a:bodyPr/>
                    <a:lstStyle/>
                    <a:p>
                      <a:r>
                        <a:rPr lang="en-US" dirty="0" smtClean="0"/>
                        <a:t>6.</a:t>
                      </a:r>
                      <a:endParaRPr lang="en-US" dirty="0"/>
                    </a:p>
                  </a:txBody>
                  <a:tcPr/>
                </a:tc>
                <a:tc>
                  <a:txBody>
                    <a:bodyPr/>
                    <a:lstStyle/>
                    <a:p>
                      <a:pPr fontAlgn="t"/>
                      <a:r>
                        <a:rPr lang="en-US" sz="2000" b="0" dirty="0"/>
                        <a:t>In the Early Vedic Period, the barter  system was more prevalent with little to no monetary value transaction being part of the exchange</a:t>
                      </a:r>
                      <a:endParaRPr lang="en-US" sz="2000" dirty="0"/>
                    </a:p>
                  </a:txBody>
                  <a:tcPr marL="76200" marR="76200" marT="76200" marB="76200"/>
                </a:tc>
                <a:tc>
                  <a:txBody>
                    <a:bodyPr/>
                    <a:lstStyle/>
                    <a:p>
                      <a:pPr fontAlgn="t"/>
                      <a:r>
                        <a:rPr lang="en-US" sz="2000" b="0" dirty="0"/>
                        <a:t>Although the barter system was still in practice, it was largely replaced by the exchange of gold and silver coins known as </a:t>
                      </a:r>
                      <a:r>
                        <a:rPr lang="en-US" sz="2000" b="0" i="1" dirty="0"/>
                        <a:t>Krishnala</a:t>
                      </a:r>
                      <a:endParaRPr lang="en-US" sz="2000" dirty="0"/>
                    </a:p>
                  </a:txBody>
                  <a:tcPr marL="76200" marR="76200" marT="76200" marB="76200"/>
                </a:tc>
                <a:extLst>
                  <a:ext uri="{0D108BD9-81ED-4DB2-BD59-A6C34878D82A}">
                    <a16:rowId xmlns:a16="http://schemas.microsoft.com/office/drawing/2014/main" xmlns="" val="10000"/>
                  </a:ext>
                </a:extLst>
              </a:tr>
              <a:tr h="370840">
                <a:tc>
                  <a:txBody>
                    <a:bodyPr/>
                    <a:lstStyle/>
                    <a:p>
                      <a:r>
                        <a:rPr lang="en-US" dirty="0" smtClean="0"/>
                        <a:t>7.</a:t>
                      </a:r>
                      <a:endParaRPr lang="en-US" dirty="0"/>
                    </a:p>
                  </a:txBody>
                  <a:tcPr/>
                </a:tc>
                <a:tc>
                  <a:txBody>
                    <a:bodyPr/>
                    <a:lstStyle/>
                    <a:p>
                      <a:pPr fontAlgn="t"/>
                      <a:r>
                        <a:rPr lang="en-US" sz="2000" b="0" dirty="0"/>
                        <a:t>Rigveda. This text is cited as the earliest text from this period </a:t>
                      </a:r>
                      <a:endParaRPr lang="en-US" sz="2000" dirty="0"/>
                    </a:p>
                  </a:txBody>
                  <a:tcPr marL="76200" marR="76200" marT="76200" marB="76200"/>
                </a:tc>
                <a:tc>
                  <a:txBody>
                    <a:bodyPr/>
                    <a:lstStyle/>
                    <a:p>
                      <a:pPr fontAlgn="t"/>
                      <a:r>
                        <a:rPr lang="en-US" sz="2000" b="0" dirty="0"/>
                        <a:t>Yajurveda. Samaveda</a:t>
                      </a:r>
                      <a:endParaRPr lang="en-US" sz="2000" dirty="0"/>
                    </a:p>
                    <a:p>
                      <a:pPr fontAlgn="t"/>
                      <a:r>
                        <a:rPr lang="en-US" sz="2000" b="0" dirty="0"/>
                        <a:t>Atharvaveda</a:t>
                      </a:r>
                      <a:endParaRPr lang="en-US" sz="2000" dirty="0"/>
                    </a:p>
                  </a:txBody>
                  <a:tcPr marL="76200" marR="76200" marT="76200" marB="76200"/>
                </a:tc>
                <a:extLst>
                  <a:ext uri="{0D108BD9-81ED-4DB2-BD59-A6C34878D82A}">
                    <a16:rowId xmlns:a16="http://schemas.microsoft.com/office/drawing/2014/main" xmlns="" val="10001"/>
                  </a:ext>
                </a:extLst>
              </a:tr>
            </a:tbl>
          </a:graphicData>
        </a:graphic>
      </p:graphicFrame>
      <p:sp>
        <p:nvSpPr>
          <p:cNvPr id="6" name="Date Placeholder 5"/>
          <p:cNvSpPr>
            <a:spLocks noGrp="1"/>
          </p:cNvSpPr>
          <p:nvPr>
            <p:ph type="dt" sz="half" idx="10"/>
          </p:nvPr>
        </p:nvSpPr>
        <p:spPr/>
        <p:txBody>
          <a:bodyPr/>
          <a:lstStyle/>
          <a:p>
            <a:fld id="{8F14363A-7D7E-463E-9DFA-53DABEA01679}"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Pre-Vedic and Vedic Religion</a:t>
            </a:r>
            <a:endParaRPr lang="en-US" sz="2800"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D3A660E-E4C8-4296-89AC-924CAE426A37}"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Vedic Religion</a:t>
            </a:r>
            <a:endParaRPr lang="en-US" sz="2800"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2" name="Content Placeholder 1"/>
          <p:cNvSpPr>
            <a:spLocks noGrp="1"/>
          </p:cNvSpPr>
          <p:nvPr>
            <p:ph idx="1"/>
          </p:nvPr>
        </p:nvSpPr>
        <p:spPr>
          <a:xfrm>
            <a:off x="472440" y="1258093"/>
            <a:ext cx="8229600" cy="4525963"/>
          </a:xfrm>
        </p:spPr>
        <p:txBody>
          <a:bodyPr/>
          <a:lstStyle/>
          <a:p>
            <a:r>
              <a:rPr lang="en-US" b="1" dirty="0"/>
              <a:t>Vedic religion</a:t>
            </a:r>
            <a:r>
              <a:rPr lang="en-US" dirty="0"/>
              <a:t>, also called </a:t>
            </a:r>
            <a:r>
              <a:rPr lang="en-US" b="1" dirty="0" err="1"/>
              <a:t>Vedism</a:t>
            </a:r>
            <a:r>
              <a:rPr lang="en-US" dirty="0"/>
              <a:t>, the religion of the ancient Indo-European-speaking peoples who entered India about 1500 </a:t>
            </a:r>
            <a:r>
              <a:rPr lang="en-US" cap="all" dirty="0"/>
              <a:t>BCE</a:t>
            </a:r>
            <a:r>
              <a:rPr lang="en-US" dirty="0"/>
              <a:t> from the region of present-day Iran. It takes its name from the collections of sacred texts known as the Vedas. </a:t>
            </a:r>
            <a:r>
              <a:rPr lang="en-US" dirty="0" err="1"/>
              <a:t>Vedism</a:t>
            </a:r>
            <a:r>
              <a:rPr lang="en-US" dirty="0"/>
              <a:t> is the oldest stratum of religious activity in India for which there exist written materials. It was one of the major traditions that shaped Hinduism.</a:t>
            </a:r>
          </a:p>
        </p:txBody>
      </p:sp>
    </p:spTree>
    <p:extLst>
      <p:ext uri="{BB962C8B-B14F-4D97-AF65-F5344CB8AC3E}">
        <p14:creationId xmlns:p14="http://schemas.microsoft.com/office/powerpoint/2010/main" xmlns="" val="11936161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F5F406DA-237A-4CC8-9F7F-3AF83E4E40F9}"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14</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Vedic Religion</a:t>
            </a:r>
            <a:endParaRPr lang="en-US" sz="2800"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2" name="Content Placeholder 1"/>
          <p:cNvSpPr>
            <a:spLocks noGrp="1"/>
          </p:cNvSpPr>
          <p:nvPr>
            <p:ph idx="1"/>
          </p:nvPr>
        </p:nvSpPr>
        <p:spPr>
          <a:xfrm>
            <a:off x="304800" y="1077513"/>
            <a:ext cx="8229600" cy="4525963"/>
          </a:xfrm>
        </p:spPr>
        <p:txBody>
          <a:bodyPr>
            <a:normAutofit lnSpcReduction="10000"/>
          </a:bodyPr>
          <a:lstStyle/>
          <a:p>
            <a:r>
              <a:rPr lang="en-US" dirty="0"/>
              <a:t>The authors of the Vedic hymns were the Aryans. But who were the Aryans? In the 19th century, Aryans were considered a race. Now it is thought of as a linguistic group of people who spoke Indo-European language from which later emerged Sanskrit, Latin, and Greek etc. This is reflected from the words in these languages which are similar in sound and meaning. Thus the Sanskrit words </a:t>
            </a:r>
            <a:r>
              <a:rPr lang="en-US" dirty="0" err="1"/>
              <a:t>matri</a:t>
            </a:r>
            <a:r>
              <a:rPr lang="en-US" dirty="0"/>
              <a:t> and </a:t>
            </a:r>
            <a:r>
              <a:rPr lang="en-US" dirty="0" err="1"/>
              <a:t>pitri</a:t>
            </a:r>
            <a:r>
              <a:rPr lang="en-US" dirty="0"/>
              <a:t> are similar to the Latin mater and pater</a:t>
            </a:r>
          </a:p>
        </p:txBody>
      </p:sp>
    </p:spTree>
    <p:extLst>
      <p:ext uri="{BB962C8B-B14F-4D97-AF65-F5344CB8AC3E}">
        <p14:creationId xmlns:p14="http://schemas.microsoft.com/office/powerpoint/2010/main" xmlns="" val="30075525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C7EA20D9-AD82-4971-B310-0E068B58511E}"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15</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Vedic Religion</a:t>
            </a:r>
            <a:endParaRPr lang="en-US" sz="2800"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2" name="Content Placeholder 1"/>
          <p:cNvSpPr>
            <a:spLocks noGrp="1"/>
          </p:cNvSpPr>
          <p:nvPr>
            <p:ph idx="1"/>
          </p:nvPr>
        </p:nvSpPr>
        <p:spPr>
          <a:xfrm>
            <a:off x="304800" y="1077513"/>
            <a:ext cx="8229600" cy="4525963"/>
          </a:xfrm>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The early Aryans worshipped phenomena of nature in the form of nature gods. These forces of nature were worshipped as male or female gods.</a:t>
            </a:r>
            <a:br>
              <a:rPr lang="en-US" sz="1600" dirty="0">
                <a:latin typeface="Times New Roman" panose="02020603050405020304" pitchFamily="18" charset="0"/>
                <a:cs typeface="Times New Roman" panose="02020603050405020304" pitchFamily="18" charset="0"/>
              </a:rPr>
            </a:br>
            <a:r>
              <a:rPr lang="en-US" sz="1600" b="1" dirty="0" err="1" smtClean="0">
                <a:latin typeface="Times New Roman" panose="02020603050405020304" pitchFamily="18" charset="0"/>
                <a:cs typeface="Times New Roman" panose="02020603050405020304" pitchFamily="18" charset="0"/>
              </a:rPr>
              <a:t>Indra</a:t>
            </a:r>
            <a:r>
              <a:rPr lang="en-US" sz="1600" dirty="0">
                <a:latin typeface="Times New Roman" panose="02020603050405020304" pitchFamily="18" charset="0"/>
                <a:cs typeface="Times New Roman" panose="02020603050405020304" pitchFamily="18" charset="0"/>
              </a:rPr>
              <a:t> was the Aryan superman, the god of strength, foremost in battle, always ready to smite dragons and demons and to destroy cities. He was the God of thunder, the rainmaker, and the victor over the forces which the Aryans could not vanquish</a:t>
            </a:r>
            <a:r>
              <a:rPr lang="en-US" sz="1600" dirty="0" smtClean="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Agni</a:t>
            </a:r>
            <a:r>
              <a:rPr lang="en-US" sz="1600" dirty="0">
                <a:latin typeface="Times New Roman" panose="02020603050405020304" pitchFamily="18" charset="0"/>
                <a:cs typeface="Times New Roman" panose="02020603050405020304" pitchFamily="18" charset="0"/>
              </a:rPr>
              <a:t> the God of fire, received many beautiful tributes; he dominated the domestic fireplace, and marriages were solemnized in the presence of fire, as they are to this day in Hindu rites. Fire was the purest of the five elements and was held in high esteem</a:t>
            </a:r>
            <a:r>
              <a:rPr lang="en-US" sz="1600" dirty="0" smtClean="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Surya</a:t>
            </a:r>
            <a:r>
              <a:rPr lang="en-US" sz="1600" dirty="0">
                <a:latin typeface="Times New Roman" panose="02020603050405020304" pitchFamily="18" charset="0"/>
                <a:cs typeface="Times New Roman" panose="02020603050405020304" pitchFamily="18" charset="0"/>
              </a:rPr>
              <a:t> (Sun), </a:t>
            </a:r>
            <a:r>
              <a:rPr lang="en-US" sz="1600" b="1" dirty="0" err="1">
                <a:latin typeface="Times New Roman" panose="02020603050405020304" pitchFamily="18" charset="0"/>
                <a:cs typeface="Times New Roman" panose="02020603050405020304" pitchFamily="18" charset="0"/>
              </a:rPr>
              <a:t>Savitri</a:t>
            </a:r>
            <a:r>
              <a:rPr lang="en-US" sz="1600" dirty="0">
                <a:latin typeface="Times New Roman" panose="02020603050405020304" pitchFamily="18" charset="0"/>
                <a:cs typeface="Times New Roman" panose="02020603050405020304" pitchFamily="18" charset="0"/>
              </a:rPr>
              <a:t> (a solar deity to whom the famous </a:t>
            </a:r>
            <a:r>
              <a:rPr lang="en-US" sz="1600" dirty="0" err="1">
                <a:latin typeface="Times New Roman" panose="02020603050405020304" pitchFamily="18" charset="0"/>
                <a:cs typeface="Times New Roman" panose="02020603050405020304" pitchFamily="18" charset="0"/>
              </a:rPr>
              <a:t>Gayatri</a:t>
            </a:r>
            <a:r>
              <a:rPr lang="en-US" sz="1600" dirty="0">
                <a:latin typeface="Times New Roman" panose="02020603050405020304" pitchFamily="18" charset="0"/>
                <a:cs typeface="Times New Roman" panose="02020603050405020304" pitchFamily="18" charset="0"/>
              </a:rPr>
              <a:t> mantra is dedicated).</a:t>
            </a:r>
            <a:br>
              <a:rPr lang="en-US" sz="1600" dirty="0">
                <a:latin typeface="Times New Roman" panose="02020603050405020304" pitchFamily="18" charset="0"/>
                <a:cs typeface="Times New Roman" panose="02020603050405020304" pitchFamily="18" charset="0"/>
              </a:rPr>
            </a:br>
            <a:r>
              <a:rPr lang="en-US" sz="1600" b="1" dirty="0" err="1" smtClean="0">
                <a:latin typeface="Times New Roman" panose="02020603050405020304" pitchFamily="18" charset="0"/>
                <a:cs typeface="Times New Roman" panose="02020603050405020304" pitchFamily="18" charset="0"/>
              </a:rPr>
              <a:t>Varuna</a:t>
            </a:r>
            <a:r>
              <a:rPr lang="en-US" sz="1600" dirty="0">
                <a:latin typeface="Times New Roman" panose="02020603050405020304" pitchFamily="18" charset="0"/>
                <a:cs typeface="Times New Roman" panose="02020603050405020304" pitchFamily="18" charset="0"/>
              </a:rPr>
              <a:t> was the god of water. He was the sustainer of plant and animal life. It was his responsibility to uphold the natural order</a:t>
            </a:r>
            <a:r>
              <a:rPr lang="en-US" sz="1600" dirty="0" smtClean="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Soma</a:t>
            </a:r>
            <a:r>
              <a:rPr lang="en-US" sz="1600" dirty="0">
                <a:latin typeface="Times New Roman" panose="02020603050405020304" pitchFamily="18" charset="0"/>
                <a:cs typeface="Times New Roman" panose="02020603050405020304" pitchFamily="18" charset="0"/>
              </a:rPr>
              <a:t> (god of intoxicating juice soma).</a:t>
            </a:r>
            <a:br>
              <a:rPr lang="en-US" sz="1600" dirty="0">
                <a:latin typeface="Times New Roman" panose="02020603050405020304" pitchFamily="18" charset="0"/>
                <a:cs typeface="Times New Roman" panose="02020603050405020304" pitchFamily="18" charset="0"/>
              </a:rPr>
            </a:br>
            <a:r>
              <a:rPr lang="en-US" sz="1600" b="1" dirty="0" smtClean="0">
                <a:latin typeface="Times New Roman" panose="02020603050405020304" pitchFamily="18" charset="0"/>
                <a:cs typeface="Times New Roman" panose="02020603050405020304" pitchFamily="18" charset="0"/>
              </a:rPr>
              <a:t>Yama</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the god of death, had a prominent place.</a:t>
            </a:r>
            <a:br>
              <a:rPr lang="en-US" sz="1600" dirty="0">
                <a:latin typeface="Times New Roman" panose="02020603050405020304" pitchFamily="18" charset="0"/>
                <a:cs typeface="Times New Roman" panose="02020603050405020304" pitchFamily="18" charset="0"/>
              </a:rPr>
            </a:br>
            <a:r>
              <a:rPr lang="en-US" sz="1600" b="1" dirty="0" smtClean="0">
                <a:latin typeface="Times New Roman" panose="02020603050405020304" pitchFamily="18" charset="0"/>
                <a:cs typeface="Times New Roman" panose="02020603050405020304" pitchFamily="18" charset="0"/>
              </a:rPr>
              <a:t>Vayu</a:t>
            </a:r>
            <a:r>
              <a:rPr lang="en-US" sz="1600" dirty="0">
                <a:latin typeface="Times New Roman" panose="02020603050405020304" pitchFamily="18" charset="0"/>
                <a:cs typeface="Times New Roman" panose="02020603050405020304" pitchFamily="18" charset="0"/>
              </a:rPr>
              <a:t> (the god of winds).</a:t>
            </a:r>
            <a:br>
              <a:rPr lang="en-US" sz="1600" dirty="0">
                <a:latin typeface="Times New Roman" panose="02020603050405020304" pitchFamily="18" charset="0"/>
                <a:cs typeface="Times New Roman" panose="02020603050405020304" pitchFamily="18" charset="0"/>
              </a:rPr>
            </a:br>
            <a:r>
              <a:rPr lang="en-US" sz="1600" b="1" dirty="0" err="1" smtClean="0">
                <a:latin typeface="Times New Roman" panose="02020603050405020304" pitchFamily="18" charset="0"/>
                <a:cs typeface="Times New Roman" panose="02020603050405020304" pitchFamily="18" charset="0"/>
              </a:rPr>
              <a:t>Prithvi</a:t>
            </a:r>
            <a:r>
              <a:rPr lang="en-US" sz="1600" dirty="0">
                <a:latin typeface="Times New Roman" panose="02020603050405020304" pitchFamily="18" charset="0"/>
                <a:cs typeface="Times New Roman" panose="02020603050405020304" pitchFamily="18" charset="0"/>
              </a:rPr>
              <a:t> was the goddess of Earth. and </a:t>
            </a:r>
            <a:r>
              <a:rPr lang="en-US" sz="1600" b="1" dirty="0" err="1">
                <a:latin typeface="Times New Roman" panose="02020603050405020304" pitchFamily="18" charset="0"/>
                <a:cs typeface="Times New Roman" panose="02020603050405020304" pitchFamily="18" charset="0"/>
              </a:rPr>
              <a:t>Usha</a:t>
            </a:r>
            <a:r>
              <a:rPr lang="en-US" sz="1600" dirty="0">
                <a:latin typeface="Times New Roman" panose="02020603050405020304" pitchFamily="18" charset="0"/>
                <a:cs typeface="Times New Roman" panose="02020603050405020304" pitchFamily="18" charset="0"/>
              </a:rPr>
              <a:t>, the goddess of Dawn.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 characteristic feature of the Vedic religion is that male deities like </a:t>
            </a:r>
            <a:r>
              <a:rPr lang="en-US" sz="1600" dirty="0" err="1">
                <a:latin typeface="Times New Roman" panose="02020603050405020304" pitchFamily="18" charset="0"/>
                <a:cs typeface="Times New Roman" panose="02020603050405020304" pitchFamily="18" charset="0"/>
              </a:rPr>
              <a:t>Varuna</a:t>
            </a:r>
            <a:r>
              <a:rPr lang="en-US" sz="1600" dirty="0">
                <a:latin typeface="Times New Roman" panose="02020603050405020304" pitchFamily="18" charset="0"/>
                <a:cs typeface="Times New Roman" panose="02020603050405020304" pitchFamily="18" charset="0"/>
              </a:rPr>
              <a:t>, Surya and Agni were given prominence and goddesses like </a:t>
            </a:r>
            <a:r>
              <a:rPr lang="en-US" sz="1600" dirty="0" err="1">
                <a:latin typeface="Times New Roman" panose="02020603050405020304" pitchFamily="18" charset="0"/>
                <a:cs typeface="Times New Roman" panose="02020603050405020304" pitchFamily="18" charset="0"/>
              </a:rPr>
              <a:t>Prithvi</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Usha</a:t>
            </a:r>
            <a:r>
              <a:rPr lang="en-US" sz="1600" dirty="0">
                <a:latin typeface="Times New Roman" panose="02020603050405020304" pitchFamily="18" charset="0"/>
                <a:cs typeface="Times New Roman" panose="02020603050405020304" pitchFamily="18" charset="0"/>
              </a:rPr>
              <a:t> occupied a subordinate position.</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6199072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9FBCC005-5A27-4AC2-80BD-AA3CCFD12AE8}"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16</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Vedic Religion</a:t>
            </a:r>
            <a:endParaRPr lang="en-US" sz="2800"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2" name="Content Placeholder 1"/>
          <p:cNvSpPr>
            <a:spLocks noGrp="1"/>
          </p:cNvSpPr>
          <p:nvPr>
            <p:ph idx="1"/>
          </p:nvPr>
        </p:nvSpPr>
        <p:spPr>
          <a:xfrm>
            <a:off x="304800" y="1077513"/>
            <a:ext cx="8229600" cy="4525963"/>
          </a:xfrm>
        </p:spPr>
        <p:txBody>
          <a:bodyPr>
            <a:normAutofit/>
          </a:bodyPr>
          <a:lstStyle/>
          <a:p>
            <a:r>
              <a:rPr lang="en-US" dirty="0"/>
              <a:t>The main factor in the expansion of the Aryan culture during the later Vedic period was the beginning of the use of iron around 1000 BC. The </a:t>
            </a:r>
            <a:r>
              <a:rPr lang="en-US" dirty="0" err="1"/>
              <a:t>Rigvedic</a:t>
            </a:r>
            <a:r>
              <a:rPr lang="en-US" dirty="0"/>
              <a:t> people knew of a metal called </a:t>
            </a:r>
            <a:r>
              <a:rPr lang="en-US" dirty="0" err="1"/>
              <a:t>ayas</a:t>
            </a:r>
            <a:r>
              <a:rPr lang="en-US" dirty="0"/>
              <a:t> which was either copper or bronze. In the later Vedic literature </a:t>
            </a:r>
            <a:r>
              <a:rPr lang="en-US" dirty="0" err="1"/>
              <a:t>ayas</a:t>
            </a:r>
            <a:r>
              <a:rPr lang="en-US" dirty="0"/>
              <a:t> was qualified with </a:t>
            </a:r>
            <a:r>
              <a:rPr lang="en-US" dirty="0" err="1"/>
              <a:t>shyama</a:t>
            </a:r>
            <a:r>
              <a:rPr lang="en-US" dirty="0"/>
              <a:t> or </a:t>
            </a:r>
            <a:r>
              <a:rPr lang="en-US" dirty="0" err="1"/>
              <a:t>krishna</a:t>
            </a:r>
            <a:r>
              <a:rPr lang="en-US" dirty="0"/>
              <a:t> meaning black to denote iron.</a:t>
            </a:r>
          </a:p>
        </p:txBody>
      </p:sp>
    </p:spTree>
    <p:extLst>
      <p:ext uri="{BB962C8B-B14F-4D97-AF65-F5344CB8AC3E}">
        <p14:creationId xmlns:p14="http://schemas.microsoft.com/office/powerpoint/2010/main" xmlns="" val="34915304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dirty="0" smtClean="0"/>
              <a:t>It is famous as it is the place where Gautama Buddha is said to have attained Enlightenment (Pali: bodhi) under what became known as the Bodhi Tree. Since antiquity, </a:t>
            </a:r>
            <a:r>
              <a:rPr lang="en-US" sz="2400" b="1" dirty="0" smtClean="0"/>
              <a:t>Bodh</a:t>
            </a:r>
            <a:r>
              <a:rPr lang="en-US" sz="2400" dirty="0" smtClean="0"/>
              <a:t> Gaya has remained the object of pilgrimage and veneration both for Hindus and Buddhists.</a:t>
            </a:r>
          </a:p>
          <a:p>
            <a:r>
              <a:rPr lang="en-US" sz="2400" b="1" dirty="0" smtClean="0"/>
              <a:t>Buddhism</a:t>
            </a:r>
            <a:r>
              <a:rPr lang="en-US" sz="2400" dirty="0" smtClean="0"/>
              <a:t>, religion and philosophy that developed from the teachings of the Buddha, a teacher who lived in northern India between the mid-6th and mid-4th centuries </a:t>
            </a:r>
            <a:r>
              <a:rPr lang="en-US" sz="2400" cap="all" dirty="0" smtClean="0"/>
              <a:t>BCE</a:t>
            </a:r>
            <a:r>
              <a:rPr lang="en-US" sz="2400" dirty="0" smtClean="0"/>
              <a:t> (before the Common Era). Spreading from India to Central and Southeast Asia, China, Korea, and Japan, Buddhism has played a central role in the spiritual, cultural, and social life of Asia, and, beginning in the 20th century, it spread to the West.</a:t>
            </a:r>
            <a:endParaRPr lang="en-US" sz="2400" b="1" dirty="0"/>
          </a:p>
        </p:txBody>
      </p:sp>
      <p:sp>
        <p:nvSpPr>
          <p:cNvPr id="4" name="Date Placeholder 3"/>
          <p:cNvSpPr>
            <a:spLocks noGrp="1"/>
          </p:cNvSpPr>
          <p:nvPr>
            <p:ph type="dt" sz="half" idx="10"/>
          </p:nvPr>
        </p:nvSpPr>
        <p:spPr/>
        <p:txBody>
          <a:bodyPr/>
          <a:lstStyle/>
          <a:p>
            <a:fld id="{E00AABFA-5084-4F64-B989-7C37D59B3E25}"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Types of Buddhism</a:t>
            </a:r>
          </a:p>
          <a:p>
            <a:r>
              <a:rPr lang="en-US" sz="2400" dirty="0" smtClean="0"/>
              <a:t>Today, many forms of Buddhism exist around the world. The three main types that represent specific geographical areas include:</a:t>
            </a:r>
          </a:p>
          <a:p>
            <a:r>
              <a:rPr lang="en-US" sz="2400" b="1" dirty="0" smtClean="0"/>
              <a:t>Theravada Buddhism</a:t>
            </a:r>
            <a:r>
              <a:rPr lang="en-US" sz="2400" dirty="0" smtClean="0"/>
              <a:t>: Prevalent in Thailand, Sri Lanka, Cambodia, Laos and Burma</a:t>
            </a:r>
          </a:p>
          <a:p>
            <a:r>
              <a:rPr lang="en-US" sz="2400" b="1" dirty="0" smtClean="0"/>
              <a:t>Mahayana Buddhism</a:t>
            </a:r>
            <a:r>
              <a:rPr lang="en-US" sz="2400" dirty="0" smtClean="0"/>
              <a:t>: Prevalent in China, Japan, Taiwan, Korea, Singapore and Vietnam</a:t>
            </a:r>
          </a:p>
          <a:p>
            <a:r>
              <a:rPr lang="en-US" sz="2400" b="1" dirty="0" smtClean="0"/>
              <a:t>Tibetan Buddhism</a:t>
            </a:r>
            <a:r>
              <a:rPr lang="en-US" sz="2400" dirty="0" smtClean="0"/>
              <a:t>: Prevalent in Tibet, Nepal, Mongolia, Bhutan, and parts of Russia and northern India</a:t>
            </a:r>
            <a:endParaRPr lang="en-US" sz="2400" dirty="0"/>
          </a:p>
        </p:txBody>
      </p:sp>
      <p:sp>
        <p:nvSpPr>
          <p:cNvPr id="4" name="Date Placeholder 3"/>
          <p:cNvSpPr>
            <a:spLocks noGrp="1"/>
          </p:cNvSpPr>
          <p:nvPr>
            <p:ph type="dt" sz="half" idx="10"/>
          </p:nvPr>
        </p:nvSpPr>
        <p:spPr/>
        <p:txBody>
          <a:bodyPr/>
          <a:lstStyle/>
          <a:p>
            <a:fld id="{27E23859-F0BD-4ADC-A864-CF3EFAB18B69}"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Dharma</a:t>
            </a:r>
          </a:p>
          <a:p>
            <a:r>
              <a:rPr lang="en-US" sz="2400" dirty="0" smtClean="0"/>
              <a:t>Buddha’s teachings are known as “dharma.” He taught that wisdom, kindness, patience, generosity and compassion were important virtues.</a:t>
            </a:r>
          </a:p>
          <a:p>
            <a:r>
              <a:rPr lang="en-US" sz="2400" dirty="0" smtClean="0"/>
              <a:t>Specifically, all Buddhists live by five moral precepts, which prohibit:</a:t>
            </a:r>
          </a:p>
          <a:p>
            <a:r>
              <a:rPr lang="en-US" sz="2400" dirty="0" smtClean="0"/>
              <a:t>Killing living things</a:t>
            </a:r>
          </a:p>
          <a:p>
            <a:r>
              <a:rPr lang="en-US" sz="2400" dirty="0" smtClean="0"/>
              <a:t>Taking what is not given</a:t>
            </a:r>
          </a:p>
          <a:p>
            <a:r>
              <a:rPr lang="en-US" sz="2400" dirty="0" smtClean="0"/>
              <a:t>Sexual misconduct</a:t>
            </a:r>
          </a:p>
          <a:p>
            <a:r>
              <a:rPr lang="en-US" sz="2400" dirty="0" smtClean="0"/>
              <a:t>Lying</a:t>
            </a:r>
          </a:p>
          <a:p>
            <a:r>
              <a:rPr lang="en-US" sz="2400" dirty="0" smtClean="0"/>
              <a:t>Using drugs or alcohol</a:t>
            </a:r>
            <a:endParaRPr lang="en-US" sz="2400" dirty="0"/>
          </a:p>
        </p:txBody>
      </p:sp>
      <p:sp>
        <p:nvSpPr>
          <p:cNvPr id="4" name="Date Placeholder 3"/>
          <p:cNvSpPr>
            <a:spLocks noGrp="1"/>
          </p:cNvSpPr>
          <p:nvPr>
            <p:ph type="dt" sz="half" idx="10"/>
          </p:nvPr>
        </p:nvSpPr>
        <p:spPr/>
        <p:txBody>
          <a:bodyPr/>
          <a:lstStyle/>
          <a:p>
            <a:fld id="{6C4702E3-9493-4372-AAEF-E6990908DB91}"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Buddhist Holy Book</a:t>
            </a:r>
          </a:p>
          <a:p>
            <a:r>
              <a:rPr lang="en-US" sz="2400" dirty="0" smtClean="0"/>
              <a:t>Buddhists revere many sacred texts and scriptures. Some of the most important are:</a:t>
            </a:r>
          </a:p>
          <a:p>
            <a:r>
              <a:rPr lang="en-US" sz="2400" b="1" dirty="0" smtClean="0"/>
              <a:t>Tipitaka: </a:t>
            </a:r>
            <a:r>
              <a:rPr lang="en-US" sz="2400" dirty="0" smtClean="0"/>
              <a:t>These texts, known as the “three baskets,” are thought to be the earliest collection of Buddhist writings.</a:t>
            </a:r>
          </a:p>
          <a:p>
            <a:r>
              <a:rPr lang="en-US" sz="2400" b="1" dirty="0" smtClean="0"/>
              <a:t>Sutras: </a:t>
            </a:r>
            <a:r>
              <a:rPr lang="en-US" sz="2400" dirty="0" smtClean="0"/>
              <a:t>There are more than 2,000 sutras, which are sacred teachings embraced mainly by Mahayana Buddhists.</a:t>
            </a:r>
          </a:p>
          <a:p>
            <a:r>
              <a:rPr lang="en-US" sz="2400" b="1" dirty="0" smtClean="0"/>
              <a:t>The Book of the Dead</a:t>
            </a:r>
            <a:r>
              <a:rPr lang="en-US" sz="2400" dirty="0" smtClean="0"/>
              <a:t>: This Tibetan text describes the stages of death in detail.</a:t>
            </a:r>
            <a:endParaRPr lang="en-US" sz="2400" dirty="0"/>
          </a:p>
        </p:txBody>
      </p:sp>
      <p:sp>
        <p:nvSpPr>
          <p:cNvPr id="4" name="Date Placeholder 3"/>
          <p:cNvSpPr>
            <a:spLocks noGrp="1"/>
          </p:cNvSpPr>
          <p:nvPr>
            <p:ph type="dt" sz="half" idx="10"/>
          </p:nvPr>
        </p:nvSpPr>
        <p:spPr/>
        <p:txBody>
          <a:bodyPr/>
          <a:lstStyle/>
          <a:p>
            <a:fld id="{4370C7BB-427F-41C5-A5B5-8B091A87CCEF}"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3810" y="-56517"/>
            <a:ext cx="1592580" cy="898879"/>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2140" y="440182"/>
            <a:ext cx="2306955" cy="848360"/>
          </a:xfrm>
          <a:prstGeom prst="rect">
            <a:avLst/>
          </a:prstGeom>
        </p:spPr>
        <p:txBody>
          <a:bodyPr vert="horz" wrap="square" lIns="0" tIns="12700" rIns="0" bIns="0" rtlCol="0">
            <a:spAutoFit/>
          </a:bodyPr>
          <a:lstStyle/>
          <a:p>
            <a:pPr marL="12700">
              <a:lnSpc>
                <a:spcPct val="100000"/>
              </a:lnSpc>
              <a:spcBef>
                <a:spcPts val="100"/>
              </a:spcBef>
            </a:pPr>
            <a:r>
              <a:rPr sz="5400" spc="-5" dirty="0"/>
              <a:t>Origins</a:t>
            </a:r>
            <a:endParaRPr sz="5400"/>
          </a:p>
        </p:txBody>
      </p:sp>
      <p:sp>
        <p:nvSpPr>
          <p:cNvPr id="3" name="object 3"/>
          <p:cNvSpPr/>
          <p:nvPr/>
        </p:nvSpPr>
        <p:spPr>
          <a:xfrm>
            <a:off x="5181600" y="1219200"/>
            <a:ext cx="3572255" cy="4832604"/>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535940" y="1464309"/>
            <a:ext cx="4259580" cy="337947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Palladio Uralic"/>
                <a:cs typeface="Palladio Uralic"/>
              </a:rPr>
              <a:t>Around </a:t>
            </a:r>
            <a:r>
              <a:rPr sz="1800" dirty="0">
                <a:latin typeface="Palladio Uralic"/>
                <a:cs typeface="Palladio Uralic"/>
              </a:rPr>
              <a:t>530 </a:t>
            </a:r>
            <a:r>
              <a:rPr sz="1800" spc="-5" dirty="0">
                <a:latin typeface="Palladio Uralic"/>
                <a:cs typeface="Palladio Uralic"/>
              </a:rPr>
              <a:t>BC </a:t>
            </a:r>
            <a:r>
              <a:rPr sz="1800" dirty="0">
                <a:latin typeface="Palladio Uralic"/>
                <a:cs typeface="Palladio Uralic"/>
              </a:rPr>
              <a:t>a </a:t>
            </a:r>
            <a:r>
              <a:rPr sz="1800" spc="-5" dirty="0">
                <a:latin typeface="Palladio Uralic"/>
                <a:cs typeface="Palladio Uralic"/>
              </a:rPr>
              <a:t>young prince named  Siddhartha Gautama </a:t>
            </a:r>
            <a:r>
              <a:rPr sz="1800" dirty="0">
                <a:latin typeface="Palladio Uralic"/>
                <a:cs typeface="Palladio Uralic"/>
              </a:rPr>
              <a:t>challenged </a:t>
            </a:r>
            <a:r>
              <a:rPr sz="1800" spc="-5" dirty="0">
                <a:latin typeface="Palladio Uralic"/>
                <a:cs typeface="Palladio Uralic"/>
              </a:rPr>
              <a:t>the </a:t>
            </a:r>
            <a:r>
              <a:rPr sz="1800" dirty="0">
                <a:latin typeface="Palladio Uralic"/>
                <a:cs typeface="Palladio Uralic"/>
              </a:rPr>
              <a:t>ideas  </a:t>
            </a:r>
            <a:r>
              <a:rPr sz="1800" spc="-5" dirty="0">
                <a:latin typeface="Palladio Uralic"/>
                <a:cs typeface="Palladio Uralic"/>
              </a:rPr>
              <a:t>of the Brahmin priests and </a:t>
            </a:r>
            <a:r>
              <a:rPr sz="1800" dirty="0">
                <a:latin typeface="Palladio Uralic"/>
                <a:cs typeface="Palladio Uralic"/>
              </a:rPr>
              <a:t>created a </a:t>
            </a:r>
            <a:r>
              <a:rPr sz="1800" spc="-5" dirty="0">
                <a:latin typeface="Palladio Uralic"/>
                <a:cs typeface="Palladio Uralic"/>
              </a:rPr>
              <a:t>new  </a:t>
            </a:r>
            <a:r>
              <a:rPr sz="1800" dirty="0">
                <a:latin typeface="Palladio Uralic"/>
                <a:cs typeface="Palladio Uralic"/>
              </a:rPr>
              <a:t>world </a:t>
            </a:r>
            <a:r>
              <a:rPr sz="1800" spc="-5" dirty="0">
                <a:latin typeface="Palladio Uralic"/>
                <a:cs typeface="Palladio Uralic"/>
              </a:rPr>
              <a:t>religion </a:t>
            </a:r>
            <a:r>
              <a:rPr sz="1800" dirty="0">
                <a:latin typeface="Palladio Uralic"/>
                <a:cs typeface="Palladio Uralic"/>
              </a:rPr>
              <a:t>.</a:t>
            </a:r>
          </a:p>
          <a:p>
            <a:pPr>
              <a:lnSpc>
                <a:spcPct val="100000"/>
              </a:lnSpc>
              <a:spcBef>
                <a:spcPts val="55"/>
              </a:spcBef>
            </a:pPr>
            <a:endParaRPr sz="1750" dirty="0">
              <a:latin typeface="Palladio Uralic"/>
              <a:cs typeface="Palladio Uralic"/>
            </a:endParaRPr>
          </a:p>
          <a:p>
            <a:pPr marL="88900">
              <a:lnSpc>
                <a:spcPct val="100000"/>
              </a:lnSpc>
            </a:pPr>
            <a:r>
              <a:rPr sz="2000" dirty="0">
                <a:latin typeface="Palladio Uralic"/>
                <a:cs typeface="Palladio Uralic"/>
              </a:rPr>
              <a:t>Born </a:t>
            </a:r>
            <a:r>
              <a:rPr sz="2000" spc="-5" dirty="0">
                <a:latin typeface="Palladio Uralic"/>
                <a:cs typeface="Palladio Uralic"/>
              </a:rPr>
              <a:t>in </a:t>
            </a:r>
            <a:r>
              <a:rPr sz="2000" spc="5" dirty="0">
                <a:latin typeface="Palladio Uralic"/>
                <a:cs typeface="Palladio Uralic"/>
              </a:rPr>
              <a:t>563 </a:t>
            </a:r>
            <a:r>
              <a:rPr sz="2000" dirty="0">
                <a:latin typeface="Palladio Uralic"/>
                <a:cs typeface="Palladio Uralic"/>
              </a:rPr>
              <a:t>BC </a:t>
            </a:r>
            <a:r>
              <a:rPr sz="2000" spc="-5" dirty="0">
                <a:latin typeface="Palladio Uralic"/>
                <a:cs typeface="Palladio Uralic"/>
              </a:rPr>
              <a:t>into the</a:t>
            </a:r>
            <a:r>
              <a:rPr sz="2000" spc="-80" dirty="0">
                <a:latin typeface="Palladio Uralic"/>
                <a:cs typeface="Palladio Uralic"/>
              </a:rPr>
              <a:t> </a:t>
            </a:r>
            <a:r>
              <a:rPr sz="2000" spc="-5" dirty="0">
                <a:latin typeface="Palladio Uralic"/>
                <a:cs typeface="Palladio Uralic"/>
              </a:rPr>
              <a:t>warrior</a:t>
            </a:r>
            <a:endParaRPr sz="2000" dirty="0">
              <a:latin typeface="Palladio Uralic"/>
              <a:cs typeface="Palladio Uralic"/>
            </a:endParaRPr>
          </a:p>
          <a:p>
            <a:pPr marL="88900">
              <a:lnSpc>
                <a:spcPct val="100000"/>
              </a:lnSpc>
            </a:pPr>
            <a:r>
              <a:rPr sz="2000" dirty="0">
                <a:latin typeface="Palladio Uralic"/>
                <a:cs typeface="Palladio Uralic"/>
              </a:rPr>
              <a:t>caste</a:t>
            </a:r>
          </a:p>
          <a:p>
            <a:pPr marL="546100" marR="364490">
              <a:lnSpc>
                <a:spcPct val="100000"/>
              </a:lnSpc>
              <a:spcBef>
                <a:spcPts val="10"/>
              </a:spcBef>
            </a:pPr>
            <a:r>
              <a:rPr sz="1800" spc="-5" dirty="0">
                <a:latin typeface="Palladio Uralic"/>
                <a:cs typeface="Palladio Uralic"/>
              </a:rPr>
              <a:t>He </a:t>
            </a:r>
            <a:r>
              <a:rPr sz="1800" dirty="0">
                <a:latin typeface="Palladio Uralic"/>
                <a:cs typeface="Palladio Uralic"/>
              </a:rPr>
              <a:t>lived </a:t>
            </a:r>
            <a:r>
              <a:rPr sz="1800" spc="-5" dirty="0">
                <a:latin typeface="Palladio Uralic"/>
                <a:cs typeface="Palladio Uralic"/>
              </a:rPr>
              <a:t>in luxury in his</a:t>
            </a:r>
            <a:r>
              <a:rPr sz="1800" spc="-65" dirty="0">
                <a:latin typeface="Palladio Uralic"/>
                <a:cs typeface="Palladio Uralic"/>
              </a:rPr>
              <a:t> </a:t>
            </a:r>
            <a:r>
              <a:rPr sz="1800" dirty="0">
                <a:latin typeface="Palladio Uralic"/>
                <a:cs typeface="Palladio Uralic"/>
              </a:rPr>
              <a:t>family’s  </a:t>
            </a:r>
            <a:r>
              <a:rPr sz="1800" spc="-5" dirty="0">
                <a:latin typeface="Palladio Uralic"/>
                <a:cs typeface="Palladio Uralic"/>
              </a:rPr>
              <a:t>palaces </a:t>
            </a:r>
            <a:r>
              <a:rPr sz="1800" dirty="0">
                <a:latin typeface="Palladio Uralic"/>
                <a:cs typeface="Palladio Uralic"/>
              </a:rPr>
              <a:t>and </a:t>
            </a:r>
            <a:r>
              <a:rPr sz="1800" spc="-5" dirty="0">
                <a:latin typeface="Palladio Uralic"/>
                <a:cs typeface="Palladio Uralic"/>
              </a:rPr>
              <a:t>never experienced  pain, </a:t>
            </a:r>
            <a:r>
              <a:rPr sz="1800" dirty="0">
                <a:latin typeface="Palladio Uralic"/>
                <a:cs typeface="Palladio Uralic"/>
              </a:rPr>
              <a:t>suffering, </a:t>
            </a:r>
            <a:r>
              <a:rPr sz="1800" spc="-5" dirty="0">
                <a:latin typeface="Palladio Uralic"/>
                <a:cs typeface="Palladio Uralic"/>
              </a:rPr>
              <a:t>or</a:t>
            </a:r>
            <a:r>
              <a:rPr sz="1800" spc="-10" dirty="0">
                <a:latin typeface="Palladio Uralic"/>
                <a:cs typeface="Palladio Uralic"/>
              </a:rPr>
              <a:t> </a:t>
            </a:r>
            <a:r>
              <a:rPr sz="1800" dirty="0">
                <a:latin typeface="Palladio Uralic"/>
                <a:cs typeface="Palladio Uralic"/>
              </a:rPr>
              <a:t>death</a:t>
            </a:r>
          </a:p>
          <a:p>
            <a:pPr marL="546100">
              <a:lnSpc>
                <a:spcPct val="100000"/>
              </a:lnSpc>
            </a:pPr>
            <a:r>
              <a:rPr sz="1800" spc="-5" dirty="0">
                <a:latin typeface="Palladio Uralic"/>
                <a:cs typeface="Palladio Uralic"/>
              </a:rPr>
              <a:t>He married </a:t>
            </a:r>
            <a:r>
              <a:rPr sz="1800" dirty="0">
                <a:latin typeface="Palladio Uralic"/>
                <a:cs typeface="Palladio Uralic"/>
              </a:rPr>
              <a:t>a </a:t>
            </a:r>
            <a:r>
              <a:rPr sz="1800" spc="-5" dirty="0">
                <a:latin typeface="Palladio Uralic"/>
                <a:cs typeface="Palladio Uralic"/>
              </a:rPr>
              <a:t>beautiful</a:t>
            </a:r>
            <a:r>
              <a:rPr sz="1800" spc="-10" dirty="0">
                <a:latin typeface="Palladio Uralic"/>
                <a:cs typeface="Palladio Uralic"/>
              </a:rPr>
              <a:t> </a:t>
            </a:r>
            <a:r>
              <a:rPr sz="1800" spc="-5" dirty="0">
                <a:latin typeface="Palladio Uralic"/>
                <a:cs typeface="Palladio Uralic"/>
              </a:rPr>
              <a:t>woman</a:t>
            </a:r>
            <a:endParaRPr sz="1800" dirty="0">
              <a:latin typeface="Palladio Uralic"/>
              <a:cs typeface="Palladio Uralic"/>
            </a:endParaRPr>
          </a:p>
          <a:p>
            <a:pPr marL="546100">
              <a:lnSpc>
                <a:spcPct val="100000"/>
              </a:lnSpc>
            </a:pPr>
            <a:r>
              <a:rPr sz="1800" spc="-5" dirty="0">
                <a:latin typeface="Palladio Uralic"/>
                <a:cs typeface="Palladio Uralic"/>
              </a:rPr>
              <a:t>and they had </a:t>
            </a:r>
            <a:r>
              <a:rPr sz="1800" dirty="0">
                <a:latin typeface="Palladio Uralic"/>
                <a:cs typeface="Palladio Uralic"/>
              </a:rPr>
              <a:t>a</a:t>
            </a:r>
            <a:r>
              <a:rPr sz="1800" spc="-20" dirty="0">
                <a:latin typeface="Palladio Uralic"/>
                <a:cs typeface="Palladio Uralic"/>
              </a:rPr>
              <a:t> </a:t>
            </a:r>
            <a:r>
              <a:rPr sz="1800" dirty="0">
                <a:latin typeface="Palladio Uralic"/>
                <a:cs typeface="Palladio Uralic"/>
              </a:rPr>
              <a:t>son.</a:t>
            </a:r>
          </a:p>
        </p:txBody>
      </p:sp>
      <p:sp>
        <p:nvSpPr>
          <p:cNvPr id="5"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3810" y="-56517"/>
            <a:ext cx="1592580" cy="898879"/>
          </a:xfrm>
          <a:prstGeom prst="rect">
            <a:avLst/>
          </a:prstGeom>
          <a:noFill/>
        </p:spPr>
      </p:pic>
      <p:sp>
        <p:nvSpPr>
          <p:cNvPr id="7" name="Date Placeholder 6"/>
          <p:cNvSpPr>
            <a:spLocks noGrp="1"/>
          </p:cNvSpPr>
          <p:nvPr>
            <p:ph type="dt" sz="half" idx="10"/>
          </p:nvPr>
        </p:nvSpPr>
        <p:spPr/>
        <p:txBody>
          <a:bodyPr/>
          <a:lstStyle/>
          <a:p>
            <a:fld id="{C6700195-440D-4556-B168-A8C763FD402D}" type="datetime1">
              <a:rPr lang="en-US" smtClean="0"/>
              <a:pPr/>
              <a:t>3/26/2022</a:t>
            </a:fld>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21</a:t>
            </a:fld>
            <a:endParaRPr lang="en-US" dirty="0"/>
          </a:p>
        </p:txBody>
      </p:sp>
      <p:sp>
        <p:nvSpPr>
          <p:cNvPr id="9" name="Footer Placeholder 8"/>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3720439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3505200"/>
            <a:ext cx="8839200" cy="3352795"/>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990600" y="1219200"/>
            <a:ext cx="6395720" cy="2084545"/>
          </a:xfrm>
          <a:prstGeom prst="rect">
            <a:avLst/>
          </a:prstGeom>
        </p:spPr>
        <p:txBody>
          <a:bodyPr vert="horz" wrap="square" lIns="0" tIns="12065" rIns="0" bIns="0" rtlCol="0">
            <a:spAutoFit/>
          </a:bodyPr>
          <a:lstStyle/>
          <a:p>
            <a:pPr marL="12700" marR="1560195">
              <a:lnSpc>
                <a:spcPct val="100000"/>
              </a:lnSpc>
              <a:spcBef>
                <a:spcPts val="95"/>
              </a:spcBef>
            </a:pPr>
            <a:r>
              <a:rPr sz="1600" spc="-5" dirty="0">
                <a:latin typeface="Palladio Uralic"/>
                <a:cs typeface="Palladio Uralic"/>
              </a:rPr>
              <a:t>One day while riding in his chariot outside </a:t>
            </a:r>
            <a:r>
              <a:rPr sz="1600" spc="-10" dirty="0">
                <a:latin typeface="Palladio Uralic"/>
                <a:cs typeface="Palladio Uralic"/>
              </a:rPr>
              <a:t>the </a:t>
            </a:r>
            <a:r>
              <a:rPr sz="1600" spc="-5" dirty="0">
                <a:latin typeface="Palladio Uralic"/>
                <a:cs typeface="Palladio Uralic"/>
              </a:rPr>
              <a:t>palace  walls, Gautama saw a sick man, an old man, and a  dead</a:t>
            </a:r>
            <a:r>
              <a:rPr sz="1600" spc="-15" dirty="0">
                <a:latin typeface="Palladio Uralic"/>
                <a:cs typeface="Palladio Uralic"/>
              </a:rPr>
              <a:t> </a:t>
            </a:r>
            <a:r>
              <a:rPr sz="1600" spc="-5" dirty="0">
                <a:latin typeface="Palladio Uralic"/>
                <a:cs typeface="Palladio Uralic"/>
              </a:rPr>
              <a:t>man.</a:t>
            </a:r>
            <a:endParaRPr sz="1600" dirty="0">
              <a:latin typeface="Palladio Uralic"/>
              <a:cs typeface="Palladio Uralic"/>
            </a:endParaRPr>
          </a:p>
          <a:p>
            <a:pPr marL="12700" marR="5080">
              <a:lnSpc>
                <a:spcPct val="100000"/>
              </a:lnSpc>
              <a:spcBef>
                <a:spcPts val="840"/>
              </a:spcBef>
            </a:pPr>
            <a:r>
              <a:rPr sz="1600" spc="-5" dirty="0">
                <a:latin typeface="Palladio Uralic"/>
                <a:cs typeface="Palladio Uralic"/>
              </a:rPr>
              <a:t>He realized </a:t>
            </a:r>
            <a:r>
              <a:rPr sz="1600" spc="-10" dirty="0">
                <a:latin typeface="Palladio Uralic"/>
                <a:cs typeface="Palladio Uralic"/>
              </a:rPr>
              <a:t>that </a:t>
            </a:r>
            <a:r>
              <a:rPr sz="1600" spc="-5" dirty="0">
                <a:latin typeface="Palladio Uralic"/>
                <a:cs typeface="Palladio Uralic"/>
              </a:rPr>
              <a:t>life was an endless cycle of pain and </a:t>
            </a:r>
            <a:r>
              <a:rPr sz="1600" spc="-10" dirty="0">
                <a:latin typeface="Palladio Uralic"/>
                <a:cs typeface="Palladio Uralic"/>
              </a:rPr>
              <a:t>that the </a:t>
            </a:r>
            <a:r>
              <a:rPr sz="1600" spc="-5" dirty="0">
                <a:latin typeface="Palladio Uralic"/>
                <a:cs typeface="Palladio Uralic"/>
              </a:rPr>
              <a:t>only way  to escape </a:t>
            </a:r>
            <a:r>
              <a:rPr sz="1600" spc="-10" dirty="0">
                <a:latin typeface="Palladio Uralic"/>
                <a:cs typeface="Palladio Uralic"/>
              </a:rPr>
              <a:t>that </a:t>
            </a:r>
            <a:r>
              <a:rPr sz="1600" spc="-5" dirty="0">
                <a:latin typeface="Palladio Uralic"/>
                <a:cs typeface="Palladio Uralic"/>
              </a:rPr>
              <a:t>cycle was </a:t>
            </a:r>
            <a:r>
              <a:rPr sz="1600" spc="-10" dirty="0">
                <a:latin typeface="Palladio Uralic"/>
                <a:cs typeface="Palladio Uralic"/>
              </a:rPr>
              <a:t>to </a:t>
            </a:r>
            <a:r>
              <a:rPr sz="1600" spc="-5" dirty="0">
                <a:latin typeface="Palladio Uralic"/>
                <a:cs typeface="Palladio Uralic"/>
              </a:rPr>
              <a:t>seek</a:t>
            </a:r>
            <a:r>
              <a:rPr sz="1600" spc="50" dirty="0">
                <a:latin typeface="Palladio Uralic"/>
                <a:cs typeface="Palladio Uralic"/>
              </a:rPr>
              <a:t> </a:t>
            </a:r>
            <a:r>
              <a:rPr sz="1600" spc="-5" dirty="0">
                <a:latin typeface="Palladio Uralic"/>
                <a:cs typeface="Palladio Uralic"/>
              </a:rPr>
              <a:t>wisdom</a:t>
            </a:r>
            <a:endParaRPr sz="1600" dirty="0">
              <a:latin typeface="Palladio Uralic"/>
              <a:cs typeface="Palladio Uralic"/>
            </a:endParaRPr>
          </a:p>
          <a:p>
            <a:pPr marL="12700" marR="617220">
              <a:lnSpc>
                <a:spcPct val="100000"/>
              </a:lnSpc>
            </a:pPr>
            <a:r>
              <a:rPr sz="1600" spc="-5" dirty="0">
                <a:latin typeface="Palladio Uralic"/>
                <a:cs typeface="Palladio Uralic"/>
              </a:rPr>
              <a:t>He left his family when he was about 29 and became a homeless  wanderer with five other men who were also seeking</a:t>
            </a:r>
            <a:r>
              <a:rPr sz="1600" spc="100" dirty="0">
                <a:latin typeface="Palladio Uralic"/>
                <a:cs typeface="Palladio Uralic"/>
              </a:rPr>
              <a:t> </a:t>
            </a:r>
            <a:r>
              <a:rPr sz="1600" spc="-5" dirty="0">
                <a:latin typeface="Palladio Uralic"/>
                <a:cs typeface="Palladio Uralic"/>
              </a:rPr>
              <a:t>wisdom.</a:t>
            </a:r>
            <a:endParaRPr sz="1600" dirty="0">
              <a:latin typeface="Palladio Uralic"/>
              <a:cs typeface="Palladio Uralic"/>
            </a:endParaRPr>
          </a:p>
        </p:txBody>
      </p:sp>
      <p:sp>
        <p:nvSpPr>
          <p:cNvPr id="4"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3"/>
          <a:srcRect/>
          <a:stretch>
            <a:fillRect/>
          </a:stretch>
        </p:blipFill>
        <p:spPr bwMode="auto">
          <a:xfrm>
            <a:off x="3810" y="-56517"/>
            <a:ext cx="1592580" cy="898879"/>
          </a:xfrm>
          <a:prstGeom prst="rect">
            <a:avLst/>
          </a:prstGeom>
          <a:noFill/>
        </p:spPr>
      </p:pic>
      <p:sp>
        <p:nvSpPr>
          <p:cNvPr id="6" name="Date Placeholder 5"/>
          <p:cNvSpPr>
            <a:spLocks noGrp="1"/>
          </p:cNvSpPr>
          <p:nvPr>
            <p:ph type="dt" sz="half" idx="10"/>
          </p:nvPr>
        </p:nvSpPr>
        <p:spPr/>
        <p:txBody>
          <a:bodyPr/>
          <a:lstStyle/>
          <a:p>
            <a:fld id="{D96DF3B2-3E8D-4A34-A484-EAD6B2D48157}"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dirty="0"/>
          </a:p>
        </p:txBody>
      </p:sp>
      <p:sp>
        <p:nvSpPr>
          <p:cNvPr id="8" name="Footer Placeholder 7"/>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1731398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0"/>
            <a:ext cx="7967980" cy="2007870"/>
          </a:xfrm>
          <a:prstGeom prst="rect">
            <a:avLst/>
          </a:prstGeom>
        </p:spPr>
        <p:txBody>
          <a:bodyPr vert="horz" wrap="square" lIns="0" tIns="12700" rIns="0" bIns="0" rtlCol="0">
            <a:spAutoFit/>
          </a:bodyPr>
          <a:lstStyle/>
          <a:p>
            <a:pPr marL="12700">
              <a:lnSpc>
                <a:spcPct val="100000"/>
              </a:lnSpc>
              <a:spcBef>
                <a:spcPts val="100"/>
              </a:spcBef>
            </a:pPr>
            <a:r>
              <a:rPr sz="2000" spc="-5" dirty="0">
                <a:latin typeface="Palladio Uralic"/>
                <a:cs typeface="Palladio Uralic"/>
              </a:rPr>
              <a:t>Gautama tried to </a:t>
            </a:r>
            <a:r>
              <a:rPr sz="2000" dirty="0">
                <a:latin typeface="Palladio Uralic"/>
                <a:cs typeface="Palladio Uralic"/>
              </a:rPr>
              <a:t>find wisdom </a:t>
            </a:r>
            <a:r>
              <a:rPr sz="2000" spc="-5" dirty="0">
                <a:latin typeface="Palladio Uralic"/>
                <a:cs typeface="Palladio Uralic"/>
              </a:rPr>
              <a:t>through physical </a:t>
            </a:r>
            <a:r>
              <a:rPr sz="2000" dirty="0">
                <a:latin typeface="Palladio Uralic"/>
                <a:cs typeface="Palladio Uralic"/>
              </a:rPr>
              <a:t>suffering</a:t>
            </a:r>
            <a:r>
              <a:rPr sz="2000" spc="-155" dirty="0">
                <a:latin typeface="Palladio Uralic"/>
                <a:cs typeface="Palladio Uralic"/>
              </a:rPr>
              <a:t> </a:t>
            </a:r>
            <a:r>
              <a:rPr sz="2000" dirty="0">
                <a:latin typeface="Palladio Uralic"/>
                <a:cs typeface="Palladio Uralic"/>
              </a:rPr>
              <a:t>and</a:t>
            </a:r>
          </a:p>
          <a:p>
            <a:pPr marL="12700">
              <a:lnSpc>
                <a:spcPct val="100000"/>
              </a:lnSpc>
            </a:pPr>
            <a:r>
              <a:rPr sz="2000" spc="-5" dirty="0">
                <a:latin typeface="Palladio Uralic"/>
                <a:cs typeface="Palladio Uralic"/>
              </a:rPr>
              <a:t>harsh </a:t>
            </a:r>
            <a:r>
              <a:rPr sz="2000" dirty="0">
                <a:latin typeface="Palladio Uralic"/>
                <a:cs typeface="Palladio Uralic"/>
              </a:rPr>
              <a:t>discipline </a:t>
            </a:r>
            <a:r>
              <a:rPr sz="2000" spc="-5" dirty="0">
                <a:latin typeface="Palladio Uralic"/>
                <a:cs typeface="Palladio Uralic"/>
              </a:rPr>
              <a:t>but instead </a:t>
            </a:r>
            <a:r>
              <a:rPr sz="2000" dirty="0">
                <a:latin typeface="Palladio Uralic"/>
                <a:cs typeface="Palladio Uralic"/>
              </a:rPr>
              <a:t>he </a:t>
            </a:r>
            <a:r>
              <a:rPr sz="2000" spc="-5" dirty="0">
                <a:latin typeface="Palladio Uralic"/>
                <a:cs typeface="Palladio Uralic"/>
              </a:rPr>
              <a:t>gained only</a:t>
            </a:r>
            <a:r>
              <a:rPr sz="2000" spc="-65" dirty="0">
                <a:latin typeface="Palladio Uralic"/>
                <a:cs typeface="Palladio Uralic"/>
              </a:rPr>
              <a:t> </a:t>
            </a:r>
            <a:r>
              <a:rPr sz="2000" spc="-5" dirty="0">
                <a:latin typeface="Palladio Uralic"/>
                <a:cs typeface="Palladio Uralic"/>
              </a:rPr>
              <a:t>pain.</a:t>
            </a:r>
            <a:endParaRPr sz="2000" dirty="0">
              <a:latin typeface="Palladio Uralic"/>
              <a:cs typeface="Palladio Uralic"/>
            </a:endParaRPr>
          </a:p>
          <a:p>
            <a:pPr marL="12700" marR="5080">
              <a:lnSpc>
                <a:spcPct val="100000"/>
              </a:lnSpc>
              <a:spcBef>
                <a:spcPts val="1205"/>
              </a:spcBef>
            </a:pPr>
            <a:r>
              <a:rPr sz="2000" dirty="0">
                <a:latin typeface="Palladio Uralic"/>
                <a:cs typeface="Palladio Uralic"/>
              </a:rPr>
              <a:t>At last, after days of meditating deeply in </a:t>
            </a:r>
            <a:r>
              <a:rPr sz="2000" spc="-5" dirty="0">
                <a:latin typeface="Palladio Uralic"/>
                <a:cs typeface="Palladio Uralic"/>
              </a:rPr>
              <a:t>the </a:t>
            </a:r>
            <a:r>
              <a:rPr sz="2000" dirty="0">
                <a:latin typeface="Palladio Uralic"/>
                <a:cs typeface="Palladio Uralic"/>
              </a:rPr>
              <a:t>shade of a </a:t>
            </a:r>
            <a:r>
              <a:rPr sz="2000" spc="-5" dirty="0">
                <a:latin typeface="Palladio Uralic"/>
                <a:cs typeface="Palladio Uralic"/>
              </a:rPr>
              <a:t>tree, Gautama  </a:t>
            </a:r>
            <a:r>
              <a:rPr sz="2000" dirty="0">
                <a:latin typeface="Palladio Uralic"/>
                <a:cs typeface="Palladio Uralic"/>
              </a:rPr>
              <a:t>felt </a:t>
            </a:r>
            <a:r>
              <a:rPr sz="2000" spc="-5" dirty="0">
                <a:latin typeface="Palladio Uralic"/>
                <a:cs typeface="Palladio Uralic"/>
              </a:rPr>
              <a:t>that the truth had come to</a:t>
            </a:r>
            <a:r>
              <a:rPr sz="2000" spc="-60" dirty="0">
                <a:latin typeface="Palladio Uralic"/>
                <a:cs typeface="Palladio Uralic"/>
              </a:rPr>
              <a:t> </a:t>
            </a:r>
            <a:r>
              <a:rPr sz="2000" spc="-5" dirty="0">
                <a:latin typeface="Palladio Uralic"/>
                <a:cs typeface="Palladio Uralic"/>
              </a:rPr>
              <a:t>him</a:t>
            </a:r>
            <a:endParaRPr sz="2000" dirty="0">
              <a:latin typeface="Palladio Uralic"/>
              <a:cs typeface="Palladio Uralic"/>
            </a:endParaRPr>
          </a:p>
          <a:p>
            <a:pPr marL="12700">
              <a:lnSpc>
                <a:spcPct val="100000"/>
              </a:lnSpc>
            </a:pPr>
            <a:r>
              <a:rPr sz="2000" dirty="0">
                <a:latin typeface="Palladio Uralic"/>
                <a:cs typeface="Palladio Uralic"/>
              </a:rPr>
              <a:t>At </a:t>
            </a:r>
            <a:r>
              <a:rPr sz="2000" spc="-5" dirty="0">
                <a:latin typeface="Palladio Uralic"/>
                <a:cs typeface="Palladio Uralic"/>
              </a:rPr>
              <a:t>this point, he became to known </a:t>
            </a:r>
            <a:r>
              <a:rPr sz="2000" dirty="0">
                <a:latin typeface="Palladio Uralic"/>
                <a:cs typeface="Palladio Uralic"/>
              </a:rPr>
              <a:t>as “The </a:t>
            </a:r>
            <a:r>
              <a:rPr sz="2000" spc="-5" dirty="0">
                <a:latin typeface="Palladio Uralic"/>
                <a:cs typeface="Palladio Uralic"/>
              </a:rPr>
              <a:t>Enlightened One,”</a:t>
            </a:r>
            <a:r>
              <a:rPr sz="2000" spc="-50" dirty="0">
                <a:latin typeface="Palladio Uralic"/>
                <a:cs typeface="Palladio Uralic"/>
              </a:rPr>
              <a:t> </a:t>
            </a:r>
            <a:r>
              <a:rPr sz="2000" dirty="0">
                <a:latin typeface="Palladio Uralic"/>
                <a:cs typeface="Palladio Uralic"/>
              </a:rPr>
              <a:t>or</a:t>
            </a:r>
          </a:p>
          <a:p>
            <a:pPr marL="12700">
              <a:lnSpc>
                <a:spcPct val="100000"/>
              </a:lnSpc>
            </a:pPr>
            <a:r>
              <a:rPr sz="2000" dirty="0">
                <a:latin typeface="Palladio Uralic"/>
                <a:cs typeface="Palladio Uralic"/>
              </a:rPr>
              <a:t>Buddha.</a:t>
            </a:r>
          </a:p>
        </p:txBody>
      </p:sp>
      <p:sp>
        <p:nvSpPr>
          <p:cNvPr id="3" name="object 3"/>
          <p:cNvSpPr/>
          <p:nvPr/>
        </p:nvSpPr>
        <p:spPr>
          <a:xfrm>
            <a:off x="0" y="1981198"/>
            <a:ext cx="9144000" cy="4876800"/>
          </a:xfrm>
          <a:prstGeom prst="rect">
            <a:avLst/>
          </a:prstGeom>
          <a:blipFill>
            <a:blip r:embed="rId2" cstate="print"/>
            <a:stretch>
              <a:fillRect/>
            </a:stretch>
          </a:blipFill>
        </p:spPr>
        <p:txBody>
          <a:bodyPr wrap="square" lIns="0" tIns="0" rIns="0" bIns="0" rtlCol="0"/>
          <a:lstStyle/>
          <a:p>
            <a:endParaRPr/>
          </a:p>
        </p:txBody>
      </p:sp>
      <p:sp>
        <p:nvSpPr>
          <p:cNvPr id="4"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3"/>
          <a:srcRect/>
          <a:stretch>
            <a:fillRect/>
          </a:stretch>
        </p:blipFill>
        <p:spPr bwMode="auto">
          <a:xfrm>
            <a:off x="3810" y="-56517"/>
            <a:ext cx="1592580" cy="898879"/>
          </a:xfrm>
          <a:prstGeom prst="rect">
            <a:avLst/>
          </a:prstGeom>
          <a:noFill/>
        </p:spPr>
      </p:pic>
      <p:sp>
        <p:nvSpPr>
          <p:cNvPr id="6" name="Date Placeholder 5"/>
          <p:cNvSpPr>
            <a:spLocks noGrp="1"/>
          </p:cNvSpPr>
          <p:nvPr>
            <p:ph type="dt" sz="half" idx="10"/>
          </p:nvPr>
        </p:nvSpPr>
        <p:spPr/>
        <p:txBody>
          <a:bodyPr/>
          <a:lstStyle/>
          <a:p>
            <a:fld id="{9700818C-21C0-4718-AD15-A180F5EDA58E}"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23</a:t>
            </a:fld>
            <a:endParaRPr lang="en-US" dirty="0"/>
          </a:p>
        </p:txBody>
      </p:sp>
      <p:sp>
        <p:nvSpPr>
          <p:cNvPr id="8" name="Footer Placeholder 7"/>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710645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074166"/>
            <a:ext cx="5675630" cy="4805045"/>
          </a:xfrm>
          <a:prstGeom prst="rect">
            <a:avLst/>
          </a:prstGeom>
        </p:spPr>
        <p:txBody>
          <a:bodyPr vert="horz" wrap="square" lIns="0" tIns="3175" rIns="0" bIns="0" rtlCol="0">
            <a:spAutoFit/>
          </a:bodyPr>
          <a:lstStyle/>
          <a:p>
            <a:pPr marL="12700" marR="531495">
              <a:lnSpc>
                <a:spcPct val="102000"/>
              </a:lnSpc>
              <a:spcBef>
                <a:spcPts val="25"/>
              </a:spcBef>
            </a:pPr>
            <a:r>
              <a:rPr sz="2800" spc="-5" dirty="0">
                <a:latin typeface="Palladio Uralic"/>
                <a:cs typeface="Palladio Uralic"/>
              </a:rPr>
              <a:t>First </a:t>
            </a:r>
            <a:r>
              <a:rPr sz="2800" spc="-10" dirty="0">
                <a:latin typeface="Palladio Uralic"/>
                <a:cs typeface="Palladio Uralic"/>
              </a:rPr>
              <a:t>Noble </a:t>
            </a:r>
            <a:r>
              <a:rPr sz="2800" spc="-5" dirty="0">
                <a:latin typeface="Palladio Uralic"/>
                <a:cs typeface="Palladio Uralic"/>
              </a:rPr>
              <a:t>Truth: </a:t>
            </a:r>
            <a:r>
              <a:rPr sz="2000" spc="-5" dirty="0">
                <a:latin typeface="Palladio Uralic"/>
                <a:cs typeface="Palladio Uralic"/>
              </a:rPr>
              <a:t>Everything in </a:t>
            </a:r>
            <a:r>
              <a:rPr sz="2000" dirty="0">
                <a:latin typeface="Palladio Uralic"/>
                <a:cs typeface="Palladio Uralic"/>
              </a:rPr>
              <a:t>life is  suffering and</a:t>
            </a:r>
            <a:r>
              <a:rPr sz="2000" spc="-60" dirty="0">
                <a:latin typeface="Palladio Uralic"/>
                <a:cs typeface="Palladio Uralic"/>
              </a:rPr>
              <a:t> </a:t>
            </a:r>
            <a:r>
              <a:rPr sz="2000" dirty="0">
                <a:latin typeface="Palladio Uralic"/>
                <a:cs typeface="Palladio Uralic"/>
              </a:rPr>
              <a:t>sorrow.</a:t>
            </a:r>
          </a:p>
          <a:p>
            <a:pPr>
              <a:lnSpc>
                <a:spcPct val="100000"/>
              </a:lnSpc>
              <a:spcBef>
                <a:spcPts val="30"/>
              </a:spcBef>
            </a:pPr>
            <a:endParaRPr sz="2350" dirty="0">
              <a:latin typeface="Palladio Uralic"/>
              <a:cs typeface="Palladio Uralic"/>
            </a:endParaRPr>
          </a:p>
          <a:p>
            <a:pPr marL="12700" marR="5080">
              <a:lnSpc>
                <a:spcPct val="100299"/>
              </a:lnSpc>
              <a:spcBef>
                <a:spcPts val="5"/>
              </a:spcBef>
            </a:pPr>
            <a:r>
              <a:rPr sz="2400" spc="-5" dirty="0">
                <a:latin typeface="Palladio Uralic"/>
                <a:cs typeface="Palladio Uralic"/>
              </a:rPr>
              <a:t>Second Noble Truth: </a:t>
            </a:r>
            <a:r>
              <a:rPr sz="2000" spc="-5" dirty="0">
                <a:latin typeface="Palladio Uralic"/>
                <a:cs typeface="Palladio Uralic"/>
              </a:rPr>
              <a:t>The </a:t>
            </a:r>
            <a:r>
              <a:rPr sz="2000" dirty="0">
                <a:latin typeface="Palladio Uralic"/>
                <a:cs typeface="Palladio Uralic"/>
              </a:rPr>
              <a:t>cause of all </a:t>
            </a:r>
            <a:r>
              <a:rPr sz="2000" spc="-5" dirty="0">
                <a:latin typeface="Palladio Uralic"/>
                <a:cs typeface="Palladio Uralic"/>
              </a:rPr>
              <a:t>this </a:t>
            </a:r>
            <a:r>
              <a:rPr sz="2000" dirty="0">
                <a:latin typeface="Palladio Uralic"/>
                <a:cs typeface="Palladio Uralic"/>
              </a:rPr>
              <a:t>pain  is </a:t>
            </a:r>
            <a:r>
              <a:rPr sz="2000" spc="-5" dirty="0">
                <a:latin typeface="Palladio Uralic"/>
                <a:cs typeface="Palladio Uralic"/>
              </a:rPr>
              <a:t>people’s </a:t>
            </a:r>
            <a:r>
              <a:rPr sz="2000" dirty="0">
                <a:latin typeface="Palladio Uralic"/>
                <a:cs typeface="Palladio Uralic"/>
              </a:rPr>
              <a:t>self-centered cravings and </a:t>
            </a:r>
            <a:r>
              <a:rPr sz="2000" spc="-5" dirty="0">
                <a:latin typeface="Palladio Uralic"/>
                <a:cs typeface="Palladio Uralic"/>
              </a:rPr>
              <a:t>desires </a:t>
            </a:r>
            <a:r>
              <a:rPr sz="2000" dirty="0">
                <a:latin typeface="Palladio Uralic"/>
                <a:cs typeface="Palladio Uralic"/>
              </a:rPr>
              <a:t>---  </a:t>
            </a:r>
            <a:r>
              <a:rPr sz="2000" spc="-5" dirty="0">
                <a:latin typeface="Palladio Uralic"/>
                <a:cs typeface="Palladio Uralic"/>
              </a:rPr>
              <a:t>people </a:t>
            </a:r>
            <a:r>
              <a:rPr sz="2000" dirty="0">
                <a:latin typeface="Palladio Uralic"/>
                <a:cs typeface="Palladio Uralic"/>
              </a:rPr>
              <a:t>seek pleasure </a:t>
            </a:r>
            <a:r>
              <a:rPr sz="2000" spc="-5" dirty="0">
                <a:latin typeface="Palladio Uralic"/>
                <a:cs typeface="Palladio Uralic"/>
              </a:rPr>
              <a:t>that </a:t>
            </a:r>
            <a:r>
              <a:rPr sz="2000" dirty="0">
                <a:latin typeface="Palladio Uralic"/>
                <a:cs typeface="Palladio Uralic"/>
              </a:rPr>
              <a:t>cannot last and </a:t>
            </a:r>
            <a:r>
              <a:rPr sz="2000" spc="-10" dirty="0">
                <a:latin typeface="Palladio Uralic"/>
                <a:cs typeface="Palladio Uralic"/>
              </a:rPr>
              <a:t>that  </a:t>
            </a:r>
            <a:r>
              <a:rPr sz="2000" dirty="0">
                <a:latin typeface="Palladio Uralic"/>
                <a:cs typeface="Palladio Uralic"/>
              </a:rPr>
              <a:t>leads </a:t>
            </a:r>
            <a:r>
              <a:rPr sz="2000" spc="-5" dirty="0">
                <a:latin typeface="Palladio Uralic"/>
                <a:cs typeface="Palladio Uralic"/>
              </a:rPr>
              <a:t>only to </a:t>
            </a:r>
            <a:r>
              <a:rPr sz="2000" dirty="0">
                <a:latin typeface="Palladio Uralic"/>
                <a:cs typeface="Palladio Uralic"/>
              </a:rPr>
              <a:t>rebirth and more</a:t>
            </a:r>
            <a:r>
              <a:rPr sz="2000" spc="-70" dirty="0">
                <a:latin typeface="Palladio Uralic"/>
                <a:cs typeface="Palladio Uralic"/>
              </a:rPr>
              <a:t> </a:t>
            </a:r>
            <a:r>
              <a:rPr sz="2000" dirty="0">
                <a:latin typeface="Palladio Uralic"/>
                <a:cs typeface="Palladio Uralic"/>
              </a:rPr>
              <a:t>suffering.</a:t>
            </a:r>
          </a:p>
          <a:p>
            <a:pPr>
              <a:lnSpc>
                <a:spcPct val="100000"/>
              </a:lnSpc>
              <a:spcBef>
                <a:spcPts val="10"/>
              </a:spcBef>
            </a:pPr>
            <a:endParaRPr sz="2850" dirty="0">
              <a:latin typeface="Palladio Uralic"/>
              <a:cs typeface="Palladio Uralic"/>
            </a:endParaRPr>
          </a:p>
          <a:p>
            <a:pPr marL="12700" marR="347980">
              <a:lnSpc>
                <a:spcPct val="101000"/>
              </a:lnSpc>
            </a:pPr>
            <a:r>
              <a:rPr sz="2400" spc="-5" dirty="0">
                <a:latin typeface="Palladio Uralic"/>
                <a:cs typeface="Palladio Uralic"/>
              </a:rPr>
              <a:t>Third Noble Truth: </a:t>
            </a:r>
            <a:r>
              <a:rPr sz="2000" spc="-5" dirty="0">
                <a:latin typeface="Palladio Uralic"/>
                <a:cs typeface="Palladio Uralic"/>
              </a:rPr>
              <a:t>The </a:t>
            </a:r>
            <a:r>
              <a:rPr sz="2000" dirty="0">
                <a:latin typeface="Palladio Uralic"/>
                <a:cs typeface="Palladio Uralic"/>
              </a:rPr>
              <a:t>way </a:t>
            </a:r>
            <a:r>
              <a:rPr sz="2000" spc="-5" dirty="0">
                <a:latin typeface="Palladio Uralic"/>
                <a:cs typeface="Palladio Uralic"/>
              </a:rPr>
              <a:t>to </a:t>
            </a:r>
            <a:r>
              <a:rPr sz="2000" dirty="0">
                <a:latin typeface="Palladio Uralic"/>
                <a:cs typeface="Palladio Uralic"/>
              </a:rPr>
              <a:t>end all </a:t>
            </a:r>
            <a:r>
              <a:rPr sz="2000" spc="-5" dirty="0">
                <a:latin typeface="Palladio Uralic"/>
                <a:cs typeface="Palladio Uralic"/>
              </a:rPr>
              <a:t>pain  </a:t>
            </a:r>
            <a:r>
              <a:rPr sz="2000" dirty="0">
                <a:latin typeface="Palladio Uralic"/>
                <a:cs typeface="Palladio Uralic"/>
              </a:rPr>
              <a:t>is </a:t>
            </a:r>
            <a:r>
              <a:rPr sz="2000" spc="-5" dirty="0">
                <a:latin typeface="Palladio Uralic"/>
                <a:cs typeface="Palladio Uralic"/>
              </a:rPr>
              <a:t>to </a:t>
            </a:r>
            <a:r>
              <a:rPr sz="2000" dirty="0">
                <a:latin typeface="Palladio Uralic"/>
                <a:cs typeface="Palladio Uralic"/>
              </a:rPr>
              <a:t>end all</a:t>
            </a:r>
            <a:r>
              <a:rPr sz="2000" spc="-25" dirty="0">
                <a:latin typeface="Palladio Uralic"/>
                <a:cs typeface="Palladio Uralic"/>
              </a:rPr>
              <a:t> </a:t>
            </a:r>
            <a:r>
              <a:rPr sz="2000" dirty="0">
                <a:latin typeface="Palladio Uralic"/>
                <a:cs typeface="Palladio Uralic"/>
              </a:rPr>
              <a:t>desires.</a:t>
            </a:r>
          </a:p>
          <a:p>
            <a:pPr>
              <a:lnSpc>
                <a:spcPct val="100000"/>
              </a:lnSpc>
              <a:spcBef>
                <a:spcPts val="25"/>
              </a:spcBef>
            </a:pPr>
            <a:endParaRPr sz="1950" dirty="0">
              <a:latin typeface="Palladio Uralic"/>
              <a:cs typeface="Palladio Uralic"/>
            </a:endParaRPr>
          </a:p>
          <a:p>
            <a:pPr marL="12700" marR="455930">
              <a:lnSpc>
                <a:spcPct val="100499"/>
              </a:lnSpc>
            </a:pPr>
            <a:r>
              <a:rPr sz="2400" spc="-5" dirty="0">
                <a:latin typeface="Palladio Uralic"/>
                <a:cs typeface="Palladio Uralic"/>
              </a:rPr>
              <a:t>Fourth Noble Truth: </a:t>
            </a:r>
            <a:r>
              <a:rPr sz="2000" dirty="0">
                <a:latin typeface="Palladio Uralic"/>
                <a:cs typeface="Palladio Uralic"/>
              </a:rPr>
              <a:t>People can </a:t>
            </a:r>
            <a:r>
              <a:rPr sz="2000" spc="-5" dirty="0">
                <a:latin typeface="Palladio Uralic"/>
                <a:cs typeface="Palladio Uralic"/>
              </a:rPr>
              <a:t>overcome  their </a:t>
            </a:r>
            <a:r>
              <a:rPr sz="2000" dirty="0">
                <a:latin typeface="Palladio Uralic"/>
                <a:cs typeface="Palladio Uralic"/>
              </a:rPr>
              <a:t>desires and attain </a:t>
            </a:r>
            <a:r>
              <a:rPr sz="2000" spc="-5" dirty="0">
                <a:latin typeface="Palladio Uralic"/>
                <a:cs typeface="Palladio Uralic"/>
              </a:rPr>
              <a:t>enlightenment by  following the Eightfold </a:t>
            </a:r>
            <a:r>
              <a:rPr sz="2000" dirty="0">
                <a:latin typeface="Palladio Uralic"/>
                <a:cs typeface="Palladio Uralic"/>
              </a:rPr>
              <a:t>Path</a:t>
            </a:r>
            <a:r>
              <a:rPr sz="2000" spc="-275" dirty="0">
                <a:latin typeface="Palladio Uralic"/>
                <a:cs typeface="Palladio Uralic"/>
              </a:rPr>
              <a:t> </a:t>
            </a:r>
            <a:r>
              <a:rPr sz="1100" dirty="0">
                <a:latin typeface="Palladio Uralic"/>
                <a:cs typeface="Palladio Uralic"/>
              </a:rPr>
              <a:t>.</a:t>
            </a:r>
          </a:p>
        </p:txBody>
      </p:sp>
      <p:sp>
        <p:nvSpPr>
          <p:cNvPr id="4" name="object 4"/>
          <p:cNvSpPr/>
          <p:nvPr/>
        </p:nvSpPr>
        <p:spPr>
          <a:xfrm>
            <a:off x="6425184" y="1142998"/>
            <a:ext cx="2718816" cy="5714998"/>
          </a:xfrm>
          <a:prstGeom prst="rect">
            <a:avLst/>
          </a:prstGeom>
          <a:blipFill>
            <a:blip r:embed="rId2" cstate="print"/>
            <a:stretch>
              <a:fillRect/>
            </a:stretch>
          </a:blipFill>
        </p:spPr>
        <p:txBody>
          <a:bodyPr wrap="square" lIns="0" tIns="0" rIns="0" bIns="0" rtlCol="0"/>
          <a:lstStyle/>
          <a:p>
            <a:endParaRPr/>
          </a:p>
        </p:txBody>
      </p:sp>
      <p:sp>
        <p:nvSpPr>
          <p:cNvPr id="5" name="Title 1"/>
          <p:cNvSpPr txBox="1">
            <a:spLocks/>
          </p:cNvSpPr>
          <p:nvPr/>
        </p:nvSpPr>
        <p:spPr>
          <a:xfrm>
            <a:off x="1386840" y="11820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spc="-5" dirty="0">
                <a:uFill>
                  <a:solidFill>
                    <a:srgbClr val="FFFFFF"/>
                  </a:solidFill>
                </a:uFill>
              </a:rPr>
              <a:t>Four Noble</a:t>
            </a:r>
            <a:r>
              <a:rPr lang="en-US" sz="2800" b="1" spc="-50" dirty="0">
                <a:uFill>
                  <a:solidFill>
                    <a:srgbClr val="FFFFFF"/>
                  </a:solidFill>
                </a:uFill>
              </a:rPr>
              <a:t> </a:t>
            </a:r>
            <a:r>
              <a:rPr lang="en-US" sz="2800" b="1" spc="-5" dirty="0" smtClean="0">
                <a:uFill>
                  <a:solidFill>
                    <a:srgbClr val="FFFFFF"/>
                  </a:solidFill>
                </a:uFill>
              </a:rPr>
              <a:t>Truths of </a:t>
            </a:r>
            <a:r>
              <a:rPr lang="en-US" sz="2800" b="1" dirty="0" smtClean="0"/>
              <a:t>Buddhism</a:t>
            </a:r>
            <a:endParaRPr lang="en-US" sz="2800" b="1" dirty="0" smtClean="0">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3810" y="-56517"/>
            <a:ext cx="1592580" cy="898879"/>
          </a:xfrm>
          <a:prstGeom prst="rect">
            <a:avLst/>
          </a:prstGeom>
          <a:noFill/>
        </p:spPr>
      </p:pic>
      <p:sp>
        <p:nvSpPr>
          <p:cNvPr id="7" name="Date Placeholder 6"/>
          <p:cNvSpPr>
            <a:spLocks noGrp="1"/>
          </p:cNvSpPr>
          <p:nvPr>
            <p:ph type="dt" sz="half" idx="10"/>
          </p:nvPr>
        </p:nvSpPr>
        <p:spPr/>
        <p:txBody>
          <a:bodyPr/>
          <a:lstStyle/>
          <a:p>
            <a:fld id="{785E6BB7-D2DD-4B48-AEB5-50AA98DB13E7}" type="datetime1">
              <a:rPr lang="en-US" smtClean="0"/>
              <a:pPr/>
              <a:t>3/26/2022</a:t>
            </a:fld>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24</a:t>
            </a:fld>
            <a:endParaRPr lang="en-US" dirty="0"/>
          </a:p>
        </p:txBody>
      </p:sp>
      <p:sp>
        <p:nvSpPr>
          <p:cNvPr id="9" name="Footer Placeholder 8"/>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129248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911098"/>
            <a:ext cx="4779645" cy="635000"/>
          </a:xfrm>
          <a:prstGeom prst="rect">
            <a:avLst/>
          </a:prstGeom>
        </p:spPr>
        <p:txBody>
          <a:bodyPr vert="horz" wrap="square" lIns="0" tIns="12065" rIns="0" bIns="0" rtlCol="0">
            <a:spAutoFit/>
          </a:bodyPr>
          <a:lstStyle/>
          <a:p>
            <a:pPr marL="12700">
              <a:lnSpc>
                <a:spcPct val="100000"/>
              </a:lnSpc>
              <a:spcBef>
                <a:spcPts val="95"/>
              </a:spcBef>
            </a:pPr>
            <a:r>
              <a:rPr sz="4000" u="heavy" spc="-10" dirty="0">
                <a:uFill>
                  <a:solidFill>
                    <a:srgbClr val="FFFFFF"/>
                  </a:solidFill>
                </a:uFill>
              </a:rPr>
              <a:t>Noble </a:t>
            </a:r>
            <a:r>
              <a:rPr sz="4000" u="heavy" spc="-5" dirty="0">
                <a:uFill>
                  <a:solidFill>
                    <a:srgbClr val="FFFFFF"/>
                  </a:solidFill>
                </a:uFill>
              </a:rPr>
              <a:t>Eightfold</a:t>
            </a:r>
            <a:r>
              <a:rPr sz="4000" u="heavy" spc="-45" dirty="0">
                <a:uFill>
                  <a:solidFill>
                    <a:srgbClr val="FFFFFF"/>
                  </a:solidFill>
                </a:uFill>
              </a:rPr>
              <a:t> </a:t>
            </a:r>
            <a:r>
              <a:rPr sz="4000" u="heavy" dirty="0">
                <a:uFill>
                  <a:solidFill>
                    <a:srgbClr val="FFFFFF"/>
                  </a:solidFill>
                </a:uFill>
              </a:rPr>
              <a:t>Path</a:t>
            </a:r>
            <a:endParaRPr sz="4000"/>
          </a:p>
        </p:txBody>
      </p:sp>
      <p:sp>
        <p:nvSpPr>
          <p:cNvPr id="3" name="object 3"/>
          <p:cNvSpPr txBox="1"/>
          <p:nvPr/>
        </p:nvSpPr>
        <p:spPr>
          <a:xfrm>
            <a:off x="383540" y="11683"/>
            <a:ext cx="7899400" cy="757555"/>
          </a:xfrm>
          <a:prstGeom prst="rect">
            <a:avLst/>
          </a:prstGeom>
        </p:spPr>
        <p:txBody>
          <a:bodyPr vert="horz" wrap="square" lIns="0" tIns="12700" rIns="0" bIns="0" rtlCol="0">
            <a:spAutoFit/>
          </a:bodyPr>
          <a:lstStyle/>
          <a:p>
            <a:pPr marL="12700" marR="5080">
              <a:lnSpc>
                <a:spcPct val="100000"/>
              </a:lnSpc>
              <a:spcBef>
                <a:spcPts val="100"/>
              </a:spcBef>
            </a:pPr>
            <a:r>
              <a:rPr sz="2400" spc="-5" dirty="0">
                <a:solidFill>
                  <a:srgbClr val="FFFFFF"/>
                </a:solidFill>
                <a:latin typeface="Palladio Uralic"/>
                <a:cs typeface="Palladio Uralic"/>
              </a:rPr>
              <a:t>He gave </a:t>
            </a:r>
            <a:r>
              <a:rPr sz="2400" dirty="0">
                <a:solidFill>
                  <a:srgbClr val="FFFFFF"/>
                </a:solidFill>
                <a:latin typeface="Palladio Uralic"/>
                <a:cs typeface="Palladio Uralic"/>
              </a:rPr>
              <a:t>an </a:t>
            </a:r>
            <a:r>
              <a:rPr sz="2400" spc="-5" dirty="0">
                <a:solidFill>
                  <a:srgbClr val="FFFFFF"/>
                </a:solidFill>
                <a:latin typeface="Palladio Uralic"/>
                <a:cs typeface="Palladio Uralic"/>
              </a:rPr>
              <a:t>Eightfold path. According to </a:t>
            </a:r>
            <a:r>
              <a:rPr sz="2400" spc="-10" dirty="0">
                <a:solidFill>
                  <a:srgbClr val="FFFFFF"/>
                </a:solidFill>
                <a:latin typeface="Palladio Uralic"/>
                <a:cs typeface="Palladio Uralic"/>
              </a:rPr>
              <a:t>him </a:t>
            </a:r>
            <a:r>
              <a:rPr sz="2400" spc="-5" dirty="0">
                <a:solidFill>
                  <a:srgbClr val="FFFFFF"/>
                </a:solidFill>
                <a:latin typeface="Palladio Uralic"/>
                <a:cs typeface="Palladio Uralic"/>
              </a:rPr>
              <a:t>the eightfold  path is </a:t>
            </a:r>
            <a:r>
              <a:rPr sz="2400" dirty="0">
                <a:solidFill>
                  <a:srgbClr val="FFFFFF"/>
                </a:solidFill>
                <a:latin typeface="Palladio Uralic"/>
                <a:cs typeface="Palladio Uralic"/>
              </a:rPr>
              <a:t>a way </a:t>
            </a:r>
            <a:r>
              <a:rPr sz="2400" spc="-5" dirty="0">
                <a:solidFill>
                  <a:srgbClr val="FFFFFF"/>
                </a:solidFill>
                <a:latin typeface="Palladio Uralic"/>
                <a:cs typeface="Palladio Uralic"/>
              </a:rPr>
              <a:t>to end</a:t>
            </a:r>
            <a:r>
              <a:rPr sz="2400" spc="-30" dirty="0">
                <a:solidFill>
                  <a:srgbClr val="FFFFFF"/>
                </a:solidFill>
                <a:latin typeface="Palladio Uralic"/>
                <a:cs typeface="Palladio Uralic"/>
              </a:rPr>
              <a:t> </a:t>
            </a:r>
            <a:r>
              <a:rPr sz="2400" dirty="0">
                <a:solidFill>
                  <a:srgbClr val="FFFFFF"/>
                </a:solidFill>
                <a:latin typeface="Palladio Uralic"/>
                <a:cs typeface="Palladio Uralic"/>
              </a:rPr>
              <a:t>suffering.</a:t>
            </a:r>
            <a:endParaRPr sz="2400">
              <a:latin typeface="Palladio Uralic"/>
              <a:cs typeface="Palladio Uralic"/>
            </a:endParaRPr>
          </a:p>
        </p:txBody>
      </p:sp>
      <p:sp>
        <p:nvSpPr>
          <p:cNvPr id="4" name="object 4"/>
          <p:cNvSpPr txBox="1"/>
          <p:nvPr/>
        </p:nvSpPr>
        <p:spPr>
          <a:xfrm>
            <a:off x="535940" y="1611833"/>
            <a:ext cx="3642360" cy="4541520"/>
          </a:xfrm>
          <a:prstGeom prst="rect">
            <a:avLst/>
          </a:prstGeom>
        </p:spPr>
        <p:txBody>
          <a:bodyPr vert="horz" wrap="square" lIns="0" tIns="12700" rIns="0" bIns="0" rtlCol="0">
            <a:spAutoFit/>
          </a:bodyPr>
          <a:lstStyle/>
          <a:p>
            <a:pPr marL="317500" indent="-305435">
              <a:lnSpc>
                <a:spcPct val="100000"/>
              </a:lnSpc>
              <a:spcBef>
                <a:spcPts val="100"/>
              </a:spcBef>
              <a:buAutoNum type="arabicPeriod"/>
              <a:tabLst>
                <a:tab pos="318135" algn="l"/>
              </a:tabLst>
            </a:pPr>
            <a:r>
              <a:rPr sz="2400" spc="-5" dirty="0">
                <a:latin typeface="Palladio Uralic"/>
                <a:cs typeface="Palladio Uralic"/>
              </a:rPr>
              <a:t>Right </a:t>
            </a:r>
            <a:r>
              <a:rPr sz="2400" dirty="0">
                <a:latin typeface="Palladio Uralic"/>
                <a:cs typeface="Palladio Uralic"/>
              </a:rPr>
              <a:t>view</a:t>
            </a:r>
          </a:p>
          <a:p>
            <a:pPr marL="317500" indent="-304800">
              <a:lnSpc>
                <a:spcPct val="100000"/>
              </a:lnSpc>
              <a:spcBef>
                <a:spcPts val="5"/>
              </a:spcBef>
              <a:buAutoNum type="arabicPeriod"/>
              <a:tabLst>
                <a:tab pos="317500" algn="l"/>
              </a:tabLst>
            </a:pPr>
            <a:r>
              <a:rPr sz="2400" dirty="0">
                <a:latin typeface="Palladio Uralic"/>
                <a:cs typeface="Palladio Uralic"/>
              </a:rPr>
              <a:t>Right</a:t>
            </a:r>
            <a:r>
              <a:rPr sz="2400" spc="-10" dirty="0">
                <a:latin typeface="Palladio Uralic"/>
                <a:cs typeface="Palladio Uralic"/>
              </a:rPr>
              <a:t> </a:t>
            </a:r>
            <a:r>
              <a:rPr sz="2400" spc="-5" dirty="0">
                <a:latin typeface="Palladio Uralic"/>
                <a:cs typeface="Palladio Uralic"/>
              </a:rPr>
              <a:t>intention</a:t>
            </a:r>
            <a:endParaRPr sz="2400" dirty="0">
              <a:latin typeface="Palladio Uralic"/>
              <a:cs typeface="Palladio Uralic"/>
            </a:endParaRPr>
          </a:p>
          <a:p>
            <a:pPr marL="317500" indent="-304800">
              <a:lnSpc>
                <a:spcPct val="100000"/>
              </a:lnSpc>
              <a:buAutoNum type="arabicPeriod"/>
              <a:tabLst>
                <a:tab pos="317500" algn="l"/>
              </a:tabLst>
            </a:pPr>
            <a:r>
              <a:rPr sz="2400" dirty="0">
                <a:latin typeface="Palladio Uralic"/>
                <a:cs typeface="Palladio Uralic"/>
              </a:rPr>
              <a:t>Right</a:t>
            </a:r>
            <a:r>
              <a:rPr sz="2400" spc="-10" dirty="0">
                <a:latin typeface="Palladio Uralic"/>
                <a:cs typeface="Palladio Uralic"/>
              </a:rPr>
              <a:t> </a:t>
            </a:r>
            <a:r>
              <a:rPr sz="2400" spc="-5" dirty="0">
                <a:latin typeface="Palladio Uralic"/>
                <a:cs typeface="Palladio Uralic"/>
              </a:rPr>
              <a:t>speech</a:t>
            </a:r>
            <a:endParaRPr sz="2400" dirty="0">
              <a:latin typeface="Palladio Uralic"/>
              <a:cs typeface="Palladio Uralic"/>
            </a:endParaRPr>
          </a:p>
          <a:p>
            <a:pPr marL="317500" indent="-304800">
              <a:lnSpc>
                <a:spcPct val="100000"/>
              </a:lnSpc>
              <a:buAutoNum type="arabicPeriod"/>
              <a:tabLst>
                <a:tab pos="317500" algn="l"/>
              </a:tabLst>
            </a:pPr>
            <a:r>
              <a:rPr sz="2400" dirty="0">
                <a:latin typeface="Palladio Uralic"/>
                <a:cs typeface="Palladio Uralic"/>
              </a:rPr>
              <a:t>Right</a:t>
            </a:r>
            <a:r>
              <a:rPr sz="2400" spc="-10" dirty="0">
                <a:latin typeface="Palladio Uralic"/>
                <a:cs typeface="Palladio Uralic"/>
              </a:rPr>
              <a:t> </a:t>
            </a:r>
            <a:r>
              <a:rPr sz="2400" spc="-5" dirty="0">
                <a:latin typeface="Palladio Uralic"/>
                <a:cs typeface="Palladio Uralic"/>
              </a:rPr>
              <a:t>action</a:t>
            </a:r>
            <a:endParaRPr sz="2400" dirty="0">
              <a:latin typeface="Palladio Uralic"/>
              <a:cs typeface="Palladio Uralic"/>
            </a:endParaRPr>
          </a:p>
          <a:p>
            <a:pPr marL="317500" indent="-305435">
              <a:lnSpc>
                <a:spcPct val="100000"/>
              </a:lnSpc>
              <a:buAutoNum type="arabicPeriod"/>
              <a:tabLst>
                <a:tab pos="318135" algn="l"/>
              </a:tabLst>
            </a:pPr>
            <a:r>
              <a:rPr sz="2400" spc="-5" dirty="0">
                <a:latin typeface="Palladio Uralic"/>
                <a:cs typeface="Palladio Uralic"/>
              </a:rPr>
              <a:t>Right livelihood</a:t>
            </a:r>
            <a:endParaRPr sz="2400" dirty="0">
              <a:latin typeface="Palladio Uralic"/>
              <a:cs typeface="Palladio Uralic"/>
            </a:endParaRPr>
          </a:p>
          <a:p>
            <a:pPr marL="317500" indent="-304800">
              <a:lnSpc>
                <a:spcPct val="100000"/>
              </a:lnSpc>
              <a:buAutoNum type="arabicPeriod"/>
              <a:tabLst>
                <a:tab pos="317500" algn="l"/>
              </a:tabLst>
            </a:pPr>
            <a:r>
              <a:rPr sz="2400" dirty="0">
                <a:latin typeface="Palladio Uralic"/>
                <a:cs typeface="Palladio Uralic"/>
              </a:rPr>
              <a:t>Right</a:t>
            </a:r>
            <a:r>
              <a:rPr sz="2400" spc="-10" dirty="0">
                <a:latin typeface="Palladio Uralic"/>
                <a:cs typeface="Palladio Uralic"/>
              </a:rPr>
              <a:t> </a:t>
            </a:r>
            <a:r>
              <a:rPr sz="2400" dirty="0">
                <a:latin typeface="Palladio Uralic"/>
                <a:cs typeface="Palladio Uralic"/>
              </a:rPr>
              <a:t>effort</a:t>
            </a:r>
          </a:p>
          <a:p>
            <a:pPr marL="317500" indent="-304800">
              <a:lnSpc>
                <a:spcPct val="100000"/>
              </a:lnSpc>
              <a:buAutoNum type="arabicPeriod"/>
              <a:tabLst>
                <a:tab pos="317500" algn="l"/>
              </a:tabLst>
            </a:pPr>
            <a:r>
              <a:rPr sz="2400" dirty="0">
                <a:latin typeface="Palladio Uralic"/>
                <a:cs typeface="Palladio Uralic"/>
              </a:rPr>
              <a:t>Right</a:t>
            </a:r>
            <a:r>
              <a:rPr sz="2400" spc="-10" dirty="0">
                <a:latin typeface="Palladio Uralic"/>
                <a:cs typeface="Palladio Uralic"/>
              </a:rPr>
              <a:t> </a:t>
            </a:r>
            <a:r>
              <a:rPr sz="2400" spc="-5" dirty="0">
                <a:latin typeface="Palladio Uralic"/>
                <a:cs typeface="Palladio Uralic"/>
              </a:rPr>
              <a:t>mindfulness</a:t>
            </a:r>
            <a:endParaRPr sz="2400" dirty="0">
              <a:latin typeface="Palladio Uralic"/>
              <a:cs typeface="Palladio Uralic"/>
            </a:endParaRPr>
          </a:p>
          <a:p>
            <a:pPr marL="12700" marR="661670">
              <a:lnSpc>
                <a:spcPct val="100000"/>
              </a:lnSpc>
              <a:buAutoNum type="arabicPeriod"/>
              <a:tabLst>
                <a:tab pos="317500" algn="l"/>
              </a:tabLst>
            </a:pPr>
            <a:r>
              <a:rPr sz="2400" dirty="0">
                <a:latin typeface="Palladio Uralic"/>
                <a:cs typeface="Palladio Uralic"/>
              </a:rPr>
              <a:t>Right </a:t>
            </a:r>
            <a:r>
              <a:rPr sz="2400" spc="-5" dirty="0">
                <a:latin typeface="Palladio Uralic"/>
                <a:cs typeface="Palladio Uralic"/>
              </a:rPr>
              <a:t>meditation</a:t>
            </a:r>
            <a:r>
              <a:rPr sz="2400" spc="-40" dirty="0">
                <a:latin typeface="Palladio Uralic"/>
                <a:cs typeface="Palladio Uralic"/>
              </a:rPr>
              <a:t> </a:t>
            </a:r>
            <a:r>
              <a:rPr sz="2400" dirty="0">
                <a:latin typeface="Palladio Uralic"/>
                <a:cs typeface="Palladio Uralic"/>
              </a:rPr>
              <a:t>or  </a:t>
            </a:r>
            <a:r>
              <a:rPr sz="2400" spc="-5" dirty="0">
                <a:latin typeface="Palladio Uralic"/>
                <a:cs typeface="Palladio Uralic"/>
              </a:rPr>
              <a:t>concentration</a:t>
            </a:r>
            <a:endParaRPr sz="2400" dirty="0">
              <a:latin typeface="Palladio Uralic"/>
              <a:cs typeface="Palladio Uralic"/>
            </a:endParaRPr>
          </a:p>
          <a:p>
            <a:pPr marL="12700" marR="5080">
              <a:lnSpc>
                <a:spcPct val="100000"/>
              </a:lnSpc>
              <a:spcBef>
                <a:spcPts val="30"/>
              </a:spcBef>
            </a:pPr>
            <a:r>
              <a:rPr sz="2000" dirty="0">
                <a:latin typeface="Palladio Uralic"/>
                <a:cs typeface="Palladio Uralic"/>
              </a:rPr>
              <a:t>By </a:t>
            </a:r>
            <a:r>
              <a:rPr sz="2000" spc="-5" dirty="0">
                <a:latin typeface="Palladio Uralic"/>
                <a:cs typeface="Palladio Uralic"/>
              </a:rPr>
              <a:t>following the Eightfold Path,  </a:t>
            </a:r>
            <a:r>
              <a:rPr sz="2000" dirty="0">
                <a:latin typeface="Palladio Uralic"/>
                <a:cs typeface="Palladio Uralic"/>
              </a:rPr>
              <a:t>anyone could attain </a:t>
            </a:r>
            <a:r>
              <a:rPr sz="2000" spc="-5" dirty="0">
                <a:latin typeface="Palladio Uralic"/>
                <a:cs typeface="Palladio Uralic"/>
              </a:rPr>
              <a:t>nirvana--  </a:t>
            </a:r>
            <a:r>
              <a:rPr sz="2000" dirty="0">
                <a:latin typeface="Palladio Uralic"/>
                <a:cs typeface="Palladio Uralic"/>
              </a:rPr>
              <a:t>which was </a:t>
            </a:r>
            <a:r>
              <a:rPr sz="2000" spc="-5" dirty="0">
                <a:latin typeface="Palladio Uralic"/>
                <a:cs typeface="Palladio Uralic"/>
              </a:rPr>
              <a:t>the </a:t>
            </a:r>
            <a:r>
              <a:rPr sz="2000" dirty="0">
                <a:latin typeface="Palladio Uralic"/>
                <a:cs typeface="Palladio Uralic"/>
              </a:rPr>
              <a:t>release from all  </a:t>
            </a:r>
            <a:r>
              <a:rPr sz="2000" spc="-5" dirty="0">
                <a:latin typeface="Palladio Uralic"/>
                <a:cs typeface="Palladio Uralic"/>
              </a:rPr>
              <a:t>pain </a:t>
            </a:r>
            <a:r>
              <a:rPr sz="2000" dirty="0">
                <a:latin typeface="Palladio Uralic"/>
                <a:cs typeface="Palladio Uralic"/>
              </a:rPr>
              <a:t>and</a:t>
            </a:r>
            <a:r>
              <a:rPr sz="2000" spc="-20" dirty="0">
                <a:latin typeface="Palladio Uralic"/>
                <a:cs typeface="Palladio Uralic"/>
              </a:rPr>
              <a:t> </a:t>
            </a:r>
            <a:r>
              <a:rPr sz="2000" dirty="0">
                <a:latin typeface="Palladio Uralic"/>
                <a:cs typeface="Palladio Uralic"/>
              </a:rPr>
              <a:t>suffering.</a:t>
            </a:r>
          </a:p>
        </p:txBody>
      </p:sp>
      <p:sp>
        <p:nvSpPr>
          <p:cNvPr id="5" name="object 5"/>
          <p:cNvSpPr/>
          <p:nvPr/>
        </p:nvSpPr>
        <p:spPr>
          <a:xfrm>
            <a:off x="4191000" y="3124199"/>
            <a:ext cx="4952999" cy="373379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5791200" y="914400"/>
            <a:ext cx="1714500" cy="1714500"/>
          </a:xfrm>
          <a:prstGeom prst="rect">
            <a:avLst/>
          </a:prstGeom>
          <a:blipFill>
            <a:blip r:embed="rId3" cstate="print"/>
            <a:stretch>
              <a:fillRect/>
            </a:stretch>
          </a:blipFill>
        </p:spPr>
        <p:txBody>
          <a:bodyPr wrap="square" lIns="0" tIns="0" rIns="0" bIns="0" rtlCol="0"/>
          <a:lstStyle/>
          <a:p>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4"/>
          <a:srcRect/>
          <a:stretch>
            <a:fillRect/>
          </a:stretch>
        </p:blipFill>
        <p:spPr bwMode="auto">
          <a:xfrm>
            <a:off x="3810" y="-56517"/>
            <a:ext cx="1592580" cy="898879"/>
          </a:xfrm>
          <a:prstGeom prst="rect">
            <a:avLst/>
          </a:prstGeom>
          <a:noFill/>
        </p:spPr>
      </p:pic>
      <p:sp>
        <p:nvSpPr>
          <p:cNvPr id="9" name="Date Placeholder 8"/>
          <p:cNvSpPr>
            <a:spLocks noGrp="1"/>
          </p:cNvSpPr>
          <p:nvPr>
            <p:ph type="dt" sz="half" idx="10"/>
          </p:nvPr>
        </p:nvSpPr>
        <p:spPr/>
        <p:txBody>
          <a:bodyPr/>
          <a:lstStyle/>
          <a:p>
            <a:fld id="{8A8CACAA-05C1-425A-89F1-9E18854E2C21}" type="datetime1">
              <a:rPr lang="en-US" smtClean="0"/>
              <a:pPr/>
              <a:t>3/26/2022</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25</a:t>
            </a:fld>
            <a:endParaRPr lang="en-US" dirty="0"/>
          </a:p>
        </p:txBody>
      </p:sp>
      <p:sp>
        <p:nvSpPr>
          <p:cNvPr id="11" name="Footer Placeholder 10"/>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3194990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1140" y="697738"/>
            <a:ext cx="4325620" cy="5436870"/>
          </a:xfrm>
          <a:prstGeom prst="rect">
            <a:avLst/>
          </a:prstGeom>
        </p:spPr>
        <p:txBody>
          <a:bodyPr vert="horz" wrap="square" lIns="0" tIns="12700" rIns="0" bIns="0" rtlCol="0">
            <a:spAutoFit/>
          </a:bodyPr>
          <a:lstStyle/>
          <a:p>
            <a:pPr marL="88900" marR="5080" algn="just">
              <a:lnSpc>
                <a:spcPct val="100000"/>
              </a:lnSpc>
              <a:spcBef>
                <a:spcPts val="100"/>
              </a:spcBef>
            </a:pPr>
            <a:r>
              <a:rPr sz="2400" spc="-5" dirty="0">
                <a:latin typeface="Palladio Uralic"/>
                <a:cs typeface="Palladio Uralic"/>
              </a:rPr>
              <a:t>Buddha taught </a:t>
            </a:r>
            <a:r>
              <a:rPr sz="2400" spc="-10" dirty="0">
                <a:latin typeface="Palladio Uralic"/>
                <a:cs typeface="Palladio Uralic"/>
              </a:rPr>
              <a:t>his </a:t>
            </a:r>
            <a:r>
              <a:rPr sz="2400" dirty="0">
                <a:latin typeface="Palladio Uralic"/>
                <a:cs typeface="Palladio Uralic"/>
              </a:rPr>
              <a:t>followers </a:t>
            </a:r>
            <a:r>
              <a:rPr sz="2400" spc="-5" dirty="0">
                <a:latin typeface="Palladio Uralic"/>
                <a:cs typeface="Palladio Uralic"/>
              </a:rPr>
              <a:t>to  treat </a:t>
            </a:r>
            <a:r>
              <a:rPr sz="2400" dirty="0">
                <a:latin typeface="Palladio Uralic"/>
                <a:cs typeface="Palladio Uralic"/>
              </a:rPr>
              <a:t>all living </a:t>
            </a:r>
            <a:r>
              <a:rPr sz="2400" spc="-5" dirty="0">
                <a:latin typeface="Palladio Uralic"/>
                <a:cs typeface="Palladio Uralic"/>
              </a:rPr>
              <a:t>things </a:t>
            </a:r>
            <a:r>
              <a:rPr sz="2400" dirty="0">
                <a:latin typeface="Palladio Uralic"/>
                <a:cs typeface="Palladio Uralic"/>
              </a:rPr>
              <a:t>(humans,  </a:t>
            </a:r>
            <a:r>
              <a:rPr sz="2400" spc="-5" dirty="0">
                <a:latin typeface="Palladio Uralic"/>
                <a:cs typeface="Palladio Uralic"/>
              </a:rPr>
              <a:t>animals, and even insects) </a:t>
            </a:r>
            <a:r>
              <a:rPr sz="2400" dirty="0">
                <a:latin typeface="Palladio Uralic"/>
                <a:cs typeface="Palladio Uralic"/>
              </a:rPr>
              <a:t>with  </a:t>
            </a:r>
            <a:r>
              <a:rPr sz="2400" spc="-5" dirty="0">
                <a:latin typeface="Palladio Uralic"/>
                <a:cs typeface="Palladio Uralic"/>
              </a:rPr>
              <a:t>kindness and</a:t>
            </a:r>
            <a:r>
              <a:rPr sz="2400" spc="5" dirty="0">
                <a:latin typeface="Palladio Uralic"/>
                <a:cs typeface="Palladio Uralic"/>
              </a:rPr>
              <a:t> </a:t>
            </a:r>
            <a:r>
              <a:rPr sz="2400" spc="-5" dirty="0">
                <a:latin typeface="Palladio Uralic"/>
                <a:cs typeface="Palladio Uralic"/>
              </a:rPr>
              <a:t>love.</a:t>
            </a:r>
            <a:endParaRPr sz="2400" dirty="0">
              <a:latin typeface="Palladio Uralic"/>
              <a:cs typeface="Palladio Uralic"/>
            </a:endParaRPr>
          </a:p>
          <a:p>
            <a:pPr marL="12700" marR="384810">
              <a:lnSpc>
                <a:spcPct val="100000"/>
              </a:lnSpc>
              <a:spcBef>
                <a:spcPts val="2280"/>
              </a:spcBef>
            </a:pPr>
            <a:r>
              <a:rPr sz="2400" spc="-5" dirty="0">
                <a:latin typeface="Palladio Uralic"/>
                <a:cs typeface="Palladio Uralic"/>
              </a:rPr>
              <a:t>Buddha eliminated the </a:t>
            </a:r>
            <a:r>
              <a:rPr sz="2400" dirty="0">
                <a:latin typeface="Palladio Uralic"/>
                <a:cs typeface="Palladio Uralic"/>
              </a:rPr>
              <a:t>caste  system, </a:t>
            </a:r>
            <a:r>
              <a:rPr sz="2400" spc="-5" dirty="0">
                <a:latin typeface="Palladio Uralic"/>
                <a:cs typeface="Palladio Uralic"/>
              </a:rPr>
              <a:t>the rituals associated  </a:t>
            </a:r>
            <a:r>
              <a:rPr sz="2400" dirty="0">
                <a:latin typeface="Palladio Uralic"/>
                <a:cs typeface="Palladio Uralic"/>
              </a:rPr>
              <a:t>with </a:t>
            </a:r>
            <a:r>
              <a:rPr sz="2400" spc="-5" dirty="0">
                <a:latin typeface="Palladio Uralic"/>
                <a:cs typeface="Palladio Uralic"/>
              </a:rPr>
              <a:t>Hinduism, and the  ancient language </a:t>
            </a:r>
            <a:r>
              <a:rPr sz="2400" dirty="0">
                <a:latin typeface="Palladio Uralic"/>
                <a:cs typeface="Palladio Uralic"/>
              </a:rPr>
              <a:t>(Sanskrit)  </a:t>
            </a:r>
            <a:r>
              <a:rPr sz="2400" spc="-5" dirty="0">
                <a:latin typeface="Palladio Uralic"/>
                <a:cs typeface="Palladio Uralic"/>
              </a:rPr>
              <a:t>of the Vedas </a:t>
            </a:r>
            <a:r>
              <a:rPr sz="2400" dirty="0">
                <a:latin typeface="Palladio Uralic"/>
                <a:cs typeface="Palladio Uralic"/>
              </a:rPr>
              <a:t>and  </a:t>
            </a:r>
            <a:r>
              <a:rPr sz="2400" spc="-5" dirty="0">
                <a:latin typeface="Palladio Uralic"/>
                <a:cs typeface="Palladio Uralic"/>
              </a:rPr>
              <a:t>Upanishads.</a:t>
            </a:r>
            <a:endParaRPr sz="2400" dirty="0">
              <a:latin typeface="Palladio Uralic"/>
              <a:cs typeface="Palladio Uralic"/>
            </a:endParaRPr>
          </a:p>
          <a:p>
            <a:pPr marL="12700" marR="454659">
              <a:lnSpc>
                <a:spcPct val="100000"/>
              </a:lnSpc>
              <a:spcBef>
                <a:spcPts val="5"/>
              </a:spcBef>
            </a:pPr>
            <a:r>
              <a:rPr sz="2400" dirty="0">
                <a:latin typeface="Palladio Uralic"/>
                <a:cs typeface="Palladio Uralic"/>
              </a:rPr>
              <a:t>Concerned with all </a:t>
            </a:r>
            <a:r>
              <a:rPr sz="2400" spc="-5" dirty="0">
                <a:latin typeface="Palladio Uralic"/>
                <a:cs typeface="Palladio Uralic"/>
              </a:rPr>
              <a:t>human  beings---women as </a:t>
            </a:r>
            <a:r>
              <a:rPr sz="2400" dirty="0">
                <a:latin typeface="Palladio Uralic"/>
                <a:cs typeface="Palladio Uralic"/>
              </a:rPr>
              <a:t>well </a:t>
            </a:r>
            <a:r>
              <a:rPr sz="2400" spc="-5" dirty="0">
                <a:latin typeface="Palladio Uralic"/>
                <a:cs typeface="Palladio Uralic"/>
              </a:rPr>
              <a:t>as  men, and lowborn as well as  </a:t>
            </a:r>
            <a:r>
              <a:rPr sz="2400" spc="-10" dirty="0">
                <a:latin typeface="Palladio Uralic"/>
                <a:cs typeface="Palladio Uralic"/>
              </a:rPr>
              <a:t>highborn</a:t>
            </a:r>
            <a:r>
              <a:rPr sz="2400" spc="-275" dirty="0">
                <a:latin typeface="Palladio Uralic"/>
                <a:cs typeface="Palladio Uralic"/>
              </a:rPr>
              <a:t> </a:t>
            </a:r>
            <a:r>
              <a:rPr sz="1200" dirty="0">
                <a:latin typeface="Palladio Uralic"/>
                <a:cs typeface="Palladio Uralic"/>
              </a:rPr>
              <a:t>.</a:t>
            </a:r>
          </a:p>
        </p:txBody>
      </p:sp>
      <p:sp>
        <p:nvSpPr>
          <p:cNvPr id="3" name="object 3"/>
          <p:cNvSpPr/>
          <p:nvPr/>
        </p:nvSpPr>
        <p:spPr>
          <a:xfrm>
            <a:off x="4724400" y="1143000"/>
            <a:ext cx="4267200" cy="4782312"/>
          </a:xfrm>
          <a:prstGeom prst="rect">
            <a:avLst/>
          </a:prstGeom>
          <a:blipFill>
            <a:blip r:embed="rId2" cstate="print"/>
            <a:stretch>
              <a:fillRect/>
            </a:stretch>
          </a:blipFill>
        </p:spPr>
        <p:txBody>
          <a:bodyPr wrap="square" lIns="0" tIns="0" rIns="0" bIns="0" rtlCol="0"/>
          <a:lstStyle/>
          <a:p>
            <a:endParaRPr/>
          </a:p>
        </p:txBody>
      </p:sp>
      <p:sp>
        <p:nvSpPr>
          <p:cNvPr id="4"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3"/>
          <a:srcRect/>
          <a:stretch>
            <a:fillRect/>
          </a:stretch>
        </p:blipFill>
        <p:spPr bwMode="auto">
          <a:xfrm>
            <a:off x="3810" y="-56517"/>
            <a:ext cx="1592580" cy="898879"/>
          </a:xfrm>
          <a:prstGeom prst="rect">
            <a:avLst/>
          </a:prstGeom>
          <a:noFill/>
        </p:spPr>
      </p:pic>
      <p:sp>
        <p:nvSpPr>
          <p:cNvPr id="6" name="Date Placeholder 5"/>
          <p:cNvSpPr>
            <a:spLocks noGrp="1"/>
          </p:cNvSpPr>
          <p:nvPr>
            <p:ph type="dt" sz="half" idx="10"/>
          </p:nvPr>
        </p:nvSpPr>
        <p:spPr/>
        <p:txBody>
          <a:bodyPr/>
          <a:lstStyle/>
          <a:p>
            <a:fld id="{4570D069-EB0D-43DF-AB58-A14925BD8EB7}"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dirty="0"/>
          </a:p>
        </p:txBody>
      </p:sp>
      <p:sp>
        <p:nvSpPr>
          <p:cNvPr id="8" name="Footer Placeholder 7"/>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41844496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64998" y="3674489"/>
            <a:ext cx="201930" cy="275590"/>
          </a:xfrm>
          <a:prstGeom prst="rect">
            <a:avLst/>
          </a:prstGeom>
        </p:spPr>
        <p:txBody>
          <a:bodyPr vert="horz" wrap="square" lIns="0" tIns="0" rIns="0" bIns="0" rtlCol="0">
            <a:spAutoFit/>
          </a:bodyPr>
          <a:lstStyle/>
          <a:p>
            <a:pPr>
              <a:lnSpc>
                <a:spcPts val="2020"/>
              </a:lnSpc>
            </a:pPr>
            <a:r>
              <a:rPr sz="1800" spc="-5" dirty="0">
                <a:solidFill>
                  <a:srgbClr val="FFFF00"/>
                </a:solidFill>
                <a:latin typeface="Palladio Uralic"/>
                <a:cs typeface="Palladio Uralic"/>
              </a:rPr>
              <a:t>m</a:t>
            </a:r>
            <a:endParaRPr sz="1800">
              <a:latin typeface="Palladio Uralic"/>
              <a:cs typeface="Palladio Uralic"/>
            </a:endParaRPr>
          </a:p>
        </p:txBody>
      </p:sp>
      <p:sp>
        <p:nvSpPr>
          <p:cNvPr id="4" name="object 4"/>
          <p:cNvSpPr txBox="1"/>
          <p:nvPr/>
        </p:nvSpPr>
        <p:spPr>
          <a:xfrm>
            <a:off x="459740" y="1479550"/>
            <a:ext cx="4154170" cy="4855175"/>
          </a:xfrm>
          <a:prstGeom prst="rect">
            <a:avLst/>
          </a:prstGeom>
        </p:spPr>
        <p:txBody>
          <a:bodyPr vert="horz" wrap="square" lIns="0" tIns="12700" rIns="0" bIns="0" rtlCol="0">
            <a:spAutoFit/>
          </a:bodyPr>
          <a:lstStyle/>
          <a:p>
            <a:pPr marL="12700" marR="5080">
              <a:lnSpc>
                <a:spcPct val="99900"/>
              </a:lnSpc>
              <a:spcBef>
                <a:spcPts val="100"/>
              </a:spcBef>
            </a:pPr>
            <a:r>
              <a:rPr sz="1800" spc="-5" dirty="0">
                <a:latin typeface="Palladio Uralic"/>
                <a:cs typeface="Palladio Uralic"/>
              </a:rPr>
              <a:t>Three things that </a:t>
            </a:r>
            <a:r>
              <a:rPr sz="1800" dirty="0">
                <a:latin typeface="Palladio Uralic"/>
                <a:cs typeface="Palladio Uralic"/>
              </a:rPr>
              <a:t>Buddhists </a:t>
            </a:r>
            <a:r>
              <a:rPr sz="1800" spc="-5" dirty="0">
                <a:latin typeface="Palladio Uralic"/>
                <a:cs typeface="Palladio Uralic"/>
              </a:rPr>
              <a:t>give  themselves to, and in return look toward  </a:t>
            </a:r>
            <a:r>
              <a:rPr sz="1800" dirty="0">
                <a:latin typeface="Palladio Uralic"/>
                <a:cs typeface="Palladio Uralic"/>
              </a:rPr>
              <a:t>for </a:t>
            </a:r>
            <a:r>
              <a:rPr sz="1800" spc="-5" dirty="0">
                <a:latin typeface="Palladio Uralic"/>
                <a:cs typeface="Palladio Uralic"/>
              </a:rPr>
              <a:t>guidance, in the process known as  </a:t>
            </a:r>
            <a:r>
              <a:rPr sz="1800" i="1" dirty="0">
                <a:latin typeface="Palladio Uralic"/>
                <a:cs typeface="Palladio Uralic"/>
              </a:rPr>
              <a:t>taking</a:t>
            </a:r>
            <a:r>
              <a:rPr sz="1800" i="1" spc="-15" dirty="0">
                <a:latin typeface="Palladio Uralic"/>
                <a:cs typeface="Palladio Uralic"/>
              </a:rPr>
              <a:t> </a:t>
            </a:r>
            <a:r>
              <a:rPr sz="1800" i="1" spc="-5" dirty="0">
                <a:latin typeface="Palladio Uralic"/>
                <a:cs typeface="Palladio Uralic"/>
              </a:rPr>
              <a:t>refuge.</a:t>
            </a:r>
            <a:endParaRPr sz="1800" dirty="0">
              <a:latin typeface="Palladio Uralic"/>
              <a:cs typeface="Palladio Uralic"/>
            </a:endParaRPr>
          </a:p>
          <a:p>
            <a:pPr marL="12700" marR="547370">
              <a:lnSpc>
                <a:spcPts val="2960"/>
              </a:lnSpc>
              <a:spcBef>
                <a:spcPts val="380"/>
              </a:spcBef>
            </a:pPr>
            <a:r>
              <a:rPr sz="2800" b="1" spc="-10" dirty="0">
                <a:latin typeface="TeXGyrePagella"/>
                <a:cs typeface="TeXGyrePagella"/>
              </a:rPr>
              <a:t>Buddha </a:t>
            </a:r>
            <a:r>
              <a:rPr sz="2800" spc="-5" dirty="0">
                <a:latin typeface="Palladio Uralic"/>
                <a:cs typeface="Palladio Uralic"/>
              </a:rPr>
              <a:t>– </a:t>
            </a:r>
            <a:r>
              <a:rPr sz="1800" spc="-5" dirty="0">
                <a:latin typeface="Palladio Uralic"/>
                <a:cs typeface="Palladio Uralic"/>
              </a:rPr>
              <a:t>example of</a:t>
            </a:r>
            <a:r>
              <a:rPr sz="1800" spc="-225" dirty="0">
                <a:latin typeface="Palladio Uralic"/>
                <a:cs typeface="Palladio Uralic"/>
              </a:rPr>
              <a:t> </a:t>
            </a:r>
            <a:r>
              <a:rPr sz="1800" spc="-5" dirty="0">
                <a:latin typeface="Palladio Uralic"/>
                <a:cs typeface="Palladio Uralic"/>
              </a:rPr>
              <a:t>Buddha  Or more </a:t>
            </a:r>
            <a:r>
              <a:rPr sz="1800" dirty="0">
                <a:latin typeface="Palladio Uralic"/>
                <a:cs typeface="Palladio Uralic"/>
              </a:rPr>
              <a:t>loosely, </a:t>
            </a:r>
            <a:r>
              <a:rPr sz="1800" spc="-5" dirty="0">
                <a:latin typeface="Palladio Uralic"/>
                <a:cs typeface="Palladio Uralic"/>
              </a:rPr>
              <a:t>the </a:t>
            </a:r>
            <a:r>
              <a:rPr sz="2400" i="1" spc="-5" dirty="0">
                <a:latin typeface="Palladio Uralic"/>
                <a:cs typeface="Palladio Uralic"/>
              </a:rPr>
              <a:t>wisdom</a:t>
            </a:r>
            <a:r>
              <a:rPr sz="2400" i="1" spc="-200" dirty="0">
                <a:latin typeface="Palladio Uralic"/>
                <a:cs typeface="Palladio Uralic"/>
              </a:rPr>
              <a:t> </a:t>
            </a:r>
            <a:r>
              <a:rPr sz="1800" spc="-5" dirty="0">
                <a:latin typeface="Palladio Uralic"/>
                <a:cs typeface="Palladio Uralic"/>
              </a:rPr>
              <a:t>that</a:t>
            </a:r>
            <a:endParaRPr sz="1800" dirty="0">
              <a:latin typeface="Palladio Uralic"/>
              <a:cs typeface="Palladio Uralic"/>
            </a:endParaRPr>
          </a:p>
          <a:p>
            <a:pPr marL="12700" marR="41275" algn="just">
              <a:lnSpc>
                <a:spcPts val="2160"/>
              </a:lnSpc>
              <a:spcBef>
                <a:spcPts val="25"/>
              </a:spcBef>
            </a:pPr>
            <a:r>
              <a:rPr sz="1800" spc="-5" dirty="0">
                <a:latin typeface="Palladio Uralic"/>
                <a:cs typeface="Palladio Uralic"/>
              </a:rPr>
              <a:t>understands Dharma, </a:t>
            </a:r>
            <a:r>
              <a:rPr sz="1800" dirty="0">
                <a:latin typeface="Palladio Uralic"/>
                <a:cs typeface="Palladio Uralic"/>
              </a:rPr>
              <a:t>and </a:t>
            </a:r>
            <a:r>
              <a:rPr sz="1800" spc="-5" dirty="0">
                <a:latin typeface="Palladio Uralic"/>
                <a:cs typeface="Palladio Uralic"/>
              </a:rPr>
              <a:t>in this regard  the Buddha represents the perfect </a:t>
            </a:r>
            <a:r>
              <a:rPr sz="1800" dirty="0">
                <a:latin typeface="Palladio Uralic"/>
                <a:cs typeface="Palladio Uralic"/>
              </a:rPr>
              <a:t>wisdo  </a:t>
            </a:r>
            <a:r>
              <a:rPr sz="1800" spc="-5" dirty="0">
                <a:latin typeface="Palladio Uralic"/>
                <a:cs typeface="Palladio Uralic"/>
              </a:rPr>
              <a:t>that </a:t>
            </a:r>
            <a:r>
              <a:rPr sz="1800" dirty="0">
                <a:latin typeface="Palladio Uralic"/>
                <a:cs typeface="Palladio Uralic"/>
              </a:rPr>
              <a:t>sees reality in its </a:t>
            </a:r>
            <a:r>
              <a:rPr sz="1800" spc="-5" dirty="0">
                <a:latin typeface="Palladio Uralic"/>
                <a:cs typeface="Palladio Uralic"/>
              </a:rPr>
              <a:t>true</a:t>
            </a:r>
            <a:r>
              <a:rPr sz="1800" spc="-50" dirty="0">
                <a:latin typeface="Palladio Uralic"/>
                <a:cs typeface="Palladio Uralic"/>
              </a:rPr>
              <a:t> </a:t>
            </a:r>
            <a:r>
              <a:rPr sz="1800" spc="-5" dirty="0">
                <a:latin typeface="Palladio Uralic"/>
                <a:cs typeface="Palladio Uralic"/>
              </a:rPr>
              <a:t>form.</a:t>
            </a:r>
            <a:endParaRPr sz="1800" dirty="0">
              <a:latin typeface="Palladio Uralic"/>
              <a:cs typeface="Palladio Uralic"/>
            </a:endParaRPr>
          </a:p>
          <a:p>
            <a:pPr marL="12700">
              <a:lnSpc>
                <a:spcPts val="3225"/>
              </a:lnSpc>
            </a:pPr>
            <a:r>
              <a:rPr sz="2800" b="1" spc="-5" dirty="0">
                <a:latin typeface="TeXGyrePagella"/>
                <a:cs typeface="TeXGyrePagella"/>
              </a:rPr>
              <a:t>Dharma </a:t>
            </a:r>
            <a:r>
              <a:rPr sz="2800" spc="-5" dirty="0">
                <a:latin typeface="Palladio Uralic"/>
                <a:cs typeface="Palladio Uralic"/>
              </a:rPr>
              <a:t>– </a:t>
            </a:r>
            <a:r>
              <a:rPr sz="1800" spc="-5" dirty="0">
                <a:latin typeface="Palladio Uralic"/>
                <a:cs typeface="Palladio Uralic"/>
              </a:rPr>
              <a:t>teachings/laws</a:t>
            </a:r>
            <a:r>
              <a:rPr sz="1800" spc="-245" dirty="0">
                <a:latin typeface="Palladio Uralic"/>
                <a:cs typeface="Palladio Uralic"/>
              </a:rPr>
              <a:t> </a:t>
            </a:r>
            <a:r>
              <a:rPr sz="1800" spc="-5" dirty="0">
                <a:latin typeface="Palladio Uralic"/>
                <a:cs typeface="Palladio Uralic"/>
              </a:rPr>
              <a:t>as</a:t>
            </a:r>
            <a:endParaRPr sz="1800" dirty="0">
              <a:latin typeface="Palladio Uralic"/>
              <a:cs typeface="Palladio Uralic"/>
            </a:endParaRPr>
          </a:p>
          <a:p>
            <a:pPr marL="12700" algn="just">
              <a:lnSpc>
                <a:spcPts val="2130"/>
              </a:lnSpc>
              <a:spcBef>
                <a:spcPts val="65"/>
              </a:spcBef>
            </a:pPr>
            <a:r>
              <a:rPr sz="1800" spc="-5" dirty="0">
                <a:latin typeface="Palladio Uralic"/>
                <a:cs typeface="Palladio Uralic"/>
              </a:rPr>
              <a:t>expounded by</a:t>
            </a:r>
            <a:r>
              <a:rPr sz="1800" dirty="0">
                <a:latin typeface="Palladio Uralic"/>
                <a:cs typeface="Palladio Uralic"/>
              </a:rPr>
              <a:t> </a:t>
            </a:r>
            <a:r>
              <a:rPr sz="1800" spc="-5" dirty="0">
                <a:latin typeface="Palladio Uralic"/>
                <a:cs typeface="Palladio Uralic"/>
              </a:rPr>
              <a:t>Buddha</a:t>
            </a:r>
            <a:endParaRPr sz="1800" dirty="0">
              <a:latin typeface="Palladio Uralic"/>
              <a:cs typeface="Palladio Uralic"/>
            </a:endParaRPr>
          </a:p>
          <a:p>
            <a:pPr marL="12700">
              <a:lnSpc>
                <a:spcPts val="3329"/>
              </a:lnSpc>
            </a:pPr>
            <a:r>
              <a:rPr sz="2800" b="1" spc="-5" dirty="0">
                <a:latin typeface="TeXGyrePagella"/>
                <a:cs typeface="TeXGyrePagella"/>
              </a:rPr>
              <a:t>Sangha </a:t>
            </a:r>
            <a:r>
              <a:rPr sz="2800" spc="-5" dirty="0">
                <a:latin typeface="Palladio Uralic"/>
                <a:cs typeface="Palladio Uralic"/>
              </a:rPr>
              <a:t>– </a:t>
            </a:r>
            <a:r>
              <a:rPr sz="1800" spc="-5" dirty="0">
                <a:latin typeface="Palladio Uralic"/>
                <a:cs typeface="Palladio Uralic"/>
              </a:rPr>
              <a:t>community of those</a:t>
            </a:r>
            <a:r>
              <a:rPr sz="1800" dirty="0">
                <a:latin typeface="Palladio Uralic"/>
                <a:cs typeface="Palladio Uralic"/>
              </a:rPr>
              <a:t> who</a:t>
            </a:r>
          </a:p>
          <a:p>
            <a:pPr marL="12700">
              <a:lnSpc>
                <a:spcPct val="100000"/>
              </a:lnSpc>
              <a:spcBef>
                <a:spcPts val="55"/>
              </a:spcBef>
            </a:pPr>
            <a:r>
              <a:rPr sz="1800" dirty="0">
                <a:latin typeface="Palladio Uralic"/>
                <a:cs typeface="Palladio Uralic"/>
              </a:rPr>
              <a:t>will </a:t>
            </a:r>
            <a:r>
              <a:rPr sz="1800" spc="-5" dirty="0">
                <a:latin typeface="Palladio Uralic"/>
                <a:cs typeface="Palladio Uralic"/>
              </a:rPr>
              <a:t>help others </a:t>
            </a:r>
            <a:r>
              <a:rPr sz="1800" dirty="0">
                <a:latin typeface="Palladio Uralic"/>
                <a:cs typeface="Palladio Uralic"/>
              </a:rPr>
              <a:t>attain</a:t>
            </a:r>
            <a:r>
              <a:rPr sz="1800" spc="5" dirty="0">
                <a:latin typeface="Palladio Uralic"/>
                <a:cs typeface="Palladio Uralic"/>
              </a:rPr>
              <a:t> </a:t>
            </a:r>
            <a:r>
              <a:rPr sz="1800" i="1" spc="-5" dirty="0">
                <a:latin typeface="Palladio Uralic"/>
                <a:cs typeface="Palladio Uralic"/>
              </a:rPr>
              <a:t>bodhi</a:t>
            </a:r>
            <a:endParaRPr sz="1800" dirty="0">
              <a:latin typeface="Palladio Uralic"/>
              <a:cs typeface="Palladio Uralic"/>
            </a:endParaRPr>
          </a:p>
          <a:p>
            <a:pPr marL="12700">
              <a:lnSpc>
                <a:spcPct val="100000"/>
              </a:lnSpc>
              <a:spcBef>
                <a:spcPts val="10"/>
              </a:spcBef>
            </a:pPr>
            <a:r>
              <a:rPr sz="1800" spc="-5" dirty="0">
                <a:latin typeface="Palladio Uralic"/>
                <a:cs typeface="Palladio Uralic"/>
              </a:rPr>
              <a:t>(enlightenment).</a:t>
            </a:r>
            <a:endParaRPr sz="1800" dirty="0">
              <a:latin typeface="Palladio Uralic"/>
              <a:cs typeface="Palladio Uralic"/>
            </a:endParaRPr>
          </a:p>
        </p:txBody>
      </p:sp>
      <p:sp>
        <p:nvSpPr>
          <p:cNvPr id="5" name="object 5"/>
          <p:cNvSpPr/>
          <p:nvPr/>
        </p:nvSpPr>
        <p:spPr>
          <a:xfrm>
            <a:off x="4724400" y="2209800"/>
            <a:ext cx="4267200" cy="2676144"/>
          </a:xfrm>
          <a:prstGeom prst="rect">
            <a:avLst/>
          </a:prstGeom>
          <a:blipFill>
            <a:blip r:embed="rId2" cstate="print"/>
            <a:stretch>
              <a:fillRect/>
            </a:stretch>
          </a:blipFill>
        </p:spPr>
        <p:txBody>
          <a:bodyPr wrap="square" lIns="0" tIns="0" rIns="0" bIns="0" rtlCol="0"/>
          <a:lstStyle/>
          <a:p>
            <a:endParaRPr/>
          </a:p>
        </p:txBody>
      </p:sp>
      <p:sp>
        <p:nvSpPr>
          <p:cNvPr id="6"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i="1" u="heavy" spc="-10" dirty="0">
                <a:uFill>
                  <a:solidFill>
                    <a:srgbClr val="FFFF00"/>
                  </a:solidFill>
                </a:uFill>
                <a:latin typeface="TeXGyrePagella"/>
                <a:cs typeface="TeXGyrePagella"/>
              </a:rPr>
              <a:t>Refuge </a:t>
            </a:r>
            <a:r>
              <a:rPr lang="en-US" sz="2800" b="1" i="1" u="heavy" spc="-5" dirty="0">
                <a:uFill>
                  <a:solidFill>
                    <a:srgbClr val="FFFF00"/>
                  </a:solidFill>
                </a:uFill>
                <a:latin typeface="TeXGyrePagella"/>
                <a:cs typeface="TeXGyrePagella"/>
              </a:rPr>
              <a:t>in the Three</a:t>
            </a:r>
            <a:r>
              <a:rPr lang="en-US" sz="2800" b="1" i="1" u="heavy" spc="-10" dirty="0">
                <a:uFill>
                  <a:solidFill>
                    <a:srgbClr val="FFFF00"/>
                  </a:solidFill>
                </a:uFill>
                <a:latin typeface="TeXGyrePagella"/>
                <a:cs typeface="TeXGyrePagella"/>
              </a:rPr>
              <a:t> Jewels</a:t>
            </a:r>
            <a:endParaRPr lang="en-US" sz="2800" b="1" dirty="0" smtClean="0">
              <a:latin typeface="Times New Roman" pitchFamily="18" charset="0"/>
              <a:cs typeface="Times New Roman" pitchFamily="18" charset="0"/>
            </a:endParaRPr>
          </a:p>
        </p:txBody>
      </p:sp>
      <p:pic>
        <p:nvPicPr>
          <p:cNvPr id="7" name="Picture 2" descr="E:\NIET\Project\xLogo11.png.pagespeed.ic.pydHLuCQEZ.png"/>
          <p:cNvPicPr>
            <a:picLocks noChangeAspect="1" noChangeArrowheads="1"/>
          </p:cNvPicPr>
          <p:nvPr/>
        </p:nvPicPr>
        <p:blipFill>
          <a:blip r:embed="rId3"/>
          <a:srcRect/>
          <a:stretch>
            <a:fillRect/>
          </a:stretch>
        </p:blipFill>
        <p:spPr bwMode="auto">
          <a:xfrm>
            <a:off x="3810" y="-56517"/>
            <a:ext cx="1592580" cy="898879"/>
          </a:xfrm>
          <a:prstGeom prst="rect">
            <a:avLst/>
          </a:prstGeom>
          <a:noFill/>
        </p:spPr>
      </p:pic>
      <p:sp>
        <p:nvSpPr>
          <p:cNvPr id="8" name="Date Placeholder 7"/>
          <p:cNvSpPr>
            <a:spLocks noGrp="1"/>
          </p:cNvSpPr>
          <p:nvPr>
            <p:ph type="dt" sz="half" idx="10"/>
          </p:nvPr>
        </p:nvSpPr>
        <p:spPr/>
        <p:txBody>
          <a:bodyPr/>
          <a:lstStyle/>
          <a:p>
            <a:fld id="{43FE8F99-F9AD-4ABF-9FFE-AF89A3FC41EC}" type="datetime1">
              <a:rPr lang="en-US" smtClean="0"/>
              <a:pPr/>
              <a:t>3/26/2022</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27</a:t>
            </a:fld>
            <a:endParaRPr lang="en-US" dirty="0"/>
          </a:p>
        </p:txBody>
      </p:sp>
      <p:sp>
        <p:nvSpPr>
          <p:cNvPr id="10" name="Footer Placeholder 9"/>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1271729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4361" y="1182861"/>
            <a:ext cx="4918710" cy="940435"/>
          </a:xfrm>
          <a:prstGeom prst="rect">
            <a:avLst/>
          </a:prstGeom>
        </p:spPr>
        <p:txBody>
          <a:bodyPr vert="horz" wrap="square" lIns="0" tIns="13335" rIns="0" bIns="0" rtlCol="0">
            <a:spAutoFit/>
          </a:bodyPr>
          <a:lstStyle/>
          <a:p>
            <a:pPr marL="12700" marR="5080" algn="just">
              <a:lnSpc>
                <a:spcPct val="100000"/>
              </a:lnSpc>
              <a:spcBef>
                <a:spcPts val="105"/>
              </a:spcBef>
            </a:pPr>
            <a:r>
              <a:rPr sz="2000" spc="-5" dirty="0">
                <a:latin typeface="Palladio Uralic"/>
                <a:cs typeface="Palladio Uralic"/>
              </a:rPr>
              <a:t>The </a:t>
            </a:r>
            <a:r>
              <a:rPr sz="2000" dirty="0">
                <a:latin typeface="Palladio Uralic"/>
                <a:cs typeface="Palladio Uralic"/>
              </a:rPr>
              <a:t>most important symbol </a:t>
            </a:r>
            <a:r>
              <a:rPr sz="2000" spc="-5" dirty="0">
                <a:latin typeface="Palladio Uralic"/>
                <a:cs typeface="Palladio Uralic"/>
              </a:rPr>
              <a:t>in </a:t>
            </a:r>
            <a:r>
              <a:rPr sz="2000" dirty="0">
                <a:latin typeface="Palladio Uralic"/>
                <a:cs typeface="Palladio Uralic"/>
              </a:rPr>
              <a:t>Buddhism</a:t>
            </a:r>
            <a:r>
              <a:rPr sz="2000" spc="-110" dirty="0">
                <a:latin typeface="Palladio Uralic"/>
                <a:cs typeface="Palladio Uralic"/>
              </a:rPr>
              <a:t> </a:t>
            </a:r>
            <a:r>
              <a:rPr sz="2000" dirty="0">
                <a:latin typeface="Palladio Uralic"/>
                <a:cs typeface="Palladio Uralic"/>
              </a:rPr>
              <a:t>is  </a:t>
            </a:r>
            <a:r>
              <a:rPr sz="2000" spc="-5" dirty="0">
                <a:latin typeface="Palladio Uralic"/>
                <a:cs typeface="Palladio Uralic"/>
              </a:rPr>
              <a:t>the </a:t>
            </a:r>
            <a:r>
              <a:rPr sz="2000" dirty="0">
                <a:latin typeface="Palladio Uralic"/>
                <a:cs typeface="Palladio Uralic"/>
              </a:rPr>
              <a:t>Wheel of Life which depicts </a:t>
            </a:r>
            <a:r>
              <a:rPr sz="2000" spc="-5" dirty="0">
                <a:latin typeface="Palladio Uralic"/>
                <a:cs typeface="Palladio Uralic"/>
              </a:rPr>
              <a:t>the </a:t>
            </a:r>
            <a:r>
              <a:rPr sz="2000" dirty="0">
                <a:latin typeface="Palladio Uralic"/>
                <a:cs typeface="Palladio Uralic"/>
              </a:rPr>
              <a:t>cycle </a:t>
            </a:r>
            <a:r>
              <a:rPr sz="2000" spc="-5" dirty="0">
                <a:latin typeface="Palladio Uralic"/>
                <a:cs typeface="Palladio Uralic"/>
              </a:rPr>
              <a:t>of  birth </a:t>
            </a:r>
            <a:r>
              <a:rPr sz="2000" dirty="0">
                <a:latin typeface="Palladio Uralic"/>
                <a:cs typeface="Palladio Uralic"/>
              </a:rPr>
              <a:t>and</a:t>
            </a:r>
            <a:r>
              <a:rPr sz="2000" spc="-25" dirty="0">
                <a:latin typeface="Palladio Uralic"/>
                <a:cs typeface="Palladio Uralic"/>
              </a:rPr>
              <a:t> </a:t>
            </a:r>
            <a:r>
              <a:rPr sz="2000" dirty="0">
                <a:latin typeface="Palladio Uralic"/>
                <a:cs typeface="Palladio Uralic"/>
              </a:rPr>
              <a:t>life.</a:t>
            </a:r>
          </a:p>
        </p:txBody>
      </p:sp>
      <p:sp>
        <p:nvSpPr>
          <p:cNvPr id="3" name="object 3"/>
          <p:cNvSpPr txBox="1"/>
          <p:nvPr/>
        </p:nvSpPr>
        <p:spPr>
          <a:xfrm>
            <a:off x="714361" y="2748609"/>
            <a:ext cx="4665345" cy="635635"/>
          </a:xfrm>
          <a:prstGeom prst="rect">
            <a:avLst/>
          </a:prstGeom>
        </p:spPr>
        <p:txBody>
          <a:bodyPr vert="horz" wrap="square" lIns="0" tIns="12700" rIns="0" bIns="0" rtlCol="0">
            <a:spAutoFit/>
          </a:bodyPr>
          <a:lstStyle/>
          <a:p>
            <a:pPr marL="12700" marR="5080">
              <a:lnSpc>
                <a:spcPct val="100000"/>
              </a:lnSpc>
              <a:spcBef>
                <a:spcPts val="100"/>
              </a:spcBef>
            </a:pPr>
            <a:r>
              <a:rPr sz="2000" spc="-5" dirty="0">
                <a:latin typeface="Palladio Uralic"/>
                <a:cs typeface="Palladio Uralic"/>
              </a:rPr>
              <a:t>The </a:t>
            </a:r>
            <a:r>
              <a:rPr sz="2000" dirty="0">
                <a:latin typeface="Palladio Uralic"/>
                <a:cs typeface="Palladio Uralic"/>
              </a:rPr>
              <a:t>eight spokes symbolize </a:t>
            </a:r>
            <a:r>
              <a:rPr sz="2000" spc="-5" dirty="0">
                <a:latin typeface="Palladio Uralic"/>
                <a:cs typeface="Palladio Uralic"/>
              </a:rPr>
              <a:t>the Eightfold  Path.</a:t>
            </a:r>
            <a:endParaRPr sz="2000" dirty="0">
              <a:latin typeface="Palladio Uralic"/>
              <a:cs typeface="Palladio Uralic"/>
            </a:endParaRPr>
          </a:p>
        </p:txBody>
      </p:sp>
      <p:sp>
        <p:nvSpPr>
          <p:cNvPr id="4" name="object 4"/>
          <p:cNvSpPr txBox="1"/>
          <p:nvPr/>
        </p:nvSpPr>
        <p:spPr>
          <a:xfrm>
            <a:off x="742936" y="4610100"/>
            <a:ext cx="4861560" cy="574675"/>
          </a:xfrm>
          <a:prstGeom prst="rect">
            <a:avLst/>
          </a:prstGeom>
        </p:spPr>
        <p:txBody>
          <a:bodyPr vert="horz" wrap="square" lIns="0" tIns="12700" rIns="0" bIns="0" rtlCol="0">
            <a:spAutoFit/>
          </a:bodyPr>
          <a:lstStyle/>
          <a:p>
            <a:pPr marL="12700">
              <a:lnSpc>
                <a:spcPct val="100000"/>
              </a:lnSpc>
              <a:spcBef>
                <a:spcPts val="100"/>
              </a:spcBef>
            </a:pPr>
            <a:r>
              <a:rPr sz="1800" dirty="0">
                <a:latin typeface="Palladio Uralic"/>
                <a:cs typeface="Palladio Uralic"/>
              </a:rPr>
              <a:t>Buddhist </a:t>
            </a:r>
            <a:r>
              <a:rPr sz="1800" spc="-5" dirty="0">
                <a:latin typeface="Palladio Uralic"/>
                <a:cs typeface="Palladio Uralic"/>
              </a:rPr>
              <a:t>teachings </a:t>
            </a:r>
            <a:r>
              <a:rPr sz="1800" dirty="0">
                <a:latin typeface="Palladio Uralic"/>
                <a:cs typeface="Palladio Uralic"/>
              </a:rPr>
              <a:t>&amp; beliefs </a:t>
            </a:r>
            <a:r>
              <a:rPr sz="1800" spc="-5" dirty="0">
                <a:latin typeface="Palladio Uralic"/>
                <a:cs typeface="Palladio Uralic"/>
              </a:rPr>
              <a:t>were recorded </a:t>
            </a:r>
            <a:r>
              <a:rPr sz="1800" dirty="0">
                <a:latin typeface="Palladio Uralic"/>
                <a:cs typeface="Palladio Uralic"/>
              </a:rPr>
              <a:t>in</a:t>
            </a:r>
            <a:r>
              <a:rPr sz="1800" spc="-75" dirty="0">
                <a:latin typeface="Palladio Uralic"/>
                <a:cs typeface="Palladio Uralic"/>
              </a:rPr>
              <a:t> </a:t>
            </a:r>
            <a:r>
              <a:rPr sz="1800" dirty="0">
                <a:latin typeface="Palladio Uralic"/>
                <a:cs typeface="Palladio Uralic"/>
              </a:rPr>
              <a:t>a</a:t>
            </a:r>
          </a:p>
          <a:p>
            <a:pPr marL="12700">
              <a:lnSpc>
                <a:spcPct val="100000"/>
              </a:lnSpc>
              <a:spcBef>
                <a:spcPts val="5"/>
              </a:spcBef>
            </a:pPr>
            <a:r>
              <a:rPr sz="1800" dirty="0">
                <a:latin typeface="Palladio Uralic"/>
                <a:cs typeface="Palladio Uralic"/>
              </a:rPr>
              <a:t>collection called </a:t>
            </a:r>
            <a:r>
              <a:rPr sz="1800" spc="-5" dirty="0">
                <a:latin typeface="Palladio Uralic"/>
                <a:cs typeface="Palladio Uralic"/>
              </a:rPr>
              <a:t>the</a:t>
            </a:r>
            <a:r>
              <a:rPr sz="1800" spc="-25" dirty="0">
                <a:latin typeface="Palladio Uralic"/>
                <a:cs typeface="Palladio Uralic"/>
              </a:rPr>
              <a:t> </a:t>
            </a:r>
            <a:r>
              <a:rPr sz="1800" spc="-5" dirty="0">
                <a:latin typeface="Palladio Uralic"/>
                <a:cs typeface="Palladio Uralic"/>
              </a:rPr>
              <a:t>Tripitaka.</a:t>
            </a:r>
            <a:endParaRPr sz="1800" dirty="0">
              <a:latin typeface="Palladio Uralic"/>
              <a:cs typeface="Palladio Uralic"/>
            </a:endParaRPr>
          </a:p>
        </p:txBody>
      </p:sp>
      <p:sp>
        <p:nvSpPr>
          <p:cNvPr id="5" name="object 5"/>
          <p:cNvSpPr/>
          <p:nvPr/>
        </p:nvSpPr>
        <p:spPr>
          <a:xfrm>
            <a:off x="6858000" y="2895600"/>
            <a:ext cx="1714500" cy="171450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6858000" y="4780787"/>
            <a:ext cx="2057400" cy="2077211"/>
          </a:xfrm>
          <a:prstGeom prst="rect">
            <a:avLst/>
          </a:prstGeom>
          <a:blipFill>
            <a:blip r:embed="rId3" cstate="print"/>
            <a:stretch>
              <a:fillRect/>
            </a:stretch>
          </a:blipFill>
        </p:spPr>
        <p:txBody>
          <a:bodyPr wrap="square" lIns="0" tIns="0" rIns="0" bIns="0" rtlCol="0"/>
          <a:lstStyle/>
          <a:p>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4"/>
          <a:srcRect/>
          <a:stretch>
            <a:fillRect/>
          </a:stretch>
        </p:blipFill>
        <p:spPr bwMode="auto">
          <a:xfrm>
            <a:off x="3810" y="-56517"/>
            <a:ext cx="1592580" cy="898879"/>
          </a:xfrm>
          <a:prstGeom prst="rect">
            <a:avLst/>
          </a:prstGeom>
          <a:noFill/>
        </p:spPr>
      </p:pic>
      <p:sp>
        <p:nvSpPr>
          <p:cNvPr id="9" name="Date Placeholder 8"/>
          <p:cNvSpPr>
            <a:spLocks noGrp="1"/>
          </p:cNvSpPr>
          <p:nvPr>
            <p:ph type="dt" sz="half" idx="10"/>
          </p:nvPr>
        </p:nvSpPr>
        <p:spPr/>
        <p:txBody>
          <a:bodyPr/>
          <a:lstStyle/>
          <a:p>
            <a:fld id="{49252D8C-2443-487D-A347-5A367181204B}" type="datetime1">
              <a:rPr lang="en-US" smtClean="0"/>
              <a:pPr/>
              <a:t>3/26/2022</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28</a:t>
            </a:fld>
            <a:endParaRPr lang="en-US" dirty="0"/>
          </a:p>
        </p:txBody>
      </p:sp>
      <p:sp>
        <p:nvSpPr>
          <p:cNvPr id="11" name="Footer Placeholder 10"/>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2986429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1227" y="658368"/>
            <a:ext cx="4674108" cy="64770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764540" y="1656277"/>
            <a:ext cx="4394200" cy="382156"/>
          </a:xfrm>
          <a:prstGeom prst="rect">
            <a:avLst/>
          </a:prstGeom>
        </p:spPr>
        <p:txBody>
          <a:bodyPr vert="horz" wrap="square" lIns="0" tIns="12700" rIns="0" bIns="0" rtlCol="0">
            <a:spAutoFit/>
          </a:bodyPr>
          <a:lstStyle/>
          <a:p>
            <a:pPr marL="12700">
              <a:lnSpc>
                <a:spcPct val="100000"/>
              </a:lnSpc>
              <a:spcBef>
                <a:spcPts val="100"/>
              </a:spcBef>
            </a:pPr>
            <a:r>
              <a:rPr sz="2400" b="1" dirty="0">
                <a:latin typeface="TeXGyrePagella"/>
                <a:cs typeface="TeXGyrePagella"/>
              </a:rPr>
              <a:t>Pali </a:t>
            </a:r>
            <a:r>
              <a:rPr sz="2400" b="1" spc="-5" dirty="0">
                <a:latin typeface="TeXGyrePagella"/>
                <a:cs typeface="TeXGyrePagella"/>
              </a:rPr>
              <a:t>Canon</a:t>
            </a:r>
            <a:r>
              <a:rPr sz="2400" b="1" spc="-85" dirty="0">
                <a:latin typeface="TeXGyrePagella"/>
                <a:cs typeface="TeXGyrePagella"/>
              </a:rPr>
              <a:t> </a:t>
            </a:r>
            <a:r>
              <a:rPr sz="2400" b="1" dirty="0">
                <a:latin typeface="TeXGyrePagella"/>
                <a:cs typeface="TeXGyrePagella"/>
              </a:rPr>
              <a:t>(Tipitaka):</a:t>
            </a:r>
            <a:endParaRPr sz="2400" dirty="0">
              <a:latin typeface="TeXGyrePagella"/>
              <a:cs typeface="TeXGyrePagella"/>
            </a:endParaRPr>
          </a:p>
        </p:txBody>
      </p:sp>
      <p:sp>
        <p:nvSpPr>
          <p:cNvPr id="4" name="object 4"/>
          <p:cNvSpPr txBox="1"/>
          <p:nvPr/>
        </p:nvSpPr>
        <p:spPr>
          <a:xfrm>
            <a:off x="681227" y="2286000"/>
            <a:ext cx="4477513" cy="4074833"/>
          </a:xfrm>
          <a:prstGeom prst="rect">
            <a:avLst/>
          </a:prstGeom>
        </p:spPr>
        <p:txBody>
          <a:bodyPr vert="horz" wrap="square" lIns="0" tIns="47625" rIns="0" bIns="0" rtlCol="0">
            <a:spAutoFit/>
          </a:bodyPr>
          <a:lstStyle/>
          <a:p>
            <a:pPr marL="622300" marR="58419" indent="-38100">
              <a:lnSpc>
                <a:spcPts val="2160"/>
              </a:lnSpc>
              <a:spcBef>
                <a:spcPts val="375"/>
              </a:spcBef>
            </a:pPr>
            <a:r>
              <a:rPr sz="2000" spc="-5" dirty="0">
                <a:latin typeface="Palladio Uralic"/>
                <a:cs typeface="Palladio Uralic"/>
              </a:rPr>
              <a:t>Vinaya </a:t>
            </a:r>
            <a:r>
              <a:rPr sz="2000" dirty="0">
                <a:latin typeface="Palladio Uralic"/>
                <a:cs typeface="Palladio Uralic"/>
              </a:rPr>
              <a:t>Pitaka: dealing with</a:t>
            </a:r>
            <a:r>
              <a:rPr sz="2000" spc="-95" dirty="0">
                <a:latin typeface="Palladio Uralic"/>
                <a:cs typeface="Palladio Uralic"/>
              </a:rPr>
              <a:t> </a:t>
            </a:r>
            <a:r>
              <a:rPr sz="2000" dirty="0">
                <a:latin typeface="Palladio Uralic"/>
                <a:cs typeface="Palladio Uralic"/>
              </a:rPr>
              <a:t>rules  for </a:t>
            </a:r>
            <a:r>
              <a:rPr sz="2000" spc="-5" dirty="0">
                <a:latin typeface="Palladio Uralic"/>
                <a:cs typeface="Palladio Uralic"/>
              </a:rPr>
              <a:t>monks </a:t>
            </a:r>
            <a:r>
              <a:rPr sz="2000" dirty="0">
                <a:latin typeface="Palladio Uralic"/>
                <a:cs typeface="Palladio Uralic"/>
              </a:rPr>
              <a:t>and</a:t>
            </a:r>
            <a:r>
              <a:rPr sz="2000" spc="-40" dirty="0">
                <a:latin typeface="Palladio Uralic"/>
                <a:cs typeface="Palladio Uralic"/>
              </a:rPr>
              <a:t> </a:t>
            </a:r>
            <a:r>
              <a:rPr sz="2000" spc="-5" dirty="0">
                <a:latin typeface="Palladio Uralic"/>
                <a:cs typeface="Palladio Uralic"/>
              </a:rPr>
              <a:t>nuns</a:t>
            </a:r>
            <a:endParaRPr sz="2000" dirty="0">
              <a:latin typeface="Palladio Uralic"/>
              <a:cs typeface="Palladio Uralic"/>
            </a:endParaRPr>
          </a:p>
          <a:p>
            <a:pPr marL="622300" marR="5080" indent="25400">
              <a:lnSpc>
                <a:spcPts val="2160"/>
              </a:lnSpc>
            </a:pPr>
            <a:r>
              <a:rPr sz="2000" spc="-5" dirty="0">
                <a:latin typeface="Palladio Uralic"/>
                <a:cs typeface="Palladio Uralic"/>
              </a:rPr>
              <a:t>Sutta </a:t>
            </a:r>
            <a:r>
              <a:rPr sz="2000" dirty="0">
                <a:latin typeface="Palladio Uralic"/>
                <a:cs typeface="Palladio Uralic"/>
              </a:rPr>
              <a:t>Pitaka: discourses, mostly  ascribed </a:t>
            </a:r>
            <a:r>
              <a:rPr sz="2000" spc="-5" dirty="0">
                <a:latin typeface="Palladio Uralic"/>
                <a:cs typeface="Palladio Uralic"/>
              </a:rPr>
              <a:t>to the </a:t>
            </a:r>
            <a:r>
              <a:rPr sz="2000" dirty="0">
                <a:latin typeface="Palladio Uralic"/>
                <a:cs typeface="Palladio Uralic"/>
              </a:rPr>
              <a:t>Buddha, </a:t>
            </a:r>
            <a:r>
              <a:rPr sz="2000" spc="-5" dirty="0">
                <a:latin typeface="Palladio Uralic"/>
                <a:cs typeface="Palladio Uralic"/>
              </a:rPr>
              <a:t>but</a:t>
            </a:r>
            <a:r>
              <a:rPr sz="2000" spc="-85" dirty="0">
                <a:latin typeface="Palladio Uralic"/>
                <a:cs typeface="Palladio Uralic"/>
              </a:rPr>
              <a:t> </a:t>
            </a:r>
            <a:r>
              <a:rPr sz="2000" dirty="0">
                <a:latin typeface="Palladio Uralic"/>
                <a:cs typeface="Palladio Uralic"/>
              </a:rPr>
              <a:t>some  </a:t>
            </a:r>
            <a:r>
              <a:rPr sz="2000" spc="-5" dirty="0">
                <a:latin typeface="Palladio Uralic"/>
                <a:cs typeface="Palladio Uralic"/>
              </a:rPr>
              <a:t>to</a:t>
            </a:r>
            <a:r>
              <a:rPr sz="2000" spc="-20" dirty="0">
                <a:latin typeface="Palladio Uralic"/>
                <a:cs typeface="Palladio Uralic"/>
              </a:rPr>
              <a:t> </a:t>
            </a:r>
            <a:r>
              <a:rPr sz="2000" dirty="0">
                <a:latin typeface="Palladio Uralic"/>
                <a:cs typeface="Palladio Uralic"/>
              </a:rPr>
              <a:t>disciples</a:t>
            </a:r>
          </a:p>
          <a:p>
            <a:pPr marL="1003300" marR="263525" indent="-407034">
              <a:lnSpc>
                <a:spcPts val="2160"/>
              </a:lnSpc>
            </a:pPr>
            <a:r>
              <a:rPr sz="2000" dirty="0">
                <a:latin typeface="Palladio Uralic"/>
                <a:cs typeface="Palladio Uralic"/>
              </a:rPr>
              <a:t>Abhidhamma Pitaka:</a:t>
            </a:r>
            <a:r>
              <a:rPr sz="2000" spc="-95" dirty="0">
                <a:latin typeface="Palladio Uralic"/>
                <a:cs typeface="Palladio Uralic"/>
              </a:rPr>
              <a:t> </a:t>
            </a:r>
            <a:r>
              <a:rPr sz="2000" dirty="0">
                <a:latin typeface="Palladio Uralic"/>
                <a:cs typeface="Palladio Uralic"/>
              </a:rPr>
              <a:t>variously  described as </a:t>
            </a:r>
            <a:r>
              <a:rPr sz="2000" spc="-5" dirty="0">
                <a:latin typeface="Palladio Uralic"/>
                <a:cs typeface="Palladio Uralic"/>
              </a:rPr>
              <a:t>philosophy,  psychology,</a:t>
            </a:r>
            <a:r>
              <a:rPr sz="2000" spc="-45" dirty="0">
                <a:latin typeface="Palladio Uralic"/>
                <a:cs typeface="Palladio Uralic"/>
              </a:rPr>
              <a:t> </a:t>
            </a:r>
            <a:r>
              <a:rPr sz="2000" dirty="0">
                <a:latin typeface="Palladio Uralic"/>
                <a:cs typeface="Palladio Uralic"/>
              </a:rPr>
              <a:t>metaphysics.</a:t>
            </a:r>
          </a:p>
          <a:p>
            <a:pPr marL="12700">
              <a:lnSpc>
                <a:spcPts val="2425"/>
              </a:lnSpc>
            </a:pPr>
            <a:r>
              <a:rPr sz="2400" dirty="0">
                <a:latin typeface="Palladio Uralic"/>
                <a:cs typeface="Palladio Uralic"/>
              </a:rPr>
              <a:t>Pali Canon </a:t>
            </a:r>
            <a:r>
              <a:rPr sz="2000" dirty="0">
                <a:latin typeface="Palladio Uralic"/>
                <a:cs typeface="Palladio Uralic"/>
              </a:rPr>
              <a:t>is </a:t>
            </a:r>
            <a:r>
              <a:rPr sz="2000" spc="-5" dirty="0">
                <a:latin typeface="Palladio Uralic"/>
                <a:cs typeface="Palladio Uralic"/>
              </a:rPr>
              <a:t>the scripture</a:t>
            </a:r>
            <a:r>
              <a:rPr sz="2000" spc="-65" dirty="0">
                <a:latin typeface="Palladio Uralic"/>
                <a:cs typeface="Palladio Uralic"/>
              </a:rPr>
              <a:t> </a:t>
            </a:r>
            <a:r>
              <a:rPr sz="2000" dirty="0">
                <a:latin typeface="Palladio Uralic"/>
                <a:cs typeface="Palladio Uralic"/>
              </a:rPr>
              <a:t>collection</a:t>
            </a:r>
          </a:p>
          <a:p>
            <a:pPr marL="622300">
              <a:lnSpc>
                <a:spcPts val="2175"/>
              </a:lnSpc>
            </a:pPr>
            <a:r>
              <a:rPr sz="2000" dirty="0">
                <a:latin typeface="Palladio Uralic"/>
                <a:cs typeface="Palladio Uralic"/>
              </a:rPr>
              <a:t>of </a:t>
            </a:r>
            <a:r>
              <a:rPr sz="2000" spc="-5" dirty="0">
                <a:latin typeface="Palladio Uralic"/>
                <a:cs typeface="Palladio Uralic"/>
              </a:rPr>
              <a:t>the </a:t>
            </a:r>
            <a:r>
              <a:rPr sz="2000" dirty="0">
                <a:latin typeface="Palladio Uralic"/>
                <a:cs typeface="Palladio Uralic"/>
              </a:rPr>
              <a:t>Theraveda</a:t>
            </a:r>
            <a:r>
              <a:rPr sz="2000" spc="-50" dirty="0">
                <a:latin typeface="Palladio Uralic"/>
                <a:cs typeface="Palladio Uralic"/>
              </a:rPr>
              <a:t> </a:t>
            </a:r>
            <a:r>
              <a:rPr sz="2000" dirty="0">
                <a:latin typeface="Palladio Uralic"/>
                <a:cs typeface="Palladio Uralic"/>
              </a:rPr>
              <a:t>Buddhist</a:t>
            </a:r>
          </a:p>
          <a:p>
            <a:pPr marL="622300">
              <a:lnSpc>
                <a:spcPts val="2125"/>
              </a:lnSpc>
            </a:pPr>
            <a:r>
              <a:rPr sz="2000" spc="-5" dirty="0">
                <a:latin typeface="Palladio Uralic"/>
                <a:cs typeface="Palladio Uralic"/>
              </a:rPr>
              <a:t>tradition.</a:t>
            </a:r>
            <a:endParaRPr sz="2000" dirty="0">
              <a:latin typeface="Palladio Uralic"/>
              <a:cs typeface="Palladio Uralic"/>
            </a:endParaRPr>
          </a:p>
          <a:p>
            <a:pPr marL="12700">
              <a:lnSpc>
                <a:spcPts val="2615"/>
              </a:lnSpc>
            </a:pPr>
            <a:r>
              <a:rPr sz="2400" spc="-5" dirty="0">
                <a:latin typeface="Palladio Uralic"/>
                <a:cs typeface="Palladio Uralic"/>
              </a:rPr>
              <a:t>In Pali</a:t>
            </a:r>
            <a:r>
              <a:rPr sz="2400" spc="5" dirty="0">
                <a:latin typeface="Palladio Uralic"/>
                <a:cs typeface="Palladio Uralic"/>
              </a:rPr>
              <a:t> </a:t>
            </a:r>
            <a:r>
              <a:rPr sz="2400" spc="-5" dirty="0">
                <a:latin typeface="Palladio Uralic"/>
                <a:cs typeface="Palladio Uralic"/>
              </a:rPr>
              <a:t>language-</a:t>
            </a:r>
            <a:endParaRPr sz="2400" dirty="0">
              <a:latin typeface="Palladio Uralic"/>
              <a:cs typeface="Palladio Uralic"/>
            </a:endParaRPr>
          </a:p>
          <a:p>
            <a:pPr marL="469900">
              <a:lnSpc>
                <a:spcPts val="2175"/>
              </a:lnSpc>
            </a:pPr>
            <a:r>
              <a:rPr sz="2000" i="1" dirty="0">
                <a:latin typeface="Palladio Uralic"/>
                <a:cs typeface="Palladio Uralic"/>
              </a:rPr>
              <a:t>Pitaka </a:t>
            </a:r>
            <a:r>
              <a:rPr sz="2000" dirty="0">
                <a:latin typeface="Palladio Uralic"/>
                <a:cs typeface="Palladio Uralic"/>
              </a:rPr>
              <a:t>means</a:t>
            </a:r>
            <a:r>
              <a:rPr sz="2000" spc="-50" dirty="0">
                <a:latin typeface="Palladio Uralic"/>
                <a:cs typeface="Palladio Uralic"/>
              </a:rPr>
              <a:t> </a:t>
            </a:r>
            <a:r>
              <a:rPr sz="2000" spc="-5" dirty="0">
                <a:latin typeface="Palladio Uralic"/>
                <a:cs typeface="Palladio Uralic"/>
              </a:rPr>
              <a:t>basket</a:t>
            </a:r>
            <a:endParaRPr sz="2000" dirty="0">
              <a:latin typeface="Palladio Uralic"/>
              <a:cs typeface="Palladio Uralic"/>
            </a:endParaRPr>
          </a:p>
          <a:p>
            <a:pPr marL="927100">
              <a:lnSpc>
                <a:spcPts val="2280"/>
              </a:lnSpc>
            </a:pPr>
            <a:r>
              <a:rPr sz="2000" i="1" dirty="0">
                <a:latin typeface="Palladio Uralic"/>
                <a:cs typeface="Palladio Uralic"/>
              </a:rPr>
              <a:t>tipitaka </a:t>
            </a:r>
            <a:r>
              <a:rPr sz="2000" dirty="0">
                <a:latin typeface="Palladio Uralic"/>
                <a:cs typeface="Palladio Uralic"/>
              </a:rPr>
              <a:t>means </a:t>
            </a:r>
            <a:r>
              <a:rPr sz="2000" spc="-5" dirty="0">
                <a:latin typeface="Palladio Uralic"/>
                <a:cs typeface="Palladio Uralic"/>
              </a:rPr>
              <a:t>three</a:t>
            </a:r>
            <a:r>
              <a:rPr sz="2000" spc="-60" dirty="0">
                <a:latin typeface="Palladio Uralic"/>
                <a:cs typeface="Palladio Uralic"/>
              </a:rPr>
              <a:t> </a:t>
            </a:r>
            <a:r>
              <a:rPr sz="2000" dirty="0">
                <a:latin typeface="Palladio Uralic"/>
                <a:cs typeface="Palladio Uralic"/>
              </a:rPr>
              <a:t>basket.</a:t>
            </a:r>
          </a:p>
        </p:txBody>
      </p:sp>
      <p:sp>
        <p:nvSpPr>
          <p:cNvPr id="5" name="object 5"/>
          <p:cNvSpPr/>
          <p:nvPr/>
        </p:nvSpPr>
        <p:spPr>
          <a:xfrm>
            <a:off x="5562600" y="1600200"/>
            <a:ext cx="2814828" cy="4529328"/>
          </a:xfrm>
          <a:prstGeom prst="rect">
            <a:avLst/>
          </a:prstGeom>
          <a:blipFill>
            <a:blip r:embed="rId3" cstate="print"/>
            <a:stretch>
              <a:fillRect/>
            </a:stretch>
          </a:blipFill>
        </p:spPr>
        <p:txBody>
          <a:bodyPr wrap="square" lIns="0" tIns="0" rIns="0" bIns="0" rtlCol="0"/>
          <a:lstStyle/>
          <a:p>
            <a:endParaRPr/>
          </a:p>
        </p:txBody>
      </p:sp>
      <p:sp>
        <p:nvSpPr>
          <p:cNvPr id="6"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Buddhism</a:t>
            </a:r>
            <a:endParaRPr lang="en-US" sz="2800" b="1" dirty="0" smtClean="0">
              <a:latin typeface="Times New Roman" pitchFamily="18" charset="0"/>
              <a:cs typeface="Times New Roman" pitchFamily="18" charset="0"/>
            </a:endParaRPr>
          </a:p>
        </p:txBody>
      </p:sp>
      <p:pic>
        <p:nvPicPr>
          <p:cNvPr id="7" name="Picture 2" descr="E:\NIET\Project\xLogo11.png.pagespeed.ic.pydHLuCQEZ.png"/>
          <p:cNvPicPr>
            <a:picLocks noChangeAspect="1" noChangeArrowheads="1"/>
          </p:cNvPicPr>
          <p:nvPr/>
        </p:nvPicPr>
        <p:blipFill>
          <a:blip r:embed="rId4"/>
          <a:srcRect/>
          <a:stretch>
            <a:fillRect/>
          </a:stretch>
        </p:blipFill>
        <p:spPr bwMode="auto">
          <a:xfrm>
            <a:off x="3810" y="-56517"/>
            <a:ext cx="1592580" cy="898879"/>
          </a:xfrm>
          <a:prstGeom prst="rect">
            <a:avLst/>
          </a:prstGeom>
          <a:noFill/>
        </p:spPr>
      </p:pic>
      <p:sp>
        <p:nvSpPr>
          <p:cNvPr id="8" name="Date Placeholder 7"/>
          <p:cNvSpPr>
            <a:spLocks noGrp="1"/>
          </p:cNvSpPr>
          <p:nvPr>
            <p:ph type="dt" sz="half" idx="10"/>
          </p:nvPr>
        </p:nvSpPr>
        <p:spPr/>
        <p:txBody>
          <a:bodyPr/>
          <a:lstStyle/>
          <a:p>
            <a:fld id="{A98396E5-F16C-4CB9-9BFE-A62783EA4486}" type="datetime1">
              <a:rPr lang="en-US" smtClean="0"/>
              <a:pPr/>
              <a:t>3/26/2022</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29</a:t>
            </a:fld>
            <a:endParaRPr lang="en-US" dirty="0"/>
          </a:p>
        </p:txBody>
      </p:sp>
      <p:sp>
        <p:nvSpPr>
          <p:cNvPr id="10" name="Footer Placeholder 9"/>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2685416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pPr algn="just"/>
            <a:r>
              <a:rPr lang="en-US" sz="2400" dirty="0" smtClean="0"/>
              <a:t>The word Jain is derived from Jina, which means the one victorious over the self and the external world. The Jinas are regarded more respect than the Gods. They include the 24 Tirthankaras or ford-finders (holy men), the last Tirthankara Mahavira (599-527 BC) is the founder of Jainism.</a:t>
            </a:r>
            <a:endParaRPr lang="en-US" sz="2400" dirty="0"/>
          </a:p>
        </p:txBody>
      </p:sp>
      <p:sp>
        <p:nvSpPr>
          <p:cNvPr id="6" name="Date Placeholder 5"/>
          <p:cNvSpPr>
            <a:spLocks noGrp="1"/>
          </p:cNvSpPr>
          <p:nvPr>
            <p:ph type="dt" sz="half" idx="10"/>
          </p:nvPr>
        </p:nvSpPr>
        <p:spPr/>
        <p:txBody>
          <a:bodyPr/>
          <a:lstStyle/>
          <a:p>
            <a:fld id="{3CCCFE43-D16B-46E6-A14F-CCC059EA3D1E}"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30</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Jainism</a:t>
            </a:r>
            <a:endParaRPr lang="en-US" sz="2800" b="1"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sz="2400" b="1" dirty="0" smtClean="0"/>
              <a:t>In Jain thinking, a jiva is a soul, which is attached to a body.</a:t>
            </a:r>
            <a:endParaRPr lang="en-US" sz="2400" dirty="0" smtClean="0"/>
          </a:p>
          <a:p>
            <a:r>
              <a:rPr lang="en-US" sz="2400" dirty="0" smtClean="0"/>
              <a:t>The soul is of flexible size i.e. the same soul can fit inside a cat’s body as a human’s. The Jain scriptures state that there are 8.4 million species of jivas. The soul is also uncreated, eternal and has infinite power and knowledge and therefore has the inherent potential of divinity.</a:t>
            </a:r>
          </a:p>
          <a:p>
            <a:r>
              <a:rPr lang="en-US" sz="2400" dirty="0" smtClean="0"/>
              <a:t>There are five levels of human development:</a:t>
            </a:r>
          </a:p>
          <a:p>
            <a:r>
              <a:rPr lang="en-US" sz="2400" dirty="0" smtClean="0"/>
              <a:t>Sadhus (monks) and sadhvis (nuns)</a:t>
            </a:r>
          </a:p>
          <a:p>
            <a:r>
              <a:rPr lang="en-US" sz="2400" dirty="0" smtClean="0"/>
              <a:t>Upadhyayas (teachers of the scriptures and philosophy)</a:t>
            </a:r>
          </a:p>
          <a:p>
            <a:r>
              <a:rPr lang="en-US" sz="2400" dirty="0" smtClean="0"/>
              <a:t>Acharyas (leaders of the monastic community)</a:t>
            </a:r>
          </a:p>
        </p:txBody>
      </p:sp>
      <p:sp>
        <p:nvSpPr>
          <p:cNvPr id="6" name="Date Placeholder 5"/>
          <p:cNvSpPr>
            <a:spLocks noGrp="1"/>
          </p:cNvSpPr>
          <p:nvPr>
            <p:ph type="dt" sz="half" idx="10"/>
          </p:nvPr>
        </p:nvSpPr>
        <p:spPr/>
        <p:txBody>
          <a:bodyPr/>
          <a:lstStyle/>
          <a:p>
            <a:fld id="{6F2D6662-252C-492E-803B-68458D12AFE0}"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31</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Beliefs in Jainism</a:t>
            </a:r>
            <a:endParaRPr lang="en-US" sz="2800" b="1"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sz="2400" dirty="0" smtClean="0"/>
              <a:t>Arihantas (liberated souls that have attained salvation; both Ordinary and Tirthankar and have achieved divinity. They can help others until death when they become siddhas)</a:t>
            </a:r>
          </a:p>
          <a:p>
            <a:r>
              <a:rPr lang="en-US" sz="2400" dirty="0" smtClean="0"/>
              <a:t>Siddhas (liberated souls who reside in the highest level of heaven. They have no form and are detached from the earth)</a:t>
            </a:r>
            <a:endParaRPr lang="en-US" sz="2400" dirty="0"/>
          </a:p>
        </p:txBody>
      </p:sp>
      <p:sp>
        <p:nvSpPr>
          <p:cNvPr id="6" name="Date Placeholder 5"/>
          <p:cNvSpPr>
            <a:spLocks noGrp="1"/>
          </p:cNvSpPr>
          <p:nvPr>
            <p:ph type="dt" sz="half" idx="10"/>
          </p:nvPr>
        </p:nvSpPr>
        <p:spPr/>
        <p:txBody>
          <a:bodyPr/>
          <a:lstStyle/>
          <a:p>
            <a:fld id="{4D8A54E8-DF82-40D6-AA4F-A872935DF00A}"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32</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Beliefs in Jainism</a:t>
            </a:r>
            <a:endParaRPr lang="en-US" sz="2800" b="1"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73100" y="1547825"/>
            <a:ext cx="7797800" cy="4489450"/>
          </a:xfrm>
          <a:prstGeom prst="rect">
            <a:avLst/>
          </a:prstGeom>
        </p:spPr>
        <p:txBody>
          <a:bodyPr vert="horz" wrap="square" lIns="0" tIns="12700" rIns="0" bIns="0" rtlCol="0">
            <a:spAutoFit/>
          </a:bodyPr>
          <a:lstStyle/>
          <a:p>
            <a:pPr marL="12700" algn="just">
              <a:lnSpc>
                <a:spcPts val="2595"/>
              </a:lnSpc>
              <a:spcBef>
                <a:spcPts val="100"/>
              </a:spcBef>
            </a:pPr>
            <a:r>
              <a:rPr sz="1550" spc="300" dirty="0">
                <a:latin typeface="Arial"/>
                <a:cs typeface="Arial"/>
              </a:rPr>
              <a:t> </a:t>
            </a:r>
            <a:r>
              <a:rPr sz="2400" spc="-5" dirty="0">
                <a:latin typeface="Palladio Uralic"/>
                <a:cs typeface="Palladio Uralic"/>
              </a:rPr>
              <a:t>Jainism is </a:t>
            </a:r>
            <a:r>
              <a:rPr sz="2400" dirty="0">
                <a:latin typeface="Palladio Uralic"/>
                <a:cs typeface="Palladio Uralic"/>
              </a:rPr>
              <a:t>a way </a:t>
            </a:r>
            <a:r>
              <a:rPr sz="2400" spc="-5" dirty="0">
                <a:latin typeface="Palladio Uralic"/>
                <a:cs typeface="Palladio Uralic"/>
              </a:rPr>
              <a:t>of life and one </a:t>
            </a:r>
            <a:r>
              <a:rPr sz="2400" dirty="0">
                <a:latin typeface="Palladio Uralic"/>
                <a:cs typeface="Palladio Uralic"/>
              </a:rPr>
              <a:t>of </a:t>
            </a:r>
            <a:r>
              <a:rPr sz="2400" spc="-5" dirty="0">
                <a:latin typeface="Palladio Uralic"/>
                <a:cs typeface="Palladio Uralic"/>
              </a:rPr>
              <a:t>the oldest</a:t>
            </a:r>
            <a:r>
              <a:rPr sz="2400" spc="-305" dirty="0">
                <a:latin typeface="Palladio Uralic"/>
                <a:cs typeface="Palladio Uralic"/>
              </a:rPr>
              <a:t> </a:t>
            </a:r>
            <a:r>
              <a:rPr sz="2400" spc="-5" dirty="0">
                <a:latin typeface="Palladio Uralic"/>
                <a:cs typeface="Palladio Uralic"/>
              </a:rPr>
              <a:t>religions</a:t>
            </a:r>
            <a:endParaRPr sz="2400" dirty="0">
              <a:latin typeface="Palladio Uralic"/>
              <a:cs typeface="Palladio Uralic"/>
            </a:endParaRPr>
          </a:p>
          <a:p>
            <a:pPr marL="424180" algn="just">
              <a:lnSpc>
                <a:spcPts val="2595"/>
              </a:lnSpc>
            </a:pPr>
            <a:r>
              <a:rPr sz="2400" spc="-5" dirty="0">
                <a:latin typeface="Palladio Uralic"/>
                <a:cs typeface="Palladio Uralic"/>
              </a:rPr>
              <a:t>of the </a:t>
            </a:r>
            <a:r>
              <a:rPr sz="2400" dirty="0">
                <a:latin typeface="Palladio Uralic"/>
                <a:cs typeface="Palladio Uralic"/>
              </a:rPr>
              <a:t>world.</a:t>
            </a:r>
          </a:p>
          <a:p>
            <a:pPr marL="424180" marR="1402715" indent="-412115" algn="just">
              <a:lnSpc>
                <a:spcPts val="2300"/>
              </a:lnSpc>
              <a:spcBef>
                <a:spcPts val="560"/>
              </a:spcBef>
            </a:pPr>
            <a:r>
              <a:rPr sz="1550" spc="300" dirty="0">
                <a:latin typeface="Arial"/>
                <a:cs typeface="Arial"/>
              </a:rPr>
              <a:t> </a:t>
            </a:r>
            <a:r>
              <a:rPr sz="2400" dirty="0">
                <a:latin typeface="Palladio Uralic"/>
                <a:cs typeface="Palladio Uralic"/>
              </a:rPr>
              <a:t>It believes in a </a:t>
            </a:r>
            <a:r>
              <a:rPr sz="2400" spc="-5" dirty="0">
                <a:latin typeface="Palladio Uralic"/>
                <a:cs typeface="Palladio Uralic"/>
              </a:rPr>
              <a:t>cyclical nature of universe. </a:t>
            </a:r>
            <a:r>
              <a:rPr sz="2400" dirty="0">
                <a:latin typeface="Palladio Uralic"/>
                <a:cs typeface="Palladio Uralic"/>
              </a:rPr>
              <a:t>It  </a:t>
            </a:r>
            <a:r>
              <a:rPr sz="2400" spc="-5" dirty="0">
                <a:latin typeface="Palladio Uralic"/>
                <a:cs typeface="Palladio Uralic"/>
              </a:rPr>
              <a:t>discourages superstition </a:t>
            </a:r>
            <a:r>
              <a:rPr sz="2400" dirty="0">
                <a:latin typeface="Palladio Uralic"/>
                <a:cs typeface="Palladio Uralic"/>
              </a:rPr>
              <a:t>and </a:t>
            </a:r>
            <a:r>
              <a:rPr sz="2400" spc="-5" dirty="0">
                <a:latin typeface="Palladio Uralic"/>
                <a:cs typeface="Palladio Uralic"/>
              </a:rPr>
              <a:t>blind </a:t>
            </a:r>
            <a:r>
              <a:rPr sz="2400" dirty="0">
                <a:latin typeface="Palladio Uralic"/>
                <a:cs typeface="Palladio Uralic"/>
              </a:rPr>
              <a:t>faith and  encourages </a:t>
            </a:r>
            <a:r>
              <a:rPr sz="2400" spc="-5" dirty="0">
                <a:latin typeface="Palladio Uralic"/>
                <a:cs typeface="Palladio Uralic"/>
              </a:rPr>
              <a:t>free </a:t>
            </a:r>
            <a:r>
              <a:rPr sz="2400" dirty="0">
                <a:latin typeface="Palladio Uralic"/>
                <a:cs typeface="Palladio Uralic"/>
              </a:rPr>
              <a:t>and </a:t>
            </a:r>
            <a:r>
              <a:rPr sz="2400" spc="-5" dirty="0">
                <a:latin typeface="Palladio Uralic"/>
                <a:cs typeface="Palladio Uralic"/>
              </a:rPr>
              <a:t>rational</a:t>
            </a:r>
            <a:r>
              <a:rPr sz="2400" spc="5" dirty="0">
                <a:latin typeface="Palladio Uralic"/>
                <a:cs typeface="Palladio Uralic"/>
              </a:rPr>
              <a:t> </a:t>
            </a:r>
            <a:r>
              <a:rPr sz="2400" spc="-10" dirty="0">
                <a:latin typeface="Palladio Uralic"/>
                <a:cs typeface="Palladio Uralic"/>
              </a:rPr>
              <a:t>thinking.</a:t>
            </a:r>
            <a:endParaRPr sz="2400" dirty="0">
              <a:latin typeface="Palladio Uralic"/>
              <a:cs typeface="Palladio Uralic"/>
            </a:endParaRPr>
          </a:p>
          <a:p>
            <a:pPr marL="12700" algn="just">
              <a:lnSpc>
                <a:spcPts val="2595"/>
              </a:lnSpc>
              <a:spcBef>
                <a:spcPts val="30"/>
              </a:spcBef>
            </a:pPr>
            <a:r>
              <a:rPr sz="1550" spc="305" dirty="0">
                <a:latin typeface="Arial"/>
                <a:cs typeface="Arial"/>
              </a:rPr>
              <a:t> </a:t>
            </a:r>
            <a:r>
              <a:rPr sz="2400" spc="-5" dirty="0">
                <a:latin typeface="Palladio Uralic"/>
                <a:cs typeface="Palladio Uralic"/>
              </a:rPr>
              <a:t>Jainism lays heavy emphasis </a:t>
            </a:r>
            <a:r>
              <a:rPr sz="2400" dirty="0">
                <a:latin typeface="Palladio Uralic"/>
                <a:cs typeface="Palladio Uralic"/>
              </a:rPr>
              <a:t>on </a:t>
            </a:r>
            <a:r>
              <a:rPr sz="2400" spc="-5" dirty="0">
                <a:latin typeface="Palladio Uralic"/>
                <a:cs typeface="Palladio Uralic"/>
              </a:rPr>
              <a:t>non-violence</a:t>
            </a:r>
            <a:r>
              <a:rPr sz="2400" spc="-295" dirty="0">
                <a:latin typeface="Palladio Uralic"/>
                <a:cs typeface="Palladio Uralic"/>
              </a:rPr>
              <a:t> </a:t>
            </a:r>
            <a:r>
              <a:rPr sz="2400" spc="-45" dirty="0">
                <a:latin typeface="Palladio Uralic"/>
                <a:cs typeface="Palladio Uralic"/>
              </a:rPr>
              <a:t>(ahimsa)</a:t>
            </a:r>
            <a:endParaRPr sz="2400" dirty="0">
              <a:latin typeface="Palladio Uralic"/>
              <a:cs typeface="Palladio Uralic"/>
            </a:endParaRPr>
          </a:p>
          <a:p>
            <a:pPr marL="424180" algn="just">
              <a:lnSpc>
                <a:spcPts val="2595"/>
              </a:lnSpc>
            </a:pPr>
            <a:r>
              <a:rPr sz="2400" spc="-5" dirty="0">
                <a:latin typeface="Palladio Uralic"/>
                <a:cs typeface="Palladio Uralic"/>
              </a:rPr>
              <a:t>and discipline.</a:t>
            </a:r>
            <a:endParaRPr sz="2400" dirty="0">
              <a:latin typeface="Palladio Uralic"/>
              <a:cs typeface="Palladio Uralic"/>
            </a:endParaRPr>
          </a:p>
          <a:p>
            <a:pPr marL="424180" marR="5080" indent="-412115" algn="just">
              <a:lnSpc>
                <a:spcPts val="2300"/>
              </a:lnSpc>
              <a:spcBef>
                <a:spcPts val="560"/>
              </a:spcBef>
              <a:tabLst>
                <a:tab pos="424180" algn="l"/>
              </a:tabLst>
            </a:pPr>
            <a:r>
              <a:rPr sz="1550" spc="300" dirty="0">
                <a:latin typeface="Arial"/>
                <a:cs typeface="Arial"/>
              </a:rPr>
              <a:t>	</a:t>
            </a:r>
            <a:r>
              <a:rPr sz="2400" spc="-5" dirty="0">
                <a:latin typeface="Palladio Uralic"/>
                <a:cs typeface="Palladio Uralic"/>
              </a:rPr>
              <a:t>According to </a:t>
            </a:r>
            <a:r>
              <a:rPr sz="2400" dirty="0">
                <a:latin typeface="Palladio Uralic"/>
                <a:cs typeface="Palladio Uralic"/>
              </a:rPr>
              <a:t>Jain </a:t>
            </a:r>
            <a:r>
              <a:rPr sz="2400" spc="-5" dirty="0">
                <a:latin typeface="Palladio Uralic"/>
                <a:cs typeface="Palladio Uralic"/>
              </a:rPr>
              <a:t>philosophy, </a:t>
            </a:r>
            <a:r>
              <a:rPr sz="2400" dirty="0">
                <a:latin typeface="Palladio Uralic"/>
                <a:cs typeface="Palladio Uralic"/>
              </a:rPr>
              <a:t>all </a:t>
            </a:r>
            <a:r>
              <a:rPr sz="2400" spc="-5" dirty="0">
                <a:latin typeface="Palladio Uralic"/>
                <a:cs typeface="Palladio Uralic"/>
              </a:rPr>
              <a:t>Tirthankaras were  born as human beings </a:t>
            </a:r>
            <a:r>
              <a:rPr sz="2400" dirty="0">
                <a:latin typeface="Palladio Uralic"/>
                <a:cs typeface="Palladio Uralic"/>
              </a:rPr>
              <a:t>but </a:t>
            </a:r>
            <a:r>
              <a:rPr sz="2400" spc="-5" dirty="0">
                <a:latin typeface="Palladio Uralic"/>
                <a:cs typeface="Palladio Uralic"/>
              </a:rPr>
              <a:t>they have attained </a:t>
            </a:r>
            <a:r>
              <a:rPr sz="2400" dirty="0">
                <a:latin typeface="Palladio Uralic"/>
                <a:cs typeface="Palladio Uralic"/>
              </a:rPr>
              <a:t>a state </a:t>
            </a:r>
            <a:r>
              <a:rPr sz="2400" spc="-5" dirty="0">
                <a:latin typeface="Palladio Uralic"/>
                <a:cs typeface="Palladio Uralic"/>
              </a:rPr>
              <a:t>of  perfection or enlightenment through meditation</a:t>
            </a:r>
            <a:r>
              <a:rPr sz="2400" spc="75" dirty="0">
                <a:latin typeface="Palladio Uralic"/>
                <a:cs typeface="Palladio Uralic"/>
              </a:rPr>
              <a:t> </a:t>
            </a:r>
            <a:r>
              <a:rPr sz="2400" dirty="0">
                <a:latin typeface="Palladio Uralic"/>
                <a:cs typeface="Palladio Uralic"/>
              </a:rPr>
              <a:t>and</a:t>
            </a:r>
          </a:p>
          <a:p>
            <a:pPr marL="424180" algn="just">
              <a:lnSpc>
                <a:spcPts val="2330"/>
              </a:lnSpc>
              <a:tabLst>
                <a:tab pos="2629535" algn="l"/>
              </a:tabLst>
            </a:pPr>
            <a:r>
              <a:rPr sz="2400" dirty="0">
                <a:latin typeface="Palladio Uralic"/>
                <a:cs typeface="Palladio Uralic"/>
              </a:rPr>
              <a:t>self</a:t>
            </a:r>
            <a:r>
              <a:rPr sz="2400" spc="-5" dirty="0">
                <a:latin typeface="Palladio Uralic"/>
                <a:cs typeface="Palladio Uralic"/>
              </a:rPr>
              <a:t> realization.	</a:t>
            </a:r>
            <a:r>
              <a:rPr sz="2400" dirty="0">
                <a:latin typeface="Palladio Uralic"/>
                <a:cs typeface="Palladio Uralic"/>
              </a:rPr>
              <a:t>They are </a:t>
            </a:r>
            <a:r>
              <a:rPr sz="2400" spc="-5" dirty="0">
                <a:latin typeface="Palladio Uralic"/>
                <a:cs typeface="Palladio Uralic"/>
              </a:rPr>
              <a:t>the </a:t>
            </a:r>
            <a:r>
              <a:rPr sz="2400" dirty="0">
                <a:latin typeface="Palladio Uralic"/>
                <a:cs typeface="Palladio Uralic"/>
              </a:rPr>
              <a:t>“Gods” </a:t>
            </a:r>
            <a:r>
              <a:rPr sz="2400" spc="-5" dirty="0">
                <a:latin typeface="Palladio Uralic"/>
                <a:cs typeface="Palladio Uralic"/>
              </a:rPr>
              <a:t>of</a:t>
            </a:r>
            <a:r>
              <a:rPr sz="2400" spc="-20" dirty="0">
                <a:latin typeface="Palladio Uralic"/>
                <a:cs typeface="Palladio Uralic"/>
              </a:rPr>
              <a:t> </a:t>
            </a:r>
            <a:r>
              <a:rPr sz="2400" dirty="0">
                <a:latin typeface="Palladio Uralic"/>
                <a:cs typeface="Palladio Uralic"/>
              </a:rPr>
              <a:t>Jains.</a:t>
            </a:r>
          </a:p>
          <a:p>
            <a:pPr marL="424180" marR="1751964" indent="-412115" algn="just">
              <a:lnSpc>
                <a:spcPct val="80000"/>
              </a:lnSpc>
              <a:spcBef>
                <a:spcPts val="580"/>
              </a:spcBef>
              <a:tabLst>
                <a:tab pos="424180" algn="l"/>
              </a:tabLst>
            </a:pPr>
            <a:r>
              <a:rPr sz="1550" spc="300" dirty="0">
                <a:latin typeface="Arial"/>
                <a:cs typeface="Arial"/>
              </a:rPr>
              <a:t>	</a:t>
            </a:r>
            <a:r>
              <a:rPr sz="2400" dirty="0">
                <a:latin typeface="Palladio Uralic"/>
                <a:cs typeface="Palladio Uralic"/>
              </a:rPr>
              <a:t>Jains </a:t>
            </a:r>
            <a:r>
              <a:rPr sz="2400" spc="-5" dirty="0">
                <a:latin typeface="Palladio Uralic"/>
                <a:cs typeface="Palladio Uralic"/>
              </a:rPr>
              <a:t>have </a:t>
            </a:r>
            <a:r>
              <a:rPr sz="2400" dirty="0">
                <a:latin typeface="Palladio Uralic"/>
                <a:cs typeface="Palladio Uralic"/>
              </a:rPr>
              <a:t>always </a:t>
            </a:r>
            <a:r>
              <a:rPr sz="2400" spc="-5" dirty="0">
                <a:latin typeface="Palladio Uralic"/>
                <a:cs typeface="Palladio Uralic"/>
              </a:rPr>
              <a:t>practiced non-violence,  vegetarianism, meditation, yoga, </a:t>
            </a:r>
            <a:r>
              <a:rPr sz="2400" dirty="0">
                <a:latin typeface="Palladio Uralic"/>
                <a:cs typeface="Palladio Uralic"/>
              </a:rPr>
              <a:t>and  </a:t>
            </a:r>
            <a:r>
              <a:rPr sz="2400" spc="-5" dirty="0">
                <a:latin typeface="Palladio Uralic"/>
                <a:cs typeface="Palladio Uralic"/>
              </a:rPr>
              <a:t>environmentalism.</a:t>
            </a:r>
            <a:endParaRPr sz="2400" dirty="0">
              <a:latin typeface="Palladio Uralic"/>
              <a:cs typeface="Palladio Uralic"/>
            </a:endParaRPr>
          </a:p>
        </p:txBody>
      </p:sp>
      <p:sp>
        <p:nvSpPr>
          <p:cNvPr id="4"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Jainism</a:t>
            </a:r>
            <a:endParaRPr lang="en-US" sz="2800" b="1"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6" name="Date Placeholder 5"/>
          <p:cNvSpPr>
            <a:spLocks noGrp="1"/>
          </p:cNvSpPr>
          <p:nvPr>
            <p:ph type="dt" sz="half" idx="10"/>
          </p:nvPr>
        </p:nvSpPr>
        <p:spPr/>
        <p:txBody>
          <a:bodyPr/>
          <a:lstStyle/>
          <a:p>
            <a:fld id="{D5F831FB-0C28-4AD4-8808-80ECAA9CED82}"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dirty="0"/>
          </a:p>
        </p:txBody>
      </p:sp>
      <p:sp>
        <p:nvSpPr>
          <p:cNvPr id="8" name="Footer Placeholder 7"/>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3374296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1290827"/>
            <a:ext cx="9144000" cy="1371600"/>
            <a:chOff x="0" y="1290827"/>
            <a:chExt cx="9144000" cy="1371600"/>
          </a:xfrm>
        </p:grpSpPr>
        <p:sp>
          <p:nvSpPr>
            <p:cNvPr id="4" name="object 4"/>
            <p:cNvSpPr/>
            <p:nvPr/>
          </p:nvSpPr>
          <p:spPr>
            <a:xfrm>
              <a:off x="2427732" y="1292351"/>
              <a:ext cx="6716267" cy="127711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1290827"/>
              <a:ext cx="2822448" cy="1371600"/>
            </a:xfrm>
            <a:prstGeom prst="rect">
              <a:avLst/>
            </a:prstGeom>
            <a:blipFill>
              <a:blip r:embed="rId3" cstate="print"/>
              <a:stretch>
                <a:fillRect/>
              </a:stretch>
            </a:blipFill>
          </p:spPr>
          <p:txBody>
            <a:bodyPr wrap="square" lIns="0" tIns="0" rIns="0" bIns="0" rtlCol="0"/>
            <a:lstStyle/>
            <a:p>
              <a:endParaRPr/>
            </a:p>
          </p:txBody>
        </p:sp>
      </p:grpSp>
      <p:sp>
        <p:nvSpPr>
          <p:cNvPr id="6" name="object 6"/>
          <p:cNvSpPr txBox="1"/>
          <p:nvPr/>
        </p:nvSpPr>
        <p:spPr>
          <a:xfrm>
            <a:off x="474980" y="1479549"/>
            <a:ext cx="1513205" cy="581660"/>
          </a:xfrm>
          <a:prstGeom prst="rect">
            <a:avLst/>
          </a:prstGeom>
        </p:spPr>
        <p:txBody>
          <a:bodyPr vert="horz" wrap="square" lIns="0" tIns="40005" rIns="0" bIns="0" rtlCol="0">
            <a:spAutoFit/>
          </a:bodyPr>
          <a:lstStyle/>
          <a:p>
            <a:pPr marL="248920" marR="5080" indent="-236220">
              <a:lnSpc>
                <a:spcPts val="2100"/>
              </a:lnSpc>
              <a:spcBef>
                <a:spcPts val="315"/>
              </a:spcBef>
            </a:pPr>
            <a:r>
              <a:rPr sz="1900" b="1" spc="-5" dirty="0">
                <a:solidFill>
                  <a:srgbClr val="FFFFFF"/>
                </a:solidFill>
                <a:latin typeface="TeXGyrePagella"/>
                <a:cs typeface="TeXGyrePagella"/>
              </a:rPr>
              <a:t>No</a:t>
            </a:r>
            <a:r>
              <a:rPr sz="1900" b="1" dirty="0">
                <a:solidFill>
                  <a:srgbClr val="FFFFFF"/>
                </a:solidFill>
                <a:latin typeface="TeXGyrePagella"/>
                <a:cs typeface="TeXGyrePagella"/>
              </a:rPr>
              <a:t>n</a:t>
            </a:r>
            <a:r>
              <a:rPr sz="1900" b="1" spc="-5" dirty="0">
                <a:solidFill>
                  <a:srgbClr val="FFFFFF"/>
                </a:solidFill>
                <a:latin typeface="TeXGyrePagella"/>
                <a:cs typeface="TeXGyrePagella"/>
              </a:rPr>
              <a:t>-</a:t>
            </a:r>
            <a:r>
              <a:rPr sz="1900" b="1" spc="-10" dirty="0">
                <a:solidFill>
                  <a:srgbClr val="FFFFFF"/>
                </a:solidFill>
                <a:latin typeface="TeXGyrePagella"/>
                <a:cs typeface="TeXGyrePagella"/>
              </a:rPr>
              <a:t>v</a:t>
            </a:r>
            <a:r>
              <a:rPr sz="1900" b="1" spc="-5" dirty="0">
                <a:solidFill>
                  <a:srgbClr val="FFFFFF"/>
                </a:solidFill>
                <a:latin typeface="TeXGyrePagella"/>
                <a:cs typeface="TeXGyrePagella"/>
              </a:rPr>
              <a:t>i</a:t>
            </a:r>
            <a:r>
              <a:rPr sz="1900" b="1" spc="-10" dirty="0">
                <a:solidFill>
                  <a:srgbClr val="FFFFFF"/>
                </a:solidFill>
                <a:latin typeface="TeXGyrePagella"/>
                <a:cs typeface="TeXGyrePagella"/>
              </a:rPr>
              <a:t>o</a:t>
            </a:r>
            <a:r>
              <a:rPr sz="1900" b="1" spc="-5" dirty="0">
                <a:solidFill>
                  <a:srgbClr val="FFFFFF"/>
                </a:solidFill>
                <a:latin typeface="TeXGyrePagella"/>
                <a:cs typeface="TeXGyrePagella"/>
              </a:rPr>
              <a:t>lence  (Ahimsa)</a:t>
            </a:r>
            <a:endParaRPr sz="1900">
              <a:latin typeface="TeXGyrePagella"/>
              <a:cs typeface="TeXGyrePagella"/>
            </a:endParaRPr>
          </a:p>
        </p:txBody>
      </p:sp>
      <p:sp>
        <p:nvSpPr>
          <p:cNvPr id="7" name="object 7"/>
          <p:cNvSpPr/>
          <p:nvPr/>
        </p:nvSpPr>
        <p:spPr>
          <a:xfrm>
            <a:off x="2427732" y="2449067"/>
            <a:ext cx="6716267" cy="1181099"/>
          </a:xfrm>
          <a:prstGeom prst="rect">
            <a:avLst/>
          </a:prstGeom>
          <a:blipFill>
            <a:blip r:embed="rId4" cstate="print"/>
            <a:stretch>
              <a:fillRect/>
            </a:stretch>
          </a:blipFill>
        </p:spPr>
        <p:txBody>
          <a:bodyPr wrap="square" lIns="0" tIns="0" rIns="0" bIns="0" rtlCol="0"/>
          <a:lstStyle/>
          <a:p>
            <a:endParaRPr/>
          </a:p>
        </p:txBody>
      </p:sp>
      <p:sp>
        <p:nvSpPr>
          <p:cNvPr id="8" name="object 8"/>
          <p:cNvSpPr txBox="1"/>
          <p:nvPr/>
        </p:nvSpPr>
        <p:spPr>
          <a:xfrm>
            <a:off x="2702432" y="1221104"/>
            <a:ext cx="6072505" cy="1973580"/>
          </a:xfrm>
          <a:prstGeom prst="rect">
            <a:avLst/>
          </a:prstGeom>
        </p:spPr>
        <p:txBody>
          <a:bodyPr vert="horz" wrap="square" lIns="0" tIns="35560" rIns="0" bIns="0" rtlCol="0">
            <a:spAutoFit/>
          </a:bodyPr>
          <a:lstStyle/>
          <a:p>
            <a:pPr marL="184785" marR="646430" indent="-172720">
              <a:lnSpc>
                <a:spcPts val="2020"/>
              </a:lnSpc>
              <a:spcBef>
                <a:spcPts val="280"/>
              </a:spcBef>
              <a:buChar char="•"/>
              <a:tabLst>
                <a:tab pos="185420" algn="l"/>
              </a:tabLst>
            </a:pPr>
            <a:r>
              <a:rPr spc="-5" dirty="0">
                <a:latin typeface="Palladio Uralic"/>
                <a:cs typeface="Palladio Uralic"/>
              </a:rPr>
              <a:t>Not to cause </a:t>
            </a:r>
            <a:r>
              <a:rPr spc="-10" dirty="0">
                <a:latin typeface="Palladio Uralic"/>
                <a:cs typeface="Palladio Uralic"/>
              </a:rPr>
              <a:t>harm </a:t>
            </a:r>
            <a:r>
              <a:rPr spc="-5" dirty="0">
                <a:latin typeface="Palladio Uralic"/>
                <a:cs typeface="Palladio Uralic"/>
              </a:rPr>
              <a:t>to any living beings by thoughts,  </a:t>
            </a:r>
            <a:r>
              <a:rPr dirty="0">
                <a:latin typeface="Palladio Uralic"/>
                <a:cs typeface="Palladio Uralic"/>
              </a:rPr>
              <a:t>speech or</a:t>
            </a:r>
            <a:r>
              <a:rPr spc="-25" dirty="0">
                <a:latin typeface="Palladio Uralic"/>
                <a:cs typeface="Palladio Uralic"/>
              </a:rPr>
              <a:t> </a:t>
            </a:r>
            <a:r>
              <a:rPr spc="-5" dirty="0">
                <a:latin typeface="Palladio Uralic"/>
                <a:cs typeface="Palladio Uralic"/>
              </a:rPr>
              <a:t>body</a:t>
            </a:r>
            <a:endParaRPr dirty="0">
              <a:latin typeface="Palladio Uralic"/>
              <a:cs typeface="Palladio Uralic"/>
            </a:endParaRPr>
          </a:p>
          <a:p>
            <a:pPr marL="184785" indent="-172720">
              <a:lnSpc>
                <a:spcPts val="2090"/>
              </a:lnSpc>
              <a:spcBef>
                <a:spcPts val="135"/>
              </a:spcBef>
              <a:buChar char="•"/>
              <a:tabLst>
                <a:tab pos="185420" algn="l"/>
              </a:tabLst>
            </a:pPr>
            <a:r>
              <a:rPr spc="-5" dirty="0">
                <a:latin typeface="Palladio Uralic"/>
                <a:cs typeface="Palladio Uralic"/>
              </a:rPr>
              <a:t>Non-violence towards </a:t>
            </a:r>
            <a:r>
              <a:rPr dirty="0">
                <a:latin typeface="Palladio Uralic"/>
                <a:cs typeface="Palladio Uralic"/>
              </a:rPr>
              <a:t>all living creatures, </a:t>
            </a:r>
            <a:r>
              <a:rPr spc="-5" dirty="0">
                <a:latin typeface="Palladio Uralic"/>
                <a:cs typeface="Palladio Uralic"/>
              </a:rPr>
              <a:t>in both</a:t>
            </a:r>
            <a:r>
              <a:rPr spc="-40" dirty="0">
                <a:latin typeface="Palladio Uralic"/>
                <a:cs typeface="Palladio Uralic"/>
              </a:rPr>
              <a:t> </a:t>
            </a:r>
            <a:r>
              <a:rPr spc="-10" dirty="0">
                <a:latin typeface="Palladio Uralic"/>
                <a:cs typeface="Palladio Uralic"/>
              </a:rPr>
              <a:t>thought</a:t>
            </a:r>
            <a:endParaRPr dirty="0">
              <a:latin typeface="Palladio Uralic"/>
              <a:cs typeface="Palladio Uralic"/>
            </a:endParaRPr>
          </a:p>
          <a:p>
            <a:pPr marL="184785">
              <a:lnSpc>
                <a:spcPts val="2090"/>
              </a:lnSpc>
            </a:pPr>
            <a:r>
              <a:rPr spc="-5" dirty="0">
                <a:latin typeface="Palladio Uralic"/>
                <a:cs typeface="Palladio Uralic"/>
              </a:rPr>
              <a:t>and</a:t>
            </a:r>
            <a:r>
              <a:rPr spc="-15" dirty="0">
                <a:latin typeface="Palladio Uralic"/>
                <a:cs typeface="Palladio Uralic"/>
              </a:rPr>
              <a:t> </a:t>
            </a:r>
            <a:r>
              <a:rPr dirty="0">
                <a:latin typeface="Palladio Uralic"/>
                <a:cs typeface="Palladio Uralic"/>
              </a:rPr>
              <a:t>action</a:t>
            </a:r>
          </a:p>
          <a:p>
            <a:pPr marL="241300" marR="824230" indent="-228600">
              <a:lnSpc>
                <a:spcPts val="2690"/>
              </a:lnSpc>
              <a:spcBef>
                <a:spcPts val="1480"/>
              </a:spcBef>
              <a:buChar char="•"/>
              <a:tabLst>
                <a:tab pos="241300" algn="l"/>
              </a:tabLst>
            </a:pPr>
            <a:r>
              <a:rPr spc="-5" dirty="0">
                <a:latin typeface="Palladio Uralic"/>
                <a:cs typeface="Palladio Uralic"/>
              </a:rPr>
              <a:t>Strengthens </a:t>
            </a:r>
            <a:r>
              <a:rPr dirty="0">
                <a:latin typeface="Palladio Uralic"/>
                <a:cs typeface="Palladio Uralic"/>
              </a:rPr>
              <a:t>autonomy </a:t>
            </a:r>
            <a:r>
              <a:rPr spc="-5" dirty="0">
                <a:latin typeface="Palladio Uralic"/>
                <a:cs typeface="Palladio Uralic"/>
              </a:rPr>
              <a:t>of thoughts &amp;  speech, and</a:t>
            </a:r>
            <a:r>
              <a:rPr spc="-15" dirty="0">
                <a:latin typeface="Palladio Uralic"/>
                <a:cs typeface="Palladio Uralic"/>
              </a:rPr>
              <a:t> </a:t>
            </a:r>
            <a:r>
              <a:rPr spc="-5" dirty="0">
                <a:latin typeface="Palladio Uralic"/>
                <a:cs typeface="Palladio Uralic"/>
              </a:rPr>
              <a:t>non-possessiveness</a:t>
            </a:r>
            <a:endParaRPr dirty="0">
              <a:latin typeface="Palladio Uralic"/>
              <a:cs typeface="Palladio Uralic"/>
            </a:endParaRPr>
          </a:p>
        </p:txBody>
      </p:sp>
      <p:grpSp>
        <p:nvGrpSpPr>
          <p:cNvPr id="9" name="object 9"/>
          <p:cNvGrpSpPr/>
          <p:nvPr/>
        </p:nvGrpSpPr>
        <p:grpSpPr>
          <a:xfrm>
            <a:off x="0" y="2354579"/>
            <a:ext cx="9144000" cy="2336800"/>
            <a:chOff x="0" y="2354579"/>
            <a:chExt cx="9144000" cy="2336800"/>
          </a:xfrm>
        </p:grpSpPr>
        <p:sp>
          <p:nvSpPr>
            <p:cNvPr id="10" name="object 10"/>
            <p:cNvSpPr/>
            <p:nvPr/>
          </p:nvSpPr>
          <p:spPr>
            <a:xfrm>
              <a:off x="0" y="2354579"/>
              <a:ext cx="2823972" cy="1370076"/>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2427732" y="3509771"/>
              <a:ext cx="6716267" cy="1181100"/>
            </a:xfrm>
            <a:prstGeom prst="rect">
              <a:avLst/>
            </a:prstGeom>
            <a:blipFill>
              <a:blip r:embed="rId6" cstate="print"/>
              <a:stretch>
                <a:fillRect/>
              </a:stretch>
            </a:blipFill>
          </p:spPr>
          <p:txBody>
            <a:bodyPr wrap="square" lIns="0" tIns="0" rIns="0" bIns="0" rtlCol="0"/>
            <a:lstStyle/>
            <a:p>
              <a:endParaRPr/>
            </a:p>
          </p:txBody>
        </p:sp>
      </p:grpSp>
      <p:sp>
        <p:nvSpPr>
          <p:cNvPr id="12" name="object 12"/>
          <p:cNvSpPr txBox="1"/>
          <p:nvPr/>
        </p:nvSpPr>
        <p:spPr>
          <a:xfrm>
            <a:off x="2702432" y="3522726"/>
            <a:ext cx="5264785" cy="732790"/>
          </a:xfrm>
          <a:prstGeom prst="rect">
            <a:avLst/>
          </a:prstGeom>
        </p:spPr>
        <p:txBody>
          <a:bodyPr vert="horz" wrap="square" lIns="0" tIns="43815" rIns="0" bIns="0" rtlCol="0">
            <a:spAutoFit/>
          </a:bodyPr>
          <a:lstStyle/>
          <a:p>
            <a:pPr marL="241300" marR="5080" indent="-228600">
              <a:lnSpc>
                <a:spcPts val="2690"/>
              </a:lnSpc>
              <a:spcBef>
                <a:spcPts val="345"/>
              </a:spcBef>
              <a:buChar char="•"/>
              <a:tabLst>
                <a:tab pos="241300" algn="l"/>
              </a:tabLst>
            </a:pPr>
            <a:r>
              <a:rPr sz="2400" spc="-5" dirty="0">
                <a:latin typeface="Palladio Uralic"/>
                <a:cs typeface="Palladio Uralic"/>
              </a:rPr>
              <a:t>A complete </a:t>
            </a:r>
            <a:r>
              <a:rPr sz="2400" dirty="0">
                <a:latin typeface="Palladio Uralic"/>
                <a:cs typeface="Palladio Uralic"/>
              </a:rPr>
              <a:t>detachment </a:t>
            </a:r>
            <a:r>
              <a:rPr sz="2400" spc="-5" dirty="0">
                <a:latin typeface="Palladio Uralic"/>
                <a:cs typeface="Palladio Uralic"/>
              </a:rPr>
              <a:t>from</a:t>
            </a:r>
            <a:r>
              <a:rPr sz="2400" spc="-85" dirty="0">
                <a:latin typeface="Palladio Uralic"/>
                <a:cs typeface="Palladio Uralic"/>
              </a:rPr>
              <a:t> </a:t>
            </a:r>
            <a:r>
              <a:rPr sz="2400" spc="-5" dirty="0">
                <a:latin typeface="Palladio Uralic"/>
                <a:cs typeface="Palladio Uralic"/>
              </a:rPr>
              <a:t>people,  places, </a:t>
            </a:r>
            <a:r>
              <a:rPr sz="2400" dirty="0">
                <a:latin typeface="Palladio Uralic"/>
                <a:cs typeface="Palladio Uralic"/>
              </a:rPr>
              <a:t>and material</a:t>
            </a:r>
            <a:r>
              <a:rPr sz="2400" spc="-40" dirty="0">
                <a:latin typeface="Palladio Uralic"/>
                <a:cs typeface="Palladio Uralic"/>
              </a:rPr>
              <a:t> </a:t>
            </a:r>
            <a:r>
              <a:rPr sz="2400" spc="-5" dirty="0">
                <a:latin typeface="Palladio Uralic"/>
                <a:cs typeface="Palladio Uralic"/>
              </a:rPr>
              <a:t>things</a:t>
            </a:r>
            <a:endParaRPr sz="2400" dirty="0">
              <a:latin typeface="Palladio Uralic"/>
              <a:cs typeface="Palladio Uralic"/>
            </a:endParaRPr>
          </a:p>
        </p:txBody>
      </p:sp>
      <p:sp>
        <p:nvSpPr>
          <p:cNvPr id="13" name="object 13"/>
          <p:cNvSpPr/>
          <p:nvPr/>
        </p:nvSpPr>
        <p:spPr>
          <a:xfrm>
            <a:off x="0" y="3415284"/>
            <a:ext cx="2823972" cy="1370076"/>
          </a:xfrm>
          <a:prstGeom prst="rect">
            <a:avLst/>
          </a:prstGeom>
          <a:blipFill>
            <a:blip r:embed="rId7" cstate="print"/>
            <a:stretch>
              <a:fillRect/>
            </a:stretch>
          </a:blipFill>
        </p:spPr>
        <p:txBody>
          <a:bodyPr wrap="square" lIns="0" tIns="0" rIns="0" bIns="0" rtlCol="0"/>
          <a:lstStyle/>
          <a:p>
            <a:endParaRPr/>
          </a:p>
        </p:txBody>
      </p:sp>
      <p:sp>
        <p:nvSpPr>
          <p:cNvPr id="14" name="object 14"/>
          <p:cNvSpPr txBox="1"/>
          <p:nvPr/>
        </p:nvSpPr>
        <p:spPr>
          <a:xfrm>
            <a:off x="116230" y="2411983"/>
            <a:ext cx="2235200" cy="1913344"/>
          </a:xfrm>
          <a:prstGeom prst="rect">
            <a:avLst/>
          </a:prstGeom>
        </p:spPr>
        <p:txBody>
          <a:bodyPr vert="horz" wrap="square" lIns="0" tIns="37465" rIns="0" bIns="0" rtlCol="0">
            <a:spAutoFit/>
          </a:bodyPr>
          <a:lstStyle/>
          <a:p>
            <a:pPr marL="303530" marR="295910" algn="ctr">
              <a:lnSpc>
                <a:spcPct val="91300"/>
              </a:lnSpc>
              <a:spcBef>
                <a:spcPts val="295"/>
              </a:spcBef>
            </a:pPr>
            <a:r>
              <a:rPr sz="1900" b="1" spc="-5" dirty="0">
                <a:solidFill>
                  <a:srgbClr val="FFFFFF"/>
                </a:solidFill>
                <a:latin typeface="TeXGyrePagella"/>
                <a:cs typeface="TeXGyrePagella"/>
              </a:rPr>
              <a:t>Multiplicity</a:t>
            </a:r>
            <a:r>
              <a:rPr sz="1900" b="1" spc="-50" dirty="0">
                <a:solidFill>
                  <a:srgbClr val="FFFFFF"/>
                </a:solidFill>
                <a:latin typeface="TeXGyrePagella"/>
                <a:cs typeface="TeXGyrePagella"/>
              </a:rPr>
              <a:t> </a:t>
            </a:r>
            <a:r>
              <a:rPr sz="1900" b="1" spc="-10" dirty="0">
                <a:solidFill>
                  <a:srgbClr val="FFFFFF"/>
                </a:solidFill>
                <a:latin typeface="TeXGyrePagella"/>
                <a:cs typeface="TeXGyrePagella"/>
              </a:rPr>
              <a:t>of  </a:t>
            </a:r>
            <a:r>
              <a:rPr sz="1900" b="1" spc="-5" dirty="0">
                <a:solidFill>
                  <a:srgbClr val="FFFFFF"/>
                </a:solidFill>
                <a:latin typeface="TeXGyrePagella"/>
                <a:cs typeface="TeXGyrePagella"/>
              </a:rPr>
              <a:t>Views  (Anekäntväd)</a:t>
            </a:r>
            <a:endParaRPr sz="1900" dirty="0">
              <a:latin typeface="TeXGyrePagella"/>
              <a:cs typeface="TeXGyrePagella"/>
            </a:endParaRPr>
          </a:p>
          <a:p>
            <a:pPr algn="ctr">
              <a:lnSpc>
                <a:spcPts val="2170"/>
              </a:lnSpc>
              <a:spcBef>
                <a:spcPts val="1910"/>
              </a:spcBef>
            </a:pPr>
            <a:r>
              <a:rPr sz="1600" b="1" spc="-5" dirty="0">
                <a:solidFill>
                  <a:srgbClr val="FFFFFF"/>
                </a:solidFill>
                <a:latin typeface="TeXGyrePagella"/>
                <a:cs typeface="TeXGyrePagella"/>
              </a:rPr>
              <a:t>Non-Possessiveness</a:t>
            </a:r>
            <a:endParaRPr sz="1600" dirty="0">
              <a:latin typeface="TeXGyrePagella"/>
              <a:cs typeface="TeXGyrePagella"/>
            </a:endParaRPr>
          </a:p>
          <a:p>
            <a:pPr marL="126364" marR="119380" algn="ctr">
              <a:lnSpc>
                <a:spcPts val="2100"/>
              </a:lnSpc>
              <a:spcBef>
                <a:spcPts val="110"/>
              </a:spcBef>
            </a:pPr>
            <a:r>
              <a:rPr sz="1600" b="1" spc="-5" dirty="0">
                <a:solidFill>
                  <a:srgbClr val="FFFFFF"/>
                </a:solidFill>
                <a:latin typeface="TeXGyrePagella"/>
                <a:cs typeface="TeXGyrePagella"/>
              </a:rPr>
              <a:t>/</a:t>
            </a:r>
            <a:r>
              <a:rPr sz="1600" b="1" spc="-60" dirty="0">
                <a:solidFill>
                  <a:srgbClr val="FFFFFF"/>
                </a:solidFill>
                <a:latin typeface="TeXGyrePagella"/>
                <a:cs typeface="TeXGyrePagella"/>
              </a:rPr>
              <a:t> </a:t>
            </a:r>
            <a:r>
              <a:rPr sz="1600" b="1" spc="-5" dirty="0">
                <a:solidFill>
                  <a:srgbClr val="FFFFFF"/>
                </a:solidFill>
                <a:latin typeface="TeXGyrePagella"/>
                <a:cs typeface="TeXGyrePagella"/>
              </a:rPr>
              <a:t>Non-Attachment  (Aparigraha)</a:t>
            </a:r>
            <a:endParaRPr sz="1600" dirty="0">
              <a:latin typeface="TeXGyrePagella"/>
              <a:cs typeface="TeXGyrePagella"/>
            </a:endParaRPr>
          </a:p>
        </p:txBody>
      </p:sp>
      <p:sp>
        <p:nvSpPr>
          <p:cNvPr id="15" name="object 15"/>
          <p:cNvSpPr/>
          <p:nvPr/>
        </p:nvSpPr>
        <p:spPr>
          <a:xfrm>
            <a:off x="2427732" y="4570476"/>
            <a:ext cx="6716267" cy="1181100"/>
          </a:xfrm>
          <a:prstGeom prst="rect">
            <a:avLst/>
          </a:prstGeom>
          <a:blipFill>
            <a:blip r:embed="rId8" cstate="print"/>
            <a:stretch>
              <a:fillRect/>
            </a:stretch>
          </a:blipFill>
        </p:spPr>
        <p:txBody>
          <a:bodyPr wrap="square" lIns="0" tIns="0" rIns="0" bIns="0" rtlCol="0"/>
          <a:lstStyle/>
          <a:p>
            <a:endParaRPr/>
          </a:p>
        </p:txBody>
      </p:sp>
      <p:sp>
        <p:nvSpPr>
          <p:cNvPr id="16" name="object 16"/>
          <p:cNvSpPr txBox="1"/>
          <p:nvPr/>
        </p:nvSpPr>
        <p:spPr>
          <a:xfrm>
            <a:off x="2702432" y="4753813"/>
            <a:ext cx="4686300" cy="391795"/>
          </a:xfrm>
          <a:prstGeom prst="rect">
            <a:avLst/>
          </a:prstGeom>
        </p:spPr>
        <p:txBody>
          <a:bodyPr vert="horz" wrap="square" lIns="0" tIns="12700" rIns="0" bIns="0" rtlCol="0">
            <a:spAutoFit/>
          </a:bodyPr>
          <a:lstStyle/>
          <a:p>
            <a:pPr marL="241300" indent="-228600">
              <a:lnSpc>
                <a:spcPct val="100000"/>
              </a:lnSpc>
              <a:spcBef>
                <a:spcPts val="100"/>
              </a:spcBef>
              <a:buChar char="•"/>
              <a:tabLst>
                <a:tab pos="241300" algn="l"/>
              </a:tabLst>
            </a:pPr>
            <a:r>
              <a:rPr sz="2400" dirty="0">
                <a:latin typeface="Palladio Uralic"/>
                <a:cs typeface="Palladio Uralic"/>
              </a:rPr>
              <a:t>To speak </a:t>
            </a:r>
            <a:r>
              <a:rPr sz="2400" spc="-5" dirty="0">
                <a:latin typeface="Palladio Uralic"/>
                <a:cs typeface="Palladio Uralic"/>
              </a:rPr>
              <a:t>the harmless truth</a:t>
            </a:r>
            <a:r>
              <a:rPr sz="2400" spc="-60" dirty="0">
                <a:latin typeface="Palladio Uralic"/>
                <a:cs typeface="Palladio Uralic"/>
              </a:rPr>
              <a:t> </a:t>
            </a:r>
            <a:r>
              <a:rPr sz="2400" spc="-5" dirty="0">
                <a:latin typeface="Palladio Uralic"/>
                <a:cs typeface="Palladio Uralic"/>
              </a:rPr>
              <a:t>only</a:t>
            </a:r>
            <a:endParaRPr sz="2400">
              <a:latin typeface="Palladio Uralic"/>
              <a:cs typeface="Palladio Uralic"/>
            </a:endParaRPr>
          </a:p>
        </p:txBody>
      </p:sp>
      <p:sp>
        <p:nvSpPr>
          <p:cNvPr id="17" name="object 17"/>
          <p:cNvSpPr/>
          <p:nvPr/>
        </p:nvSpPr>
        <p:spPr>
          <a:xfrm>
            <a:off x="0" y="4475988"/>
            <a:ext cx="2823972" cy="1370076"/>
          </a:xfrm>
          <a:prstGeom prst="rect">
            <a:avLst/>
          </a:prstGeom>
          <a:blipFill>
            <a:blip r:embed="rId9" cstate="print"/>
            <a:stretch>
              <a:fillRect/>
            </a:stretch>
          </a:blipFill>
        </p:spPr>
        <p:txBody>
          <a:bodyPr wrap="square" lIns="0" tIns="0" rIns="0" bIns="0" rtlCol="0"/>
          <a:lstStyle/>
          <a:p>
            <a:endParaRPr/>
          </a:p>
        </p:txBody>
      </p:sp>
      <p:sp>
        <p:nvSpPr>
          <p:cNvPr id="18" name="object 18"/>
          <p:cNvSpPr txBox="1"/>
          <p:nvPr/>
        </p:nvSpPr>
        <p:spPr>
          <a:xfrm>
            <a:off x="505155" y="4664709"/>
            <a:ext cx="1457960" cy="581660"/>
          </a:xfrm>
          <a:prstGeom prst="rect">
            <a:avLst/>
          </a:prstGeom>
        </p:spPr>
        <p:txBody>
          <a:bodyPr vert="horz" wrap="square" lIns="0" tIns="12065" rIns="0" bIns="0" rtlCol="0">
            <a:spAutoFit/>
          </a:bodyPr>
          <a:lstStyle/>
          <a:p>
            <a:pPr algn="ctr">
              <a:lnSpc>
                <a:spcPts val="2190"/>
              </a:lnSpc>
              <a:spcBef>
                <a:spcPts val="95"/>
              </a:spcBef>
            </a:pPr>
            <a:r>
              <a:rPr sz="1900" b="1" spc="-5" dirty="0">
                <a:solidFill>
                  <a:srgbClr val="FFFFFF"/>
                </a:solidFill>
                <a:latin typeface="TeXGyrePagella"/>
                <a:cs typeface="TeXGyrePagella"/>
              </a:rPr>
              <a:t>Truthfulness</a:t>
            </a:r>
            <a:endParaRPr sz="1900">
              <a:latin typeface="TeXGyrePagella"/>
              <a:cs typeface="TeXGyrePagella"/>
            </a:endParaRPr>
          </a:p>
          <a:p>
            <a:pPr algn="ctr">
              <a:lnSpc>
                <a:spcPts val="2190"/>
              </a:lnSpc>
            </a:pPr>
            <a:r>
              <a:rPr sz="1900" b="1" dirty="0">
                <a:solidFill>
                  <a:srgbClr val="FFFFFF"/>
                </a:solidFill>
                <a:latin typeface="TeXGyrePagella"/>
                <a:cs typeface="TeXGyrePagella"/>
              </a:rPr>
              <a:t>(Satya)</a:t>
            </a:r>
            <a:endParaRPr sz="1900">
              <a:latin typeface="TeXGyrePagella"/>
              <a:cs typeface="TeXGyrePagella"/>
            </a:endParaRPr>
          </a:p>
        </p:txBody>
      </p:sp>
      <p:sp>
        <p:nvSpPr>
          <p:cNvPr id="19" name="object 19"/>
          <p:cNvSpPr/>
          <p:nvPr/>
        </p:nvSpPr>
        <p:spPr>
          <a:xfrm>
            <a:off x="2427732" y="5631178"/>
            <a:ext cx="6716267" cy="1181100"/>
          </a:xfrm>
          <a:prstGeom prst="rect">
            <a:avLst/>
          </a:prstGeom>
          <a:blipFill>
            <a:blip r:embed="rId10" cstate="print"/>
            <a:stretch>
              <a:fillRect/>
            </a:stretch>
          </a:blipFill>
        </p:spPr>
        <p:txBody>
          <a:bodyPr wrap="square" lIns="0" tIns="0" rIns="0" bIns="0" rtlCol="0"/>
          <a:lstStyle/>
          <a:p>
            <a:endParaRPr/>
          </a:p>
        </p:txBody>
      </p:sp>
      <p:sp>
        <p:nvSpPr>
          <p:cNvPr id="20" name="object 20"/>
          <p:cNvSpPr txBox="1"/>
          <p:nvPr/>
        </p:nvSpPr>
        <p:spPr>
          <a:xfrm>
            <a:off x="2702432" y="5644692"/>
            <a:ext cx="5716905" cy="732790"/>
          </a:xfrm>
          <a:prstGeom prst="rect">
            <a:avLst/>
          </a:prstGeom>
        </p:spPr>
        <p:txBody>
          <a:bodyPr vert="horz" wrap="square" lIns="0" tIns="43815" rIns="0" bIns="0" rtlCol="0">
            <a:spAutoFit/>
          </a:bodyPr>
          <a:lstStyle/>
          <a:p>
            <a:pPr marL="241300" marR="5080" indent="-228600">
              <a:lnSpc>
                <a:spcPts val="2690"/>
              </a:lnSpc>
              <a:spcBef>
                <a:spcPts val="345"/>
              </a:spcBef>
              <a:buChar char="•"/>
              <a:tabLst>
                <a:tab pos="241300" algn="l"/>
              </a:tabLst>
            </a:pPr>
            <a:r>
              <a:rPr sz="2400" spc="-5" dirty="0">
                <a:latin typeface="Palladio Uralic"/>
                <a:cs typeface="Palladio Uralic"/>
              </a:rPr>
              <a:t>Not to take anything that is not properly  given</a:t>
            </a:r>
            <a:endParaRPr sz="2400">
              <a:latin typeface="Palladio Uralic"/>
              <a:cs typeface="Palladio Uralic"/>
            </a:endParaRPr>
          </a:p>
        </p:txBody>
      </p:sp>
      <p:sp>
        <p:nvSpPr>
          <p:cNvPr id="21" name="object 21"/>
          <p:cNvSpPr/>
          <p:nvPr/>
        </p:nvSpPr>
        <p:spPr>
          <a:xfrm>
            <a:off x="0" y="5536691"/>
            <a:ext cx="2823972" cy="1321307"/>
          </a:xfrm>
          <a:prstGeom prst="rect">
            <a:avLst/>
          </a:prstGeom>
          <a:blipFill>
            <a:blip r:embed="rId11" cstate="print"/>
            <a:stretch>
              <a:fillRect/>
            </a:stretch>
          </a:blipFill>
        </p:spPr>
        <p:txBody>
          <a:bodyPr wrap="square" lIns="0" tIns="0" rIns="0" bIns="0" rtlCol="0"/>
          <a:lstStyle/>
          <a:p>
            <a:endParaRPr/>
          </a:p>
        </p:txBody>
      </p:sp>
      <p:sp>
        <p:nvSpPr>
          <p:cNvPr id="22" name="object 22"/>
          <p:cNvSpPr txBox="1"/>
          <p:nvPr/>
        </p:nvSpPr>
        <p:spPr>
          <a:xfrm>
            <a:off x="140919" y="5725769"/>
            <a:ext cx="2185670" cy="581660"/>
          </a:xfrm>
          <a:prstGeom prst="rect">
            <a:avLst/>
          </a:prstGeom>
        </p:spPr>
        <p:txBody>
          <a:bodyPr vert="horz" wrap="square" lIns="0" tIns="40005" rIns="0" bIns="0" rtlCol="0">
            <a:spAutoFit/>
          </a:bodyPr>
          <a:lstStyle/>
          <a:p>
            <a:pPr marL="12700" marR="5080" indent="340995">
              <a:lnSpc>
                <a:spcPts val="2100"/>
              </a:lnSpc>
              <a:spcBef>
                <a:spcPts val="315"/>
              </a:spcBef>
            </a:pPr>
            <a:r>
              <a:rPr sz="1900" b="1" spc="-5" dirty="0">
                <a:solidFill>
                  <a:srgbClr val="FFFFFF"/>
                </a:solidFill>
                <a:latin typeface="TeXGyrePagella"/>
                <a:cs typeface="TeXGyrePagella"/>
              </a:rPr>
              <a:t>Non-Stealing  (Asteya /</a:t>
            </a:r>
            <a:r>
              <a:rPr sz="1900" b="1" spc="-60" dirty="0">
                <a:solidFill>
                  <a:srgbClr val="FFFFFF"/>
                </a:solidFill>
                <a:latin typeface="TeXGyrePagella"/>
                <a:cs typeface="TeXGyrePagella"/>
              </a:rPr>
              <a:t> </a:t>
            </a:r>
            <a:r>
              <a:rPr sz="1900" b="1" spc="-5" dirty="0">
                <a:solidFill>
                  <a:srgbClr val="FFFFFF"/>
                </a:solidFill>
                <a:latin typeface="TeXGyrePagella"/>
                <a:cs typeface="TeXGyrePagella"/>
              </a:rPr>
              <a:t>Achaurya)</a:t>
            </a:r>
            <a:endParaRPr sz="1900" dirty="0">
              <a:latin typeface="TeXGyrePagella"/>
              <a:cs typeface="TeXGyrePagella"/>
            </a:endParaRPr>
          </a:p>
        </p:txBody>
      </p:sp>
      <p:sp>
        <p:nvSpPr>
          <p:cNvPr id="23"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Principles of Jainism </a:t>
            </a:r>
            <a:endParaRPr lang="en-US" sz="2800" b="1" dirty="0"/>
          </a:p>
        </p:txBody>
      </p:sp>
      <p:pic>
        <p:nvPicPr>
          <p:cNvPr id="24" name="Picture 2" descr="E:\NIET\Project\xLogo11.png.pagespeed.ic.pydHLuCQEZ.png"/>
          <p:cNvPicPr>
            <a:picLocks noChangeAspect="1" noChangeArrowheads="1"/>
          </p:cNvPicPr>
          <p:nvPr/>
        </p:nvPicPr>
        <p:blipFill>
          <a:blip r:embed="rId12"/>
          <a:srcRect/>
          <a:stretch>
            <a:fillRect/>
          </a:stretch>
        </p:blipFill>
        <p:spPr bwMode="auto">
          <a:xfrm>
            <a:off x="0" y="0"/>
            <a:ext cx="1447800" cy="817163"/>
          </a:xfrm>
          <a:prstGeom prst="rect">
            <a:avLst/>
          </a:prstGeom>
          <a:noFill/>
        </p:spPr>
      </p:pic>
      <p:sp>
        <p:nvSpPr>
          <p:cNvPr id="25" name="Date Placeholder 24"/>
          <p:cNvSpPr>
            <a:spLocks noGrp="1"/>
          </p:cNvSpPr>
          <p:nvPr>
            <p:ph type="dt" sz="half" idx="10"/>
          </p:nvPr>
        </p:nvSpPr>
        <p:spPr/>
        <p:txBody>
          <a:bodyPr/>
          <a:lstStyle/>
          <a:p>
            <a:fld id="{04DB4E0B-6DEF-4920-B9AE-A2AA6E1CBD41}" type="datetime1">
              <a:rPr lang="en-US" smtClean="0"/>
              <a:pPr/>
              <a:t>3/26/2022</a:t>
            </a:fld>
            <a:endParaRPr lang="en-US" dirty="0"/>
          </a:p>
        </p:txBody>
      </p:sp>
      <p:sp>
        <p:nvSpPr>
          <p:cNvPr id="26" name="Slide Number Placeholder 2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27" name="Footer Placeholder 26"/>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21445082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4800" y="990600"/>
            <a:ext cx="8408035" cy="5205912"/>
          </a:xfrm>
          <a:prstGeom prst="rect">
            <a:avLst/>
          </a:prstGeom>
        </p:spPr>
        <p:txBody>
          <a:bodyPr vert="horz" wrap="square" lIns="0" tIns="50165" rIns="0" bIns="0" rtlCol="0">
            <a:spAutoFit/>
          </a:bodyPr>
          <a:lstStyle/>
          <a:p>
            <a:pPr marL="424180" marR="5080" indent="-412115">
              <a:lnSpc>
                <a:spcPct val="90000"/>
              </a:lnSpc>
              <a:spcBef>
                <a:spcPts val="395"/>
              </a:spcBef>
              <a:tabLst>
                <a:tab pos="424180" algn="l"/>
                <a:tab pos="3162935" algn="l"/>
              </a:tabLst>
            </a:pPr>
            <a:r>
              <a:rPr sz="1600" spc="325" dirty="0">
                <a:latin typeface="Arial"/>
                <a:cs typeface="Arial"/>
              </a:rPr>
              <a:t>	</a:t>
            </a:r>
            <a:r>
              <a:rPr sz="2500" spc="-5" dirty="0">
                <a:latin typeface="Palladio Uralic"/>
                <a:cs typeface="Palladio Uralic"/>
              </a:rPr>
              <a:t>Jainism believes in Godhood </a:t>
            </a:r>
            <a:r>
              <a:rPr sz="2500" spc="-10" dirty="0">
                <a:latin typeface="Palladio Uralic"/>
                <a:cs typeface="Palladio Uralic"/>
              </a:rPr>
              <a:t>but </a:t>
            </a:r>
            <a:r>
              <a:rPr sz="2500" spc="-5" dirty="0">
                <a:latin typeface="Palladio Uralic"/>
                <a:cs typeface="Palladio Uralic"/>
              </a:rPr>
              <a:t>does not believe God </a:t>
            </a:r>
            <a:r>
              <a:rPr sz="2500" spc="-10" dirty="0">
                <a:latin typeface="Palladio Uralic"/>
                <a:cs typeface="Palladio Uralic"/>
              </a:rPr>
              <a:t>to  </a:t>
            </a:r>
            <a:r>
              <a:rPr sz="2500" spc="-5" dirty="0">
                <a:latin typeface="Palladio Uralic"/>
                <a:cs typeface="Palladio Uralic"/>
              </a:rPr>
              <a:t>be the</a:t>
            </a:r>
            <a:r>
              <a:rPr sz="2500" spc="15" dirty="0">
                <a:latin typeface="Palladio Uralic"/>
                <a:cs typeface="Palladio Uralic"/>
              </a:rPr>
              <a:t> </a:t>
            </a:r>
            <a:r>
              <a:rPr sz="2500" spc="-10" dirty="0">
                <a:latin typeface="Palladio Uralic"/>
                <a:cs typeface="Palladio Uralic"/>
              </a:rPr>
              <a:t>First</a:t>
            </a:r>
            <a:r>
              <a:rPr sz="2500" dirty="0">
                <a:latin typeface="Palladio Uralic"/>
                <a:cs typeface="Palladio Uralic"/>
              </a:rPr>
              <a:t> </a:t>
            </a:r>
            <a:r>
              <a:rPr sz="2500" spc="-5" dirty="0">
                <a:latin typeface="Palladio Uralic"/>
                <a:cs typeface="Palladio Uralic"/>
              </a:rPr>
              <a:t>Cause.	God is </a:t>
            </a:r>
            <a:r>
              <a:rPr sz="2500" spc="-10" dirty="0">
                <a:latin typeface="Palladio Uralic"/>
                <a:cs typeface="Palladio Uralic"/>
              </a:rPr>
              <a:t>not </a:t>
            </a:r>
            <a:r>
              <a:rPr sz="2500" spc="-5" dirty="0">
                <a:latin typeface="Palladio Uralic"/>
                <a:cs typeface="Palladio Uralic"/>
              </a:rPr>
              <a:t>a Creator, Preserver or  Destroyer of the</a:t>
            </a:r>
            <a:r>
              <a:rPr sz="2500" dirty="0">
                <a:latin typeface="Palladio Uralic"/>
                <a:cs typeface="Palladio Uralic"/>
              </a:rPr>
              <a:t> </a:t>
            </a:r>
            <a:r>
              <a:rPr sz="2500" spc="-5" dirty="0">
                <a:latin typeface="Palladio Uralic"/>
                <a:cs typeface="Palladio Uralic"/>
              </a:rPr>
              <a:t>universe.</a:t>
            </a:r>
            <a:endParaRPr sz="2500" dirty="0">
              <a:latin typeface="Palladio Uralic"/>
              <a:cs typeface="Palladio Uralic"/>
            </a:endParaRPr>
          </a:p>
          <a:p>
            <a:pPr marL="12700">
              <a:lnSpc>
                <a:spcPts val="2695"/>
              </a:lnSpc>
              <a:tabLst>
                <a:tab pos="424180" algn="l"/>
              </a:tabLst>
            </a:pPr>
            <a:r>
              <a:rPr sz="1600" spc="320" dirty="0">
                <a:latin typeface="Arial"/>
                <a:cs typeface="Arial"/>
              </a:rPr>
              <a:t>	</a:t>
            </a:r>
            <a:r>
              <a:rPr sz="2500" spc="-5" dirty="0">
                <a:latin typeface="Palladio Uralic"/>
                <a:cs typeface="Palladio Uralic"/>
              </a:rPr>
              <a:t>“God” does </a:t>
            </a:r>
            <a:r>
              <a:rPr sz="2500" spc="-10" dirty="0">
                <a:latin typeface="Palladio Uralic"/>
                <a:cs typeface="Palladio Uralic"/>
              </a:rPr>
              <a:t>not </a:t>
            </a:r>
            <a:r>
              <a:rPr sz="2500" spc="-5" dirty="0">
                <a:latin typeface="Palladio Uralic"/>
                <a:cs typeface="Palladio Uralic"/>
              </a:rPr>
              <a:t>Punish or</a:t>
            </a:r>
            <a:r>
              <a:rPr sz="2500" spc="15" dirty="0">
                <a:latin typeface="Palladio Uralic"/>
                <a:cs typeface="Palladio Uralic"/>
              </a:rPr>
              <a:t> </a:t>
            </a:r>
            <a:r>
              <a:rPr sz="2500" spc="-5" dirty="0">
                <a:latin typeface="Palladio Uralic"/>
                <a:cs typeface="Palladio Uralic"/>
              </a:rPr>
              <a:t>Reward</a:t>
            </a:r>
            <a:endParaRPr sz="2500" dirty="0">
              <a:latin typeface="Palladio Uralic"/>
              <a:cs typeface="Palladio Uralic"/>
            </a:endParaRPr>
          </a:p>
          <a:p>
            <a:pPr marL="744220" marR="121920" indent="-283845">
              <a:lnSpc>
                <a:spcPct val="70100"/>
              </a:lnSpc>
              <a:spcBef>
                <a:spcPts val="750"/>
              </a:spcBef>
              <a:buSzPct val="80000"/>
              <a:buFont typeface="Arial"/>
              <a:buChar char=""/>
              <a:tabLst>
                <a:tab pos="744220" algn="l"/>
                <a:tab pos="744855" algn="l"/>
              </a:tabLst>
            </a:pPr>
            <a:r>
              <a:rPr sz="2500" spc="-5" dirty="0">
                <a:latin typeface="Palladio Uralic"/>
                <a:cs typeface="Palladio Uralic"/>
              </a:rPr>
              <a:t>Each person is responsible for improving </a:t>
            </a:r>
            <a:r>
              <a:rPr sz="2500" dirty="0">
                <a:latin typeface="Palladio Uralic"/>
                <a:cs typeface="Palladio Uralic"/>
              </a:rPr>
              <a:t>life </a:t>
            </a:r>
            <a:r>
              <a:rPr sz="2500" spc="-5" dirty="0">
                <a:latin typeface="Palladio Uralic"/>
                <a:cs typeface="Palladio Uralic"/>
              </a:rPr>
              <a:t>by one’s  self-endeavor</a:t>
            </a:r>
            <a:endParaRPr sz="2500" dirty="0">
              <a:latin typeface="Palladio Uralic"/>
              <a:cs typeface="Palladio Uralic"/>
            </a:endParaRPr>
          </a:p>
          <a:p>
            <a:pPr marL="744220" indent="-283845">
              <a:lnSpc>
                <a:spcPts val="2550"/>
              </a:lnSpc>
              <a:buSzPct val="80000"/>
              <a:buFont typeface="Arial"/>
              <a:buChar char=""/>
              <a:tabLst>
                <a:tab pos="744220" algn="l"/>
                <a:tab pos="744855" algn="l"/>
              </a:tabLst>
            </a:pPr>
            <a:r>
              <a:rPr sz="2500" spc="-5" dirty="0">
                <a:latin typeface="Palladio Uralic"/>
                <a:cs typeface="Palladio Uralic"/>
              </a:rPr>
              <a:t>Each person is capable of achieving</a:t>
            </a:r>
            <a:r>
              <a:rPr sz="2500" spc="10" dirty="0">
                <a:latin typeface="Palladio Uralic"/>
                <a:cs typeface="Palladio Uralic"/>
              </a:rPr>
              <a:t> </a:t>
            </a:r>
            <a:r>
              <a:rPr sz="2500" spc="-5" dirty="0">
                <a:latin typeface="Palladio Uralic"/>
                <a:cs typeface="Palladio Uralic"/>
              </a:rPr>
              <a:t>Godhood</a:t>
            </a:r>
            <a:endParaRPr sz="2500" dirty="0">
              <a:latin typeface="Palladio Uralic"/>
              <a:cs typeface="Palladio Uralic"/>
            </a:endParaRPr>
          </a:p>
          <a:p>
            <a:pPr marL="12700">
              <a:lnSpc>
                <a:spcPts val="2700"/>
              </a:lnSpc>
              <a:tabLst>
                <a:tab pos="424180" algn="l"/>
              </a:tabLst>
            </a:pPr>
            <a:r>
              <a:rPr sz="1600" spc="320" dirty="0">
                <a:latin typeface="Arial"/>
                <a:cs typeface="Arial"/>
              </a:rPr>
              <a:t>	</a:t>
            </a:r>
            <a:r>
              <a:rPr sz="2500" spc="-5" dirty="0">
                <a:latin typeface="Palladio Uralic"/>
                <a:cs typeface="Palladio Uralic"/>
              </a:rPr>
              <a:t>All Living Beings </a:t>
            </a:r>
            <a:r>
              <a:rPr sz="2500" spc="-10" dirty="0">
                <a:latin typeface="Palladio Uralic"/>
                <a:cs typeface="Palladio Uralic"/>
              </a:rPr>
              <a:t>have </a:t>
            </a:r>
            <a:r>
              <a:rPr sz="2500" spc="-5" dirty="0">
                <a:latin typeface="Palladio Uralic"/>
                <a:cs typeface="Palladio Uralic"/>
              </a:rPr>
              <a:t>Souls &amp; are</a:t>
            </a:r>
            <a:r>
              <a:rPr sz="2500" dirty="0">
                <a:latin typeface="Palladio Uralic"/>
                <a:cs typeface="Palladio Uralic"/>
              </a:rPr>
              <a:t> </a:t>
            </a:r>
            <a:r>
              <a:rPr sz="2500" spc="-5" dirty="0">
                <a:latin typeface="Palladio Uralic"/>
                <a:cs typeface="Palladio Uralic"/>
              </a:rPr>
              <a:t>Equal</a:t>
            </a:r>
            <a:endParaRPr sz="2500" dirty="0">
              <a:latin typeface="Palladio Uralic"/>
              <a:cs typeface="Palladio Uralic"/>
            </a:endParaRPr>
          </a:p>
          <a:p>
            <a:pPr marL="744220" indent="-283845">
              <a:lnSpc>
                <a:spcPts val="2700"/>
              </a:lnSpc>
              <a:buSzPct val="80000"/>
              <a:buFont typeface="Arial"/>
              <a:buChar char=""/>
              <a:tabLst>
                <a:tab pos="744220" algn="l"/>
                <a:tab pos="744855" algn="l"/>
              </a:tabLst>
            </a:pPr>
            <a:r>
              <a:rPr sz="2500" spc="-5" dirty="0">
                <a:latin typeface="Palladio Uralic"/>
                <a:cs typeface="Palladio Uralic"/>
              </a:rPr>
              <a:t>All </a:t>
            </a:r>
            <a:r>
              <a:rPr sz="2500" spc="-10" dirty="0">
                <a:latin typeface="Palladio Uralic"/>
                <a:cs typeface="Palladio Uralic"/>
              </a:rPr>
              <a:t>life </a:t>
            </a:r>
            <a:r>
              <a:rPr sz="2500" dirty="0">
                <a:latin typeface="Palladio Uralic"/>
                <a:cs typeface="Palladio Uralic"/>
              </a:rPr>
              <a:t>is</a:t>
            </a:r>
            <a:r>
              <a:rPr sz="2500" spc="-5" dirty="0">
                <a:latin typeface="Palladio Uralic"/>
                <a:cs typeface="Palladio Uralic"/>
              </a:rPr>
              <a:t> sacred</a:t>
            </a:r>
            <a:endParaRPr sz="2500" dirty="0">
              <a:latin typeface="Palladio Uralic"/>
              <a:cs typeface="Palladio Uralic"/>
            </a:endParaRPr>
          </a:p>
          <a:p>
            <a:pPr marL="744220" indent="-283845">
              <a:lnSpc>
                <a:spcPts val="2700"/>
              </a:lnSpc>
              <a:buSzPct val="80000"/>
              <a:buFont typeface="Arial"/>
              <a:buChar char=""/>
              <a:tabLst>
                <a:tab pos="744220" algn="l"/>
                <a:tab pos="744855" algn="l"/>
              </a:tabLst>
            </a:pPr>
            <a:r>
              <a:rPr sz="2500" spc="-10" dirty="0">
                <a:latin typeface="Palladio Uralic"/>
                <a:cs typeface="Palladio Uralic"/>
              </a:rPr>
              <a:t>Therefore, </a:t>
            </a:r>
            <a:r>
              <a:rPr sz="2500" dirty="0">
                <a:latin typeface="Palladio Uralic"/>
                <a:cs typeface="Palladio Uralic"/>
              </a:rPr>
              <a:t>living </a:t>
            </a:r>
            <a:r>
              <a:rPr sz="2500" spc="-5" dirty="0">
                <a:latin typeface="Palladio Uralic"/>
                <a:cs typeface="Palladio Uralic"/>
              </a:rPr>
              <a:t>in peace &amp; </a:t>
            </a:r>
            <a:r>
              <a:rPr sz="2500" spc="-10" dirty="0">
                <a:latin typeface="Palladio Uralic"/>
                <a:cs typeface="Palladio Uralic"/>
              </a:rPr>
              <a:t>harmony </a:t>
            </a:r>
            <a:r>
              <a:rPr sz="2500" spc="-5" dirty="0">
                <a:latin typeface="Palladio Uralic"/>
                <a:cs typeface="Palladio Uralic"/>
              </a:rPr>
              <a:t>is</a:t>
            </a:r>
            <a:r>
              <a:rPr sz="2500" dirty="0">
                <a:latin typeface="Palladio Uralic"/>
                <a:cs typeface="Palladio Uralic"/>
              </a:rPr>
              <a:t> </a:t>
            </a:r>
            <a:r>
              <a:rPr sz="2500" spc="-5" dirty="0">
                <a:latin typeface="Palladio Uralic"/>
                <a:cs typeface="Palladio Uralic"/>
              </a:rPr>
              <a:t>essential</a:t>
            </a:r>
            <a:endParaRPr sz="2500" dirty="0">
              <a:latin typeface="Palladio Uralic"/>
              <a:cs typeface="Palladio Uralic"/>
            </a:endParaRPr>
          </a:p>
          <a:p>
            <a:pPr marL="424180" marR="805180" indent="-412115">
              <a:lnSpc>
                <a:spcPts val="2700"/>
              </a:lnSpc>
              <a:spcBef>
                <a:spcPts val="190"/>
              </a:spcBef>
              <a:tabLst>
                <a:tab pos="424180" algn="l"/>
              </a:tabLst>
            </a:pPr>
            <a:r>
              <a:rPr sz="1600" spc="320" dirty="0">
                <a:latin typeface="Arial"/>
                <a:cs typeface="Arial"/>
              </a:rPr>
              <a:t>	</a:t>
            </a:r>
            <a:r>
              <a:rPr sz="2500" spc="-5" dirty="0">
                <a:latin typeface="Palladio Uralic"/>
                <a:cs typeface="Palladio Uralic"/>
              </a:rPr>
              <a:t>Elimination of our </a:t>
            </a:r>
            <a:r>
              <a:rPr sz="2500" spc="-10" dirty="0">
                <a:latin typeface="Palladio Uralic"/>
                <a:cs typeface="Palladio Uralic"/>
              </a:rPr>
              <a:t>Karmas </a:t>
            </a:r>
            <a:r>
              <a:rPr sz="2500" spc="-5" dirty="0">
                <a:latin typeface="Palladio Uralic"/>
                <a:cs typeface="Palladio Uralic"/>
              </a:rPr>
              <a:t>is the Path to Liberation  &amp; Achievement </a:t>
            </a:r>
            <a:r>
              <a:rPr sz="2500" dirty="0">
                <a:latin typeface="Palladio Uralic"/>
                <a:cs typeface="Palladio Uralic"/>
              </a:rPr>
              <a:t>of </a:t>
            </a:r>
            <a:r>
              <a:rPr sz="2500" spc="-5" dirty="0">
                <a:latin typeface="Palladio Uralic"/>
                <a:cs typeface="Palladio Uralic"/>
              </a:rPr>
              <a:t>Godhood</a:t>
            </a:r>
            <a:endParaRPr sz="2500" dirty="0">
              <a:latin typeface="Palladio Uralic"/>
              <a:cs typeface="Palladio Uralic"/>
            </a:endParaRPr>
          </a:p>
          <a:p>
            <a:pPr marL="744220" indent="-283845">
              <a:lnSpc>
                <a:spcPts val="2510"/>
              </a:lnSpc>
              <a:buSzPct val="80000"/>
              <a:buFont typeface="Arial"/>
              <a:buChar char=""/>
              <a:tabLst>
                <a:tab pos="744220" algn="l"/>
                <a:tab pos="744855" algn="l"/>
              </a:tabLst>
            </a:pPr>
            <a:r>
              <a:rPr sz="2500" spc="-5" dirty="0">
                <a:latin typeface="Palladio Uralic"/>
                <a:cs typeface="Palladio Uralic"/>
              </a:rPr>
              <a:t>It </a:t>
            </a:r>
            <a:r>
              <a:rPr sz="2500" spc="-10" dirty="0">
                <a:latin typeface="Palladio Uralic"/>
                <a:cs typeface="Palladio Uralic"/>
              </a:rPr>
              <a:t>requires </a:t>
            </a:r>
            <a:r>
              <a:rPr sz="2500" spc="-5" dirty="0">
                <a:latin typeface="Palladio Uralic"/>
                <a:cs typeface="Palladio Uralic"/>
              </a:rPr>
              <a:t>multiple</a:t>
            </a:r>
            <a:r>
              <a:rPr sz="2500" spc="10" dirty="0">
                <a:latin typeface="Palladio Uralic"/>
                <a:cs typeface="Palladio Uralic"/>
              </a:rPr>
              <a:t> </a:t>
            </a:r>
            <a:r>
              <a:rPr sz="2500" spc="-5" dirty="0">
                <a:latin typeface="Palladio Uralic"/>
                <a:cs typeface="Palladio Uralic"/>
              </a:rPr>
              <a:t>re-births</a:t>
            </a:r>
            <a:endParaRPr sz="2500" dirty="0">
              <a:latin typeface="Palladio Uralic"/>
              <a:cs typeface="Palladio Uralic"/>
            </a:endParaRPr>
          </a:p>
          <a:p>
            <a:pPr marL="12700">
              <a:lnSpc>
                <a:spcPts val="2700"/>
              </a:lnSpc>
              <a:tabLst>
                <a:tab pos="424180" algn="l"/>
              </a:tabLst>
            </a:pPr>
            <a:r>
              <a:rPr sz="1600" spc="325" dirty="0">
                <a:latin typeface="Arial"/>
                <a:cs typeface="Arial"/>
              </a:rPr>
              <a:t>	</a:t>
            </a:r>
            <a:r>
              <a:rPr sz="2500" dirty="0">
                <a:latin typeface="Palladio Uralic"/>
                <a:cs typeface="Palladio Uralic"/>
              </a:rPr>
              <a:t>Ultimate </a:t>
            </a:r>
            <a:r>
              <a:rPr sz="2500" spc="-5" dirty="0">
                <a:latin typeface="Palladio Uralic"/>
                <a:cs typeface="Palladio Uralic"/>
              </a:rPr>
              <a:t>Goal of</a:t>
            </a:r>
            <a:r>
              <a:rPr sz="2500" spc="-15" dirty="0">
                <a:latin typeface="Palladio Uralic"/>
                <a:cs typeface="Palladio Uralic"/>
              </a:rPr>
              <a:t> </a:t>
            </a:r>
            <a:r>
              <a:rPr sz="2500" spc="-5" dirty="0">
                <a:latin typeface="Palladio Uralic"/>
                <a:cs typeface="Palladio Uralic"/>
              </a:rPr>
              <a:t>Life</a:t>
            </a:r>
            <a:endParaRPr sz="2500" dirty="0">
              <a:latin typeface="Palladio Uralic"/>
              <a:cs typeface="Palladio Uralic"/>
            </a:endParaRPr>
          </a:p>
          <a:p>
            <a:pPr marL="744220" indent="-283845">
              <a:lnSpc>
                <a:spcPts val="2850"/>
              </a:lnSpc>
              <a:buSzPct val="80000"/>
              <a:buFont typeface="Arial"/>
              <a:buChar char=""/>
              <a:tabLst>
                <a:tab pos="744220" algn="l"/>
                <a:tab pos="744855" algn="l"/>
              </a:tabLst>
            </a:pPr>
            <a:r>
              <a:rPr sz="2500" spc="-5" dirty="0">
                <a:latin typeface="Palladio Uralic"/>
                <a:cs typeface="Palladio Uralic"/>
              </a:rPr>
              <a:t>To be free from all</a:t>
            </a:r>
            <a:r>
              <a:rPr sz="2500" spc="30" dirty="0">
                <a:latin typeface="Palladio Uralic"/>
                <a:cs typeface="Palladio Uralic"/>
              </a:rPr>
              <a:t> </a:t>
            </a:r>
            <a:r>
              <a:rPr sz="2500" spc="-10" dirty="0">
                <a:latin typeface="Palladio Uralic"/>
                <a:cs typeface="Palladio Uralic"/>
              </a:rPr>
              <a:t>karma</a:t>
            </a:r>
            <a:endParaRPr sz="2500" dirty="0">
              <a:latin typeface="Palladio Uralic"/>
              <a:cs typeface="Palladio Uralic"/>
            </a:endParaRPr>
          </a:p>
        </p:txBody>
      </p:sp>
      <p:sp>
        <p:nvSpPr>
          <p:cNvPr id="4"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Basic philosophies of  Jainism</a:t>
            </a:r>
            <a:endParaRPr lang="en-US" sz="2800" b="1"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6" name="Date Placeholder 5"/>
          <p:cNvSpPr>
            <a:spLocks noGrp="1"/>
          </p:cNvSpPr>
          <p:nvPr>
            <p:ph type="dt" sz="half" idx="10"/>
          </p:nvPr>
        </p:nvSpPr>
        <p:spPr/>
        <p:txBody>
          <a:bodyPr/>
          <a:lstStyle/>
          <a:p>
            <a:fld id="{8D9B4F99-126B-4616-AF3B-4A508DC78508}"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35</a:t>
            </a:fld>
            <a:endParaRPr lang="en-US" dirty="0"/>
          </a:p>
        </p:txBody>
      </p:sp>
      <p:sp>
        <p:nvSpPr>
          <p:cNvPr id="8" name="Footer Placeholder 7"/>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8169038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16509" y="1410772"/>
            <a:ext cx="8887460" cy="1120178"/>
          </a:xfrm>
          <a:prstGeom prst="rect">
            <a:avLst/>
          </a:prstGeom>
        </p:spPr>
        <p:txBody>
          <a:bodyPr vert="horz" wrap="square" lIns="0" tIns="12065" rIns="0" bIns="0" rtlCol="0">
            <a:spAutoFit/>
          </a:bodyPr>
          <a:lstStyle/>
          <a:p>
            <a:pPr marL="424180" marR="5080" indent="-411480">
              <a:lnSpc>
                <a:spcPct val="100000"/>
              </a:lnSpc>
              <a:spcBef>
                <a:spcPts val="95"/>
              </a:spcBef>
              <a:tabLst>
                <a:tab pos="423545" algn="l"/>
              </a:tabLst>
            </a:pPr>
            <a:r>
              <a:rPr sz="1800" spc="370" dirty="0">
                <a:latin typeface="Arial"/>
                <a:cs typeface="Arial"/>
              </a:rPr>
              <a:t>	</a:t>
            </a:r>
            <a:r>
              <a:rPr sz="2800" dirty="0"/>
              <a:t>The </a:t>
            </a:r>
            <a:r>
              <a:rPr sz="2800" spc="-5" dirty="0"/>
              <a:t>principles </a:t>
            </a:r>
            <a:r>
              <a:rPr sz="2800" dirty="0"/>
              <a:t>governing </a:t>
            </a:r>
            <a:r>
              <a:rPr sz="2800" spc="-5" dirty="0"/>
              <a:t>the successions of </a:t>
            </a:r>
            <a:r>
              <a:rPr sz="2800" dirty="0"/>
              <a:t>life </a:t>
            </a:r>
            <a:r>
              <a:rPr sz="2800" spc="-5" dirty="0" smtClean="0"/>
              <a:t>cycles</a:t>
            </a:r>
            <a:r>
              <a:rPr lang="en-US" sz="2800" spc="-5" dirty="0" smtClean="0"/>
              <a:t> </a:t>
            </a:r>
            <a:r>
              <a:rPr sz="2800" spc="-5" dirty="0" smtClean="0"/>
              <a:t>(birth</a:t>
            </a:r>
            <a:r>
              <a:rPr sz="2800" spc="-5" dirty="0"/>
              <a:t>, </a:t>
            </a:r>
            <a:r>
              <a:rPr sz="2800" dirty="0"/>
              <a:t>life, </a:t>
            </a:r>
            <a:r>
              <a:rPr sz="2800" spc="-5" dirty="0"/>
              <a:t>and death) is</a:t>
            </a:r>
            <a:r>
              <a:rPr sz="2800" spc="-10" dirty="0"/>
              <a:t> </a:t>
            </a:r>
            <a:r>
              <a:rPr sz="2800" spc="-5" dirty="0"/>
              <a:t>Karma</a:t>
            </a:r>
            <a:r>
              <a:rPr spc="-5" dirty="0"/>
              <a:t>.</a:t>
            </a:r>
            <a:endParaRPr sz="1800" dirty="0">
              <a:latin typeface="Arial"/>
              <a:cs typeface="Arial"/>
            </a:endParaRPr>
          </a:p>
        </p:txBody>
      </p:sp>
      <p:sp>
        <p:nvSpPr>
          <p:cNvPr id="4" name="object 4"/>
          <p:cNvSpPr txBox="1"/>
          <p:nvPr/>
        </p:nvSpPr>
        <p:spPr>
          <a:xfrm>
            <a:off x="664870" y="2478404"/>
            <a:ext cx="8395335" cy="3467735"/>
          </a:xfrm>
          <a:prstGeom prst="rect">
            <a:avLst/>
          </a:prstGeom>
        </p:spPr>
        <p:txBody>
          <a:bodyPr vert="horz" wrap="square" lIns="0" tIns="12700" rIns="0" bIns="0" rtlCol="0">
            <a:spAutoFit/>
          </a:bodyPr>
          <a:lstStyle/>
          <a:p>
            <a:pPr marL="295910" marR="5080" indent="-283845">
              <a:lnSpc>
                <a:spcPct val="100000"/>
              </a:lnSpc>
              <a:spcBef>
                <a:spcPts val="100"/>
              </a:spcBef>
              <a:buSzPct val="79166"/>
              <a:buFont typeface="Arial"/>
              <a:buChar char=""/>
              <a:tabLst>
                <a:tab pos="295910" algn="l"/>
                <a:tab pos="296545" algn="l"/>
              </a:tabLst>
            </a:pPr>
            <a:r>
              <a:rPr sz="2400" spc="-5" dirty="0">
                <a:latin typeface="Palladio Uralic"/>
                <a:cs typeface="Palladio Uralic"/>
              </a:rPr>
              <a:t>The Theory of Karma is </a:t>
            </a:r>
            <a:r>
              <a:rPr sz="2400" dirty="0">
                <a:latin typeface="Palladio Uralic"/>
                <a:cs typeface="Palladio Uralic"/>
              </a:rPr>
              <a:t>founded on </a:t>
            </a:r>
            <a:r>
              <a:rPr sz="2400" spc="-5" dirty="0">
                <a:latin typeface="Palladio Uralic"/>
                <a:cs typeface="Palladio Uralic"/>
              </a:rPr>
              <a:t>the </a:t>
            </a:r>
            <a:r>
              <a:rPr sz="2400" dirty="0">
                <a:latin typeface="Palladio Uralic"/>
                <a:cs typeface="Palladio Uralic"/>
              </a:rPr>
              <a:t>simple </a:t>
            </a:r>
            <a:r>
              <a:rPr sz="2400" spc="-5" dirty="0">
                <a:latin typeface="Palladio Uralic"/>
                <a:cs typeface="Palladio Uralic"/>
              </a:rPr>
              <a:t>law of </a:t>
            </a:r>
            <a:r>
              <a:rPr sz="2400" dirty="0">
                <a:latin typeface="Palladio Uralic"/>
                <a:cs typeface="Palladio Uralic"/>
              </a:rPr>
              <a:t>cause  </a:t>
            </a:r>
            <a:r>
              <a:rPr sz="2400" spc="-5" dirty="0">
                <a:latin typeface="Palladio Uralic"/>
                <a:cs typeface="Palladio Uralic"/>
              </a:rPr>
              <a:t>and </a:t>
            </a:r>
            <a:r>
              <a:rPr sz="2400" dirty="0">
                <a:latin typeface="Palladio Uralic"/>
                <a:cs typeface="Palladio Uralic"/>
              </a:rPr>
              <a:t>effect. What we </a:t>
            </a:r>
            <a:r>
              <a:rPr sz="2400" spc="-5" dirty="0">
                <a:latin typeface="Palladio Uralic"/>
                <a:cs typeface="Palladio Uralic"/>
              </a:rPr>
              <a:t>experience now is the </a:t>
            </a:r>
            <a:r>
              <a:rPr sz="2400" dirty="0">
                <a:latin typeface="Palladio Uralic"/>
                <a:cs typeface="Palladio Uralic"/>
              </a:rPr>
              <a:t>result </a:t>
            </a:r>
            <a:r>
              <a:rPr sz="2400" spc="-5" dirty="0">
                <a:latin typeface="Palladio Uralic"/>
                <a:cs typeface="Palladio Uralic"/>
              </a:rPr>
              <a:t>of </a:t>
            </a:r>
            <a:r>
              <a:rPr sz="2400" dirty="0">
                <a:latin typeface="Palladio Uralic"/>
                <a:cs typeface="Palladio Uralic"/>
              </a:rPr>
              <a:t>our own  </a:t>
            </a:r>
            <a:r>
              <a:rPr sz="2400" spc="-5" dirty="0">
                <a:latin typeface="Palladio Uralic"/>
                <a:cs typeface="Palladio Uralic"/>
              </a:rPr>
              <a:t>past action and </a:t>
            </a:r>
            <a:r>
              <a:rPr sz="2400" dirty="0">
                <a:latin typeface="Palladio Uralic"/>
                <a:cs typeface="Palladio Uralic"/>
              </a:rPr>
              <a:t>our </a:t>
            </a:r>
            <a:r>
              <a:rPr sz="2400" spc="-5" dirty="0">
                <a:latin typeface="Palladio Uralic"/>
                <a:cs typeface="Palladio Uralic"/>
              </a:rPr>
              <a:t>future is </a:t>
            </a:r>
            <a:r>
              <a:rPr sz="2400" dirty="0">
                <a:latin typeface="Palladio Uralic"/>
                <a:cs typeface="Palladio Uralic"/>
              </a:rPr>
              <a:t>a </a:t>
            </a:r>
            <a:r>
              <a:rPr sz="2400" spc="-5" dirty="0">
                <a:latin typeface="Palladio Uralic"/>
                <a:cs typeface="Palladio Uralic"/>
              </a:rPr>
              <a:t>function of </a:t>
            </a:r>
            <a:r>
              <a:rPr sz="2400" dirty="0">
                <a:latin typeface="Palladio Uralic"/>
                <a:cs typeface="Palladio Uralic"/>
              </a:rPr>
              <a:t>our own </a:t>
            </a:r>
            <a:r>
              <a:rPr sz="2400" spc="-5" dirty="0">
                <a:latin typeface="Palladio Uralic"/>
                <a:cs typeface="Palladio Uralic"/>
              </a:rPr>
              <a:t>choice  and making.</a:t>
            </a:r>
            <a:endParaRPr sz="2400" dirty="0">
              <a:latin typeface="Palladio Uralic"/>
              <a:cs typeface="Palladio Uralic"/>
            </a:endParaRPr>
          </a:p>
          <a:p>
            <a:pPr marL="295910" marR="668655" indent="-283845">
              <a:lnSpc>
                <a:spcPct val="100000"/>
              </a:lnSpc>
              <a:spcBef>
                <a:spcPts val="880"/>
              </a:spcBef>
              <a:buSzPct val="79166"/>
              <a:buFont typeface="Arial"/>
              <a:buChar char=""/>
              <a:tabLst>
                <a:tab pos="295910" algn="l"/>
                <a:tab pos="296545" algn="l"/>
              </a:tabLst>
            </a:pPr>
            <a:r>
              <a:rPr sz="2400" spc="-5" dirty="0">
                <a:latin typeface="Palladio Uralic"/>
                <a:cs typeface="Palladio Uralic"/>
              </a:rPr>
              <a:t>Explains the role that karmas play </a:t>
            </a:r>
            <a:r>
              <a:rPr sz="2400" dirty="0">
                <a:latin typeface="Palladio Uralic"/>
                <a:cs typeface="Palladio Uralic"/>
              </a:rPr>
              <a:t>in our </a:t>
            </a:r>
            <a:r>
              <a:rPr sz="2400" spc="-5" dirty="0">
                <a:latin typeface="Palladio Uralic"/>
                <a:cs typeface="Palladio Uralic"/>
              </a:rPr>
              <a:t>lives, how </a:t>
            </a:r>
            <a:r>
              <a:rPr sz="2400" dirty="0">
                <a:latin typeface="Palladio Uralic"/>
                <a:cs typeface="Palladio Uralic"/>
              </a:rPr>
              <a:t>we  </a:t>
            </a:r>
            <a:r>
              <a:rPr sz="2400" spc="-5" dirty="0">
                <a:latin typeface="Palladio Uralic"/>
                <a:cs typeface="Palladio Uralic"/>
              </a:rPr>
              <a:t>accumulate karmas, and how </a:t>
            </a:r>
            <a:r>
              <a:rPr sz="2400" dirty="0">
                <a:latin typeface="Palladio Uralic"/>
                <a:cs typeface="Palladio Uralic"/>
              </a:rPr>
              <a:t>we </a:t>
            </a:r>
            <a:r>
              <a:rPr sz="2400" spc="-5" dirty="0">
                <a:latin typeface="Palladio Uralic"/>
                <a:cs typeface="Palladio Uralic"/>
              </a:rPr>
              <a:t>get rid </a:t>
            </a:r>
            <a:r>
              <a:rPr sz="2400" dirty="0">
                <a:latin typeface="Palladio Uralic"/>
                <a:cs typeface="Palladio Uralic"/>
              </a:rPr>
              <a:t>of</a:t>
            </a:r>
            <a:r>
              <a:rPr sz="2400" spc="5" dirty="0">
                <a:latin typeface="Palladio Uralic"/>
                <a:cs typeface="Palladio Uralic"/>
              </a:rPr>
              <a:t> </a:t>
            </a:r>
            <a:r>
              <a:rPr sz="2400" spc="-5" dirty="0">
                <a:latin typeface="Palladio Uralic"/>
                <a:cs typeface="Palladio Uralic"/>
              </a:rPr>
              <a:t>them.</a:t>
            </a:r>
            <a:endParaRPr sz="2400" dirty="0">
              <a:latin typeface="Palladio Uralic"/>
              <a:cs typeface="Palladio Uralic"/>
            </a:endParaRPr>
          </a:p>
          <a:p>
            <a:pPr marL="295910" marR="97155" indent="-283845">
              <a:lnSpc>
                <a:spcPct val="100000"/>
              </a:lnSpc>
              <a:spcBef>
                <a:spcPts val="300"/>
              </a:spcBef>
              <a:buSzPct val="79166"/>
              <a:buFont typeface="Arial"/>
              <a:buChar char=""/>
              <a:tabLst>
                <a:tab pos="295910" algn="l"/>
                <a:tab pos="296545" algn="l"/>
              </a:tabLst>
            </a:pPr>
            <a:r>
              <a:rPr sz="2400" spc="-5" dirty="0">
                <a:latin typeface="Palladio Uralic"/>
                <a:cs typeface="Palladio Uralic"/>
              </a:rPr>
              <a:t>Actions of mind, speech, </a:t>
            </a:r>
            <a:r>
              <a:rPr sz="2400" dirty="0">
                <a:latin typeface="Palladio Uralic"/>
                <a:cs typeface="Palladio Uralic"/>
              </a:rPr>
              <a:t>and </a:t>
            </a:r>
            <a:r>
              <a:rPr sz="2400" spc="-5" dirty="0">
                <a:latin typeface="Palladio Uralic"/>
                <a:cs typeface="Palladio Uralic"/>
              </a:rPr>
              <a:t>body bind us </a:t>
            </a:r>
            <a:r>
              <a:rPr sz="2400" dirty="0">
                <a:latin typeface="Palladio Uralic"/>
                <a:cs typeface="Palladio Uralic"/>
              </a:rPr>
              <a:t>with </a:t>
            </a:r>
            <a:r>
              <a:rPr sz="2400" spc="-5" dirty="0">
                <a:latin typeface="Palladio Uralic"/>
                <a:cs typeface="Palladio Uralic"/>
              </a:rPr>
              <a:t>karma </a:t>
            </a:r>
            <a:r>
              <a:rPr sz="2400" dirty="0">
                <a:latin typeface="Palladio Uralic"/>
                <a:cs typeface="Palladio Uralic"/>
              </a:rPr>
              <a:t>and  our </a:t>
            </a:r>
            <a:r>
              <a:rPr sz="2400" spc="-5" dirty="0">
                <a:latin typeface="Palladio Uralic"/>
                <a:cs typeface="Palladio Uralic"/>
              </a:rPr>
              <a:t>intentions </a:t>
            </a:r>
            <a:r>
              <a:rPr sz="2400" dirty="0">
                <a:latin typeface="Palladio Uralic"/>
                <a:cs typeface="Palladio Uralic"/>
              </a:rPr>
              <a:t>and </a:t>
            </a:r>
            <a:r>
              <a:rPr sz="2400" spc="-5" dirty="0">
                <a:latin typeface="Palladio Uralic"/>
                <a:cs typeface="Palladio Uralic"/>
              </a:rPr>
              <a:t>the </a:t>
            </a:r>
            <a:r>
              <a:rPr sz="2400" spc="-10" dirty="0">
                <a:latin typeface="Palladio Uralic"/>
                <a:cs typeface="Palladio Uralic"/>
              </a:rPr>
              <a:t>passions </a:t>
            </a:r>
            <a:r>
              <a:rPr sz="2400" dirty="0">
                <a:latin typeface="Palladio Uralic"/>
                <a:cs typeface="Palladio Uralic"/>
              </a:rPr>
              <a:t>determine </a:t>
            </a:r>
            <a:r>
              <a:rPr sz="2400" spc="-5" dirty="0">
                <a:latin typeface="Palladio Uralic"/>
                <a:cs typeface="Palladio Uralic"/>
              </a:rPr>
              <a:t>the duration,  </a:t>
            </a:r>
            <a:r>
              <a:rPr sz="2400" dirty="0">
                <a:latin typeface="Palladio Uralic"/>
                <a:cs typeface="Palladio Uralic"/>
              </a:rPr>
              <a:t>strength and </a:t>
            </a:r>
            <a:r>
              <a:rPr sz="2400" spc="-5" dirty="0">
                <a:latin typeface="Palladio Uralic"/>
                <a:cs typeface="Palladio Uralic"/>
              </a:rPr>
              <a:t>the results of the</a:t>
            </a:r>
            <a:r>
              <a:rPr sz="2400" spc="10" dirty="0">
                <a:latin typeface="Palladio Uralic"/>
                <a:cs typeface="Palladio Uralic"/>
              </a:rPr>
              <a:t> </a:t>
            </a:r>
            <a:r>
              <a:rPr sz="2400" spc="-5" dirty="0">
                <a:latin typeface="Palladio Uralic"/>
                <a:cs typeface="Palladio Uralic"/>
              </a:rPr>
              <a:t>bondage.</a:t>
            </a:r>
            <a:endParaRPr sz="2400" dirty="0">
              <a:latin typeface="Palladio Uralic"/>
              <a:cs typeface="Palladio Uralic"/>
            </a:endParaRPr>
          </a:p>
        </p:txBody>
      </p:sp>
      <p:sp>
        <p:nvSpPr>
          <p:cNvPr id="5"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Karma theory of  Jainism</a:t>
            </a:r>
            <a:endParaRPr lang="en-US" sz="2800" b="1" dirty="0"/>
          </a:p>
        </p:txBody>
      </p:sp>
      <p:pic>
        <p:nvPicPr>
          <p:cNvPr id="6"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7" name="Date Placeholder 6"/>
          <p:cNvSpPr>
            <a:spLocks noGrp="1"/>
          </p:cNvSpPr>
          <p:nvPr>
            <p:ph type="dt" sz="half" idx="10"/>
          </p:nvPr>
        </p:nvSpPr>
        <p:spPr/>
        <p:txBody>
          <a:bodyPr/>
          <a:lstStyle/>
          <a:p>
            <a:fld id="{058C98BA-49CC-4210-93ED-FC8864037CDA}" type="datetime1">
              <a:rPr lang="en-US" smtClean="0"/>
              <a:pPr/>
              <a:t>3/26/2022</a:t>
            </a:fld>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36</a:t>
            </a:fld>
            <a:endParaRPr lang="en-US" dirty="0"/>
          </a:p>
        </p:txBody>
      </p:sp>
      <p:sp>
        <p:nvSpPr>
          <p:cNvPr id="9" name="Footer Placeholder 8"/>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3538507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1000" y="1066800"/>
            <a:ext cx="8509635" cy="5099050"/>
          </a:xfrm>
          <a:prstGeom prst="rect">
            <a:avLst/>
          </a:prstGeom>
        </p:spPr>
        <p:txBody>
          <a:bodyPr vert="horz" wrap="square" lIns="0" tIns="92075" rIns="0" bIns="0" rtlCol="0">
            <a:spAutoFit/>
          </a:bodyPr>
          <a:lstStyle/>
          <a:p>
            <a:pPr marL="76200" algn="just">
              <a:lnSpc>
                <a:spcPct val="100000"/>
              </a:lnSpc>
              <a:spcBef>
                <a:spcPts val="725"/>
              </a:spcBef>
            </a:pPr>
            <a:r>
              <a:rPr sz="1700" spc="310" dirty="0">
                <a:latin typeface="Arial"/>
                <a:cs typeface="Arial"/>
              </a:rPr>
              <a:t> </a:t>
            </a:r>
            <a:r>
              <a:rPr sz="2600" dirty="0">
                <a:latin typeface="Palladio Uralic"/>
                <a:cs typeface="Palladio Uralic"/>
              </a:rPr>
              <a:t>Lord Mahavir - </a:t>
            </a:r>
            <a:r>
              <a:rPr sz="2600" spc="5" dirty="0">
                <a:latin typeface="Palladio Uralic"/>
                <a:cs typeface="Palladio Uralic"/>
              </a:rPr>
              <a:t>24</a:t>
            </a:r>
            <a:r>
              <a:rPr sz="2550" spc="7" baseline="26143" dirty="0">
                <a:latin typeface="Palladio Uralic"/>
                <a:cs typeface="Palladio Uralic"/>
              </a:rPr>
              <a:t>th </a:t>
            </a:r>
            <a:r>
              <a:rPr sz="2600" dirty="0">
                <a:latin typeface="Palladio Uralic"/>
                <a:cs typeface="Palladio Uralic"/>
              </a:rPr>
              <a:t>(and final)</a:t>
            </a:r>
            <a:r>
              <a:rPr sz="2600" spc="-125" dirty="0">
                <a:latin typeface="Palladio Uralic"/>
                <a:cs typeface="Palladio Uralic"/>
              </a:rPr>
              <a:t> </a:t>
            </a:r>
            <a:r>
              <a:rPr sz="2600" spc="-5" dirty="0">
                <a:latin typeface="Palladio Uralic"/>
                <a:cs typeface="Palladio Uralic"/>
              </a:rPr>
              <a:t>Tirthankara</a:t>
            </a:r>
            <a:endParaRPr sz="2600" dirty="0">
              <a:latin typeface="Palladio Uralic"/>
              <a:cs typeface="Palladio Uralic"/>
            </a:endParaRPr>
          </a:p>
          <a:p>
            <a:pPr marL="487680" marR="81280" indent="-412115" algn="just">
              <a:lnSpc>
                <a:spcPct val="100000"/>
              </a:lnSpc>
              <a:spcBef>
                <a:spcPts val="625"/>
              </a:spcBef>
            </a:pPr>
            <a:r>
              <a:rPr sz="1700" spc="310" dirty="0">
                <a:latin typeface="Arial"/>
                <a:cs typeface="Arial"/>
              </a:rPr>
              <a:t> </a:t>
            </a:r>
            <a:r>
              <a:rPr sz="2600" dirty="0">
                <a:latin typeface="Palladio Uralic"/>
                <a:cs typeface="Palladio Uralic"/>
              </a:rPr>
              <a:t>Born </a:t>
            </a:r>
            <a:r>
              <a:rPr sz="2600" spc="-10" dirty="0">
                <a:latin typeface="Palladio Uralic"/>
                <a:cs typeface="Palladio Uralic"/>
              </a:rPr>
              <a:t>on </a:t>
            </a:r>
            <a:r>
              <a:rPr sz="2600" dirty="0">
                <a:latin typeface="Palladio Uralic"/>
                <a:cs typeface="Palladio Uralic"/>
              </a:rPr>
              <a:t>March </a:t>
            </a:r>
            <a:r>
              <a:rPr sz="2600" spc="5" dirty="0">
                <a:latin typeface="Palladio Uralic"/>
                <a:cs typeface="Palladio Uralic"/>
              </a:rPr>
              <a:t>30, 599 </a:t>
            </a:r>
            <a:r>
              <a:rPr sz="2600" dirty="0">
                <a:latin typeface="Palladio Uralic"/>
                <a:cs typeface="Palladio Uralic"/>
              </a:rPr>
              <a:t>B.C. (about 2600 </a:t>
            </a:r>
            <a:r>
              <a:rPr sz="2600" spc="-5" dirty="0">
                <a:latin typeface="Palladio Uralic"/>
                <a:cs typeface="Palladio Uralic"/>
              </a:rPr>
              <a:t>years </a:t>
            </a:r>
            <a:r>
              <a:rPr sz="2600" dirty="0">
                <a:latin typeface="Palladio Uralic"/>
                <a:cs typeface="Palladio Uralic"/>
              </a:rPr>
              <a:t>ago) as </a:t>
            </a:r>
            <a:r>
              <a:rPr sz="2600" spc="-475" dirty="0">
                <a:latin typeface="Palladio Uralic"/>
                <a:cs typeface="Palladio Uralic"/>
              </a:rPr>
              <a:t>a  </a:t>
            </a:r>
            <a:r>
              <a:rPr sz="2600" spc="-5" dirty="0">
                <a:latin typeface="Palladio Uralic"/>
                <a:cs typeface="Palladio Uralic"/>
              </a:rPr>
              <a:t>prince in </a:t>
            </a:r>
            <a:r>
              <a:rPr sz="2600" dirty="0">
                <a:latin typeface="Palladio Uralic"/>
                <a:cs typeface="Palladio Uralic"/>
              </a:rPr>
              <a:t>Bihar, India. He attained </a:t>
            </a:r>
            <a:r>
              <a:rPr sz="2600" spc="-5" dirty="0">
                <a:latin typeface="Palladio Uralic"/>
                <a:cs typeface="Palladio Uralic"/>
              </a:rPr>
              <a:t>nirvana in the </a:t>
            </a:r>
            <a:r>
              <a:rPr sz="2600" dirty="0">
                <a:latin typeface="Palladio Uralic"/>
                <a:cs typeface="Palladio Uralic"/>
              </a:rPr>
              <a:t>year  </a:t>
            </a:r>
            <a:r>
              <a:rPr sz="2600" spc="5" dirty="0">
                <a:latin typeface="Palladio Uralic"/>
                <a:cs typeface="Palladio Uralic"/>
              </a:rPr>
              <a:t>527 </a:t>
            </a:r>
            <a:r>
              <a:rPr sz="2600" dirty="0">
                <a:latin typeface="Palladio Uralic"/>
                <a:cs typeface="Palladio Uralic"/>
              </a:rPr>
              <a:t>B.C. at </a:t>
            </a:r>
            <a:r>
              <a:rPr sz="2600" spc="-5" dirty="0">
                <a:latin typeface="Palladio Uralic"/>
                <a:cs typeface="Palladio Uralic"/>
              </a:rPr>
              <a:t>the </a:t>
            </a:r>
            <a:r>
              <a:rPr sz="2600" dirty="0">
                <a:latin typeface="Palladio Uralic"/>
                <a:cs typeface="Palladio Uralic"/>
              </a:rPr>
              <a:t>age of</a:t>
            </a:r>
            <a:r>
              <a:rPr sz="2600" spc="-80" dirty="0">
                <a:latin typeface="Palladio Uralic"/>
                <a:cs typeface="Palladio Uralic"/>
              </a:rPr>
              <a:t> </a:t>
            </a:r>
            <a:r>
              <a:rPr sz="2600" spc="5" dirty="0">
                <a:latin typeface="Palladio Uralic"/>
                <a:cs typeface="Palladio Uralic"/>
              </a:rPr>
              <a:t>72.</a:t>
            </a:r>
            <a:endParaRPr sz="2600" dirty="0">
              <a:latin typeface="Palladio Uralic"/>
              <a:cs typeface="Palladio Uralic"/>
            </a:endParaRPr>
          </a:p>
          <a:p>
            <a:pPr marL="487680" marR="314325" indent="-412115">
              <a:lnSpc>
                <a:spcPct val="100000"/>
              </a:lnSpc>
              <a:spcBef>
                <a:spcPts val="630"/>
              </a:spcBef>
              <a:tabLst>
                <a:tab pos="487680" algn="l"/>
              </a:tabLst>
            </a:pPr>
            <a:r>
              <a:rPr sz="1700" spc="310" dirty="0">
                <a:latin typeface="Arial"/>
                <a:cs typeface="Arial"/>
              </a:rPr>
              <a:t>	</a:t>
            </a:r>
            <a:r>
              <a:rPr sz="2600" dirty="0">
                <a:latin typeface="Palladio Uralic"/>
                <a:cs typeface="Palladio Uralic"/>
              </a:rPr>
              <a:t>The </a:t>
            </a:r>
            <a:r>
              <a:rPr sz="2600" spc="-5" dirty="0">
                <a:latin typeface="Palladio Uralic"/>
                <a:cs typeface="Palladio Uralic"/>
              </a:rPr>
              <a:t>ultimate </a:t>
            </a:r>
            <a:r>
              <a:rPr sz="2600" dirty="0">
                <a:latin typeface="Palladio Uralic"/>
                <a:cs typeface="Palladio Uralic"/>
              </a:rPr>
              <a:t>objective of </a:t>
            </a:r>
            <a:r>
              <a:rPr sz="2600" spc="-5" dirty="0">
                <a:latin typeface="Palladio Uralic"/>
                <a:cs typeface="Palladio Uralic"/>
              </a:rPr>
              <a:t>his teaching is how one </a:t>
            </a:r>
            <a:r>
              <a:rPr sz="2600" dirty="0">
                <a:latin typeface="Palladio Uralic"/>
                <a:cs typeface="Palladio Uralic"/>
              </a:rPr>
              <a:t>can  attain </a:t>
            </a:r>
            <a:r>
              <a:rPr sz="2600" spc="-5" dirty="0">
                <a:latin typeface="Palladio Uralic"/>
                <a:cs typeface="Palladio Uralic"/>
              </a:rPr>
              <a:t>the total </a:t>
            </a:r>
            <a:r>
              <a:rPr sz="2600" dirty="0">
                <a:latin typeface="Palladio Uralic"/>
                <a:cs typeface="Palladio Uralic"/>
              </a:rPr>
              <a:t>freedom from </a:t>
            </a:r>
            <a:r>
              <a:rPr sz="2600" spc="-5" dirty="0">
                <a:latin typeface="Palladio Uralic"/>
                <a:cs typeface="Palladio Uralic"/>
              </a:rPr>
              <a:t>the cycle </a:t>
            </a:r>
            <a:r>
              <a:rPr sz="2600" dirty="0">
                <a:latin typeface="Palladio Uralic"/>
                <a:cs typeface="Palladio Uralic"/>
              </a:rPr>
              <a:t>of </a:t>
            </a:r>
            <a:r>
              <a:rPr sz="2600" spc="-5" dirty="0">
                <a:latin typeface="Palladio Uralic"/>
                <a:cs typeface="Palladio Uralic"/>
              </a:rPr>
              <a:t>birth, </a:t>
            </a:r>
            <a:r>
              <a:rPr sz="2600" dirty="0">
                <a:latin typeface="Palladio Uralic"/>
                <a:cs typeface="Palladio Uralic"/>
              </a:rPr>
              <a:t>life,  and death, and </a:t>
            </a:r>
            <a:r>
              <a:rPr sz="2600" spc="-5" dirty="0">
                <a:latin typeface="Palladio Uralic"/>
                <a:cs typeface="Palladio Uralic"/>
              </a:rPr>
              <a:t>achieve the permanent blissful </a:t>
            </a:r>
            <a:r>
              <a:rPr sz="2600" dirty="0">
                <a:latin typeface="Palladio Uralic"/>
                <a:cs typeface="Palladio Uralic"/>
              </a:rPr>
              <a:t>state  (known as liberation, </a:t>
            </a:r>
            <a:r>
              <a:rPr sz="2600" spc="-5" dirty="0">
                <a:latin typeface="Palladio Uralic"/>
                <a:cs typeface="Palladio Uralic"/>
              </a:rPr>
              <a:t>nirvana, </a:t>
            </a:r>
            <a:r>
              <a:rPr sz="2600" dirty="0">
                <a:latin typeface="Palladio Uralic"/>
                <a:cs typeface="Palladio Uralic"/>
              </a:rPr>
              <a:t>absolute freedom, or  </a:t>
            </a:r>
            <a:r>
              <a:rPr sz="2600" spc="-5" dirty="0">
                <a:latin typeface="Palladio Uralic"/>
                <a:cs typeface="Palladio Uralic"/>
              </a:rPr>
              <a:t>Moksha.)</a:t>
            </a:r>
            <a:endParaRPr sz="2600" dirty="0">
              <a:latin typeface="Palladio Uralic"/>
              <a:cs typeface="Palladio Uralic"/>
            </a:endParaRPr>
          </a:p>
          <a:p>
            <a:pPr marL="487680" marR="93980" indent="-412115">
              <a:lnSpc>
                <a:spcPct val="100000"/>
              </a:lnSpc>
              <a:spcBef>
                <a:spcPts val="625"/>
              </a:spcBef>
              <a:tabLst>
                <a:tab pos="487680" algn="l"/>
                <a:tab pos="6358890" algn="l"/>
              </a:tabLst>
            </a:pPr>
            <a:r>
              <a:rPr sz="1700" spc="310" dirty="0">
                <a:latin typeface="Arial"/>
                <a:cs typeface="Arial"/>
              </a:rPr>
              <a:t>	</a:t>
            </a:r>
            <a:r>
              <a:rPr sz="2600" dirty="0">
                <a:latin typeface="Palladio Uralic"/>
                <a:cs typeface="Palladio Uralic"/>
              </a:rPr>
              <a:t>He shaped </a:t>
            </a:r>
            <a:r>
              <a:rPr sz="2600" spc="-5" dirty="0">
                <a:latin typeface="Palladio Uralic"/>
                <a:cs typeface="Palladio Uralic"/>
              </a:rPr>
              <a:t>the present form</a:t>
            </a:r>
            <a:r>
              <a:rPr sz="2600" spc="20" dirty="0">
                <a:latin typeface="Palladio Uralic"/>
                <a:cs typeface="Palladio Uralic"/>
              </a:rPr>
              <a:t> </a:t>
            </a:r>
            <a:r>
              <a:rPr sz="2600" spc="-5" dirty="0">
                <a:latin typeface="Palladio Uralic"/>
                <a:cs typeface="Palladio Uralic"/>
              </a:rPr>
              <a:t>of</a:t>
            </a:r>
            <a:r>
              <a:rPr sz="2600" spc="5" dirty="0">
                <a:latin typeface="Palladio Uralic"/>
                <a:cs typeface="Palladio Uralic"/>
              </a:rPr>
              <a:t> </a:t>
            </a:r>
            <a:r>
              <a:rPr sz="2600" spc="-5" dirty="0">
                <a:latin typeface="Palladio Uralic"/>
                <a:cs typeface="Palladio Uralic"/>
              </a:rPr>
              <a:t>Jainism.	</a:t>
            </a:r>
            <a:r>
              <a:rPr sz="2600" dirty="0">
                <a:latin typeface="Palladio Uralic"/>
                <a:cs typeface="Palladio Uralic"/>
              </a:rPr>
              <a:t>Lord</a:t>
            </a:r>
            <a:r>
              <a:rPr sz="2600" spc="-90" dirty="0">
                <a:latin typeface="Palladio Uralic"/>
                <a:cs typeface="Palladio Uralic"/>
              </a:rPr>
              <a:t> </a:t>
            </a:r>
            <a:r>
              <a:rPr sz="2600" dirty="0">
                <a:latin typeface="Palladio Uralic"/>
                <a:cs typeface="Palladio Uralic"/>
              </a:rPr>
              <a:t>Mahavir  envisioned men and women to be </a:t>
            </a:r>
            <a:r>
              <a:rPr sz="2600" spc="-5" dirty="0">
                <a:latin typeface="Palladio Uralic"/>
                <a:cs typeface="Palladio Uralic"/>
              </a:rPr>
              <a:t>on </a:t>
            </a:r>
            <a:r>
              <a:rPr sz="2600" spc="5" dirty="0">
                <a:latin typeface="Palladio Uralic"/>
                <a:cs typeface="Palladio Uralic"/>
              </a:rPr>
              <a:t>equal </a:t>
            </a:r>
            <a:r>
              <a:rPr sz="2600" spc="-5" dirty="0">
                <a:latin typeface="Palladio Uralic"/>
                <a:cs typeface="Palladio Uralic"/>
              </a:rPr>
              <a:t>footing in  the </a:t>
            </a:r>
            <a:r>
              <a:rPr sz="2600" dirty="0">
                <a:latin typeface="Palladio Uralic"/>
                <a:cs typeface="Palladio Uralic"/>
              </a:rPr>
              <a:t>matters of spiritual</a:t>
            </a:r>
            <a:r>
              <a:rPr sz="2600" spc="-45" dirty="0">
                <a:latin typeface="Palladio Uralic"/>
                <a:cs typeface="Palladio Uralic"/>
              </a:rPr>
              <a:t> </a:t>
            </a:r>
            <a:r>
              <a:rPr sz="2600" spc="-5" dirty="0">
                <a:latin typeface="Palladio Uralic"/>
                <a:cs typeface="Palladio Uralic"/>
              </a:rPr>
              <a:t>advancement.</a:t>
            </a:r>
            <a:endParaRPr sz="2600" dirty="0">
              <a:latin typeface="Palladio Uralic"/>
              <a:cs typeface="Palladio Uralic"/>
            </a:endParaRPr>
          </a:p>
        </p:txBody>
      </p:sp>
      <p:sp>
        <p:nvSpPr>
          <p:cNvPr id="4"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Lord </a:t>
            </a:r>
            <a:r>
              <a:rPr lang="en-US" sz="2800" b="1" dirty="0" err="1" smtClean="0"/>
              <a:t>Mahavira</a:t>
            </a:r>
            <a:endParaRPr lang="en-US" sz="2800" b="1"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6" name="Date Placeholder 5"/>
          <p:cNvSpPr>
            <a:spLocks noGrp="1"/>
          </p:cNvSpPr>
          <p:nvPr>
            <p:ph type="dt" sz="half" idx="10"/>
          </p:nvPr>
        </p:nvSpPr>
        <p:spPr/>
        <p:txBody>
          <a:bodyPr/>
          <a:lstStyle/>
          <a:p>
            <a:fld id="{DEDF521F-D91E-41E7-93A6-3F312E4F3AB6}"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37</a:t>
            </a:fld>
            <a:endParaRPr lang="en-US" dirty="0"/>
          </a:p>
        </p:txBody>
      </p:sp>
      <p:sp>
        <p:nvSpPr>
          <p:cNvPr id="8" name="Footer Placeholder 7"/>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2837587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09600" y="1295400"/>
            <a:ext cx="1752600" cy="26670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715000" y="1219200"/>
            <a:ext cx="2286000" cy="2590800"/>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497840" y="3974972"/>
            <a:ext cx="3980815" cy="2637155"/>
          </a:xfrm>
          <a:prstGeom prst="rect">
            <a:avLst/>
          </a:prstGeom>
        </p:spPr>
        <p:txBody>
          <a:bodyPr vert="horz" wrap="square" lIns="0" tIns="12700" rIns="0" bIns="0" rtlCol="0">
            <a:spAutoFit/>
          </a:bodyPr>
          <a:lstStyle/>
          <a:p>
            <a:pPr marL="12700" marR="5080">
              <a:lnSpc>
                <a:spcPct val="100000"/>
              </a:lnSpc>
              <a:spcBef>
                <a:spcPts val="100"/>
              </a:spcBef>
            </a:pPr>
            <a:r>
              <a:rPr sz="2400" b="1" u="heavy" dirty="0">
                <a:solidFill>
                  <a:srgbClr val="0D0D0D"/>
                </a:solidFill>
                <a:uFill>
                  <a:solidFill>
                    <a:srgbClr val="0D0D0D"/>
                  </a:solidFill>
                </a:uFill>
                <a:latin typeface="TeXGyrePagella"/>
                <a:cs typeface="TeXGyrePagella"/>
              </a:rPr>
              <a:t>Palm</a:t>
            </a:r>
            <a:r>
              <a:rPr sz="2400" b="1" dirty="0">
                <a:solidFill>
                  <a:srgbClr val="0D0D0D"/>
                </a:solidFill>
                <a:latin typeface="TeXGyrePagella"/>
                <a:cs typeface="TeXGyrePagella"/>
              </a:rPr>
              <a:t> </a:t>
            </a:r>
            <a:r>
              <a:rPr sz="2400" dirty="0">
                <a:solidFill>
                  <a:srgbClr val="0D0D0D"/>
                </a:solidFill>
                <a:latin typeface="Palladio Uralic"/>
                <a:cs typeface="Palladio Uralic"/>
              </a:rPr>
              <a:t>– </a:t>
            </a:r>
            <a:r>
              <a:rPr sz="2400" spc="-5" dirty="0">
                <a:solidFill>
                  <a:srgbClr val="0D0D0D"/>
                </a:solidFill>
                <a:latin typeface="Palladio Uralic"/>
                <a:cs typeface="Palladio Uralic"/>
              </a:rPr>
              <a:t>signifies assurance; to  have </a:t>
            </a:r>
            <a:r>
              <a:rPr sz="2400" dirty="0">
                <a:solidFill>
                  <a:srgbClr val="0D0D0D"/>
                </a:solidFill>
                <a:latin typeface="Palladio Uralic"/>
                <a:cs typeface="Palladio Uralic"/>
              </a:rPr>
              <a:t>faith </a:t>
            </a:r>
            <a:r>
              <a:rPr sz="2400" spc="-5" dirty="0">
                <a:solidFill>
                  <a:srgbClr val="0D0D0D"/>
                </a:solidFill>
                <a:latin typeface="Palladio Uralic"/>
                <a:cs typeface="Palladio Uralic"/>
              </a:rPr>
              <a:t>and change the  path </a:t>
            </a:r>
            <a:r>
              <a:rPr sz="2400" dirty="0">
                <a:solidFill>
                  <a:srgbClr val="0D0D0D"/>
                </a:solidFill>
                <a:latin typeface="Palladio Uralic"/>
                <a:cs typeface="Palladio Uralic"/>
              </a:rPr>
              <a:t>of</a:t>
            </a:r>
            <a:r>
              <a:rPr sz="2400" spc="-15" dirty="0">
                <a:solidFill>
                  <a:srgbClr val="0D0D0D"/>
                </a:solidFill>
                <a:latin typeface="Palladio Uralic"/>
                <a:cs typeface="Palladio Uralic"/>
              </a:rPr>
              <a:t> </a:t>
            </a:r>
            <a:r>
              <a:rPr sz="2400" spc="-5" dirty="0">
                <a:solidFill>
                  <a:srgbClr val="0D0D0D"/>
                </a:solidFill>
                <a:latin typeface="Palladio Uralic"/>
                <a:cs typeface="Palladio Uralic"/>
              </a:rPr>
              <a:t>righteousness.</a:t>
            </a:r>
            <a:endParaRPr sz="2400">
              <a:latin typeface="Palladio Uralic"/>
              <a:cs typeface="Palladio Uralic"/>
            </a:endParaRPr>
          </a:p>
          <a:p>
            <a:pPr marL="12700" marR="339090">
              <a:lnSpc>
                <a:spcPct val="100000"/>
              </a:lnSpc>
              <a:spcBef>
                <a:spcPts val="395"/>
              </a:spcBef>
              <a:tabLst>
                <a:tab pos="1968500" algn="l"/>
              </a:tabLst>
            </a:pPr>
            <a:r>
              <a:rPr sz="2400" b="1" u="heavy" spc="-5" dirty="0">
                <a:solidFill>
                  <a:srgbClr val="0D0D0D"/>
                </a:solidFill>
                <a:uFill>
                  <a:solidFill>
                    <a:srgbClr val="0D0D0D"/>
                  </a:solidFill>
                </a:uFill>
                <a:latin typeface="TeXGyrePagella"/>
                <a:cs typeface="TeXGyrePagella"/>
              </a:rPr>
              <a:t>Wheel of </a:t>
            </a:r>
            <a:r>
              <a:rPr sz="2400" b="1" u="heavy" dirty="0">
                <a:solidFill>
                  <a:srgbClr val="0D0D0D"/>
                </a:solidFill>
                <a:uFill>
                  <a:solidFill>
                    <a:srgbClr val="0D0D0D"/>
                  </a:solidFill>
                </a:uFill>
                <a:latin typeface="TeXGyrePagella"/>
                <a:cs typeface="TeXGyrePagella"/>
              </a:rPr>
              <a:t>Dharma</a:t>
            </a:r>
            <a:r>
              <a:rPr sz="2400" b="1" dirty="0">
                <a:solidFill>
                  <a:srgbClr val="0D0D0D"/>
                </a:solidFill>
                <a:latin typeface="TeXGyrePagella"/>
                <a:cs typeface="TeXGyrePagella"/>
              </a:rPr>
              <a:t> </a:t>
            </a:r>
            <a:r>
              <a:rPr sz="2400" dirty="0">
                <a:solidFill>
                  <a:srgbClr val="0D0D0D"/>
                </a:solidFill>
                <a:latin typeface="Palladio Uralic"/>
                <a:cs typeface="Palladio Uralic"/>
              </a:rPr>
              <a:t>– 24  spokes </a:t>
            </a:r>
            <a:r>
              <a:rPr sz="2400" spc="-5" dirty="0">
                <a:solidFill>
                  <a:srgbClr val="0D0D0D"/>
                </a:solidFill>
                <a:latin typeface="Palladio Uralic"/>
                <a:cs typeface="Palladio Uralic"/>
              </a:rPr>
              <a:t>represent the </a:t>
            </a:r>
            <a:r>
              <a:rPr sz="2400" dirty="0">
                <a:solidFill>
                  <a:srgbClr val="0D0D0D"/>
                </a:solidFill>
                <a:latin typeface="Palladio Uralic"/>
                <a:cs typeface="Palladio Uralic"/>
              </a:rPr>
              <a:t>24  </a:t>
            </a:r>
            <a:r>
              <a:rPr sz="2400" spc="-5" dirty="0">
                <a:solidFill>
                  <a:srgbClr val="0D0D0D"/>
                </a:solidFill>
                <a:latin typeface="Palladio Uralic"/>
                <a:cs typeface="Palladio Uralic"/>
              </a:rPr>
              <a:t>Tirthankaras.	The word  inside the </a:t>
            </a:r>
            <a:r>
              <a:rPr sz="2400" dirty="0">
                <a:solidFill>
                  <a:srgbClr val="0D0D0D"/>
                </a:solidFill>
                <a:latin typeface="Palladio Uralic"/>
                <a:cs typeface="Palladio Uralic"/>
              </a:rPr>
              <a:t>wheel </a:t>
            </a:r>
            <a:r>
              <a:rPr sz="2400" spc="-5" dirty="0">
                <a:solidFill>
                  <a:srgbClr val="0D0D0D"/>
                </a:solidFill>
                <a:latin typeface="Palladio Uralic"/>
                <a:cs typeface="Palladio Uralic"/>
              </a:rPr>
              <a:t>is</a:t>
            </a:r>
            <a:r>
              <a:rPr sz="2400" spc="-65" dirty="0">
                <a:solidFill>
                  <a:srgbClr val="0D0D0D"/>
                </a:solidFill>
                <a:latin typeface="Palladio Uralic"/>
                <a:cs typeface="Palladio Uralic"/>
              </a:rPr>
              <a:t> </a:t>
            </a:r>
            <a:r>
              <a:rPr sz="2400" dirty="0">
                <a:solidFill>
                  <a:srgbClr val="0D0D0D"/>
                </a:solidFill>
                <a:latin typeface="Palladio Uralic"/>
                <a:cs typeface="Palladio Uralic"/>
              </a:rPr>
              <a:t>ahimsa.</a:t>
            </a:r>
            <a:endParaRPr sz="2400">
              <a:latin typeface="Palladio Uralic"/>
              <a:cs typeface="Palladio Uralic"/>
            </a:endParaRPr>
          </a:p>
        </p:txBody>
      </p:sp>
      <p:sp>
        <p:nvSpPr>
          <p:cNvPr id="6" name="object 6"/>
          <p:cNvSpPr txBox="1"/>
          <p:nvPr/>
        </p:nvSpPr>
        <p:spPr>
          <a:xfrm>
            <a:off x="4994528" y="3749421"/>
            <a:ext cx="3677920" cy="2870835"/>
          </a:xfrm>
          <a:prstGeom prst="rect">
            <a:avLst/>
          </a:prstGeom>
        </p:spPr>
        <p:txBody>
          <a:bodyPr vert="horz" wrap="square" lIns="0" tIns="12700" rIns="0" bIns="0" rtlCol="0">
            <a:spAutoFit/>
          </a:bodyPr>
          <a:lstStyle/>
          <a:p>
            <a:pPr marL="12700" marR="673100">
              <a:lnSpc>
                <a:spcPct val="100000"/>
              </a:lnSpc>
              <a:spcBef>
                <a:spcPts val="100"/>
              </a:spcBef>
            </a:pPr>
            <a:r>
              <a:rPr sz="2000" b="1" u="heavy" dirty="0">
                <a:solidFill>
                  <a:srgbClr val="0D0D0D"/>
                </a:solidFill>
                <a:uFill>
                  <a:solidFill>
                    <a:srgbClr val="0D0D0D"/>
                  </a:solidFill>
                </a:uFill>
                <a:latin typeface="TeXGyrePagella"/>
                <a:cs typeface="TeXGyrePagella"/>
              </a:rPr>
              <a:t>Digit </a:t>
            </a:r>
            <a:r>
              <a:rPr sz="2000" b="1" u="heavy" spc="-5" dirty="0">
                <a:solidFill>
                  <a:srgbClr val="0D0D0D"/>
                </a:solidFill>
                <a:uFill>
                  <a:solidFill>
                    <a:srgbClr val="0D0D0D"/>
                  </a:solidFill>
                </a:uFill>
                <a:latin typeface="TeXGyrePagella"/>
                <a:cs typeface="TeXGyrePagella"/>
              </a:rPr>
              <a:t>of moon</a:t>
            </a:r>
            <a:r>
              <a:rPr sz="2000" b="1" spc="-5" dirty="0">
                <a:solidFill>
                  <a:srgbClr val="0D0D0D"/>
                </a:solidFill>
                <a:latin typeface="TeXGyrePagella"/>
                <a:cs typeface="TeXGyrePagella"/>
              </a:rPr>
              <a:t> </a:t>
            </a:r>
            <a:r>
              <a:rPr sz="2000" dirty="0">
                <a:solidFill>
                  <a:srgbClr val="0D0D0D"/>
                </a:solidFill>
                <a:latin typeface="Palladio Uralic"/>
                <a:cs typeface="Palladio Uralic"/>
              </a:rPr>
              <a:t>– (region</a:t>
            </a:r>
            <a:r>
              <a:rPr sz="2000" spc="-125" dirty="0">
                <a:solidFill>
                  <a:srgbClr val="0D0D0D"/>
                </a:solidFill>
                <a:latin typeface="Palladio Uralic"/>
                <a:cs typeface="Palladio Uralic"/>
              </a:rPr>
              <a:t> </a:t>
            </a:r>
            <a:r>
              <a:rPr sz="2000" dirty="0">
                <a:solidFill>
                  <a:srgbClr val="0D0D0D"/>
                </a:solidFill>
                <a:latin typeface="Palladio Uralic"/>
                <a:cs typeface="Palladio Uralic"/>
              </a:rPr>
              <a:t>of  </a:t>
            </a:r>
            <a:r>
              <a:rPr sz="2000" spc="-5" dirty="0">
                <a:solidFill>
                  <a:srgbClr val="0D0D0D"/>
                </a:solidFill>
                <a:latin typeface="Palladio Uralic"/>
                <a:cs typeface="Palladio Uralic"/>
              </a:rPr>
              <a:t>liberated</a:t>
            </a:r>
            <a:r>
              <a:rPr sz="2000" spc="-10" dirty="0">
                <a:solidFill>
                  <a:srgbClr val="0D0D0D"/>
                </a:solidFill>
                <a:latin typeface="Palladio Uralic"/>
                <a:cs typeface="Palladio Uralic"/>
              </a:rPr>
              <a:t> </a:t>
            </a:r>
            <a:r>
              <a:rPr sz="2000" dirty="0">
                <a:solidFill>
                  <a:srgbClr val="0D0D0D"/>
                </a:solidFill>
                <a:latin typeface="Palladio Uralic"/>
                <a:cs typeface="Palladio Uralic"/>
              </a:rPr>
              <a:t>souls)</a:t>
            </a:r>
            <a:endParaRPr sz="2000">
              <a:latin typeface="Palladio Uralic"/>
              <a:cs typeface="Palladio Uralic"/>
            </a:endParaRPr>
          </a:p>
          <a:p>
            <a:pPr marL="12700" marR="5080">
              <a:lnSpc>
                <a:spcPct val="100000"/>
              </a:lnSpc>
              <a:spcBef>
                <a:spcPts val="400"/>
              </a:spcBef>
            </a:pPr>
            <a:r>
              <a:rPr sz="2000" b="1" u="heavy" dirty="0">
                <a:solidFill>
                  <a:srgbClr val="0D0D0D"/>
                </a:solidFill>
                <a:uFill>
                  <a:solidFill>
                    <a:srgbClr val="0D0D0D"/>
                  </a:solidFill>
                </a:uFill>
                <a:latin typeface="TeXGyrePagella"/>
                <a:cs typeface="TeXGyrePagella"/>
              </a:rPr>
              <a:t>Three dots</a:t>
            </a:r>
            <a:r>
              <a:rPr sz="2000" b="1" dirty="0">
                <a:solidFill>
                  <a:srgbClr val="0D0D0D"/>
                </a:solidFill>
                <a:latin typeface="TeXGyrePagella"/>
                <a:cs typeface="TeXGyrePagella"/>
              </a:rPr>
              <a:t> </a:t>
            </a:r>
            <a:r>
              <a:rPr sz="2000" dirty="0">
                <a:solidFill>
                  <a:srgbClr val="0D0D0D"/>
                </a:solidFill>
                <a:latin typeface="Palladio Uralic"/>
                <a:cs typeface="Palladio Uralic"/>
              </a:rPr>
              <a:t>– (Right  </a:t>
            </a:r>
            <a:r>
              <a:rPr sz="2000" spc="-5" dirty="0">
                <a:solidFill>
                  <a:srgbClr val="0D0D0D"/>
                </a:solidFill>
                <a:latin typeface="Palladio Uralic"/>
                <a:cs typeface="Palladio Uralic"/>
              </a:rPr>
              <a:t>Perception/Faith, </a:t>
            </a:r>
            <a:r>
              <a:rPr sz="2000" dirty="0">
                <a:solidFill>
                  <a:srgbClr val="0D0D0D"/>
                </a:solidFill>
                <a:latin typeface="Palladio Uralic"/>
                <a:cs typeface="Palladio Uralic"/>
              </a:rPr>
              <a:t>Right  Knowledge, and Right</a:t>
            </a:r>
            <a:r>
              <a:rPr sz="2000" spc="-110" dirty="0">
                <a:solidFill>
                  <a:srgbClr val="0D0D0D"/>
                </a:solidFill>
                <a:latin typeface="Palladio Uralic"/>
                <a:cs typeface="Palladio Uralic"/>
              </a:rPr>
              <a:t> </a:t>
            </a:r>
            <a:r>
              <a:rPr sz="2000" spc="-5" dirty="0">
                <a:solidFill>
                  <a:srgbClr val="0D0D0D"/>
                </a:solidFill>
                <a:latin typeface="Palladio Uralic"/>
                <a:cs typeface="Palladio Uralic"/>
              </a:rPr>
              <a:t>Conduct)</a:t>
            </a:r>
            <a:endParaRPr sz="2000">
              <a:latin typeface="Palladio Uralic"/>
              <a:cs typeface="Palladio Uralic"/>
            </a:endParaRPr>
          </a:p>
          <a:p>
            <a:pPr marL="12700" marR="257175">
              <a:lnSpc>
                <a:spcPct val="100000"/>
              </a:lnSpc>
              <a:spcBef>
                <a:spcPts val="395"/>
              </a:spcBef>
            </a:pPr>
            <a:r>
              <a:rPr sz="2000" b="1" u="heavy" dirty="0">
                <a:solidFill>
                  <a:srgbClr val="0D0D0D"/>
                </a:solidFill>
                <a:uFill>
                  <a:solidFill>
                    <a:srgbClr val="0D0D0D"/>
                  </a:solidFill>
                </a:uFill>
                <a:latin typeface="TeXGyrePagella"/>
                <a:cs typeface="TeXGyrePagella"/>
              </a:rPr>
              <a:t>Overall meaning</a:t>
            </a:r>
            <a:r>
              <a:rPr sz="2000" b="1" dirty="0">
                <a:solidFill>
                  <a:srgbClr val="0D0D0D"/>
                </a:solidFill>
                <a:latin typeface="TeXGyrePagella"/>
                <a:cs typeface="TeXGyrePagella"/>
              </a:rPr>
              <a:t> </a:t>
            </a:r>
            <a:r>
              <a:rPr sz="2000" dirty="0">
                <a:solidFill>
                  <a:srgbClr val="0D0D0D"/>
                </a:solidFill>
                <a:latin typeface="Palladio Uralic"/>
                <a:cs typeface="Palladio Uralic"/>
              </a:rPr>
              <a:t>– After  removing all </a:t>
            </a:r>
            <a:r>
              <a:rPr sz="2000" spc="-5" dirty="0">
                <a:solidFill>
                  <a:srgbClr val="0D0D0D"/>
                </a:solidFill>
                <a:latin typeface="Palladio Uralic"/>
                <a:cs typeface="Palladio Uralic"/>
              </a:rPr>
              <a:t>of their karmas,  </a:t>
            </a:r>
            <a:r>
              <a:rPr sz="2000" dirty="0">
                <a:solidFill>
                  <a:srgbClr val="0D0D0D"/>
                </a:solidFill>
                <a:latin typeface="Palladio Uralic"/>
                <a:cs typeface="Palladio Uralic"/>
              </a:rPr>
              <a:t>living </a:t>
            </a:r>
            <a:r>
              <a:rPr sz="2000" spc="-5" dirty="0">
                <a:solidFill>
                  <a:srgbClr val="0D0D0D"/>
                </a:solidFill>
                <a:latin typeface="Palladio Uralic"/>
                <a:cs typeface="Palladio Uralic"/>
              </a:rPr>
              <a:t>beings </a:t>
            </a:r>
            <a:r>
              <a:rPr sz="2000" dirty="0">
                <a:solidFill>
                  <a:srgbClr val="0D0D0D"/>
                </a:solidFill>
                <a:latin typeface="Palladio Uralic"/>
                <a:cs typeface="Palladio Uralic"/>
              </a:rPr>
              <a:t>will reside </a:t>
            </a:r>
            <a:r>
              <a:rPr sz="2000" spc="5" dirty="0">
                <a:solidFill>
                  <a:srgbClr val="0D0D0D"/>
                </a:solidFill>
                <a:latin typeface="Palladio Uralic"/>
                <a:cs typeface="Palladio Uralic"/>
              </a:rPr>
              <a:t>in</a:t>
            </a:r>
            <a:r>
              <a:rPr sz="2000" spc="-70" dirty="0">
                <a:solidFill>
                  <a:srgbClr val="0D0D0D"/>
                </a:solidFill>
                <a:latin typeface="Palladio Uralic"/>
                <a:cs typeface="Palladio Uralic"/>
              </a:rPr>
              <a:t> </a:t>
            </a:r>
            <a:r>
              <a:rPr sz="2000" spc="-5" dirty="0">
                <a:solidFill>
                  <a:srgbClr val="0D0D0D"/>
                </a:solidFill>
                <a:latin typeface="Palladio Uralic"/>
                <a:cs typeface="Palladio Uralic"/>
              </a:rPr>
              <a:t>the  </a:t>
            </a:r>
            <a:r>
              <a:rPr sz="2000" dirty="0">
                <a:solidFill>
                  <a:srgbClr val="0D0D0D"/>
                </a:solidFill>
                <a:latin typeface="Palladio Uralic"/>
                <a:cs typeface="Palladio Uralic"/>
              </a:rPr>
              <a:t>world of </a:t>
            </a:r>
            <a:r>
              <a:rPr sz="2000" spc="-5" dirty="0">
                <a:solidFill>
                  <a:srgbClr val="0D0D0D"/>
                </a:solidFill>
                <a:latin typeface="Palladio Uralic"/>
                <a:cs typeface="Palladio Uralic"/>
              </a:rPr>
              <a:t>liberated</a:t>
            </a:r>
            <a:r>
              <a:rPr sz="2000" spc="-50" dirty="0">
                <a:solidFill>
                  <a:srgbClr val="0D0D0D"/>
                </a:solidFill>
                <a:latin typeface="Palladio Uralic"/>
                <a:cs typeface="Palladio Uralic"/>
              </a:rPr>
              <a:t> </a:t>
            </a:r>
            <a:r>
              <a:rPr sz="2000" dirty="0">
                <a:solidFill>
                  <a:srgbClr val="0D0D0D"/>
                </a:solidFill>
                <a:latin typeface="Palladio Uralic"/>
                <a:cs typeface="Palladio Uralic"/>
              </a:rPr>
              <a:t>souls.</a:t>
            </a:r>
            <a:endParaRPr sz="2000">
              <a:latin typeface="Palladio Uralic"/>
              <a:cs typeface="Palladio Uralic"/>
            </a:endParaRPr>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a:t>S</a:t>
            </a:r>
            <a:r>
              <a:rPr lang="en-US" sz="2800" b="1" dirty="0" smtClean="0"/>
              <a:t>ymbols in Jainism</a:t>
            </a:r>
            <a:endParaRPr lang="en-US" sz="2800" b="1" dirty="0"/>
          </a:p>
        </p:txBody>
      </p:sp>
      <p:pic>
        <p:nvPicPr>
          <p:cNvPr id="8" name="Picture 2" descr="E:\NIET\Project\xLogo11.png.pagespeed.ic.pydHLuCQEZ.png"/>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9" name="Date Placeholder 8"/>
          <p:cNvSpPr>
            <a:spLocks noGrp="1"/>
          </p:cNvSpPr>
          <p:nvPr>
            <p:ph type="dt" sz="half" idx="10"/>
          </p:nvPr>
        </p:nvSpPr>
        <p:spPr/>
        <p:txBody>
          <a:bodyPr/>
          <a:lstStyle/>
          <a:p>
            <a:fld id="{BBE20EF4-83F0-4F23-A851-7CE7A54B747B}" type="datetime1">
              <a:rPr lang="en-US" smtClean="0"/>
              <a:pPr/>
              <a:t>3/26/2022</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38</a:t>
            </a:fld>
            <a:endParaRPr lang="en-US" dirty="0"/>
          </a:p>
        </p:txBody>
      </p:sp>
      <p:sp>
        <p:nvSpPr>
          <p:cNvPr id="11" name="Footer Placeholder 10"/>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10397424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3400" y="1143000"/>
            <a:ext cx="7876540" cy="4298228"/>
          </a:xfrm>
          <a:prstGeom prst="rect">
            <a:avLst/>
          </a:prstGeom>
        </p:spPr>
        <p:txBody>
          <a:bodyPr vert="horz" wrap="square" lIns="0" tIns="69215" rIns="0" bIns="0" rtlCol="0">
            <a:spAutoFit/>
          </a:bodyPr>
          <a:lstStyle/>
          <a:p>
            <a:pPr marL="424180" marR="833119" indent="-412115">
              <a:lnSpc>
                <a:spcPts val="3570"/>
              </a:lnSpc>
              <a:spcBef>
                <a:spcPts val="545"/>
              </a:spcBef>
              <a:tabLst>
                <a:tab pos="424180" algn="l"/>
              </a:tabLst>
            </a:pPr>
            <a:r>
              <a:rPr sz="2150" spc="400" dirty="0">
                <a:latin typeface="Arial"/>
                <a:cs typeface="Arial"/>
              </a:rPr>
              <a:t>	</a:t>
            </a:r>
            <a:r>
              <a:rPr sz="2800" dirty="0">
                <a:latin typeface="Palladio Uralic"/>
                <a:cs typeface="Palladio Uralic"/>
              </a:rPr>
              <a:t>Mahavir </a:t>
            </a:r>
            <a:r>
              <a:rPr sz="2800" spc="-5" dirty="0">
                <a:latin typeface="Palladio Uralic"/>
                <a:cs typeface="Palladio Uralic"/>
              </a:rPr>
              <a:t>Jayanti </a:t>
            </a:r>
            <a:r>
              <a:rPr sz="2800" dirty="0">
                <a:latin typeface="Palladio Uralic"/>
                <a:cs typeface="Palladio Uralic"/>
              </a:rPr>
              <a:t>– celebration of</a:t>
            </a:r>
            <a:r>
              <a:rPr sz="2800" spc="-125" dirty="0">
                <a:latin typeface="Palladio Uralic"/>
                <a:cs typeface="Palladio Uralic"/>
              </a:rPr>
              <a:t> </a:t>
            </a:r>
            <a:r>
              <a:rPr sz="2800" spc="-5" dirty="0">
                <a:latin typeface="Palladio Uralic"/>
                <a:cs typeface="Palladio Uralic"/>
              </a:rPr>
              <a:t>the  birth of Lord</a:t>
            </a:r>
            <a:r>
              <a:rPr sz="2800" spc="-30" dirty="0">
                <a:latin typeface="Palladio Uralic"/>
                <a:cs typeface="Palladio Uralic"/>
              </a:rPr>
              <a:t> </a:t>
            </a:r>
            <a:r>
              <a:rPr sz="2800" dirty="0">
                <a:latin typeface="Palladio Uralic"/>
                <a:cs typeface="Palladio Uralic"/>
              </a:rPr>
              <a:t>Mahavir</a:t>
            </a:r>
          </a:p>
          <a:p>
            <a:pPr marL="424180" marR="2040889" indent="-412115">
              <a:lnSpc>
                <a:spcPts val="3560"/>
              </a:lnSpc>
              <a:spcBef>
                <a:spcPts val="790"/>
              </a:spcBef>
              <a:tabLst>
                <a:tab pos="424180" algn="l"/>
              </a:tabLst>
            </a:pPr>
            <a:r>
              <a:rPr spc="400" dirty="0">
                <a:latin typeface="Arial"/>
                <a:cs typeface="Arial"/>
              </a:rPr>
              <a:t>	</a:t>
            </a:r>
            <a:r>
              <a:rPr sz="2800" spc="-5" dirty="0">
                <a:latin typeface="Palladio Uralic"/>
                <a:cs typeface="Palladio Uralic"/>
              </a:rPr>
              <a:t>Paryushan </a:t>
            </a:r>
            <a:r>
              <a:rPr sz="2800" dirty="0">
                <a:latin typeface="Palladio Uralic"/>
                <a:cs typeface="Palladio Uralic"/>
              </a:rPr>
              <a:t>Parva – </a:t>
            </a:r>
            <a:r>
              <a:rPr sz="2800" spc="-5" dirty="0">
                <a:latin typeface="Palladio Uralic"/>
                <a:cs typeface="Palladio Uralic"/>
              </a:rPr>
              <a:t>festival</a:t>
            </a:r>
            <a:r>
              <a:rPr sz="2800" spc="-90" dirty="0">
                <a:latin typeface="Palladio Uralic"/>
                <a:cs typeface="Palladio Uralic"/>
              </a:rPr>
              <a:t> </a:t>
            </a:r>
            <a:r>
              <a:rPr sz="2800" spc="-5" dirty="0">
                <a:latin typeface="Palladio Uralic"/>
                <a:cs typeface="Palladio Uralic"/>
              </a:rPr>
              <a:t>of  </a:t>
            </a:r>
            <a:r>
              <a:rPr sz="2800" dirty="0">
                <a:latin typeface="Palladio Uralic"/>
                <a:cs typeface="Palladio Uralic"/>
              </a:rPr>
              <a:t>forgiveness</a:t>
            </a:r>
          </a:p>
          <a:p>
            <a:pPr marL="424180" marR="5080" indent="-412115">
              <a:lnSpc>
                <a:spcPts val="3560"/>
              </a:lnSpc>
              <a:spcBef>
                <a:spcPts val="805"/>
              </a:spcBef>
              <a:tabLst>
                <a:tab pos="424180" algn="l"/>
              </a:tabLst>
            </a:pPr>
            <a:r>
              <a:rPr spc="400" dirty="0">
                <a:latin typeface="Arial"/>
                <a:cs typeface="Arial"/>
              </a:rPr>
              <a:t>	</a:t>
            </a:r>
            <a:r>
              <a:rPr sz="2800" dirty="0">
                <a:latin typeface="Palladio Uralic"/>
                <a:cs typeface="Palladio Uralic"/>
              </a:rPr>
              <a:t>Samvatsari </a:t>
            </a:r>
            <a:r>
              <a:rPr sz="2800" spc="-5" dirty="0">
                <a:latin typeface="Palladio Uralic"/>
                <a:cs typeface="Palladio Uralic"/>
              </a:rPr>
              <a:t>Pratikraman – 3 hour prayer  to </a:t>
            </a:r>
            <a:r>
              <a:rPr sz="2800" dirty="0">
                <a:latin typeface="Palladio Uralic"/>
                <a:cs typeface="Palladio Uralic"/>
              </a:rPr>
              <a:t>ask </a:t>
            </a:r>
            <a:r>
              <a:rPr sz="2800" spc="-5" dirty="0">
                <a:latin typeface="Palladio Uralic"/>
                <a:cs typeface="Palladio Uralic"/>
              </a:rPr>
              <a:t>for</a:t>
            </a:r>
            <a:r>
              <a:rPr sz="2800" spc="-20" dirty="0">
                <a:latin typeface="Palladio Uralic"/>
                <a:cs typeface="Palladio Uralic"/>
              </a:rPr>
              <a:t> </a:t>
            </a:r>
            <a:r>
              <a:rPr sz="2800" dirty="0">
                <a:latin typeface="Palladio Uralic"/>
                <a:cs typeface="Palladio Uralic"/>
              </a:rPr>
              <a:t>forgiveness</a:t>
            </a:r>
          </a:p>
          <a:p>
            <a:pPr marL="424180" marR="1283970" indent="-412115">
              <a:lnSpc>
                <a:spcPct val="90000"/>
              </a:lnSpc>
              <a:spcBef>
                <a:spcPts val="740"/>
              </a:spcBef>
              <a:tabLst>
                <a:tab pos="424180" algn="l"/>
              </a:tabLst>
            </a:pPr>
            <a:r>
              <a:rPr spc="400" dirty="0">
                <a:latin typeface="Arial"/>
                <a:cs typeface="Arial"/>
              </a:rPr>
              <a:t>	</a:t>
            </a:r>
            <a:r>
              <a:rPr sz="2800" dirty="0">
                <a:latin typeface="Palladio Uralic"/>
                <a:cs typeface="Palladio Uralic"/>
              </a:rPr>
              <a:t>Mahavir </a:t>
            </a:r>
            <a:r>
              <a:rPr sz="2800" spc="-5" dirty="0">
                <a:latin typeface="Palladio Uralic"/>
                <a:cs typeface="Palladio Uralic"/>
              </a:rPr>
              <a:t>Nirvan </a:t>
            </a:r>
            <a:r>
              <a:rPr sz="2800" dirty="0">
                <a:latin typeface="Palladio Uralic"/>
                <a:cs typeface="Palladio Uralic"/>
              </a:rPr>
              <a:t>– celebration at  Diwali/New </a:t>
            </a:r>
            <a:r>
              <a:rPr sz="2800" spc="-5" dirty="0">
                <a:latin typeface="Palladio Uralic"/>
                <a:cs typeface="Palladio Uralic"/>
              </a:rPr>
              <a:t>Year’s per the</a:t>
            </a:r>
            <a:r>
              <a:rPr sz="2800" spc="-100" dirty="0">
                <a:latin typeface="Palladio Uralic"/>
                <a:cs typeface="Palladio Uralic"/>
              </a:rPr>
              <a:t> </a:t>
            </a:r>
            <a:r>
              <a:rPr sz="2800" spc="-5" dirty="0">
                <a:latin typeface="Palladio Uralic"/>
                <a:cs typeface="Palladio Uralic"/>
              </a:rPr>
              <a:t>lunar  </a:t>
            </a:r>
            <a:r>
              <a:rPr sz="2800" dirty="0">
                <a:latin typeface="Palladio Uralic"/>
                <a:cs typeface="Palladio Uralic"/>
              </a:rPr>
              <a:t>calendar</a:t>
            </a:r>
            <a:endParaRPr sz="3300" dirty="0">
              <a:latin typeface="Palladio Uralic"/>
              <a:cs typeface="Palladio Uralic"/>
            </a:endParaRPr>
          </a:p>
        </p:txBody>
      </p:sp>
      <p:sp>
        <p:nvSpPr>
          <p:cNvPr id="4"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Major Jain Religious events</a:t>
            </a:r>
            <a:endParaRPr lang="en-US" sz="2800" b="1"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6" name="Date Placeholder 5"/>
          <p:cNvSpPr>
            <a:spLocks noGrp="1"/>
          </p:cNvSpPr>
          <p:nvPr>
            <p:ph type="dt" sz="half" idx="10"/>
          </p:nvPr>
        </p:nvSpPr>
        <p:spPr/>
        <p:txBody>
          <a:bodyPr/>
          <a:lstStyle/>
          <a:p>
            <a:fld id="{DB533413-4B5A-4837-9702-075B07D720D1}"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39</a:t>
            </a:fld>
            <a:endParaRPr lang="en-US" dirty="0"/>
          </a:p>
        </p:txBody>
      </p:sp>
      <p:sp>
        <p:nvSpPr>
          <p:cNvPr id="8" name="Footer Placeholder 7"/>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2216075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443227"/>
            <a:ext cx="9144000" cy="1098803"/>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2995676" y="1530222"/>
            <a:ext cx="3151505" cy="482600"/>
          </a:xfrm>
          <a:prstGeom prst="rect">
            <a:avLst/>
          </a:prstGeom>
        </p:spPr>
        <p:txBody>
          <a:bodyPr vert="horz" wrap="square" lIns="0" tIns="12700" rIns="0" bIns="0" rtlCol="0">
            <a:spAutoFit/>
          </a:bodyPr>
          <a:lstStyle/>
          <a:p>
            <a:pPr marL="12700">
              <a:lnSpc>
                <a:spcPct val="100000"/>
              </a:lnSpc>
              <a:spcBef>
                <a:spcPts val="100"/>
              </a:spcBef>
            </a:pPr>
            <a:r>
              <a:rPr sz="3000" spc="-5" dirty="0"/>
              <a:t>All </a:t>
            </a:r>
            <a:r>
              <a:rPr sz="3000" spc="-10" dirty="0"/>
              <a:t>souls </a:t>
            </a:r>
            <a:r>
              <a:rPr sz="3000" dirty="0"/>
              <a:t>are</a:t>
            </a:r>
            <a:r>
              <a:rPr sz="3000" spc="-50" dirty="0"/>
              <a:t> </a:t>
            </a:r>
            <a:r>
              <a:rPr sz="3000" dirty="0"/>
              <a:t>equal</a:t>
            </a:r>
            <a:endParaRPr sz="3000"/>
          </a:p>
        </p:txBody>
      </p:sp>
      <p:grpSp>
        <p:nvGrpSpPr>
          <p:cNvPr id="5" name="object 5"/>
          <p:cNvGrpSpPr/>
          <p:nvPr/>
        </p:nvGrpSpPr>
        <p:grpSpPr>
          <a:xfrm>
            <a:off x="0" y="2316479"/>
            <a:ext cx="9144000" cy="4392295"/>
            <a:chOff x="0" y="2316479"/>
            <a:chExt cx="9144000" cy="4392295"/>
          </a:xfrm>
        </p:grpSpPr>
        <p:sp>
          <p:nvSpPr>
            <p:cNvPr id="6" name="object 6"/>
            <p:cNvSpPr/>
            <p:nvPr/>
          </p:nvSpPr>
          <p:spPr>
            <a:xfrm>
              <a:off x="0" y="2316479"/>
              <a:ext cx="9144000" cy="109728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0" y="3151631"/>
              <a:ext cx="9144000" cy="109728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0" y="3963923"/>
              <a:ext cx="9144000" cy="1097280"/>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0" y="4786883"/>
              <a:ext cx="9144000" cy="1097280"/>
            </a:xfrm>
            <a:prstGeom prst="rect">
              <a:avLst/>
            </a:prstGeom>
            <a:blipFill>
              <a:blip r:embed="rId6" cstate="print"/>
              <a:stretch>
                <a:fillRect/>
              </a:stretch>
            </a:blipFill>
          </p:spPr>
          <p:txBody>
            <a:bodyPr wrap="square" lIns="0" tIns="0" rIns="0" bIns="0" rtlCol="0"/>
            <a:lstStyle/>
            <a:p>
              <a:endParaRPr/>
            </a:p>
          </p:txBody>
        </p:sp>
        <p:sp>
          <p:nvSpPr>
            <p:cNvPr id="10" name="object 10"/>
            <p:cNvSpPr/>
            <p:nvPr/>
          </p:nvSpPr>
          <p:spPr>
            <a:xfrm>
              <a:off x="0" y="5611367"/>
              <a:ext cx="9144000" cy="1097280"/>
            </a:xfrm>
            <a:prstGeom prst="rect">
              <a:avLst/>
            </a:prstGeom>
            <a:blipFill>
              <a:blip r:embed="rId7" cstate="print"/>
              <a:stretch>
                <a:fillRect/>
              </a:stretch>
            </a:blipFill>
          </p:spPr>
          <p:txBody>
            <a:bodyPr wrap="square" lIns="0" tIns="0" rIns="0" bIns="0" rtlCol="0"/>
            <a:lstStyle/>
            <a:p>
              <a:endParaRPr/>
            </a:p>
          </p:txBody>
        </p:sp>
      </p:grpSp>
      <p:sp>
        <p:nvSpPr>
          <p:cNvPr id="11" name="object 11"/>
          <p:cNvSpPr txBox="1"/>
          <p:nvPr/>
        </p:nvSpPr>
        <p:spPr>
          <a:xfrm>
            <a:off x="559714" y="2421762"/>
            <a:ext cx="8030209" cy="3722370"/>
          </a:xfrm>
          <a:prstGeom prst="rect">
            <a:avLst/>
          </a:prstGeom>
        </p:spPr>
        <p:txBody>
          <a:bodyPr vert="horz" wrap="square" lIns="0" tIns="12065" rIns="0" bIns="0" rtlCol="0">
            <a:spAutoFit/>
          </a:bodyPr>
          <a:lstStyle/>
          <a:p>
            <a:pPr algn="ctr">
              <a:lnSpc>
                <a:spcPct val="100000"/>
              </a:lnSpc>
              <a:spcBef>
                <a:spcPts val="95"/>
              </a:spcBef>
            </a:pPr>
            <a:r>
              <a:rPr sz="2800" spc="-5" dirty="0">
                <a:solidFill>
                  <a:srgbClr val="FFFFFF"/>
                </a:solidFill>
                <a:latin typeface="Palladio Uralic"/>
                <a:cs typeface="Palladio Uralic"/>
              </a:rPr>
              <a:t>Non-Violence</a:t>
            </a:r>
            <a:endParaRPr sz="2800">
              <a:latin typeface="Palladio Uralic"/>
              <a:cs typeface="Palladio Uralic"/>
            </a:endParaRPr>
          </a:p>
          <a:p>
            <a:pPr marL="2370455" marR="2367915" algn="ctr">
              <a:lnSpc>
                <a:spcPct val="191700"/>
              </a:lnSpc>
              <a:spcBef>
                <a:spcPts val="130"/>
              </a:spcBef>
            </a:pPr>
            <a:r>
              <a:rPr sz="2800" spc="-5" dirty="0">
                <a:solidFill>
                  <a:srgbClr val="FFFFFF"/>
                </a:solidFill>
                <a:latin typeface="Palladio Uralic"/>
                <a:cs typeface="Palladio Uralic"/>
              </a:rPr>
              <a:t>Multiplicity of</a:t>
            </a:r>
            <a:r>
              <a:rPr sz="2800" spc="-15" dirty="0">
                <a:solidFill>
                  <a:srgbClr val="FFFFFF"/>
                </a:solidFill>
                <a:latin typeface="Palladio Uralic"/>
                <a:cs typeface="Palladio Uralic"/>
              </a:rPr>
              <a:t> </a:t>
            </a:r>
            <a:r>
              <a:rPr sz="2800" spc="-5" dirty="0">
                <a:solidFill>
                  <a:srgbClr val="FFFFFF"/>
                </a:solidFill>
                <a:latin typeface="Palladio Uralic"/>
                <a:cs typeface="Palladio Uralic"/>
              </a:rPr>
              <a:t>views  Non-possessiveness  </a:t>
            </a:r>
            <a:r>
              <a:rPr sz="2800" spc="-10" dirty="0">
                <a:solidFill>
                  <a:srgbClr val="FFFFFF"/>
                </a:solidFill>
                <a:latin typeface="Palladio Uralic"/>
                <a:cs typeface="Palladio Uralic"/>
              </a:rPr>
              <a:t>Karma</a:t>
            </a:r>
            <a:endParaRPr sz="2800">
              <a:latin typeface="Palladio Uralic"/>
              <a:cs typeface="Palladio Uralic"/>
            </a:endParaRPr>
          </a:p>
          <a:p>
            <a:pPr>
              <a:lnSpc>
                <a:spcPct val="100000"/>
              </a:lnSpc>
            </a:pPr>
            <a:endParaRPr sz="2850">
              <a:latin typeface="Palladio Uralic"/>
              <a:cs typeface="Palladio Uralic"/>
            </a:endParaRPr>
          </a:p>
          <a:p>
            <a:pPr algn="ctr">
              <a:lnSpc>
                <a:spcPct val="100000"/>
              </a:lnSpc>
            </a:pPr>
            <a:r>
              <a:rPr sz="2400" dirty="0">
                <a:solidFill>
                  <a:srgbClr val="FFFFFF"/>
                </a:solidFill>
                <a:latin typeface="Palladio Uralic"/>
                <a:cs typeface="Palladio Uralic"/>
              </a:rPr>
              <a:t>Three jewels: Right </a:t>
            </a:r>
            <a:r>
              <a:rPr sz="2400" spc="-5" dirty="0">
                <a:solidFill>
                  <a:srgbClr val="FFFFFF"/>
                </a:solidFill>
                <a:latin typeface="Palladio Uralic"/>
                <a:cs typeface="Palladio Uralic"/>
              </a:rPr>
              <a:t>Knowledge, </a:t>
            </a:r>
            <a:r>
              <a:rPr sz="2400" dirty="0">
                <a:solidFill>
                  <a:srgbClr val="FFFFFF"/>
                </a:solidFill>
                <a:latin typeface="Palladio Uralic"/>
                <a:cs typeface="Palladio Uralic"/>
              </a:rPr>
              <a:t>Right </a:t>
            </a:r>
            <a:r>
              <a:rPr sz="2400" spc="-5" dirty="0">
                <a:solidFill>
                  <a:srgbClr val="FFFFFF"/>
                </a:solidFill>
                <a:latin typeface="Palladio Uralic"/>
                <a:cs typeface="Palladio Uralic"/>
              </a:rPr>
              <a:t>Faith, </a:t>
            </a:r>
            <a:r>
              <a:rPr sz="2400" dirty="0">
                <a:solidFill>
                  <a:srgbClr val="FFFFFF"/>
                </a:solidFill>
                <a:latin typeface="Palladio Uralic"/>
                <a:cs typeface="Palladio Uralic"/>
              </a:rPr>
              <a:t>Right</a:t>
            </a:r>
            <a:r>
              <a:rPr sz="2400" spc="-75" dirty="0">
                <a:solidFill>
                  <a:srgbClr val="FFFFFF"/>
                </a:solidFill>
                <a:latin typeface="Palladio Uralic"/>
                <a:cs typeface="Palladio Uralic"/>
              </a:rPr>
              <a:t> </a:t>
            </a:r>
            <a:r>
              <a:rPr sz="2400" dirty="0">
                <a:solidFill>
                  <a:srgbClr val="FFFFFF"/>
                </a:solidFill>
                <a:latin typeface="Palladio Uralic"/>
                <a:cs typeface="Palladio Uralic"/>
              </a:rPr>
              <a:t>Conduct</a:t>
            </a:r>
            <a:endParaRPr sz="2400">
              <a:latin typeface="Palladio Uralic"/>
              <a:cs typeface="Palladio Uralic"/>
            </a:endParaRPr>
          </a:p>
        </p:txBody>
      </p:sp>
      <p:sp>
        <p:nvSpPr>
          <p:cNvPr id="12"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Jain Beliefs</a:t>
            </a:r>
            <a:endParaRPr lang="en-US" sz="2800" b="1" dirty="0"/>
          </a:p>
        </p:txBody>
      </p:sp>
      <p:pic>
        <p:nvPicPr>
          <p:cNvPr id="13" name="Picture 2" descr="E:\NIET\Project\xLogo11.png.pagespeed.ic.pydHLuCQEZ.png"/>
          <p:cNvPicPr>
            <a:picLocks noChangeAspect="1" noChangeArrowheads="1"/>
          </p:cNvPicPr>
          <p:nvPr/>
        </p:nvPicPr>
        <p:blipFill>
          <a:blip r:embed="rId8"/>
          <a:srcRect/>
          <a:stretch>
            <a:fillRect/>
          </a:stretch>
        </p:blipFill>
        <p:spPr bwMode="auto">
          <a:xfrm>
            <a:off x="0" y="0"/>
            <a:ext cx="1447800" cy="817163"/>
          </a:xfrm>
          <a:prstGeom prst="rect">
            <a:avLst/>
          </a:prstGeom>
          <a:noFill/>
        </p:spPr>
      </p:pic>
      <p:sp>
        <p:nvSpPr>
          <p:cNvPr id="14" name="Date Placeholder 13"/>
          <p:cNvSpPr>
            <a:spLocks noGrp="1"/>
          </p:cNvSpPr>
          <p:nvPr>
            <p:ph type="dt" sz="half" idx="10"/>
          </p:nvPr>
        </p:nvSpPr>
        <p:spPr/>
        <p:txBody>
          <a:bodyPr/>
          <a:lstStyle/>
          <a:p>
            <a:fld id="{39521F21-BC89-4C55-8019-71B3419F9FD4}" type="datetime1">
              <a:rPr lang="en-US" smtClean="0"/>
              <a:pPr/>
              <a:t>3/26/2022</a:t>
            </a:fld>
            <a:endParaRPr lang="en-US" dirty="0"/>
          </a:p>
        </p:txBody>
      </p:sp>
      <p:sp>
        <p:nvSpPr>
          <p:cNvPr id="15" name="Slide Number Placeholder 14"/>
          <p:cNvSpPr>
            <a:spLocks noGrp="1"/>
          </p:cNvSpPr>
          <p:nvPr>
            <p:ph type="sldNum" sz="quarter" idx="12"/>
          </p:nvPr>
        </p:nvSpPr>
        <p:spPr/>
        <p:txBody>
          <a:bodyPr/>
          <a:lstStyle/>
          <a:p>
            <a:fld id="{B6F15528-21DE-4FAA-801E-634DDDAF4B2B}" type="slidenum">
              <a:rPr lang="en-US" smtClean="0"/>
              <a:pPr/>
              <a:t>40</a:t>
            </a:fld>
            <a:endParaRPr lang="en-US" dirty="0"/>
          </a:p>
        </p:txBody>
      </p:sp>
      <p:sp>
        <p:nvSpPr>
          <p:cNvPr id="16" name="Footer Placeholder 15"/>
          <p:cNvSpPr>
            <a:spLocks noGrp="1"/>
          </p:cNvSpPr>
          <p:nvPr>
            <p:ph type="ftr" sz="quarter" idx="11"/>
          </p:nvPr>
        </p:nvSpPr>
        <p:spPr/>
        <p:txBody>
          <a:bodyPr/>
          <a:lstStyle/>
          <a:p>
            <a:r>
              <a:rPr lang="en-US" smtClean="0"/>
              <a:t>Faculty Name: Dr.Ankita Shukla Subject code : KNC 602    Unit Number::III</a:t>
            </a:r>
            <a:endParaRPr lang="en-US" dirty="0"/>
          </a:p>
        </p:txBody>
      </p:sp>
    </p:spTree>
    <p:extLst>
      <p:ext uri="{BB962C8B-B14F-4D97-AF65-F5344CB8AC3E}">
        <p14:creationId xmlns:p14="http://schemas.microsoft.com/office/powerpoint/2010/main" xmlns="" val="25862886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b="1" dirty="0"/>
              <a:t>Hindu philosophy</a:t>
            </a:r>
            <a:r>
              <a:rPr lang="en-US" dirty="0"/>
              <a:t> encompasses the philosophies, world views and </a:t>
            </a:r>
            <a:r>
              <a:rPr lang="en-US" dirty="0" smtClean="0"/>
              <a:t>teachings</a:t>
            </a:r>
            <a:r>
              <a:rPr lang="en-US" dirty="0"/>
              <a:t> of Hinduism that emerged in Ancient India. These include six systems (</a:t>
            </a:r>
            <a:r>
              <a:rPr lang="en-US" i="1" dirty="0"/>
              <a:t>shad-</a:t>
            </a:r>
            <a:r>
              <a:rPr lang="en-US" i="1" dirty="0" err="1"/>
              <a:t>darśana</a:t>
            </a:r>
            <a:r>
              <a:rPr lang="en-US" dirty="0"/>
              <a:t>) </a:t>
            </a:r>
            <a:r>
              <a:rPr lang="en-US" dirty="0" smtClean="0"/>
              <a:t>– </a:t>
            </a:r>
            <a:r>
              <a:rPr lang="en-US" dirty="0" err="1" smtClean="0"/>
              <a:t>Sankhya</a:t>
            </a:r>
            <a:r>
              <a:rPr lang="en-US" dirty="0"/>
              <a:t>, Yoga, Nyaya, </a:t>
            </a:r>
            <a:r>
              <a:rPr lang="en-US" dirty="0" err="1"/>
              <a:t>Vaisheshika</a:t>
            </a:r>
            <a:r>
              <a:rPr lang="en-US" dirty="0"/>
              <a:t>, </a:t>
            </a:r>
            <a:r>
              <a:rPr lang="en-US" dirty="0" err="1"/>
              <a:t>Mimamsa</a:t>
            </a:r>
            <a:r>
              <a:rPr lang="en-US" dirty="0"/>
              <a:t> and Vedanta</a:t>
            </a:r>
            <a:r>
              <a:rPr lang="en-US" dirty="0" smtClean="0"/>
              <a:t>.</a:t>
            </a:r>
            <a:endParaRPr lang="en-US" dirty="0"/>
          </a:p>
          <a:p>
            <a:r>
              <a:rPr lang="en-US" dirty="0"/>
              <a:t>In Indian tradition, the word used for philosophy is </a:t>
            </a:r>
            <a:r>
              <a:rPr lang="en-US" b="1" dirty="0" err="1"/>
              <a:t>Darshana</a:t>
            </a:r>
            <a:r>
              <a:rPr lang="en-US" dirty="0"/>
              <a:t>. This word comes from the Sanskrit root </a:t>
            </a:r>
            <a:r>
              <a:rPr lang="en-US" i="1" dirty="0" err="1"/>
              <a:t>drish</a:t>
            </a:r>
            <a:r>
              <a:rPr lang="en-US" dirty="0"/>
              <a:t> (to see, to experience)</a:t>
            </a:r>
          </a:p>
          <a:p>
            <a:endParaRPr lang="en-US" sz="2400" dirty="0"/>
          </a:p>
        </p:txBody>
      </p:sp>
      <p:sp>
        <p:nvSpPr>
          <p:cNvPr id="6" name="Date Placeholder 5"/>
          <p:cNvSpPr>
            <a:spLocks noGrp="1"/>
          </p:cNvSpPr>
          <p:nvPr>
            <p:ph type="dt" sz="half" idx="10"/>
          </p:nvPr>
        </p:nvSpPr>
        <p:spPr/>
        <p:txBody>
          <a:bodyPr/>
          <a:lstStyle/>
          <a:p>
            <a:fld id="{F2B5D44F-3DCF-4F36-860E-DF4263BC98B7}"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41</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dirty="0" smtClean="0"/>
              <a:t>                              </a:t>
            </a:r>
          </a:p>
          <a:p>
            <a:pPr algn="just"/>
            <a:r>
              <a:rPr lang="en-US" sz="2800" dirty="0" smtClean="0"/>
              <a:t>                      </a:t>
            </a:r>
            <a:r>
              <a:rPr lang="en-US" sz="2800" b="1" dirty="0" smtClean="0"/>
              <a:t>Six System Indian Philosophy</a:t>
            </a:r>
          </a:p>
          <a:p>
            <a:pPr algn="just"/>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sz="2400" b="1" dirty="0" smtClean="0"/>
              <a:t>Nyaya</a:t>
            </a:r>
            <a:endParaRPr lang="en-US" sz="2400" dirty="0" smtClean="0"/>
          </a:p>
          <a:p>
            <a:r>
              <a:rPr lang="en-US" dirty="0"/>
              <a:t>The founder of Nyaya is </a:t>
            </a:r>
            <a:r>
              <a:rPr lang="en-US" dirty="0" err="1"/>
              <a:t>Akshapada</a:t>
            </a:r>
            <a:r>
              <a:rPr lang="en-US" dirty="0"/>
              <a:t> Gautama and it dated back to 2nd Century BCE. It is a school that deals with logic and epistemology. Its main objective is to help to eliminate ignorance of knowledge. It enlists four valid (</a:t>
            </a:r>
            <a:r>
              <a:rPr lang="en-US" dirty="0" err="1"/>
              <a:t>Pramana</a:t>
            </a:r>
            <a:r>
              <a:rPr lang="en-US" dirty="0"/>
              <a:t>) and four invalid means of gaining knowledge. It is very closely linked with </a:t>
            </a:r>
            <a:r>
              <a:rPr lang="en-US" dirty="0" err="1"/>
              <a:t>Vaisheshika</a:t>
            </a:r>
            <a:r>
              <a:rPr lang="en-US" dirty="0"/>
              <a:t> School</a:t>
            </a:r>
            <a:r>
              <a:rPr lang="en-US" dirty="0" smtClean="0"/>
              <a:t>.</a:t>
            </a:r>
          </a:p>
          <a:p>
            <a:endParaRPr lang="en-US" sz="2400" dirty="0"/>
          </a:p>
        </p:txBody>
      </p:sp>
      <p:sp>
        <p:nvSpPr>
          <p:cNvPr id="6" name="Date Placeholder 5"/>
          <p:cNvSpPr>
            <a:spLocks noGrp="1"/>
          </p:cNvSpPr>
          <p:nvPr>
            <p:ph type="dt" sz="half" idx="10"/>
          </p:nvPr>
        </p:nvSpPr>
        <p:spPr/>
        <p:txBody>
          <a:bodyPr/>
          <a:lstStyle/>
          <a:p>
            <a:fld id="{93E929E4-EBBE-488C-89C3-86D083DC72B2}"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42</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dirty="0" smtClean="0"/>
              <a:t>                              </a:t>
            </a:r>
          </a:p>
          <a:p>
            <a:pPr algn="just"/>
            <a:r>
              <a:rPr lang="en-US" sz="2800" dirty="0" smtClean="0"/>
              <a:t>                      </a:t>
            </a:r>
            <a:r>
              <a:rPr lang="en-US" sz="2800" b="1" dirty="0" smtClean="0"/>
              <a:t>Six System Indian Philosophy</a:t>
            </a:r>
          </a:p>
          <a:p>
            <a:pPr algn="just"/>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extLst>
      <p:ext uri="{BB962C8B-B14F-4D97-AF65-F5344CB8AC3E}">
        <p14:creationId xmlns:p14="http://schemas.microsoft.com/office/powerpoint/2010/main" xmlns="" val="263642387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sz="2400" b="1" dirty="0" err="1" smtClean="0"/>
              <a:t>Vaisheshika</a:t>
            </a:r>
            <a:endParaRPr lang="en-US" sz="2400" dirty="0" smtClean="0"/>
          </a:p>
          <a:p>
            <a:r>
              <a:rPr lang="en-US" sz="2400" dirty="0" smtClean="0"/>
              <a:t>The Vaisheshika System of Indian Philosophy was founded by Kanada or uluka. </a:t>
            </a:r>
            <a:r>
              <a:rPr lang="en-US" sz="2400" dirty="0"/>
              <a:t>Popularly understood as the atomistic school of Indian Philosophy. It elaborates on seven elements of matter with the nomenclature of </a:t>
            </a:r>
            <a:r>
              <a:rPr lang="en-US" sz="2400" dirty="0" err="1"/>
              <a:t>Saptapadartha</a:t>
            </a:r>
            <a:r>
              <a:rPr lang="en-US" sz="2400" dirty="0"/>
              <a:t>- </a:t>
            </a:r>
            <a:r>
              <a:rPr lang="en-US" sz="2400" dirty="0" err="1"/>
              <a:t>Dravya</a:t>
            </a:r>
            <a:r>
              <a:rPr lang="en-US" sz="2400" dirty="0"/>
              <a:t> (substance and also includes the </a:t>
            </a:r>
            <a:r>
              <a:rPr lang="en-US" sz="2400" dirty="0" err="1"/>
              <a:t>Panchamahabhutas</a:t>
            </a:r>
            <a:r>
              <a:rPr lang="en-US" sz="2400" dirty="0"/>
              <a:t>), </a:t>
            </a:r>
            <a:r>
              <a:rPr lang="en-US" sz="2400" dirty="0" err="1"/>
              <a:t>Guna</a:t>
            </a:r>
            <a:r>
              <a:rPr lang="en-US" sz="2400" dirty="0"/>
              <a:t> (Qualities), Karma (activities), </a:t>
            </a:r>
            <a:r>
              <a:rPr lang="en-US" sz="2400" dirty="0" err="1"/>
              <a:t>Samanya</a:t>
            </a:r>
            <a:r>
              <a:rPr lang="en-US" sz="2400" dirty="0"/>
              <a:t> (generalist traits), </a:t>
            </a:r>
            <a:r>
              <a:rPr lang="en-US" sz="2400" dirty="0" err="1"/>
              <a:t>Vishesha</a:t>
            </a:r>
            <a:r>
              <a:rPr lang="en-US" sz="2400" dirty="0"/>
              <a:t> (specialty), </a:t>
            </a:r>
            <a:r>
              <a:rPr lang="en-US" sz="2400" dirty="0" err="1"/>
              <a:t>Samavaya</a:t>
            </a:r>
            <a:r>
              <a:rPr lang="en-US" sz="2400" dirty="0"/>
              <a:t> (inter-relatedness) and the last addition which is </a:t>
            </a:r>
            <a:r>
              <a:rPr lang="en-US" sz="2400" dirty="0" err="1"/>
              <a:t>Abhaava</a:t>
            </a:r>
            <a:r>
              <a:rPr lang="en-US" sz="2400" dirty="0"/>
              <a:t> </a:t>
            </a:r>
            <a:r>
              <a:rPr lang="en-US" sz="2400" dirty="0" err="1"/>
              <a:t>i.e</a:t>
            </a:r>
            <a:r>
              <a:rPr lang="en-US" sz="2400" dirty="0"/>
              <a:t> absence</a:t>
            </a:r>
          </a:p>
        </p:txBody>
      </p:sp>
      <p:sp>
        <p:nvSpPr>
          <p:cNvPr id="6" name="Date Placeholder 5"/>
          <p:cNvSpPr>
            <a:spLocks noGrp="1"/>
          </p:cNvSpPr>
          <p:nvPr>
            <p:ph type="dt" sz="half" idx="10"/>
          </p:nvPr>
        </p:nvSpPr>
        <p:spPr/>
        <p:txBody>
          <a:bodyPr/>
          <a:lstStyle/>
          <a:p>
            <a:fld id="{880459A5-FA53-4216-A2EE-A122E4C00EF3}"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43</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dirty="0" smtClean="0"/>
              <a:t>                              </a:t>
            </a:r>
          </a:p>
          <a:p>
            <a:pPr algn="just"/>
            <a:r>
              <a:rPr lang="en-US" sz="2800" dirty="0" smtClean="0"/>
              <a:t>                      </a:t>
            </a:r>
            <a:r>
              <a:rPr lang="en-US" sz="2800" b="1" dirty="0" smtClean="0"/>
              <a:t>Six System Indian Philosophy</a:t>
            </a:r>
          </a:p>
          <a:p>
            <a:pPr algn="just"/>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extLst>
      <p:ext uri="{BB962C8B-B14F-4D97-AF65-F5344CB8AC3E}">
        <p14:creationId xmlns:p14="http://schemas.microsoft.com/office/powerpoint/2010/main" xmlns="" val="363061576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sz="2400" b="1" dirty="0" smtClean="0"/>
              <a:t>Samkhya</a:t>
            </a:r>
            <a:endParaRPr lang="en-US" sz="2400" dirty="0" smtClean="0"/>
          </a:p>
          <a:p>
            <a:r>
              <a:rPr lang="en-US" sz="2000" dirty="0" smtClean="0"/>
              <a:t>Sage Kapila founded the Samkhya System of Philosophy. </a:t>
            </a:r>
            <a:r>
              <a:rPr lang="en-US" sz="2000" dirty="0"/>
              <a:t>Samkhya is an extremely complex school of philosophy that goes deep into the understanding of the creator and the creation. There are terms like </a:t>
            </a:r>
            <a:r>
              <a:rPr lang="en-US" sz="2000" dirty="0" err="1"/>
              <a:t>Mahat</a:t>
            </a:r>
            <a:r>
              <a:rPr lang="en-US" sz="2000" dirty="0"/>
              <a:t>, </a:t>
            </a:r>
            <a:r>
              <a:rPr lang="en-US" sz="2000" dirty="0" err="1"/>
              <a:t>Purusha</a:t>
            </a:r>
            <a:r>
              <a:rPr lang="en-US" sz="2000" dirty="0"/>
              <a:t>, </a:t>
            </a:r>
            <a:r>
              <a:rPr lang="en-US" sz="2000" dirty="0" err="1"/>
              <a:t>Prakriti</a:t>
            </a:r>
            <a:r>
              <a:rPr lang="en-US" sz="2000" dirty="0"/>
              <a:t>, Tri-</a:t>
            </a:r>
            <a:r>
              <a:rPr lang="en-US" sz="2000" dirty="0" err="1"/>
              <a:t>Gunas</a:t>
            </a:r>
            <a:r>
              <a:rPr lang="en-US" sz="2000" dirty="0"/>
              <a:t>, that are explored in this school. The school is credited to Sage </a:t>
            </a:r>
            <a:r>
              <a:rPr lang="en-US" sz="2000" dirty="0" err="1"/>
              <a:t>Kapila</a:t>
            </a:r>
            <a:r>
              <a:rPr lang="en-US" sz="2000" dirty="0"/>
              <a:t>.</a:t>
            </a:r>
          </a:p>
          <a:p>
            <a:r>
              <a:rPr lang="en-US" sz="2000" dirty="0"/>
              <a:t>The </a:t>
            </a:r>
            <a:r>
              <a:rPr lang="en-US" sz="2000" dirty="0" err="1"/>
              <a:t>Mahat</a:t>
            </a:r>
            <a:r>
              <a:rPr lang="en-US" sz="2000" dirty="0"/>
              <a:t> is the universal cosmic spirit. </a:t>
            </a:r>
            <a:r>
              <a:rPr lang="en-US" sz="2000" dirty="0" err="1"/>
              <a:t>Purusha</a:t>
            </a:r>
            <a:r>
              <a:rPr lang="en-US" sz="2000" dirty="0"/>
              <a:t> is the passive element whereas </a:t>
            </a:r>
            <a:r>
              <a:rPr lang="en-US" sz="2000" dirty="0" err="1"/>
              <a:t>Prakriti</a:t>
            </a:r>
            <a:r>
              <a:rPr lang="en-US" sz="2000" dirty="0"/>
              <a:t> is the active element which creates </a:t>
            </a:r>
            <a:r>
              <a:rPr lang="en-US" sz="2000" dirty="0" err="1"/>
              <a:t>Manas</a:t>
            </a:r>
            <a:r>
              <a:rPr lang="en-US" sz="2000" dirty="0"/>
              <a:t>(Mind) and the three </a:t>
            </a:r>
            <a:r>
              <a:rPr lang="en-US" sz="2000" dirty="0" err="1"/>
              <a:t>Gunas</a:t>
            </a:r>
            <a:r>
              <a:rPr lang="en-US" sz="2000" dirty="0"/>
              <a:t>- Sattva(Calm and composed), Rajas (momentum, dynamism and egoistic) and </a:t>
            </a:r>
            <a:r>
              <a:rPr lang="en-US" sz="2000" dirty="0" err="1"/>
              <a:t>Tamas</a:t>
            </a:r>
            <a:r>
              <a:rPr lang="en-US" sz="2000" dirty="0"/>
              <a:t> (imbalanced, chaotic and destructive).</a:t>
            </a:r>
          </a:p>
        </p:txBody>
      </p:sp>
      <p:sp>
        <p:nvSpPr>
          <p:cNvPr id="6" name="Date Placeholder 5"/>
          <p:cNvSpPr>
            <a:spLocks noGrp="1"/>
          </p:cNvSpPr>
          <p:nvPr>
            <p:ph type="dt" sz="half" idx="10"/>
          </p:nvPr>
        </p:nvSpPr>
        <p:spPr/>
        <p:txBody>
          <a:bodyPr/>
          <a:lstStyle/>
          <a:p>
            <a:fld id="{E62F2A9E-72E4-4DE0-8983-BC7C2008C741}"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44</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dirty="0" smtClean="0"/>
              <a:t>                              </a:t>
            </a:r>
          </a:p>
          <a:p>
            <a:pPr algn="just"/>
            <a:endParaRPr lang="en-US" sz="2800" dirty="0" smtClean="0"/>
          </a:p>
          <a:p>
            <a:pPr algn="just"/>
            <a:r>
              <a:rPr lang="en-US" sz="2800" dirty="0" smtClean="0"/>
              <a:t>                  </a:t>
            </a:r>
            <a:r>
              <a:rPr lang="en-US" sz="2800" b="1" dirty="0" smtClean="0"/>
              <a:t>Six System Indian Philosophy</a:t>
            </a:r>
            <a:endParaRPr lang="en-US" sz="2800" dirty="0" smtClean="0"/>
          </a:p>
          <a:p>
            <a:pPr algn="just"/>
            <a:endParaRPr lang="en-US" sz="2800" dirty="0" smtClean="0"/>
          </a:p>
          <a:p>
            <a:pPr algn="just"/>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534400" cy="5562600"/>
          </a:xfrm>
        </p:spPr>
        <p:txBody>
          <a:bodyPr>
            <a:noAutofit/>
          </a:bodyPr>
          <a:lstStyle/>
          <a:p>
            <a:r>
              <a:rPr lang="en-US" sz="2400" b="1" dirty="0" smtClean="0"/>
              <a:t>Yoga</a:t>
            </a:r>
            <a:endParaRPr lang="en-US" sz="2400" dirty="0" smtClean="0"/>
          </a:p>
          <a:p>
            <a:pPr algn="just"/>
            <a:r>
              <a:rPr lang="en-US" sz="2400" dirty="0" smtClean="0"/>
              <a:t>The Yoga Syatem of Philosophy was founded by Patanjali. </a:t>
            </a:r>
            <a:r>
              <a:rPr lang="en-US" sz="2400" dirty="0"/>
              <a:t>While Samkhya highlights the three </a:t>
            </a:r>
            <a:r>
              <a:rPr lang="en-US" sz="2400" dirty="0" err="1"/>
              <a:t>Gunas</a:t>
            </a:r>
            <a:r>
              <a:rPr lang="en-US" sz="2400" dirty="0"/>
              <a:t> of Sattva, Rajas, and </a:t>
            </a:r>
            <a:r>
              <a:rPr lang="en-US" sz="2400" dirty="0" err="1"/>
              <a:t>Tamas</a:t>
            </a:r>
            <a:r>
              <a:rPr lang="en-US" sz="2400" dirty="0"/>
              <a:t>, the eight-limbs of Yoga Sutras of </a:t>
            </a:r>
            <a:r>
              <a:rPr lang="en-US" sz="2400" dirty="0" err="1"/>
              <a:t>Patanjali</a:t>
            </a:r>
            <a:r>
              <a:rPr lang="en-US" sz="2400" dirty="0"/>
              <a:t> highlight how to connect with the greater cosmic essence and enhance spirituality. These eight-limbs include- Yama (moral conduct), </a:t>
            </a:r>
            <a:r>
              <a:rPr lang="en-US" sz="2400" dirty="0" err="1"/>
              <a:t>Niyama</a:t>
            </a:r>
            <a:r>
              <a:rPr lang="en-US" sz="2400" dirty="0"/>
              <a:t> (Disciple), Asana (right posture), Pranayama (effective breathing), </a:t>
            </a:r>
            <a:r>
              <a:rPr lang="en-US" sz="2400" dirty="0" err="1"/>
              <a:t>Pratyahara</a:t>
            </a:r>
            <a:r>
              <a:rPr lang="en-US" sz="2400" dirty="0"/>
              <a:t> (withdrawing the senses), </a:t>
            </a:r>
            <a:r>
              <a:rPr lang="en-US" sz="2400" dirty="0" err="1"/>
              <a:t>Dharana</a:t>
            </a:r>
            <a:r>
              <a:rPr lang="en-US" sz="2400" dirty="0"/>
              <a:t> (to concentrate on one object), </a:t>
            </a:r>
            <a:r>
              <a:rPr lang="en-US" sz="2400" dirty="0" err="1"/>
              <a:t>Dhyana</a:t>
            </a:r>
            <a:r>
              <a:rPr lang="en-US" sz="2400" dirty="0"/>
              <a:t> (meditation), Samadhi (supreme bliss/ salvation).</a:t>
            </a:r>
          </a:p>
        </p:txBody>
      </p:sp>
      <p:sp>
        <p:nvSpPr>
          <p:cNvPr id="6" name="Date Placeholder 5"/>
          <p:cNvSpPr>
            <a:spLocks noGrp="1"/>
          </p:cNvSpPr>
          <p:nvPr>
            <p:ph type="dt" sz="half" idx="10"/>
          </p:nvPr>
        </p:nvSpPr>
        <p:spPr/>
        <p:txBody>
          <a:bodyPr/>
          <a:lstStyle/>
          <a:p>
            <a:fld id="{5543B403-EDA8-4A79-BBE6-AEA315099E08}"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45</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dirty="0" smtClean="0"/>
              <a:t>                              </a:t>
            </a:r>
          </a:p>
          <a:p>
            <a:pPr algn="just"/>
            <a:endParaRPr lang="en-US" sz="2800" dirty="0" smtClean="0"/>
          </a:p>
          <a:p>
            <a:pPr algn="just"/>
            <a:r>
              <a:rPr lang="en-US" sz="2800" dirty="0" smtClean="0"/>
              <a:t>                  </a:t>
            </a:r>
            <a:r>
              <a:rPr lang="en-US" sz="2800" b="1" dirty="0" smtClean="0"/>
              <a:t>Six System Indian Philosophy</a:t>
            </a:r>
            <a:endParaRPr lang="en-US" sz="2800" dirty="0" smtClean="0"/>
          </a:p>
          <a:p>
            <a:pPr algn="just"/>
            <a:endParaRPr lang="en-US" sz="2800" dirty="0" smtClean="0"/>
          </a:p>
          <a:p>
            <a:pPr algn="just"/>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sz="2400" b="1" dirty="0" smtClean="0"/>
              <a:t>Purva Mimamsa</a:t>
            </a:r>
            <a:endParaRPr lang="en-US" sz="2400" dirty="0" smtClean="0"/>
          </a:p>
          <a:p>
            <a:pPr algn="just"/>
            <a:r>
              <a:rPr lang="en-US" sz="2400" dirty="0" smtClean="0"/>
              <a:t> </a:t>
            </a:r>
            <a:r>
              <a:rPr lang="en-US" dirty="0"/>
              <a:t>Sage </a:t>
            </a:r>
            <a:r>
              <a:rPr lang="en-US" dirty="0" err="1"/>
              <a:t>Jaimini</a:t>
            </a:r>
            <a:r>
              <a:rPr lang="en-US" dirty="0"/>
              <a:t> is associated with </a:t>
            </a:r>
            <a:r>
              <a:rPr lang="en-US" dirty="0" err="1"/>
              <a:t>Purva</a:t>
            </a:r>
            <a:r>
              <a:rPr lang="en-US" dirty="0"/>
              <a:t> </a:t>
            </a:r>
            <a:r>
              <a:rPr lang="en-US" dirty="0" err="1"/>
              <a:t>Mimamsa</a:t>
            </a:r>
            <a:r>
              <a:rPr lang="en-US" dirty="0"/>
              <a:t> who is considered to be the disciple of Sage Vyasa. This text provides details on why is it important to conduct Vedic rituals for a person to attain the last ultimate goal of life which is Moksha (usually understood as Salvation). This deals with Karma </a:t>
            </a:r>
            <a:r>
              <a:rPr lang="en-US" dirty="0" err="1"/>
              <a:t>Khanda</a:t>
            </a:r>
            <a:r>
              <a:rPr lang="en-US" dirty="0"/>
              <a:t> </a:t>
            </a:r>
            <a:r>
              <a:rPr lang="en-US" dirty="0" err="1"/>
              <a:t>i.e</a:t>
            </a:r>
            <a:r>
              <a:rPr lang="en-US" dirty="0"/>
              <a:t> action based compendium of knowledge in the </a:t>
            </a:r>
            <a:r>
              <a:rPr lang="en-US" dirty="0" smtClean="0"/>
              <a:t>Vedas.</a:t>
            </a:r>
            <a:endParaRPr lang="en-US" sz="2400" dirty="0"/>
          </a:p>
        </p:txBody>
      </p:sp>
      <p:sp>
        <p:nvSpPr>
          <p:cNvPr id="6" name="Date Placeholder 5"/>
          <p:cNvSpPr>
            <a:spLocks noGrp="1"/>
          </p:cNvSpPr>
          <p:nvPr>
            <p:ph type="dt" sz="half" idx="10"/>
          </p:nvPr>
        </p:nvSpPr>
        <p:spPr/>
        <p:txBody>
          <a:bodyPr/>
          <a:lstStyle/>
          <a:p>
            <a:fld id="{DF73983B-DC81-46CF-8F73-3D950C269356}"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46</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dirty="0" smtClean="0"/>
              <a:t>                      </a:t>
            </a:r>
            <a:r>
              <a:rPr lang="en-US" sz="2800" b="1" dirty="0" smtClean="0"/>
              <a:t>Six System Indian Philosophy</a:t>
            </a:r>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sz="2400" b="1" dirty="0" smtClean="0"/>
              <a:t>Uttara Mimamsa</a:t>
            </a:r>
            <a:endParaRPr lang="en-US" sz="2400" dirty="0" smtClean="0"/>
          </a:p>
          <a:p>
            <a:r>
              <a:rPr lang="en-US" sz="2400" dirty="0" smtClean="0"/>
              <a:t> </a:t>
            </a:r>
            <a:r>
              <a:rPr lang="en-US" sz="2400" dirty="0"/>
              <a:t>Vedanta, as the name suggests, is the last of the four forms of Vedas, the other three being </a:t>
            </a:r>
            <a:r>
              <a:rPr lang="en-US" sz="2400" dirty="0" err="1"/>
              <a:t>Brahmanas</a:t>
            </a:r>
            <a:r>
              <a:rPr lang="en-US" sz="2400" dirty="0"/>
              <a:t>, </a:t>
            </a:r>
            <a:r>
              <a:rPr lang="en-US" sz="2400" dirty="0" err="1"/>
              <a:t>Samhitas</a:t>
            </a:r>
            <a:r>
              <a:rPr lang="en-US" sz="2400" dirty="0"/>
              <a:t>, and </a:t>
            </a:r>
            <a:r>
              <a:rPr lang="en-US" sz="2400" dirty="0" err="1"/>
              <a:t>Aranyakas</a:t>
            </a:r>
            <a:r>
              <a:rPr lang="en-US" sz="2400" dirty="0"/>
              <a:t>. </a:t>
            </a:r>
            <a:r>
              <a:rPr lang="en-US" sz="2400" dirty="0" err="1"/>
              <a:t>Aranyakas</a:t>
            </a:r>
            <a:r>
              <a:rPr lang="en-US" sz="2400" dirty="0"/>
              <a:t> and Vedanta form the </a:t>
            </a:r>
            <a:r>
              <a:rPr lang="en-US" sz="2400" dirty="0" err="1"/>
              <a:t>Jnana</a:t>
            </a:r>
            <a:r>
              <a:rPr lang="en-US" sz="2400" dirty="0"/>
              <a:t> </a:t>
            </a:r>
            <a:r>
              <a:rPr lang="en-US" sz="2400" dirty="0" err="1"/>
              <a:t>Khada</a:t>
            </a:r>
            <a:r>
              <a:rPr lang="en-US" sz="2400" dirty="0"/>
              <a:t> viz. a more metaphysical element for a person to explore. The beginning of Vedanta is credited to Sage </a:t>
            </a:r>
            <a:r>
              <a:rPr lang="en-US" sz="2400" dirty="0" err="1"/>
              <a:t>Bhadrayana</a:t>
            </a:r>
            <a:r>
              <a:rPr lang="en-US" sz="2400" dirty="0"/>
              <a:t>.</a:t>
            </a:r>
          </a:p>
          <a:p>
            <a:r>
              <a:rPr lang="en-US" sz="2400" dirty="0"/>
              <a:t>Vedanta was analyzed and interpreted by many thinkers that deserve a definite mention -- </a:t>
            </a:r>
            <a:r>
              <a:rPr lang="en-US" sz="2400" dirty="0" err="1"/>
              <a:t>Advaita</a:t>
            </a:r>
            <a:r>
              <a:rPr lang="en-US" sz="2400" dirty="0"/>
              <a:t> Vedanta by Shankaracharya, </a:t>
            </a:r>
            <a:r>
              <a:rPr lang="en-US" sz="2400" dirty="0" err="1"/>
              <a:t>Vivishta</a:t>
            </a:r>
            <a:r>
              <a:rPr lang="en-US" sz="2400" dirty="0"/>
              <a:t> </a:t>
            </a:r>
            <a:r>
              <a:rPr lang="en-US" sz="2400" dirty="0" err="1"/>
              <a:t>Advaita</a:t>
            </a:r>
            <a:r>
              <a:rPr lang="en-US" sz="2400" dirty="0"/>
              <a:t> by </a:t>
            </a:r>
            <a:r>
              <a:rPr lang="en-US" sz="2400" dirty="0" err="1"/>
              <a:t>Ramanujacharya</a:t>
            </a:r>
            <a:r>
              <a:rPr lang="en-US" sz="2400" dirty="0"/>
              <a:t>, </a:t>
            </a:r>
            <a:r>
              <a:rPr lang="en-US" sz="2400" dirty="0" err="1"/>
              <a:t>Dvaita</a:t>
            </a:r>
            <a:r>
              <a:rPr lang="en-US" sz="2400" dirty="0"/>
              <a:t> Vedanta by </a:t>
            </a:r>
            <a:r>
              <a:rPr lang="en-US" sz="2400" dirty="0" err="1"/>
              <a:t>Madhavacharya</a:t>
            </a:r>
            <a:r>
              <a:rPr lang="en-US" sz="2400" dirty="0"/>
              <a:t>, </a:t>
            </a:r>
            <a:r>
              <a:rPr lang="en-US" sz="2400" dirty="0" err="1"/>
              <a:t>Dvaitadvaita</a:t>
            </a:r>
            <a:r>
              <a:rPr lang="en-US" sz="2400" dirty="0"/>
              <a:t> Vedanta by </a:t>
            </a:r>
            <a:r>
              <a:rPr lang="en-US" sz="2400" dirty="0" err="1"/>
              <a:t>Nimbaraka</a:t>
            </a:r>
            <a:r>
              <a:rPr lang="en-US" sz="2400" dirty="0"/>
              <a:t> and </a:t>
            </a:r>
            <a:r>
              <a:rPr lang="en-US" sz="2400" dirty="0" err="1"/>
              <a:t>Shuddha</a:t>
            </a:r>
            <a:r>
              <a:rPr lang="en-US" sz="2400" dirty="0"/>
              <a:t> </a:t>
            </a:r>
            <a:r>
              <a:rPr lang="en-US" sz="2400" dirty="0" err="1"/>
              <a:t>Advaita</a:t>
            </a:r>
            <a:r>
              <a:rPr lang="en-US" sz="2400" dirty="0"/>
              <a:t> Vedanta by </a:t>
            </a:r>
            <a:r>
              <a:rPr lang="en-US" sz="2400" dirty="0" err="1"/>
              <a:t>Vallabhacharya</a:t>
            </a:r>
            <a:r>
              <a:rPr lang="en-US" sz="2400" dirty="0"/>
              <a:t>.</a:t>
            </a:r>
          </a:p>
        </p:txBody>
      </p:sp>
      <p:sp>
        <p:nvSpPr>
          <p:cNvPr id="6" name="Date Placeholder 5"/>
          <p:cNvSpPr>
            <a:spLocks noGrp="1"/>
          </p:cNvSpPr>
          <p:nvPr>
            <p:ph type="dt" sz="half" idx="10"/>
          </p:nvPr>
        </p:nvSpPr>
        <p:spPr/>
        <p:txBody>
          <a:bodyPr/>
          <a:lstStyle/>
          <a:p>
            <a:fld id="{FDA017D4-E9E7-43AF-A43B-ABC2409D5CBD}"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47</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dirty="0" smtClean="0"/>
              <a:t>                        </a:t>
            </a:r>
            <a:r>
              <a:rPr lang="en-US" sz="2800" b="1" dirty="0" smtClean="0"/>
              <a:t>Six System Indian Philosophy</a:t>
            </a:r>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662E976A-B55C-4253-949C-64AA222ACB0A}"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48</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                              Shankaracharya</a:t>
            </a:r>
            <a:endParaRPr lang="en-US" sz="2800" b="1"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12" name="Content Placeholder 11"/>
          <p:cNvSpPr>
            <a:spLocks noGrp="1"/>
          </p:cNvSpPr>
          <p:nvPr>
            <p:ph idx="1"/>
          </p:nvPr>
        </p:nvSpPr>
        <p:spPr/>
        <p:txBody>
          <a:bodyPr>
            <a:normAutofit fontScale="77500" lnSpcReduction="20000"/>
          </a:bodyPr>
          <a:lstStyle/>
          <a:p>
            <a:r>
              <a:rPr lang="en-US" b="1" dirty="0"/>
              <a:t>Shankaracharya</a:t>
            </a:r>
            <a:r>
              <a:rPr lang="en-US" dirty="0"/>
              <a:t> (</a:t>
            </a:r>
            <a:r>
              <a:rPr lang="en-US" b="1" dirty="0" err="1"/>
              <a:t>शङ्कराचार्य</a:t>
            </a:r>
            <a:r>
              <a:rPr lang="en-US" dirty="0"/>
              <a:t>) (IAST: </a:t>
            </a:r>
            <a:r>
              <a:rPr lang="en-US" i="1" dirty="0" err="1"/>
              <a:t>Śaṅkarācārya</a:t>
            </a:r>
            <a:r>
              <a:rPr lang="en-US" dirty="0"/>
              <a:t>, </a:t>
            </a:r>
            <a:r>
              <a:rPr lang="en-US" dirty="0" err="1"/>
              <a:t>Shankara</a:t>
            </a:r>
            <a:r>
              <a:rPr lang="en-US" dirty="0"/>
              <a:t> </a:t>
            </a:r>
            <a:r>
              <a:rPr lang="en-US" dirty="0" err="1"/>
              <a:t>acharya</a:t>
            </a:r>
            <a:r>
              <a:rPr lang="en-US" dirty="0"/>
              <a:t>) is a commonly used title of heads of monasteries called </a:t>
            </a:r>
            <a:r>
              <a:rPr lang="en-US" dirty="0" err="1"/>
              <a:t>mathas</a:t>
            </a:r>
            <a:r>
              <a:rPr lang="en-US" dirty="0"/>
              <a:t> in the </a:t>
            </a:r>
            <a:r>
              <a:rPr lang="en-US" dirty="0" err="1"/>
              <a:t>Advaita</a:t>
            </a:r>
            <a:r>
              <a:rPr lang="en-US" dirty="0"/>
              <a:t> Vedanta tradition of Hindu Dharma. </a:t>
            </a:r>
            <a:endParaRPr lang="en-US" dirty="0" smtClean="0"/>
          </a:p>
          <a:p>
            <a:r>
              <a:rPr lang="en-US" dirty="0" smtClean="0"/>
              <a:t>The </a:t>
            </a:r>
            <a:r>
              <a:rPr lang="en-US" dirty="0"/>
              <a:t>title derives from Adi </a:t>
            </a:r>
            <a:r>
              <a:rPr lang="en-US" dirty="0" err="1"/>
              <a:t>Shankara</a:t>
            </a:r>
            <a:r>
              <a:rPr lang="en-US" dirty="0"/>
              <a:t>, teachers from the successive line of teachers dating back to him are known as </a:t>
            </a:r>
            <a:r>
              <a:rPr lang="en-US" dirty="0" err="1"/>
              <a:t>Shankaracharyas</a:t>
            </a:r>
            <a:r>
              <a:rPr lang="en-US" dirty="0" smtClean="0"/>
              <a:t>.</a:t>
            </a:r>
          </a:p>
          <a:p>
            <a:r>
              <a:rPr lang="en-US" u="sng" dirty="0"/>
              <a:t>Adi </a:t>
            </a:r>
            <a:r>
              <a:rPr lang="en-US" u="sng" dirty="0" err="1"/>
              <a:t>Shankara</a:t>
            </a:r>
            <a:r>
              <a:rPr lang="en-US" dirty="0"/>
              <a:t> set up four monasteries known as </a:t>
            </a:r>
            <a:r>
              <a:rPr lang="en-US" dirty="0" err="1"/>
              <a:t>Mathas</a:t>
            </a:r>
            <a:r>
              <a:rPr lang="en-US" dirty="0"/>
              <a:t> or </a:t>
            </a:r>
            <a:r>
              <a:rPr lang="en-US" dirty="0" err="1"/>
              <a:t>Peethams</a:t>
            </a:r>
            <a:r>
              <a:rPr lang="en-US" dirty="0"/>
              <a:t>, in the North, South, East and West of India, to be held by </a:t>
            </a:r>
            <a:r>
              <a:rPr lang="en-US" dirty="0" err="1"/>
              <a:t>realised</a:t>
            </a:r>
            <a:r>
              <a:rPr lang="en-US" dirty="0"/>
              <a:t> men who would be known as </a:t>
            </a:r>
            <a:r>
              <a:rPr lang="en-US" dirty="0" err="1"/>
              <a:t>Shankaracharyas</a:t>
            </a:r>
            <a:r>
              <a:rPr lang="en-US" dirty="0"/>
              <a:t>. They would take on the role of teacher and could be consulted by anyone with sincere queries of a spiritual nature</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5D0F7F06-7BDA-4481-9EF7-2BB9E0E4A30F}"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49</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                              Shankaracharya</a:t>
            </a:r>
            <a:endParaRPr lang="en-US" sz="2800" b="1"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pic>
        <p:nvPicPr>
          <p:cNvPr id="3" name="Content Placeholder 2"/>
          <p:cNvPicPr>
            <a:picLocks noGrp="1" noChangeAspect="1"/>
          </p:cNvPicPr>
          <p:nvPr>
            <p:ph idx="1"/>
          </p:nvPr>
        </p:nvPicPr>
        <p:blipFill>
          <a:blip r:embed="rId4"/>
          <a:stretch>
            <a:fillRect/>
          </a:stretch>
        </p:blipFill>
        <p:spPr>
          <a:xfrm>
            <a:off x="1447800" y="817163"/>
            <a:ext cx="6400800" cy="4020979"/>
          </a:xfrm>
          <a:prstGeom prst="rect">
            <a:avLst/>
          </a:prstGeom>
        </p:spPr>
      </p:pic>
      <p:sp>
        <p:nvSpPr>
          <p:cNvPr id="4" name="Rectangle 3"/>
          <p:cNvSpPr/>
          <p:nvPr/>
        </p:nvSpPr>
        <p:spPr>
          <a:xfrm>
            <a:off x="1371600" y="5042495"/>
            <a:ext cx="6400800" cy="923330"/>
          </a:xfrm>
          <a:prstGeom prst="rect">
            <a:avLst/>
          </a:prstGeom>
        </p:spPr>
        <p:txBody>
          <a:bodyPr wrap="square">
            <a:spAutoFit/>
          </a:bodyPr>
          <a:lstStyle/>
          <a:p>
            <a:r>
              <a:rPr lang="en-US" dirty="0">
                <a:solidFill>
                  <a:srgbClr val="202122"/>
                </a:solidFill>
                <a:latin typeface="Arial" panose="020B0604020202020204" pitchFamily="34" charset="0"/>
              </a:rPr>
              <a:t>Adi Shankaracharya with his four disciples - </a:t>
            </a:r>
            <a:r>
              <a:rPr lang="en-US" dirty="0" err="1">
                <a:solidFill>
                  <a:srgbClr val="202122"/>
                </a:solidFill>
                <a:latin typeface="Arial" panose="020B0604020202020204" pitchFamily="34" charset="0"/>
              </a:rPr>
              <a:t>Padmapadacharya</a:t>
            </a:r>
            <a:r>
              <a:rPr lang="en-US" dirty="0">
                <a:solidFill>
                  <a:srgbClr val="202122"/>
                </a:solidFill>
                <a:latin typeface="Arial" panose="020B0604020202020204" pitchFamily="34" charset="0"/>
              </a:rPr>
              <a:t>, </a:t>
            </a:r>
            <a:r>
              <a:rPr lang="en-US" dirty="0" err="1">
                <a:solidFill>
                  <a:srgbClr val="202122"/>
                </a:solidFill>
                <a:latin typeface="Arial" panose="020B0604020202020204" pitchFamily="34" charset="0"/>
              </a:rPr>
              <a:t>Sureshwaracharya</a:t>
            </a:r>
            <a:r>
              <a:rPr lang="en-US" dirty="0">
                <a:solidFill>
                  <a:srgbClr val="202122"/>
                </a:solidFill>
                <a:latin typeface="Arial" panose="020B0604020202020204" pitchFamily="34" charset="0"/>
              </a:rPr>
              <a:t>, </a:t>
            </a:r>
            <a:r>
              <a:rPr lang="en-US" dirty="0" err="1">
                <a:solidFill>
                  <a:srgbClr val="202122"/>
                </a:solidFill>
                <a:latin typeface="Arial" panose="020B0604020202020204" pitchFamily="34" charset="0"/>
              </a:rPr>
              <a:t>Hastamalakacharya</a:t>
            </a:r>
            <a:r>
              <a:rPr lang="en-US" dirty="0">
                <a:solidFill>
                  <a:srgbClr val="202122"/>
                </a:solidFill>
                <a:latin typeface="Arial" panose="020B0604020202020204" pitchFamily="34" charset="0"/>
              </a:rPr>
              <a:t> &amp; </a:t>
            </a:r>
            <a:r>
              <a:rPr lang="en-US" dirty="0" err="1">
                <a:solidFill>
                  <a:srgbClr val="202122"/>
                </a:solidFill>
                <a:latin typeface="Arial" panose="020B0604020202020204" pitchFamily="34" charset="0"/>
              </a:rPr>
              <a:t>Totakacharya</a:t>
            </a:r>
            <a:endParaRPr lang="en-US" dirty="0"/>
          </a:p>
        </p:txBody>
      </p:sp>
    </p:spTree>
    <p:extLst>
      <p:ext uri="{BB962C8B-B14F-4D97-AF65-F5344CB8AC3E}">
        <p14:creationId xmlns:p14="http://schemas.microsoft.com/office/powerpoint/2010/main" xmlns="" val="132144014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334000"/>
          </a:xfrm>
        </p:spPr>
        <p:txBody>
          <a:bodyPr>
            <a:noAutofit/>
          </a:bodyPr>
          <a:lstStyle/>
          <a:p>
            <a:r>
              <a:rPr lang="en-US" sz="2400" b="1" dirty="0" smtClean="0"/>
              <a:t>4 Major Mathas in 4 Regions of India</a:t>
            </a:r>
          </a:p>
          <a:p>
            <a:r>
              <a:rPr lang="en-US" sz="2400" dirty="0" smtClean="0"/>
              <a:t>Matha is a Sanskrit word and also refers to a monastery in Buddhism and Jainism. The matha tradition of Hinduism involved in education,support studies,culture and also the place where many new texts were composed. Adi Shankara has established four major mathas in different regions of India and list is as follows.</a:t>
            </a:r>
          </a:p>
          <a:p>
            <a:r>
              <a:rPr lang="en-US" sz="2400" dirty="0" smtClean="0"/>
              <a:t>Govardhana Matha, Odisha – Rig Veda</a:t>
            </a:r>
          </a:p>
          <a:p>
            <a:r>
              <a:rPr lang="en-US" sz="2400" dirty="0" smtClean="0"/>
              <a:t>Govardhana matha is located in the coastal city of Puri  in Odisha and associated with the Lord Jagannath temple. The Eastern part of the Indian subcontinent from Bihar to till Rajamundry and Orissa to Arunachal Pradesh,comes under this Math.</a:t>
            </a:r>
            <a:endParaRPr lang="en-US" sz="2400" b="1" dirty="0"/>
          </a:p>
        </p:txBody>
      </p:sp>
      <p:sp>
        <p:nvSpPr>
          <p:cNvPr id="6" name="Date Placeholder 5"/>
          <p:cNvSpPr>
            <a:spLocks noGrp="1"/>
          </p:cNvSpPr>
          <p:nvPr>
            <p:ph type="dt" sz="half" idx="10"/>
          </p:nvPr>
        </p:nvSpPr>
        <p:spPr/>
        <p:txBody>
          <a:bodyPr/>
          <a:lstStyle/>
          <a:p>
            <a:fld id="{DFD355B3-F24C-48C3-BF78-E3D0785952A6}"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50</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                              Shankaracharya</a:t>
            </a:r>
            <a:endParaRPr lang="en-US" sz="2800" b="1" dirty="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Tree>
    <p:extLst>
      <p:ext uri="{BB962C8B-B14F-4D97-AF65-F5344CB8AC3E}">
        <p14:creationId xmlns:p14="http://schemas.microsoft.com/office/powerpoint/2010/main" xmlns="" val="318266437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B0993DAF-8B47-4B17-85BB-925397FF15AA}"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51</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b="1" dirty="0" smtClean="0"/>
              <a:t>                               Shankaracharya</a:t>
            </a:r>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10" name="Content Placeholder 9"/>
          <p:cNvSpPr>
            <a:spLocks noGrp="1"/>
          </p:cNvSpPr>
          <p:nvPr>
            <p:ph idx="1"/>
          </p:nvPr>
        </p:nvSpPr>
        <p:spPr>
          <a:xfrm>
            <a:off x="457200" y="762000"/>
            <a:ext cx="8229600" cy="5364163"/>
          </a:xfrm>
        </p:spPr>
        <p:txBody>
          <a:bodyPr/>
          <a:lstStyle/>
          <a:p>
            <a:r>
              <a:rPr lang="en-US" sz="2400" b="1" dirty="0" smtClean="0"/>
              <a:t>Sharada Peetham, Karnataka – Yajur Veda:</a:t>
            </a:r>
          </a:p>
          <a:p>
            <a:r>
              <a:rPr lang="en-US" sz="2400" dirty="0" smtClean="0"/>
              <a:t>Sringeri Sharada Peetha was established by Adi Shankara on the banks of the Tunga River in Chikkamagalur district in Karnataka. Town of Sringeri is the site of the first Matha in India and one of the famous matha in Karnataka state along with Ramachandrapura Math.</a:t>
            </a:r>
          </a:p>
          <a:p>
            <a:r>
              <a:rPr lang="fi-FI" sz="2400" b="1" dirty="0" smtClean="0"/>
              <a:t>Dwaraka Pitha, Gujarat – Sama Veda</a:t>
            </a:r>
          </a:p>
          <a:p>
            <a:r>
              <a:rPr lang="en-US" sz="2400" dirty="0" smtClean="0"/>
              <a:t>Dwaraka Matha is also called as Saradha Matha is situated in the ancient coastal city of Dwaraka in Gujarat. It is one of the four cardinal mathas established by Adi Shankara and associated with Dwarakadheesh Temple.</a:t>
            </a:r>
            <a:r>
              <a:rPr lang="fi-FI" sz="2400" dirty="0" smtClean="0"/>
              <a:t/>
            </a:r>
            <a:br>
              <a:rPr lang="fi-FI" sz="2400" dirty="0" smtClean="0"/>
            </a:br>
            <a:endParaRPr lang="en-US" sz="2400" dirty="0" smtClean="0"/>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B66377B7-1857-4A5C-8C4C-0AB5D0537E23}"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52</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b="1" dirty="0" smtClean="0"/>
              <a:t>                               Shankaracharya</a:t>
            </a:r>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10" name="Content Placeholder 9"/>
          <p:cNvSpPr>
            <a:spLocks noGrp="1"/>
          </p:cNvSpPr>
          <p:nvPr>
            <p:ph idx="1"/>
          </p:nvPr>
        </p:nvSpPr>
        <p:spPr>
          <a:xfrm>
            <a:off x="457200" y="762000"/>
            <a:ext cx="8229600" cy="5364163"/>
          </a:xfrm>
        </p:spPr>
        <p:txBody>
          <a:bodyPr/>
          <a:lstStyle/>
          <a:p>
            <a:r>
              <a:rPr lang="en-US" sz="2400" b="1" dirty="0" err="1"/>
              <a:t>Jyotir</a:t>
            </a:r>
            <a:r>
              <a:rPr lang="en-US" sz="2400" b="1" dirty="0"/>
              <a:t> Math, </a:t>
            </a:r>
            <a:r>
              <a:rPr lang="en-US" sz="2400" b="1" dirty="0" err="1"/>
              <a:t>Uttarakhand</a:t>
            </a:r>
            <a:r>
              <a:rPr lang="en-US" sz="2400" b="1" dirty="0"/>
              <a:t> – </a:t>
            </a:r>
            <a:r>
              <a:rPr lang="en-US" sz="2400" b="1" dirty="0" err="1"/>
              <a:t>Atharva</a:t>
            </a:r>
            <a:r>
              <a:rPr lang="en-US" sz="2400" b="1" dirty="0"/>
              <a:t> Veda</a:t>
            </a:r>
          </a:p>
          <a:p>
            <a:r>
              <a:rPr lang="en-US" sz="2400" dirty="0" err="1"/>
              <a:t>Jyotir</a:t>
            </a:r>
            <a:r>
              <a:rPr lang="en-US" sz="2400" dirty="0"/>
              <a:t> Math or </a:t>
            </a:r>
            <a:r>
              <a:rPr lang="en-US" sz="2400" dirty="0" err="1"/>
              <a:t>Jyotir</a:t>
            </a:r>
            <a:r>
              <a:rPr lang="en-US" sz="2400" dirty="0"/>
              <a:t> </a:t>
            </a:r>
            <a:r>
              <a:rPr lang="en-US" sz="2400" dirty="0" err="1"/>
              <a:t>Pitha</a:t>
            </a:r>
            <a:r>
              <a:rPr lang="en-US" sz="2400" dirty="0"/>
              <a:t> is located in a city with same name </a:t>
            </a:r>
            <a:r>
              <a:rPr lang="en-US" sz="2400" dirty="0" err="1"/>
              <a:t>Jyotirmath</a:t>
            </a:r>
            <a:r>
              <a:rPr lang="en-US" sz="2400" dirty="0"/>
              <a:t> in </a:t>
            </a:r>
            <a:r>
              <a:rPr lang="en-US" sz="2400" dirty="0" err="1"/>
              <a:t>Chamoli</a:t>
            </a:r>
            <a:r>
              <a:rPr lang="en-US" sz="2400" dirty="0"/>
              <a:t> district of </a:t>
            </a:r>
            <a:r>
              <a:rPr lang="en-US" sz="2400" dirty="0" err="1"/>
              <a:t>Uttarakhand</a:t>
            </a:r>
            <a:r>
              <a:rPr lang="en-US" sz="2400" dirty="0"/>
              <a:t>. </a:t>
            </a:r>
            <a:r>
              <a:rPr lang="en-US" sz="2400" dirty="0" err="1"/>
              <a:t>Jyotirmath</a:t>
            </a:r>
            <a:r>
              <a:rPr lang="en-US" sz="2400" dirty="0"/>
              <a:t> is gateway to Himalayan </a:t>
            </a:r>
            <a:r>
              <a:rPr lang="en-US" sz="2400" dirty="0" err="1"/>
              <a:t>mountains,trekking</a:t>
            </a:r>
            <a:r>
              <a:rPr lang="en-US" sz="2400" dirty="0"/>
              <a:t> and pilgrim </a:t>
            </a:r>
            <a:r>
              <a:rPr lang="en-US" sz="2400" dirty="0" err="1"/>
              <a:t>centres</a:t>
            </a:r>
            <a:r>
              <a:rPr lang="en-US" sz="2400" dirty="0"/>
              <a:t> like </a:t>
            </a:r>
            <a:r>
              <a:rPr lang="en-US" sz="2400" dirty="0" err="1"/>
              <a:t>Badrinath</a:t>
            </a:r>
            <a:r>
              <a:rPr lang="en-US" sz="2400" dirty="0"/>
              <a:t> and </a:t>
            </a:r>
            <a:r>
              <a:rPr lang="en-US" sz="2400" dirty="0" err="1"/>
              <a:t>Auli</a:t>
            </a:r>
            <a:r>
              <a:rPr lang="en-US" sz="2400" dirty="0"/>
              <a:t> Ropeway, one of the longest ropeway in India.</a:t>
            </a:r>
          </a:p>
          <a:p>
            <a:endParaRPr lang="en-US" dirty="0"/>
          </a:p>
        </p:txBody>
      </p:sp>
    </p:spTree>
    <p:extLst>
      <p:ext uri="{BB962C8B-B14F-4D97-AF65-F5344CB8AC3E}">
        <p14:creationId xmlns:p14="http://schemas.microsoft.com/office/powerpoint/2010/main" xmlns="" val="31328505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5A11AF3C-24EE-4AB0-952D-001CF7197553}" type="datetime1">
              <a:rPr lang="en-US" smtClean="0"/>
              <a:pPr/>
              <a:t>3/26/2022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53</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just"/>
            <a:r>
              <a:rPr lang="en-US" sz="2800" b="1" dirty="0" smtClean="0"/>
              <a:t>                               Shankaracharya</a:t>
            </a:r>
            <a:endParaRPr lang="en-US" sz="2800" dirty="0" smtClean="0"/>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1" name="Footer Placeholder 9"/>
          <p:cNvSpPr>
            <a:spLocks noGrp="1"/>
          </p:cNvSpPr>
          <p:nvPr>
            <p:ph type="ftr" sz="quarter" idx="11"/>
          </p:nvPr>
        </p:nvSpPr>
        <p:spPr>
          <a:xfrm>
            <a:off x="1905000" y="6096000"/>
            <a:ext cx="6477000" cy="609600"/>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graphicFrame>
        <p:nvGraphicFramePr>
          <p:cNvPr id="2" name="Table 1"/>
          <p:cNvGraphicFramePr>
            <a:graphicFrameLocks noGrp="1"/>
          </p:cNvGraphicFramePr>
          <p:nvPr>
            <p:extLst>
              <p:ext uri="{D42A27DB-BD31-4B8C-83A1-F6EECF244321}">
                <p14:modId xmlns:p14="http://schemas.microsoft.com/office/powerpoint/2010/main" xmlns="" val="2858002820"/>
              </p:ext>
            </p:extLst>
          </p:nvPr>
        </p:nvGraphicFramePr>
        <p:xfrm>
          <a:off x="457200" y="1133406"/>
          <a:ext cx="8686800" cy="4962594"/>
        </p:xfrm>
        <a:graphic>
          <a:graphicData uri="http://schemas.openxmlformats.org/drawingml/2006/table">
            <a:tbl>
              <a:tblPr/>
              <a:tblGrid>
                <a:gridCol w="1447800">
                  <a:extLst>
                    <a:ext uri="{9D8B030D-6E8A-4147-A177-3AD203B41FA5}">
                      <a16:colId xmlns:a16="http://schemas.microsoft.com/office/drawing/2014/main" xmlns="" val="1941945608"/>
                    </a:ext>
                  </a:extLst>
                </a:gridCol>
                <a:gridCol w="1447800">
                  <a:extLst>
                    <a:ext uri="{9D8B030D-6E8A-4147-A177-3AD203B41FA5}">
                      <a16:colId xmlns:a16="http://schemas.microsoft.com/office/drawing/2014/main" xmlns="" val="426654924"/>
                    </a:ext>
                  </a:extLst>
                </a:gridCol>
                <a:gridCol w="1447800">
                  <a:extLst>
                    <a:ext uri="{9D8B030D-6E8A-4147-A177-3AD203B41FA5}">
                      <a16:colId xmlns:a16="http://schemas.microsoft.com/office/drawing/2014/main" xmlns="" val="2702624191"/>
                    </a:ext>
                  </a:extLst>
                </a:gridCol>
                <a:gridCol w="1447800">
                  <a:extLst>
                    <a:ext uri="{9D8B030D-6E8A-4147-A177-3AD203B41FA5}">
                      <a16:colId xmlns:a16="http://schemas.microsoft.com/office/drawing/2014/main" xmlns="" val="630225219"/>
                    </a:ext>
                  </a:extLst>
                </a:gridCol>
                <a:gridCol w="1447800">
                  <a:extLst>
                    <a:ext uri="{9D8B030D-6E8A-4147-A177-3AD203B41FA5}">
                      <a16:colId xmlns:a16="http://schemas.microsoft.com/office/drawing/2014/main" xmlns="" val="2117982267"/>
                    </a:ext>
                  </a:extLst>
                </a:gridCol>
                <a:gridCol w="1447800">
                  <a:extLst>
                    <a:ext uri="{9D8B030D-6E8A-4147-A177-3AD203B41FA5}">
                      <a16:colId xmlns:a16="http://schemas.microsoft.com/office/drawing/2014/main" xmlns="" val="889706586"/>
                    </a:ext>
                  </a:extLst>
                </a:gridCol>
              </a:tblGrid>
              <a:tr h="510855">
                <a:tc>
                  <a:txBody>
                    <a:bodyPr/>
                    <a:lstStyle/>
                    <a:p>
                      <a:pPr algn="ctr"/>
                      <a:r>
                        <a:rPr lang="en-US" sz="1300" u="none" strike="noStrike" dirty="0" err="1">
                          <a:solidFill>
                            <a:srgbClr val="0645AD"/>
                          </a:solidFill>
                          <a:effectLst/>
                          <a:hlinkClick r:id="rId4" tooltip="Guru-shishya tradition"/>
                        </a:rPr>
                        <a:t>Shishya</a:t>
                      </a:r>
                      <a:r>
                        <a:rPr lang="en-US" sz="1300" dirty="0">
                          <a:effectLst/>
                        </a:rPr>
                        <a:t/>
                      </a:r>
                      <a:br>
                        <a:rPr lang="en-US" sz="1300" dirty="0">
                          <a:effectLst/>
                        </a:rPr>
                      </a:br>
                      <a:r>
                        <a:rPr lang="en-US" sz="1300" dirty="0">
                          <a:effectLst/>
                        </a:rPr>
                        <a:t>(lineage)</a:t>
                      </a: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300" u="none" strike="noStrike">
                          <a:solidFill>
                            <a:srgbClr val="0645AD"/>
                          </a:solidFill>
                          <a:effectLst/>
                          <a:hlinkClick r:id="rId5" tooltip="Relative direction"/>
                        </a:rPr>
                        <a:t>Direction</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300" i="1" u="none" strike="noStrike">
                          <a:solidFill>
                            <a:srgbClr val="0645AD"/>
                          </a:solidFill>
                          <a:effectLst/>
                          <a:hlinkClick r:id="rId6" tooltip="Matha"/>
                        </a:rPr>
                        <a:t>Maṭha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300" i="1" u="none" strike="noStrike">
                          <a:solidFill>
                            <a:srgbClr val="0645AD"/>
                          </a:solidFill>
                          <a:effectLst/>
                          <a:hlinkClick r:id="rId7" tooltip="Mahāvākya"/>
                        </a:rPr>
                        <a:t>Mahāvākya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300" u="none" strike="noStrike">
                          <a:solidFill>
                            <a:srgbClr val="0645AD"/>
                          </a:solidFill>
                          <a:effectLst/>
                          <a:hlinkClick r:id="rId8" tooltip="Veda"/>
                        </a:rPr>
                        <a:t>Veda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300" i="1" u="none" strike="noStrike">
                          <a:solidFill>
                            <a:srgbClr val="0645AD"/>
                          </a:solidFill>
                          <a:effectLst/>
                          <a:hlinkClick r:id="rId9" tooltip="Sampradaya"/>
                        </a:rPr>
                        <a:t>Sampradaya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xmlns="" val="3288208206"/>
                  </a:ext>
                </a:extLst>
              </a:tr>
              <a:tr h="1386607">
                <a:tc>
                  <a:txBody>
                    <a:bodyPr/>
                    <a:lstStyle/>
                    <a:p>
                      <a:r>
                        <a:rPr lang="en-US" sz="1300" i="1" u="none" strike="noStrike">
                          <a:solidFill>
                            <a:srgbClr val="0645AD"/>
                          </a:solidFill>
                          <a:effectLst/>
                          <a:hlinkClick r:id="rId10" tooltip="Padmapāda"/>
                        </a:rPr>
                        <a:t>Padmapāda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sz="1300" dirty="0">
                          <a:effectLst/>
                        </a:rPr>
                        <a:t>East</a:t>
                      </a: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r>
                        <a:rPr lang="en-US" sz="1300" i="1" u="none" strike="noStrike" dirty="0" err="1">
                          <a:solidFill>
                            <a:srgbClr val="0645AD"/>
                          </a:solidFill>
                          <a:effectLst/>
                          <a:hlinkClick r:id="rId11" tooltip="Govardhan Math"/>
                        </a:rPr>
                        <a:t>Puri</a:t>
                      </a:r>
                      <a:r>
                        <a:rPr lang="en-US" sz="1300" i="1" u="none" strike="noStrike" dirty="0">
                          <a:solidFill>
                            <a:srgbClr val="0645AD"/>
                          </a:solidFill>
                          <a:effectLst/>
                          <a:hlinkClick r:id="rId11" tooltip="Govardhan Math"/>
                        </a:rPr>
                        <a:t> </a:t>
                      </a:r>
                      <a:r>
                        <a:rPr lang="en-US" sz="1300" i="1" u="none" strike="noStrike" dirty="0" err="1">
                          <a:solidFill>
                            <a:srgbClr val="0645AD"/>
                          </a:solidFill>
                          <a:effectLst/>
                          <a:hlinkClick r:id="rId11" tooltip="Govardhan Math"/>
                        </a:rPr>
                        <a:t>Govardhanmaṭha</a:t>
                      </a:r>
                      <a:r>
                        <a:rPr lang="en-US" sz="1300" i="1" u="none" strike="noStrike" dirty="0">
                          <a:solidFill>
                            <a:srgbClr val="0645AD"/>
                          </a:solidFill>
                          <a:effectLst/>
                          <a:hlinkClick r:id="rId11" tooltip="Govardhan Math"/>
                        </a:rPr>
                        <a:t> </a:t>
                      </a:r>
                      <a:r>
                        <a:rPr lang="en-US" sz="1300" i="1" u="none" strike="noStrike" dirty="0" err="1">
                          <a:solidFill>
                            <a:srgbClr val="0645AD"/>
                          </a:solidFill>
                          <a:effectLst/>
                          <a:hlinkClick r:id="rId11" tooltip="Govardhan Math"/>
                        </a:rPr>
                        <a:t>Pīṭhaṃ</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i="1" dirty="0" err="1">
                          <a:effectLst/>
                        </a:rPr>
                        <a:t>Prajñānam</a:t>
                      </a:r>
                      <a:r>
                        <a:rPr lang="en-US" sz="1300" i="1" dirty="0">
                          <a:effectLst/>
                        </a:rPr>
                        <a:t> brahma (Consciousness is supreme being)</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dirty="0">
                          <a:solidFill>
                            <a:srgbClr val="0645AD"/>
                          </a:solidFill>
                          <a:effectLst/>
                          <a:hlinkClick r:id="rId12" tooltip="Rig Veda"/>
                        </a:rPr>
                        <a:t>Rig Veda</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Bhogavala</a:t>
                      </a: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421493456"/>
                  </a:ext>
                </a:extLst>
              </a:tr>
              <a:tr h="1167669">
                <a:tc>
                  <a:txBody>
                    <a:bodyPr/>
                    <a:lstStyle/>
                    <a:p>
                      <a:r>
                        <a:rPr lang="en-US" sz="1300" i="1" u="none" strike="noStrike">
                          <a:solidFill>
                            <a:srgbClr val="0645AD"/>
                          </a:solidFill>
                          <a:effectLst/>
                          <a:hlinkClick r:id="rId13" tooltip="Sureśvara"/>
                        </a:rPr>
                        <a:t>Sureśvara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sz="1300">
                          <a:effectLst/>
                        </a:rPr>
                        <a:t>South</a:t>
                      </a: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r>
                        <a:rPr lang="en-US" sz="1300" i="1" u="none" strike="noStrike" dirty="0" err="1">
                          <a:solidFill>
                            <a:srgbClr val="0645AD"/>
                          </a:solidFill>
                          <a:effectLst/>
                          <a:hlinkClick r:id="rId14" tooltip="Sringeri Sharada Peetham"/>
                        </a:rPr>
                        <a:t>Sringeri</a:t>
                      </a:r>
                      <a:r>
                        <a:rPr lang="en-US" sz="1300" i="1" u="none" strike="noStrike" dirty="0">
                          <a:solidFill>
                            <a:srgbClr val="0645AD"/>
                          </a:solidFill>
                          <a:effectLst/>
                          <a:hlinkClick r:id="rId14" tooltip="Sringeri Sharada Peetham"/>
                        </a:rPr>
                        <a:t> </a:t>
                      </a:r>
                      <a:r>
                        <a:rPr lang="en-US" sz="1300" i="1" u="none" strike="noStrike" dirty="0" err="1">
                          <a:solidFill>
                            <a:srgbClr val="0645AD"/>
                          </a:solidFill>
                          <a:effectLst/>
                          <a:hlinkClick r:id="rId14" tooltip="Sringeri Sharada Peetham"/>
                        </a:rPr>
                        <a:t>Śārada</a:t>
                      </a:r>
                      <a:r>
                        <a:rPr lang="en-US" sz="1300" i="1" u="none" strike="noStrike" dirty="0">
                          <a:solidFill>
                            <a:srgbClr val="0645AD"/>
                          </a:solidFill>
                          <a:effectLst/>
                          <a:hlinkClick r:id="rId14" tooltip="Sringeri Sharada Peetham"/>
                        </a:rPr>
                        <a:t> </a:t>
                      </a:r>
                      <a:r>
                        <a:rPr lang="en-US" sz="1300" i="1" u="none" strike="noStrike" dirty="0" err="1">
                          <a:solidFill>
                            <a:srgbClr val="0645AD"/>
                          </a:solidFill>
                          <a:effectLst/>
                          <a:hlinkClick r:id="rId14" tooltip="Sringeri Sharada Peetham"/>
                        </a:rPr>
                        <a:t>Pīṭhaṃ</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i="1">
                          <a:effectLst/>
                        </a:rPr>
                        <a:t>Aham brahmāsmi (I am the supreme being)</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0645AD"/>
                          </a:solidFill>
                          <a:effectLst/>
                          <a:hlinkClick r:id="rId15" tooltip="Yajur Veda"/>
                        </a:rPr>
                        <a:t>Yajur Veda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i="1">
                          <a:effectLst/>
                        </a:rPr>
                        <a:t>Bhūrivala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3582377178"/>
                  </a:ext>
                </a:extLst>
              </a:tr>
              <a:tr h="729794">
                <a:tc>
                  <a:txBody>
                    <a:bodyPr/>
                    <a:lstStyle/>
                    <a:p>
                      <a:r>
                        <a:rPr lang="en-US" sz="1300" i="1" u="none" strike="noStrike">
                          <a:solidFill>
                            <a:srgbClr val="0645AD"/>
                          </a:solidFill>
                          <a:effectLst/>
                          <a:hlinkClick r:id="rId16" tooltip="Hastamalakacharya"/>
                        </a:rPr>
                        <a:t>Hastāmalakācārya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sz="1300">
                          <a:effectLst/>
                        </a:rPr>
                        <a:t>West</a:t>
                      </a: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r>
                        <a:rPr lang="en-US" sz="1300" i="1" u="none" strike="noStrike" dirty="0" err="1">
                          <a:solidFill>
                            <a:srgbClr val="0645AD"/>
                          </a:solidFill>
                          <a:effectLst/>
                          <a:hlinkClick r:id="rId17" tooltip="Dwarka Sharada Peetham"/>
                        </a:rPr>
                        <a:t>Dvāraka</a:t>
                      </a:r>
                      <a:r>
                        <a:rPr lang="en-US" sz="1300" i="1" u="none" strike="noStrike" dirty="0">
                          <a:solidFill>
                            <a:srgbClr val="0645AD"/>
                          </a:solidFill>
                          <a:effectLst/>
                          <a:hlinkClick r:id="rId17" tooltip="Dwarka Sharada Peetham"/>
                        </a:rPr>
                        <a:t> </a:t>
                      </a:r>
                      <a:r>
                        <a:rPr lang="en-US" sz="1300" i="1" u="none" strike="noStrike" dirty="0" err="1">
                          <a:solidFill>
                            <a:srgbClr val="0645AD"/>
                          </a:solidFill>
                          <a:effectLst/>
                          <a:hlinkClick r:id="rId17" tooltip="Dwarka Sharada Peetham"/>
                        </a:rPr>
                        <a:t>Kalika</a:t>
                      </a:r>
                      <a:r>
                        <a:rPr lang="en-US" sz="1300" i="1" u="none" strike="noStrike" dirty="0">
                          <a:solidFill>
                            <a:srgbClr val="0645AD"/>
                          </a:solidFill>
                          <a:effectLst/>
                          <a:hlinkClick r:id="rId17" tooltip="Dwarka Sharada Peetham"/>
                        </a:rPr>
                        <a:t> </a:t>
                      </a:r>
                      <a:r>
                        <a:rPr lang="en-US" sz="1300" i="1" u="none" strike="noStrike" dirty="0" err="1">
                          <a:solidFill>
                            <a:srgbClr val="0645AD"/>
                          </a:solidFill>
                          <a:effectLst/>
                          <a:hlinkClick r:id="rId17" tooltip="Dwarka Sharada Peetham"/>
                        </a:rPr>
                        <a:t>Pīṭhaṃ</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i="1" dirty="0" err="1">
                          <a:effectLst/>
                        </a:rPr>
                        <a:t>Tattvamasi</a:t>
                      </a:r>
                      <a:r>
                        <a:rPr lang="en-US" sz="1300" i="1" dirty="0">
                          <a:effectLst/>
                        </a:rPr>
                        <a:t> (That thou art)</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0645AD"/>
                          </a:solidFill>
                          <a:effectLst/>
                          <a:hlinkClick r:id="rId18" tooltip="Sama Veda"/>
                        </a:rPr>
                        <a:t>Sama Veda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Kitavala</a:t>
                      </a: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3302589133"/>
                  </a:ext>
                </a:extLst>
              </a:tr>
              <a:tr h="1167669">
                <a:tc>
                  <a:txBody>
                    <a:bodyPr/>
                    <a:lstStyle/>
                    <a:p>
                      <a:r>
                        <a:rPr lang="en-US" sz="1300" i="1" u="none" strike="noStrike">
                          <a:solidFill>
                            <a:srgbClr val="0645AD"/>
                          </a:solidFill>
                          <a:effectLst/>
                          <a:hlinkClick r:id="rId19" tooltip="Totakacharya"/>
                        </a:rPr>
                        <a:t>Toṭakācārya</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n-US" sz="1300">
                          <a:effectLst/>
                        </a:rPr>
                        <a:t>North</a:t>
                      </a: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r>
                        <a:rPr lang="en-US" sz="1300" i="1" u="none" strike="noStrike">
                          <a:solidFill>
                            <a:srgbClr val="0645AD"/>
                          </a:solidFill>
                          <a:effectLst/>
                          <a:hlinkClick r:id="rId20" tooltip="Jyotir Math"/>
                        </a:rPr>
                        <a:t>Badari Jyotirmaṭha Pīṭhaṃ</a:t>
                      </a:r>
                      <a:endParaRPr lang="en-US" sz="130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i="1" dirty="0" err="1">
                          <a:effectLst/>
                        </a:rPr>
                        <a:t>Ayamātmānam</a:t>
                      </a:r>
                      <a:r>
                        <a:rPr lang="en-US" sz="1300" i="1" dirty="0">
                          <a:effectLst/>
                        </a:rPr>
                        <a:t> brahma (This Atman is supreme being)</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dirty="0" err="1">
                          <a:solidFill>
                            <a:srgbClr val="0645AD"/>
                          </a:solidFill>
                          <a:effectLst/>
                          <a:hlinkClick r:id="rId21" tooltip="Atharva Veda"/>
                        </a:rPr>
                        <a:t>Atharva</a:t>
                      </a:r>
                      <a:r>
                        <a:rPr lang="en-US" sz="1300" u="none" strike="noStrike" dirty="0">
                          <a:solidFill>
                            <a:srgbClr val="0645AD"/>
                          </a:solidFill>
                          <a:effectLst/>
                          <a:hlinkClick r:id="rId21" tooltip="Atharva Veda"/>
                        </a:rPr>
                        <a:t> Veda</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dirty="0" err="1">
                          <a:effectLst/>
                        </a:rPr>
                        <a:t>Nandavala</a:t>
                      </a:r>
                      <a:endParaRPr lang="en-US" sz="1300" dirty="0">
                        <a:effectLst/>
                      </a:endParaRPr>
                    </a:p>
                  </a:txBody>
                  <a:tcPr marL="66558" marR="66558" marT="33279" marB="3327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657002730"/>
                  </a:ext>
                </a:extLst>
              </a:tr>
            </a:tbl>
          </a:graphicData>
        </a:graphic>
      </p:graphicFrame>
    </p:spTree>
    <p:extLst>
      <p:ext uri="{BB962C8B-B14F-4D97-AF65-F5344CB8AC3E}">
        <p14:creationId xmlns:p14="http://schemas.microsoft.com/office/powerpoint/2010/main" xmlns="" val="148853543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400" dirty="0" smtClean="0">
                <a:latin typeface="Times New Roman" pitchFamily="18" charset="0"/>
                <a:cs typeface="Times New Roman" pitchFamily="18" charset="0"/>
              </a:rPr>
              <a:t>We have covered the following  topics in this lecture:</a:t>
            </a:r>
          </a:p>
          <a:p>
            <a:pPr algn="just"/>
            <a:r>
              <a:rPr lang="en-US" sz="2400" dirty="0" smtClean="0">
                <a:cs typeface="Times New Roman" pitchFamily="18" charset="0"/>
              </a:rPr>
              <a:t>Introduction to </a:t>
            </a:r>
            <a:r>
              <a:rPr lang="en-US" sz="2400" dirty="0" smtClean="0"/>
              <a:t>Pre-Vedic and Vedic Religion </a:t>
            </a:r>
            <a:endParaRPr lang="en-US" sz="2400" dirty="0" smtClean="0">
              <a:cs typeface="Times New Roman" pitchFamily="18" charset="0"/>
            </a:endParaRPr>
          </a:p>
          <a:p>
            <a:pPr algn="just"/>
            <a:r>
              <a:rPr lang="en-US" sz="2400" dirty="0" smtClean="0">
                <a:cs typeface="Times New Roman" pitchFamily="18" charset="0"/>
              </a:rPr>
              <a:t>Introduction to </a:t>
            </a:r>
            <a:r>
              <a:rPr lang="en-US" sz="2400" dirty="0" smtClean="0"/>
              <a:t>Buddhism</a:t>
            </a:r>
            <a:endParaRPr lang="en-US" sz="2400" dirty="0" smtClean="0">
              <a:cs typeface="Times New Roman" pitchFamily="18" charset="0"/>
            </a:endParaRPr>
          </a:p>
          <a:p>
            <a:r>
              <a:rPr lang="en-US" sz="2400" dirty="0" smtClean="0">
                <a:cs typeface="Times New Roman" pitchFamily="18" charset="0"/>
              </a:rPr>
              <a:t>Introduction to </a:t>
            </a:r>
            <a:r>
              <a:rPr lang="en-US" sz="2400" dirty="0" smtClean="0"/>
              <a:t>Jainism</a:t>
            </a:r>
          </a:p>
          <a:p>
            <a:r>
              <a:rPr lang="en-US" sz="2400" dirty="0" smtClean="0"/>
              <a:t>Shankaracharya</a:t>
            </a:r>
            <a:endParaRPr lang="en-US" sz="2400" dirty="0"/>
          </a:p>
        </p:txBody>
      </p:sp>
      <p:sp>
        <p:nvSpPr>
          <p:cNvPr id="4" name="Date Placeholder 3"/>
          <p:cNvSpPr>
            <a:spLocks noGrp="1"/>
          </p:cNvSpPr>
          <p:nvPr>
            <p:ph type="dt" sz="half" idx="10"/>
          </p:nvPr>
        </p:nvSpPr>
        <p:spPr/>
        <p:txBody>
          <a:bodyPr/>
          <a:lstStyle/>
          <a:p>
            <a:fld id="{0E772FFB-5C2D-4EE4-A551-9EDE29C94E03}" type="datetime1">
              <a:rPr lang="en-US" smtClean="0"/>
              <a:pPr/>
              <a:t>3/26/2022</a:t>
            </a:fld>
            <a:endParaRPr lang="en-US" dirty="0"/>
          </a:p>
        </p:txBody>
      </p:sp>
      <p:sp>
        <p:nvSpPr>
          <p:cNvPr id="5" name="Footer Placeholder 4"/>
          <p:cNvSpPr>
            <a:spLocks noGrp="1"/>
          </p:cNvSpPr>
          <p:nvPr>
            <p:ph type="ftr" sz="quarter" idx="11"/>
          </p:nvPr>
        </p:nvSpPr>
        <p:spPr>
          <a:xfrm>
            <a:off x="14478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Summary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800" dirty="0" smtClean="0">
                <a:cs typeface="Times New Roman" pitchFamily="18" charset="0"/>
              </a:rPr>
              <a:t>Introduction to </a:t>
            </a:r>
            <a:r>
              <a:rPr lang="en-US" sz="2800" dirty="0" smtClean="0"/>
              <a:t>Pre-Vedic and Vedic Religion </a:t>
            </a:r>
            <a:endParaRPr lang="en-US" sz="2800" dirty="0" smtClean="0">
              <a:cs typeface="Times New Roman" pitchFamily="18" charset="0"/>
            </a:endParaRPr>
          </a:p>
          <a:p>
            <a:pPr algn="just"/>
            <a:r>
              <a:rPr lang="en-US" sz="2800" dirty="0" smtClean="0">
                <a:cs typeface="Times New Roman" pitchFamily="18" charset="0"/>
              </a:rPr>
              <a:t>Introduction to </a:t>
            </a:r>
            <a:r>
              <a:rPr lang="en-US" sz="2800" dirty="0" smtClean="0"/>
              <a:t>Buddhism</a:t>
            </a:r>
            <a:endParaRPr lang="en-US" sz="2800" dirty="0" smtClean="0">
              <a:cs typeface="Times New Roman" pitchFamily="18" charset="0"/>
            </a:endParaRPr>
          </a:p>
          <a:p>
            <a:r>
              <a:rPr lang="en-US" sz="2800" dirty="0" smtClean="0">
                <a:cs typeface="Times New Roman" pitchFamily="18" charset="0"/>
              </a:rPr>
              <a:t>Introduction to </a:t>
            </a:r>
            <a:r>
              <a:rPr lang="en-US" sz="2800" dirty="0" smtClean="0"/>
              <a:t>Jainism</a:t>
            </a:r>
          </a:p>
          <a:p>
            <a:r>
              <a:rPr lang="en-US" sz="2800" dirty="0" smtClean="0"/>
              <a:t>Shankaracharya</a:t>
            </a:r>
            <a:endParaRPr lang="en-US" sz="2800" dirty="0"/>
          </a:p>
        </p:txBody>
      </p:sp>
      <p:sp>
        <p:nvSpPr>
          <p:cNvPr id="4" name="Date Placeholder 3"/>
          <p:cNvSpPr>
            <a:spLocks noGrp="1"/>
          </p:cNvSpPr>
          <p:nvPr>
            <p:ph type="dt" sz="half" idx="10"/>
          </p:nvPr>
        </p:nvSpPr>
        <p:spPr/>
        <p:txBody>
          <a:bodyPr/>
          <a:lstStyle/>
          <a:p>
            <a:fld id="{C9C4B436-56D6-4A74-AA10-DDB46D206CB1}" type="datetime1">
              <a:rPr lang="en-US" smtClean="0"/>
              <a:pPr/>
              <a:t>3/26/2022</a:t>
            </a:fld>
            <a:endParaRPr lang="en-US" dirty="0"/>
          </a:p>
        </p:txBody>
      </p:sp>
      <p:sp>
        <p:nvSpPr>
          <p:cNvPr id="5" name="Footer Placeholder 4"/>
          <p:cNvSpPr>
            <a:spLocks noGrp="1"/>
          </p:cNvSpPr>
          <p:nvPr>
            <p:ph type="ftr" sz="quarter" idx="11"/>
          </p:nvPr>
        </p:nvSpPr>
        <p:spPr>
          <a:xfrm>
            <a:off x="1676400" y="6356350"/>
            <a:ext cx="6324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Prerequisite and Recap</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609600" y="1153160"/>
          <a:ext cx="7823518" cy="3139440"/>
        </p:xfrm>
        <a:graphic>
          <a:graphicData uri="http://schemas.openxmlformats.org/drawingml/2006/table">
            <a:tbl>
              <a:tblPr firstRow="1" bandRow="1">
                <a:tableStyleId>{5C22544A-7EE6-4342-B048-85BDC9FD1C3A}</a:tableStyleId>
              </a:tblPr>
              <a:tblGrid>
                <a:gridCol w="975163">
                  <a:extLst>
                    <a:ext uri="{9D8B030D-6E8A-4147-A177-3AD203B41FA5}">
                      <a16:colId xmlns:a16="http://schemas.microsoft.com/office/drawing/2014/main" xmlns="" val="20000"/>
                    </a:ext>
                  </a:extLst>
                </a:gridCol>
                <a:gridCol w="1040174">
                  <a:extLst>
                    <a:ext uri="{9D8B030D-6E8A-4147-A177-3AD203B41FA5}">
                      <a16:colId xmlns:a16="http://schemas.microsoft.com/office/drawing/2014/main" xmlns="" val="20001"/>
                    </a:ext>
                  </a:extLst>
                </a:gridCol>
                <a:gridCol w="3166263">
                  <a:extLst>
                    <a:ext uri="{9D8B030D-6E8A-4147-A177-3AD203B41FA5}">
                      <a16:colId xmlns:a16="http://schemas.microsoft.com/office/drawing/2014/main" xmlns="" val="20002"/>
                    </a:ext>
                  </a:extLst>
                </a:gridCol>
                <a:gridCol w="1493121">
                  <a:extLst>
                    <a:ext uri="{9D8B030D-6E8A-4147-A177-3AD203B41FA5}">
                      <a16:colId xmlns:a16="http://schemas.microsoft.com/office/drawing/2014/main" xmlns="" val="20003"/>
                    </a:ext>
                  </a:extLst>
                </a:gridCol>
                <a:gridCol w="1148797">
                  <a:extLst>
                    <a:ext uri="{9D8B030D-6E8A-4147-A177-3AD203B41FA5}">
                      <a16:colId xmlns:a16="http://schemas.microsoft.com/office/drawing/2014/main" xmlns="" val="20004"/>
                    </a:ext>
                  </a:extLst>
                </a:gridCol>
              </a:tblGrid>
              <a:tr h="305642">
                <a:tc rowSpan="2">
                  <a:txBody>
                    <a:bodyPr/>
                    <a:lstStyle/>
                    <a:p>
                      <a:endParaRPr lang="en-US" sz="2200" b="1" dirty="0" smtClean="0">
                        <a:solidFill>
                          <a:schemeClr val="bg1"/>
                        </a:solidFill>
                      </a:endParaRPr>
                    </a:p>
                    <a:p>
                      <a:r>
                        <a:rPr lang="en-US" sz="2200" b="1" dirty="0" smtClean="0">
                          <a:solidFill>
                            <a:schemeClr val="bg1"/>
                          </a:solidFill>
                        </a:rPr>
                        <a:t> Unit-III</a:t>
                      </a:r>
                      <a:endParaRPr lang="en-US" sz="2200" b="1" dirty="0">
                        <a:solidFill>
                          <a:schemeClr val="bg1"/>
                        </a:solidFill>
                      </a:endParaRPr>
                    </a:p>
                  </a:txBody>
                  <a:tcPr/>
                </a:tc>
                <a:tc rowSpan="2">
                  <a:txBody>
                    <a:bodyPr/>
                    <a:lstStyle/>
                    <a:p>
                      <a:endParaRPr lang="en-US" sz="2200" b="1" dirty="0" smtClean="0">
                        <a:solidFill>
                          <a:schemeClr val="bg1"/>
                        </a:solidFill>
                      </a:endParaRPr>
                    </a:p>
                    <a:p>
                      <a:r>
                        <a:rPr lang="en-US" sz="2200" b="1" dirty="0" smtClean="0">
                          <a:solidFill>
                            <a:schemeClr val="bg1"/>
                          </a:solidFill>
                        </a:rPr>
                        <a:t>   So. No.</a:t>
                      </a:r>
                      <a:endParaRPr lang="en-US" sz="2200" b="1" dirty="0">
                        <a:solidFill>
                          <a:schemeClr val="bg1"/>
                        </a:solidFill>
                      </a:endParaRPr>
                    </a:p>
                  </a:txBody>
                  <a:tcPr/>
                </a:tc>
                <a:tc gridSpan="3">
                  <a:txBody>
                    <a:bodyPr/>
                    <a:lstStyle/>
                    <a:p>
                      <a:pPr algn="ctr"/>
                      <a:r>
                        <a:rPr lang="en-US" sz="2200" b="1" dirty="0" smtClean="0">
                          <a:solidFill>
                            <a:schemeClr val="bg1"/>
                          </a:solidFill>
                        </a:rPr>
                        <a:t>Mapping</a:t>
                      </a:r>
                      <a:endParaRPr lang="en-US" sz="2200" b="1" dirty="0">
                        <a:solidFill>
                          <a:schemeClr val="bg1"/>
                        </a:solidFill>
                      </a:endParaRPr>
                    </a:p>
                  </a:txBody>
                  <a:tcPr/>
                </a:tc>
                <a:tc hMerge="1">
                  <a:txBody>
                    <a:bodyPr/>
                    <a:lstStyle/>
                    <a:p>
                      <a:endParaRPr lang="en-US"/>
                    </a:p>
                  </a:txBody>
                  <a:tcPr/>
                </a:tc>
                <a:tc hMerge="1">
                  <a:txBody>
                    <a:bodyPr/>
                    <a:lstStyle/>
                    <a:p>
                      <a:pPr algn="ctr"/>
                      <a:endParaRPr lang="en-US" sz="2200" b="1" dirty="0">
                        <a:solidFill>
                          <a:schemeClr val="bg1"/>
                        </a:solidFill>
                      </a:endParaRPr>
                    </a:p>
                  </a:txBody>
                  <a:tcPr/>
                </a:tc>
                <a:extLst>
                  <a:ext uri="{0D108BD9-81ED-4DB2-BD59-A6C34878D82A}">
                    <a16:rowId xmlns:a16="http://schemas.microsoft.com/office/drawing/2014/main" xmlns="" val="10000"/>
                  </a:ext>
                </a:extLst>
              </a:tr>
              <a:tr h="427899">
                <a:tc vMerge="1">
                  <a:txBody>
                    <a:bodyPr/>
                    <a:lstStyle/>
                    <a:p>
                      <a:endParaRPr lang="en-US" dirty="0"/>
                    </a:p>
                  </a:txBody>
                  <a:tcPr/>
                </a:tc>
                <a:tc vMerge="1">
                  <a:txBody>
                    <a:bodyPr/>
                    <a:lstStyle/>
                    <a:p>
                      <a:endParaRPr lang="en-US" dirty="0"/>
                    </a:p>
                  </a:txBody>
                  <a:tcPr/>
                </a:tc>
                <a:tc>
                  <a:txBody>
                    <a:bodyPr/>
                    <a:lstStyle/>
                    <a:p>
                      <a:r>
                        <a:rPr lang="en-US" sz="2200" b="1" dirty="0" smtClean="0"/>
                        <a:t>                      Topic</a:t>
                      </a:r>
                      <a:endParaRPr lang="en-US" sz="2200" b="1" dirty="0"/>
                    </a:p>
                  </a:txBody>
                  <a:tcPr/>
                </a:tc>
                <a:tc>
                  <a:txBody>
                    <a:bodyPr/>
                    <a:lstStyle/>
                    <a:p>
                      <a:r>
                        <a:rPr lang="en-US" sz="2200" b="1" dirty="0" smtClean="0"/>
                        <a:t>Course Outcomes</a:t>
                      </a:r>
                      <a:endParaRPr lang="en-US" sz="2200" b="1" dirty="0"/>
                    </a:p>
                  </a:txBody>
                  <a:tcPr/>
                </a:tc>
                <a:tc>
                  <a:txBody>
                    <a:bodyPr/>
                    <a:lstStyle/>
                    <a:p>
                      <a:r>
                        <a:rPr lang="en-US" sz="2200" b="1" dirty="0" smtClean="0"/>
                        <a:t>Level</a:t>
                      </a:r>
                      <a:endParaRPr lang="en-US" sz="2200" b="1" dirty="0"/>
                    </a:p>
                  </a:txBody>
                  <a:tcPr/>
                </a:tc>
                <a:extLst>
                  <a:ext uri="{0D108BD9-81ED-4DB2-BD59-A6C34878D82A}">
                    <a16:rowId xmlns:a16="http://schemas.microsoft.com/office/drawing/2014/main" xmlns="" val="10001"/>
                  </a:ext>
                </a:extLst>
              </a:tr>
              <a:tr h="629920">
                <a:tc>
                  <a:txBody>
                    <a:bodyPr/>
                    <a:lstStyle/>
                    <a:p>
                      <a:pPr algn="just"/>
                      <a:r>
                        <a:rPr lang="en-US" sz="2200" b="0" dirty="0" smtClean="0">
                          <a:latin typeface="Times New Roman" pitchFamily="18" charset="0"/>
                          <a:cs typeface="Times New Roman" pitchFamily="18" charset="0"/>
                        </a:rPr>
                        <a:t>         III</a:t>
                      </a:r>
                      <a:endParaRPr lang="en-US" sz="2200" b="0" dirty="0">
                        <a:latin typeface="Times New Roman" pitchFamily="18" charset="0"/>
                        <a:cs typeface="Times New Roman" pitchFamily="18" charset="0"/>
                      </a:endParaRPr>
                    </a:p>
                  </a:txBody>
                  <a:tcPr/>
                </a:tc>
                <a:tc>
                  <a:txBody>
                    <a:bodyPr/>
                    <a:lstStyle/>
                    <a:p>
                      <a:pPr algn="just"/>
                      <a:r>
                        <a:rPr lang="en-US" sz="2200" b="0" dirty="0" smtClean="0">
                          <a:latin typeface="Times New Roman" pitchFamily="18" charset="0"/>
                          <a:cs typeface="Times New Roman" pitchFamily="18" charset="0"/>
                        </a:rPr>
                        <a:t>          1</a:t>
                      </a:r>
                      <a:endParaRPr lang="en-US" sz="2200" b="0" dirty="0">
                        <a:latin typeface="Times New Roman" pitchFamily="18" charset="0"/>
                        <a:cs typeface="Times New Roman" pitchFamily="18" charset="0"/>
                      </a:endParaRPr>
                    </a:p>
                  </a:txBody>
                  <a:tcPr/>
                </a:tc>
                <a:tc>
                  <a:txBody>
                    <a:bodyPr/>
                    <a:lstStyle/>
                    <a:p>
                      <a:pPr algn="just"/>
                      <a:r>
                        <a:rPr lang="en-US" sz="2000" dirty="0" smtClean="0"/>
                        <a:t>Various Philosophical Doctrines</a:t>
                      </a:r>
                      <a:endParaRPr lang="en-US" sz="2000" dirty="0" smtClean="0">
                        <a:latin typeface="Times New Roman" pitchFamily="18" charset="0"/>
                        <a:cs typeface="Times New Roman" pitchFamily="18" charset="0"/>
                      </a:endParaRPr>
                    </a:p>
                  </a:txBody>
                  <a:tcPr/>
                </a:tc>
                <a:tc>
                  <a:txBody>
                    <a:bodyPr/>
                    <a:lstStyle/>
                    <a:p>
                      <a:pPr algn="just"/>
                      <a:r>
                        <a:rPr lang="en-US" sz="2200" b="0" dirty="0" smtClean="0"/>
                        <a:t>CO1</a:t>
                      </a:r>
                    </a:p>
                    <a:p>
                      <a:pPr algn="just"/>
                      <a:endParaRPr lang="en-US" sz="2200" b="0" dirty="0"/>
                    </a:p>
                  </a:txBody>
                  <a:tcPr/>
                </a:tc>
                <a:tc>
                  <a:txBody>
                    <a:bodyPr/>
                    <a:lstStyle/>
                    <a:p>
                      <a:pPr algn="just"/>
                      <a:r>
                        <a:rPr lang="en-US" sz="2200" b="0" dirty="0" smtClean="0"/>
                        <a:t>High</a:t>
                      </a:r>
                    </a:p>
                    <a:p>
                      <a:pPr algn="just"/>
                      <a:r>
                        <a:rPr lang="en-US" sz="2200" b="0" dirty="0" smtClean="0"/>
                        <a:t>High</a:t>
                      </a:r>
                      <a:endParaRPr lang="en-US" sz="2200" b="0" dirty="0"/>
                    </a:p>
                  </a:txBody>
                  <a:tcPr/>
                </a:tc>
                <a:extLst>
                  <a:ext uri="{0D108BD9-81ED-4DB2-BD59-A6C34878D82A}">
                    <a16:rowId xmlns:a16="http://schemas.microsoft.com/office/drawing/2014/main" xmlns="" val="10002"/>
                  </a:ext>
                </a:extLst>
              </a:tr>
              <a:tr h="247910">
                <a:tc>
                  <a:txBody>
                    <a:bodyPr/>
                    <a:lstStyle/>
                    <a:p>
                      <a:pPr algn="just"/>
                      <a:endParaRPr lang="en-US" sz="2200" b="0" dirty="0">
                        <a:latin typeface="Times New Roman" pitchFamily="18" charset="0"/>
                        <a:cs typeface="Times New Roman" pitchFamily="18" charset="0"/>
                      </a:endParaRPr>
                    </a:p>
                  </a:txBody>
                  <a:tcPr/>
                </a:tc>
                <a:tc>
                  <a:txBody>
                    <a:bodyPr/>
                    <a:lstStyle/>
                    <a:p>
                      <a:pPr algn="just"/>
                      <a:r>
                        <a:rPr lang="en-US" sz="2200" b="0" dirty="0" smtClean="0">
                          <a:latin typeface="Times New Roman" pitchFamily="18" charset="0"/>
                          <a:cs typeface="Times New Roman" pitchFamily="18" charset="0"/>
                        </a:rPr>
                        <a:t>          2</a:t>
                      </a:r>
                      <a:endParaRPr lang="en-US" sz="2200" b="0" dirty="0">
                        <a:latin typeface="Times New Roman" pitchFamily="18" charset="0"/>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dirty="0" smtClean="0"/>
                        <a:t>Other Heterodox Sects</a:t>
                      </a:r>
                      <a:endParaRPr lang="en-US" sz="2000" dirty="0" smtClean="0">
                        <a:latin typeface="Times New Roman" pitchFamily="18" charset="0"/>
                        <a:cs typeface="Times New Roman" pitchFamily="18" charset="0"/>
                      </a:endParaRPr>
                    </a:p>
                  </a:txBody>
                  <a:tcPr/>
                </a:tc>
                <a:tc>
                  <a:txBody>
                    <a:bodyPr/>
                    <a:lstStyle/>
                    <a:p>
                      <a:pPr algn="just"/>
                      <a:r>
                        <a:rPr lang="en-US" sz="2200" b="0" dirty="0" smtClean="0"/>
                        <a:t>CO1</a:t>
                      </a:r>
                    </a:p>
                    <a:p>
                      <a:pPr algn="just"/>
                      <a:r>
                        <a:rPr lang="en-US" sz="2200" b="0" dirty="0" smtClean="0"/>
                        <a:t>CO3</a:t>
                      </a:r>
                      <a:endParaRPr lang="en-US" sz="2200" b="0" dirty="0"/>
                    </a:p>
                  </a:txBody>
                  <a:tcPr/>
                </a:tc>
                <a:tc>
                  <a:txBody>
                    <a:bodyPr/>
                    <a:lstStyle/>
                    <a:p>
                      <a:pPr algn="just"/>
                      <a:r>
                        <a:rPr lang="en-US" sz="2200" b="0" dirty="0" smtClean="0"/>
                        <a:t>High</a:t>
                      </a:r>
                    </a:p>
                    <a:p>
                      <a:pPr algn="just"/>
                      <a:r>
                        <a:rPr lang="en-US" sz="2200" b="0" dirty="0" smtClean="0"/>
                        <a:t>Low</a:t>
                      </a:r>
                      <a:endParaRPr lang="en-US" sz="2200" b="0" dirty="0"/>
                    </a:p>
                  </a:txBody>
                  <a:tcPr/>
                </a:tc>
                <a:extLst>
                  <a:ext uri="{0D108BD9-81ED-4DB2-BD59-A6C34878D82A}">
                    <a16:rowId xmlns:a16="http://schemas.microsoft.com/office/drawing/2014/main" xmlns="" val="10003"/>
                  </a:ext>
                </a:extLst>
              </a:tr>
              <a:tr h="247910">
                <a:tc>
                  <a:txBody>
                    <a:bodyPr/>
                    <a:lstStyle/>
                    <a:p>
                      <a:pPr algn="just"/>
                      <a:endParaRPr lang="en-US" sz="2200" b="0" dirty="0">
                        <a:latin typeface="Times New Roman" pitchFamily="18" charset="0"/>
                        <a:cs typeface="Times New Roman" pitchFamily="18" charset="0"/>
                      </a:endParaRPr>
                    </a:p>
                  </a:txBody>
                  <a:tcPr/>
                </a:tc>
                <a:tc>
                  <a:txBody>
                    <a:bodyPr/>
                    <a:lstStyle/>
                    <a:p>
                      <a:pPr algn="just"/>
                      <a:r>
                        <a:rPr lang="en-US" sz="2200" b="0" dirty="0" smtClean="0">
                          <a:latin typeface="Times New Roman" pitchFamily="18" charset="0"/>
                          <a:cs typeface="Times New Roman" pitchFamily="18" charset="0"/>
                        </a:rPr>
                        <a:t>          3</a:t>
                      </a:r>
                      <a:endParaRPr lang="en-US" sz="2200" b="0" dirty="0">
                        <a:latin typeface="Times New Roman" pitchFamily="18" charset="0"/>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dirty="0" smtClean="0"/>
                        <a:t>Bhakti Movement</a:t>
                      </a:r>
                      <a:endParaRPr lang="en-US" sz="2000" dirty="0" smtClean="0">
                        <a:latin typeface="Times New Roman" pitchFamily="18" charset="0"/>
                        <a:cs typeface="Times New Roman" pitchFamily="18" charset="0"/>
                      </a:endParaRPr>
                    </a:p>
                  </a:txBody>
                  <a:tcPr/>
                </a:tc>
                <a:tc>
                  <a:txBody>
                    <a:bodyPr/>
                    <a:lstStyle/>
                    <a:p>
                      <a:pPr algn="just"/>
                      <a:r>
                        <a:rPr lang="en-US" sz="2200" b="0" dirty="0" smtClean="0"/>
                        <a:t>CO3</a:t>
                      </a:r>
                      <a:endParaRPr lang="en-US" sz="2200" b="0" dirty="0"/>
                    </a:p>
                  </a:txBody>
                  <a:tcPr/>
                </a:tc>
                <a:tc>
                  <a:txBody>
                    <a:bodyPr/>
                    <a:lstStyle/>
                    <a:p>
                      <a:pPr algn="just"/>
                      <a:r>
                        <a:rPr lang="en-US" sz="2200" b="0" dirty="0" smtClean="0"/>
                        <a:t>High</a:t>
                      </a:r>
                      <a:endParaRPr lang="en-US" sz="2200" b="0" dirty="0"/>
                    </a:p>
                  </a:txBody>
                  <a:tcPr/>
                </a:tc>
                <a:extLst>
                  <a:ext uri="{0D108BD9-81ED-4DB2-BD59-A6C34878D82A}">
                    <a16:rowId xmlns:a16="http://schemas.microsoft.com/office/drawing/2014/main" xmlns="" val="10004"/>
                  </a:ext>
                </a:extLst>
              </a:tr>
            </a:tbl>
          </a:graphicData>
        </a:graphic>
      </p:graphicFrame>
      <p:sp>
        <p:nvSpPr>
          <p:cNvPr id="4" name="Date Placeholder 3"/>
          <p:cNvSpPr>
            <a:spLocks noGrp="1"/>
          </p:cNvSpPr>
          <p:nvPr>
            <p:ph type="dt" sz="half" idx="10"/>
          </p:nvPr>
        </p:nvSpPr>
        <p:spPr/>
        <p:txBody>
          <a:bodyPr/>
          <a:lstStyle/>
          <a:p>
            <a:fld id="{1DB1E974-64C9-4BC6-B88B-D48C2A617CED}" type="datetime1">
              <a:rPr lang="en-US" smtClean="0"/>
              <a:pPr/>
              <a:t>3/26/2022</a:t>
            </a:fld>
            <a:endParaRPr lang="en-US" dirty="0"/>
          </a:p>
        </p:txBody>
      </p:sp>
      <p:sp>
        <p:nvSpPr>
          <p:cNvPr id="5" name="Footer Placeholder 4"/>
          <p:cNvSpPr>
            <a:spLocks noGrp="1"/>
          </p:cNvSpPr>
          <p:nvPr>
            <p:ph type="ftr" sz="quarter" idx="11"/>
          </p:nvPr>
        </p:nvSpPr>
        <p:spPr>
          <a:xfrm>
            <a:off x="1676400" y="6172200"/>
            <a:ext cx="6477000" cy="54927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Topic Mapping with course outcomes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IN" sz="2400" dirty="0" smtClean="0">
                <a:latin typeface="Times New Roman" pitchFamily="18" charset="0"/>
                <a:cs typeface="Times New Roman" pitchFamily="18" charset="0"/>
              </a:rPr>
              <a:t>Students will be able to know the following concepts:</a:t>
            </a:r>
            <a:r>
              <a:rPr lang="en-US" sz="2400" dirty="0" smtClean="0"/>
              <a:t> </a:t>
            </a:r>
          </a:p>
          <a:p>
            <a:pPr algn="just"/>
            <a:endParaRPr lang="en-US" sz="2400" dirty="0" smtClean="0"/>
          </a:p>
          <a:p>
            <a:pPr algn="just"/>
            <a:r>
              <a:rPr lang="en-US" sz="2400" dirty="0" smtClean="0"/>
              <a:t>Various Philosophical Doctrine</a:t>
            </a:r>
          </a:p>
          <a:p>
            <a:pPr algn="just"/>
            <a:r>
              <a:rPr lang="en-US" sz="2400" dirty="0" smtClean="0"/>
              <a:t>Bhakti Movement</a:t>
            </a:r>
          </a:p>
          <a:p>
            <a:pPr algn="just"/>
            <a:r>
              <a:rPr lang="en-US" sz="2400" dirty="0" smtClean="0"/>
              <a:t>Bhakti Movement</a:t>
            </a:r>
            <a:endParaRPr lang="en-US" sz="2400" dirty="0" smtClean="0">
              <a:latin typeface="Times New Roman" pitchFamily="18" charset="0"/>
              <a:cs typeface="Times New Roman" pitchFamily="18" charset="0"/>
            </a:endParaRPr>
          </a:p>
          <a:p>
            <a:pPr algn="just">
              <a:buNone/>
            </a:pPr>
            <a:endParaRPr lang="en-US" sz="2400" spc="-5"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83FEA586-A64B-4D31-A2C0-70FA392D85F3}"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latin typeface="Times New Roman" pitchFamily="18" charset="0"/>
                <a:cs typeface="Times New Roman" pitchFamily="18" charset="0"/>
              </a:rPr>
              <a:t> Objectives of topic/Session</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458200" cy="5791200"/>
          </a:xfrm>
        </p:spPr>
        <p:txBody>
          <a:bodyPr>
            <a:normAutofit fontScale="92500" lnSpcReduction="20000"/>
          </a:bodyPr>
          <a:lstStyle/>
          <a:p>
            <a:r>
              <a:rPr lang="en-US" b="1" dirty="0"/>
              <a:t>Indian philosophy</a:t>
            </a:r>
            <a:r>
              <a:rPr lang="en-US" dirty="0"/>
              <a:t> refers to philosophical traditions of the Indian subcontinent. </a:t>
            </a:r>
            <a:r>
              <a:rPr lang="en-US" dirty="0" smtClean="0"/>
              <a:t>A traditional classification divides</a:t>
            </a:r>
            <a:r>
              <a:rPr lang="en-US" dirty="0"/>
              <a:t> </a:t>
            </a:r>
            <a:r>
              <a:rPr lang="en-US" dirty="0" err="1" smtClean="0"/>
              <a:t>āstika</a:t>
            </a:r>
            <a:r>
              <a:rPr lang="en-US" dirty="0" smtClean="0"/>
              <a:t>(orthodox</a:t>
            </a:r>
            <a:r>
              <a:rPr lang="en-US" dirty="0"/>
              <a:t>) and </a:t>
            </a:r>
            <a:r>
              <a:rPr lang="en-US" dirty="0" err="1"/>
              <a:t>nāstika</a:t>
            </a:r>
            <a:r>
              <a:rPr lang="en-US" dirty="0"/>
              <a:t> (heterodox) schools of philosophy, depending on one of three alternate criteria: whether it believes the Vedas as a valid source of knowledge; whether the school believes in the premises of Brahman and Atman; and whether the school believes in afterlife and Devas</a:t>
            </a:r>
            <a:r>
              <a:rPr lang="en-US" dirty="0" smtClean="0"/>
              <a:t>.</a:t>
            </a:r>
          </a:p>
          <a:p>
            <a:r>
              <a:rPr lang="en-US" dirty="0"/>
              <a:t>There are six major schools of orthodox (</a:t>
            </a:r>
            <a:r>
              <a:rPr lang="en-US" dirty="0" err="1"/>
              <a:t>vedic</a:t>
            </a:r>
            <a:r>
              <a:rPr lang="en-US" dirty="0"/>
              <a:t>) Indian philosophy—Nyaya, </a:t>
            </a:r>
            <a:r>
              <a:rPr lang="en-US" dirty="0" err="1"/>
              <a:t>Vaisheshika</a:t>
            </a:r>
            <a:r>
              <a:rPr lang="en-US" dirty="0"/>
              <a:t>, Samkhya, Yoga, </a:t>
            </a:r>
            <a:r>
              <a:rPr lang="en-US" dirty="0" err="1"/>
              <a:t>Mīmāṃsā</a:t>
            </a:r>
            <a:r>
              <a:rPr lang="en-US" dirty="0"/>
              <a:t> and Vedanta, and five major heterodox (</a:t>
            </a:r>
            <a:r>
              <a:rPr lang="en-US" dirty="0" err="1"/>
              <a:t>sramanic</a:t>
            </a:r>
            <a:r>
              <a:rPr lang="en-US" dirty="0"/>
              <a:t>) schools—Jain, Buddhist, </a:t>
            </a:r>
            <a:r>
              <a:rPr lang="en-US" dirty="0" err="1"/>
              <a:t>Ajivika</a:t>
            </a:r>
            <a:r>
              <a:rPr lang="en-US" dirty="0"/>
              <a:t>, </a:t>
            </a:r>
            <a:r>
              <a:rPr lang="en-US" dirty="0" err="1"/>
              <a:t>Ajñana</a:t>
            </a:r>
            <a:r>
              <a:rPr lang="en-US" dirty="0"/>
              <a:t>, and </a:t>
            </a:r>
            <a:r>
              <a:rPr lang="en-US" dirty="0" err="1"/>
              <a:t>Charvaka</a:t>
            </a:r>
            <a:r>
              <a:rPr lang="en-US" dirty="0" smtClean="0"/>
              <a:t>.</a:t>
            </a:r>
          </a:p>
          <a:p>
            <a:endParaRPr lang="en-IN" sz="2400" dirty="0"/>
          </a:p>
        </p:txBody>
      </p:sp>
      <p:sp>
        <p:nvSpPr>
          <p:cNvPr id="4" name="Date Placeholder 3"/>
          <p:cNvSpPr>
            <a:spLocks noGrp="1"/>
          </p:cNvSpPr>
          <p:nvPr>
            <p:ph type="dt" sz="half" idx="10"/>
          </p:nvPr>
        </p:nvSpPr>
        <p:spPr/>
        <p:txBody>
          <a:bodyPr/>
          <a:lstStyle/>
          <a:p>
            <a:fld id="{68CC6557-0E4C-4204-87C7-C38EF7B3F7FF}"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Various Philosophical Doctrines</a:t>
            </a:r>
            <a:endParaRPr lang="en-US" sz="2800" b="1" spc="-5" dirty="0" smtClean="0">
              <a:latin typeface="Times New Roman" pitchFamily="18" charset="0"/>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458200" cy="5638800"/>
          </a:xfrm>
        </p:spPr>
        <p:txBody>
          <a:bodyPr>
            <a:normAutofit/>
          </a:bodyPr>
          <a:lstStyle/>
          <a:p>
            <a:r>
              <a:rPr lang="en-US" sz="2400" dirty="0"/>
              <a:t>Some schools like Jainism, Buddhism, Yoga, </a:t>
            </a:r>
            <a:r>
              <a:rPr lang="en-US" sz="2400" dirty="0" err="1"/>
              <a:t>Śaiva</a:t>
            </a:r>
            <a:r>
              <a:rPr lang="en-US" sz="2400" dirty="0"/>
              <a:t> and Vedanta survived, but others, like </a:t>
            </a:r>
            <a:r>
              <a:rPr lang="en-US" sz="2400" dirty="0" err="1"/>
              <a:t>Ajñana</a:t>
            </a:r>
            <a:r>
              <a:rPr lang="en-US" sz="2400" dirty="0"/>
              <a:t>, </a:t>
            </a:r>
            <a:r>
              <a:rPr lang="en-US" sz="2400" dirty="0" err="1"/>
              <a:t>Charvaka</a:t>
            </a:r>
            <a:r>
              <a:rPr lang="en-US" sz="2400" dirty="0"/>
              <a:t> and </a:t>
            </a:r>
            <a:r>
              <a:rPr lang="en-US" sz="2400" dirty="0" err="1"/>
              <a:t>Ājīvika</a:t>
            </a:r>
            <a:r>
              <a:rPr lang="en-US" sz="2400" dirty="0"/>
              <a:t> did not.</a:t>
            </a:r>
          </a:p>
          <a:p>
            <a:r>
              <a:rPr lang="en-US" sz="2400" dirty="0"/>
              <a:t>Ancient and medieval era texts of Indian philosophies include extensive discussions on ontology (metaphysics, Brahman-Atman, </a:t>
            </a:r>
            <a:r>
              <a:rPr lang="en-US" sz="2400" dirty="0" err="1"/>
              <a:t>Sunyata-Anatta</a:t>
            </a:r>
            <a:r>
              <a:rPr lang="en-US" sz="2400" dirty="0"/>
              <a:t>), reliable means of knowledge (epistemology, </a:t>
            </a:r>
            <a:r>
              <a:rPr lang="en-US" sz="2400" dirty="0" err="1"/>
              <a:t>Pramanas</a:t>
            </a:r>
            <a:r>
              <a:rPr lang="en-US" sz="2400" dirty="0"/>
              <a:t>), value system (axiology) and other </a:t>
            </a:r>
            <a:r>
              <a:rPr lang="en-US" sz="2400" dirty="0" smtClean="0"/>
              <a:t>topics.</a:t>
            </a:r>
          </a:p>
          <a:p>
            <a:r>
              <a:rPr lang="en-US" sz="2400" dirty="0" smtClean="0"/>
              <a:t>Many</a:t>
            </a:r>
            <a:r>
              <a:rPr lang="en-US" sz="2400" dirty="0"/>
              <a:t> Hindu intellectual traditions were classified during the medieval period of </a:t>
            </a:r>
            <a:r>
              <a:rPr lang="en-US" sz="2400" dirty="0" err="1"/>
              <a:t>Brahmanic-Sanskritic</a:t>
            </a:r>
            <a:r>
              <a:rPr lang="en-US" sz="2400" dirty="0"/>
              <a:t> scholasticism into a standard list of six orthodox (</a:t>
            </a:r>
            <a:r>
              <a:rPr lang="en-US" sz="2400" dirty="0" err="1"/>
              <a:t>Astika</a:t>
            </a:r>
            <a:r>
              <a:rPr lang="en-US" sz="2400" dirty="0"/>
              <a:t>) schools (</a:t>
            </a:r>
            <a:r>
              <a:rPr lang="en-US" sz="2400" dirty="0" err="1"/>
              <a:t>darshanas</a:t>
            </a:r>
            <a:r>
              <a:rPr lang="en-US" sz="2400" dirty="0"/>
              <a:t>), the "Six Philosophies" (</a:t>
            </a:r>
            <a:r>
              <a:rPr lang="en-US" sz="2400" i="1" dirty="0" err="1"/>
              <a:t>ṣaḍ-darśana</a:t>
            </a:r>
            <a:r>
              <a:rPr lang="en-US" sz="2400" dirty="0"/>
              <a:t>), all of which accept the testimony of the Vedas.</a:t>
            </a:r>
            <a:endParaRPr lang="en-US" sz="24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FFD655C-DF4B-46C3-B097-3D318E1649D1}"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Various Philosophical Doctrines</a:t>
            </a:r>
            <a:endParaRPr lang="en-US" sz="2800" b="1" spc="-5" dirty="0" smtClean="0">
              <a:latin typeface="Times New Roman" pitchFamily="18" charset="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458200" cy="5562600"/>
          </a:xfrm>
        </p:spPr>
        <p:txBody>
          <a:bodyPr>
            <a:normAutofit/>
          </a:bodyPr>
          <a:lstStyle/>
          <a:p>
            <a:pPr algn="just" fontAlgn="base"/>
            <a:r>
              <a:rPr lang="en-US" sz="2400" dirty="0" smtClean="0"/>
              <a:t>In  Post Vedic age, there was emergence of 62 heterodox sects, which raised voice against prevalent Bramhinical order and had brought about </a:t>
            </a:r>
            <a:r>
              <a:rPr lang="en-US" sz="2400" b="1" dirty="0" smtClean="0"/>
              <a:t>intellectual revolution.  </a:t>
            </a:r>
            <a:r>
              <a:rPr lang="en-US" sz="2400" dirty="0" smtClean="0"/>
              <a:t>This is also called as </a:t>
            </a:r>
            <a:r>
              <a:rPr lang="en-US" sz="2400" b="1" dirty="0" smtClean="0"/>
              <a:t>Shramana movement. </a:t>
            </a:r>
          </a:p>
          <a:p>
            <a:pPr algn="just" fontAlgn="base"/>
            <a:r>
              <a:rPr lang="en-US" sz="2400" dirty="0" smtClean="0"/>
              <a:t>These movement denied the efficacy of sacrifices, rejected Vedas as eternal, rejected caste system, denied existence of God. It held the view that samsara is full of suffering. However there were many heterodox sects and the beliefs varied from one sect to another.</a:t>
            </a:r>
            <a:endParaRPr lang="en-US" sz="24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C3AFC41-42BC-4921-8431-DF4C79CFF254}"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Heterodox Sects</a:t>
            </a:r>
            <a:endParaRPr lang="en-US" sz="2800" b="1" spc="-5" dirty="0" smtClean="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6280"/>
            <a:ext cx="8458200" cy="5562600"/>
          </a:xfrm>
        </p:spPr>
        <p:txBody>
          <a:bodyPr>
            <a:normAutofit fontScale="85000" lnSpcReduction="10000"/>
          </a:bodyPr>
          <a:lstStyle/>
          <a:p>
            <a:pPr fontAlgn="base"/>
            <a:r>
              <a:rPr lang="en-US" dirty="0"/>
              <a:t>Several Śramaṇic movements have existed before the 6th century BCE, and these influenced both the </a:t>
            </a:r>
            <a:r>
              <a:rPr lang="en-US" dirty="0" err="1"/>
              <a:t>āstika</a:t>
            </a:r>
            <a:r>
              <a:rPr lang="en-US" dirty="0"/>
              <a:t> and </a:t>
            </a:r>
            <a:r>
              <a:rPr lang="en-US" dirty="0" err="1"/>
              <a:t>nāstika</a:t>
            </a:r>
            <a:r>
              <a:rPr lang="en-US" dirty="0"/>
              <a:t> traditions of Indian philosophy</a:t>
            </a:r>
            <a:r>
              <a:rPr lang="en-US" dirty="0" smtClean="0"/>
              <a:t>.</a:t>
            </a:r>
            <a:endParaRPr lang="en-US" baseline="30000" dirty="0"/>
          </a:p>
          <a:p>
            <a:pPr fontAlgn="base"/>
            <a:r>
              <a:rPr lang="en-US" dirty="0"/>
              <a:t> The Śramaṇa movement gave rise to diverse range of heterodox beliefs, ranging from accepting or denying the concept of soul, atomism, antinomian ethics, materialism, atheism, agnosticism, fatalism to free will, idealization of extreme asceticism to that of family life, strict ahimsa (non-violence) and vegetarianism to permissibility of violence and meat-eating</a:t>
            </a:r>
            <a:r>
              <a:rPr lang="en-US" dirty="0" smtClean="0"/>
              <a:t>.</a:t>
            </a:r>
            <a:endParaRPr lang="en-US" baseline="30000" dirty="0"/>
          </a:p>
          <a:p>
            <a:pPr fontAlgn="base"/>
            <a:r>
              <a:rPr lang="en-US" dirty="0"/>
              <a:t> Notable philosophies that arose from Śramaṇic movement were Jainism, early Buddhism, </a:t>
            </a:r>
            <a:r>
              <a:rPr lang="en-US" dirty="0" err="1"/>
              <a:t>Charvaka</a:t>
            </a:r>
            <a:r>
              <a:rPr lang="en-US" dirty="0"/>
              <a:t>, </a:t>
            </a:r>
            <a:r>
              <a:rPr lang="en-US" dirty="0" err="1"/>
              <a:t>Ajñana</a:t>
            </a:r>
            <a:r>
              <a:rPr lang="en-US" dirty="0"/>
              <a:t> and </a:t>
            </a:r>
            <a:r>
              <a:rPr lang="en-US" u="sng" dirty="0" err="1"/>
              <a:t>Ājīvika</a:t>
            </a:r>
            <a:endParaRPr lang="en-US" sz="24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DE972E4-0F8F-421C-9BD3-A25DD9D01422}"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3048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b="1" dirty="0" smtClean="0"/>
              <a:t/>
            </a:r>
            <a:br>
              <a:rPr lang="en-US" sz="2400" b="1" dirty="0" smtClean="0"/>
            </a:br>
            <a:r>
              <a:rPr lang="en-US" sz="2400" b="1" dirty="0" smtClean="0"/>
              <a:t>Heterodox Sects</a:t>
            </a:r>
            <a:r>
              <a:rPr lang="en-US" sz="2400" b="1" dirty="0"/>
              <a:t>(</a:t>
            </a:r>
            <a:r>
              <a:rPr lang="en-US" sz="2400" b="1" dirty="0" err="1"/>
              <a:t>Śramaṇic</a:t>
            </a:r>
            <a:r>
              <a:rPr lang="en-US" sz="2400" b="1" dirty="0"/>
              <a:t> schools)</a:t>
            </a:r>
            <a:r>
              <a:rPr lang="en-US" dirty="0"/>
              <a:t/>
            </a:r>
            <a:br>
              <a:rPr lang="en-US" dirty="0"/>
            </a:br>
            <a:endParaRPr lang="en-US" sz="2800" b="1" spc="-5" dirty="0" smtClean="0">
              <a:latin typeface="Times New Roman" pitchFamily="18" charset="0"/>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458200" cy="5562600"/>
          </a:xfrm>
        </p:spPr>
        <p:txBody>
          <a:bodyPr>
            <a:normAutofit fontScale="92500" lnSpcReduction="20000"/>
          </a:bodyPr>
          <a:lstStyle/>
          <a:p>
            <a:pPr fontAlgn="base"/>
            <a:r>
              <a:rPr lang="en-US" sz="2400" b="1" dirty="0" smtClean="0"/>
              <a:t>Various Heterodox Sects:</a:t>
            </a:r>
          </a:p>
          <a:p>
            <a:pPr marL="457200" indent="-457200" fontAlgn="base">
              <a:buAutoNum type="arabicPeriod"/>
            </a:pPr>
            <a:r>
              <a:rPr lang="en-US" sz="2400" b="1" dirty="0" smtClean="0"/>
              <a:t>Ajivikas</a:t>
            </a:r>
            <a:br>
              <a:rPr lang="en-US" sz="2400" b="1" dirty="0" smtClean="0"/>
            </a:br>
            <a:r>
              <a:rPr lang="en-US" sz="2400" dirty="0" smtClean="0"/>
              <a:t>Founded by Makkali Ghoshala in 5th century BC. It Revolves around niyati doctrine. No use of karma, everything is predicted. The philosophy did not believed in God. According to them, the world is composed of atoms. It also Rejected Vedas. Mauryan king Ashoka’s father </a:t>
            </a:r>
            <a:r>
              <a:rPr lang="en-US" sz="2400" b="1" dirty="0" smtClean="0"/>
              <a:t>Bindusara</a:t>
            </a:r>
            <a:r>
              <a:rPr lang="en-US" sz="2400" dirty="0" smtClean="0"/>
              <a:t> was follower of this tradition. They Led ascetic life without clothes and material possession.</a:t>
            </a:r>
            <a:r>
              <a:rPr lang="en-US" sz="2400" dirty="0"/>
              <a:t> </a:t>
            </a:r>
            <a:r>
              <a:rPr lang="en-US" sz="2400" dirty="0" smtClean="0"/>
              <a:t>It </a:t>
            </a:r>
            <a:r>
              <a:rPr lang="en-US" sz="2400" dirty="0"/>
              <a:t>was a Śramaṇa movement and a major rival of early Buddhism and Jainism</a:t>
            </a:r>
            <a:r>
              <a:rPr lang="en-US" sz="2400" dirty="0" smtClean="0"/>
              <a:t>.</a:t>
            </a:r>
            <a:r>
              <a:rPr lang="en-US" sz="2400" dirty="0"/>
              <a:t> </a:t>
            </a:r>
            <a:r>
              <a:rPr lang="en-US" sz="2400" dirty="0" err="1"/>
              <a:t>Ājīvikas</a:t>
            </a:r>
            <a:r>
              <a:rPr lang="en-US" sz="2400" dirty="0"/>
              <a:t> were </a:t>
            </a:r>
            <a:r>
              <a:rPr lang="en-US" sz="2400" dirty="0" err="1"/>
              <a:t>organised</a:t>
            </a:r>
            <a:r>
              <a:rPr lang="en-US" sz="2400" dirty="0"/>
              <a:t> </a:t>
            </a:r>
            <a:r>
              <a:rPr lang="en-US" sz="2400" dirty="0" err="1"/>
              <a:t>renunciates</a:t>
            </a:r>
            <a:r>
              <a:rPr lang="en-US" sz="2400" dirty="0"/>
              <a:t> who formed discrete monastic communities prone to an ascetic and simple lifestyle</a:t>
            </a:r>
            <a:endParaRPr lang="en-US" sz="2400" dirty="0" smtClean="0"/>
          </a:p>
          <a:p>
            <a:pPr marL="457200" indent="-457200" fontAlgn="base">
              <a:buAutoNum type="arabicPeriod"/>
            </a:pPr>
            <a:r>
              <a:rPr lang="en-US" sz="2400" b="1" dirty="0" smtClean="0"/>
              <a:t>Charvaka</a:t>
            </a:r>
            <a:br>
              <a:rPr lang="en-US" sz="2400" b="1" dirty="0" smtClean="0"/>
            </a:br>
            <a:r>
              <a:rPr lang="en-US" sz="2400" dirty="0" smtClean="0"/>
              <a:t>Eat, Drink, Make merry. There is no ‘other’ world. There is no God or Bramha. Man is at the center of universe, he should eat, consume and enjoy sensual pleasures.</a:t>
            </a:r>
            <a:br>
              <a:rPr lang="en-US" sz="2400" dirty="0" smtClean="0"/>
            </a:br>
            <a:r>
              <a:rPr lang="en-US" sz="2400" dirty="0" smtClean="0"/>
              <a:t>It was Propounded by </a:t>
            </a:r>
            <a:r>
              <a:rPr lang="en-US" sz="2400" b="1" dirty="0" smtClean="0"/>
              <a:t>Brihaspati</a:t>
            </a:r>
            <a:r>
              <a:rPr lang="en-US" sz="2400" dirty="0" smtClean="0"/>
              <a:t>.</a:t>
            </a:r>
            <a:br>
              <a:rPr lang="en-US" sz="2400" dirty="0" smtClean="0"/>
            </a:br>
            <a:r>
              <a:rPr lang="en-US" sz="2400" dirty="0" smtClean="0"/>
              <a:t>It is also called Lokayata school of philosophy. i.e. derived from common people.</a:t>
            </a:r>
            <a:endParaRPr lang="en-US" sz="24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A09ACCF-A20B-4F61-8EE0-C7EBEF0525A5}"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3048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b="1" dirty="0" smtClean="0"/>
              <a:t/>
            </a:r>
            <a:br>
              <a:rPr lang="en-US" sz="2400" b="1" dirty="0" smtClean="0"/>
            </a:br>
            <a:r>
              <a:rPr lang="en-US" sz="2400" b="1" dirty="0" smtClean="0"/>
              <a:t>Heterodox Sects</a:t>
            </a:r>
            <a:r>
              <a:rPr lang="en-US" sz="2400" b="1" dirty="0"/>
              <a:t>(</a:t>
            </a:r>
            <a:r>
              <a:rPr lang="en-US" sz="2400" b="1" dirty="0" err="1"/>
              <a:t>Śramaṇic</a:t>
            </a:r>
            <a:r>
              <a:rPr lang="en-US" sz="2400" b="1" dirty="0"/>
              <a:t> schools)</a:t>
            </a:r>
            <a:r>
              <a:rPr lang="en-US" dirty="0"/>
              <a:t/>
            </a:r>
            <a:br>
              <a:rPr lang="en-US" dirty="0"/>
            </a:br>
            <a:endParaRPr lang="en-US" sz="2800" b="1" spc="-5"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40310626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458200" cy="5562600"/>
          </a:xfrm>
        </p:spPr>
        <p:txBody>
          <a:bodyPr>
            <a:normAutofit fontScale="85000" lnSpcReduction="20000"/>
          </a:bodyPr>
          <a:lstStyle/>
          <a:p>
            <a:pPr marL="0" indent="0">
              <a:buNone/>
            </a:pPr>
            <a:r>
              <a:rPr lang="en-US" b="1" dirty="0" smtClean="0"/>
              <a:t>3. </a:t>
            </a:r>
            <a:r>
              <a:rPr lang="en-US" b="1" dirty="0" err="1" smtClean="0"/>
              <a:t>Ajñana</a:t>
            </a:r>
            <a:r>
              <a:rPr lang="en-US" b="1" dirty="0" smtClean="0"/>
              <a:t> philosophy</a:t>
            </a:r>
            <a:endParaRPr lang="en-US" b="1" dirty="0"/>
          </a:p>
          <a:p>
            <a:r>
              <a:rPr lang="en-US" dirty="0" err="1" smtClean="0"/>
              <a:t>Ajñana</a:t>
            </a:r>
            <a:r>
              <a:rPr lang="en-US" dirty="0" smtClean="0"/>
              <a:t> </a:t>
            </a:r>
            <a:r>
              <a:rPr lang="en-US" dirty="0"/>
              <a:t>was one of the </a:t>
            </a:r>
            <a:r>
              <a:rPr lang="en-US" dirty="0" err="1"/>
              <a:t>nāstika</a:t>
            </a:r>
            <a:r>
              <a:rPr lang="en-US" dirty="0"/>
              <a:t> or "heterodox" schools of ancient Indian philosophy, and the ancient school of radical Indian skepticism. It was a Śramaṇa movement and a major rival of early Buddhism and Jainism. They have been recorded in Buddhist and Jain texts. They held that it was impossible to obtain knowledge of metaphysical nature or ascertain the truth value of philosophical propositions; and even if knowledge was possible, it was useless and disadvantageous for final salvation. They were sophists who </a:t>
            </a:r>
            <a:r>
              <a:rPr lang="en-US" dirty="0" err="1"/>
              <a:t>specialised</a:t>
            </a:r>
            <a:r>
              <a:rPr lang="en-US" dirty="0"/>
              <a:t> in refutation without propagating any positive doctrine of their own</a:t>
            </a:r>
            <a:r>
              <a:rPr lang="en-US" dirty="0" smtClean="0"/>
              <a:t>.</a:t>
            </a:r>
          </a:p>
          <a:p>
            <a:pPr marL="0" indent="0">
              <a:buNone/>
            </a:pPr>
            <a:r>
              <a:rPr lang="en-US" b="1" dirty="0" smtClean="0"/>
              <a:t>4. Jain Philosophy</a:t>
            </a:r>
          </a:p>
          <a:p>
            <a:pPr marL="0" indent="0">
              <a:buNone/>
            </a:pPr>
            <a:r>
              <a:rPr lang="en-US" b="1" dirty="0" smtClean="0"/>
              <a:t>5. Buddhist Philosophy</a:t>
            </a:r>
            <a:endParaRPr lang="en-US" b="1" dirty="0"/>
          </a:p>
        </p:txBody>
      </p:sp>
      <p:sp>
        <p:nvSpPr>
          <p:cNvPr id="4" name="Date Placeholder 3"/>
          <p:cNvSpPr>
            <a:spLocks noGrp="1"/>
          </p:cNvSpPr>
          <p:nvPr>
            <p:ph type="dt" sz="half" idx="10"/>
          </p:nvPr>
        </p:nvSpPr>
        <p:spPr/>
        <p:txBody>
          <a:bodyPr/>
          <a:lstStyle/>
          <a:p>
            <a:fld id="{27785F87-8852-4E6E-912F-4A2FF22EC55B}"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3048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b="1" dirty="0" smtClean="0"/>
              <a:t/>
            </a:r>
            <a:br>
              <a:rPr lang="en-US" sz="2400" b="1" dirty="0" smtClean="0"/>
            </a:br>
            <a:r>
              <a:rPr lang="en-US" sz="2400" b="1" dirty="0" smtClean="0"/>
              <a:t>Heterodox Sects</a:t>
            </a:r>
            <a:r>
              <a:rPr lang="en-US" sz="2400" b="1" dirty="0"/>
              <a:t>(</a:t>
            </a:r>
            <a:r>
              <a:rPr lang="en-US" sz="2400" b="1" dirty="0" err="1"/>
              <a:t>Śramaṇic</a:t>
            </a:r>
            <a:r>
              <a:rPr lang="en-US" sz="2400" b="1" dirty="0"/>
              <a:t> schools)</a:t>
            </a:r>
            <a:r>
              <a:rPr lang="en-US" dirty="0"/>
              <a:t/>
            </a:r>
            <a:br>
              <a:rPr lang="en-US" dirty="0"/>
            </a:br>
            <a:endParaRPr lang="en-US" sz="2800" b="1" spc="-5"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3445878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080" y="1295400"/>
            <a:ext cx="8458200" cy="3657600"/>
          </a:xfrm>
        </p:spPr>
        <p:txBody>
          <a:bodyPr>
            <a:normAutofit/>
          </a:bodyPr>
          <a:lstStyle/>
          <a:p>
            <a:pPr algn="just"/>
            <a:r>
              <a:rPr lang="en-US" sz="2400" dirty="0" smtClean="0"/>
              <a:t>The </a:t>
            </a:r>
            <a:r>
              <a:rPr lang="en-US" sz="2400" b="1" dirty="0" smtClean="0"/>
              <a:t>Bhakti movement</a:t>
            </a:r>
            <a:r>
              <a:rPr lang="en-US" sz="2400" dirty="0" smtClean="0"/>
              <a:t> refers to the trend that was brought forward by a number of Hindu </a:t>
            </a:r>
            <a:r>
              <a:rPr lang="en-US" sz="2400" b="1" dirty="0" smtClean="0"/>
              <a:t>saints</a:t>
            </a:r>
            <a:r>
              <a:rPr lang="en-US" sz="2400" dirty="0" smtClean="0"/>
              <a:t> in medieval Hinduism that sought to bring religious reforms by adopting the method of devotion to achieve salvation. It originated in eighth-century south India (now Tamil Nadu and Kerala states), and spread northwards.</a:t>
            </a:r>
          </a:p>
          <a:p>
            <a:pPr algn="just"/>
            <a:endParaRPr lang="en-US" sz="2400" dirty="0"/>
          </a:p>
        </p:txBody>
      </p:sp>
      <p:sp>
        <p:nvSpPr>
          <p:cNvPr id="4" name="Date Placeholder 3"/>
          <p:cNvSpPr>
            <a:spLocks noGrp="1"/>
          </p:cNvSpPr>
          <p:nvPr>
            <p:ph type="dt" sz="half" idx="10"/>
          </p:nvPr>
        </p:nvSpPr>
        <p:spPr/>
        <p:txBody>
          <a:bodyPr/>
          <a:lstStyle/>
          <a:p>
            <a:fld id="{EBB4CB25-79A2-496B-8B6B-0862C8288C57}"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Bhakti Movement</a:t>
            </a:r>
            <a:endParaRPr lang="en-US" sz="2800" b="1" spc="-5" dirty="0" smtClean="0">
              <a:latin typeface="Times New Roman" pitchFamily="18" charset="0"/>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458200" cy="5562600"/>
          </a:xfrm>
        </p:spPr>
        <p:txBody>
          <a:bodyPr>
            <a:normAutofit lnSpcReduction="10000"/>
          </a:bodyPr>
          <a:lstStyle/>
          <a:p>
            <a:pPr algn="just"/>
            <a:r>
              <a:rPr lang="en-US" sz="2400" dirty="0" smtClean="0"/>
              <a:t>An important landmark in the cultural history of medieval India was the silent revolution in society brought about by a galaxy of socio-religious reformers, a revolution known as the Bhakti Movement. </a:t>
            </a:r>
          </a:p>
          <a:p>
            <a:pPr algn="just"/>
            <a:r>
              <a:rPr lang="en-US" sz="2400" dirty="0" smtClean="0"/>
              <a:t>This movement was responsible for many rites and rituals associated with the worship of God by Hindus, Muslims and Sikhs of Indian subcontinent. For example, Kirtan at a Hindu Temple, Qawaali at a Dargah (by Muslims), and singing of Gurbani at a Gurdwara are all derived from the Bhakti movement of medieval India (800-1700). </a:t>
            </a:r>
          </a:p>
          <a:p>
            <a:pPr algn="just"/>
            <a:r>
              <a:rPr lang="en-US" sz="2400" dirty="0" smtClean="0"/>
              <a:t>The leader of this Hindu revivalist movement was Shankaracharya, a great thinker and a distinguished philosopher. And this movement was propounded by Chaitanya Mahaprabhu, Namadeva, Tukaram, Jayadeva. The movement's major achievement was its abolition of idol worship.</a:t>
            </a:r>
            <a:endParaRPr lang="en-US" sz="2400" dirty="0"/>
          </a:p>
        </p:txBody>
      </p:sp>
      <p:sp>
        <p:nvSpPr>
          <p:cNvPr id="4" name="Date Placeholder 3"/>
          <p:cNvSpPr>
            <a:spLocks noGrp="1"/>
          </p:cNvSpPr>
          <p:nvPr>
            <p:ph type="dt" sz="half" idx="10"/>
          </p:nvPr>
        </p:nvSpPr>
        <p:spPr/>
        <p:txBody>
          <a:bodyPr/>
          <a:lstStyle/>
          <a:p>
            <a:fld id="{04F77D89-B785-460F-826B-B80F1058CA8A}"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0"/>
            <a:ext cx="77724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Bhakti Movement</a:t>
            </a:r>
            <a:endParaRPr lang="en-US" sz="2800" b="1" spc="-5" dirty="0" smtClean="0">
              <a:latin typeface="Times New Roman" pitchFamily="18" charset="0"/>
              <a:cs typeface="Times New Roman"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458200" cy="5562600"/>
          </a:xfrm>
        </p:spPr>
        <p:txBody>
          <a:bodyPr>
            <a:normAutofit/>
          </a:bodyPr>
          <a:lstStyle/>
          <a:p>
            <a:pPr algn="just" fontAlgn="base"/>
            <a:r>
              <a:rPr lang="en-US" sz="2400" dirty="0" smtClean="0"/>
              <a:t>The leader of the bhakti movement focusing on the Lord as Rama was Ramananda. Very little is known about him, but he is believed to have lived in the first half of the 15</a:t>
            </a:r>
            <a:r>
              <a:rPr lang="en-US" sz="2400" baseline="30000" dirty="0" smtClean="0"/>
              <a:t>th</a:t>
            </a:r>
            <a:r>
              <a:rPr lang="en-US" sz="2400" dirty="0" smtClean="0"/>
              <a:t> century. He taught that Lord Rama is the supreme Lord, and that salvation could be attained only through love for and devotion to him, and through the repetition of his sacred name.</a:t>
            </a:r>
          </a:p>
          <a:p>
            <a:pPr algn="just" fontAlgn="base"/>
            <a:r>
              <a:rPr lang="en-US" sz="2400" dirty="0" smtClean="0"/>
              <a:t>Chaitanya Mahaprabhu was an ascetic Hindu monk and social reformer in 16</a:t>
            </a:r>
            <a:r>
              <a:rPr lang="en-US" sz="2400" baseline="30000" dirty="0" smtClean="0"/>
              <a:t>th</a:t>
            </a:r>
            <a:r>
              <a:rPr lang="en-US" sz="2400" dirty="0" smtClean="0"/>
              <a:t> century Bengal. A great proponent of loving devotion for God, bhakti yoga, Chaitanya worshiped the Lord in the form of Krishna.</a:t>
            </a:r>
            <a:endParaRPr lang="en-US" sz="2400" dirty="0"/>
          </a:p>
        </p:txBody>
      </p:sp>
      <p:sp>
        <p:nvSpPr>
          <p:cNvPr id="4" name="Date Placeholder 3"/>
          <p:cNvSpPr>
            <a:spLocks noGrp="1"/>
          </p:cNvSpPr>
          <p:nvPr>
            <p:ph type="dt" sz="half" idx="10"/>
          </p:nvPr>
        </p:nvSpPr>
        <p:spPr/>
        <p:txBody>
          <a:bodyPr/>
          <a:lstStyle/>
          <a:p>
            <a:fld id="{D347F10B-EB36-46F9-9D30-83B9DB7AFBB2}"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Bhakti Movement</a:t>
            </a:r>
            <a:endParaRPr lang="en-US" sz="2800" b="1" spc="-5" dirty="0" smtClean="0">
              <a:latin typeface="Times New Roman" pitchFamily="18" charset="0"/>
              <a:cs typeface="Times New Roman"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458200" cy="5562600"/>
          </a:xfrm>
        </p:spPr>
        <p:txBody>
          <a:bodyPr>
            <a:normAutofit/>
          </a:bodyPr>
          <a:lstStyle/>
          <a:p>
            <a:pPr algn="just"/>
            <a:r>
              <a:rPr lang="en-US" sz="2400" dirty="0" smtClean="0"/>
              <a:t>Guru Nanak, the first Sikh Guru and founder of the Sikhism, too was a  Bhakti Saint and social reformer. </a:t>
            </a:r>
          </a:p>
          <a:p>
            <a:pPr algn="just"/>
            <a:r>
              <a:rPr lang="en-US" sz="2400" dirty="0" smtClean="0"/>
              <a:t>He was opposed to all distinctions of caste as well as the religious rivalries and rituals. He preached the unity of God and condemned formalism and ritualism of both Islam and Hinduism. Guru Nanak's gospel was for all men. He proclaimed their equality in all respects.</a:t>
            </a:r>
            <a:endParaRPr lang="en-US" sz="2400" b="1" dirty="0"/>
          </a:p>
        </p:txBody>
      </p:sp>
      <p:sp>
        <p:nvSpPr>
          <p:cNvPr id="4" name="Date Placeholder 3"/>
          <p:cNvSpPr>
            <a:spLocks noGrp="1"/>
          </p:cNvSpPr>
          <p:nvPr>
            <p:ph type="dt" sz="half" idx="10"/>
          </p:nvPr>
        </p:nvSpPr>
        <p:spPr/>
        <p:txBody>
          <a:bodyPr/>
          <a:lstStyle/>
          <a:p>
            <a:fld id="{A9672D38-4A51-4326-AA96-7BB50DD720CF}"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dirty="0"/>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Title 1"/>
          <p:cNvSpPr txBox="1">
            <a:spLocks noGrp="1"/>
          </p:cNvSpPr>
          <p:nvPr>
            <p:ph type="title"/>
          </p:nvPr>
        </p:nvSpPr>
        <p:spPr>
          <a:xfrm>
            <a:off x="1371600" y="0"/>
            <a:ext cx="7315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Bhakti Movement</a:t>
            </a:r>
            <a:endParaRPr lang="en-US" sz="2800" b="1" spc="-5" dirty="0" smtClean="0">
              <a:latin typeface="Times New Roman" pitchFamily="18" charset="0"/>
              <a:cs typeface="Times New Roman"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400" dirty="0" smtClean="0">
                <a:latin typeface="Times New Roman" pitchFamily="18" charset="0"/>
                <a:cs typeface="Times New Roman" pitchFamily="18" charset="0"/>
              </a:rPr>
              <a:t>We have covered the following  topics in this lecture:</a:t>
            </a:r>
          </a:p>
          <a:p>
            <a:pPr algn="just"/>
            <a:r>
              <a:rPr lang="en-US" sz="2400" dirty="0" smtClean="0"/>
              <a:t>Various Philosophical Doctrine</a:t>
            </a:r>
          </a:p>
          <a:p>
            <a:pPr algn="just"/>
            <a:r>
              <a:rPr lang="en-US" sz="2400" dirty="0" smtClean="0"/>
              <a:t>Bhakti Movement</a:t>
            </a:r>
          </a:p>
          <a:p>
            <a:pPr algn="just"/>
            <a:r>
              <a:rPr lang="en-US" sz="2400" dirty="0" smtClean="0"/>
              <a:t>Bhakti Movement</a:t>
            </a:r>
            <a:endParaRPr lang="en-US" sz="24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A9F0C324-2E48-4AAF-9CE9-8C008ED63274}" type="datetime1">
              <a:rPr lang="en-US" smtClean="0"/>
              <a:pPr/>
              <a:t>3/26/2022</a:t>
            </a:fld>
            <a:endParaRPr lang="en-US" dirty="0"/>
          </a:p>
        </p:txBody>
      </p:sp>
      <p:sp>
        <p:nvSpPr>
          <p:cNvPr id="5" name="Footer Placeholder 4"/>
          <p:cNvSpPr>
            <a:spLocks noGrp="1"/>
          </p:cNvSpPr>
          <p:nvPr>
            <p:ph type="ftr" sz="quarter" idx="11"/>
          </p:nvPr>
        </p:nvSpPr>
        <p:spPr>
          <a:xfrm>
            <a:off x="14478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Summary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800" dirty="0" smtClean="0"/>
              <a:t>Various Philosophical Doctrine</a:t>
            </a:r>
          </a:p>
          <a:p>
            <a:pPr algn="just"/>
            <a:r>
              <a:rPr lang="en-US" sz="2800" dirty="0" smtClean="0"/>
              <a:t>Bhakti Movement</a:t>
            </a:r>
          </a:p>
          <a:p>
            <a:pPr algn="just"/>
            <a:r>
              <a:rPr lang="en-US" sz="2800" dirty="0" smtClean="0"/>
              <a:t>Bhakti Movement</a:t>
            </a:r>
            <a:endParaRPr lang="en-US" sz="28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FFB7F2C-CDE4-4FF1-9BC6-90F24BDD49D8}" type="datetime1">
              <a:rPr lang="en-US" smtClean="0"/>
              <a:pPr/>
              <a:t>3/26/2022</a:t>
            </a:fld>
            <a:endParaRPr lang="en-US" dirty="0"/>
          </a:p>
        </p:txBody>
      </p:sp>
      <p:sp>
        <p:nvSpPr>
          <p:cNvPr id="5" name="Footer Placeholder 4"/>
          <p:cNvSpPr>
            <a:spLocks noGrp="1"/>
          </p:cNvSpPr>
          <p:nvPr>
            <p:ph type="ftr" sz="quarter" idx="11"/>
          </p:nvPr>
        </p:nvSpPr>
        <p:spPr>
          <a:xfrm>
            <a:off x="1676400" y="6356350"/>
            <a:ext cx="6324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Prerequisite and Recap</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609600" y="1153160"/>
          <a:ext cx="7823518" cy="3474720"/>
        </p:xfrm>
        <a:graphic>
          <a:graphicData uri="http://schemas.openxmlformats.org/drawingml/2006/table">
            <a:tbl>
              <a:tblPr firstRow="1" bandRow="1">
                <a:tableStyleId>{5C22544A-7EE6-4342-B048-85BDC9FD1C3A}</a:tableStyleId>
              </a:tblPr>
              <a:tblGrid>
                <a:gridCol w="975163">
                  <a:extLst>
                    <a:ext uri="{9D8B030D-6E8A-4147-A177-3AD203B41FA5}">
                      <a16:colId xmlns:a16="http://schemas.microsoft.com/office/drawing/2014/main" xmlns="" val="20000"/>
                    </a:ext>
                  </a:extLst>
                </a:gridCol>
                <a:gridCol w="1040174">
                  <a:extLst>
                    <a:ext uri="{9D8B030D-6E8A-4147-A177-3AD203B41FA5}">
                      <a16:colId xmlns:a16="http://schemas.microsoft.com/office/drawing/2014/main" xmlns="" val="20001"/>
                    </a:ext>
                  </a:extLst>
                </a:gridCol>
                <a:gridCol w="3166263">
                  <a:extLst>
                    <a:ext uri="{9D8B030D-6E8A-4147-A177-3AD203B41FA5}">
                      <a16:colId xmlns:a16="http://schemas.microsoft.com/office/drawing/2014/main" xmlns="" val="20002"/>
                    </a:ext>
                  </a:extLst>
                </a:gridCol>
                <a:gridCol w="1493121">
                  <a:extLst>
                    <a:ext uri="{9D8B030D-6E8A-4147-A177-3AD203B41FA5}">
                      <a16:colId xmlns:a16="http://schemas.microsoft.com/office/drawing/2014/main" xmlns="" val="20003"/>
                    </a:ext>
                  </a:extLst>
                </a:gridCol>
                <a:gridCol w="1148797">
                  <a:extLst>
                    <a:ext uri="{9D8B030D-6E8A-4147-A177-3AD203B41FA5}">
                      <a16:colId xmlns:a16="http://schemas.microsoft.com/office/drawing/2014/main" xmlns="" val="20004"/>
                    </a:ext>
                  </a:extLst>
                </a:gridCol>
              </a:tblGrid>
              <a:tr h="305642">
                <a:tc rowSpan="2">
                  <a:txBody>
                    <a:bodyPr/>
                    <a:lstStyle/>
                    <a:p>
                      <a:endParaRPr lang="en-US" sz="2200" b="1" dirty="0" smtClean="0">
                        <a:solidFill>
                          <a:schemeClr val="bg1"/>
                        </a:solidFill>
                        <a:latin typeface="+mj-lt"/>
                      </a:endParaRPr>
                    </a:p>
                    <a:p>
                      <a:r>
                        <a:rPr lang="en-US" sz="2200" b="1" dirty="0" smtClean="0">
                          <a:solidFill>
                            <a:schemeClr val="bg1"/>
                          </a:solidFill>
                          <a:latin typeface="+mj-lt"/>
                        </a:rPr>
                        <a:t> Unit-III</a:t>
                      </a:r>
                      <a:endParaRPr lang="en-US" sz="2200" b="1" dirty="0">
                        <a:solidFill>
                          <a:schemeClr val="bg1"/>
                        </a:solidFill>
                        <a:latin typeface="+mj-lt"/>
                      </a:endParaRPr>
                    </a:p>
                  </a:txBody>
                  <a:tcPr/>
                </a:tc>
                <a:tc rowSpan="2">
                  <a:txBody>
                    <a:bodyPr/>
                    <a:lstStyle/>
                    <a:p>
                      <a:endParaRPr lang="en-US" sz="2200" b="1" dirty="0" smtClean="0">
                        <a:solidFill>
                          <a:schemeClr val="bg1"/>
                        </a:solidFill>
                        <a:latin typeface="+mj-lt"/>
                      </a:endParaRPr>
                    </a:p>
                    <a:p>
                      <a:r>
                        <a:rPr lang="en-US" sz="2200" b="1" dirty="0" smtClean="0">
                          <a:solidFill>
                            <a:schemeClr val="bg1"/>
                          </a:solidFill>
                          <a:latin typeface="+mj-lt"/>
                        </a:rPr>
                        <a:t>   So. No.</a:t>
                      </a:r>
                      <a:endParaRPr lang="en-US" sz="2200" b="1" dirty="0">
                        <a:solidFill>
                          <a:schemeClr val="bg1"/>
                        </a:solidFill>
                        <a:latin typeface="+mj-lt"/>
                      </a:endParaRPr>
                    </a:p>
                  </a:txBody>
                  <a:tcPr/>
                </a:tc>
                <a:tc gridSpan="3">
                  <a:txBody>
                    <a:bodyPr/>
                    <a:lstStyle/>
                    <a:p>
                      <a:pPr algn="ctr"/>
                      <a:r>
                        <a:rPr lang="en-US" sz="2200" b="1" dirty="0" smtClean="0">
                          <a:solidFill>
                            <a:schemeClr val="bg1"/>
                          </a:solidFill>
                          <a:latin typeface="+mj-lt"/>
                        </a:rPr>
                        <a:t>Mapping</a:t>
                      </a:r>
                      <a:endParaRPr lang="en-US" sz="2200" b="1" dirty="0">
                        <a:solidFill>
                          <a:schemeClr val="bg1"/>
                        </a:solidFill>
                        <a:latin typeface="+mj-lt"/>
                      </a:endParaRPr>
                    </a:p>
                  </a:txBody>
                  <a:tcPr/>
                </a:tc>
                <a:tc hMerge="1">
                  <a:txBody>
                    <a:bodyPr/>
                    <a:lstStyle/>
                    <a:p>
                      <a:endParaRPr lang="en-US"/>
                    </a:p>
                  </a:txBody>
                  <a:tcPr/>
                </a:tc>
                <a:tc hMerge="1">
                  <a:txBody>
                    <a:bodyPr/>
                    <a:lstStyle/>
                    <a:p>
                      <a:pPr algn="ctr"/>
                      <a:endParaRPr lang="en-US" sz="2200" b="1" dirty="0">
                        <a:solidFill>
                          <a:schemeClr val="bg1"/>
                        </a:solidFill>
                      </a:endParaRPr>
                    </a:p>
                  </a:txBody>
                  <a:tcPr/>
                </a:tc>
                <a:extLst>
                  <a:ext uri="{0D108BD9-81ED-4DB2-BD59-A6C34878D82A}">
                    <a16:rowId xmlns:a16="http://schemas.microsoft.com/office/drawing/2014/main" xmlns="" val="10000"/>
                  </a:ext>
                </a:extLst>
              </a:tr>
              <a:tr h="427899">
                <a:tc vMerge="1">
                  <a:txBody>
                    <a:bodyPr/>
                    <a:lstStyle/>
                    <a:p>
                      <a:endParaRPr lang="en-US" dirty="0"/>
                    </a:p>
                  </a:txBody>
                  <a:tcPr/>
                </a:tc>
                <a:tc vMerge="1">
                  <a:txBody>
                    <a:bodyPr/>
                    <a:lstStyle/>
                    <a:p>
                      <a:endParaRPr lang="en-US" dirty="0"/>
                    </a:p>
                  </a:txBody>
                  <a:tcPr/>
                </a:tc>
                <a:tc>
                  <a:txBody>
                    <a:bodyPr/>
                    <a:lstStyle/>
                    <a:p>
                      <a:r>
                        <a:rPr lang="en-US" sz="2200" b="1" dirty="0" smtClean="0">
                          <a:latin typeface="+mj-lt"/>
                        </a:rPr>
                        <a:t>                      Topic</a:t>
                      </a:r>
                      <a:endParaRPr lang="en-US" sz="2200" b="1" dirty="0">
                        <a:latin typeface="+mj-lt"/>
                      </a:endParaRPr>
                    </a:p>
                  </a:txBody>
                  <a:tcPr/>
                </a:tc>
                <a:tc>
                  <a:txBody>
                    <a:bodyPr/>
                    <a:lstStyle/>
                    <a:p>
                      <a:r>
                        <a:rPr lang="en-US" sz="2200" b="1" dirty="0" smtClean="0">
                          <a:latin typeface="+mj-lt"/>
                        </a:rPr>
                        <a:t>Course Outcomes</a:t>
                      </a:r>
                      <a:endParaRPr lang="en-US" sz="2200" b="1" dirty="0">
                        <a:latin typeface="+mj-lt"/>
                      </a:endParaRPr>
                    </a:p>
                  </a:txBody>
                  <a:tcPr/>
                </a:tc>
                <a:tc>
                  <a:txBody>
                    <a:bodyPr/>
                    <a:lstStyle/>
                    <a:p>
                      <a:r>
                        <a:rPr lang="en-US" sz="2200" b="1" dirty="0" smtClean="0">
                          <a:latin typeface="+mj-lt"/>
                        </a:rPr>
                        <a:t>Level</a:t>
                      </a:r>
                      <a:endParaRPr lang="en-US" sz="2200" b="1" dirty="0">
                        <a:latin typeface="+mj-lt"/>
                      </a:endParaRPr>
                    </a:p>
                  </a:txBody>
                  <a:tcPr/>
                </a:tc>
                <a:extLst>
                  <a:ext uri="{0D108BD9-81ED-4DB2-BD59-A6C34878D82A}">
                    <a16:rowId xmlns:a16="http://schemas.microsoft.com/office/drawing/2014/main" xmlns="" val="10001"/>
                  </a:ext>
                </a:extLst>
              </a:tr>
              <a:tr h="629920">
                <a:tc>
                  <a:txBody>
                    <a:bodyPr/>
                    <a:lstStyle/>
                    <a:p>
                      <a:pPr algn="just"/>
                      <a:r>
                        <a:rPr lang="en-US" sz="2200" b="0" dirty="0" smtClean="0">
                          <a:latin typeface="+mj-lt"/>
                          <a:cs typeface="Times New Roman" pitchFamily="18" charset="0"/>
                        </a:rPr>
                        <a:t>             III</a:t>
                      </a:r>
                      <a:endParaRPr lang="en-US" sz="2200" b="0" dirty="0">
                        <a:latin typeface="+mj-lt"/>
                        <a:cs typeface="Times New Roman" pitchFamily="18" charset="0"/>
                      </a:endParaRPr>
                    </a:p>
                  </a:txBody>
                  <a:tcPr/>
                </a:tc>
                <a:tc>
                  <a:txBody>
                    <a:bodyPr/>
                    <a:lstStyle/>
                    <a:p>
                      <a:pPr algn="r"/>
                      <a:r>
                        <a:rPr lang="en-US" sz="2200" b="0" dirty="0" smtClean="0">
                          <a:latin typeface="+mj-lt"/>
                          <a:cs typeface="Times New Roman" pitchFamily="18" charset="0"/>
                        </a:rPr>
                        <a:t>          1</a:t>
                      </a:r>
                      <a:endParaRPr lang="en-US" sz="2200" b="0" dirty="0">
                        <a:latin typeface="+mj-lt"/>
                        <a:cs typeface="Times New Roman" pitchFamily="18" charset="0"/>
                      </a:endParaRPr>
                    </a:p>
                  </a:txBody>
                  <a:tcPr/>
                </a:tc>
                <a:tc>
                  <a:txBody>
                    <a:bodyPr/>
                    <a:lstStyle/>
                    <a:p>
                      <a:pPr algn="just"/>
                      <a:r>
                        <a:rPr lang="en-US" sz="2200" dirty="0" smtClean="0">
                          <a:latin typeface="+mj-lt"/>
                        </a:rPr>
                        <a:t>Sufi movement</a:t>
                      </a:r>
                      <a:endParaRPr lang="en-US" sz="2200" dirty="0" smtClean="0">
                        <a:latin typeface="+mj-lt"/>
                        <a:cs typeface="Times New Roman" pitchFamily="18" charset="0"/>
                      </a:endParaRPr>
                    </a:p>
                  </a:txBody>
                  <a:tcPr/>
                </a:tc>
                <a:tc>
                  <a:txBody>
                    <a:bodyPr/>
                    <a:lstStyle/>
                    <a:p>
                      <a:pPr algn="just"/>
                      <a:r>
                        <a:rPr lang="en-US" sz="2200" b="0" dirty="0" smtClean="0">
                          <a:latin typeface="+mj-lt"/>
                        </a:rPr>
                        <a:t>CO2</a:t>
                      </a:r>
                    </a:p>
                    <a:p>
                      <a:pPr algn="just"/>
                      <a:endParaRPr lang="en-US" sz="2200" b="0" dirty="0">
                        <a:latin typeface="+mj-lt"/>
                      </a:endParaRPr>
                    </a:p>
                  </a:txBody>
                  <a:tcPr/>
                </a:tc>
                <a:tc>
                  <a:txBody>
                    <a:bodyPr/>
                    <a:lstStyle/>
                    <a:p>
                      <a:pPr algn="just"/>
                      <a:r>
                        <a:rPr lang="en-US" sz="2200" b="0" dirty="0" smtClean="0">
                          <a:latin typeface="+mj-lt"/>
                        </a:rPr>
                        <a:t>High</a:t>
                      </a:r>
                    </a:p>
                    <a:p>
                      <a:pPr algn="just"/>
                      <a:r>
                        <a:rPr lang="en-US" sz="2200" b="0" dirty="0" smtClean="0">
                          <a:latin typeface="+mj-lt"/>
                        </a:rPr>
                        <a:t>High</a:t>
                      </a:r>
                      <a:endParaRPr lang="en-US" sz="2200" b="0" dirty="0">
                        <a:latin typeface="+mj-lt"/>
                      </a:endParaRPr>
                    </a:p>
                  </a:txBody>
                  <a:tcPr/>
                </a:tc>
                <a:extLst>
                  <a:ext uri="{0D108BD9-81ED-4DB2-BD59-A6C34878D82A}">
                    <a16:rowId xmlns:a16="http://schemas.microsoft.com/office/drawing/2014/main" xmlns="" val="10002"/>
                  </a:ext>
                </a:extLst>
              </a:tr>
              <a:tr h="247910">
                <a:tc>
                  <a:txBody>
                    <a:bodyPr/>
                    <a:lstStyle/>
                    <a:p>
                      <a:pPr algn="just"/>
                      <a:endParaRPr lang="en-US" sz="2200" b="0" dirty="0">
                        <a:latin typeface="+mj-lt"/>
                        <a:cs typeface="Times New Roman" pitchFamily="18" charset="0"/>
                      </a:endParaRPr>
                    </a:p>
                  </a:txBody>
                  <a:tcPr/>
                </a:tc>
                <a:tc>
                  <a:txBody>
                    <a:bodyPr/>
                    <a:lstStyle/>
                    <a:p>
                      <a:pPr algn="r"/>
                      <a:r>
                        <a:rPr lang="en-US" sz="2200" b="0" dirty="0" smtClean="0">
                          <a:latin typeface="+mj-lt"/>
                          <a:cs typeface="Times New Roman" pitchFamily="18" charset="0"/>
                        </a:rPr>
                        <a:t>          2</a:t>
                      </a:r>
                      <a:endParaRPr lang="en-US" sz="2200" b="0" dirty="0">
                        <a:latin typeface="+mj-lt"/>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200" dirty="0" smtClean="0">
                          <a:latin typeface="+mj-lt"/>
                        </a:rPr>
                        <a:t>Socio religious reform movement of 19</a:t>
                      </a:r>
                      <a:r>
                        <a:rPr lang="en-US" sz="2200" baseline="30000" dirty="0" smtClean="0">
                          <a:latin typeface="+mj-lt"/>
                        </a:rPr>
                        <a:t>th</a:t>
                      </a:r>
                      <a:r>
                        <a:rPr lang="en-US" sz="2200" dirty="0" smtClean="0">
                          <a:latin typeface="+mj-lt"/>
                        </a:rPr>
                        <a:t> century</a:t>
                      </a:r>
                      <a:endParaRPr lang="en-US" sz="2200" dirty="0" smtClean="0">
                        <a:latin typeface="+mj-lt"/>
                        <a:cs typeface="Times New Roman" pitchFamily="18" charset="0"/>
                      </a:endParaRPr>
                    </a:p>
                  </a:txBody>
                  <a:tcPr/>
                </a:tc>
                <a:tc>
                  <a:txBody>
                    <a:bodyPr/>
                    <a:lstStyle/>
                    <a:p>
                      <a:pPr algn="just"/>
                      <a:r>
                        <a:rPr lang="en-US" sz="2200" b="0" dirty="0" smtClean="0">
                          <a:latin typeface="+mj-lt"/>
                        </a:rPr>
                        <a:t>CO2</a:t>
                      </a:r>
                    </a:p>
                    <a:p>
                      <a:pPr algn="just"/>
                      <a:r>
                        <a:rPr lang="en-US" sz="2200" b="0" dirty="0" smtClean="0">
                          <a:latin typeface="+mj-lt"/>
                        </a:rPr>
                        <a:t>CO4</a:t>
                      </a:r>
                      <a:endParaRPr lang="en-US" sz="2200" b="0" dirty="0">
                        <a:latin typeface="+mj-lt"/>
                      </a:endParaRPr>
                    </a:p>
                  </a:txBody>
                  <a:tcPr/>
                </a:tc>
                <a:tc>
                  <a:txBody>
                    <a:bodyPr/>
                    <a:lstStyle/>
                    <a:p>
                      <a:pPr algn="just"/>
                      <a:r>
                        <a:rPr lang="en-US" sz="2200" b="0" dirty="0" smtClean="0">
                          <a:latin typeface="+mj-lt"/>
                        </a:rPr>
                        <a:t>High</a:t>
                      </a:r>
                    </a:p>
                    <a:p>
                      <a:pPr algn="just"/>
                      <a:r>
                        <a:rPr lang="en-US" sz="2200" b="0" dirty="0" smtClean="0">
                          <a:latin typeface="+mj-lt"/>
                        </a:rPr>
                        <a:t>Low</a:t>
                      </a:r>
                      <a:endParaRPr lang="en-US" sz="2200" b="0" dirty="0">
                        <a:latin typeface="+mj-lt"/>
                      </a:endParaRPr>
                    </a:p>
                  </a:txBody>
                  <a:tcPr/>
                </a:tc>
                <a:extLst>
                  <a:ext uri="{0D108BD9-81ED-4DB2-BD59-A6C34878D82A}">
                    <a16:rowId xmlns:a16="http://schemas.microsoft.com/office/drawing/2014/main" xmlns="" val="10003"/>
                  </a:ext>
                </a:extLst>
              </a:tr>
              <a:tr h="247910">
                <a:tc>
                  <a:txBody>
                    <a:bodyPr/>
                    <a:lstStyle/>
                    <a:p>
                      <a:pPr algn="just"/>
                      <a:endParaRPr lang="en-US" sz="2200" b="0" dirty="0">
                        <a:latin typeface="+mj-lt"/>
                        <a:cs typeface="Times New Roman" pitchFamily="18" charset="0"/>
                      </a:endParaRPr>
                    </a:p>
                  </a:txBody>
                  <a:tcPr/>
                </a:tc>
                <a:tc>
                  <a:txBody>
                    <a:bodyPr/>
                    <a:lstStyle/>
                    <a:p>
                      <a:pPr algn="r"/>
                      <a:r>
                        <a:rPr lang="en-US" sz="2200" b="0" dirty="0" smtClean="0">
                          <a:latin typeface="+mj-lt"/>
                          <a:cs typeface="Times New Roman" pitchFamily="18" charset="0"/>
                        </a:rPr>
                        <a:t>3</a:t>
                      </a:r>
                      <a:endParaRPr lang="en-US" sz="2200" b="0" dirty="0">
                        <a:latin typeface="+mj-lt"/>
                        <a:cs typeface="Times New Roman" pitchFamily="18" charset="0"/>
                      </a:endParaRPr>
                    </a:p>
                  </a:txBody>
                  <a:tcPr/>
                </a:tc>
                <a:tc>
                  <a:txBody>
                    <a:bodyPr/>
                    <a:lstStyle/>
                    <a:p>
                      <a:r>
                        <a:rPr lang="en-US" sz="2200" dirty="0" smtClean="0">
                          <a:latin typeface="+mj-lt"/>
                        </a:rPr>
                        <a:t>Modern religious practices</a:t>
                      </a:r>
                      <a:endParaRPr lang="en-US" sz="2200" b="0" dirty="0" smtClean="0">
                        <a:latin typeface="+mj-lt"/>
                      </a:endParaRPr>
                    </a:p>
                  </a:txBody>
                  <a:tcPr/>
                </a:tc>
                <a:tc>
                  <a:txBody>
                    <a:bodyPr/>
                    <a:lstStyle/>
                    <a:p>
                      <a:pPr algn="just"/>
                      <a:r>
                        <a:rPr lang="en-US" sz="2200" b="0" dirty="0" smtClean="0">
                          <a:latin typeface="+mj-lt"/>
                        </a:rPr>
                        <a:t>CO2</a:t>
                      </a:r>
                    </a:p>
                    <a:p>
                      <a:pPr algn="just"/>
                      <a:r>
                        <a:rPr lang="en-US" sz="2200" b="0" dirty="0" smtClean="0">
                          <a:latin typeface="+mj-lt"/>
                        </a:rPr>
                        <a:t>CO3</a:t>
                      </a:r>
                      <a:endParaRPr lang="en-US" sz="2200" b="0" dirty="0">
                        <a:latin typeface="+mj-lt"/>
                      </a:endParaRPr>
                    </a:p>
                  </a:txBody>
                  <a:tcPr/>
                </a:tc>
                <a:tc>
                  <a:txBody>
                    <a:bodyPr/>
                    <a:lstStyle/>
                    <a:p>
                      <a:pPr algn="just"/>
                      <a:r>
                        <a:rPr lang="en-US" sz="2200" b="0" dirty="0" smtClean="0">
                          <a:latin typeface="+mj-lt"/>
                        </a:rPr>
                        <a:t>Medium</a:t>
                      </a:r>
                    </a:p>
                    <a:p>
                      <a:pPr algn="just"/>
                      <a:r>
                        <a:rPr lang="en-US" sz="2200" b="0" dirty="0" smtClean="0">
                          <a:latin typeface="+mj-lt"/>
                        </a:rPr>
                        <a:t>High</a:t>
                      </a:r>
                      <a:endParaRPr lang="en-US" sz="2200" b="0" dirty="0">
                        <a:latin typeface="+mj-lt"/>
                      </a:endParaRPr>
                    </a:p>
                  </a:txBody>
                  <a:tcPr/>
                </a:tc>
                <a:extLst>
                  <a:ext uri="{0D108BD9-81ED-4DB2-BD59-A6C34878D82A}">
                    <a16:rowId xmlns:a16="http://schemas.microsoft.com/office/drawing/2014/main" xmlns="" val="10004"/>
                  </a:ext>
                </a:extLst>
              </a:tr>
            </a:tbl>
          </a:graphicData>
        </a:graphic>
      </p:graphicFrame>
      <p:sp>
        <p:nvSpPr>
          <p:cNvPr id="4" name="Date Placeholder 3"/>
          <p:cNvSpPr>
            <a:spLocks noGrp="1"/>
          </p:cNvSpPr>
          <p:nvPr>
            <p:ph type="dt" sz="half" idx="10"/>
          </p:nvPr>
        </p:nvSpPr>
        <p:spPr/>
        <p:txBody>
          <a:bodyPr/>
          <a:lstStyle/>
          <a:p>
            <a:fld id="{D379EC16-056A-4DDA-9AA4-DCD963BCA785}" type="datetime1">
              <a:rPr lang="en-US" smtClean="0"/>
              <a:pPr/>
              <a:t>3/26/2022</a:t>
            </a:fld>
            <a:endParaRPr lang="en-US" dirty="0"/>
          </a:p>
        </p:txBody>
      </p:sp>
      <p:sp>
        <p:nvSpPr>
          <p:cNvPr id="5" name="Footer Placeholder 4"/>
          <p:cNvSpPr>
            <a:spLocks noGrp="1"/>
          </p:cNvSpPr>
          <p:nvPr>
            <p:ph type="ftr" sz="quarter" idx="11"/>
          </p:nvPr>
        </p:nvSpPr>
        <p:spPr>
          <a:xfrm>
            <a:off x="1676400" y="6172200"/>
            <a:ext cx="6477000" cy="54927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Topic Mapping with course outcomes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IN" sz="2400" dirty="0" smtClean="0">
                <a:latin typeface="Times New Roman" pitchFamily="18" charset="0"/>
                <a:cs typeface="Times New Roman" pitchFamily="18" charset="0"/>
              </a:rPr>
              <a:t>Students will be able to know the following concepts:</a:t>
            </a:r>
            <a:endParaRPr lang="en-US" sz="2400" dirty="0" smtClean="0">
              <a:latin typeface="Times New Roman" pitchFamily="18" charset="0"/>
              <a:cs typeface="Times New Roman" pitchFamily="18" charset="0"/>
            </a:endParaRPr>
          </a:p>
          <a:p>
            <a:pPr algn="just"/>
            <a:endParaRPr lang="en-US" sz="2400" spc="-5" dirty="0" smtClean="0">
              <a:latin typeface="Times New Roman" pitchFamily="18" charset="0"/>
              <a:cs typeface="Times New Roman" pitchFamily="18" charset="0"/>
            </a:endParaRPr>
          </a:p>
          <a:p>
            <a:pPr fontAlgn="t"/>
            <a:r>
              <a:rPr lang="en-US" sz="2400" dirty="0" smtClean="0"/>
              <a:t>Sufi movement</a:t>
            </a:r>
          </a:p>
          <a:p>
            <a:r>
              <a:rPr lang="en-US" sz="2400" dirty="0" smtClean="0"/>
              <a:t>Socio religious reform movement of 19</a:t>
            </a:r>
            <a:r>
              <a:rPr lang="en-US" sz="2400" baseline="30000" dirty="0" smtClean="0"/>
              <a:t>th</a:t>
            </a:r>
            <a:r>
              <a:rPr lang="en-US" sz="2400" dirty="0" smtClean="0"/>
              <a:t> century</a:t>
            </a:r>
          </a:p>
          <a:p>
            <a:pPr fontAlgn="t"/>
            <a:r>
              <a:rPr lang="en-US" sz="2400" dirty="0" smtClean="0"/>
              <a:t>Modern religious practices</a:t>
            </a:r>
          </a:p>
          <a:p>
            <a:pPr>
              <a:buNone/>
            </a:pPr>
            <a:endParaRPr lang="en-US" sz="2400" b="1" dirty="0"/>
          </a:p>
        </p:txBody>
      </p:sp>
      <p:sp>
        <p:nvSpPr>
          <p:cNvPr id="4" name="Date Placeholder 3"/>
          <p:cNvSpPr>
            <a:spLocks noGrp="1"/>
          </p:cNvSpPr>
          <p:nvPr>
            <p:ph type="dt" sz="half" idx="10"/>
          </p:nvPr>
        </p:nvSpPr>
        <p:spPr/>
        <p:txBody>
          <a:bodyPr/>
          <a:lstStyle/>
          <a:p>
            <a:fld id="{E77B1B0D-C89C-4B81-99C7-BDCE1418E82C}"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latin typeface="Times New Roman" pitchFamily="18" charset="0"/>
                <a:cs typeface="Times New Roman" pitchFamily="18" charset="0"/>
              </a:rPr>
              <a:t> Objectives of topic/Session</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pPr algn="just"/>
            <a:r>
              <a:rPr lang="en-US" sz="2400" dirty="0" smtClean="0"/>
              <a:t>The terms Sufi, Wali, Darvesh and Faqir are used for Muslim saints who attempted to achieve development of their intuitive faculties through ascetic exercises, contemplation, renunciation and self-denial. By the 12</a:t>
            </a:r>
            <a:r>
              <a:rPr lang="en-US" sz="2400" baseline="30000" dirty="0" smtClean="0"/>
              <a:t>th</a:t>
            </a:r>
            <a:r>
              <a:rPr lang="en-US" sz="2400" dirty="0" smtClean="0"/>
              <a:t> century A.D., Sufism had become a universal aspect of Islamic social life as its influence extended over almost the entire Muslim community.</a:t>
            </a:r>
          </a:p>
          <a:p>
            <a:pPr algn="just"/>
            <a:r>
              <a:rPr lang="en-US" sz="2400" dirty="0" smtClean="0"/>
              <a:t>Sufism represents the inward or esoteric side of Islam or the mystical dimension of Muslim religion. However, the Sufi saints transcending all religious and communal distinctions, worked for promoting the interest of humanity at large.</a:t>
            </a:r>
            <a:endParaRPr lang="en-US" sz="2400" spc="-5"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A1704F7-73EE-4702-A35A-6BD65FA98317}"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fontAlgn="t"/>
            <a:r>
              <a:rPr lang="en-US" sz="2800" b="1" dirty="0" smtClean="0">
                <a:latin typeface="Times New Roman" pitchFamily="18" charset="0"/>
                <a:cs typeface="Times New Roman" pitchFamily="18" charset="0"/>
              </a:rPr>
              <a:t>                             </a:t>
            </a:r>
            <a:r>
              <a:rPr lang="en-US" sz="2800" b="1" dirty="0" smtClean="0"/>
              <a:t>Sufi movement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pPr algn="just"/>
            <a:r>
              <a:rPr lang="en-US" sz="2400" dirty="0" smtClean="0"/>
              <a:t>The Sufis were a class of philosophers remarkable for their religious catholicity. Sufis regarded God as the supreme beauty and believed that one must admire it, take delight in His thought and concentrate his attention on Him only. They believed that God is 'Mashuq' and Sufis are the 'Ashiqs'.</a:t>
            </a:r>
          </a:p>
          <a:p>
            <a:pPr algn="just"/>
            <a:r>
              <a:rPr lang="en-US" sz="2400" dirty="0" smtClean="0"/>
              <a:t>Sufism crystallized itself into various 'Silsilahs' or orders. The 4 most popular among these were Chistis, Suhrawardis, Qadiriyahs and Naqshbandis.</a:t>
            </a:r>
          </a:p>
        </p:txBody>
      </p:sp>
      <p:sp>
        <p:nvSpPr>
          <p:cNvPr id="4" name="Date Placeholder 3"/>
          <p:cNvSpPr>
            <a:spLocks noGrp="1"/>
          </p:cNvSpPr>
          <p:nvPr>
            <p:ph type="dt" sz="half" idx="10"/>
          </p:nvPr>
        </p:nvSpPr>
        <p:spPr/>
        <p:txBody>
          <a:bodyPr/>
          <a:lstStyle/>
          <a:p>
            <a:fld id="{A7719E6C-D5F3-4C13-98B3-D5F894CEDAD2}"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fontAlgn="t"/>
            <a:r>
              <a:rPr lang="en-US" sz="2800" b="1" dirty="0" smtClean="0"/>
              <a:t>                              Sufi movement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pPr algn="just"/>
            <a:r>
              <a:rPr lang="en-US" sz="2400" dirty="0" smtClean="0"/>
              <a:t>Sufism took roots in both rural and urban areas and exercised a deep social, political and cultural influence on the masses. It rebelled against all forms of religious formalism, orthodoxy, falsehood and hypocrisy and to create a new world order in which spiritual bliss was the only and the ultimate goal.</a:t>
            </a:r>
          </a:p>
          <a:p>
            <a:pPr algn="just"/>
            <a:r>
              <a:rPr lang="en-US" sz="2400" dirty="0" smtClean="0"/>
              <a:t>At a time when struggle for political power was the prevailing madness, the Sufi saints reminded men of their moral obligations.</a:t>
            </a:r>
            <a:endParaRPr lang="en-US" sz="2400" b="1" dirty="0" smtClean="0"/>
          </a:p>
          <a:p>
            <a:pPr>
              <a:buNone/>
            </a:pPr>
            <a:endParaRPr lang="en-US" sz="2400" b="1" dirty="0"/>
          </a:p>
        </p:txBody>
      </p:sp>
      <p:sp>
        <p:nvSpPr>
          <p:cNvPr id="4" name="Date Placeholder 3"/>
          <p:cNvSpPr>
            <a:spLocks noGrp="1"/>
          </p:cNvSpPr>
          <p:nvPr>
            <p:ph type="dt" sz="half" idx="10"/>
          </p:nvPr>
        </p:nvSpPr>
        <p:spPr/>
        <p:txBody>
          <a:bodyPr/>
          <a:lstStyle/>
          <a:p>
            <a:fld id="{8A7328FB-9F83-4AD7-A7A9-7D5FF2E1E6E0}"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latin typeface="Times New Roman" pitchFamily="18" charset="0"/>
                <a:cs typeface="Times New Roman" pitchFamily="18" charset="0"/>
              </a:rPr>
              <a:t> </a:t>
            </a:r>
          </a:p>
          <a:p>
            <a:pPr algn="ctr"/>
            <a:r>
              <a:rPr lang="en-US" sz="2800" b="1" dirty="0" smtClean="0"/>
              <a:t>Sufi movement</a:t>
            </a:r>
          </a:p>
          <a:p>
            <a:pPr algn="ctr"/>
            <a:endParaRPr lang="en-US" sz="2800" b="1" dirty="0" smtClean="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dirty="0" smtClean="0"/>
              <a:t>To a world torn by strife and conflict they tried to bring peace and harmony. </a:t>
            </a:r>
          </a:p>
          <a:p>
            <a:r>
              <a:rPr lang="en-US" sz="2400" dirty="0" smtClean="0"/>
              <a:t>The most important contribution of Sufism is that it helped to blunt the edge of Hindu-Muslim prejudices by forging the feelings of solidarity and brotherhood between these two religious communities.</a:t>
            </a:r>
            <a:endParaRPr lang="en-US" sz="2400" b="1" dirty="0"/>
          </a:p>
        </p:txBody>
      </p:sp>
      <p:sp>
        <p:nvSpPr>
          <p:cNvPr id="4" name="Date Placeholder 3"/>
          <p:cNvSpPr>
            <a:spLocks noGrp="1"/>
          </p:cNvSpPr>
          <p:nvPr>
            <p:ph type="dt" sz="half" idx="10"/>
          </p:nvPr>
        </p:nvSpPr>
        <p:spPr/>
        <p:txBody>
          <a:bodyPr/>
          <a:lstStyle/>
          <a:p>
            <a:fld id="{C4C0CC01-3310-4492-A75D-854A9F563B0B}"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t>Sufi movement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dirty="0" smtClean="0"/>
              <a:t>Basically, there were two kinds of reform movements in the 19th century in India:</a:t>
            </a:r>
          </a:p>
          <a:p>
            <a:r>
              <a:rPr lang="en-US" sz="2400" b="1" dirty="0" smtClean="0"/>
              <a:t>Reformist</a:t>
            </a:r>
            <a:endParaRPr lang="en-US" sz="2400" dirty="0" smtClean="0"/>
          </a:p>
          <a:p>
            <a:r>
              <a:rPr lang="en-US" sz="2400" dirty="0" smtClean="0"/>
              <a:t>These movements responded with the time and scientific temper of the modern era.</a:t>
            </a:r>
          </a:p>
          <a:p>
            <a:r>
              <a:rPr lang="en-US" sz="2400" b="1" dirty="0" smtClean="0"/>
              <a:t>Revivalist</a:t>
            </a:r>
            <a:endParaRPr lang="en-US" sz="2400" dirty="0" smtClean="0"/>
          </a:p>
          <a:p>
            <a:r>
              <a:rPr lang="en-US" sz="2400" dirty="0" smtClean="0"/>
              <a:t>These movements started reviving ancient Indian traditions and thoughts and believed that the western thinking ruined Indian culture and ethos.</a:t>
            </a:r>
            <a:endParaRPr lang="en-US" sz="2400" dirty="0"/>
          </a:p>
        </p:txBody>
      </p:sp>
      <p:sp>
        <p:nvSpPr>
          <p:cNvPr id="4" name="Date Placeholder 3"/>
          <p:cNvSpPr>
            <a:spLocks noGrp="1"/>
          </p:cNvSpPr>
          <p:nvPr>
            <p:ph type="dt" sz="half" idx="10"/>
          </p:nvPr>
        </p:nvSpPr>
        <p:spPr/>
        <p:txBody>
          <a:bodyPr/>
          <a:lstStyle/>
          <a:p>
            <a:fld id="{7D319FAD-4203-4966-AAD4-6DD38051D200}"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600" b="1" dirty="0" smtClean="0"/>
              <a:t>19th Century Social and Religious Reform Movements</a:t>
            </a:r>
            <a:endParaRPr lang="en-US" sz="2600" b="1"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Brahmo Samaj (Reformist): </a:t>
            </a:r>
          </a:p>
          <a:p>
            <a:pPr algn="just"/>
            <a:r>
              <a:rPr lang="en-US" sz="2400" dirty="0" smtClean="0"/>
              <a:t>Founded in 1828 in Calcutta by pioneer social reformer Raja Ram Mohan Roy (1772 – 1833), the movement fought against idol worship, polytheism, caste oppression, unnecessary rituals and other social evils like Sati, polygamy, purdah system, child marriage, etc. The society also strove for women’s rights like widow remarriage and education of women. It also fought attacked prevailing superstitions among Hindus.</a:t>
            </a:r>
          </a:p>
          <a:p>
            <a:pPr algn="just"/>
            <a:r>
              <a:rPr lang="en-US" sz="2400" b="1" dirty="0" smtClean="0"/>
              <a:t>Arya Samaj (Revivalist): </a:t>
            </a:r>
            <a:r>
              <a:rPr lang="en-US" sz="2400" dirty="0" smtClean="0"/>
              <a:t>Founded in 1875 in Bombay by Swami Dayanand Saraswati, this society strove against idolatry, polytheism, rituals, priesthood, animal sacrifice, child marriage and the caste system. It also encourages the dissemination of western scientific knowledge.</a:t>
            </a:r>
            <a:endParaRPr lang="en-US" sz="2400" dirty="0"/>
          </a:p>
        </p:txBody>
      </p:sp>
      <p:sp>
        <p:nvSpPr>
          <p:cNvPr id="4" name="Date Placeholder 3"/>
          <p:cNvSpPr>
            <a:spLocks noGrp="1"/>
          </p:cNvSpPr>
          <p:nvPr>
            <p:ph type="dt" sz="half" idx="10"/>
          </p:nvPr>
        </p:nvSpPr>
        <p:spPr/>
        <p:txBody>
          <a:bodyPr/>
          <a:lstStyle/>
          <a:p>
            <a:fld id="{D0F9AFFB-34D1-48E3-859A-F102AFD56F16}"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600" b="1" dirty="0" smtClean="0"/>
              <a:t>19th Century Social and Religious Reform Movements</a:t>
            </a:r>
            <a:endParaRPr lang="en-US" sz="2600" b="1"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lnSpcReduction="10000"/>
          </a:bodyPr>
          <a:lstStyle/>
          <a:p>
            <a:pPr algn="just"/>
            <a:r>
              <a:rPr lang="en-US" sz="2400" b="1" dirty="0" smtClean="0"/>
              <a:t>Theosophical Society</a:t>
            </a:r>
          </a:p>
          <a:p>
            <a:pPr algn="just"/>
            <a:r>
              <a:rPr lang="en-US" sz="2400" dirty="0" smtClean="0"/>
              <a:t>Though Annie Besant’s name is most associated with this society, it was actually founded by Madame Blavatsky and Colonel Olcott in New York (later shifted to Madras) in 1875. It promoted the study of ancient Hindu, Buddhist and Zoroastrian philosophies. It promoted the concept of universal brotherhood as expounded in the Upanishads and Vedas. </a:t>
            </a:r>
          </a:p>
          <a:p>
            <a:pPr algn="just"/>
            <a:r>
              <a:rPr lang="en-US" sz="2400" b="1" dirty="0" smtClean="0"/>
              <a:t>Ramakrishna Mission</a:t>
            </a:r>
            <a:endParaRPr lang="en-US" sz="2400" dirty="0" smtClean="0"/>
          </a:p>
          <a:p>
            <a:pPr algn="just"/>
            <a:r>
              <a:rPr lang="en-US" sz="2400" dirty="0" smtClean="0"/>
              <a:t>This mission was founded by Swami Vivekananda in 1892 in Belur near Calcutta to promote the teachings of Vivekananda’s Guru Ramakrishna Paramahansa. It opposed the caste system and untouchability. It focused on the universality of all religions and propagated Vedanta.</a:t>
            </a:r>
            <a:br>
              <a:rPr lang="en-US" sz="2400" dirty="0" smtClean="0"/>
            </a:br>
            <a:endParaRPr lang="en-US" sz="2400" dirty="0"/>
          </a:p>
        </p:txBody>
      </p:sp>
      <p:sp>
        <p:nvSpPr>
          <p:cNvPr id="4" name="Date Placeholder 3"/>
          <p:cNvSpPr>
            <a:spLocks noGrp="1"/>
          </p:cNvSpPr>
          <p:nvPr>
            <p:ph type="dt" sz="half" idx="10"/>
          </p:nvPr>
        </p:nvSpPr>
        <p:spPr/>
        <p:txBody>
          <a:bodyPr/>
          <a:lstStyle/>
          <a:p>
            <a:fld id="{2FDBA12F-1DFA-4616-BB14-04D9023449AA}"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600" b="1" dirty="0" smtClean="0"/>
              <a:t>19th Century Social and Religious Reform Movements</a:t>
            </a:r>
            <a:endParaRPr lang="en-US" sz="2600" b="1"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Satyashodhak Samaj</a:t>
            </a:r>
          </a:p>
          <a:p>
            <a:pPr algn="just"/>
            <a:r>
              <a:rPr lang="en-US" sz="2400" dirty="0" smtClean="0"/>
              <a:t>This society was founded by Jyotirao Govindrao Phule on 24 September 1873 in present-day Maharashtra. It campaigned against idolatry and the caste system. It advocated rational thinking and rejected priesthood. Jyotirao Phule is said to have used the term ‘Dalit’ for the oppressed castes.</a:t>
            </a:r>
          </a:p>
          <a:p>
            <a:r>
              <a:rPr lang="en-US" sz="2400" b="1" dirty="0" smtClean="0"/>
              <a:t>Young Bengal Movement</a:t>
            </a:r>
            <a:endParaRPr lang="en-US" sz="2400" dirty="0" smtClean="0"/>
          </a:p>
          <a:p>
            <a:pPr algn="just"/>
            <a:r>
              <a:rPr lang="en-US" sz="2400" dirty="0" smtClean="0"/>
              <a:t>This movement was started by Henry Louis Vivian Derozio in Calcutta in the 1820s. Derozio was an Anglo-Indian college teacher in Calcutta and he encouraged radical thinking among his students. He criticised the prevailing religious practices of orthodox Hinduism. He also inspired free-thinking and propagated the spirit of liberty, equality and freedom.</a:t>
            </a:r>
          </a:p>
          <a:p>
            <a:pPr algn="just"/>
            <a:endParaRPr lang="en-US" sz="2400" i="1" dirty="0"/>
          </a:p>
        </p:txBody>
      </p:sp>
      <p:sp>
        <p:nvSpPr>
          <p:cNvPr id="4" name="Date Placeholder 3"/>
          <p:cNvSpPr>
            <a:spLocks noGrp="1"/>
          </p:cNvSpPr>
          <p:nvPr>
            <p:ph type="dt" sz="half" idx="10"/>
          </p:nvPr>
        </p:nvSpPr>
        <p:spPr/>
        <p:txBody>
          <a:bodyPr/>
          <a:lstStyle/>
          <a:p>
            <a:fld id="{552FFEE3-FCCB-4A8A-9E3D-6F0AF6B21547}"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  </a:t>
            </a:r>
          </a:p>
          <a:p>
            <a:r>
              <a:rPr lang="en-US" sz="2600" b="1" dirty="0" smtClean="0"/>
              <a:t>19th Century Social and Religious Reform Movements</a:t>
            </a:r>
          </a:p>
          <a:p>
            <a:endParaRPr lang="en-US" sz="2800" b="1"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Aligarh Movement (Reformist)</a:t>
            </a:r>
          </a:p>
          <a:p>
            <a:pPr algn="just"/>
            <a:r>
              <a:rPr lang="en-US" sz="2400" dirty="0" smtClean="0"/>
              <a:t>This movement was started by Sir </a:t>
            </a:r>
            <a:r>
              <a:rPr lang="en-US" sz="2400" dirty="0" err="1" smtClean="0"/>
              <a:t>Sayyed</a:t>
            </a:r>
            <a:r>
              <a:rPr lang="en-US" sz="2400" dirty="0" smtClean="0"/>
              <a:t> Ahmed Khan in the 1860’s in Aligarh, Uttar Pradesh. It focused on spreading western scientific education among the Muslim masses in India.</a:t>
            </a:r>
          </a:p>
          <a:p>
            <a:r>
              <a:rPr lang="en-US" sz="2400" b="1" dirty="0" smtClean="0"/>
              <a:t>Widow Remarriage Association</a:t>
            </a:r>
            <a:endParaRPr lang="en-US" sz="2400" dirty="0" smtClean="0"/>
          </a:p>
          <a:p>
            <a:pPr algn="just"/>
            <a:r>
              <a:rPr lang="en-US" sz="2400" dirty="0" smtClean="0"/>
              <a:t>This was founded by Vishnu Shastri Pandit and Mahadev Govind Ranade in Bombay in 1861. It promoted widow remarriage and campaigned against child marriages, the heavy cost of marriages and custom-like the shaving of widow’s head, etc.</a:t>
            </a:r>
          </a:p>
          <a:p>
            <a:endParaRPr lang="en-US" sz="2400" dirty="0"/>
          </a:p>
        </p:txBody>
      </p:sp>
      <p:sp>
        <p:nvSpPr>
          <p:cNvPr id="4" name="Date Placeholder 3"/>
          <p:cNvSpPr>
            <a:spLocks noGrp="1"/>
          </p:cNvSpPr>
          <p:nvPr>
            <p:ph type="dt" sz="half" idx="10"/>
          </p:nvPr>
        </p:nvSpPr>
        <p:spPr/>
        <p:txBody>
          <a:bodyPr/>
          <a:lstStyle/>
          <a:p>
            <a:fld id="{7F97CC33-964C-4F7B-B52A-11F2038904E4}"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600" b="1" dirty="0" smtClean="0"/>
              <a:t>19th Century Social and Religious Reform Movements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Deoband Movement</a:t>
            </a:r>
            <a:endParaRPr lang="en-US" sz="2400" dirty="0" smtClean="0"/>
          </a:p>
          <a:p>
            <a:r>
              <a:rPr lang="en-US" sz="2400" dirty="0" smtClean="0"/>
              <a:t>This was started in 1867 in Deoband in UP by theologians, Muhammad Qasim Nanawatawi and Rashid Ahmad Gangohi. It was an anti-British movement that aimed at the uplifting the Muslims through educational efforts.</a:t>
            </a:r>
            <a:endParaRPr lang="en-US" sz="2400" dirty="0"/>
          </a:p>
        </p:txBody>
      </p:sp>
      <p:sp>
        <p:nvSpPr>
          <p:cNvPr id="4" name="Date Placeholder 3"/>
          <p:cNvSpPr>
            <a:spLocks noGrp="1"/>
          </p:cNvSpPr>
          <p:nvPr>
            <p:ph type="dt" sz="half" idx="10"/>
          </p:nvPr>
        </p:nvSpPr>
        <p:spPr/>
        <p:txBody>
          <a:bodyPr/>
          <a:lstStyle/>
          <a:p>
            <a:fld id="{8EED6E92-D4C8-4AE5-AAEA-EA2F9F55EB82}"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  </a:t>
            </a:r>
          </a:p>
          <a:p>
            <a:r>
              <a:rPr lang="en-US" sz="2600" b="1" dirty="0" smtClean="0"/>
              <a:t>19th Century Social and Religious Reform Movements</a:t>
            </a:r>
          </a:p>
          <a:p>
            <a:endParaRPr lang="en-US" sz="2800" b="1"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dirty="0" smtClean="0"/>
              <a:t>Religion is a vast subject. Actually, that’s an understatement. Religion touches on everything about the world around us, from the explanations we seek for the creation of the universe and our purpose within to the higher power behind these things to the way we behave, treat one another, and interact with society to the values, laws, and beliefs that govern us. </a:t>
            </a:r>
          </a:p>
          <a:p>
            <a:r>
              <a:rPr lang="en-US" sz="2400" dirty="0" smtClean="0"/>
              <a:t>Whether you are a person of faith, a skeptic, or something in between, the concepts of spirituality, organized religion, and morality effect us all. They produce cultural constructs, power dynamics, and historical narratives. They can also produce philosophical innovation, ethical reform, and the advancement of social justice.</a:t>
            </a:r>
            <a:endParaRPr lang="en-US" sz="2400" dirty="0"/>
          </a:p>
        </p:txBody>
      </p:sp>
      <p:sp>
        <p:nvSpPr>
          <p:cNvPr id="4" name="Date Placeholder 3"/>
          <p:cNvSpPr>
            <a:spLocks noGrp="1"/>
          </p:cNvSpPr>
          <p:nvPr>
            <p:ph type="dt" sz="half" idx="10"/>
          </p:nvPr>
        </p:nvSpPr>
        <p:spPr/>
        <p:txBody>
          <a:bodyPr/>
          <a:lstStyle/>
          <a:p>
            <a:fld id="{3C0728C7-CE9B-4FE0-89DC-2DECA2717CE4}"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smtClean="0"/>
              <a:t>                      </a:t>
            </a:r>
            <a:r>
              <a:rPr lang="en-US" sz="2800" b="1" dirty="0" smtClean="0"/>
              <a:t>Modern religious practices</a:t>
            </a:r>
            <a:endParaRPr lang="en-US" sz="2800" b="1"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Name of Religion</a:t>
            </a:r>
          </a:p>
          <a:p>
            <a:r>
              <a:rPr lang="en-US" sz="2400" dirty="0" smtClean="0"/>
              <a:t>Atheism/Agnosticism</a:t>
            </a:r>
          </a:p>
          <a:p>
            <a:r>
              <a:rPr lang="en-US" sz="2400" dirty="0" smtClean="0"/>
              <a:t>Bahá’í</a:t>
            </a:r>
          </a:p>
          <a:p>
            <a:r>
              <a:rPr lang="en-US" sz="2400" dirty="0" smtClean="0"/>
              <a:t>Buddhism</a:t>
            </a:r>
          </a:p>
          <a:p>
            <a:r>
              <a:rPr lang="en-US" sz="2400" dirty="0" smtClean="0"/>
              <a:t>Christianity</a:t>
            </a:r>
          </a:p>
          <a:p>
            <a:r>
              <a:rPr lang="en-US" sz="2400" dirty="0" smtClean="0"/>
              <a:t>Confucianism</a:t>
            </a:r>
          </a:p>
          <a:p>
            <a:r>
              <a:rPr lang="en-US" sz="2400" dirty="0" smtClean="0"/>
              <a:t>Druze</a:t>
            </a:r>
          </a:p>
          <a:p>
            <a:r>
              <a:rPr lang="en-US" sz="2400" dirty="0" smtClean="0"/>
              <a:t>Gnosticism</a:t>
            </a:r>
          </a:p>
          <a:p>
            <a:r>
              <a:rPr lang="en-US" sz="2400" dirty="0" smtClean="0"/>
              <a:t>Hinduism</a:t>
            </a:r>
          </a:p>
          <a:p>
            <a:r>
              <a:rPr lang="en-US" sz="2400" dirty="0" smtClean="0"/>
              <a:t>Islam</a:t>
            </a:r>
          </a:p>
          <a:p>
            <a:r>
              <a:rPr lang="en-US" sz="2400" dirty="0" smtClean="0"/>
              <a:t>Jainism</a:t>
            </a:r>
          </a:p>
          <a:p>
            <a:r>
              <a:rPr lang="en-US" sz="2400" dirty="0" smtClean="0"/>
              <a:t>Judaism</a:t>
            </a:r>
          </a:p>
          <a:p>
            <a:pPr>
              <a:buNone/>
            </a:pPr>
            <a:endParaRPr lang="en-US" sz="2400" b="1" dirty="0" smtClean="0"/>
          </a:p>
          <a:p>
            <a:endParaRPr lang="en-US" sz="2400" dirty="0"/>
          </a:p>
        </p:txBody>
      </p:sp>
      <p:sp>
        <p:nvSpPr>
          <p:cNvPr id="4" name="Date Placeholder 3"/>
          <p:cNvSpPr>
            <a:spLocks noGrp="1"/>
          </p:cNvSpPr>
          <p:nvPr>
            <p:ph type="dt" sz="half" idx="10"/>
          </p:nvPr>
        </p:nvSpPr>
        <p:spPr/>
        <p:txBody>
          <a:bodyPr/>
          <a:lstStyle/>
          <a:p>
            <a:fld id="{84E11692-E881-4B07-B054-EF47A00E62AA}"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                        Modern religious practices</a:t>
            </a:r>
            <a:endParaRPr lang="en-US" sz="2800" b="1"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5562600"/>
          </a:xfrm>
        </p:spPr>
        <p:txBody>
          <a:bodyPr>
            <a:normAutofit/>
          </a:bodyPr>
          <a:lstStyle/>
          <a:p>
            <a:r>
              <a:rPr lang="en-US" sz="2400" b="1" dirty="0" smtClean="0"/>
              <a:t>Name of Religion</a:t>
            </a:r>
          </a:p>
          <a:p>
            <a:r>
              <a:rPr lang="en-US" sz="2400" dirty="0" smtClean="0"/>
              <a:t>Rastafarianism</a:t>
            </a:r>
          </a:p>
          <a:p>
            <a:r>
              <a:rPr lang="en-US" sz="2400" dirty="0" smtClean="0"/>
              <a:t>Shinto</a:t>
            </a:r>
          </a:p>
          <a:p>
            <a:r>
              <a:rPr lang="en-US" sz="2400" dirty="0" smtClean="0"/>
              <a:t>Sikhism</a:t>
            </a:r>
          </a:p>
          <a:p>
            <a:r>
              <a:rPr lang="en-US" sz="2400" dirty="0" smtClean="0"/>
              <a:t>Zoroastrianism</a:t>
            </a:r>
          </a:p>
          <a:p>
            <a:r>
              <a:rPr lang="en-US" sz="2400" dirty="0" smtClean="0"/>
              <a:t>Traditional African Religions</a:t>
            </a:r>
          </a:p>
          <a:p>
            <a:r>
              <a:rPr lang="en-US" sz="2400" dirty="0" smtClean="0"/>
              <a:t>African Diaspora Religions</a:t>
            </a:r>
          </a:p>
          <a:p>
            <a:r>
              <a:rPr lang="en-US" sz="2400" dirty="0" smtClean="0"/>
              <a:t>Indigenous American Religions</a:t>
            </a:r>
          </a:p>
          <a:p>
            <a:pPr>
              <a:buNone/>
            </a:pPr>
            <a:endParaRPr lang="en-US" sz="2400" b="1" dirty="0" smtClean="0"/>
          </a:p>
          <a:p>
            <a:endParaRPr lang="en-US" sz="2400" dirty="0"/>
          </a:p>
        </p:txBody>
      </p:sp>
      <p:sp>
        <p:nvSpPr>
          <p:cNvPr id="4" name="Date Placeholder 3"/>
          <p:cNvSpPr>
            <a:spLocks noGrp="1"/>
          </p:cNvSpPr>
          <p:nvPr>
            <p:ph type="dt" sz="half" idx="10"/>
          </p:nvPr>
        </p:nvSpPr>
        <p:spPr/>
        <p:txBody>
          <a:bodyPr/>
          <a:lstStyle/>
          <a:p>
            <a:fld id="{1AA2F177-F4AF-44E7-825C-B2C5C7AD1D29}" type="datetime1">
              <a:rPr lang="en-US" smtClean="0"/>
              <a:pPr/>
              <a:t>3/26/2022</a:t>
            </a:fld>
            <a:endParaRPr lang="en-US" dirty="0"/>
          </a:p>
        </p:txBody>
      </p:sp>
      <p:sp>
        <p:nvSpPr>
          <p:cNvPr id="5" name="Footer Placeholder 4"/>
          <p:cNvSpPr>
            <a:spLocks noGrp="1"/>
          </p:cNvSpPr>
          <p:nvPr>
            <p:ph type="ftr" sz="quarter" idx="11"/>
          </p:nvPr>
        </p:nvSpPr>
        <p:spPr>
          <a:xfrm>
            <a:off x="1752600" y="6356350"/>
            <a:ext cx="64008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smtClean="0"/>
              <a:t>                        Modern religious practices</a:t>
            </a:r>
            <a:endParaRPr lang="en-US" sz="2800" b="1"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pPr>
              <a:buNone/>
            </a:pPr>
            <a:endParaRPr lang="en-US" sz="2000" dirty="0" smtClean="0"/>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Youtube/other  Video Links:</a:t>
            </a:r>
          </a:p>
          <a:p>
            <a:r>
              <a:rPr lang="en-US" sz="2400" dirty="0" smtClean="0">
                <a:latin typeface="Times New Roman" pitchFamily="18" charset="0"/>
                <a:cs typeface="Times New Roman" pitchFamily="18" charset="0"/>
                <a:hlinkClick r:id="rId2"/>
              </a:rPr>
              <a:t>https://youtu.be/X2SXJiSv3R4</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hlinkClick r:id="rId3"/>
              </a:rPr>
              <a:t>https://youtu.be/7PuuAgeSRpU</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hlinkClick r:id="rId4"/>
              </a:rPr>
              <a:t>https://youtu.be/RVT60SA3KgM</a:t>
            </a:r>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2FDC02A-4DF1-45C3-89BD-378BB81044AB}" type="datetime1">
              <a:rPr lang="en-US" smtClean="0"/>
              <a:pPr/>
              <a:t>3/26/2022</a:t>
            </a:fld>
            <a:endParaRPr lang="en-US" dirty="0"/>
          </a:p>
        </p:txBody>
      </p:sp>
      <p:sp>
        <p:nvSpPr>
          <p:cNvPr id="5" name="Footer Placeholder 4"/>
          <p:cNvSpPr>
            <a:spLocks noGrp="1"/>
          </p:cNvSpPr>
          <p:nvPr>
            <p:ph type="ftr" sz="quarter" idx="11"/>
          </p:nvPr>
        </p:nvSpPr>
        <p:spPr>
          <a:xfrm>
            <a:off x="1676400" y="6356350"/>
            <a:ext cx="64008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Faculty Video</a:t>
            </a:r>
            <a:r>
              <a:rPr kumimoji="0" lang="en-US" sz="2800" b="1" i="0" u="none" strike="noStrike" kern="1200" cap="none" spc="0" normalizeH="0" noProof="0" dirty="0" smtClean="0">
                <a:ln>
                  <a:noFill/>
                </a:ln>
                <a:solidFill>
                  <a:schemeClr val="dk1"/>
                </a:solidFill>
                <a:effectLst/>
                <a:uLnTx/>
                <a:uFillTx/>
                <a:latin typeface="Times New Roman" pitchFamily="18" charset="0"/>
                <a:cs typeface="Times New Roman" pitchFamily="18" charset="0"/>
              </a:rPr>
              <a:t> Links, You tube &amp; NPTEL Video Links and Online Courses Details  </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5"/>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410200"/>
          </a:xfrm>
        </p:spPr>
        <p:txBody>
          <a:bodyPr>
            <a:normAutofit/>
          </a:bodyPr>
          <a:lstStyle/>
          <a:p>
            <a:pPr>
              <a:buNone/>
            </a:pPr>
            <a:r>
              <a:rPr lang="en-US" sz="2400" dirty="0" smtClean="0"/>
              <a:t>1. Which of the following technique used for making bronze statues during Harappa Civilisation?</a:t>
            </a:r>
          </a:p>
          <a:p>
            <a:r>
              <a:rPr lang="en-US" sz="1200" b="1" dirty="0" smtClean="0"/>
              <a:t>A. Lost Wax Casting</a:t>
            </a:r>
          </a:p>
          <a:p>
            <a:r>
              <a:rPr lang="en-US" sz="1200" dirty="0" smtClean="0"/>
              <a:t>B. Stone carving</a:t>
            </a:r>
          </a:p>
          <a:p>
            <a:r>
              <a:rPr lang="en-US" sz="1200" dirty="0" smtClean="0"/>
              <a:t>C. Wood carving</a:t>
            </a:r>
          </a:p>
          <a:p>
            <a:r>
              <a:rPr lang="en-US" sz="1200" dirty="0" smtClean="0"/>
              <a:t>D. Ivory carving</a:t>
            </a:r>
          </a:p>
          <a:p>
            <a:pPr>
              <a:buNone/>
            </a:pPr>
            <a:r>
              <a:rPr lang="en-US" sz="2400" dirty="0" smtClean="0"/>
              <a:t>2. The bust of bearded man figure was found in which of the following archaeological site?</a:t>
            </a:r>
          </a:p>
          <a:p>
            <a:r>
              <a:rPr lang="en-US" sz="1200" b="1" dirty="0" smtClean="0"/>
              <a:t>A. Mohenjo-Daro</a:t>
            </a:r>
          </a:p>
          <a:p>
            <a:r>
              <a:rPr lang="en-US" sz="1200" dirty="0" smtClean="0"/>
              <a:t>B. Lothal</a:t>
            </a:r>
          </a:p>
          <a:p>
            <a:r>
              <a:rPr lang="en-US" sz="1200" dirty="0" smtClean="0"/>
              <a:t>C. Harappa</a:t>
            </a:r>
          </a:p>
          <a:p>
            <a:r>
              <a:rPr lang="en-US" sz="1200" dirty="0" smtClean="0"/>
              <a:t>D. Dholavira</a:t>
            </a:r>
          </a:p>
          <a:p>
            <a:endParaRPr lang="en-US" sz="2400" dirty="0" smtClean="0"/>
          </a:p>
          <a:p>
            <a:pPr>
              <a:buNone/>
            </a:pP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C4597FA-599F-44F5-B109-15897CA6C529}"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smtClean="0">
                <a:latin typeface="Times New Roman" pitchFamily="18" charset="0"/>
                <a:cs typeface="Times New Roman" pitchFamily="18" charset="0"/>
              </a:rPr>
              <a:t>Daily Quiz</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334000"/>
          </a:xfrm>
        </p:spPr>
        <p:txBody>
          <a:bodyPr>
            <a:normAutofit/>
          </a:bodyPr>
          <a:lstStyle/>
          <a:p>
            <a:pPr>
              <a:buNone/>
            </a:pPr>
            <a:r>
              <a:rPr lang="en-US" sz="2400" dirty="0" smtClean="0">
                <a:latin typeface="Times New Roman" pitchFamily="18" charset="0"/>
                <a:cs typeface="Times New Roman" pitchFamily="18" charset="0"/>
              </a:rPr>
              <a:t>3. </a:t>
            </a:r>
            <a:r>
              <a:rPr lang="en-US" sz="2400" dirty="0" smtClean="0"/>
              <a:t> Which of the following are the fact of the Harappa Civilization was mainly used for commercial purposes?</a:t>
            </a:r>
          </a:p>
          <a:p>
            <a:r>
              <a:rPr lang="en-US" sz="1200" dirty="0" smtClean="0"/>
              <a:t>A. Bronze/metal sculpture</a:t>
            </a:r>
          </a:p>
          <a:p>
            <a:r>
              <a:rPr lang="en-US" sz="1200" dirty="0" smtClean="0"/>
              <a:t>B. Stone sculpture</a:t>
            </a:r>
          </a:p>
          <a:p>
            <a:r>
              <a:rPr lang="en-US" sz="1200" b="1" dirty="0" smtClean="0"/>
              <a:t>C. Seal</a:t>
            </a:r>
          </a:p>
          <a:p>
            <a:r>
              <a:rPr lang="en-US" sz="1200" dirty="0" smtClean="0"/>
              <a:t>D. Terracotta sculpture</a:t>
            </a:r>
          </a:p>
          <a:p>
            <a:pPr>
              <a:buNone/>
            </a:pPr>
            <a:r>
              <a:rPr lang="en-US" sz="2400" b="1" dirty="0" smtClean="0"/>
              <a:t>4. Who had composed the original Ramayana?</a:t>
            </a:r>
            <a:r>
              <a:rPr lang="en-US" sz="2400" dirty="0" smtClean="0"/>
              <a:t/>
            </a:r>
            <a:br>
              <a:rPr lang="en-US" sz="2400" dirty="0" smtClean="0"/>
            </a:br>
            <a:r>
              <a:rPr lang="en-US" sz="1200" b="1" dirty="0" smtClean="0"/>
              <a:t>A. Rishi Valmiki</a:t>
            </a:r>
            <a:r>
              <a:rPr lang="en-US" sz="1200" dirty="0" smtClean="0"/>
              <a:t/>
            </a:r>
            <a:br>
              <a:rPr lang="en-US" sz="1200" dirty="0" smtClean="0"/>
            </a:br>
            <a:r>
              <a:rPr lang="en-US" sz="1200" dirty="0" smtClean="0"/>
              <a:t>B. Tulsi Das</a:t>
            </a:r>
            <a:br>
              <a:rPr lang="en-US" sz="1200" dirty="0" smtClean="0"/>
            </a:br>
            <a:r>
              <a:rPr lang="en-US" sz="1200" dirty="0" smtClean="0"/>
              <a:t>C. Sant Ek Nath</a:t>
            </a:r>
            <a:br>
              <a:rPr lang="en-US" sz="1200" dirty="0" smtClean="0"/>
            </a:br>
            <a:r>
              <a:rPr lang="en-US" sz="1200" dirty="0" smtClean="0"/>
              <a:t>D. Anhinanda</a:t>
            </a:r>
            <a:endParaRPr lang="en-US" sz="1200" dirty="0"/>
          </a:p>
        </p:txBody>
      </p:sp>
      <p:sp>
        <p:nvSpPr>
          <p:cNvPr id="4" name="Date Placeholder 3"/>
          <p:cNvSpPr>
            <a:spLocks noGrp="1"/>
          </p:cNvSpPr>
          <p:nvPr>
            <p:ph type="dt" sz="half" idx="10"/>
          </p:nvPr>
        </p:nvSpPr>
        <p:spPr/>
        <p:txBody>
          <a:bodyPr/>
          <a:lstStyle/>
          <a:p>
            <a:fld id="{3E7221BD-7D72-4B87-A04E-A122885410A2}" type="datetime1">
              <a:rPr lang="en-US" smtClean="0"/>
              <a:pPr/>
              <a:t>3/26/2022</a:t>
            </a:fld>
            <a:endParaRPr lang="en-US" dirty="0"/>
          </a:p>
        </p:txBody>
      </p:sp>
      <p:sp>
        <p:nvSpPr>
          <p:cNvPr id="5" name="Footer Placeholder 4"/>
          <p:cNvSpPr>
            <a:spLocks noGrp="1"/>
          </p:cNvSpPr>
          <p:nvPr>
            <p:ph type="ftr" sz="quarter" idx="11"/>
          </p:nvPr>
        </p:nvSpPr>
        <p:spPr>
          <a:xfrm>
            <a:off x="1600200" y="6356350"/>
            <a:ext cx="6324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smtClean="0"/>
              <a:t>Daily Quiz</a:t>
            </a:r>
            <a:endParaRPr kumimoji="0" lang="en-US" sz="28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None/>
            </a:pPr>
            <a:r>
              <a:rPr lang="en-US" sz="2400" dirty="0" smtClean="0"/>
              <a:t>5. Lakshmana is considered to be the incarnation of whom?</a:t>
            </a:r>
            <a:br>
              <a:rPr lang="en-US" sz="2400" dirty="0" smtClean="0"/>
            </a:br>
            <a:r>
              <a:rPr lang="en-US" sz="2400" dirty="0" smtClean="0"/>
              <a:t>A. Lord Vishnu</a:t>
            </a:r>
            <a:br>
              <a:rPr lang="en-US" sz="2400" dirty="0" smtClean="0"/>
            </a:br>
            <a:r>
              <a:rPr lang="en-US" sz="2400" dirty="0" smtClean="0"/>
              <a:t>B. Lord Shiva</a:t>
            </a:r>
            <a:br>
              <a:rPr lang="en-US" sz="2400" dirty="0" smtClean="0"/>
            </a:br>
            <a:r>
              <a:rPr lang="en-US" sz="2400" dirty="0" smtClean="0"/>
              <a:t>C. Lord Brahma</a:t>
            </a:r>
            <a:br>
              <a:rPr lang="en-US" sz="2400" dirty="0" smtClean="0"/>
            </a:br>
            <a:r>
              <a:rPr lang="en-US" sz="2400" b="1" dirty="0" smtClean="0"/>
              <a:t>D. Sheshnag</a:t>
            </a:r>
          </a:p>
          <a:p>
            <a:pPr>
              <a:buNone/>
            </a:pPr>
            <a:r>
              <a:rPr lang="en-US" sz="2400" dirty="0" smtClean="0">
                <a:latin typeface="Times New Roman" pitchFamily="18" charset="0"/>
                <a:cs typeface="Times New Roman" pitchFamily="18" charset="0"/>
              </a:rPr>
              <a:t>6. </a:t>
            </a:r>
            <a:r>
              <a:rPr lang="en-US" sz="2400" dirty="0" smtClean="0"/>
              <a:t>What was the name of the forest where Lord Rama, Lakshmana and Goddess Sita stayed during exile?</a:t>
            </a:r>
            <a:br>
              <a:rPr lang="en-US" sz="2400" dirty="0" smtClean="0"/>
            </a:br>
            <a:r>
              <a:rPr lang="en-US" sz="2400" dirty="0" smtClean="0"/>
              <a:t>A. Aranya</a:t>
            </a:r>
            <a:br>
              <a:rPr lang="en-US" sz="2400" dirty="0" smtClean="0"/>
            </a:br>
            <a:r>
              <a:rPr lang="en-US" sz="2400" dirty="0" smtClean="0"/>
              <a:t>B. Aranyak</a:t>
            </a:r>
            <a:br>
              <a:rPr lang="en-US" sz="2400" dirty="0" smtClean="0"/>
            </a:br>
            <a:r>
              <a:rPr lang="en-US" sz="2400" b="1" dirty="0" smtClean="0"/>
              <a:t>C. Dandakaranya</a:t>
            </a:r>
            <a:r>
              <a:rPr lang="en-US" sz="2400" dirty="0" smtClean="0"/>
              <a:t/>
            </a:r>
            <a:br>
              <a:rPr lang="en-US" sz="2400" dirty="0" smtClean="0"/>
            </a:br>
            <a:r>
              <a:rPr lang="en-US" sz="2400" dirty="0" smtClean="0"/>
              <a:t>D. Karanya</a:t>
            </a: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B1C46B1-1F4D-4D58-9699-058242831921}" type="datetime1">
              <a:rPr lang="en-US" smtClean="0"/>
              <a:pPr/>
              <a:t>3/26/2022</a:t>
            </a:fld>
            <a:endParaRPr lang="en-US" dirty="0"/>
          </a:p>
        </p:txBody>
      </p:sp>
      <p:sp>
        <p:nvSpPr>
          <p:cNvPr id="5" name="Footer Placeholder 4"/>
          <p:cNvSpPr>
            <a:spLocks noGrp="1"/>
          </p:cNvSpPr>
          <p:nvPr>
            <p:ph type="ftr" sz="quarter" idx="11"/>
          </p:nvPr>
        </p:nvSpPr>
        <p:spPr>
          <a:xfrm>
            <a:off x="1600200" y="6356350"/>
            <a:ext cx="6324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smtClean="0">
                <a:latin typeface="Times New Roman" pitchFamily="18" charset="0"/>
                <a:cs typeface="Times New Roman" pitchFamily="18" charset="0"/>
              </a:rPr>
              <a:t>Daily Quiz</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410200"/>
          </a:xfrm>
        </p:spPr>
        <p:txBody>
          <a:bodyPr>
            <a:normAutofit/>
          </a:bodyPr>
          <a:lstStyle/>
          <a:p>
            <a:pPr>
              <a:buNone/>
            </a:pPr>
            <a:r>
              <a:rPr lang="en-US" sz="2400" dirty="0" smtClean="0"/>
              <a:t>7. Who among the following said “Liberty is the opposite of over government”? </a:t>
            </a:r>
          </a:p>
          <a:p>
            <a:pPr>
              <a:buNone/>
            </a:pPr>
            <a:r>
              <a:rPr lang="en-US" sz="2400" dirty="0" smtClean="0"/>
              <a:t>     A. </a:t>
            </a:r>
            <a:r>
              <a:rPr lang="en-US" sz="2400" b="1" dirty="0" smtClean="0"/>
              <a:t>Seeley</a:t>
            </a:r>
            <a:r>
              <a:rPr lang="en-US" sz="2400" dirty="0" smtClean="0"/>
              <a:t> </a:t>
            </a:r>
          </a:p>
          <a:p>
            <a:pPr>
              <a:buNone/>
            </a:pPr>
            <a:r>
              <a:rPr lang="en-US" sz="2400" dirty="0" smtClean="0"/>
              <a:t>     B. Prof. Ramsay Muir </a:t>
            </a:r>
          </a:p>
          <a:p>
            <a:pPr>
              <a:buNone/>
            </a:pPr>
            <a:r>
              <a:rPr lang="en-US" sz="2400" dirty="0" smtClean="0"/>
              <a:t>     C. Laski </a:t>
            </a:r>
          </a:p>
          <a:p>
            <a:pPr>
              <a:buNone/>
            </a:pPr>
            <a:r>
              <a:rPr lang="en-US" sz="2400" dirty="0" smtClean="0"/>
              <a:t>     D. J.S Mill </a:t>
            </a:r>
          </a:p>
          <a:p>
            <a:pPr>
              <a:buNone/>
            </a:pPr>
            <a:r>
              <a:rPr lang="en-US" sz="2400" dirty="0" smtClean="0"/>
              <a:t>8. What is meant by Social Justice. </a:t>
            </a:r>
          </a:p>
          <a:p>
            <a:pPr>
              <a:buNone/>
            </a:pPr>
            <a:r>
              <a:rPr lang="en-US" sz="2400" dirty="0" smtClean="0"/>
              <a:t>      A. All should have same Political Rights. </a:t>
            </a:r>
          </a:p>
          <a:p>
            <a:pPr>
              <a:buNone/>
            </a:pPr>
            <a:r>
              <a:rPr lang="en-US" sz="2400" dirty="0" smtClean="0"/>
              <a:t>      B. All should have same Economic rights. </a:t>
            </a:r>
          </a:p>
          <a:p>
            <a:pPr>
              <a:buNone/>
            </a:pPr>
            <a:r>
              <a:rPr lang="en-US" sz="2400" dirty="0" smtClean="0"/>
              <a:t>      C. </a:t>
            </a:r>
            <a:r>
              <a:rPr lang="en-US" sz="2400" b="1" dirty="0" smtClean="0"/>
              <a:t>All kinds of discrimination and privileges based on caste, colour, creed and sex should be eliminated. </a:t>
            </a:r>
          </a:p>
          <a:p>
            <a:pPr>
              <a:buNone/>
            </a:pPr>
            <a:r>
              <a:rPr lang="en-US" sz="2400" dirty="0" smtClean="0"/>
              <a:t>      D. All should have the right to freedom of religion.</a:t>
            </a:r>
            <a:endParaRPr lang="en-US" sz="24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5E0CD85-3C84-4693-A746-A20CC21772C6}" type="datetime1">
              <a:rPr lang="en-US" smtClean="0"/>
              <a:pPr/>
              <a:t>3/26/2022</a:t>
            </a:fld>
            <a:endParaRPr lang="en-US" dirty="0"/>
          </a:p>
        </p:txBody>
      </p:sp>
      <p:sp>
        <p:nvSpPr>
          <p:cNvPr id="5" name="Footer Placeholder 4"/>
          <p:cNvSpPr>
            <a:spLocks noGrp="1"/>
          </p:cNvSpPr>
          <p:nvPr>
            <p:ph type="ftr" sz="quarter" idx="11"/>
          </p:nvPr>
        </p:nvSpPr>
        <p:spPr>
          <a:xfrm>
            <a:off x="1524000" y="6324600"/>
            <a:ext cx="65532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dirty="0"/>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MCQ</a:t>
            </a:r>
            <a:r>
              <a:rPr kumimoji="0" lang="en-US" sz="2800" b="1" i="0" u="none" strike="noStrike" kern="1200" cap="none" spc="0" normalizeH="0" noProof="0" dirty="0" smtClean="0">
                <a:ln>
                  <a:noFill/>
                </a:ln>
                <a:solidFill>
                  <a:schemeClr val="dk1"/>
                </a:solidFill>
                <a:effectLst/>
                <a:uLnTx/>
                <a:uFillTx/>
                <a:latin typeface="Times New Roman" pitchFamily="18" charset="0"/>
                <a:cs typeface="Times New Roman" pitchFamily="18" charset="0"/>
              </a:rPr>
              <a:t> 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410200"/>
          </a:xfrm>
        </p:spPr>
        <p:txBody>
          <a:bodyPr>
            <a:normAutofit/>
          </a:bodyPr>
          <a:lstStyle/>
          <a:p>
            <a:pPr>
              <a:buNone/>
            </a:pPr>
            <a:r>
              <a:rPr lang="en-US" sz="2400" dirty="0" smtClean="0"/>
              <a:t>9. Traditional approach give stress on: </a:t>
            </a:r>
          </a:p>
          <a:p>
            <a:pPr>
              <a:buNone/>
            </a:pPr>
            <a:r>
              <a:rPr lang="en-US" sz="2400" dirty="0" smtClean="0"/>
              <a:t>    </a:t>
            </a:r>
            <a:r>
              <a:rPr lang="en-US" sz="1200" dirty="0" smtClean="0"/>
              <a:t>A. </a:t>
            </a:r>
            <a:r>
              <a:rPr lang="en-US" sz="1200" b="1" dirty="0" smtClean="0"/>
              <a:t>Values. </a:t>
            </a:r>
          </a:p>
          <a:p>
            <a:pPr>
              <a:buNone/>
            </a:pPr>
            <a:r>
              <a:rPr lang="en-US" sz="1200" b="1" dirty="0" smtClean="0"/>
              <a:t>    </a:t>
            </a:r>
            <a:r>
              <a:rPr lang="en-US" sz="1200" dirty="0" smtClean="0"/>
              <a:t>B. Facts. </a:t>
            </a:r>
          </a:p>
          <a:p>
            <a:pPr>
              <a:buNone/>
            </a:pPr>
            <a:r>
              <a:rPr lang="en-US" sz="1200" dirty="0" smtClean="0"/>
              <a:t>    C. Objectivity. </a:t>
            </a:r>
          </a:p>
          <a:p>
            <a:pPr>
              <a:buNone/>
            </a:pPr>
            <a:r>
              <a:rPr lang="en-US" sz="1200" dirty="0" smtClean="0"/>
              <a:t>    D. Precision. </a:t>
            </a:r>
            <a:endParaRPr lang="en-US" sz="12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10. </a:t>
            </a:r>
            <a:r>
              <a:rPr lang="en-US" sz="1200" dirty="0" smtClean="0"/>
              <a:t>Hobbes Theory of Social Contract is explained in his book. A. Republic. B. Prince. C. Social Contract. D. </a:t>
            </a:r>
            <a:r>
              <a:rPr lang="en-US" sz="1200" b="1" dirty="0" smtClean="0"/>
              <a:t>Leviathan.</a:t>
            </a:r>
          </a:p>
          <a:p>
            <a:pPr marL="457200" indent="-457200">
              <a:buNone/>
            </a:pPr>
            <a:r>
              <a:rPr lang="en-US" sz="2400" dirty="0" smtClean="0"/>
              <a:t>11.  </a:t>
            </a:r>
            <a:r>
              <a:rPr lang="en-US" sz="1200" dirty="0" smtClean="0"/>
              <a:t>Which one of the following is not relevant to Traditional Approach. </a:t>
            </a:r>
          </a:p>
          <a:p>
            <a:pPr marL="457200" indent="-457200">
              <a:buNone/>
            </a:pPr>
            <a:r>
              <a:rPr lang="en-US" sz="1200" dirty="0" smtClean="0"/>
              <a:t>      A. Philosophical B. Historical. C. Institutional D. Behavioural.</a:t>
            </a:r>
          </a:p>
          <a:p>
            <a:pPr marL="457200" indent="-457200">
              <a:buNone/>
            </a:pPr>
            <a:r>
              <a:rPr lang="en-US" sz="2400" dirty="0" smtClean="0"/>
              <a:t>12. </a:t>
            </a:r>
            <a:r>
              <a:rPr lang="en-US" sz="1200" dirty="0" smtClean="0"/>
              <a:t>Integration of Political Science with other Social Sciences Is a basic principle of </a:t>
            </a:r>
          </a:p>
          <a:p>
            <a:pPr marL="457200" indent="-457200">
              <a:buNone/>
            </a:pPr>
            <a:r>
              <a:rPr lang="en-US" sz="1200" dirty="0" smtClean="0"/>
              <a:t>      A. Traditionalism. B. Behaviouralism. C. Liberalism. D. </a:t>
            </a:r>
            <a:r>
              <a:rPr lang="en-US" sz="1200" b="1" dirty="0" smtClean="0"/>
              <a:t>Post – Behaviouralism. </a:t>
            </a:r>
            <a:endParaRPr lang="en-US" sz="1200" b="1"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5768DB2-E8A3-4619-8195-D0156E33A698}" type="datetime1">
              <a:rPr lang="en-US" smtClean="0"/>
              <a:pPr/>
              <a:t>3/26/2022</a:t>
            </a:fld>
            <a:endParaRPr lang="en-US" dirty="0"/>
          </a:p>
        </p:txBody>
      </p:sp>
      <p:sp>
        <p:nvSpPr>
          <p:cNvPr id="5" name="Footer Placeholder 4"/>
          <p:cNvSpPr>
            <a:spLocks noGrp="1"/>
          </p:cNvSpPr>
          <p:nvPr>
            <p:ph type="ftr" sz="quarter" idx="11"/>
          </p:nvPr>
        </p:nvSpPr>
        <p:spPr>
          <a:xfrm>
            <a:off x="1524000" y="6324600"/>
            <a:ext cx="65532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dirty="0"/>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MCQ</a:t>
            </a:r>
            <a:r>
              <a:rPr kumimoji="0" lang="en-US" sz="2800" b="1" i="0" u="none" strike="noStrike" kern="1200" cap="none" spc="0" normalizeH="0" noProof="0" dirty="0" smtClean="0">
                <a:ln>
                  <a:noFill/>
                </a:ln>
                <a:solidFill>
                  <a:schemeClr val="dk1"/>
                </a:solidFill>
                <a:effectLst/>
                <a:uLnTx/>
                <a:uFillTx/>
                <a:latin typeface="Times New Roman" pitchFamily="18" charset="0"/>
                <a:cs typeface="Times New Roman" pitchFamily="18" charset="0"/>
              </a:rPr>
              <a:t> 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334000"/>
          </a:xfrm>
        </p:spPr>
        <p:txBody>
          <a:bodyPr>
            <a:normAutofit/>
          </a:bodyPr>
          <a:lstStyle/>
          <a:p>
            <a:pPr>
              <a:buNone/>
            </a:pPr>
            <a:r>
              <a:rPr lang="en-US" sz="2400" b="1" dirty="0" smtClean="0">
                <a:latin typeface="Times New Roman" pitchFamily="18" charset="0"/>
                <a:cs typeface="Times New Roman" pitchFamily="18" charset="0"/>
              </a:rPr>
              <a:t>13. </a:t>
            </a:r>
            <a:r>
              <a:rPr lang="en-US" sz="2400" dirty="0" smtClean="0"/>
              <a:t>Integration of Political Science with other Social Sciences Is a basic principle of </a:t>
            </a:r>
          </a:p>
          <a:p>
            <a:pPr>
              <a:buNone/>
            </a:pPr>
            <a:r>
              <a:rPr lang="en-US" sz="2400" dirty="0" smtClean="0"/>
              <a:t>      A. Traditionalism. B. </a:t>
            </a:r>
            <a:r>
              <a:rPr lang="en-US" sz="2400" b="1" dirty="0" smtClean="0"/>
              <a:t>Behaviouralism.</a:t>
            </a:r>
            <a:r>
              <a:rPr lang="en-US" sz="2400" dirty="0" smtClean="0"/>
              <a:t> C. Liberalism. D. Post – Behaviouralism. </a:t>
            </a:r>
          </a:p>
          <a:p>
            <a:pPr>
              <a:buNone/>
            </a:pPr>
            <a:r>
              <a:rPr lang="en-US" sz="2400" dirty="0" smtClean="0"/>
              <a:t>14. The success of democracy depends upon </a:t>
            </a:r>
          </a:p>
          <a:p>
            <a:pPr>
              <a:buNone/>
            </a:pPr>
            <a:r>
              <a:rPr lang="en-US" sz="2400" dirty="0" smtClean="0"/>
              <a:t>       </a:t>
            </a:r>
            <a:r>
              <a:rPr lang="en-US" sz="1200" dirty="0" smtClean="0"/>
              <a:t>A. Periodic Elections. B. Voting. C. Campaigning in The Elections. D. </a:t>
            </a:r>
            <a:r>
              <a:rPr lang="en-US" sz="1200" b="1" dirty="0" smtClean="0"/>
              <a:t>All of the above </a:t>
            </a:r>
          </a:p>
          <a:p>
            <a:pPr>
              <a:buNone/>
            </a:pPr>
            <a:r>
              <a:rPr lang="en-US" sz="2400" b="1" dirty="0" smtClean="0">
                <a:latin typeface="Times New Roman" pitchFamily="18" charset="0"/>
                <a:cs typeface="Times New Roman" pitchFamily="18" charset="0"/>
              </a:rPr>
              <a:t>15. </a:t>
            </a:r>
            <a:r>
              <a:rPr lang="en-US" sz="2400" dirty="0" smtClean="0"/>
              <a:t>Who wrote the book ‘A Grammar of politics’ </a:t>
            </a:r>
          </a:p>
          <a:p>
            <a:pPr>
              <a:buNone/>
            </a:pPr>
            <a:r>
              <a:rPr lang="en-US" sz="2400" dirty="0" smtClean="0"/>
              <a:t>      A. </a:t>
            </a:r>
            <a:r>
              <a:rPr lang="en-US" sz="2400" b="1" dirty="0" smtClean="0"/>
              <a:t>Laski </a:t>
            </a:r>
          </a:p>
          <a:p>
            <a:pPr>
              <a:buNone/>
            </a:pPr>
            <a:r>
              <a:rPr lang="en-US" sz="2400" dirty="0" smtClean="0"/>
              <a:t>     B. Hegal </a:t>
            </a:r>
          </a:p>
          <a:p>
            <a:pPr>
              <a:buNone/>
            </a:pPr>
            <a:r>
              <a:rPr lang="en-US" sz="2400" dirty="0" smtClean="0"/>
              <a:t>     C. J.S Mill </a:t>
            </a:r>
          </a:p>
          <a:p>
            <a:pPr>
              <a:buNone/>
            </a:pPr>
            <a:r>
              <a:rPr lang="en-US" sz="2400" dirty="0" smtClean="0"/>
              <a:t>     D T.H Green</a:t>
            </a: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2BCC243-06E6-409F-80D2-282672EE3B1B}" type="datetime1">
              <a:rPr lang="en-US" smtClean="0"/>
              <a:pPr/>
              <a:t>3/26/2022</a:t>
            </a:fld>
            <a:endParaRPr lang="en-US" dirty="0"/>
          </a:p>
        </p:txBody>
      </p:sp>
      <p:sp>
        <p:nvSpPr>
          <p:cNvPr id="5" name="Footer Placeholder 4"/>
          <p:cNvSpPr>
            <a:spLocks noGrp="1"/>
          </p:cNvSpPr>
          <p:nvPr>
            <p:ph type="ftr" sz="quarter" idx="11"/>
          </p:nvPr>
        </p:nvSpPr>
        <p:spPr>
          <a:xfrm>
            <a:off x="1600200" y="6356350"/>
            <a:ext cx="6324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smtClean="0">
                <a:latin typeface="Times New Roman" pitchFamily="18" charset="0"/>
                <a:cs typeface="Times New Roman" pitchFamily="18" charset="0"/>
              </a:rPr>
              <a:t>MCQ s</a:t>
            </a:r>
            <a:endParaRPr lang="en-US" sz="2800" b="1" dirty="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None/>
            </a:pPr>
            <a:r>
              <a:rPr lang="en-US" sz="2400" dirty="0" smtClean="0"/>
              <a:t>16. </a:t>
            </a:r>
            <a:r>
              <a:rPr lang="en-US" sz="1200" dirty="0" smtClean="0"/>
              <a:t>The concept of Greek, ‘Justice’ was </a:t>
            </a:r>
          </a:p>
          <a:p>
            <a:pPr>
              <a:buNone/>
            </a:pPr>
            <a:r>
              <a:rPr lang="en-US" sz="1200" dirty="0" smtClean="0"/>
              <a:t>    A. Legal </a:t>
            </a:r>
          </a:p>
          <a:p>
            <a:pPr>
              <a:buNone/>
            </a:pPr>
            <a:r>
              <a:rPr lang="en-US" sz="1200" dirty="0" smtClean="0"/>
              <a:t>    B. </a:t>
            </a:r>
            <a:r>
              <a:rPr lang="en-US" sz="1200" b="1" dirty="0" smtClean="0"/>
              <a:t>Moral </a:t>
            </a:r>
          </a:p>
          <a:p>
            <a:pPr>
              <a:buNone/>
            </a:pPr>
            <a:r>
              <a:rPr lang="en-US" sz="1200" dirty="0" smtClean="0"/>
              <a:t>    C. Social </a:t>
            </a:r>
          </a:p>
          <a:p>
            <a:pPr>
              <a:buNone/>
            </a:pPr>
            <a:r>
              <a:rPr lang="en-US" sz="1200" dirty="0" smtClean="0"/>
              <a:t>    D. Political </a:t>
            </a:r>
          </a:p>
          <a:p>
            <a:pPr>
              <a:buNone/>
            </a:pPr>
            <a:r>
              <a:rPr lang="en-US" sz="2400" dirty="0" smtClean="0"/>
              <a:t>17. </a:t>
            </a:r>
            <a:r>
              <a:rPr lang="en-US" sz="1200" dirty="0" smtClean="0"/>
              <a:t>The origin of democracy can be traced back to </a:t>
            </a:r>
          </a:p>
          <a:p>
            <a:pPr>
              <a:buNone/>
            </a:pPr>
            <a:r>
              <a:rPr lang="en-US" sz="1200" dirty="0" smtClean="0"/>
              <a:t>   A. </a:t>
            </a:r>
            <a:r>
              <a:rPr lang="en-US" sz="1200" b="1" dirty="0" smtClean="0"/>
              <a:t>Ancient Greek City States </a:t>
            </a:r>
          </a:p>
          <a:p>
            <a:pPr>
              <a:buNone/>
            </a:pPr>
            <a:r>
              <a:rPr lang="en-US" sz="1200" dirty="0" smtClean="0"/>
              <a:t>   B. Medieval Period  </a:t>
            </a:r>
          </a:p>
          <a:p>
            <a:pPr>
              <a:buNone/>
            </a:pPr>
            <a:r>
              <a:rPr lang="en-US" sz="1200" dirty="0" smtClean="0"/>
              <a:t>   C. Modern Era </a:t>
            </a:r>
          </a:p>
          <a:p>
            <a:pPr>
              <a:buNone/>
            </a:pPr>
            <a:r>
              <a:rPr lang="en-US" sz="1200" dirty="0" smtClean="0"/>
              <a:t>   D. Feudalism</a:t>
            </a:r>
            <a:endParaRPr lang="en-US"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B1F939A-A4DE-4677-9426-CB83A37BD6F0}" type="datetime1">
              <a:rPr lang="en-US" smtClean="0"/>
              <a:pPr/>
              <a:t>3/26/2022</a:t>
            </a:fld>
            <a:endParaRPr lang="en-US" dirty="0"/>
          </a:p>
        </p:txBody>
      </p:sp>
      <p:sp>
        <p:nvSpPr>
          <p:cNvPr id="5" name="Footer Placeholder 4"/>
          <p:cNvSpPr>
            <a:spLocks noGrp="1"/>
          </p:cNvSpPr>
          <p:nvPr>
            <p:ph type="ftr" sz="quarter" idx="11"/>
          </p:nvPr>
        </p:nvSpPr>
        <p:spPr>
          <a:xfrm>
            <a:off x="1600200" y="6356350"/>
            <a:ext cx="6324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smtClean="0">
                <a:latin typeface="Times New Roman" pitchFamily="18" charset="0"/>
                <a:cs typeface="Times New Roman" pitchFamily="18" charset="0"/>
              </a:rPr>
              <a:t>MCQ s</a:t>
            </a:r>
            <a:endParaRPr lang="en-US" sz="2800" b="1" dirty="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None/>
            </a:pPr>
            <a:r>
              <a:rPr lang="en-IN" sz="2400" dirty="0" smtClean="0">
                <a:latin typeface="Times New Roman" pitchFamily="18" charset="0"/>
                <a:cs typeface="Times New Roman" pitchFamily="18" charset="0"/>
              </a:rPr>
              <a:t>Q.1</a:t>
            </a:r>
            <a:r>
              <a:rPr lang="en-US" sz="2400" dirty="0" smtClean="0"/>
              <a:t>Throw the light on Bodh religion.</a:t>
            </a:r>
          </a:p>
          <a:p>
            <a:pPr>
              <a:buNone/>
            </a:pPr>
            <a:r>
              <a:rPr lang="en-IN" sz="2400" dirty="0" smtClean="0">
                <a:latin typeface="Times New Roman" pitchFamily="18" charset="0"/>
                <a:cs typeface="Times New Roman" pitchFamily="18" charset="0"/>
              </a:rPr>
              <a:t>Q.2 </a:t>
            </a:r>
            <a:r>
              <a:rPr lang="en-US" sz="2400" dirty="0" smtClean="0"/>
              <a:t>Discuss the Jain religion</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Q.3 </a:t>
            </a:r>
            <a:r>
              <a:rPr lang="en-US" sz="2400" dirty="0" smtClean="0"/>
              <a:t>Throw the light on Bhakti movement.</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Q.4 </a:t>
            </a:r>
            <a:r>
              <a:rPr lang="en-US" sz="2400" dirty="0" smtClean="0"/>
              <a:t>Discuss the  holy book “Sufi movement”.</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6B9C541-7EC7-4B77-B2B0-541A9C2ED7B6}" type="datetime1">
              <a:rPr lang="en-US" smtClean="0"/>
              <a:pPr/>
              <a:t>3/26/2022</a:t>
            </a:fld>
            <a:endParaRPr lang="en-US" dirty="0"/>
          </a:p>
        </p:txBody>
      </p:sp>
      <p:sp>
        <p:nvSpPr>
          <p:cNvPr id="5" name="Footer Placeholder 4"/>
          <p:cNvSpPr>
            <a:spLocks noGrp="1"/>
          </p:cNvSpPr>
          <p:nvPr>
            <p:ph type="ftr" sz="quarter" idx="11"/>
          </p:nvPr>
        </p:nvSpPr>
        <p:spPr>
          <a:xfrm>
            <a:off x="15240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Weekly</a:t>
            </a:r>
            <a:r>
              <a:rPr kumimoji="0" lang="en-US" sz="2800" b="1" i="0" u="none" strike="noStrike" kern="1200" cap="none" spc="0" normalizeH="0" noProof="0" dirty="0" smtClean="0">
                <a:ln>
                  <a:noFill/>
                </a:ln>
                <a:solidFill>
                  <a:schemeClr val="dk1"/>
                </a:solidFill>
                <a:effectLst/>
                <a:uLnTx/>
                <a:uFillTx/>
                <a:latin typeface="Times New Roman" pitchFamily="18" charset="0"/>
                <a:cs typeface="Times New Roman" pitchFamily="18" charset="0"/>
              </a:rPr>
              <a:t> Assignment</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4830763"/>
          </a:xfrm>
        </p:spPr>
        <p:txBody>
          <a:bodyPr>
            <a:normAutofit/>
          </a:bodyPr>
          <a:lstStyle/>
          <a:p>
            <a:pPr>
              <a:buNone/>
            </a:pPr>
            <a:r>
              <a:rPr lang="en-IN" sz="2400" dirty="0" smtClean="0">
                <a:latin typeface="Times New Roman" pitchFamily="18" charset="0"/>
                <a:cs typeface="Times New Roman" pitchFamily="18" charset="0"/>
              </a:rPr>
              <a:t>Q.1</a:t>
            </a:r>
            <a:r>
              <a:rPr lang="en-US" sz="2400" dirty="0" smtClean="0"/>
              <a:t>Throw the light on Bodh religion.</a:t>
            </a:r>
          </a:p>
          <a:p>
            <a:pPr>
              <a:buNone/>
            </a:pPr>
            <a:r>
              <a:rPr lang="en-IN" sz="2400" dirty="0" smtClean="0">
                <a:latin typeface="Times New Roman" pitchFamily="18" charset="0"/>
                <a:cs typeface="Times New Roman" pitchFamily="18" charset="0"/>
              </a:rPr>
              <a:t>Q.2 </a:t>
            </a:r>
            <a:r>
              <a:rPr lang="en-US" sz="2400" dirty="0" smtClean="0"/>
              <a:t>Discuss the Jain religion</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Q.3 </a:t>
            </a:r>
            <a:r>
              <a:rPr lang="en-US" sz="2400" dirty="0" smtClean="0"/>
              <a:t>Throw the light on Bhakti movement.</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Q.4 </a:t>
            </a:r>
            <a:r>
              <a:rPr lang="en-US" sz="2400" dirty="0" smtClean="0"/>
              <a:t>Discuss the  holy book “Sufi movement”.</a:t>
            </a:r>
            <a:endParaRPr lang="en-US" sz="2400" dirty="0" smtClean="0">
              <a:latin typeface="Times New Roman" pitchFamily="18" charset="0"/>
              <a:cs typeface="Times New Roman" pitchFamily="18" charset="0"/>
            </a:endParaRPr>
          </a:p>
          <a:p>
            <a:pPr>
              <a:buNone/>
            </a:pPr>
            <a:r>
              <a:rPr lang="en-IN" sz="2400" dirty="0" smtClean="0">
                <a:latin typeface="+mj-lt"/>
                <a:cs typeface="Times New Roman" pitchFamily="18" charset="0"/>
              </a:rPr>
              <a:t>Q.4</a:t>
            </a:r>
            <a:r>
              <a:rPr lang="en-US" sz="2400" dirty="0" smtClean="0">
                <a:latin typeface="+mj-lt"/>
              </a:rPr>
              <a:t>Throw the light on pre Vedic religion.</a:t>
            </a:r>
            <a:endParaRPr lang="en-US" sz="2400" dirty="0" smtClean="0">
              <a:latin typeface="+mj-lt"/>
              <a:cs typeface="Times New Roman" pitchFamily="18" charset="0"/>
            </a:endParaRPr>
          </a:p>
        </p:txBody>
      </p:sp>
      <p:sp>
        <p:nvSpPr>
          <p:cNvPr id="4" name="Date Placeholder 3"/>
          <p:cNvSpPr>
            <a:spLocks noGrp="1"/>
          </p:cNvSpPr>
          <p:nvPr>
            <p:ph type="dt" sz="half" idx="10"/>
          </p:nvPr>
        </p:nvSpPr>
        <p:spPr/>
        <p:txBody>
          <a:bodyPr/>
          <a:lstStyle/>
          <a:p>
            <a:fld id="{0C1D7987-A37C-45C2-8091-D5C43D338706}" type="datetime1">
              <a:rPr lang="en-US" smtClean="0"/>
              <a:pPr/>
              <a:t>3/26/2022</a:t>
            </a:fld>
            <a:endParaRPr lang="en-US" dirty="0"/>
          </a:p>
        </p:txBody>
      </p:sp>
      <p:sp>
        <p:nvSpPr>
          <p:cNvPr id="5" name="Footer Placeholder 4"/>
          <p:cNvSpPr>
            <a:spLocks noGrp="1"/>
          </p:cNvSpPr>
          <p:nvPr>
            <p:ph type="ftr" sz="quarter" idx="11"/>
          </p:nvPr>
        </p:nvSpPr>
        <p:spPr>
          <a:xfrm>
            <a:off x="1524000" y="6356350"/>
            <a:ext cx="65532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dirty="0"/>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smtClean="0">
                <a:latin typeface="Times New Roman" pitchFamily="18" charset="0"/>
                <a:cs typeface="Times New Roman" pitchFamily="18" charset="0"/>
              </a:rPr>
              <a:t>Expected Questions for University Exam </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400" dirty="0" smtClean="0">
                <a:latin typeface="Times New Roman" pitchFamily="18" charset="0"/>
                <a:cs typeface="Times New Roman" pitchFamily="18" charset="0"/>
              </a:rPr>
              <a:t>We have covered the following  topics in this lecture:</a:t>
            </a:r>
          </a:p>
          <a:p>
            <a:pPr fontAlgn="t"/>
            <a:r>
              <a:rPr lang="en-US" sz="2400" dirty="0" smtClean="0"/>
              <a:t>Sufi movement</a:t>
            </a:r>
          </a:p>
          <a:p>
            <a:r>
              <a:rPr lang="en-US" sz="2400" dirty="0" smtClean="0"/>
              <a:t>Socio religious reform movement of 19</a:t>
            </a:r>
            <a:r>
              <a:rPr lang="en-US" sz="2400" baseline="30000" dirty="0" smtClean="0"/>
              <a:t>th</a:t>
            </a:r>
            <a:r>
              <a:rPr lang="en-US" sz="2400" dirty="0" smtClean="0"/>
              <a:t> century</a:t>
            </a:r>
          </a:p>
          <a:p>
            <a:pPr fontAlgn="t"/>
            <a:r>
              <a:rPr lang="en-US" sz="2400" dirty="0" smtClean="0"/>
              <a:t>Modern religious practices</a:t>
            </a:r>
          </a:p>
          <a:p>
            <a:pPr algn="just">
              <a:buNone/>
            </a:pPr>
            <a:endParaRPr lang="en-US" sz="2400" dirty="0" smtClean="0"/>
          </a:p>
        </p:txBody>
      </p:sp>
      <p:sp>
        <p:nvSpPr>
          <p:cNvPr id="4" name="Date Placeholder 3"/>
          <p:cNvSpPr>
            <a:spLocks noGrp="1"/>
          </p:cNvSpPr>
          <p:nvPr>
            <p:ph type="dt" sz="half" idx="10"/>
          </p:nvPr>
        </p:nvSpPr>
        <p:spPr/>
        <p:txBody>
          <a:bodyPr/>
          <a:lstStyle/>
          <a:p>
            <a:fld id="{E4D8B8EE-9104-405D-B8CF-D12E3DE40E58}" type="datetime1">
              <a:rPr lang="en-US" smtClean="0"/>
              <a:pPr/>
              <a:t>3/26/2022</a:t>
            </a:fld>
            <a:endParaRPr lang="en-US" dirty="0"/>
          </a:p>
        </p:txBody>
      </p:sp>
      <p:sp>
        <p:nvSpPr>
          <p:cNvPr id="5" name="Footer Placeholder 4"/>
          <p:cNvSpPr>
            <a:spLocks noGrp="1"/>
          </p:cNvSpPr>
          <p:nvPr>
            <p:ph type="ftr" sz="quarter" idx="11"/>
          </p:nvPr>
        </p:nvSpPr>
        <p:spPr>
          <a:xfrm>
            <a:off x="1447800" y="6356350"/>
            <a:ext cx="66294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dk1"/>
                </a:solidFill>
                <a:effectLst/>
                <a:uLnTx/>
                <a:uFillTx/>
                <a:latin typeface="Times New Roman" pitchFamily="18" charset="0"/>
                <a:cs typeface="Times New Roman" pitchFamily="18" charset="0"/>
              </a:rPr>
              <a:t>Summary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6632EDB-9D7E-405C-947D-345A0D1F432C}" type="datetime1">
              <a:rPr lang="en-US" smtClean="0"/>
              <a:pPr/>
              <a:t>3/26/2022</a:t>
            </a:fld>
            <a:endParaRPr lang="en-US" dirty="0"/>
          </a:p>
        </p:txBody>
      </p:sp>
      <p:sp>
        <p:nvSpPr>
          <p:cNvPr id="5" name="Footer Placeholder 4"/>
          <p:cNvSpPr>
            <a:spLocks noGrp="1"/>
          </p:cNvSpPr>
          <p:nvPr>
            <p:ph type="ftr" sz="quarter" idx="11"/>
          </p:nvPr>
        </p:nvSpPr>
        <p:spPr>
          <a:xfrm>
            <a:off x="1447800" y="6356350"/>
            <a:ext cx="6324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dirty="0"/>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smtClean="0">
                <a:latin typeface="Times New Roman" pitchFamily="18" charset="0"/>
                <a:cs typeface="Times New Roman" pitchFamily="18" charset="0"/>
              </a:rPr>
              <a:t>References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2" name="Subtitle 2"/>
          <p:cNvSpPr txBox="1">
            <a:spLocks/>
          </p:cNvSpPr>
          <p:nvPr/>
        </p:nvSpPr>
        <p:spPr>
          <a:xfrm>
            <a:off x="228600" y="6019800"/>
            <a:ext cx="2743200" cy="381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700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Source: www.aktuonline.org</a:t>
            </a:r>
            <a:endParaRPr kumimoji="0" lang="en-US" sz="24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6146" name="Rectangle 2"/>
          <p:cNvSpPr>
            <a:spLocks noChangeArrowheads="1"/>
          </p:cNvSpPr>
          <p:nvPr/>
        </p:nvSpPr>
        <p:spPr bwMode="auto">
          <a:xfrm>
            <a:off x="533400" y="914400"/>
            <a:ext cx="7543800"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References : </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lvl="0"/>
            <a:r>
              <a:rPr lang="en-US" sz="2400" dirty="0" smtClean="0"/>
              <a:t>1. V. Sivaramakrishna (Ed.), </a:t>
            </a:r>
            <a:r>
              <a:rPr lang="en-US" sz="2400" i="1" dirty="0" smtClean="0"/>
              <a:t>Cultural Heritage of India-Course Material</a:t>
            </a:r>
            <a:r>
              <a:rPr lang="en-US" sz="2400" dirty="0" smtClean="0"/>
              <a:t>, Bharatiya Vidya Bhavan, Mumbai, 5th Edition, 2014</a:t>
            </a:r>
          </a:p>
          <a:p>
            <a:pPr lvl="0"/>
            <a:r>
              <a:rPr lang="en-US" sz="2400" dirty="0" smtClean="0"/>
              <a:t>2. S. Baliyan, </a:t>
            </a:r>
            <a:r>
              <a:rPr lang="en-US" sz="2400" i="1" dirty="0" smtClean="0"/>
              <a:t>Indian Art and Culture</a:t>
            </a:r>
            <a:r>
              <a:rPr lang="en-US" sz="2400" dirty="0" smtClean="0"/>
              <a:t>, Oxford University Press, India</a:t>
            </a:r>
          </a:p>
          <a:p>
            <a:pPr lvl="0"/>
            <a:r>
              <a:rPr lang="en-US" sz="2400" dirty="0" smtClean="0"/>
              <a:t>3. Swami Jitatmanand, </a:t>
            </a:r>
            <a:r>
              <a:rPr lang="en-US" sz="2400" i="1" dirty="0" smtClean="0"/>
              <a:t>Modern Physics and Vedant</a:t>
            </a:r>
            <a:r>
              <a:rPr lang="en-US" sz="2400" dirty="0" smtClean="0"/>
              <a:t>, Bharatiya Vidya Bhavan</a:t>
            </a:r>
          </a:p>
          <a:p>
            <a:pPr lvl="0"/>
            <a:r>
              <a:rPr lang="en-US" sz="2400" dirty="0" smtClean="0"/>
              <a:t>4. Romila Thapar, </a:t>
            </a:r>
            <a:r>
              <a:rPr lang="en-US" sz="2400" i="1" dirty="0" smtClean="0"/>
              <a:t>Readings In Early Indian History </a:t>
            </a:r>
            <a:r>
              <a:rPr lang="en-US" sz="2400" dirty="0" smtClean="0"/>
              <a:t>Oxford University Press , India</a:t>
            </a:r>
            <a:endParaRPr lang="en-US" sz="2400" dirty="0"/>
          </a:p>
        </p:txBody>
      </p:sp>
    </p:spTree>
    <p:extLst>
      <p:ext uri="{BB962C8B-B14F-4D97-AF65-F5344CB8AC3E}">
        <p14:creationId xmlns:p14="http://schemas.microsoft.com/office/powerpoint/2010/main" xmlns="" val="255522020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6FC78E5-8941-45A9-8025-B5C18AB0461B}" type="datetime1">
              <a:rPr lang="en-US" smtClean="0"/>
              <a:pPr/>
              <a:t>3/26/2022</a:t>
            </a:fld>
            <a:endParaRPr lang="en-US" dirty="0"/>
          </a:p>
        </p:txBody>
      </p:sp>
      <p:sp>
        <p:nvSpPr>
          <p:cNvPr id="5" name="Footer Placeholder 4"/>
          <p:cNvSpPr>
            <a:spLocks noGrp="1"/>
          </p:cNvSpPr>
          <p:nvPr>
            <p:ph type="ftr" sz="quarter" idx="11"/>
          </p:nvPr>
        </p:nvSpPr>
        <p:spPr>
          <a:xfrm>
            <a:off x="1447800" y="6356350"/>
            <a:ext cx="6324600" cy="365125"/>
          </a:xfrm>
        </p:spPr>
        <p:txBody>
          <a:bodyPr/>
          <a:lstStyle/>
          <a:p>
            <a:r>
              <a:rPr lang="en-US" smtClean="0">
                <a:solidFill>
                  <a:schemeClr val="tx1"/>
                </a:solidFill>
              </a:rPr>
              <a:t>Faculty Name: Dr.Ankita Shukla Subject code : KNC 602    Unit Number::III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dirty="0"/>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smtClean="0">
                <a:latin typeface="Times New Roman" pitchFamily="18" charset="0"/>
                <a:cs typeface="Times New Roman" pitchFamily="18" charset="0"/>
              </a:rPr>
              <a:t>References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533400" y="1143000"/>
            <a:ext cx="7772400" cy="2326791"/>
          </a:xfrm>
          <a:prstGeom prst="rect">
            <a:avLst/>
          </a:prstGeom>
          <a:noFill/>
        </p:spPr>
        <p:txBody>
          <a:bodyPr wrap="square" lIns="91440" tIns="45720" rIns="91440" bIns="45720">
            <a:spAutoFit/>
          </a:bodyPr>
          <a:lstStyle/>
          <a:p>
            <a:pPr algn="ctr">
              <a:buNone/>
            </a:pPr>
            <a:endParaRPr lang="en-US" sz="6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r>
              <a:rPr lang="en-US" sz="6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extLst>
      <p:ext uri="{BB962C8B-B14F-4D97-AF65-F5344CB8AC3E}">
        <p14:creationId xmlns:p14="http://schemas.microsoft.com/office/powerpoint/2010/main" xmlns="" val="25552202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4436</TotalTime>
  <Words>6804</Words>
  <Application>Microsoft Office PowerPoint</Application>
  <PresentationFormat>On-screen Show (4:3)</PresentationFormat>
  <Paragraphs>1007</Paragraphs>
  <Slides>97</Slides>
  <Notes>24</Notes>
  <HiddenSlides>0</HiddenSlides>
  <MMClips>0</MMClips>
  <ScaleCrop>false</ScaleCrop>
  <HeadingPairs>
    <vt:vector size="4" baseType="variant">
      <vt:variant>
        <vt:lpstr>Theme</vt:lpstr>
      </vt:variant>
      <vt:variant>
        <vt:i4>1</vt:i4>
      </vt:variant>
      <vt:variant>
        <vt:lpstr>Slide Titles</vt:lpstr>
      </vt:variant>
      <vt:variant>
        <vt:i4>97</vt:i4>
      </vt:variant>
    </vt:vector>
  </HeadingPairs>
  <TitlesOfParts>
    <vt:vector size="98" baseType="lpstr">
      <vt:lpstr>Office Theme</vt:lpstr>
      <vt:lpstr>Noida Institute of Engineering and Technology, Greater Noida</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Origins</vt:lpstr>
      <vt:lpstr>Slide 22</vt:lpstr>
      <vt:lpstr>Slide 23</vt:lpstr>
      <vt:lpstr>Slide 24</vt:lpstr>
      <vt:lpstr>Noble Eightfold Path</vt:lpstr>
      <vt:lpstr>Slide 26</vt:lpstr>
      <vt:lpstr>Slide 27</vt:lpstr>
      <vt:lpstr>Slide 28</vt:lpstr>
      <vt:lpstr>Pali Canon (Tipitaka):</vt:lpstr>
      <vt:lpstr>Slide 30</vt:lpstr>
      <vt:lpstr>Slide 31</vt:lpstr>
      <vt:lpstr>Slide 32</vt:lpstr>
      <vt:lpstr>Slide 33</vt:lpstr>
      <vt:lpstr>Slide 34</vt:lpstr>
      <vt:lpstr>Slide 35</vt:lpstr>
      <vt:lpstr> The principles governing the successions of life cycles (birth, life, and death) is Karma.</vt:lpstr>
      <vt:lpstr>Slide 37</vt:lpstr>
      <vt:lpstr>Slide 38</vt:lpstr>
      <vt:lpstr>Slide 39</vt:lpstr>
      <vt:lpstr>All souls are equal</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Various Philosophical Doctrines</vt:lpstr>
      <vt:lpstr>Various Philosophical Doctrines</vt:lpstr>
      <vt:lpstr>Heterodox Sects</vt:lpstr>
      <vt:lpstr> Heterodox Sects(Śramaṇic schools) </vt:lpstr>
      <vt:lpstr> Heterodox Sects(Śramaṇic schools) </vt:lpstr>
      <vt:lpstr> Heterodox Sects(Śramaṇic schools) </vt:lpstr>
      <vt:lpstr> Bhakti Movement</vt:lpstr>
      <vt:lpstr>Bhakti Movement</vt:lpstr>
      <vt:lpstr>Bhakti Movement</vt:lpstr>
      <vt:lpstr>Bhakti Movement</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Windows User</cp:lastModifiedBy>
  <cp:revision>813</cp:revision>
  <dcterms:created xsi:type="dcterms:W3CDTF">2006-08-16T00:00:00Z</dcterms:created>
  <dcterms:modified xsi:type="dcterms:W3CDTF">2022-03-26T07:27:43Z</dcterms:modified>
</cp:coreProperties>
</file>