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9.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handoutMasterIdLst>
    <p:handoutMasterId r:id="rId95"/>
  </p:handoutMasterIdLst>
  <p:sldIdLst>
    <p:sldId id="256" r:id="rId2"/>
    <p:sldId id="372" r:id="rId3"/>
    <p:sldId id="1613" r:id="rId4"/>
    <p:sldId id="268" r:id="rId5"/>
    <p:sldId id="1614" r:id="rId6"/>
    <p:sldId id="335" r:id="rId7"/>
    <p:sldId id="1525" r:id="rId8"/>
    <p:sldId id="2153" r:id="rId9"/>
    <p:sldId id="2133" r:id="rId10"/>
    <p:sldId id="2134" r:id="rId11"/>
    <p:sldId id="2136" r:id="rId12"/>
    <p:sldId id="2137" r:id="rId13"/>
    <p:sldId id="2139" r:id="rId14"/>
    <p:sldId id="2138" r:id="rId15"/>
    <p:sldId id="2140" r:id="rId16"/>
    <p:sldId id="2143" r:id="rId17"/>
    <p:sldId id="2142" r:id="rId18"/>
    <p:sldId id="2141" r:id="rId19"/>
    <p:sldId id="2145" r:id="rId20"/>
    <p:sldId id="2144" r:id="rId21"/>
    <p:sldId id="2148" r:id="rId22"/>
    <p:sldId id="2147" r:id="rId23"/>
    <p:sldId id="2146" r:id="rId24"/>
    <p:sldId id="2150" r:id="rId25"/>
    <p:sldId id="2152" r:id="rId26"/>
    <p:sldId id="2151" r:id="rId27"/>
    <p:sldId id="1623" r:id="rId28"/>
    <p:sldId id="564" r:id="rId29"/>
    <p:sldId id="1553" r:id="rId30"/>
    <p:sldId id="2154" r:id="rId31"/>
    <p:sldId id="1489" r:id="rId32"/>
    <p:sldId id="1554" r:id="rId33"/>
    <p:sldId id="1555" r:id="rId34"/>
    <p:sldId id="1559" r:id="rId35"/>
    <p:sldId id="1557" r:id="rId36"/>
    <p:sldId id="1560" r:id="rId37"/>
    <p:sldId id="1561" r:id="rId38"/>
    <p:sldId id="1512" r:id="rId39"/>
    <p:sldId id="1622" r:id="rId40"/>
    <p:sldId id="1615" r:id="rId41"/>
    <p:sldId id="1562" r:id="rId42"/>
    <p:sldId id="2155" r:id="rId43"/>
    <p:sldId id="1558" r:id="rId44"/>
    <p:sldId id="1572" r:id="rId45"/>
    <p:sldId id="1573" r:id="rId46"/>
    <p:sldId id="1574" r:id="rId47"/>
    <p:sldId id="1575" r:id="rId48"/>
    <p:sldId id="1576" r:id="rId49"/>
    <p:sldId id="1563" r:id="rId50"/>
    <p:sldId id="1564" r:id="rId51"/>
    <p:sldId id="1565" r:id="rId52"/>
    <p:sldId id="1566" r:id="rId53"/>
    <p:sldId id="1567" r:id="rId54"/>
    <p:sldId id="1568" r:id="rId55"/>
    <p:sldId id="1569" r:id="rId56"/>
    <p:sldId id="1579" r:id="rId57"/>
    <p:sldId id="1610" r:id="rId58"/>
    <p:sldId id="1616" r:id="rId59"/>
    <p:sldId id="1580" r:id="rId60"/>
    <p:sldId id="2156" r:id="rId61"/>
    <p:sldId id="1570" r:id="rId62"/>
    <p:sldId id="1581" r:id="rId63"/>
    <p:sldId id="1583" r:id="rId64"/>
    <p:sldId id="1584" r:id="rId65"/>
    <p:sldId id="1585" r:id="rId66"/>
    <p:sldId id="1586" r:id="rId67"/>
    <p:sldId id="1587" r:id="rId68"/>
    <p:sldId id="2159" r:id="rId69"/>
    <p:sldId id="1617" r:id="rId70"/>
    <p:sldId id="1589" r:id="rId71"/>
    <p:sldId id="2157" r:id="rId72"/>
    <p:sldId id="1588" r:id="rId73"/>
    <p:sldId id="1571" r:id="rId74"/>
    <p:sldId id="1590" r:id="rId75"/>
    <p:sldId id="1607" r:id="rId76"/>
    <p:sldId id="1591" r:id="rId77"/>
    <p:sldId id="1593" r:id="rId78"/>
    <p:sldId id="1592" r:id="rId79"/>
    <p:sldId id="1594" r:id="rId80"/>
    <p:sldId id="1597" r:id="rId81"/>
    <p:sldId id="1598" r:id="rId82"/>
    <p:sldId id="2158" r:id="rId83"/>
    <p:sldId id="1618" r:id="rId84"/>
    <p:sldId id="1481" r:id="rId85"/>
    <p:sldId id="1549" r:id="rId86"/>
    <p:sldId id="1479" r:id="rId87"/>
    <p:sldId id="264" r:id="rId88"/>
    <p:sldId id="1611" r:id="rId89"/>
    <p:sldId id="274" r:id="rId90"/>
    <p:sldId id="267" r:id="rId91"/>
    <p:sldId id="1548" r:id="rId92"/>
    <p:sldId id="283" r:id="rId9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485" autoAdjust="0"/>
    <p:restoredTop sz="94660"/>
  </p:normalViewPr>
  <p:slideViewPr>
    <p:cSldViewPr>
      <p:cViewPr varScale="1">
        <p:scale>
          <a:sx n="68" d="100"/>
          <a:sy n="68" d="100"/>
        </p:scale>
        <p:origin x="-1692" y="-96"/>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06/22/21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06/22/21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34</a:t>
            </a:fld>
            <a:endParaRPr lang="en-US"/>
          </a:p>
        </p:txBody>
      </p:sp>
    </p:spTree>
    <p:extLst>
      <p:ext uri="{BB962C8B-B14F-4D97-AF65-F5344CB8AC3E}">
        <p14:creationId xmlns="" xmlns:p14="http://schemas.microsoft.com/office/powerpoint/2010/main" val="237370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83</a:t>
            </a:fld>
            <a:endParaRPr lang="en-US"/>
          </a:p>
        </p:txBody>
      </p:sp>
    </p:spTree>
    <p:extLst>
      <p:ext uri="{BB962C8B-B14F-4D97-AF65-F5344CB8AC3E}">
        <p14:creationId xmlns="" xmlns:p14="http://schemas.microsoft.com/office/powerpoint/2010/main" val="1627919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B62783-17F3-4AFB-AD81-D96B6B8C6315}" type="datetime1">
              <a:rPr lang="en-US" smtClean="0"/>
              <a:t>06/22/21</a:t>
            </a:fld>
            <a:endParaRPr lang="en-US"/>
          </a:p>
        </p:txBody>
      </p:sp>
      <p:sp>
        <p:nvSpPr>
          <p:cNvPr id="5" name="Footer Placeholder 4"/>
          <p:cNvSpPr>
            <a:spLocks noGrp="1"/>
          </p:cNvSpPr>
          <p:nvPr>
            <p:ph type="ftr" sz="quarter" idx="11"/>
          </p:nvPr>
        </p:nvSpPr>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5F09F5-8B46-4084-8C66-7940684B4EB3}" type="datetime1">
              <a:rPr lang="en-US" smtClean="0"/>
              <a:t>06/22/21</a:t>
            </a:fld>
            <a:endParaRPr lang="en-US"/>
          </a:p>
        </p:txBody>
      </p:sp>
      <p:sp>
        <p:nvSpPr>
          <p:cNvPr id="5" name="Footer Placeholder 4"/>
          <p:cNvSpPr>
            <a:spLocks noGrp="1"/>
          </p:cNvSpPr>
          <p:nvPr>
            <p:ph type="ftr" sz="quarter" idx="11"/>
          </p:nvPr>
        </p:nvSpPr>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CC61AC-2D9F-43BA-97E7-A5CDFF44FC40}" type="datetime1">
              <a:rPr lang="en-US" smtClean="0"/>
              <a:t>06/22/21</a:t>
            </a:fld>
            <a:endParaRPr lang="en-US"/>
          </a:p>
        </p:txBody>
      </p:sp>
      <p:sp>
        <p:nvSpPr>
          <p:cNvPr id="5" name="Footer Placeholder 4"/>
          <p:cNvSpPr>
            <a:spLocks noGrp="1"/>
          </p:cNvSpPr>
          <p:nvPr>
            <p:ph type="ftr" sz="quarter" idx="11"/>
          </p:nvPr>
        </p:nvSpPr>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85D194-CE41-4BAB-A874-69ECBFB1B611}" type="datetime1">
              <a:rPr lang="en-US" smtClean="0"/>
              <a:t>06/22/21</a:t>
            </a:fld>
            <a:endParaRPr lang="en-US"/>
          </a:p>
        </p:txBody>
      </p:sp>
      <p:sp>
        <p:nvSpPr>
          <p:cNvPr id="6" name="Footer Placeholder 5"/>
          <p:cNvSpPr>
            <a:spLocks noGrp="1"/>
          </p:cNvSpPr>
          <p:nvPr>
            <p:ph type="ftr" sz="quarter" idx="11"/>
          </p:nvPr>
        </p:nvSpPr>
        <p:spPr/>
        <p:txBody>
          <a:bodyPr/>
          <a:lstStyle/>
          <a:p>
            <a:r>
              <a:rPr lang="en-IN" smtClean="0"/>
              <a:t>SHYAM LAL SHARMA           KOE069 UHV-2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B87F0E-1ED3-4B98-8EB8-989BCAA58736}" type="datetime1">
              <a:rPr lang="en-US" smtClean="0"/>
              <a:t>06/22/21</a:t>
            </a:fld>
            <a:endParaRPr lang="en-US"/>
          </a:p>
        </p:txBody>
      </p:sp>
      <p:sp>
        <p:nvSpPr>
          <p:cNvPr id="8" name="Footer Placeholder 7"/>
          <p:cNvSpPr>
            <a:spLocks noGrp="1"/>
          </p:cNvSpPr>
          <p:nvPr>
            <p:ph type="ftr" sz="quarter" idx="11"/>
          </p:nvPr>
        </p:nvSpPr>
        <p:spPr/>
        <p:txBody>
          <a:bodyPr/>
          <a:lstStyle/>
          <a:p>
            <a:r>
              <a:rPr lang="en-IN" smtClean="0"/>
              <a:t>SHYAM LAL SHARMA           KOE069 UHV-2               Unit :V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28FE90-CDD1-48D0-88A6-CB8BBB77D07F}" type="datetime1">
              <a:rPr lang="en-US" smtClean="0"/>
              <a:t>06/22/21</a:t>
            </a:fld>
            <a:endParaRPr lang="en-US"/>
          </a:p>
        </p:txBody>
      </p:sp>
      <p:sp>
        <p:nvSpPr>
          <p:cNvPr id="4" name="Footer Placeholder 3"/>
          <p:cNvSpPr>
            <a:spLocks noGrp="1"/>
          </p:cNvSpPr>
          <p:nvPr>
            <p:ph type="ftr" sz="quarter" idx="11"/>
          </p:nvPr>
        </p:nvSpPr>
        <p:spPr/>
        <p:txBody>
          <a:bodyPr/>
          <a:lstStyle/>
          <a:p>
            <a:r>
              <a:rPr lang="en-IN" smtClean="0"/>
              <a:t>SHYAM LAL SHARMA           KOE069 UHV-2               Unit :V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98D827-14D8-4181-8C1C-952966E7B638}" type="datetime1">
              <a:rPr lang="en-US" smtClean="0"/>
              <a:t>06/22/21</a:t>
            </a:fld>
            <a:endParaRPr lang="en-US"/>
          </a:p>
        </p:txBody>
      </p:sp>
      <p:sp>
        <p:nvSpPr>
          <p:cNvPr id="3" name="Footer Placeholder 2"/>
          <p:cNvSpPr>
            <a:spLocks noGrp="1"/>
          </p:cNvSpPr>
          <p:nvPr>
            <p:ph type="ftr" sz="quarter" idx="11"/>
          </p:nvPr>
        </p:nvSpPr>
        <p:spPr/>
        <p:txBody>
          <a:bodyPr/>
          <a:lstStyle/>
          <a:p>
            <a:r>
              <a:rPr lang="en-IN" smtClean="0"/>
              <a:t>SHYAM LAL SHARMA           KOE069 UHV-2               Unit :V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C35EDB-B985-4B83-B40E-F20A5CB5490E}" type="datetime1">
              <a:rPr lang="en-US" smtClean="0"/>
              <a:t>06/22/21</a:t>
            </a:fld>
            <a:endParaRPr lang="en-US"/>
          </a:p>
        </p:txBody>
      </p:sp>
      <p:sp>
        <p:nvSpPr>
          <p:cNvPr id="6" name="Footer Placeholder 5"/>
          <p:cNvSpPr>
            <a:spLocks noGrp="1"/>
          </p:cNvSpPr>
          <p:nvPr>
            <p:ph type="ftr" sz="quarter" idx="11"/>
          </p:nvPr>
        </p:nvSpPr>
        <p:spPr/>
        <p:txBody>
          <a:bodyPr/>
          <a:lstStyle/>
          <a:p>
            <a:r>
              <a:rPr lang="en-IN" smtClean="0"/>
              <a:t>SHYAM LAL SHARMA           KOE069 UHV-2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A7D49F-723F-4E6E-B4BC-6A70624B789A}" type="datetime1">
              <a:rPr lang="en-US" smtClean="0"/>
              <a:t>06/22/21</a:t>
            </a:fld>
            <a:endParaRPr lang="en-US"/>
          </a:p>
        </p:txBody>
      </p:sp>
      <p:sp>
        <p:nvSpPr>
          <p:cNvPr id="6" name="Footer Placeholder 5"/>
          <p:cNvSpPr>
            <a:spLocks noGrp="1"/>
          </p:cNvSpPr>
          <p:nvPr>
            <p:ph type="ftr" sz="quarter" idx="11"/>
          </p:nvPr>
        </p:nvSpPr>
        <p:spPr/>
        <p:txBody>
          <a:bodyPr/>
          <a:lstStyle/>
          <a:p>
            <a:r>
              <a:rPr lang="en-IN" smtClean="0"/>
              <a:t>SHYAM LAL SHARMA           KOE069 UHV-2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E21C5D-2184-406D-8276-E7ECE97BDD1D}" type="datetime1">
              <a:rPr lang="en-US" smtClean="0"/>
              <a:t>06/22/21</a:t>
            </a:fld>
            <a:endParaRPr lang="en-US"/>
          </a:p>
        </p:txBody>
      </p:sp>
      <p:sp>
        <p:nvSpPr>
          <p:cNvPr id="5" name="Footer Placeholder 4"/>
          <p:cNvSpPr>
            <a:spLocks noGrp="1"/>
          </p:cNvSpPr>
          <p:nvPr>
            <p:ph type="ftr" sz="quarter" idx="11"/>
          </p:nvPr>
        </p:nvSpPr>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24956A-B9B8-4443-B163-EF71FB1E7E38}" type="datetime1">
              <a:rPr lang="en-US" smtClean="0"/>
              <a:t>06/22/21</a:t>
            </a:fld>
            <a:endParaRPr lang="en-US"/>
          </a:p>
        </p:txBody>
      </p:sp>
      <p:sp>
        <p:nvSpPr>
          <p:cNvPr id="5" name="Footer Placeholder 4"/>
          <p:cNvSpPr>
            <a:spLocks noGrp="1"/>
          </p:cNvSpPr>
          <p:nvPr>
            <p:ph type="ftr" sz="quarter" idx="11"/>
          </p:nvPr>
        </p:nvSpPr>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380999"/>
          </a:xfrm>
          <a:prstGeom prst="rect">
            <a:avLst/>
          </a:prstGeom>
        </p:spPr>
        <p:txBody>
          <a:bodyPr/>
          <a:lstStyle/>
          <a:p>
            <a:r>
              <a:rPr lang="en-US" dirty="0"/>
              <a:t>Click to edit Master title style</a:t>
            </a:r>
          </a:p>
        </p:txBody>
      </p:sp>
      <p:sp>
        <p:nvSpPr>
          <p:cNvPr id="7" name="Text Placeholder 7"/>
          <p:cNvSpPr>
            <a:spLocks noGrp="1"/>
          </p:cNvSpPr>
          <p:nvPr>
            <p:ph type="body" sz="quarter" idx="13"/>
          </p:nvPr>
        </p:nvSpPr>
        <p:spPr>
          <a:xfrm>
            <a:off x="0" y="609600"/>
            <a:ext cx="9144000" cy="5943600"/>
          </a:xfrm>
          <a:prstGeom prst="rect">
            <a:avLst/>
          </a:prstGeom>
        </p:spPr>
        <p:txBody>
          <a:bodyPr>
            <a:normAutofit/>
          </a:bodyPr>
          <a:lstStyle>
            <a:lvl1pPr algn="l" defTabSz="914400" rtl="0" eaLnBrk="1" latinLnBrk="0" hangingPunct="1">
              <a:spcBef>
                <a:spcPct val="20000"/>
              </a:spcBef>
              <a:buFont typeface="Symbol" pitchFamily="18" charset="2"/>
              <a:buChar char="·"/>
              <a:defRPr lang="en-US" sz="2200" b="0" kern="1200" dirty="0" smtClean="0">
                <a:solidFill>
                  <a:schemeClr val="tx1"/>
                </a:solidFill>
                <a:latin typeface="Arial" pitchFamily="34" charset="0"/>
                <a:ea typeface="+mn-ea"/>
                <a:cs typeface="Arial" pitchFamily="34" charset="0"/>
              </a:defRPr>
            </a:lvl1pPr>
            <a:lvl2pPr algn="l" defTabSz="914400" rtl="0" eaLnBrk="1" latinLnBrk="0" hangingPunct="1">
              <a:spcBef>
                <a:spcPct val="20000"/>
              </a:spcBef>
              <a:buFont typeface="Wingdings" pitchFamily="2" charset="2"/>
              <a:buChar char="§"/>
              <a:defRPr lang="en-US" sz="2000" b="0" kern="1200" dirty="0" smtClean="0">
                <a:solidFill>
                  <a:schemeClr val="tx1"/>
                </a:solidFill>
                <a:latin typeface="Arial" pitchFamily="34" charset="0"/>
                <a:ea typeface="+mn-ea"/>
                <a:cs typeface="Arial" pitchFamily="34" charset="0"/>
              </a:defRPr>
            </a:lvl2pPr>
            <a:lvl3pPr algn="l" defTabSz="914400" rtl="0" eaLnBrk="1" latinLnBrk="0" hangingPunct="1">
              <a:spcBef>
                <a:spcPct val="20000"/>
              </a:spcBef>
              <a:buFont typeface="Symbol" pitchFamily="18" charset="2"/>
              <a:buChar char="-"/>
              <a:defRPr lang="en-US" sz="1800" kern="1200" dirty="0" smtClean="0">
                <a:solidFill>
                  <a:schemeClr val="tx1"/>
                </a:solidFill>
                <a:latin typeface="Arial" pitchFamily="34" charset="0"/>
                <a:ea typeface="+mn-ea"/>
                <a:cs typeface="Arial" pitchFamily="34" charset="0"/>
              </a:defRPr>
            </a:lvl3pPr>
            <a:lvl4pPr algn="l" defTabSz="914400" rtl="0" eaLnBrk="1" latinLnBrk="0" hangingPunct="1">
              <a:spcBef>
                <a:spcPct val="20000"/>
              </a:spcBef>
              <a:buFont typeface="Symbol" pitchFamily="18" charset="2"/>
              <a:buChar char="-"/>
              <a:defRPr lang="en-US" sz="1600" kern="1200" dirty="0" smtClean="0">
                <a:solidFill>
                  <a:schemeClr val="tx1"/>
                </a:solidFill>
                <a:latin typeface="Arial" pitchFamily="34" charset="0"/>
                <a:ea typeface="+mn-ea"/>
                <a:cs typeface="Arial" pitchFamily="34" charset="0"/>
              </a:defRPr>
            </a:lvl4pPr>
            <a:lvl5pPr algn="l" defTabSz="914400" rtl="0" eaLnBrk="1" latinLnBrk="0" hangingPunct="1">
              <a:spcBef>
                <a:spcPct val="20000"/>
              </a:spcBef>
              <a:buFont typeface="Symbol" pitchFamily="18" charset="2"/>
              <a:buChar char="&gt;"/>
              <a:defRPr lang="en-US" sz="1600" kern="1200" dirty="0" smtClean="0">
                <a:solidFill>
                  <a:schemeClr val="tx1"/>
                </a:solidFill>
                <a:latin typeface="Arial" pitchFamily="34" charset="0"/>
                <a:ea typeface="+mn-ea"/>
                <a:cs typeface="Arial" pitchFamily="34" charset="0"/>
              </a:defRPr>
            </a:lvl5pPr>
          </a:lstStyle>
          <a:p>
            <a:pPr lvl="0"/>
            <a:r>
              <a:rPr lang="en-US" dirty="0"/>
              <a:t>Click to edit Master text styles</a:t>
            </a:r>
          </a:p>
          <a:p>
            <a:pPr lvl="1"/>
            <a:r>
              <a:rPr lang="en-US" dirty="0"/>
              <a:t>Second level</a:t>
            </a:r>
          </a:p>
        </p:txBody>
      </p:sp>
    </p:spTree>
    <p:extLst>
      <p:ext uri="{BB962C8B-B14F-4D97-AF65-F5344CB8AC3E}">
        <p14:creationId xmlns="" xmlns:p14="http://schemas.microsoft.com/office/powerpoint/2010/main" val="19062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DEDCC0-473F-4211-B841-8AF8B4D7EB8F}" type="datetime1">
              <a:rPr lang="en-US" smtClean="0"/>
              <a:t>06/22/21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SHYAM LAL SHARMA           KOE069 UHV-2               Unit :V</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hyperlink" Target="https://www.youtube.com/watch?v=tULgi8tNg9k&amp;list=PLWDeKF97v9SP_Kt6jqzA3pZ3yA7g_OAQz&amp;index=18" TargetMode="External"/><Relationship Id="rId3" Type="http://schemas.openxmlformats.org/officeDocument/2006/relationships/hyperlink" Target="https://www.youtube.com/watch?v=nFAa4t1d0TA" TargetMode="External"/><Relationship Id="rId7" Type="http://schemas.openxmlformats.org/officeDocument/2006/relationships/hyperlink" Target="https://www.youtube.com/watch?v=nFAa4t1d0TA&amp;list=PLWDeKF97v9SP_Kt6jqzA3pZ3yA7g_OAQz&amp;index=16" TargetMode="External"/><Relationship Id="rId2" Type="http://schemas.openxmlformats.org/officeDocument/2006/relationships/hyperlink" Target="https://www.youtube.com/watch?v=DO1HQuoUfBQ" TargetMode="External"/><Relationship Id="rId1" Type="http://schemas.openxmlformats.org/officeDocument/2006/relationships/slideLayout" Target="../slideLayouts/slideLayout2.xml"/><Relationship Id="rId6" Type="http://schemas.openxmlformats.org/officeDocument/2006/relationships/hyperlink" Target="https://www.youtube.com/watch?v=Cnw1nK3K5qk&amp;list=PLWDeKF97v9SP_Kt6jqzA3pZ3yA7g_OAQz&amp;index=15" TargetMode="External"/><Relationship Id="rId5" Type="http://schemas.openxmlformats.org/officeDocument/2006/relationships/hyperlink" Target="https://www.youtube.com/watch?v=WNxF_hwxeB8&amp;list=PLWDeKF97v9SP_Kt6jqzA3pZ3yA7g_OAQz&amp;index=17" TargetMode="External"/><Relationship Id="rId4" Type="http://schemas.openxmlformats.org/officeDocument/2006/relationships/hyperlink" Target="https://www.youtube.com/watch?v=-1VzEaPZWls" TargetMode="External"/><Relationship Id="rId9" Type="http://schemas.openxmlformats.org/officeDocument/2006/relationships/image" Target="../media/image1.png"/></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abesit.in/library/download/B.Tech./Sem.3/2018-19/UNIVERSAL-HUMAN-VALUES-AND-PROFESSIONAL-ETHICS-RVE-301.pdf" TargetMode="External"/><Relationship Id="rId2" Type="http://schemas.openxmlformats.org/officeDocument/2006/relationships/hyperlink" Target="https://abesit.in/library/download/B.Tech./Sem.7/2019-20/UNDERSTANDING-THE-HUMAN-BEING-COMPREHENSIVELY-ROE-074.pdf"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abesit.in/library/download/B.Tech./Sem.3/2017-18/UNIVERSAL-HUMAN-VALUES-PROFESSIONAL-ETHICS-RVE-301.pdf" TargetMode="Externa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447800" y="914400"/>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IN" altLang="en-US" sz="3000" b="1" dirty="0">
              <a:solidFill>
                <a:schemeClr val="tx1"/>
              </a:solidFill>
            </a:endParaRPr>
          </a:p>
          <a:p>
            <a:r>
              <a:rPr lang="en-IN" altLang="en-US" sz="3000" b="1" dirty="0">
                <a:solidFill>
                  <a:schemeClr val="tx1"/>
                </a:solidFill>
              </a:rPr>
              <a:t>Expansion of harmony from self to entire existence</a:t>
            </a:r>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b="1" dirty="0" err="1" smtClean="0">
                <a:solidFill>
                  <a:prstClr val="black"/>
                </a:solidFill>
              </a:rPr>
              <a:t>Shyam</a:t>
            </a:r>
            <a:r>
              <a:rPr lang="en-US" sz="2400" b="1" dirty="0" smtClean="0">
                <a:solidFill>
                  <a:prstClr val="black"/>
                </a:solidFill>
              </a:rPr>
              <a:t> </a:t>
            </a:r>
            <a:r>
              <a:rPr lang="en-US" sz="2400" b="1" dirty="0" err="1" smtClean="0">
                <a:solidFill>
                  <a:prstClr val="black"/>
                </a:solidFill>
              </a:rPr>
              <a:t>Lal</a:t>
            </a:r>
            <a:r>
              <a:rPr lang="en-US" sz="2400" b="1" dirty="0" smtClean="0">
                <a:solidFill>
                  <a:prstClr val="black"/>
                </a:solidFill>
              </a:rPr>
              <a:t> Sharma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prstClr val="black"/>
                </a:solidFill>
                <a:effectLst/>
                <a:uLnTx/>
                <a:uFillTx/>
                <a:latin typeface="Calibri"/>
                <a:ea typeface="+mn-ea"/>
                <a:cs typeface="+mn-cs"/>
              </a:rPr>
              <a:t>Assistant </a:t>
            </a:r>
            <a:r>
              <a:rPr kumimoji="0" lang="en-US" sz="2400" b="0" i="0" u="none" strike="noStrike" kern="1200" cap="none" spc="0" normalizeH="0" baseline="0" noProof="0" dirty="0">
                <a:ln>
                  <a:noFill/>
                </a:ln>
                <a:solidFill>
                  <a:prstClr val="black"/>
                </a:solidFill>
                <a:effectLst/>
                <a:uLnTx/>
                <a:uFillTx/>
                <a:latin typeface="Calibri"/>
                <a:ea typeface="+mn-ea"/>
                <a:cs typeface="+mn-cs"/>
              </a:rPr>
              <a:t>Professor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prstClr val="black"/>
                </a:solidFill>
                <a:latin typeface="Calibri"/>
              </a:rPr>
              <a:t>ME</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Date Placeholder 8"/>
          <p:cNvSpPr>
            <a:spLocks noGrp="1"/>
          </p:cNvSpPr>
          <p:nvPr>
            <p:ph type="dt" sz="half" idx="10"/>
          </p:nvPr>
        </p:nvSpPr>
        <p:spPr>
          <a:xfrm>
            <a:off x="278160" y="6356349"/>
            <a:ext cx="21336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C9D9C80-D66A-402A-8D77-D18BA38DCE1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3111624"/>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prstClr val="black"/>
                </a:solidFill>
                <a:effectLst/>
                <a:uLnTx/>
                <a:uFillTx/>
                <a:latin typeface="Calibri"/>
                <a:ea typeface="+mn-ea"/>
                <a:cs typeface="+mn-cs"/>
              </a:rPr>
              <a:t>Unit: </a:t>
            </a:r>
            <a:r>
              <a:rPr lang="en-US" sz="2500" b="1" dirty="0">
                <a:solidFill>
                  <a:prstClr val="black"/>
                </a:solidFill>
                <a:latin typeface="Calibri"/>
              </a:rPr>
              <a:t>V</a:t>
            </a:r>
            <a:endParaRPr kumimoji="0" lang="en-US" sz="2500" b="1"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Subtitle 2"/>
          <p:cNvSpPr txBox="1">
            <a:spLocks/>
          </p:cNvSpPr>
          <p:nvPr/>
        </p:nvSpPr>
        <p:spPr>
          <a:xfrm>
            <a:off x="152400" y="3965550"/>
            <a:ext cx="5571728" cy="126365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angal" panose="00000400000000000000" pitchFamily="2"/>
              </a:rPr>
              <a:t>Understanding the human being comprehensively-Human Aspirations and its fulfillment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t>
            </a:r>
            <a:r>
              <a:rPr lang="en-US" sz="2000" dirty="0">
                <a:solidFill>
                  <a:prstClr val="black"/>
                </a:solidFill>
                <a:latin typeface="Calibri"/>
              </a:rPr>
              <a:t>KOE-069</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5" name="Subtitle 2"/>
          <p:cNvSpPr txBox="1">
            <a:spLocks/>
          </p:cNvSpPr>
          <p:nvPr/>
        </p:nvSpPr>
        <p:spPr>
          <a:xfrm>
            <a:off x="152400" y="5343872"/>
            <a:ext cx="41910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B Tech (6</a:t>
            </a:r>
            <a:r>
              <a:rPr kumimoji="0" lang="en-US" sz="2000" b="1" i="0" u="none" strike="noStrike" kern="1200" cap="none" spc="0" normalizeH="0" baseline="30000" noProof="0" dirty="0">
                <a:ln>
                  <a:noFill/>
                </a:ln>
                <a:solidFill>
                  <a:prstClr val="black"/>
                </a:solidFill>
                <a:effectLst/>
                <a:uLnTx/>
                <a:uFillTx/>
                <a:latin typeface="Calibri"/>
                <a:ea typeface="+mn-ea"/>
                <a:cs typeface="+mn-cs"/>
              </a:rPr>
              <a:t>th</a:t>
            </a:r>
            <a:r>
              <a:rPr kumimoji="0" lang="en-US" sz="2000" b="1" i="0" u="none" strike="noStrike" kern="1200" cap="none" spc="0" normalizeH="0" baseline="0" noProof="0" dirty="0">
                <a:ln>
                  <a:noFill/>
                </a:ln>
                <a:solidFill>
                  <a:prstClr val="black"/>
                </a:solidFill>
                <a:effectLst/>
                <a:uLnTx/>
                <a:uFillTx/>
                <a:latin typeface="Calibri"/>
                <a:ea typeface="+mn-ea"/>
                <a:cs typeface="+mn-cs"/>
              </a:rPr>
              <a:t> Sem)</a:t>
            </a:r>
          </a:p>
        </p:txBody>
      </p:sp>
      <p:sp>
        <p:nvSpPr>
          <p:cNvPr id="16" name="Footer Placeholder 4">
            <a:extLst>
              <a:ext uri="{FF2B5EF4-FFF2-40B4-BE49-F238E27FC236}">
                <a16:creationId xmlns="" xmlns:a16="http://schemas.microsoft.com/office/drawing/2014/main" id="{732C573A-F37C-46B2-95D3-6D0B48265E84}"/>
              </a:ext>
            </a:extLst>
          </p:cNvPr>
          <p:cNvSpPr>
            <a:spLocks noGrp="1"/>
          </p:cNvSpPr>
          <p:nvPr>
            <p:ph type="ftr" sz="quarter" idx="11"/>
          </p:nvPr>
        </p:nvSpPr>
        <p:spPr>
          <a:xfrm>
            <a:off x="2411760" y="635635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85794"/>
            <a:ext cx="8548718" cy="4947462"/>
          </a:xfrm>
        </p:spPr>
        <p:txBody>
          <a:bodyPr>
            <a:noAutofit/>
          </a:bodyPr>
          <a:lstStyle/>
          <a:p>
            <a:pPr>
              <a:buFont typeface="Wingdings" panose="05000000000000000000" pitchFamily="2" charset="2"/>
              <a:buChar char="Ø"/>
            </a:pPr>
            <a:endParaRPr lang="en-US" sz="2200" dirty="0">
              <a:latin typeface="Arial" pitchFamily="34" charset="0"/>
              <a:cs typeface="Arial" pitchFamily="34" charset="0"/>
            </a:endParaRPr>
          </a:p>
          <a:p>
            <a:pPr>
              <a:buFont typeface="Wingdings" panose="05000000000000000000" pitchFamily="2" charset="2"/>
              <a:buChar char="Ø"/>
            </a:pPr>
            <a:r>
              <a:rPr lang="en-US" sz="2400" dirty="0"/>
              <a:t>Course Outcomes</a:t>
            </a:r>
          </a:p>
          <a:p>
            <a:pPr>
              <a:buFont typeface="Wingdings" panose="05000000000000000000" pitchFamily="2" charset="2"/>
              <a:buChar char="Ø"/>
            </a:pPr>
            <a:r>
              <a:rPr lang="en-US" sz="2400" dirty="0"/>
              <a:t>CO-PO and PSO mapping</a:t>
            </a:r>
          </a:p>
          <a:p>
            <a:pPr>
              <a:buFont typeface="Wingdings" panose="05000000000000000000" pitchFamily="2" charset="2"/>
              <a:buChar char="Ø"/>
            </a:pPr>
            <a:r>
              <a:rPr lang="en-US" sz="2400" dirty="0"/>
              <a:t>Unit -5 Syllabus</a:t>
            </a:r>
          </a:p>
          <a:p>
            <a:pPr>
              <a:buFont typeface="Wingdings" panose="05000000000000000000" pitchFamily="2" charset="2"/>
              <a:buChar char="Ø"/>
            </a:pPr>
            <a:r>
              <a:rPr lang="en-US" sz="2400" dirty="0"/>
              <a:t>Unit -5 Objective, Prerequisite</a:t>
            </a:r>
          </a:p>
          <a:p>
            <a:pPr>
              <a:buFont typeface="Wingdings" panose="05000000000000000000" pitchFamily="2" charset="2"/>
              <a:buChar char="Ø"/>
            </a:pPr>
            <a:r>
              <a:rPr lang="en-US" sz="2400" dirty="0"/>
              <a:t>Daily Quiz</a:t>
            </a:r>
          </a:p>
          <a:p>
            <a:pPr>
              <a:buFont typeface="Wingdings" panose="05000000000000000000" pitchFamily="2" charset="2"/>
              <a:buChar char="Ø"/>
            </a:pPr>
            <a:r>
              <a:rPr lang="en-US" sz="2400" dirty="0"/>
              <a:t>MCQ</a:t>
            </a:r>
          </a:p>
          <a:p>
            <a:pPr>
              <a:buFont typeface="Wingdings" panose="05000000000000000000" pitchFamily="2" charset="2"/>
              <a:buChar char="Ø"/>
            </a:pPr>
            <a:r>
              <a:rPr lang="en-US" sz="2400" dirty="0"/>
              <a:t>Weekly Assignment</a:t>
            </a:r>
          </a:p>
          <a:p>
            <a:pPr>
              <a:buFont typeface="Wingdings" panose="05000000000000000000" pitchFamily="2" charset="2"/>
              <a:buChar char="Ø"/>
            </a:pPr>
            <a:r>
              <a:rPr lang="en-US" sz="2400" dirty="0">
                <a:latin typeface="+mj-lt"/>
                <a:cs typeface="Arial" pitchFamily="34" charset="0"/>
              </a:rPr>
              <a:t>Previous year Question papers</a:t>
            </a:r>
          </a:p>
          <a:p>
            <a:pPr>
              <a:buFont typeface="Wingdings" panose="05000000000000000000" pitchFamily="2" charset="2"/>
              <a:buChar char="Ø"/>
            </a:pPr>
            <a:r>
              <a:rPr lang="en-US" sz="2400" dirty="0">
                <a:latin typeface="+mj-lt"/>
                <a:cs typeface="Arial" pitchFamily="34" charset="0"/>
              </a:rPr>
              <a:t>Expected Questions for University exam</a:t>
            </a:r>
          </a:p>
          <a:p>
            <a:pPr>
              <a:buFont typeface="Wingdings" panose="05000000000000000000" pitchFamily="2" charset="2"/>
              <a:buChar char="Ø"/>
            </a:pPr>
            <a:r>
              <a:rPr lang="en-US" sz="2400" dirty="0"/>
              <a:t>Related Links for Unit -5</a:t>
            </a:r>
          </a:p>
        </p:txBody>
      </p:sp>
      <p:sp>
        <p:nvSpPr>
          <p:cNvPr id="6" name="Date Placeholder 5"/>
          <p:cNvSpPr>
            <a:spLocks noGrp="1"/>
          </p:cNvSpPr>
          <p:nvPr>
            <p:ph type="dt" sz="half" idx="10"/>
          </p:nvPr>
        </p:nvSpPr>
        <p:spPr/>
        <p:txBody>
          <a:bodyPr/>
          <a:lstStyle/>
          <a:p>
            <a:fld id="{E921BCD9-F8A2-4123-AE8E-18BB746D6A13}" type="datetime1">
              <a:rPr lang="en-US" smtClean="0"/>
              <a:t>06/22/21</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CONTENT</a:t>
            </a:r>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0" name="Footer Placeholder 12"/>
          <p:cNvSpPr>
            <a:spLocks noGrp="1"/>
          </p:cNvSpPr>
          <p:nvPr>
            <p:ph type="ftr" sz="quarter" idx="11"/>
          </p:nvPr>
        </p:nvSpPr>
        <p:spPr>
          <a:xfrm>
            <a:off x="2857488" y="6357958"/>
            <a:ext cx="5286412" cy="365125"/>
          </a:xfrm>
        </p:spPr>
        <p:txBody>
          <a:bodyPr/>
          <a:lstStyle/>
          <a:p>
            <a:r>
              <a:rPr lang="fi-FI" smtClean="0"/>
              <a:t>SHYAM LAL SHARMA           KOE069 UHV-2               Unit :V</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6ECE2C8-9BC0-4E4F-BCFC-1206DC8030E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COURSE OUTCOME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0" name="Table 9"/>
          <p:cNvGraphicFramePr>
            <a:graphicFrameLocks noGrp="1"/>
          </p:cNvGraphicFramePr>
          <p:nvPr>
            <p:extLst>
              <p:ext uri="{D42A27DB-BD31-4B8C-83A1-F6EECF244321}">
                <p14:modId xmlns="" xmlns:p14="http://schemas.microsoft.com/office/powerpoint/2010/main" val="3638096571"/>
              </p:ext>
            </p:extLst>
          </p:nvPr>
        </p:nvGraphicFramePr>
        <p:xfrm>
          <a:off x="228600" y="1322048"/>
          <a:ext cx="8763000" cy="4800600"/>
        </p:xfrm>
        <a:graphic>
          <a:graphicData uri="http://schemas.openxmlformats.org/drawingml/2006/table">
            <a:tbl>
              <a:tblPr/>
              <a:tblGrid>
                <a:gridCol w="1219200">
                  <a:extLst>
                    <a:ext uri="{9D8B030D-6E8A-4147-A177-3AD203B41FA5}">
                      <a16:colId xmlns="" xmlns:a16="http://schemas.microsoft.com/office/drawing/2014/main" val="20000"/>
                    </a:ext>
                  </a:extLst>
                </a:gridCol>
                <a:gridCol w="7543800">
                  <a:extLst>
                    <a:ext uri="{9D8B030D-6E8A-4147-A177-3AD203B41FA5}">
                      <a16:colId xmlns="" xmlns:a16="http://schemas.microsoft.com/office/drawing/2014/main" val="20001"/>
                    </a:ext>
                  </a:extLst>
                </a:gridCol>
              </a:tblGrid>
              <a:tr h="9281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1</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Student would be able to develop the clarity about human aspirations, goal, activities and purpose of life. </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0"/>
                  </a:ext>
                </a:extLst>
              </a:tr>
              <a:tr h="9281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2</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The clarity about Right Understanding could be possible for students.</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1"/>
                  </a:ext>
                </a:extLst>
              </a:tr>
              <a:tr h="9281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3</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Students would become competent to understand the harmony in nature/existence .</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2"/>
                  </a:ext>
                </a:extLst>
              </a:tr>
              <a:tr h="10080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4</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To help students in participating in the nature/existence.</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10080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5</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just">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To help the students to develop the understanding of human tradition and its various components.</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10004"/>
                  </a:ext>
                </a:extLst>
              </a:tr>
            </a:tbl>
          </a:graphicData>
        </a:graphic>
      </p:graphicFrame>
      <p:sp>
        <p:nvSpPr>
          <p:cNvPr id="9" name="Rectangle 8"/>
          <p:cNvSpPr/>
          <p:nvPr/>
        </p:nvSpPr>
        <p:spPr>
          <a:xfrm>
            <a:off x="1219200" y="838200"/>
            <a:ext cx="7848600"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At the end of the course, the student shall be able to</a:t>
            </a:r>
          </a:p>
        </p:txBody>
      </p:sp>
      <p:sp>
        <p:nvSpPr>
          <p:cNvPr id="12" name="Footer Placeholder 4">
            <a:extLst>
              <a:ext uri="{FF2B5EF4-FFF2-40B4-BE49-F238E27FC236}">
                <a16:creationId xmlns="" xmlns:a16="http://schemas.microsoft.com/office/drawing/2014/main" id="{42217E27-DBDA-41BB-926B-848E00194DEF}"/>
              </a:ext>
            </a:extLst>
          </p:cNvPr>
          <p:cNvSpPr>
            <a:spLocks noGrp="1"/>
          </p:cNvSpPr>
          <p:nvPr>
            <p:ph type="ftr" sz="quarter" idx="11"/>
          </p:nvPr>
        </p:nvSpPr>
        <p:spPr>
          <a:xfrm>
            <a:off x="2438401" y="6381328"/>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8486EFA-FE30-4C1C-8A38-656222ECF0E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p:cNvGraphicFramePr>
            <a:graphicFrameLocks noGrp="1"/>
          </p:cNvGraphicFramePr>
          <p:nvPr>
            <p:extLst>
              <p:ext uri="{D42A27DB-BD31-4B8C-83A1-F6EECF244321}">
                <p14:modId xmlns="" xmlns:p14="http://schemas.microsoft.com/office/powerpoint/2010/main" val="3579811496"/>
              </p:ext>
            </p:extLst>
          </p:nvPr>
        </p:nvGraphicFramePr>
        <p:xfrm>
          <a:off x="800100" y="1566446"/>
          <a:ext cx="7543800" cy="2208276"/>
        </p:xfrm>
        <a:graphic>
          <a:graphicData uri="http://schemas.openxmlformats.org/drawingml/2006/table">
            <a:tbl>
              <a:tblPr/>
              <a:tblGrid>
                <a:gridCol w="1066800">
                  <a:extLst>
                    <a:ext uri="{9D8B030D-6E8A-4147-A177-3AD203B41FA5}">
                      <a16:colId xmlns="" xmlns:a16="http://schemas.microsoft.com/office/drawing/2014/main" val="20000"/>
                    </a:ext>
                  </a:extLst>
                </a:gridCol>
                <a:gridCol w="533400">
                  <a:extLst>
                    <a:ext uri="{9D8B030D-6E8A-4147-A177-3AD203B41FA5}">
                      <a16:colId xmlns="" xmlns:a16="http://schemas.microsoft.com/office/drawing/2014/main" val="20001"/>
                    </a:ext>
                  </a:extLst>
                </a:gridCol>
                <a:gridCol w="504501">
                  <a:extLst>
                    <a:ext uri="{9D8B030D-6E8A-4147-A177-3AD203B41FA5}">
                      <a16:colId xmlns="" xmlns:a16="http://schemas.microsoft.com/office/drawing/2014/main" val="20002"/>
                    </a:ext>
                  </a:extLst>
                </a:gridCol>
                <a:gridCol w="580638">
                  <a:extLst>
                    <a:ext uri="{9D8B030D-6E8A-4147-A177-3AD203B41FA5}">
                      <a16:colId xmlns="" xmlns:a16="http://schemas.microsoft.com/office/drawing/2014/main" val="20003"/>
                    </a:ext>
                  </a:extLst>
                </a:gridCol>
                <a:gridCol w="580638">
                  <a:extLst>
                    <a:ext uri="{9D8B030D-6E8A-4147-A177-3AD203B41FA5}">
                      <a16:colId xmlns="" xmlns:a16="http://schemas.microsoft.com/office/drawing/2014/main" val="20004"/>
                    </a:ext>
                  </a:extLst>
                </a:gridCol>
                <a:gridCol w="561965">
                  <a:extLst>
                    <a:ext uri="{9D8B030D-6E8A-4147-A177-3AD203B41FA5}">
                      <a16:colId xmlns="" xmlns:a16="http://schemas.microsoft.com/office/drawing/2014/main" val="20005"/>
                    </a:ext>
                  </a:extLst>
                </a:gridCol>
                <a:gridCol w="561965">
                  <a:extLst>
                    <a:ext uri="{9D8B030D-6E8A-4147-A177-3AD203B41FA5}">
                      <a16:colId xmlns="" xmlns:a16="http://schemas.microsoft.com/office/drawing/2014/main" val="20006"/>
                    </a:ext>
                  </a:extLst>
                </a:gridCol>
                <a:gridCol w="486893">
                  <a:extLst>
                    <a:ext uri="{9D8B030D-6E8A-4147-A177-3AD203B41FA5}">
                      <a16:colId xmlns="" xmlns:a16="http://schemas.microsoft.com/office/drawing/2014/main" val="20007"/>
                    </a:ext>
                  </a:extLst>
                </a:gridCol>
                <a:gridCol w="533400">
                  <a:extLst>
                    <a:ext uri="{9D8B030D-6E8A-4147-A177-3AD203B41FA5}">
                      <a16:colId xmlns="" xmlns:a16="http://schemas.microsoft.com/office/drawing/2014/main" val="20008"/>
                    </a:ext>
                  </a:extLst>
                </a:gridCol>
                <a:gridCol w="533400">
                  <a:extLst>
                    <a:ext uri="{9D8B030D-6E8A-4147-A177-3AD203B41FA5}">
                      <a16:colId xmlns="" xmlns:a16="http://schemas.microsoft.com/office/drawing/2014/main" val="20009"/>
                    </a:ext>
                  </a:extLst>
                </a:gridCol>
                <a:gridCol w="533400">
                  <a:extLst>
                    <a:ext uri="{9D8B030D-6E8A-4147-A177-3AD203B41FA5}">
                      <a16:colId xmlns="" xmlns:a16="http://schemas.microsoft.com/office/drawing/2014/main" val="20010"/>
                    </a:ext>
                  </a:extLst>
                </a:gridCol>
                <a:gridCol w="533400">
                  <a:extLst>
                    <a:ext uri="{9D8B030D-6E8A-4147-A177-3AD203B41FA5}">
                      <a16:colId xmlns="" xmlns:a16="http://schemas.microsoft.com/office/drawing/2014/main" val="20011"/>
                    </a:ext>
                  </a:extLst>
                </a:gridCol>
                <a:gridCol w="533400">
                  <a:extLst>
                    <a:ext uri="{9D8B030D-6E8A-4147-A177-3AD203B41FA5}">
                      <a16:colId xmlns="" xmlns:a16="http://schemas.microsoft.com/office/drawing/2014/main" val="20012"/>
                    </a:ext>
                  </a:extLst>
                </a:gridCol>
              </a:tblGrid>
              <a:tr h="609600">
                <a:tc>
                  <a:txBody>
                    <a:bodyPr/>
                    <a:lstStyle/>
                    <a:p>
                      <a:pPr marL="0" marR="0">
                        <a:lnSpc>
                          <a:spcPct val="115000"/>
                        </a:lnSpc>
                        <a:spcBef>
                          <a:spcPts val="0"/>
                        </a:spcBef>
                        <a:spcAft>
                          <a:spcPts val="0"/>
                        </a:spcAft>
                      </a:pPr>
                      <a:r>
                        <a:rPr lang="en-US" sz="1800" b="1" dirty="0"/>
                        <a:t>Course  Outcome</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3</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5</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6</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7</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8</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9</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10</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11</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302006">
                <a:tc>
                  <a:txBody>
                    <a:bodyPr/>
                    <a:lstStyle/>
                    <a:p>
                      <a:pPr marL="0" marR="0">
                        <a:lnSpc>
                          <a:spcPct val="115000"/>
                        </a:lnSpc>
                        <a:spcBef>
                          <a:spcPts val="0"/>
                        </a:spcBef>
                        <a:spcAft>
                          <a:spcPts val="0"/>
                        </a:spcAft>
                      </a:pPr>
                      <a:r>
                        <a:rPr lang="en-US" b="1" dirty="0"/>
                        <a:t>CO 1</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1"/>
                  </a:ext>
                </a:extLst>
              </a:tr>
              <a:tr h="304800">
                <a:tc>
                  <a:txBody>
                    <a:bodyPr/>
                    <a:lstStyle/>
                    <a:p>
                      <a:pPr marL="0" marR="0">
                        <a:lnSpc>
                          <a:spcPct val="115000"/>
                        </a:lnSpc>
                        <a:spcBef>
                          <a:spcPts val="0"/>
                        </a:spcBef>
                        <a:spcAft>
                          <a:spcPts val="0"/>
                        </a:spcAft>
                      </a:pPr>
                      <a:r>
                        <a:rPr lang="en-US" b="1" dirty="0"/>
                        <a:t>CO 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2"/>
                  </a:ext>
                </a:extLst>
              </a:tr>
              <a:tr h="304800">
                <a:tc>
                  <a:txBody>
                    <a:bodyPr/>
                    <a:lstStyle/>
                    <a:p>
                      <a:pPr marL="0" marR="0">
                        <a:lnSpc>
                          <a:spcPct val="115000"/>
                        </a:lnSpc>
                        <a:spcBef>
                          <a:spcPts val="0"/>
                        </a:spcBef>
                        <a:spcAft>
                          <a:spcPts val="0"/>
                        </a:spcAft>
                      </a:pPr>
                      <a:r>
                        <a:rPr lang="en-US" b="1" dirty="0"/>
                        <a:t>CO 3</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3"/>
                  </a:ext>
                </a:extLst>
              </a:tr>
              <a:tr h="304800">
                <a:tc>
                  <a:txBody>
                    <a:bodyPr/>
                    <a:lstStyle/>
                    <a:p>
                      <a:pPr marL="0" marR="0">
                        <a:lnSpc>
                          <a:spcPct val="115000"/>
                        </a:lnSpc>
                        <a:spcBef>
                          <a:spcPts val="0"/>
                        </a:spcBef>
                        <a:spcAft>
                          <a:spcPts val="0"/>
                        </a:spcAft>
                      </a:pPr>
                      <a:r>
                        <a:rPr lang="en-US" b="1" dirty="0"/>
                        <a:t>CO 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304800">
                <a:tc>
                  <a:txBody>
                    <a:bodyPr/>
                    <a:lstStyle/>
                    <a:p>
                      <a:pPr marL="0" marR="0">
                        <a:lnSpc>
                          <a:spcPct val="115000"/>
                        </a:lnSpc>
                        <a:spcBef>
                          <a:spcPts val="0"/>
                        </a:spcBef>
                        <a:spcAft>
                          <a:spcPts val="0"/>
                        </a:spcAft>
                      </a:pPr>
                      <a:r>
                        <a:rPr lang="en-US" b="1" dirty="0"/>
                        <a:t>CO 5</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10005"/>
                  </a:ext>
                </a:extLst>
              </a:tr>
            </a:tbl>
          </a:graphicData>
        </a:graphic>
      </p:graphicFrame>
      <p:sp>
        <p:nvSpPr>
          <p:cNvPr id="17409" name="Rectangle 1"/>
          <p:cNvSpPr>
            <a:spLocks noChangeArrowheads="1"/>
          </p:cNvSpPr>
          <p:nvPr/>
        </p:nvSpPr>
        <p:spPr bwMode="auto">
          <a:xfrm>
            <a:off x="1905000" y="895290"/>
            <a:ext cx="5562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4F81BD"/>
                </a:solidFill>
                <a:effectLst/>
                <a:uLnTx/>
                <a:uFillTx/>
                <a:latin typeface="Times New Roman" pitchFamily="18" charset="0"/>
                <a:ea typeface="Times New Roman" pitchFamily="18" charset="0"/>
                <a:cs typeface="Times New Roman" pitchFamily="18" charset="0"/>
              </a:rPr>
              <a:t>CO – PO Mapping</a:t>
            </a:r>
            <a:endParaRPr kumimoji="0" lang="en-US" sz="3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aphicFrame>
        <p:nvGraphicFramePr>
          <p:cNvPr id="10" name="Table 9"/>
          <p:cNvGraphicFramePr>
            <a:graphicFrameLocks noGrp="1"/>
          </p:cNvGraphicFramePr>
          <p:nvPr>
            <p:extLst>
              <p:ext uri="{D42A27DB-BD31-4B8C-83A1-F6EECF244321}">
                <p14:modId xmlns="" xmlns:p14="http://schemas.microsoft.com/office/powerpoint/2010/main" val="3761677165"/>
              </p:ext>
            </p:extLst>
          </p:nvPr>
        </p:nvGraphicFramePr>
        <p:xfrm>
          <a:off x="2743200" y="4085234"/>
          <a:ext cx="3428999" cy="2208276"/>
        </p:xfrm>
        <a:graphic>
          <a:graphicData uri="http://schemas.openxmlformats.org/drawingml/2006/table">
            <a:tbl>
              <a:tblPr/>
              <a:tblGrid>
                <a:gridCol w="990600">
                  <a:extLst>
                    <a:ext uri="{9D8B030D-6E8A-4147-A177-3AD203B41FA5}">
                      <a16:colId xmlns="" xmlns:a16="http://schemas.microsoft.com/office/drawing/2014/main" val="20000"/>
                    </a:ext>
                  </a:extLst>
                </a:gridCol>
                <a:gridCol w="609600">
                  <a:extLst>
                    <a:ext uri="{9D8B030D-6E8A-4147-A177-3AD203B41FA5}">
                      <a16:colId xmlns="" xmlns:a16="http://schemas.microsoft.com/office/drawing/2014/main" val="20001"/>
                    </a:ext>
                  </a:extLst>
                </a:gridCol>
                <a:gridCol w="609600">
                  <a:extLst>
                    <a:ext uri="{9D8B030D-6E8A-4147-A177-3AD203B41FA5}">
                      <a16:colId xmlns="" xmlns:a16="http://schemas.microsoft.com/office/drawing/2014/main" val="20002"/>
                    </a:ext>
                  </a:extLst>
                </a:gridCol>
                <a:gridCol w="609600">
                  <a:extLst>
                    <a:ext uri="{9D8B030D-6E8A-4147-A177-3AD203B41FA5}">
                      <a16:colId xmlns="" xmlns:a16="http://schemas.microsoft.com/office/drawing/2014/main" val="20003"/>
                    </a:ext>
                  </a:extLst>
                </a:gridCol>
                <a:gridCol w="609599">
                  <a:extLst>
                    <a:ext uri="{9D8B030D-6E8A-4147-A177-3AD203B41FA5}">
                      <a16:colId xmlns="" xmlns:a16="http://schemas.microsoft.com/office/drawing/2014/main" val="598256815"/>
                    </a:ext>
                  </a:extLst>
                </a:gridCol>
              </a:tblGrid>
              <a:tr h="622216">
                <a:tc>
                  <a:txBody>
                    <a:bodyPr/>
                    <a:lstStyle/>
                    <a:p>
                      <a:pPr marL="0" marR="0" algn="ctr">
                        <a:lnSpc>
                          <a:spcPct val="115000"/>
                        </a:lnSpc>
                        <a:spcBef>
                          <a:spcPts val="0"/>
                        </a:spcBef>
                        <a:spcAft>
                          <a:spcPts val="0"/>
                        </a:spcAft>
                      </a:pPr>
                      <a:r>
                        <a:rPr lang="en-US" b="1" dirty="0"/>
                        <a:t>CO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307108">
                <a:tc>
                  <a:txBody>
                    <a:bodyPr/>
                    <a:lstStyle/>
                    <a:p>
                      <a:pPr marL="0" marR="0" algn="ctr">
                        <a:lnSpc>
                          <a:spcPct val="115000"/>
                        </a:lnSpc>
                        <a:spcBef>
                          <a:spcPts val="0"/>
                        </a:spcBef>
                        <a:spcAft>
                          <a:spcPts val="0"/>
                        </a:spcAft>
                      </a:pPr>
                      <a:r>
                        <a:rPr lang="en-US" b="1" dirty="0"/>
                        <a:t>CO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1"/>
                  </a:ext>
                </a:extLst>
              </a:tr>
              <a:tr h="301688">
                <a:tc>
                  <a:txBody>
                    <a:bodyPr/>
                    <a:lstStyle/>
                    <a:p>
                      <a:pPr marL="0" marR="0" algn="ctr">
                        <a:lnSpc>
                          <a:spcPct val="115000"/>
                        </a:lnSpc>
                        <a:spcBef>
                          <a:spcPts val="0"/>
                        </a:spcBef>
                        <a:spcAft>
                          <a:spcPts val="0"/>
                        </a:spcAft>
                      </a:pPr>
                      <a:r>
                        <a:rPr lang="en-US" b="1" dirty="0"/>
                        <a:t>CO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301688">
                <a:tc>
                  <a:txBody>
                    <a:bodyPr/>
                    <a:lstStyle/>
                    <a:p>
                      <a:pPr marL="0" marR="0" algn="ctr">
                        <a:lnSpc>
                          <a:spcPct val="115000"/>
                        </a:lnSpc>
                        <a:spcBef>
                          <a:spcPts val="0"/>
                        </a:spcBef>
                        <a:spcAft>
                          <a:spcPts val="0"/>
                        </a:spcAft>
                      </a:pPr>
                      <a:r>
                        <a:rPr lang="en-US" b="1" dirty="0"/>
                        <a:t>CO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0003"/>
                  </a:ext>
                </a:extLst>
              </a:tr>
              <a:tr h="301688">
                <a:tc>
                  <a:txBody>
                    <a:bodyPr/>
                    <a:lstStyle/>
                    <a:p>
                      <a:pPr marL="0" marR="0" algn="ctr">
                        <a:lnSpc>
                          <a:spcPct val="115000"/>
                        </a:lnSpc>
                        <a:spcBef>
                          <a:spcPts val="0"/>
                        </a:spcBef>
                        <a:spcAft>
                          <a:spcPts val="0"/>
                        </a:spcAft>
                      </a:pPr>
                      <a:r>
                        <a:rPr lang="en-US" b="1" dirty="0"/>
                        <a:t>CO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301688">
                <a:tc>
                  <a:txBody>
                    <a:bodyPr/>
                    <a:lstStyle/>
                    <a:p>
                      <a:pPr marL="0" marR="0" algn="ctr">
                        <a:lnSpc>
                          <a:spcPct val="115000"/>
                        </a:lnSpc>
                        <a:spcBef>
                          <a:spcPts val="0"/>
                        </a:spcBef>
                        <a:spcAft>
                          <a:spcPts val="0"/>
                        </a:spcAft>
                      </a:pPr>
                      <a:r>
                        <a:rPr lang="en-US" b="1" dirty="0"/>
                        <a:t>CO 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10005"/>
                  </a:ext>
                </a:extLst>
              </a:tr>
            </a:tbl>
          </a:graphicData>
        </a:graphic>
      </p:graphicFrame>
      <p:sp>
        <p:nvSpPr>
          <p:cNvPr id="11" name="Rectangle 1"/>
          <p:cNvSpPr>
            <a:spLocks noChangeArrowheads="1"/>
          </p:cNvSpPr>
          <p:nvPr/>
        </p:nvSpPr>
        <p:spPr bwMode="auto">
          <a:xfrm>
            <a:off x="1905000" y="3657600"/>
            <a:ext cx="5562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4F81BD"/>
                </a:solidFill>
                <a:effectLst/>
                <a:uLnTx/>
                <a:uFillTx/>
                <a:latin typeface="Times New Roman" pitchFamily="18" charset="0"/>
                <a:ea typeface="Times New Roman" pitchFamily="18" charset="0"/>
                <a:cs typeface="Times New Roman" pitchFamily="18" charset="0"/>
              </a:rPr>
              <a:t>CO – PSO Mapping</a:t>
            </a:r>
            <a:endParaRPr kumimoji="0" lang="en-US" sz="3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12" name="Footer Placeholder 4">
            <a:extLst>
              <a:ext uri="{FF2B5EF4-FFF2-40B4-BE49-F238E27FC236}">
                <a16:creationId xmlns="" xmlns:a16="http://schemas.microsoft.com/office/drawing/2014/main" id="{7F32D391-06CD-4D9A-B178-59AB87402636}"/>
              </a:ext>
            </a:extLst>
          </p:cNvPr>
          <p:cNvSpPr>
            <a:spLocks noGrp="1"/>
          </p:cNvSpPr>
          <p:nvPr>
            <p:ph type="ftr" sz="quarter" idx="11"/>
          </p:nvPr>
        </p:nvSpPr>
        <p:spPr>
          <a:xfrm>
            <a:off x="2438401" y="630932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4635621-F5B0-4CFA-9358-5CC090A9B45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solidFill>
                  <a:prstClr val="black"/>
                </a:solidFill>
                <a:effectLst/>
                <a:uLnTx/>
                <a:uFillTx/>
                <a:latin typeface="Calibri"/>
                <a:ea typeface="+mn-ea"/>
                <a:cs typeface="+mn-cs"/>
              </a:rPr>
              <a:t>UNIT-5    SYLLABUS</a:t>
            </a:r>
          </a:p>
        </p:txBody>
      </p:sp>
      <p:sp>
        <p:nvSpPr>
          <p:cNvPr id="13" name="Footer Placeholder 4">
            <a:extLst>
              <a:ext uri="{FF2B5EF4-FFF2-40B4-BE49-F238E27FC236}">
                <a16:creationId xmlns="" xmlns:a16="http://schemas.microsoft.com/office/drawing/2014/main" id="{DC93E38E-E4C0-443B-94ED-037F8D2F371D}"/>
              </a:ext>
            </a:extLst>
          </p:cNvPr>
          <p:cNvSpPr>
            <a:spLocks noGrp="1"/>
          </p:cNvSpPr>
          <p:nvPr>
            <p:ph type="ftr" sz="quarter" idx="11"/>
          </p:nvPr>
        </p:nvSpPr>
        <p:spPr>
          <a:xfrm>
            <a:off x="2438401" y="630932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TextBox 13">
            <a:extLst>
              <a:ext uri="{FF2B5EF4-FFF2-40B4-BE49-F238E27FC236}">
                <a16:creationId xmlns="" xmlns:a16="http://schemas.microsoft.com/office/drawing/2014/main" id="{61E8EC8D-4384-4913-B261-DD26F1990400}"/>
              </a:ext>
            </a:extLst>
          </p:cNvPr>
          <p:cNvSpPr txBox="1"/>
          <p:nvPr/>
        </p:nvSpPr>
        <p:spPr>
          <a:xfrm>
            <a:off x="711459" y="1066800"/>
            <a:ext cx="7518141" cy="5075236"/>
          </a:xfrm>
          <a:prstGeom prst="rect">
            <a:avLst/>
          </a:prstGeom>
          <a:noFill/>
        </p:spPr>
        <p:txBody>
          <a:bodyPr wrap="square">
            <a:spAutoFit/>
          </a:bodyPr>
          <a:lstStyle/>
          <a:p>
            <a:pPr marL="457200" lvl="2" algn="ctr">
              <a:lnSpc>
                <a:spcPct val="115000"/>
              </a:lnSpc>
              <a:spcBef>
                <a:spcPts val="0"/>
              </a:spcBef>
            </a:pPr>
            <a:r>
              <a:rPr lang="en-US" sz="2600" b="1" dirty="0">
                <a:latin typeface="Times New Roman" panose="02020603050405020304" pitchFamily="18" charset="0"/>
                <a:ea typeface="Calibri"/>
                <a:cs typeface="Times New Roman" panose="02020603050405020304" pitchFamily="18" charset="0"/>
              </a:rPr>
              <a:t>TOPICS</a:t>
            </a:r>
          </a:p>
          <a:p>
            <a:pPr marL="457200" lvl="2" algn="ctr">
              <a:lnSpc>
                <a:spcPct val="115000"/>
              </a:lnSpc>
              <a:spcBef>
                <a:spcPts val="0"/>
              </a:spcBef>
            </a:pPr>
            <a:endParaRPr lang="en-US" sz="2600" b="1" dirty="0">
              <a:latin typeface="Times New Roman" panose="02020603050405020304" pitchFamily="18" charset="0"/>
              <a:ea typeface="Calibri"/>
              <a:cs typeface="Times New Roman" panose="02020603050405020304" pitchFamily="18" charset="0"/>
            </a:endParaRPr>
          </a:p>
          <a:p>
            <a:pPr marL="514350" indent="-514350" algn="just">
              <a:buFont typeface="+mj-lt"/>
              <a:buAutoNum type="arabicPeriod"/>
            </a:pPr>
            <a:r>
              <a:rPr lang="en-US" altLang="en-US" sz="2600" b="0" dirty="0">
                <a:latin typeface="+mj-lt"/>
                <a:cs typeface="Arial" panose="020B0604020202020204" pitchFamily="34" charset="0"/>
              </a:rPr>
              <a:t>Human Conduct </a:t>
            </a:r>
          </a:p>
          <a:p>
            <a:pPr marL="514350" indent="-514350" algn="just">
              <a:buFont typeface="+mj-lt"/>
              <a:buAutoNum type="arabicPeriod"/>
            </a:pPr>
            <a:r>
              <a:rPr lang="en-US" altLang="en-US" sz="2600" b="0" dirty="0">
                <a:latin typeface="+mj-lt"/>
                <a:cs typeface="Arial" panose="020B0604020202020204" pitchFamily="34" charset="0"/>
              </a:rPr>
              <a:t>All Encompassing Resolution-Wisdom </a:t>
            </a:r>
          </a:p>
          <a:p>
            <a:pPr marL="514350" indent="-514350" algn="just">
              <a:buFont typeface="+mj-lt"/>
              <a:buAutoNum type="arabicPeriod"/>
            </a:pPr>
            <a:r>
              <a:rPr lang="en-US" altLang="en-US" sz="2600" b="0" dirty="0">
                <a:latin typeface="+mj-lt"/>
                <a:cs typeface="Arial" panose="020B0604020202020204" pitchFamily="34" charset="0"/>
              </a:rPr>
              <a:t>All Encompassing Resolution-Science, Science of </a:t>
            </a:r>
            <a:r>
              <a:rPr lang="en-US" altLang="en-US" sz="2600" b="0" dirty="0" err="1">
                <a:latin typeface="+mj-lt"/>
                <a:cs typeface="Arial" panose="020B0604020202020204" pitchFamily="34" charset="0"/>
              </a:rPr>
              <a:t>behaviour</a:t>
            </a:r>
            <a:r>
              <a:rPr lang="en-US" altLang="en-US" sz="2600" b="0" dirty="0">
                <a:latin typeface="+mj-lt"/>
                <a:cs typeface="Arial" panose="020B0604020202020204" pitchFamily="34" charset="0"/>
              </a:rPr>
              <a:t> </a:t>
            </a:r>
          </a:p>
          <a:p>
            <a:pPr marL="514350" indent="-514350" algn="just">
              <a:buFont typeface="+mj-lt"/>
              <a:buAutoNum type="arabicPeriod"/>
            </a:pPr>
            <a:r>
              <a:rPr lang="en-US" altLang="en-US" sz="2600" b="0" dirty="0">
                <a:latin typeface="+mj-lt"/>
                <a:cs typeface="Arial" panose="020B0604020202020204" pitchFamily="34" charset="0"/>
              </a:rPr>
              <a:t>All Encompassing Resolution-Science of Work &amp; Participation </a:t>
            </a:r>
          </a:p>
          <a:p>
            <a:pPr marL="514350" indent="-514350" algn="just">
              <a:buFont typeface="+mj-lt"/>
              <a:buAutoNum type="arabicPeriod"/>
            </a:pPr>
            <a:r>
              <a:rPr lang="en-IN" altLang="en-US" sz="2600" b="0" dirty="0">
                <a:latin typeface="+mj-lt"/>
                <a:cs typeface="Arial" panose="020B0604020202020204" pitchFamily="34" charset="0"/>
              </a:rPr>
              <a:t>Undivided Society, Universal Human Order, Human Tradition </a:t>
            </a:r>
          </a:p>
          <a:p>
            <a:pPr algn="just"/>
            <a:endParaRPr lang="en-IN" sz="2800" dirty="0">
              <a:latin typeface="Arial" pitchFamily="34" charset="0"/>
              <a:cs typeface="Arial" pitchFamily="34" charset="0"/>
            </a:endParaRPr>
          </a:p>
          <a:p>
            <a:pPr algn="just">
              <a:buFont typeface="Wingdings" panose="05000000000000000000" pitchFamily="2" charset="2"/>
              <a:buChar char="Ø"/>
            </a:pPr>
            <a:endParaRPr lang="en-IN" sz="28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EBC265D-5435-4FC4-82E9-376DAB51B2A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solidFill>
                  <a:prstClr val="black"/>
                </a:solidFill>
                <a:effectLst/>
                <a:uLnTx/>
                <a:uFillTx/>
                <a:latin typeface="Calibri"/>
                <a:ea typeface="+mn-ea"/>
                <a:cs typeface="+mn-cs"/>
              </a:rPr>
              <a:t>UNIT -3</a:t>
            </a:r>
          </a:p>
        </p:txBody>
      </p:sp>
      <p:graphicFrame>
        <p:nvGraphicFramePr>
          <p:cNvPr id="11" name="Table 10"/>
          <p:cNvGraphicFramePr>
            <a:graphicFrameLocks noGrp="1"/>
          </p:cNvGraphicFramePr>
          <p:nvPr>
            <p:extLst>
              <p:ext uri="{D42A27DB-BD31-4B8C-83A1-F6EECF244321}">
                <p14:modId xmlns="" xmlns:p14="http://schemas.microsoft.com/office/powerpoint/2010/main" val="3584891192"/>
              </p:ext>
            </p:extLst>
          </p:nvPr>
        </p:nvGraphicFramePr>
        <p:xfrm>
          <a:off x="685800" y="914400"/>
          <a:ext cx="8001000" cy="2651760"/>
        </p:xfrm>
        <a:graphic>
          <a:graphicData uri="http://schemas.openxmlformats.org/drawingml/2006/table">
            <a:tbl>
              <a:tblPr/>
              <a:tblGrid>
                <a:gridCol w="8001000">
                  <a:extLst>
                    <a:ext uri="{9D8B030D-6E8A-4147-A177-3AD203B41FA5}">
                      <a16:colId xmlns="" xmlns:a16="http://schemas.microsoft.com/office/drawing/2014/main" val="20000"/>
                    </a:ext>
                  </a:extLst>
                </a:gridCol>
              </a:tblGrid>
              <a:tr h="457200">
                <a:tc>
                  <a:txBody>
                    <a:bodyPr/>
                    <a:lstStyle/>
                    <a:p>
                      <a:pPr marL="0" marR="0" algn="just">
                        <a:lnSpc>
                          <a:spcPct val="115000"/>
                        </a:lnSpc>
                        <a:spcBef>
                          <a:spcPts val="0"/>
                        </a:spcBef>
                        <a:spcAft>
                          <a:spcPts val="0"/>
                        </a:spcAft>
                      </a:pPr>
                      <a:r>
                        <a:rPr lang="en-US" sz="2400" b="1" dirty="0">
                          <a:latin typeface="Calibri"/>
                          <a:ea typeface="Calibri"/>
                          <a:cs typeface="Times New Roman"/>
                        </a:rPr>
                        <a:t>Objective of the unit:</a:t>
                      </a:r>
                      <a:endParaRPr lang="en-US" sz="2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563859">
                <a:tc>
                  <a:txBody>
                    <a:bodyPr/>
                    <a:lstStyle/>
                    <a:p>
                      <a:pPr marL="0" indent="0" algn="just">
                        <a:buFont typeface="Symbol" pitchFamily="18" charset="2"/>
                        <a:buNone/>
                      </a:pPr>
                      <a:r>
                        <a:rPr lang="en-US" altLang="en-US" sz="2400" dirty="0"/>
                        <a:t>Understanding different aspects of All-encompassing Resolution, Holistic way of living for Human Being with All-encompassing Resolution covering all four dimensions of human </a:t>
                      </a:r>
                      <a:r>
                        <a:rPr lang="en-US" altLang="en-US" sz="2400" dirty="0" err="1"/>
                        <a:t>endeavour</a:t>
                      </a:r>
                      <a:r>
                        <a:rPr lang="en-US" altLang="en-US" sz="2400" dirty="0"/>
                        <a:t> viz., realization, thought, behavior and work (participation in the larger order) leading to harmony at all levels from self to Nature and entire Existence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graphicFrame>
        <p:nvGraphicFramePr>
          <p:cNvPr id="12" name="Table 11"/>
          <p:cNvGraphicFramePr>
            <a:graphicFrameLocks noGrp="1"/>
          </p:cNvGraphicFramePr>
          <p:nvPr>
            <p:extLst>
              <p:ext uri="{D42A27DB-BD31-4B8C-83A1-F6EECF244321}">
                <p14:modId xmlns="" xmlns:p14="http://schemas.microsoft.com/office/powerpoint/2010/main" val="942812148"/>
              </p:ext>
            </p:extLst>
          </p:nvPr>
        </p:nvGraphicFramePr>
        <p:xfrm>
          <a:off x="685800" y="3853618"/>
          <a:ext cx="8001000" cy="2139696"/>
        </p:xfrm>
        <a:graphic>
          <a:graphicData uri="http://schemas.openxmlformats.org/drawingml/2006/table">
            <a:tbl>
              <a:tblPr/>
              <a:tblGrid>
                <a:gridCol w="8001000">
                  <a:extLst>
                    <a:ext uri="{9D8B030D-6E8A-4147-A177-3AD203B41FA5}">
                      <a16:colId xmlns="" xmlns:a16="http://schemas.microsoft.com/office/drawing/2014/main" val="20000"/>
                    </a:ext>
                  </a:extLst>
                </a:gridCol>
              </a:tblGrid>
              <a:tr h="457200">
                <a:tc>
                  <a:txBody>
                    <a:bodyPr/>
                    <a:lstStyle/>
                    <a:p>
                      <a:pPr marL="0" marR="0" algn="just">
                        <a:lnSpc>
                          <a:spcPct val="115000"/>
                        </a:lnSpc>
                        <a:spcBef>
                          <a:spcPts val="0"/>
                        </a:spcBef>
                        <a:spcAft>
                          <a:spcPts val="0"/>
                        </a:spcAft>
                      </a:pPr>
                      <a:r>
                        <a:rPr lang="en-US" sz="2400" b="1" dirty="0">
                          <a:latin typeface="Calibri"/>
                          <a:ea typeface="Calibri"/>
                          <a:cs typeface="Times New Roman"/>
                        </a:rPr>
                        <a:t>Pre-requisite:</a:t>
                      </a:r>
                      <a:endParaRPr lang="en-US" sz="2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563859">
                <a:tc>
                  <a:txBody>
                    <a:bodyPr/>
                    <a:lstStyle/>
                    <a:p>
                      <a:pPr marL="0" marR="0" algn="just">
                        <a:lnSpc>
                          <a:spcPct val="115000"/>
                        </a:lnSpc>
                        <a:spcBef>
                          <a:spcPts val="0"/>
                        </a:spcBef>
                        <a:spcAft>
                          <a:spcPts val="0"/>
                        </a:spcAft>
                      </a:pPr>
                      <a:r>
                        <a:rPr lang="en-US" sz="2400" dirty="0">
                          <a:latin typeface="Calibri"/>
                          <a:ea typeface="Calibri"/>
                          <a:cs typeface="Times New Roman"/>
                        </a:rPr>
                        <a:t>Student should be familiar</a:t>
                      </a:r>
                      <a:r>
                        <a:rPr lang="en-US" sz="2400" baseline="0" dirty="0">
                          <a:latin typeface="Calibri"/>
                          <a:ea typeface="Calibri"/>
                          <a:cs typeface="Times New Roman"/>
                        </a:rPr>
                        <a:t> to concepts of right understanding, harmony, Awakening of higher activities of the self and higher activities then guiding the lower activities of the self. </a:t>
                      </a:r>
                      <a:r>
                        <a:rPr lang="en-US" sz="2400" baseline="0" dirty="0" err="1">
                          <a:latin typeface="Calibri"/>
                          <a:ea typeface="Calibri"/>
                          <a:cs typeface="Times New Roman"/>
                        </a:rPr>
                        <a:t>Realisation</a:t>
                      </a:r>
                      <a:r>
                        <a:rPr lang="en-US" sz="2400" baseline="0" dirty="0">
                          <a:latin typeface="Calibri"/>
                          <a:ea typeface="Calibri"/>
                          <a:cs typeface="Times New Roman"/>
                        </a:rPr>
                        <a:t> within and Expression outside.</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13" name="Footer Placeholder 4">
            <a:extLst>
              <a:ext uri="{FF2B5EF4-FFF2-40B4-BE49-F238E27FC236}">
                <a16:creationId xmlns="" xmlns:a16="http://schemas.microsoft.com/office/drawing/2014/main" id="{DC93E38E-E4C0-443B-94ED-037F8D2F371D}"/>
              </a:ext>
            </a:extLst>
          </p:cNvPr>
          <p:cNvSpPr>
            <a:spLocks noGrp="1"/>
          </p:cNvSpPr>
          <p:nvPr>
            <p:ph type="ftr" sz="quarter" idx="11"/>
          </p:nvPr>
        </p:nvSpPr>
        <p:spPr>
          <a:xfrm>
            <a:off x="2438401" y="630932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657D72-5471-4D84-90DA-8AFADC48A165}"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dirty="0">
                <a:latin typeface="+mn-lt"/>
              </a:rPr>
              <a:t>Prerequisite</a:t>
            </a:r>
            <a:r>
              <a:rPr lang="en-US" altLang="en-US" sz="3000" dirty="0"/>
              <a:t> to Topic 1</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03B5199E-0E9C-4222-9DEB-95A7A8D99B8E}"/>
              </a:ext>
            </a:extLst>
          </p:cNvPr>
          <p:cNvGraphicFramePr>
            <a:graphicFrameLocks noGrp="1"/>
          </p:cNvGraphicFramePr>
          <p:nvPr>
            <p:extLst>
              <p:ext uri="{D42A27DB-BD31-4B8C-83A1-F6EECF244321}">
                <p14:modId xmlns="" xmlns:p14="http://schemas.microsoft.com/office/powerpoint/2010/main" val="2914420689"/>
              </p:ext>
            </p:extLst>
          </p:nvPr>
        </p:nvGraphicFramePr>
        <p:xfrm>
          <a:off x="609600" y="1295400"/>
          <a:ext cx="8077200" cy="1805171"/>
        </p:xfrm>
        <a:graphic>
          <a:graphicData uri="http://schemas.openxmlformats.org/drawingml/2006/table">
            <a:tbl>
              <a:tblPr firstRow="1" bandRow="1">
                <a:tableStyleId>{5C22544A-7EE6-4342-B048-85BDC9FD1C3A}</a:tableStyleId>
              </a:tblPr>
              <a:tblGrid>
                <a:gridCol w="8077200">
                  <a:extLst>
                    <a:ext uri="{9D8B030D-6E8A-4147-A177-3AD203B41FA5}">
                      <a16:colId xmlns="" xmlns:a16="http://schemas.microsoft.com/office/drawing/2014/main" val="3762556906"/>
                    </a:ext>
                  </a:extLst>
                </a:gridCol>
              </a:tblGrid>
              <a:tr h="397563">
                <a:tc>
                  <a:txBody>
                    <a:bodyPr/>
                    <a:lstStyle/>
                    <a:p>
                      <a:pPr algn="ctr"/>
                      <a:r>
                        <a:rPr lang="en-IN" sz="2400" dirty="0">
                          <a:latin typeface="+mn-lt"/>
                        </a:rPr>
                        <a:t>Prerequisite</a:t>
                      </a:r>
                    </a:p>
                  </a:txBody>
                  <a:tcPr/>
                </a:tc>
                <a:extLst>
                  <a:ext uri="{0D108BD9-81ED-4DB2-BD59-A6C34878D82A}">
                    <a16:rowId xmlns="" xmlns:a16="http://schemas.microsoft.com/office/drawing/2014/main" val="3830064644"/>
                  </a:ext>
                </a:extLst>
              </a:tr>
              <a:tr h="1347971">
                <a:tc>
                  <a:txBody>
                    <a:bodyPr/>
                    <a:lstStyle/>
                    <a:p>
                      <a:pPr marL="0" indent="0" algn="just">
                        <a:buFont typeface="Arial" panose="020B0604020202020204" pitchFamily="34" charset="0"/>
                        <a:buNone/>
                      </a:pPr>
                      <a:r>
                        <a:rPr lang="en-US" sz="2200" dirty="0">
                          <a:latin typeface="+mn-lt"/>
                          <a:ea typeface="Calibri"/>
                          <a:cs typeface="Times New Roman"/>
                        </a:rPr>
                        <a:t>Student should be familiar</a:t>
                      </a:r>
                      <a:r>
                        <a:rPr lang="en-US" sz="2200" baseline="0" dirty="0">
                          <a:latin typeface="+mn-lt"/>
                          <a:ea typeface="Calibri"/>
                          <a:cs typeface="Times New Roman"/>
                        </a:rPr>
                        <a:t> to concepts of right understanding, harmony, justice in relationships, broadening of the 9 feelings and expressions.</a:t>
                      </a:r>
                      <a:endParaRPr lang="en-IN" sz="2200" dirty="0">
                        <a:latin typeface="+mn-lt"/>
                      </a:endParaRP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3803931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D4279AF-EA5F-422B-8421-9AC1C6CAC510}"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Introduction to Topic 1</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2" name="Table 8">
            <a:extLst>
              <a:ext uri="{FF2B5EF4-FFF2-40B4-BE49-F238E27FC236}">
                <a16:creationId xmlns="" xmlns:a16="http://schemas.microsoft.com/office/drawing/2014/main" id="{C00455C5-365A-49B7-9271-2B297026341D}"/>
              </a:ext>
            </a:extLst>
          </p:cNvPr>
          <p:cNvGraphicFramePr>
            <a:graphicFrameLocks noGrp="1"/>
          </p:cNvGraphicFramePr>
          <p:nvPr/>
        </p:nvGraphicFramePr>
        <p:xfrm>
          <a:off x="533400" y="962734"/>
          <a:ext cx="8077200" cy="3235332"/>
        </p:xfrm>
        <a:graphic>
          <a:graphicData uri="http://schemas.openxmlformats.org/drawingml/2006/table">
            <a:tbl>
              <a:tblPr firstRow="1" bandRow="1">
                <a:tableStyleId>{5C22544A-7EE6-4342-B048-85BDC9FD1C3A}</a:tableStyleId>
              </a:tblPr>
              <a:tblGrid>
                <a:gridCol w="1905000">
                  <a:extLst>
                    <a:ext uri="{9D8B030D-6E8A-4147-A177-3AD203B41FA5}">
                      <a16:colId xmlns="" xmlns:a16="http://schemas.microsoft.com/office/drawing/2014/main" val="3762556906"/>
                    </a:ext>
                  </a:extLst>
                </a:gridCol>
                <a:gridCol w="3886200">
                  <a:extLst>
                    <a:ext uri="{9D8B030D-6E8A-4147-A177-3AD203B41FA5}">
                      <a16:colId xmlns="" xmlns:a16="http://schemas.microsoft.com/office/drawing/2014/main" val="3051182208"/>
                    </a:ext>
                  </a:extLst>
                </a:gridCol>
                <a:gridCol w="2286000">
                  <a:extLst>
                    <a:ext uri="{9D8B030D-6E8A-4147-A177-3AD203B41FA5}">
                      <a16:colId xmlns="" xmlns:a16="http://schemas.microsoft.com/office/drawing/2014/main" val="458174207"/>
                    </a:ext>
                  </a:extLst>
                </a:gridCol>
              </a:tblGrid>
              <a:tr h="461652">
                <a:tc>
                  <a:txBody>
                    <a:bodyPr/>
                    <a:lstStyle/>
                    <a:p>
                      <a:r>
                        <a:rPr lang="en-IN" sz="2200" dirty="0">
                          <a:latin typeface="+mn-lt"/>
                        </a:rPr>
                        <a:t>Name of Topic</a:t>
                      </a:r>
                    </a:p>
                  </a:txBody>
                  <a:tcPr/>
                </a:tc>
                <a:tc>
                  <a:txBody>
                    <a:bodyPr/>
                    <a:lstStyle/>
                    <a:p>
                      <a:r>
                        <a:rPr lang="en-IN" sz="2200" dirty="0">
                          <a:latin typeface="+mn-lt"/>
                        </a:rPr>
                        <a:t>Objective of Topic</a:t>
                      </a:r>
                    </a:p>
                  </a:txBody>
                  <a:tcPr/>
                </a:tc>
                <a:tc>
                  <a:txBody>
                    <a:bodyPr/>
                    <a:lstStyle/>
                    <a:p>
                      <a:r>
                        <a:rPr lang="en-IN" sz="2200" dirty="0">
                          <a:latin typeface="+mn-lt"/>
                        </a:rPr>
                        <a:t>Mapping with CO</a:t>
                      </a:r>
                    </a:p>
                  </a:txBody>
                  <a:tcPr/>
                </a:tc>
                <a:extLst>
                  <a:ext uri="{0D108BD9-81ED-4DB2-BD59-A6C34878D82A}">
                    <a16:rowId xmlns="" xmlns:a16="http://schemas.microsoft.com/office/drawing/2014/main" val="3830064644"/>
                  </a:ext>
                </a:extLst>
              </a:tr>
              <a:tr h="1565268">
                <a:tc>
                  <a:txBody>
                    <a:bodyPr/>
                    <a:lstStyle/>
                    <a:p>
                      <a:pPr algn="just"/>
                      <a:endParaRPr lang="en-US" altLang="en-US" sz="2200" b="0" dirty="0">
                        <a:latin typeface="+mn-lt"/>
                        <a:cs typeface="Arial" panose="020B0604020202020204" pitchFamily="34" charset="0"/>
                      </a:endParaRPr>
                    </a:p>
                    <a:p>
                      <a:pPr algn="just"/>
                      <a:r>
                        <a:rPr lang="en-US" altLang="en-US" sz="2200" b="0" kern="1200" dirty="0">
                          <a:solidFill>
                            <a:schemeClr val="dk1"/>
                          </a:solidFill>
                          <a:latin typeface="+mn-lt"/>
                          <a:ea typeface="+mn-ea"/>
                          <a:cs typeface="Arial" panose="020B0604020202020204" pitchFamily="34" charset="0"/>
                        </a:rPr>
                        <a:t>Human Conduct </a:t>
                      </a:r>
                    </a:p>
                  </a:txBody>
                  <a:tcPr/>
                </a:tc>
                <a:tc>
                  <a:txBody>
                    <a:bodyPr/>
                    <a:lstStyle/>
                    <a:p>
                      <a:pPr marL="0" indent="0" algn="just">
                        <a:buFont typeface="Symbol" pitchFamily="18" charset="2"/>
                        <a:buNone/>
                        <a:defRPr/>
                      </a:pPr>
                      <a:r>
                        <a:rPr lang="en-IN" sz="2200" dirty="0">
                          <a:latin typeface="+mn-lt"/>
                        </a:rPr>
                        <a:t>Students will be able to </a:t>
                      </a:r>
                      <a:r>
                        <a:rPr lang="en-US" altLang="en-US" sz="2200" dirty="0"/>
                        <a:t>distinguish four states in their self  – Happiness, Peace, Satisfaction, Bliss</a:t>
                      </a:r>
                    </a:p>
                    <a:p>
                      <a:pPr algn="just">
                        <a:spcBef>
                          <a:spcPts val="24"/>
                        </a:spcBef>
                        <a:buFont typeface="Symbol" pitchFamily="18" charset="2"/>
                        <a:buNone/>
                        <a:defRPr/>
                      </a:pPr>
                      <a:r>
                        <a:rPr lang="en-US" altLang="en-US" sz="2200" dirty="0"/>
                        <a:t>Also, they can observe and identify the places to have more          </a:t>
                      </a:r>
                      <a:r>
                        <a:rPr lang="en-US" sz="2200" dirty="0" err="1"/>
                        <a:t>Perseverence</a:t>
                      </a:r>
                      <a:r>
                        <a:rPr lang="en-US" sz="2200" dirty="0"/>
                        <a:t>, </a:t>
                      </a:r>
                      <a:r>
                        <a:rPr lang="en-US" sz="2200" dirty="0" err="1"/>
                        <a:t>Bravity</a:t>
                      </a:r>
                      <a:r>
                        <a:rPr lang="en-US" sz="2200" dirty="0"/>
                        <a:t> and Generosity for others. </a:t>
                      </a:r>
                      <a:endParaRPr lang="en-IN" sz="2200" dirty="0">
                        <a:latin typeface="+mn-lt"/>
                      </a:endParaRPr>
                    </a:p>
                  </a:txBody>
                  <a:tcPr/>
                </a:tc>
                <a:tc>
                  <a:txBody>
                    <a:bodyPr/>
                    <a:lstStyle/>
                    <a:p>
                      <a:pPr algn="ctr"/>
                      <a:endParaRPr lang="en-IN" sz="2200" dirty="0">
                        <a:latin typeface="+mn-lt"/>
                      </a:endParaRPr>
                    </a:p>
                    <a:p>
                      <a:pPr algn="ctr"/>
                      <a:endParaRPr lang="en-IN" sz="2200" dirty="0">
                        <a:latin typeface="+mn-lt"/>
                      </a:endParaRPr>
                    </a:p>
                    <a:p>
                      <a:pPr algn="ctr"/>
                      <a:r>
                        <a:rPr lang="en-IN" sz="2200" dirty="0">
                          <a:latin typeface="+mn-lt"/>
                        </a:rPr>
                        <a:t>CO 5</a:t>
                      </a: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898331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35986C-A7D3-4895-9754-8C4D9CD9490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2800" dirty="0"/>
              <a:t>Knowledge of Human Conduct- Model 2</a:t>
            </a:r>
            <a:r>
              <a:rPr kumimoji="0" lang="en-US" altLang="en-US" sz="2800" i="0" u="none" strike="noStrike" kern="1200" cap="none" spc="0" normalizeH="0" baseline="0" noProof="0" dirty="0">
                <a:ln>
                  <a:noFill/>
                </a:ln>
                <a:solidFill>
                  <a:prstClr val="black"/>
                </a:solidFill>
                <a:effectLst/>
                <a:uLnTx/>
                <a:uFillTx/>
                <a:latin typeface="Calibri"/>
                <a:ea typeface="+mn-ea"/>
                <a:cs typeface="+mn-cs"/>
              </a:rPr>
              <a:t>[CO5]</a:t>
            </a:r>
            <a:endParaRPr kumimoji="0" lang="en-US" sz="280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6" name="Text Placeholder 2">
            <a:extLst>
              <a:ext uri="{FF2B5EF4-FFF2-40B4-BE49-F238E27FC236}">
                <a16:creationId xmlns="" xmlns:a16="http://schemas.microsoft.com/office/drawing/2014/main" id="{96E24EF8-DF7E-42A4-A18A-90035BA1E958}"/>
              </a:ext>
            </a:extLst>
          </p:cNvPr>
          <p:cNvSpPr txBox="1">
            <a:spLocks/>
          </p:cNvSpPr>
          <p:nvPr/>
        </p:nvSpPr>
        <p:spPr bwMode="auto">
          <a:xfrm>
            <a:off x="152400" y="914400"/>
            <a:ext cx="9144000" cy="5392074"/>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Arial" pitchFamily="34" charset="0"/>
              <a:buNone/>
            </a:pPr>
            <a:r>
              <a:rPr lang="en-US" altLang="en-US" sz="2400" dirty="0" smtClean="0"/>
              <a:t>Mentioned </a:t>
            </a:r>
            <a:r>
              <a:rPr lang="en-US" altLang="en-US" sz="2400" dirty="0"/>
              <a:t>in the last session,</a:t>
            </a:r>
          </a:p>
          <a:p>
            <a:pPr marL="457200" indent="-457200" fontAlgn="auto">
              <a:spcAft>
                <a:spcPts val="0"/>
              </a:spcAft>
              <a:buFont typeface="Symbol" pitchFamily="18" charset="2"/>
              <a:buNone/>
            </a:pPr>
            <a:r>
              <a:rPr lang="en-US" altLang="en-US" sz="2400" dirty="0">
                <a:solidFill>
                  <a:srgbClr val="000000"/>
                </a:solidFill>
              </a:rPr>
              <a:t>We can look at Human Conduct from different angles giving rise to different formulations.</a:t>
            </a:r>
          </a:p>
          <a:p>
            <a:pPr marL="457200" indent="-457200" fontAlgn="auto">
              <a:spcAft>
                <a:spcPts val="0"/>
              </a:spcAft>
              <a:buFont typeface="Symbol" pitchFamily="18" charset="2"/>
              <a:buNone/>
            </a:pPr>
            <a:r>
              <a:rPr lang="en-US" altLang="en-US" sz="2400" dirty="0">
                <a:solidFill>
                  <a:srgbClr val="000000"/>
                </a:solidFill>
              </a:rPr>
              <a:t>We are looking into 2 formulations of Human Conduct – Model 1 and 2</a:t>
            </a:r>
          </a:p>
          <a:p>
            <a:pPr marL="457200" indent="-457200" fontAlgn="auto">
              <a:spcAft>
                <a:spcPts val="0"/>
              </a:spcAft>
              <a:buFont typeface="Symbol" pitchFamily="18" charset="2"/>
              <a:buNone/>
            </a:pPr>
            <a:r>
              <a:rPr lang="en-US" altLang="en-US" sz="2400" dirty="0">
                <a:solidFill>
                  <a:srgbClr val="000000"/>
                </a:solidFill>
              </a:rPr>
              <a:t>In Model 1, we have been seen one description of complete human conduct</a:t>
            </a:r>
          </a:p>
          <a:p>
            <a:pPr marL="457200" indent="-457200" fontAlgn="auto">
              <a:spcAft>
                <a:spcPts val="0"/>
              </a:spcAft>
              <a:buFont typeface="Symbol" pitchFamily="18" charset="2"/>
              <a:buNone/>
            </a:pPr>
            <a:r>
              <a:rPr lang="en-US" altLang="en-US" sz="2400" dirty="0">
                <a:solidFill>
                  <a:srgbClr val="000000"/>
                </a:solidFill>
              </a:rPr>
              <a:t>Now, in Model 2, we will try to investigate into another description of human conduct</a:t>
            </a:r>
          </a:p>
          <a:p>
            <a:pPr marL="457200" indent="-457200" fontAlgn="auto">
              <a:spcAft>
                <a:spcPts val="0"/>
              </a:spcAft>
              <a:buFont typeface="Symbol" pitchFamily="18" charset="2"/>
              <a:buNone/>
            </a:pPr>
            <a:endParaRPr lang="en-US" altLang="en-US" sz="2400" dirty="0">
              <a:solidFill>
                <a:srgbClr val="000000"/>
              </a:solidFill>
            </a:endParaRPr>
          </a:p>
          <a:p>
            <a:pPr marL="457200" indent="-457200" fontAlgn="auto">
              <a:spcAft>
                <a:spcPts val="0"/>
              </a:spcAft>
              <a:buFont typeface="Symbol" pitchFamily="18" charset="2"/>
              <a:buNone/>
            </a:pPr>
            <a:r>
              <a:rPr lang="en-US" altLang="en-US" sz="2400" dirty="0">
                <a:solidFill>
                  <a:srgbClr val="000000"/>
                </a:solidFill>
              </a:rPr>
              <a:t>In model 2, human conduct is articulated in terms of </a:t>
            </a:r>
            <a:endParaRPr lang="en-US" altLang="en-US" sz="2400" dirty="0"/>
          </a:p>
          <a:p>
            <a:pPr marL="685800" lvl="1" indent="-457200" fontAlgn="auto">
              <a:spcAft>
                <a:spcPts val="0"/>
              </a:spcAft>
              <a:buFont typeface="Symbol" panose="05050102010706020507" pitchFamily="18" charset="2"/>
              <a:buNone/>
            </a:pPr>
            <a:r>
              <a:rPr lang="en-US" altLang="en-US" sz="2400" dirty="0"/>
              <a:t>3.1.3.1.</a:t>
            </a:r>
            <a:r>
              <a:rPr lang="en-US" altLang="en-US" sz="2400" b="1" dirty="0"/>
              <a:t> Human Values</a:t>
            </a:r>
            <a:endParaRPr lang="en-US" altLang="en-US" sz="2400" dirty="0"/>
          </a:p>
          <a:p>
            <a:pPr marL="685800" lvl="1" indent="-457200" fontAlgn="auto">
              <a:spcAft>
                <a:spcPts val="0"/>
              </a:spcAft>
              <a:buFont typeface="Symbol" panose="05050102010706020507" pitchFamily="18" charset="2"/>
              <a:buNone/>
            </a:pPr>
            <a:r>
              <a:rPr lang="en-US" altLang="en-US" sz="2400" dirty="0"/>
              <a:t>3.1.3.2.</a:t>
            </a:r>
            <a:r>
              <a:rPr lang="en-US" altLang="en-US" sz="2400" b="1" dirty="0"/>
              <a:t> Policy</a:t>
            </a:r>
            <a:r>
              <a:rPr lang="en-US" altLang="en-US" sz="2400" dirty="0"/>
              <a:t> </a:t>
            </a:r>
            <a:endParaRPr lang="en-US" altLang="en-US" sz="2400" b="1" dirty="0"/>
          </a:p>
          <a:p>
            <a:pPr marL="685800" lvl="1" indent="-457200" fontAlgn="auto">
              <a:spcAft>
                <a:spcPts val="0"/>
              </a:spcAft>
              <a:buFont typeface="Symbol" panose="05050102010706020507" pitchFamily="18" charset="2"/>
              <a:buNone/>
            </a:pPr>
            <a:r>
              <a:rPr lang="en-US" altLang="en-US" sz="2400" dirty="0"/>
              <a:t>3.1.3.3. </a:t>
            </a:r>
            <a:r>
              <a:rPr lang="en-US" altLang="en-US" sz="2400" b="1" dirty="0"/>
              <a:t>Character</a:t>
            </a:r>
            <a:endParaRPr lang="en-US" altLang="en-US" sz="2400" dirty="0"/>
          </a:p>
        </p:txBody>
      </p:sp>
    </p:spTree>
    <p:extLst>
      <p:ext uri="{BB962C8B-B14F-4D97-AF65-F5344CB8AC3E}">
        <p14:creationId xmlns="" xmlns:p14="http://schemas.microsoft.com/office/powerpoint/2010/main" val="254294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494ADF-D732-4FED-B91B-7F3E4366DC4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altLang="en-US" sz="3200" dirty="0"/>
              <a:t>Knowledge of Human Conduct- Model 2</a:t>
            </a:r>
            <a:r>
              <a:rPr kumimoji="0" lang="en-US" altLang="en-US" sz="3200" i="0" u="none" strike="noStrike" kern="1200" cap="none" spc="0" normalizeH="0" baseline="0" noProof="0" dirty="0">
                <a:ln>
                  <a:noFill/>
                </a:ln>
                <a:solidFill>
                  <a:prstClr val="black"/>
                </a:solidFill>
                <a:effectLst/>
                <a:uLnTx/>
                <a:uFillTx/>
                <a:latin typeface="Calibri"/>
                <a:ea typeface="+mn-ea"/>
                <a:cs typeface="+mn-cs"/>
              </a:rPr>
              <a:t>[CO5]</a:t>
            </a:r>
            <a:endParaRPr kumimoji="0" lang="en-US" sz="320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ext Placeholder 2">
            <a:extLst>
              <a:ext uri="{FF2B5EF4-FFF2-40B4-BE49-F238E27FC236}">
                <a16:creationId xmlns="" xmlns:a16="http://schemas.microsoft.com/office/drawing/2014/main" id="{13F2A8AF-BBEE-4182-ACD9-98DAE2480550}"/>
              </a:ext>
            </a:extLst>
          </p:cNvPr>
          <p:cNvSpPr txBox="1">
            <a:spLocks/>
          </p:cNvSpPr>
          <p:nvPr/>
        </p:nvSpPr>
        <p:spPr bwMode="auto">
          <a:xfrm>
            <a:off x="304800" y="638260"/>
            <a:ext cx="9144000" cy="5943600"/>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Symbol" pitchFamily="18" charset="2"/>
              <a:buNone/>
            </a:pPr>
            <a:endParaRPr lang="en-US" altLang="en-US" sz="2200" dirty="0"/>
          </a:p>
          <a:p>
            <a:pPr marL="457200" indent="-457200" fontAlgn="auto">
              <a:spcAft>
                <a:spcPts val="0"/>
              </a:spcAft>
              <a:buFont typeface="Arial" pitchFamily="34" charset="0"/>
              <a:buNone/>
            </a:pPr>
            <a:r>
              <a:rPr lang="en-US" altLang="en-US" sz="2200" dirty="0"/>
              <a:t>Mentioned in the last session,</a:t>
            </a:r>
          </a:p>
          <a:p>
            <a:pPr marL="457200" indent="-457200" fontAlgn="auto">
              <a:spcAft>
                <a:spcPts val="0"/>
              </a:spcAft>
              <a:buFont typeface="Symbol" pitchFamily="18" charset="2"/>
              <a:buNone/>
            </a:pPr>
            <a:r>
              <a:rPr lang="en-US" altLang="en-US" sz="2200" dirty="0">
                <a:solidFill>
                  <a:srgbClr val="000000"/>
                </a:solidFill>
              </a:rPr>
              <a:t>We can look at Human Conduct from different angles giving rise to different formulations.</a:t>
            </a:r>
          </a:p>
          <a:p>
            <a:pPr marL="457200" indent="-457200" fontAlgn="auto">
              <a:spcAft>
                <a:spcPts val="0"/>
              </a:spcAft>
              <a:buFont typeface="Symbol" pitchFamily="18" charset="2"/>
              <a:buNone/>
            </a:pPr>
            <a:r>
              <a:rPr lang="en-US" altLang="en-US" sz="2200" dirty="0">
                <a:solidFill>
                  <a:srgbClr val="000000"/>
                </a:solidFill>
              </a:rPr>
              <a:t>We are looking into 2 formulations of Human Conduct – Model 1 and 2</a:t>
            </a:r>
          </a:p>
          <a:p>
            <a:pPr marL="457200" indent="-457200" fontAlgn="auto">
              <a:spcAft>
                <a:spcPts val="0"/>
              </a:spcAft>
              <a:buFont typeface="Symbol" pitchFamily="18" charset="2"/>
              <a:buNone/>
            </a:pPr>
            <a:r>
              <a:rPr lang="en-US" altLang="en-US" sz="2200" dirty="0">
                <a:solidFill>
                  <a:srgbClr val="000000"/>
                </a:solidFill>
              </a:rPr>
              <a:t>In Model 1, we have been seen one description of complete human conduct</a:t>
            </a:r>
          </a:p>
          <a:p>
            <a:pPr marL="457200" indent="-457200" fontAlgn="auto">
              <a:spcAft>
                <a:spcPts val="0"/>
              </a:spcAft>
              <a:buFont typeface="Symbol" pitchFamily="18" charset="2"/>
              <a:buNone/>
            </a:pPr>
            <a:r>
              <a:rPr lang="en-US" altLang="en-US" sz="2200" dirty="0">
                <a:solidFill>
                  <a:srgbClr val="000000"/>
                </a:solidFill>
              </a:rPr>
              <a:t>Now, in Model 2, we will try to investigate into another description of human conduct</a:t>
            </a:r>
          </a:p>
          <a:p>
            <a:pPr marL="457200" indent="-457200" fontAlgn="auto">
              <a:spcAft>
                <a:spcPts val="0"/>
              </a:spcAft>
              <a:buFont typeface="Symbol" pitchFamily="18" charset="2"/>
              <a:buNone/>
            </a:pPr>
            <a:endParaRPr lang="en-US" altLang="en-US" sz="2200" dirty="0">
              <a:solidFill>
                <a:srgbClr val="000000"/>
              </a:solidFill>
            </a:endParaRPr>
          </a:p>
          <a:p>
            <a:pPr marL="457200" indent="-457200" fontAlgn="auto">
              <a:spcAft>
                <a:spcPts val="0"/>
              </a:spcAft>
              <a:buFont typeface="Symbol" pitchFamily="18" charset="2"/>
              <a:buNone/>
            </a:pPr>
            <a:r>
              <a:rPr lang="en-US" altLang="en-US" sz="2200" dirty="0">
                <a:solidFill>
                  <a:srgbClr val="000000"/>
                </a:solidFill>
              </a:rPr>
              <a:t>In model 2, human conduct is articulated in terms of </a:t>
            </a:r>
            <a:endParaRPr lang="en-US" altLang="en-US" sz="2200" dirty="0"/>
          </a:p>
          <a:p>
            <a:pPr marL="685800" lvl="1" indent="-457200" fontAlgn="auto">
              <a:spcAft>
                <a:spcPts val="0"/>
              </a:spcAft>
              <a:buFont typeface="Symbol" panose="05050102010706020507" pitchFamily="18" charset="2"/>
              <a:buNone/>
            </a:pPr>
            <a:r>
              <a:rPr lang="en-US" altLang="en-US" sz="2200" dirty="0"/>
              <a:t>3.1.3.1.</a:t>
            </a:r>
            <a:r>
              <a:rPr lang="en-US" altLang="en-US" sz="2200" b="1" dirty="0"/>
              <a:t> Human Values</a:t>
            </a:r>
            <a:endParaRPr lang="en-US" altLang="en-US" sz="2200" dirty="0"/>
          </a:p>
          <a:p>
            <a:pPr marL="685800" lvl="1" indent="-457200" fontAlgn="auto">
              <a:spcAft>
                <a:spcPts val="0"/>
              </a:spcAft>
              <a:buFont typeface="Symbol" panose="05050102010706020507" pitchFamily="18" charset="2"/>
              <a:buNone/>
            </a:pPr>
            <a:r>
              <a:rPr lang="en-US" altLang="en-US" sz="2200" dirty="0"/>
              <a:t>3.1.3.2.</a:t>
            </a:r>
            <a:r>
              <a:rPr lang="en-US" altLang="en-US" sz="2200" b="1" dirty="0"/>
              <a:t> Policy</a:t>
            </a:r>
            <a:r>
              <a:rPr lang="en-US" altLang="en-US" sz="2200" dirty="0"/>
              <a:t> </a:t>
            </a:r>
            <a:endParaRPr lang="en-US" altLang="en-US" sz="2200" b="1" dirty="0"/>
          </a:p>
          <a:p>
            <a:pPr marL="685800" lvl="1" indent="-457200" fontAlgn="auto">
              <a:spcAft>
                <a:spcPts val="0"/>
              </a:spcAft>
              <a:buFont typeface="Symbol" panose="05050102010706020507" pitchFamily="18" charset="2"/>
              <a:buNone/>
            </a:pPr>
            <a:r>
              <a:rPr lang="en-US" altLang="en-US" sz="2200" dirty="0"/>
              <a:t>3.1.3.3. </a:t>
            </a:r>
            <a:r>
              <a:rPr lang="en-US" altLang="en-US" sz="2200" b="1" dirty="0"/>
              <a:t>Character</a:t>
            </a:r>
            <a:endParaRPr lang="en-US" altLang="en-US" sz="2200" dirty="0"/>
          </a:p>
        </p:txBody>
      </p:sp>
    </p:spTree>
    <p:extLst>
      <p:ext uri="{BB962C8B-B14F-4D97-AF65-F5344CB8AC3E}">
        <p14:creationId xmlns="" xmlns:p14="http://schemas.microsoft.com/office/powerpoint/2010/main" val="381330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7DC5DDF-27F0-46D5-A84C-C12B1633D3C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t>Knowledge of Human Conduct</a:t>
            </a:r>
            <a:endParaRPr lang="en-US" sz="3200" dirty="0">
              <a:latin typeface="Arial" charset="0"/>
              <a:cs typeface="Arial"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ext Placeholder 2">
            <a:extLst>
              <a:ext uri="{FF2B5EF4-FFF2-40B4-BE49-F238E27FC236}">
                <a16:creationId xmlns="" xmlns:a16="http://schemas.microsoft.com/office/drawing/2014/main" id="{251F4CFB-6D69-4B05-8928-90457FF08E0C}"/>
              </a:ext>
            </a:extLst>
          </p:cNvPr>
          <p:cNvSpPr txBox="1">
            <a:spLocks/>
          </p:cNvSpPr>
          <p:nvPr/>
        </p:nvSpPr>
        <p:spPr bwMode="auto">
          <a:xfrm>
            <a:off x="12577" y="412750"/>
            <a:ext cx="9144000" cy="5943600"/>
          </a:xfrm>
          <a:prstGeom prst="rect">
            <a:avLst/>
          </a:prstGeom>
          <a:ln>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Symbol" pitchFamily="18" charset="2"/>
              <a:buNone/>
              <a:defRPr/>
            </a:pPr>
            <a:endParaRPr lang="en-US" sz="2000" dirty="0">
              <a:latin typeface="+mj-lt"/>
              <a:cs typeface="Arial" charset="0"/>
            </a:endParaRPr>
          </a:p>
          <a:p>
            <a:pPr marL="457200" indent="-457200" fontAlgn="auto">
              <a:spcAft>
                <a:spcPts val="0"/>
              </a:spcAft>
              <a:buFont typeface="Symbol" pitchFamily="18" charset="2"/>
              <a:buNone/>
              <a:defRPr/>
            </a:pPr>
            <a:r>
              <a:rPr lang="en-US" sz="2000" dirty="0">
                <a:latin typeface="+mj-lt"/>
                <a:cs typeface="Arial" charset="0"/>
              </a:rPr>
              <a:t>3.1.3.1.</a:t>
            </a:r>
            <a:r>
              <a:rPr lang="en-US" sz="2000" b="1" dirty="0">
                <a:latin typeface="+mj-lt"/>
                <a:cs typeface="Arial" charset="0"/>
              </a:rPr>
              <a:t> Human Values – </a:t>
            </a:r>
            <a:r>
              <a:rPr lang="en-US" sz="2000" dirty="0">
                <a:latin typeface="+mj-lt"/>
                <a:cs typeface="Arial" charset="0"/>
              </a:rPr>
              <a:t>Understanding "What to do as a human 		  being" and "What not to do as a human being"</a:t>
            </a:r>
            <a:endParaRPr lang="en-US" sz="2000" b="1" dirty="0">
              <a:latin typeface="+mj-lt"/>
              <a:cs typeface="Arial" charset="0"/>
            </a:endParaRPr>
          </a:p>
          <a:p>
            <a:pPr marL="457200" indent="-457200" fontAlgn="auto">
              <a:spcAft>
                <a:spcPts val="0"/>
              </a:spcAft>
              <a:buFont typeface="Symbol" pitchFamily="18" charset="2"/>
              <a:buNone/>
              <a:defRPr/>
            </a:pPr>
            <a:r>
              <a:rPr lang="en-US" sz="2000" dirty="0">
                <a:latin typeface="+mj-lt"/>
                <a:cs typeface="Arial" charset="0"/>
              </a:rPr>
              <a:t>3.1.3.2.</a:t>
            </a:r>
            <a:r>
              <a:rPr lang="en-US" sz="2000" b="1" dirty="0">
                <a:latin typeface="+mj-lt"/>
                <a:cs typeface="Arial" charset="0"/>
              </a:rPr>
              <a:t> Policy</a:t>
            </a:r>
            <a:r>
              <a:rPr lang="en-US" sz="2000" dirty="0">
                <a:latin typeface="+mj-lt"/>
                <a:cs typeface="Arial" charset="0"/>
              </a:rPr>
              <a:t> – Detail, thought of "how to do" </a:t>
            </a:r>
            <a:r>
              <a:rPr lang="en-US" sz="2000" dirty="0">
                <a:solidFill>
                  <a:schemeClr val="bg1"/>
                </a:solidFill>
                <a:latin typeface="+mj-lt"/>
                <a:cs typeface="Arial" charset="0"/>
              </a:rPr>
              <a:t>Human Constitution</a:t>
            </a:r>
            <a:r>
              <a:rPr lang="en-US" sz="2000" dirty="0">
                <a:latin typeface="+mj-lt"/>
                <a:cs typeface="Arial" charset="0"/>
              </a:rPr>
              <a:t>. Includes p</a:t>
            </a:r>
            <a:r>
              <a:rPr lang="en-US" sz="2000" dirty="0">
                <a:latin typeface="+mj-lt"/>
              </a:rPr>
              <a:t>lan, program, implementation, results, evaluation</a:t>
            </a:r>
            <a:endParaRPr lang="en-US" sz="2000" dirty="0">
              <a:solidFill>
                <a:schemeClr val="bg1">
                  <a:lumMod val="50000"/>
                </a:schemeClr>
              </a:solidFill>
              <a:latin typeface="+mj-lt"/>
            </a:endParaRPr>
          </a:p>
          <a:p>
            <a:pPr marL="800100" lvl="2" indent="-342900" fontAlgn="auto">
              <a:spcAft>
                <a:spcPts val="0"/>
              </a:spcAft>
              <a:defRPr/>
            </a:pPr>
            <a:r>
              <a:rPr lang="en-US" sz="2000" dirty="0">
                <a:latin typeface="+mj-lt"/>
              </a:rPr>
              <a:t>Policy for enrichment	(</a:t>
            </a:r>
            <a:r>
              <a:rPr lang="en-US" sz="2000" dirty="0" err="1">
                <a:latin typeface="+mj-lt"/>
              </a:rPr>
              <a:t>arth</a:t>
            </a:r>
            <a:r>
              <a:rPr lang="en-US" sz="2000" dirty="0">
                <a:latin typeface="+mj-lt"/>
              </a:rPr>
              <a:t> </a:t>
            </a:r>
            <a:r>
              <a:rPr lang="en-US" sz="2000" dirty="0" err="1">
                <a:latin typeface="+mj-lt"/>
              </a:rPr>
              <a:t>neeti</a:t>
            </a:r>
            <a:r>
              <a:rPr lang="en-US" sz="2000" dirty="0">
                <a:latin typeface="+mj-lt"/>
              </a:rPr>
              <a:t>)	of Self , Body, Physical Facility</a:t>
            </a:r>
          </a:p>
          <a:p>
            <a:pPr marL="800100" lvl="2" indent="-342900" fontAlgn="auto">
              <a:spcAft>
                <a:spcPts val="0"/>
              </a:spcAft>
              <a:defRPr/>
            </a:pPr>
            <a:r>
              <a:rPr lang="en-US" sz="2000" dirty="0">
                <a:latin typeface="+mj-lt"/>
              </a:rPr>
              <a:t>Policy for protection	(</a:t>
            </a:r>
            <a:r>
              <a:rPr lang="en-US" sz="2000" dirty="0" err="1">
                <a:latin typeface="+mj-lt"/>
              </a:rPr>
              <a:t>rajya</a:t>
            </a:r>
            <a:r>
              <a:rPr lang="en-US" sz="2000" dirty="0">
                <a:latin typeface="+mj-lt"/>
              </a:rPr>
              <a:t> </a:t>
            </a:r>
            <a:r>
              <a:rPr lang="en-US" sz="2000" dirty="0" err="1">
                <a:latin typeface="+mj-lt"/>
              </a:rPr>
              <a:t>neeti</a:t>
            </a:r>
            <a:r>
              <a:rPr lang="en-US" sz="2000" dirty="0">
                <a:latin typeface="+mj-lt"/>
              </a:rPr>
              <a:t>)	of Self , Body, Physical Facility</a:t>
            </a:r>
          </a:p>
          <a:p>
            <a:pPr marL="800100" lvl="2" indent="-342900" fontAlgn="auto">
              <a:spcAft>
                <a:spcPts val="0"/>
              </a:spcAft>
              <a:defRPr/>
            </a:pPr>
            <a:r>
              <a:rPr lang="en-US" sz="2000" dirty="0">
                <a:latin typeface="+mj-lt"/>
              </a:rPr>
              <a:t>Policy for right </a:t>
            </a:r>
            <a:r>
              <a:rPr lang="en-US" sz="2000" dirty="0" err="1">
                <a:latin typeface="+mj-lt"/>
              </a:rPr>
              <a:t>utilisation</a:t>
            </a:r>
            <a:r>
              <a:rPr lang="en-US" sz="2000" dirty="0">
                <a:latin typeface="+mj-lt"/>
              </a:rPr>
              <a:t>	(</a:t>
            </a:r>
            <a:r>
              <a:rPr lang="en-US" sz="2000" dirty="0" err="1">
                <a:latin typeface="+mj-lt"/>
              </a:rPr>
              <a:t>dharm</a:t>
            </a:r>
            <a:r>
              <a:rPr lang="en-US" sz="2000" dirty="0">
                <a:latin typeface="+mj-lt"/>
              </a:rPr>
              <a:t> </a:t>
            </a:r>
            <a:r>
              <a:rPr lang="en-US" sz="2000" dirty="0" err="1">
                <a:latin typeface="+mj-lt"/>
              </a:rPr>
              <a:t>neeti</a:t>
            </a:r>
            <a:r>
              <a:rPr lang="en-US" sz="2000" dirty="0">
                <a:latin typeface="+mj-lt"/>
              </a:rPr>
              <a:t>)	of Self , Body, Physical Facility</a:t>
            </a:r>
          </a:p>
          <a:p>
            <a:pPr marL="457200" indent="-457200" fontAlgn="auto">
              <a:spcAft>
                <a:spcPts val="0"/>
              </a:spcAft>
              <a:buFont typeface="Symbol" pitchFamily="18" charset="2"/>
              <a:buNone/>
              <a:defRPr/>
            </a:pPr>
            <a:r>
              <a:rPr lang="en-US" sz="2000" dirty="0">
                <a:latin typeface="+mj-lt"/>
                <a:cs typeface="Arial" charset="0"/>
              </a:rPr>
              <a:t>3.1.3.3. </a:t>
            </a:r>
            <a:r>
              <a:rPr lang="en-US" sz="2000" b="1" dirty="0">
                <a:latin typeface="+mj-lt"/>
                <a:cs typeface="Arial" charset="0"/>
              </a:rPr>
              <a:t>Character</a:t>
            </a:r>
            <a:r>
              <a:rPr lang="en-US" sz="2000" dirty="0">
                <a:latin typeface="+mj-lt"/>
                <a:cs typeface="Arial" charset="0"/>
              </a:rPr>
              <a:t> – Compassionate </a:t>
            </a:r>
            <a:r>
              <a:rPr lang="en-US" sz="2000" dirty="0" err="1">
                <a:latin typeface="+mj-lt"/>
                <a:cs typeface="Arial" charset="0"/>
              </a:rPr>
              <a:t>behaviour</a:t>
            </a:r>
            <a:r>
              <a:rPr lang="en-US" sz="2000" dirty="0">
                <a:latin typeface="+mj-lt"/>
                <a:cs typeface="Arial" charset="0"/>
              </a:rPr>
              <a:t>, work &amp; participation in 			larger order on the basis of human values</a:t>
            </a:r>
            <a:endParaRPr lang="en-US" sz="2000" dirty="0">
              <a:latin typeface="+mj-lt"/>
            </a:endParaRPr>
          </a:p>
          <a:p>
            <a:pPr marL="914400" lvl="2" indent="-457200" fontAlgn="auto">
              <a:spcAft>
                <a:spcPts val="0"/>
              </a:spcAft>
              <a:defRPr/>
            </a:pPr>
            <a:r>
              <a:rPr lang="en-US" sz="2000" dirty="0" err="1">
                <a:latin typeface="+mj-lt"/>
                <a:cs typeface="Arial" charset="0"/>
              </a:rPr>
              <a:t>Behaviour</a:t>
            </a:r>
            <a:r>
              <a:rPr lang="en-US" sz="2000" dirty="0">
                <a:latin typeface="+mj-lt"/>
                <a:cs typeface="Arial" charset="0"/>
              </a:rPr>
              <a:t> 	– ensuring justice, mutual happiness 		   		   (while also f</a:t>
            </a:r>
            <a:r>
              <a:rPr lang="en-US" sz="2000" dirty="0">
                <a:latin typeface="+mj-lt"/>
              </a:rPr>
              <a:t>illing the gaps created in ignorance)</a:t>
            </a:r>
            <a:endParaRPr lang="en-US" sz="2000" dirty="0">
              <a:latin typeface="+mj-lt"/>
              <a:cs typeface="Arial" charset="0"/>
            </a:endParaRPr>
          </a:p>
          <a:p>
            <a:pPr marL="914400" lvl="2" indent="-457200" fontAlgn="auto">
              <a:spcAft>
                <a:spcPts val="0"/>
              </a:spcAft>
              <a:defRPr/>
            </a:pPr>
            <a:r>
              <a:rPr lang="en-US" sz="2000" dirty="0">
                <a:latin typeface="+mj-lt"/>
                <a:cs typeface="Arial" charset="0"/>
              </a:rPr>
              <a:t>Work 		– ensuring preservation, mutual prosperity 			   (while also f</a:t>
            </a:r>
            <a:r>
              <a:rPr lang="en-US" sz="2000" dirty="0">
                <a:latin typeface="+mj-lt"/>
              </a:rPr>
              <a:t>illing the gaps created in ignorance)</a:t>
            </a:r>
            <a:endParaRPr lang="en-US" sz="2000" dirty="0">
              <a:latin typeface="+mj-lt"/>
              <a:cs typeface="Arial" charset="0"/>
            </a:endParaRPr>
          </a:p>
          <a:p>
            <a:pPr marL="914400" lvl="2" indent="-457200" fontAlgn="auto">
              <a:spcAft>
                <a:spcPts val="0"/>
              </a:spcAft>
              <a:defRPr/>
            </a:pPr>
            <a:r>
              <a:rPr lang="en-US" sz="2000" dirty="0">
                <a:latin typeface="+mj-lt"/>
                <a:cs typeface="Arial" charset="0"/>
              </a:rPr>
              <a:t>Rightfully acquired wealth (</a:t>
            </a:r>
            <a:r>
              <a:rPr lang="en-US" sz="2000" dirty="0" err="1">
                <a:latin typeface="+mj-lt"/>
                <a:cs typeface="Arial" charset="0"/>
              </a:rPr>
              <a:t>swa-dhan</a:t>
            </a:r>
            <a:r>
              <a:rPr lang="en-US" sz="2000" dirty="0">
                <a:latin typeface="+mj-lt"/>
                <a:cs typeface="Arial" charset="0"/>
              </a:rPr>
              <a:t>)</a:t>
            </a:r>
          </a:p>
          <a:p>
            <a:pPr marL="914400" lvl="2" indent="-457200" fontAlgn="auto">
              <a:spcAft>
                <a:spcPts val="0"/>
              </a:spcAft>
              <a:defRPr/>
            </a:pPr>
            <a:r>
              <a:rPr lang="en-US" sz="2000" dirty="0">
                <a:latin typeface="+mj-lt"/>
                <a:cs typeface="Arial" charset="0"/>
              </a:rPr>
              <a:t>Chastity in conjugal relationship (</a:t>
            </a:r>
            <a:r>
              <a:rPr lang="en-US" sz="2000" dirty="0" err="1">
                <a:latin typeface="+mj-lt"/>
                <a:cs typeface="Arial" charset="0"/>
              </a:rPr>
              <a:t>swa-nari</a:t>
            </a:r>
            <a:r>
              <a:rPr lang="en-US" sz="2000" dirty="0">
                <a:latin typeface="+mj-lt"/>
                <a:cs typeface="Arial" charset="0"/>
              </a:rPr>
              <a:t>/</a:t>
            </a:r>
            <a:r>
              <a:rPr lang="en-US" sz="2000" dirty="0" err="1">
                <a:latin typeface="+mj-lt"/>
                <a:cs typeface="Arial" charset="0"/>
              </a:rPr>
              <a:t>swa-purush</a:t>
            </a:r>
            <a:r>
              <a:rPr lang="en-US" sz="2000" dirty="0">
                <a:latin typeface="+mj-lt"/>
                <a:cs typeface="Arial" charset="0"/>
              </a:rPr>
              <a:t>)</a:t>
            </a:r>
          </a:p>
          <a:p>
            <a:pPr marL="457200" indent="-457200" fontAlgn="auto">
              <a:spcAft>
                <a:spcPts val="0"/>
              </a:spcAft>
              <a:buFont typeface="Symbol" pitchFamily="18" charset="2"/>
              <a:buNone/>
              <a:defRPr/>
            </a:pPr>
            <a:endParaRPr lang="en-US" sz="2000" dirty="0">
              <a:latin typeface="+mj-lt"/>
              <a:cs typeface="Arial" charset="0"/>
            </a:endParaRPr>
          </a:p>
        </p:txBody>
      </p:sp>
    </p:spTree>
    <p:extLst>
      <p:ext uri="{BB962C8B-B14F-4D97-AF65-F5344CB8AC3E}">
        <p14:creationId xmlns="" xmlns:p14="http://schemas.microsoft.com/office/powerpoint/2010/main" val="399188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D6B6F2-D44C-46F4-A698-5D130D194BC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9453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t>Human Values (Identification of Human Values)</a:t>
            </a:r>
            <a:r>
              <a:rPr kumimoji="0" lang="en-US" altLang="en-US" sz="300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ext Placeholder 2">
            <a:extLst>
              <a:ext uri="{FF2B5EF4-FFF2-40B4-BE49-F238E27FC236}">
                <a16:creationId xmlns="" xmlns:a16="http://schemas.microsoft.com/office/drawing/2014/main" id="{5FA06E4D-5D24-4805-8E12-0D8C1865461F}"/>
              </a:ext>
            </a:extLst>
          </p:cNvPr>
          <p:cNvSpPr txBox="1">
            <a:spLocks/>
          </p:cNvSpPr>
          <p:nvPr/>
        </p:nvSpPr>
        <p:spPr bwMode="auto">
          <a:xfrm>
            <a:off x="33291" y="817163"/>
            <a:ext cx="9110709" cy="6040837"/>
          </a:xfrm>
          <a:prstGeom prst="rect">
            <a:avLst/>
          </a:prstGeom>
          <a:ln>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Symbol" pitchFamily="18" charset="2"/>
              <a:buNone/>
              <a:defRPr/>
            </a:pPr>
            <a:r>
              <a:rPr lang="en-US" sz="2200" dirty="0">
                <a:latin typeface="+mj-lt"/>
                <a:cs typeface="Arial" charset="0"/>
              </a:rPr>
              <a:t>Understanding the Participation (Role) of Human Being in this Existence</a:t>
            </a:r>
          </a:p>
          <a:p>
            <a:pPr marL="457200" indent="-457200" fontAlgn="auto">
              <a:spcAft>
                <a:spcPts val="0"/>
              </a:spcAft>
              <a:buFont typeface="Symbol" pitchFamily="18" charset="2"/>
              <a:buNone/>
              <a:defRPr/>
            </a:pPr>
            <a:endParaRPr lang="en-US" sz="2200" dirty="0">
              <a:latin typeface="+mj-lt"/>
              <a:cs typeface="Arial" charset="0"/>
            </a:endParaRPr>
          </a:p>
          <a:p>
            <a:pPr marL="457200" indent="-457200" fontAlgn="auto">
              <a:spcAft>
                <a:spcPts val="0"/>
              </a:spcAft>
              <a:buFont typeface="Symbol" pitchFamily="18" charset="2"/>
              <a:buAutoNum type="arabicPeriod"/>
              <a:defRPr/>
            </a:pPr>
            <a:r>
              <a:rPr lang="en-US" sz="2200" dirty="0">
                <a:latin typeface="+mj-lt"/>
                <a:cs typeface="Arial" charset="0"/>
              </a:rPr>
              <a:t>In the Self – Happiness, Peace, Satisfaction, Bliss --------------------  4</a:t>
            </a:r>
          </a:p>
          <a:p>
            <a:pPr marL="457200" indent="-457200" fontAlgn="auto">
              <a:spcAft>
                <a:spcPts val="0"/>
              </a:spcAft>
              <a:buFont typeface="Symbol" pitchFamily="18" charset="2"/>
              <a:buAutoNum type="arabicPeriod"/>
              <a:defRPr/>
            </a:pPr>
            <a:r>
              <a:rPr lang="en-US" sz="2200" dirty="0">
                <a:latin typeface="+mj-lt"/>
                <a:cs typeface="Arial" charset="0"/>
              </a:rPr>
              <a:t>In Universal Human Order – </a:t>
            </a:r>
            <a:r>
              <a:rPr lang="en-US" sz="2200" dirty="0" err="1">
                <a:latin typeface="+mj-lt"/>
                <a:cs typeface="Arial" charset="0"/>
              </a:rPr>
              <a:t>Perseverence</a:t>
            </a:r>
            <a:r>
              <a:rPr lang="en-US" sz="2200" dirty="0">
                <a:latin typeface="+mj-lt"/>
                <a:cs typeface="Arial" charset="0"/>
              </a:rPr>
              <a:t>, </a:t>
            </a:r>
            <a:r>
              <a:rPr lang="en-US" sz="2200" dirty="0" err="1">
                <a:latin typeface="+mj-lt"/>
                <a:cs typeface="Arial" charset="0"/>
              </a:rPr>
              <a:t>Bravity</a:t>
            </a:r>
            <a:r>
              <a:rPr lang="en-US" sz="2200" dirty="0">
                <a:latin typeface="+mj-lt"/>
                <a:cs typeface="Arial" charset="0"/>
              </a:rPr>
              <a:t>, Generosity, Kindness, </a:t>
            </a:r>
            <a:r>
              <a:rPr lang="en-US" sz="2200" dirty="0" err="1">
                <a:latin typeface="+mj-lt"/>
                <a:cs typeface="Arial" charset="0"/>
              </a:rPr>
              <a:t>Beneficience</a:t>
            </a:r>
            <a:r>
              <a:rPr lang="en-US" sz="2200" dirty="0">
                <a:latin typeface="+mj-lt"/>
                <a:cs typeface="Arial" charset="0"/>
              </a:rPr>
              <a:t>, Compassion ------------------------------------   6</a:t>
            </a:r>
          </a:p>
          <a:p>
            <a:pPr marL="457200" indent="-457200" fontAlgn="auto">
              <a:spcAft>
                <a:spcPts val="0"/>
              </a:spcAft>
              <a:buFont typeface="Symbol" pitchFamily="18" charset="2"/>
              <a:buAutoNum type="arabicPeriod"/>
              <a:defRPr/>
            </a:pPr>
            <a:r>
              <a:rPr lang="en-US" sz="2200" dirty="0">
                <a:latin typeface="+mj-lt"/>
                <a:cs typeface="Arial" charset="0"/>
              </a:rPr>
              <a:t>In Human-Human Relationship – Justice</a:t>
            </a:r>
          </a:p>
          <a:p>
            <a:pPr marL="457200" indent="-457200" fontAlgn="auto">
              <a:spcAft>
                <a:spcPts val="0"/>
              </a:spcAft>
              <a:buFont typeface="Symbol" pitchFamily="18" charset="2"/>
              <a:buNone/>
              <a:defRPr/>
            </a:pPr>
            <a:r>
              <a:rPr lang="en-US" sz="2200" dirty="0">
                <a:latin typeface="+mj-lt"/>
                <a:cs typeface="Arial" charset="0"/>
              </a:rPr>
              <a:t>	(9 established values + 9 expressed values) --------------------------- 18</a:t>
            </a:r>
          </a:p>
          <a:p>
            <a:pPr marL="457200" indent="-457200" fontAlgn="auto">
              <a:spcAft>
                <a:spcPts val="0"/>
              </a:spcAft>
              <a:buFont typeface="Symbol" pitchFamily="18" charset="2"/>
              <a:buNone/>
              <a:defRPr/>
            </a:pPr>
            <a:r>
              <a:rPr lang="en-US" sz="2200" dirty="0">
                <a:latin typeface="+mj-lt"/>
                <a:cs typeface="Arial" charset="0"/>
              </a:rPr>
              <a:t>4.	In Human-Rest of Nature Relationship – Utility, Artistic value -----    2</a:t>
            </a:r>
            <a:r>
              <a:rPr lang="en-US" sz="2200" b="1" dirty="0">
                <a:latin typeface="+mj-lt"/>
                <a:cs typeface="Arial" charset="0"/>
              </a:rPr>
              <a:t>			    </a:t>
            </a:r>
          </a:p>
          <a:p>
            <a:pPr marL="457200" indent="-457200" fontAlgn="auto">
              <a:spcAft>
                <a:spcPts val="0"/>
              </a:spcAft>
              <a:buFont typeface="Symbol" pitchFamily="18" charset="2"/>
              <a:buNone/>
              <a:defRPr/>
            </a:pPr>
            <a:r>
              <a:rPr lang="en-US" sz="2200" dirty="0">
                <a:latin typeface="+mj-lt"/>
                <a:cs typeface="Arial" charset="0"/>
              </a:rPr>
              <a:t>Outcome of understanding – natural acceptance of human values, natural &amp; definite participation in larger order</a:t>
            </a:r>
          </a:p>
          <a:p>
            <a:pPr marL="457200" indent="-457200" fontAlgn="auto">
              <a:spcAft>
                <a:spcPts val="0"/>
              </a:spcAft>
              <a:buFont typeface="Symbol" pitchFamily="18" charset="2"/>
              <a:buNone/>
              <a:defRPr/>
            </a:pPr>
            <a:r>
              <a:rPr lang="en-US" sz="2200" dirty="0" err="1">
                <a:latin typeface="+mj-lt"/>
                <a:cs typeface="Arial" charset="0"/>
              </a:rPr>
              <a:t>Understa</a:t>
            </a:r>
            <a:r>
              <a:rPr lang="en-US" sz="2200" dirty="0">
                <a:latin typeface="+mj-lt"/>
                <a:cs typeface="Arial" charset="0"/>
              </a:rPr>
              <a:t>= transformation of consciousness, definite human conduct on the basis of understanding the values</a:t>
            </a:r>
          </a:p>
          <a:p>
            <a:pPr marL="457200" indent="-457200" fontAlgn="auto">
              <a:spcAft>
                <a:spcPts val="0"/>
              </a:spcAft>
              <a:buFont typeface="Symbol" pitchFamily="18" charset="2"/>
              <a:buNone/>
              <a:defRPr/>
            </a:pPr>
            <a:r>
              <a:rPr lang="en-US" sz="2200" b="1" u="sng" dirty="0">
                <a:latin typeface="+mj-lt"/>
                <a:cs typeface="Arial" charset="0"/>
              </a:rPr>
              <a:t>Present state: Some attention on #4 (or 2 values out of 30)</a:t>
            </a:r>
          </a:p>
        </p:txBody>
      </p:sp>
    </p:spTree>
    <p:extLst>
      <p:ext uri="{BB962C8B-B14F-4D97-AF65-F5344CB8AC3E}">
        <p14:creationId xmlns="" xmlns:p14="http://schemas.microsoft.com/office/powerpoint/2010/main" val="228021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5E20A8-B580-42FF-A534-2B97EF9DE71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t>Human Values (Identification of Human Values)</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66D4AF93-7957-4FD2-832E-EA3DF30B7FED}"/>
              </a:ext>
            </a:extLst>
          </p:cNvPr>
          <p:cNvSpPr txBox="1">
            <a:spLocks/>
          </p:cNvSpPr>
          <p:nvPr/>
        </p:nvSpPr>
        <p:spPr bwMode="auto">
          <a:xfrm>
            <a:off x="0" y="609600"/>
            <a:ext cx="9144000" cy="5943600"/>
          </a:xfrm>
          <a:prstGeom prst="rect">
            <a:avLst/>
          </a:prstGeom>
          <a:ln>
            <a:miter lim="800000"/>
            <a:headEnd/>
            <a:tailEnd/>
          </a:ln>
        </p:spPr>
        <p:txBody>
          <a:bodyPr vert="horz" wrap="square" lIns="91440" tIns="45720" rIns="91440" bIns="45720" numCol="1" anchor="t" anchorCtr="0" compatLnSpc="1">
            <a:prstTxWarp prst="textNoShape">
              <a:avLst/>
            </a:prstTxWarp>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Symbol" pitchFamily="18" charset="2"/>
              <a:buNone/>
              <a:defRPr/>
            </a:pPr>
            <a:endParaRPr lang="en-US" dirty="0">
              <a:latin typeface="+mj-lt"/>
              <a:cs typeface="Arial" charset="0"/>
            </a:endParaRPr>
          </a:p>
          <a:p>
            <a:pPr marL="457200" indent="-457200" fontAlgn="auto">
              <a:spcAft>
                <a:spcPts val="0"/>
              </a:spcAft>
              <a:buFont typeface="Symbol" pitchFamily="18" charset="2"/>
              <a:buNone/>
              <a:defRPr/>
            </a:pPr>
            <a:r>
              <a:rPr lang="en-US" dirty="0">
                <a:latin typeface="+mj-lt"/>
                <a:cs typeface="Arial" charset="0"/>
              </a:rPr>
              <a:t>Understanding the Participation (Role) of Human Being in this Existence</a:t>
            </a:r>
          </a:p>
          <a:p>
            <a:pPr marL="457200" indent="-457200" fontAlgn="auto">
              <a:spcAft>
                <a:spcPts val="0"/>
              </a:spcAft>
              <a:buFont typeface="Symbol" pitchFamily="18" charset="2"/>
              <a:buNone/>
              <a:defRPr/>
            </a:pPr>
            <a:endParaRPr lang="en-US" dirty="0">
              <a:latin typeface="+mj-lt"/>
              <a:cs typeface="Arial" charset="0"/>
            </a:endParaRPr>
          </a:p>
          <a:p>
            <a:pPr marL="457200" indent="-457200" fontAlgn="auto">
              <a:spcAft>
                <a:spcPts val="0"/>
              </a:spcAft>
              <a:buFont typeface="Symbol" pitchFamily="18" charset="2"/>
              <a:buAutoNum type="arabicPeriod"/>
              <a:defRPr/>
            </a:pPr>
            <a:r>
              <a:rPr lang="en-US" dirty="0">
                <a:latin typeface="+mj-lt"/>
                <a:cs typeface="Arial" charset="0"/>
              </a:rPr>
              <a:t>Being in harmony in the Self on the basis of </a:t>
            </a:r>
            <a:r>
              <a:rPr lang="en-US" dirty="0" err="1">
                <a:latin typeface="+mj-lt"/>
                <a:cs typeface="Arial" charset="0"/>
              </a:rPr>
              <a:t>realisation</a:t>
            </a:r>
            <a:r>
              <a:rPr lang="en-US" dirty="0">
                <a:latin typeface="+mj-lt"/>
                <a:cs typeface="Arial" charset="0"/>
              </a:rPr>
              <a:t> of co-existence </a:t>
            </a:r>
          </a:p>
          <a:p>
            <a:pPr marL="457200" indent="-457200" fontAlgn="auto">
              <a:spcAft>
                <a:spcPts val="0"/>
              </a:spcAft>
              <a:buFont typeface="Symbol" pitchFamily="18" charset="2"/>
              <a:buNone/>
              <a:defRPr/>
            </a:pPr>
            <a:r>
              <a:rPr lang="en-US" dirty="0">
                <a:latin typeface="+mj-lt"/>
                <a:cs typeface="Arial" charset="0"/>
              </a:rPr>
              <a:t>	– Happiness, Peace, Satisfaction, Bliss in the Self </a:t>
            </a:r>
          </a:p>
          <a:p>
            <a:pPr marL="457200" indent="-457200" fontAlgn="auto">
              <a:spcAft>
                <a:spcPts val="0"/>
              </a:spcAft>
              <a:buFont typeface="Symbol" pitchFamily="18" charset="2"/>
              <a:buAutoNum type="arabicPeriod"/>
              <a:defRPr/>
            </a:pPr>
            <a:endParaRPr lang="en-US" dirty="0">
              <a:latin typeface="+mj-lt"/>
              <a:cs typeface="Arial" charset="0"/>
            </a:endParaRPr>
          </a:p>
          <a:p>
            <a:pPr marL="457200" indent="-457200" fontAlgn="auto">
              <a:spcAft>
                <a:spcPts val="0"/>
              </a:spcAft>
              <a:buFont typeface="Symbol" pitchFamily="18" charset="2"/>
              <a:buNone/>
              <a:defRPr/>
            </a:pPr>
            <a:r>
              <a:rPr lang="en-US" dirty="0">
                <a:latin typeface="+mj-lt"/>
                <a:cs typeface="Arial" charset="0"/>
              </a:rPr>
              <a:t>2.	Participation in the Universal Order or Universal Human Order as a human being with human consciousness 	</a:t>
            </a:r>
          </a:p>
          <a:p>
            <a:pPr marL="457200" indent="-457200" fontAlgn="auto">
              <a:spcAft>
                <a:spcPts val="0"/>
              </a:spcAft>
              <a:buFont typeface="Symbol" pitchFamily="18" charset="2"/>
              <a:buNone/>
              <a:defRPr/>
            </a:pPr>
            <a:r>
              <a:rPr lang="en-US" dirty="0">
                <a:latin typeface="+mj-lt"/>
                <a:cs typeface="Arial" charset="0"/>
              </a:rPr>
              <a:t>	 – </a:t>
            </a:r>
            <a:r>
              <a:rPr lang="en-US" dirty="0" err="1">
                <a:latin typeface="+mj-lt"/>
                <a:cs typeface="Arial" charset="0"/>
              </a:rPr>
              <a:t>Perseverence</a:t>
            </a:r>
            <a:r>
              <a:rPr lang="en-US" dirty="0">
                <a:latin typeface="+mj-lt"/>
                <a:cs typeface="Arial" charset="0"/>
              </a:rPr>
              <a:t>, </a:t>
            </a:r>
            <a:r>
              <a:rPr lang="en-US" dirty="0" err="1">
                <a:latin typeface="+mj-lt"/>
                <a:cs typeface="Arial" charset="0"/>
              </a:rPr>
              <a:t>Bravity</a:t>
            </a:r>
            <a:r>
              <a:rPr lang="en-US" dirty="0">
                <a:latin typeface="+mj-lt"/>
                <a:cs typeface="Arial" charset="0"/>
              </a:rPr>
              <a:t>, Generosity, </a:t>
            </a:r>
          </a:p>
          <a:p>
            <a:pPr marL="457200" indent="-457200" fontAlgn="auto">
              <a:spcAft>
                <a:spcPts val="0"/>
              </a:spcAft>
              <a:buFont typeface="Symbol" pitchFamily="18" charset="2"/>
              <a:buNone/>
              <a:defRPr/>
            </a:pPr>
            <a:r>
              <a:rPr lang="en-US" dirty="0">
                <a:latin typeface="+mj-lt"/>
                <a:cs typeface="Arial" charset="0"/>
              </a:rPr>
              <a:t>	    Kindness, </a:t>
            </a:r>
            <a:r>
              <a:rPr lang="en-US" dirty="0" err="1">
                <a:latin typeface="+mj-lt"/>
                <a:cs typeface="Arial" charset="0"/>
              </a:rPr>
              <a:t>Beneficience</a:t>
            </a:r>
            <a:r>
              <a:rPr lang="en-US" dirty="0">
                <a:latin typeface="+mj-lt"/>
                <a:cs typeface="Arial" charset="0"/>
              </a:rPr>
              <a:t>, Compassion</a:t>
            </a:r>
          </a:p>
          <a:p>
            <a:pPr marL="457200" indent="-457200" fontAlgn="auto">
              <a:spcAft>
                <a:spcPts val="0"/>
              </a:spcAft>
              <a:buFont typeface="Symbol" pitchFamily="18" charset="2"/>
              <a:buAutoNum type="arabicPeriod"/>
              <a:defRPr/>
            </a:pPr>
            <a:endParaRPr lang="en-US" dirty="0">
              <a:latin typeface="+mj-lt"/>
              <a:cs typeface="Arial" charset="0"/>
            </a:endParaRPr>
          </a:p>
          <a:p>
            <a:pPr marL="457200" indent="-457200" fontAlgn="auto">
              <a:spcAft>
                <a:spcPts val="0"/>
              </a:spcAft>
              <a:buFont typeface="Symbol" pitchFamily="18" charset="2"/>
              <a:buNone/>
              <a:defRPr/>
            </a:pPr>
            <a:r>
              <a:rPr lang="en-US" dirty="0">
                <a:latin typeface="+mj-lt"/>
                <a:cs typeface="Arial" charset="0"/>
              </a:rPr>
              <a:t>3.	Participation in Human-Human relationship – Justice </a:t>
            </a:r>
          </a:p>
          <a:p>
            <a:pPr marL="457200" indent="-457200" fontAlgn="auto">
              <a:spcAft>
                <a:spcPts val="0"/>
              </a:spcAft>
              <a:buFont typeface="Symbol" pitchFamily="18" charset="2"/>
              <a:buNone/>
              <a:defRPr/>
            </a:pPr>
            <a:r>
              <a:rPr lang="en-US" dirty="0">
                <a:latin typeface="+mj-lt"/>
                <a:cs typeface="Arial" charset="0"/>
              </a:rPr>
              <a:t>	– 9 established values – trust, respect, affection… Love</a:t>
            </a:r>
          </a:p>
          <a:p>
            <a:pPr marL="457200" indent="-457200" fontAlgn="auto">
              <a:spcAft>
                <a:spcPts val="0"/>
              </a:spcAft>
              <a:buFont typeface="Symbol" pitchFamily="18" charset="2"/>
              <a:buNone/>
              <a:defRPr/>
            </a:pPr>
            <a:r>
              <a:rPr lang="en-US" dirty="0">
                <a:latin typeface="+mj-lt"/>
                <a:cs typeface="Arial" charset="0"/>
              </a:rPr>
              <a:t>	– 9 expressed values – </a:t>
            </a:r>
          </a:p>
          <a:p>
            <a:pPr marL="457200" indent="-457200" fontAlgn="auto">
              <a:spcAft>
                <a:spcPts val="0"/>
              </a:spcAft>
              <a:buFont typeface="Symbol" pitchFamily="18" charset="2"/>
              <a:buAutoNum type="arabicPeriod" startAt="4"/>
              <a:defRPr/>
            </a:pPr>
            <a:endParaRPr lang="en-US" dirty="0">
              <a:latin typeface="+mj-lt"/>
              <a:cs typeface="Arial" charset="0"/>
            </a:endParaRPr>
          </a:p>
          <a:p>
            <a:pPr marL="457200" indent="-457200" fontAlgn="auto">
              <a:spcAft>
                <a:spcPts val="0"/>
              </a:spcAft>
              <a:buFont typeface="Symbol" pitchFamily="18" charset="2"/>
              <a:buAutoNum type="arabicPeriod" startAt="4"/>
              <a:defRPr/>
            </a:pPr>
            <a:r>
              <a:rPr lang="en-US" dirty="0">
                <a:latin typeface="+mj-lt"/>
                <a:cs typeface="Arial" charset="0"/>
              </a:rPr>
              <a:t>Participation in Human-Rest of Nature relationship 	</a:t>
            </a:r>
          </a:p>
          <a:p>
            <a:pPr marL="457200" indent="-457200" fontAlgn="auto">
              <a:spcAft>
                <a:spcPts val="0"/>
              </a:spcAft>
              <a:buFont typeface="Symbol" pitchFamily="18" charset="2"/>
              <a:buNone/>
              <a:defRPr/>
            </a:pPr>
            <a:r>
              <a:rPr lang="en-US" dirty="0">
                <a:latin typeface="+mj-lt"/>
                <a:cs typeface="Arial" charset="0"/>
              </a:rPr>
              <a:t>	– Utility value, Artistic value</a:t>
            </a:r>
            <a:endParaRPr lang="en-US" u="sng" dirty="0">
              <a:latin typeface="+mj-lt"/>
              <a:cs typeface="Arial" charset="0"/>
            </a:endParaRPr>
          </a:p>
        </p:txBody>
      </p:sp>
    </p:spTree>
    <p:extLst>
      <p:ext uri="{BB962C8B-B14F-4D97-AF65-F5344CB8AC3E}">
        <p14:creationId xmlns="" xmlns:p14="http://schemas.microsoft.com/office/powerpoint/2010/main" val="2462785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78208A-69BA-4061-B1FF-D693A930C81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6" name="Title 23">
            <a:extLst>
              <a:ext uri="{FF2B5EF4-FFF2-40B4-BE49-F238E27FC236}">
                <a16:creationId xmlns="" xmlns:a16="http://schemas.microsoft.com/office/drawing/2014/main" id="{7978B8BB-D5AF-4DFA-BE9C-5C3B4BD93F13}"/>
              </a:ext>
            </a:extLst>
          </p:cNvPr>
          <p:cNvSpPr>
            <a:spLocks noGrp="1"/>
          </p:cNvSpPr>
          <p:nvPr>
            <p:ph type="title"/>
          </p:nvPr>
        </p:nvSpPr>
        <p:spPr bwMode="auto">
          <a:xfrm>
            <a:off x="0" y="76200"/>
            <a:ext cx="9144000" cy="380999"/>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dirty="0"/>
              <a:t>				</a:t>
            </a:r>
            <a:r>
              <a:rPr lang="en-US" altLang="en-US" dirty="0">
                <a:solidFill>
                  <a:schemeClr val="tx1"/>
                </a:solidFill>
              </a:rPr>
              <a:t>Space</a:t>
            </a:r>
          </a:p>
        </p:txBody>
      </p:sp>
      <p:sp>
        <p:nvSpPr>
          <p:cNvPr id="37" name="TextBox 23">
            <a:extLst>
              <a:ext uri="{FF2B5EF4-FFF2-40B4-BE49-F238E27FC236}">
                <a16:creationId xmlns="" xmlns:a16="http://schemas.microsoft.com/office/drawing/2014/main" id="{7BA04D69-6D17-4FE7-9B16-5095DB25D329}"/>
              </a:ext>
            </a:extLst>
          </p:cNvPr>
          <p:cNvSpPr txBox="1">
            <a:spLocks noChangeArrowheads="1"/>
          </p:cNvSpPr>
          <p:nvPr/>
        </p:nvSpPr>
        <p:spPr bwMode="auto">
          <a:xfrm>
            <a:off x="957263" y="5268913"/>
            <a:ext cx="2209800" cy="677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rPr>
              <a:t>Mutual Happiness</a:t>
            </a:r>
          </a:p>
          <a:p>
            <a:pPr algn="ctr" eaLnBrk="1" hangingPunct="1"/>
            <a:r>
              <a:rPr lang="en-US" altLang="en-US" sz="2000">
                <a:solidFill>
                  <a:srgbClr val="1E00AA"/>
                </a:solidFill>
                <a:latin typeface="Kruti Dev 010" pitchFamily="2" charset="0"/>
              </a:rPr>
              <a:t>mHk; lq[k</a:t>
            </a:r>
          </a:p>
        </p:txBody>
      </p:sp>
      <p:sp>
        <p:nvSpPr>
          <p:cNvPr id="38" name="TextBox 24">
            <a:extLst>
              <a:ext uri="{FF2B5EF4-FFF2-40B4-BE49-F238E27FC236}">
                <a16:creationId xmlns="" xmlns:a16="http://schemas.microsoft.com/office/drawing/2014/main" id="{0BE6395F-2493-4E60-B324-68209F857F17}"/>
              </a:ext>
            </a:extLst>
          </p:cNvPr>
          <p:cNvSpPr txBox="1">
            <a:spLocks noChangeArrowheads="1"/>
          </p:cNvSpPr>
          <p:nvPr/>
        </p:nvSpPr>
        <p:spPr bwMode="auto">
          <a:xfrm>
            <a:off x="3048000" y="5278438"/>
            <a:ext cx="1981200" cy="677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rPr>
              <a:t>Mutual Prosperity</a:t>
            </a:r>
          </a:p>
          <a:p>
            <a:pPr algn="ctr" eaLnBrk="1" hangingPunct="1"/>
            <a:r>
              <a:rPr lang="en-US" altLang="en-US" sz="2000">
                <a:solidFill>
                  <a:srgbClr val="1E00AA"/>
                </a:solidFill>
                <a:latin typeface="Kruti Dev 010" pitchFamily="2" charset="0"/>
              </a:rPr>
              <a:t>mHk; le`f)</a:t>
            </a:r>
          </a:p>
        </p:txBody>
      </p:sp>
      <p:sp>
        <p:nvSpPr>
          <p:cNvPr id="39" name="TextBox 25">
            <a:extLst>
              <a:ext uri="{FF2B5EF4-FFF2-40B4-BE49-F238E27FC236}">
                <a16:creationId xmlns="" xmlns:a16="http://schemas.microsoft.com/office/drawing/2014/main" id="{B3B8074B-B5AE-4118-AF98-6FCDC3B36D9B}"/>
              </a:ext>
            </a:extLst>
          </p:cNvPr>
          <p:cNvSpPr txBox="1">
            <a:spLocks noChangeArrowheads="1"/>
          </p:cNvSpPr>
          <p:nvPr/>
        </p:nvSpPr>
        <p:spPr bwMode="auto">
          <a:xfrm>
            <a:off x="5181600" y="6030913"/>
            <a:ext cx="2819400" cy="677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rPr>
              <a:t>Universal Human Order</a:t>
            </a:r>
          </a:p>
          <a:p>
            <a:pPr algn="ctr" eaLnBrk="1" hangingPunct="1"/>
            <a:r>
              <a:rPr lang="en-US" altLang="en-US" sz="2000">
                <a:solidFill>
                  <a:srgbClr val="1E00AA"/>
                </a:solidFill>
                <a:latin typeface="Kruti Dev 010" pitchFamily="2" charset="0"/>
              </a:rPr>
              <a:t>lkoZHkkSe ekuoh; O;oLFkk</a:t>
            </a:r>
            <a:endParaRPr lang="en-US" altLang="en-US" sz="2000">
              <a:solidFill>
                <a:srgbClr val="000000"/>
              </a:solidFill>
            </a:endParaRPr>
          </a:p>
        </p:txBody>
      </p:sp>
      <p:sp>
        <p:nvSpPr>
          <p:cNvPr id="40" name="TextBox 26">
            <a:extLst>
              <a:ext uri="{FF2B5EF4-FFF2-40B4-BE49-F238E27FC236}">
                <a16:creationId xmlns="" xmlns:a16="http://schemas.microsoft.com/office/drawing/2014/main" id="{58B5EFBB-0181-4BD6-8BE0-BF1D6E69E906}"/>
              </a:ext>
            </a:extLst>
          </p:cNvPr>
          <p:cNvSpPr txBox="1">
            <a:spLocks noChangeArrowheads="1"/>
          </p:cNvSpPr>
          <p:nvPr/>
        </p:nvSpPr>
        <p:spPr bwMode="auto">
          <a:xfrm>
            <a:off x="533400" y="6019800"/>
            <a:ext cx="3048000" cy="677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rPr>
              <a:t>Undivided Human Society</a:t>
            </a:r>
          </a:p>
          <a:p>
            <a:pPr algn="ctr" eaLnBrk="1" hangingPunct="1"/>
            <a:r>
              <a:rPr lang="en-US" altLang="en-US" sz="2000">
                <a:solidFill>
                  <a:srgbClr val="1E00AA"/>
                </a:solidFill>
                <a:latin typeface="Kruti Dev 010" pitchFamily="2" charset="0"/>
              </a:rPr>
              <a:t>v[k.M ekuoh; lekt</a:t>
            </a:r>
            <a:endParaRPr lang="en-US" altLang="en-US" sz="2000">
              <a:solidFill>
                <a:srgbClr val="000000"/>
              </a:solidFill>
            </a:endParaRPr>
          </a:p>
        </p:txBody>
      </p:sp>
      <p:sp>
        <p:nvSpPr>
          <p:cNvPr id="41" name="Down Arrow 27">
            <a:extLst>
              <a:ext uri="{FF2B5EF4-FFF2-40B4-BE49-F238E27FC236}">
                <a16:creationId xmlns="" xmlns:a16="http://schemas.microsoft.com/office/drawing/2014/main" id="{9831043F-CFD7-4484-8FAA-8DF3FC9AD821}"/>
              </a:ext>
            </a:extLst>
          </p:cNvPr>
          <p:cNvSpPr/>
          <p:nvPr/>
        </p:nvSpPr>
        <p:spPr bwMode="auto">
          <a:xfrm>
            <a:off x="1981200" y="5867400"/>
            <a:ext cx="152400" cy="2381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prstClr val="white"/>
              </a:solidFill>
            </a:endParaRPr>
          </a:p>
        </p:txBody>
      </p:sp>
      <p:sp>
        <p:nvSpPr>
          <p:cNvPr id="42" name="Down Arrow 28">
            <a:extLst>
              <a:ext uri="{FF2B5EF4-FFF2-40B4-BE49-F238E27FC236}">
                <a16:creationId xmlns="" xmlns:a16="http://schemas.microsoft.com/office/drawing/2014/main" id="{EC40597D-C6DE-45A0-88D4-B8CC656EDE80}"/>
              </a:ext>
            </a:extLst>
          </p:cNvPr>
          <p:cNvSpPr/>
          <p:nvPr/>
        </p:nvSpPr>
        <p:spPr bwMode="auto">
          <a:xfrm>
            <a:off x="1981200" y="4932363"/>
            <a:ext cx="152400" cy="3254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prstClr val="white"/>
              </a:solidFill>
            </a:endParaRPr>
          </a:p>
        </p:txBody>
      </p:sp>
      <p:sp>
        <p:nvSpPr>
          <p:cNvPr id="43" name="Down Arrow 29">
            <a:extLst>
              <a:ext uri="{FF2B5EF4-FFF2-40B4-BE49-F238E27FC236}">
                <a16:creationId xmlns="" xmlns:a16="http://schemas.microsoft.com/office/drawing/2014/main" id="{6D7B0867-A0A5-4F39-9CBB-58CDF4845C5F}"/>
              </a:ext>
            </a:extLst>
          </p:cNvPr>
          <p:cNvSpPr/>
          <p:nvPr/>
        </p:nvSpPr>
        <p:spPr bwMode="auto">
          <a:xfrm>
            <a:off x="3733800" y="5084763"/>
            <a:ext cx="152400" cy="1730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prstClr val="white"/>
              </a:solidFill>
            </a:endParaRPr>
          </a:p>
        </p:txBody>
      </p:sp>
      <p:sp>
        <p:nvSpPr>
          <p:cNvPr id="44" name="TextBox 24">
            <a:extLst>
              <a:ext uri="{FF2B5EF4-FFF2-40B4-BE49-F238E27FC236}">
                <a16:creationId xmlns="" xmlns:a16="http://schemas.microsoft.com/office/drawing/2014/main" id="{95768291-319C-4F8E-A420-B73B00056A2C}"/>
              </a:ext>
            </a:extLst>
          </p:cNvPr>
          <p:cNvSpPr txBox="1">
            <a:spLocks noChangeArrowheads="1"/>
          </p:cNvSpPr>
          <p:nvPr/>
        </p:nvSpPr>
        <p:spPr bwMode="auto">
          <a:xfrm>
            <a:off x="5181600" y="5278438"/>
            <a:ext cx="2971800" cy="677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rPr>
              <a:t>Fulfillment of Human Goal</a:t>
            </a:r>
          </a:p>
          <a:p>
            <a:pPr algn="ctr" eaLnBrk="1" hangingPunct="1"/>
            <a:r>
              <a:rPr lang="en-US" altLang="en-US" sz="2000">
                <a:solidFill>
                  <a:srgbClr val="1E00AA"/>
                </a:solidFill>
                <a:latin typeface="Kruti Dev 010" pitchFamily="2" charset="0"/>
              </a:rPr>
              <a:t>Ekkuo y{; dh iwfrZ</a:t>
            </a:r>
            <a:endParaRPr lang="en-US" altLang="en-US" sz="2000">
              <a:solidFill>
                <a:srgbClr val="000000"/>
              </a:solidFill>
            </a:endParaRPr>
          </a:p>
        </p:txBody>
      </p:sp>
      <p:sp>
        <p:nvSpPr>
          <p:cNvPr id="45" name="Down Arrow 13">
            <a:extLst>
              <a:ext uri="{FF2B5EF4-FFF2-40B4-BE49-F238E27FC236}">
                <a16:creationId xmlns="" xmlns:a16="http://schemas.microsoft.com/office/drawing/2014/main" id="{67A1E6AD-4C91-4786-90B7-0AF5B6B97DED}"/>
              </a:ext>
            </a:extLst>
          </p:cNvPr>
          <p:cNvSpPr/>
          <p:nvPr/>
        </p:nvSpPr>
        <p:spPr bwMode="auto">
          <a:xfrm>
            <a:off x="6553200" y="4932363"/>
            <a:ext cx="152400" cy="3254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prstClr val="white"/>
              </a:solidFill>
            </a:endParaRPr>
          </a:p>
        </p:txBody>
      </p:sp>
      <p:sp>
        <p:nvSpPr>
          <p:cNvPr id="46" name="TextBox 20">
            <a:extLst>
              <a:ext uri="{FF2B5EF4-FFF2-40B4-BE49-F238E27FC236}">
                <a16:creationId xmlns="" xmlns:a16="http://schemas.microsoft.com/office/drawing/2014/main" id="{11D1CB02-20B4-4090-B0DD-C392E3025B22}"/>
              </a:ext>
            </a:extLst>
          </p:cNvPr>
          <p:cNvSpPr txBox="1">
            <a:spLocks noChangeArrowheads="1"/>
          </p:cNvSpPr>
          <p:nvPr/>
        </p:nvSpPr>
        <p:spPr bwMode="auto">
          <a:xfrm rot="-5400000">
            <a:off x="7473157" y="5377933"/>
            <a:ext cx="22860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solidFill>
                  <a:srgbClr val="000000"/>
                </a:solidFill>
              </a:rPr>
              <a:t>Human </a:t>
            </a:r>
            <a:r>
              <a:rPr lang="en-US" altLang="en-US" b="1" dirty="0" smtClean="0">
                <a:solidFill>
                  <a:srgbClr val="000000"/>
                </a:solidFill>
              </a:rPr>
              <a:t>Tradition</a:t>
            </a:r>
            <a:endParaRPr lang="en-US" altLang="en-US" b="1" dirty="0">
              <a:solidFill>
                <a:srgbClr val="000000"/>
              </a:solidFill>
            </a:endParaRPr>
          </a:p>
        </p:txBody>
      </p:sp>
      <p:sp>
        <p:nvSpPr>
          <p:cNvPr id="47" name="Down Arrow 15">
            <a:extLst>
              <a:ext uri="{FF2B5EF4-FFF2-40B4-BE49-F238E27FC236}">
                <a16:creationId xmlns="" xmlns:a16="http://schemas.microsoft.com/office/drawing/2014/main" id="{407DB8B0-B826-406E-A114-875E1D44E41F}"/>
              </a:ext>
            </a:extLst>
          </p:cNvPr>
          <p:cNvSpPr/>
          <p:nvPr/>
        </p:nvSpPr>
        <p:spPr bwMode="auto">
          <a:xfrm>
            <a:off x="6553200" y="5867400"/>
            <a:ext cx="152400" cy="2381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solidFill>
                <a:prstClr val="white"/>
              </a:solidFill>
            </a:endParaRPr>
          </a:p>
        </p:txBody>
      </p:sp>
      <p:sp>
        <p:nvSpPr>
          <p:cNvPr id="48" name="Right Brace 47">
            <a:extLst>
              <a:ext uri="{FF2B5EF4-FFF2-40B4-BE49-F238E27FC236}">
                <a16:creationId xmlns="" xmlns:a16="http://schemas.microsoft.com/office/drawing/2014/main" id="{27F07507-7EAB-44F6-8EDF-9BC30E2DAA79}"/>
              </a:ext>
            </a:extLst>
          </p:cNvPr>
          <p:cNvSpPr/>
          <p:nvPr/>
        </p:nvSpPr>
        <p:spPr>
          <a:xfrm>
            <a:off x="8001000" y="5791200"/>
            <a:ext cx="228600" cy="762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solidFill>
                <a:prstClr val="black"/>
              </a:solidFill>
            </a:endParaRPr>
          </a:p>
        </p:txBody>
      </p:sp>
      <p:sp>
        <p:nvSpPr>
          <p:cNvPr id="49" name="Rectangle 48">
            <a:extLst>
              <a:ext uri="{FF2B5EF4-FFF2-40B4-BE49-F238E27FC236}">
                <a16:creationId xmlns="" xmlns:a16="http://schemas.microsoft.com/office/drawing/2014/main" id="{433ABAC6-5B96-4860-A12D-835F005A3DF9}"/>
              </a:ext>
            </a:extLst>
          </p:cNvPr>
          <p:cNvSpPr/>
          <p:nvPr/>
        </p:nvSpPr>
        <p:spPr>
          <a:xfrm>
            <a:off x="5257800" y="6019800"/>
            <a:ext cx="26670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pic>
        <p:nvPicPr>
          <p:cNvPr id="50" name="Picture 17" descr="Picture1.png">
            <a:extLst>
              <a:ext uri="{FF2B5EF4-FFF2-40B4-BE49-F238E27FC236}">
                <a16:creationId xmlns="" xmlns:a16="http://schemas.microsoft.com/office/drawing/2014/main" id="{0C3ABB1F-88C5-46FA-B643-543F1826925C}"/>
              </a:ext>
            </a:extLst>
          </p:cNvPr>
          <p:cNvPicPr>
            <a:picLocks noChangeAspect="1"/>
          </p:cNvPicPr>
          <p:nvPr/>
        </p:nvPicPr>
        <p:blipFill>
          <a:blip r:embed="rId3">
            <a:extLst>
              <a:ext uri="{28A0092B-C50C-407E-A947-70E740481C1C}">
                <a14:useLocalDpi xmlns="" xmlns:a14="http://schemas.microsoft.com/office/drawing/2010/main" val="0"/>
              </a:ext>
            </a:extLst>
          </a:blip>
          <a:srcRect/>
          <a:stretch>
            <a:fillRect/>
          </a:stretch>
        </p:blipFill>
        <p:spPr bwMode="auto">
          <a:xfrm>
            <a:off x="0" y="457200"/>
            <a:ext cx="7467600" cy="4729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 name="Rectangle 50">
            <a:extLst>
              <a:ext uri="{FF2B5EF4-FFF2-40B4-BE49-F238E27FC236}">
                <a16:creationId xmlns="" xmlns:a16="http://schemas.microsoft.com/office/drawing/2014/main" id="{B576CA59-C171-4D1D-B915-BB90D7E7DBB2}"/>
              </a:ext>
            </a:extLst>
          </p:cNvPr>
          <p:cNvSpPr/>
          <p:nvPr/>
        </p:nvSpPr>
        <p:spPr>
          <a:xfrm>
            <a:off x="3717925" y="1103313"/>
            <a:ext cx="44958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sp>
        <p:nvSpPr>
          <p:cNvPr id="52" name="TextBox 17">
            <a:extLst>
              <a:ext uri="{FF2B5EF4-FFF2-40B4-BE49-F238E27FC236}">
                <a16:creationId xmlns="" xmlns:a16="http://schemas.microsoft.com/office/drawing/2014/main" id="{E63D598C-4E2E-4C28-AC50-91E7ACB260E7}"/>
              </a:ext>
            </a:extLst>
          </p:cNvPr>
          <p:cNvSpPr txBox="1">
            <a:spLocks noChangeArrowheads="1"/>
          </p:cNvSpPr>
          <p:nvPr/>
        </p:nvSpPr>
        <p:spPr bwMode="auto">
          <a:xfrm>
            <a:off x="7335838" y="1066800"/>
            <a:ext cx="1828800" cy="646113"/>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000000"/>
                </a:solidFill>
              </a:rPr>
              <a:t>REALISATION WITHIN</a:t>
            </a:r>
          </a:p>
        </p:txBody>
      </p:sp>
      <p:sp>
        <p:nvSpPr>
          <p:cNvPr id="53" name="TextBox 18">
            <a:extLst>
              <a:ext uri="{FF2B5EF4-FFF2-40B4-BE49-F238E27FC236}">
                <a16:creationId xmlns="" xmlns:a16="http://schemas.microsoft.com/office/drawing/2014/main" id="{1799F035-176C-4805-9462-01541755A19E}"/>
              </a:ext>
            </a:extLst>
          </p:cNvPr>
          <p:cNvSpPr txBox="1">
            <a:spLocks noChangeArrowheads="1"/>
          </p:cNvSpPr>
          <p:nvPr/>
        </p:nvSpPr>
        <p:spPr bwMode="auto">
          <a:xfrm>
            <a:off x="3408363" y="6016625"/>
            <a:ext cx="1828800" cy="646113"/>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000000"/>
                </a:solidFill>
              </a:rPr>
              <a:t>EXPRESSION OUTSIDE</a:t>
            </a:r>
          </a:p>
        </p:txBody>
      </p:sp>
      <p:sp>
        <p:nvSpPr>
          <p:cNvPr id="54" name="TextBox 20">
            <a:extLst>
              <a:ext uri="{FF2B5EF4-FFF2-40B4-BE49-F238E27FC236}">
                <a16:creationId xmlns="" xmlns:a16="http://schemas.microsoft.com/office/drawing/2014/main" id="{32405A25-9294-4AB8-BD9B-903AB9804D33}"/>
              </a:ext>
            </a:extLst>
          </p:cNvPr>
          <p:cNvSpPr txBox="1">
            <a:spLocks noChangeArrowheads="1"/>
          </p:cNvSpPr>
          <p:nvPr/>
        </p:nvSpPr>
        <p:spPr bwMode="auto">
          <a:xfrm>
            <a:off x="7620000" y="2895600"/>
            <a:ext cx="1143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solidFill>
                  <a:srgbClr val="FF0000"/>
                </a:solidFill>
              </a:rPr>
              <a:t>Peace</a:t>
            </a:r>
          </a:p>
        </p:txBody>
      </p:sp>
      <p:sp>
        <p:nvSpPr>
          <p:cNvPr id="55" name="TextBox 22">
            <a:extLst>
              <a:ext uri="{FF2B5EF4-FFF2-40B4-BE49-F238E27FC236}">
                <a16:creationId xmlns="" xmlns:a16="http://schemas.microsoft.com/office/drawing/2014/main" id="{82B35F28-6198-4829-9119-7361D19B179B}"/>
              </a:ext>
            </a:extLst>
          </p:cNvPr>
          <p:cNvSpPr txBox="1">
            <a:spLocks noChangeArrowheads="1"/>
          </p:cNvSpPr>
          <p:nvPr/>
        </p:nvSpPr>
        <p:spPr bwMode="auto">
          <a:xfrm>
            <a:off x="7620000" y="3516313"/>
            <a:ext cx="15240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solidFill>
                  <a:srgbClr val="FF0000"/>
                </a:solidFill>
              </a:rPr>
              <a:t>Happiness</a:t>
            </a:r>
          </a:p>
        </p:txBody>
      </p:sp>
      <p:sp>
        <p:nvSpPr>
          <p:cNvPr id="56" name="TextBox 23">
            <a:extLst>
              <a:ext uri="{FF2B5EF4-FFF2-40B4-BE49-F238E27FC236}">
                <a16:creationId xmlns="" xmlns:a16="http://schemas.microsoft.com/office/drawing/2014/main" id="{D836213B-6819-45AF-9A01-4F9D881F7CDD}"/>
              </a:ext>
            </a:extLst>
          </p:cNvPr>
          <p:cNvSpPr txBox="1">
            <a:spLocks noChangeArrowheads="1"/>
          </p:cNvSpPr>
          <p:nvPr/>
        </p:nvSpPr>
        <p:spPr bwMode="auto">
          <a:xfrm>
            <a:off x="7620000" y="22098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solidFill>
                  <a:srgbClr val="FF0000"/>
                </a:solidFill>
              </a:rPr>
              <a:t>Satisfaction</a:t>
            </a:r>
          </a:p>
        </p:txBody>
      </p:sp>
      <p:sp>
        <p:nvSpPr>
          <p:cNvPr id="57" name="TextBox 25">
            <a:extLst>
              <a:ext uri="{FF2B5EF4-FFF2-40B4-BE49-F238E27FC236}">
                <a16:creationId xmlns="" xmlns:a16="http://schemas.microsoft.com/office/drawing/2014/main" id="{09CD71FA-B42C-4E50-A245-E667DCAB0E01}"/>
              </a:ext>
            </a:extLst>
          </p:cNvPr>
          <p:cNvSpPr txBox="1">
            <a:spLocks noChangeArrowheads="1"/>
          </p:cNvSpPr>
          <p:nvPr/>
        </p:nvSpPr>
        <p:spPr bwMode="auto">
          <a:xfrm>
            <a:off x="7620000" y="16764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solidFill>
                  <a:srgbClr val="FF0000"/>
                </a:solidFill>
              </a:rPr>
              <a:t>Bliss</a:t>
            </a:r>
          </a:p>
        </p:txBody>
      </p:sp>
      <p:cxnSp>
        <p:nvCxnSpPr>
          <p:cNvPr id="58" name="Straight Arrow Connector 57">
            <a:extLst>
              <a:ext uri="{FF2B5EF4-FFF2-40B4-BE49-F238E27FC236}">
                <a16:creationId xmlns="" xmlns:a16="http://schemas.microsoft.com/office/drawing/2014/main" id="{23957578-915E-42FB-9C21-CAE53D8CB7D2}"/>
              </a:ext>
            </a:extLst>
          </p:cNvPr>
          <p:cNvCxnSpPr/>
          <p:nvPr/>
        </p:nvCxnSpPr>
        <p:spPr>
          <a:xfrm rot="5400000" flipH="1" flipV="1">
            <a:off x="3544094" y="800894"/>
            <a:ext cx="685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9" name="Rounded Rectangular Callout 26">
            <a:extLst>
              <a:ext uri="{FF2B5EF4-FFF2-40B4-BE49-F238E27FC236}">
                <a16:creationId xmlns="" xmlns:a16="http://schemas.microsoft.com/office/drawing/2014/main" id="{16C11ED9-6ED1-44EF-9491-CB154D883B9A}"/>
              </a:ext>
            </a:extLst>
          </p:cNvPr>
          <p:cNvSpPr/>
          <p:nvPr/>
        </p:nvSpPr>
        <p:spPr>
          <a:xfrm>
            <a:off x="0" y="4572000"/>
            <a:ext cx="8305800" cy="2286000"/>
          </a:xfrm>
          <a:prstGeom prst="wedgeRoundRectCallout">
            <a:avLst>
              <a:gd name="adj1" fmla="val 42834"/>
              <a:gd name="adj2" fmla="val -84405"/>
              <a:gd name="adj3" fmla="val 16667"/>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eaLnBrk="1" hangingPunct="1">
              <a:buFont typeface="Symbol" pitchFamily="18" charset="2"/>
              <a:buAutoNum type="alphaLcParenR"/>
              <a:defRPr/>
            </a:pPr>
            <a:r>
              <a:rPr lang="en-US" sz="2200" dirty="0">
                <a:solidFill>
                  <a:prstClr val="black"/>
                </a:solidFill>
                <a:latin typeface="Arial" pitchFamily="34" charset="0"/>
                <a:cs typeface="Arial" pitchFamily="34" charset="0"/>
              </a:rPr>
              <a:t>Harmony at the level of selecting and tasting</a:t>
            </a:r>
          </a:p>
          <a:p>
            <a:pPr marL="457200" indent="-457200" eaLnBrk="1" hangingPunct="1">
              <a:buFont typeface="Symbol" pitchFamily="18" charset="2"/>
              <a:buNone/>
              <a:defRPr/>
            </a:pPr>
            <a:r>
              <a:rPr lang="en-US" sz="2200" dirty="0">
                <a:solidFill>
                  <a:prstClr val="black"/>
                </a:solidFill>
                <a:latin typeface="Arial" pitchFamily="34" charset="0"/>
                <a:cs typeface="Arial" pitchFamily="34" charset="0"/>
              </a:rPr>
              <a:t>	i.e. selecting is on the basis of goal and value guided sensation based tasting</a:t>
            </a:r>
          </a:p>
          <a:p>
            <a:pPr marL="457200" indent="-457200" eaLnBrk="1" hangingPunct="1">
              <a:buFont typeface="Symbol" pitchFamily="18" charset="2"/>
              <a:buAutoNum type="alphaLcParenR" startAt="2"/>
              <a:defRPr/>
            </a:pPr>
            <a:r>
              <a:rPr lang="en-US" sz="2200" dirty="0">
                <a:solidFill>
                  <a:prstClr val="black"/>
                </a:solidFill>
                <a:latin typeface="Arial" pitchFamily="34" charset="0"/>
                <a:cs typeface="Arial" pitchFamily="34" charset="0"/>
              </a:rPr>
              <a:t>Selecting and tasting is guided by comparing and </a:t>
            </a:r>
            <a:r>
              <a:rPr lang="en-US" sz="2200" dirty="0" err="1">
                <a:solidFill>
                  <a:prstClr val="black"/>
                </a:solidFill>
                <a:latin typeface="Arial" pitchFamily="34" charset="0"/>
                <a:cs typeface="Arial" pitchFamily="34" charset="0"/>
              </a:rPr>
              <a:t>analysing</a:t>
            </a:r>
            <a:endParaRPr lang="en-US" sz="2200" dirty="0">
              <a:solidFill>
                <a:prstClr val="black"/>
              </a:solidFill>
              <a:latin typeface="Arial" pitchFamily="34" charset="0"/>
              <a:cs typeface="Arial" pitchFamily="34" charset="0"/>
            </a:endParaRPr>
          </a:p>
        </p:txBody>
      </p:sp>
      <p:sp>
        <p:nvSpPr>
          <p:cNvPr id="60" name="Rounded Rectangular Callout 31">
            <a:extLst>
              <a:ext uri="{FF2B5EF4-FFF2-40B4-BE49-F238E27FC236}">
                <a16:creationId xmlns="" xmlns:a16="http://schemas.microsoft.com/office/drawing/2014/main" id="{E9CF080C-CEAB-4575-8EDD-0A3152DDF4E2}"/>
              </a:ext>
            </a:extLst>
          </p:cNvPr>
          <p:cNvSpPr/>
          <p:nvPr/>
        </p:nvSpPr>
        <p:spPr>
          <a:xfrm>
            <a:off x="0" y="4800600"/>
            <a:ext cx="8305800" cy="2057400"/>
          </a:xfrm>
          <a:prstGeom prst="wedgeRoundRectCallout">
            <a:avLst>
              <a:gd name="adj1" fmla="val 42420"/>
              <a:gd name="adj2" fmla="val -133079"/>
              <a:gd name="adj3" fmla="val 16667"/>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eaLnBrk="1" hangingPunct="1">
              <a:buFont typeface="Symbol" pitchFamily="18" charset="2"/>
              <a:buAutoNum type="alphaLcParenR"/>
              <a:defRPr/>
            </a:pPr>
            <a:r>
              <a:rPr lang="en-US" sz="2200" dirty="0">
                <a:solidFill>
                  <a:prstClr val="black"/>
                </a:solidFill>
                <a:latin typeface="Arial" pitchFamily="34" charset="0"/>
                <a:cs typeface="Arial" pitchFamily="34" charset="0"/>
              </a:rPr>
              <a:t>Harmony at the level of </a:t>
            </a:r>
            <a:r>
              <a:rPr lang="en-US" sz="2200" dirty="0" err="1">
                <a:solidFill>
                  <a:prstClr val="black"/>
                </a:solidFill>
                <a:latin typeface="Arial" pitchFamily="34" charset="0"/>
                <a:cs typeface="Arial" pitchFamily="34" charset="0"/>
              </a:rPr>
              <a:t>analysing</a:t>
            </a:r>
            <a:r>
              <a:rPr lang="en-US" sz="2200" dirty="0">
                <a:solidFill>
                  <a:prstClr val="black"/>
                </a:solidFill>
                <a:latin typeface="Arial" pitchFamily="34" charset="0"/>
                <a:cs typeface="Arial" pitchFamily="34" charset="0"/>
              </a:rPr>
              <a:t> and comparing</a:t>
            </a:r>
          </a:p>
          <a:p>
            <a:pPr marL="457200" indent="-457200" eaLnBrk="1" hangingPunct="1">
              <a:buFont typeface="Symbol" pitchFamily="18" charset="2"/>
              <a:buNone/>
              <a:defRPr/>
            </a:pPr>
            <a:r>
              <a:rPr lang="en-US" sz="2200" dirty="0">
                <a:solidFill>
                  <a:prstClr val="black"/>
                </a:solidFill>
                <a:latin typeface="Arial" pitchFamily="34" charset="0"/>
                <a:cs typeface="Arial" pitchFamily="34" charset="0"/>
              </a:rPr>
              <a:t>	i.e. </a:t>
            </a:r>
            <a:r>
              <a:rPr lang="en-US" sz="2200" dirty="0" err="1">
                <a:solidFill>
                  <a:prstClr val="black"/>
                </a:solidFill>
                <a:latin typeface="Arial" pitchFamily="34" charset="0"/>
                <a:cs typeface="Arial" pitchFamily="34" charset="0"/>
              </a:rPr>
              <a:t>analysing</a:t>
            </a:r>
            <a:r>
              <a:rPr lang="en-US" sz="2200" dirty="0">
                <a:solidFill>
                  <a:prstClr val="black"/>
                </a:solidFill>
                <a:latin typeface="Arial" pitchFamily="34" charset="0"/>
                <a:cs typeface="Arial" pitchFamily="34" charset="0"/>
              </a:rPr>
              <a:t> on the basis of co-existence, harmony, justice guided senses-health-profit based comparing</a:t>
            </a:r>
          </a:p>
          <a:p>
            <a:pPr marL="457200" indent="-457200" eaLnBrk="1" hangingPunct="1">
              <a:buFont typeface="Symbol" pitchFamily="18" charset="2"/>
              <a:buAutoNum type="alphaLcParenR" startAt="2"/>
              <a:defRPr/>
            </a:pPr>
            <a:r>
              <a:rPr lang="en-US" sz="2200" dirty="0" err="1">
                <a:solidFill>
                  <a:prstClr val="black"/>
                </a:solidFill>
                <a:latin typeface="Arial" pitchFamily="34" charset="0"/>
                <a:cs typeface="Arial" pitchFamily="34" charset="0"/>
              </a:rPr>
              <a:t>Analysing</a:t>
            </a:r>
            <a:r>
              <a:rPr lang="en-US" sz="2200" dirty="0">
                <a:solidFill>
                  <a:prstClr val="black"/>
                </a:solidFill>
                <a:latin typeface="Arial" pitchFamily="34" charset="0"/>
                <a:cs typeface="Arial" pitchFamily="34" charset="0"/>
              </a:rPr>
              <a:t> and comparing is guided by contemplation and desire</a:t>
            </a:r>
          </a:p>
        </p:txBody>
      </p:sp>
      <p:sp>
        <p:nvSpPr>
          <p:cNvPr id="61" name="Rounded Rectangular Callout 32">
            <a:extLst>
              <a:ext uri="{FF2B5EF4-FFF2-40B4-BE49-F238E27FC236}">
                <a16:creationId xmlns="" xmlns:a16="http://schemas.microsoft.com/office/drawing/2014/main" id="{537B674C-5D8A-4BB7-99CF-BB0710015809}"/>
              </a:ext>
            </a:extLst>
          </p:cNvPr>
          <p:cNvSpPr/>
          <p:nvPr/>
        </p:nvSpPr>
        <p:spPr>
          <a:xfrm>
            <a:off x="0" y="4191000"/>
            <a:ext cx="8305800" cy="2667000"/>
          </a:xfrm>
          <a:prstGeom prst="wedgeRoundRectCallout">
            <a:avLst>
              <a:gd name="adj1" fmla="val 42905"/>
              <a:gd name="adj2" fmla="val -115593"/>
              <a:gd name="adj3" fmla="val 16667"/>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eaLnBrk="1" hangingPunct="1">
              <a:buFont typeface="Symbol" pitchFamily="18" charset="2"/>
              <a:buAutoNum type="alphaLcParenR"/>
              <a:defRPr/>
            </a:pPr>
            <a:r>
              <a:rPr lang="en-US" sz="2200" dirty="0">
                <a:solidFill>
                  <a:prstClr val="black"/>
                </a:solidFill>
                <a:latin typeface="Arial" pitchFamily="34" charset="0"/>
                <a:cs typeface="Arial" pitchFamily="34" charset="0"/>
              </a:rPr>
              <a:t>Harmony at the level of desire and contemplation</a:t>
            </a:r>
          </a:p>
          <a:p>
            <a:pPr marL="457200" indent="-457200" eaLnBrk="1" hangingPunct="1">
              <a:defRPr/>
            </a:pPr>
            <a:r>
              <a:rPr lang="en-US" sz="2200" dirty="0">
                <a:solidFill>
                  <a:prstClr val="black"/>
                </a:solidFill>
                <a:latin typeface="Arial" pitchFamily="34" charset="0"/>
                <a:cs typeface="Arial" pitchFamily="34" charset="0"/>
              </a:rPr>
              <a:t>	i.e. desires are based on (guided by) contemplation of the participation of human being in entire nature. Desires are definite and it is clear that there is every provision in nature for their fulfillment</a:t>
            </a:r>
          </a:p>
          <a:p>
            <a:pPr marL="457200" indent="-457200" eaLnBrk="1" hangingPunct="1">
              <a:defRPr/>
            </a:pPr>
            <a:r>
              <a:rPr lang="en-US" sz="2200" dirty="0">
                <a:solidFill>
                  <a:prstClr val="black"/>
                </a:solidFill>
                <a:latin typeface="Arial" pitchFamily="34" charset="0"/>
                <a:cs typeface="Arial" pitchFamily="34" charset="0"/>
              </a:rPr>
              <a:t>b)	Desire and contemplation are guided by understanding and determination</a:t>
            </a:r>
          </a:p>
        </p:txBody>
      </p:sp>
      <p:sp>
        <p:nvSpPr>
          <p:cNvPr id="62" name="Rounded Rectangular Callout 33">
            <a:extLst>
              <a:ext uri="{FF2B5EF4-FFF2-40B4-BE49-F238E27FC236}">
                <a16:creationId xmlns="" xmlns:a16="http://schemas.microsoft.com/office/drawing/2014/main" id="{59D18CB6-9245-46FD-8CDB-9633BC902C9E}"/>
              </a:ext>
            </a:extLst>
          </p:cNvPr>
          <p:cNvSpPr/>
          <p:nvPr/>
        </p:nvSpPr>
        <p:spPr>
          <a:xfrm>
            <a:off x="0" y="4038600"/>
            <a:ext cx="8305800" cy="2819400"/>
          </a:xfrm>
          <a:prstGeom prst="wedgeRoundRectCallout">
            <a:avLst>
              <a:gd name="adj1" fmla="val 41438"/>
              <a:gd name="adj2" fmla="val -127106"/>
              <a:gd name="adj3" fmla="val 16667"/>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eaLnBrk="1" hangingPunct="1">
              <a:buFont typeface="Symbol" pitchFamily="18" charset="2"/>
              <a:buAutoNum type="alphaLcParenR"/>
              <a:defRPr/>
            </a:pPr>
            <a:r>
              <a:rPr lang="en-US" sz="2000" dirty="0">
                <a:solidFill>
                  <a:prstClr val="black"/>
                </a:solidFill>
                <a:latin typeface="Arial" pitchFamily="34" charset="0"/>
                <a:cs typeface="Arial" pitchFamily="34" charset="0"/>
              </a:rPr>
              <a:t>Harmony at the level of determination and understanding</a:t>
            </a:r>
          </a:p>
          <a:p>
            <a:pPr marL="457200" indent="-457200" eaLnBrk="1" hangingPunct="1">
              <a:buFont typeface="Symbol" pitchFamily="18" charset="2"/>
              <a:buNone/>
              <a:defRPr/>
            </a:pPr>
            <a:r>
              <a:rPr lang="en-US" sz="2000" dirty="0">
                <a:solidFill>
                  <a:prstClr val="black"/>
                </a:solidFill>
                <a:latin typeface="Arial" pitchFamily="34" charset="0"/>
                <a:cs typeface="Arial" pitchFamily="34" charset="0"/>
              </a:rPr>
              <a:t>	Understanding = clarity about the harmony in nature</a:t>
            </a:r>
          </a:p>
          <a:p>
            <a:pPr marL="457200" indent="-457200" eaLnBrk="1" hangingPunct="1">
              <a:buFont typeface="Symbol" pitchFamily="18" charset="2"/>
              <a:buNone/>
              <a:defRPr/>
            </a:pPr>
            <a:r>
              <a:rPr lang="en-US" sz="2000" dirty="0">
                <a:solidFill>
                  <a:prstClr val="black"/>
                </a:solidFill>
                <a:latin typeface="Arial" pitchFamily="34" charset="0"/>
                <a:cs typeface="Arial" pitchFamily="34" charset="0"/>
              </a:rPr>
              <a:t>	Determination = all my effort will now be for mutual enrichment</a:t>
            </a:r>
          </a:p>
          <a:p>
            <a:pPr marL="457200" indent="-457200" eaLnBrk="1" hangingPunct="1">
              <a:buFont typeface="Symbol" pitchFamily="18" charset="2"/>
              <a:buAutoNum type="alphaLcParenR"/>
              <a:defRPr/>
            </a:pPr>
            <a:r>
              <a:rPr lang="en-US" sz="2000" dirty="0">
                <a:solidFill>
                  <a:prstClr val="black"/>
                </a:solidFill>
                <a:latin typeface="Arial" pitchFamily="34" charset="0"/>
                <a:cs typeface="Arial" pitchFamily="34" charset="0"/>
              </a:rPr>
              <a:t>Understanding and determination is guided by </a:t>
            </a:r>
            <a:r>
              <a:rPr lang="en-US" sz="2000" dirty="0" err="1">
                <a:solidFill>
                  <a:prstClr val="black"/>
                </a:solidFill>
                <a:latin typeface="Arial" pitchFamily="34" charset="0"/>
                <a:cs typeface="Arial" pitchFamily="34" charset="0"/>
              </a:rPr>
              <a:t>realisation</a:t>
            </a:r>
            <a:r>
              <a:rPr lang="en-US" sz="2000" dirty="0">
                <a:solidFill>
                  <a:prstClr val="black"/>
                </a:solidFill>
                <a:latin typeface="Arial" pitchFamily="34" charset="0"/>
                <a:cs typeface="Arial" pitchFamily="34" charset="0"/>
              </a:rPr>
              <a:t> and authentication</a:t>
            </a:r>
          </a:p>
          <a:p>
            <a:pPr marL="457200" indent="-457200" eaLnBrk="1" hangingPunct="1">
              <a:buFont typeface="Symbol" pitchFamily="18" charset="2"/>
              <a:buNone/>
              <a:defRPr/>
            </a:pPr>
            <a:r>
              <a:rPr lang="en-US" sz="2000" dirty="0">
                <a:solidFill>
                  <a:prstClr val="black"/>
                </a:solidFill>
                <a:latin typeface="Arial" pitchFamily="34" charset="0"/>
                <a:cs typeface="Arial" pitchFamily="34" charset="0"/>
              </a:rPr>
              <a:t>	</a:t>
            </a:r>
            <a:r>
              <a:rPr lang="en-US" sz="2000" dirty="0" err="1">
                <a:solidFill>
                  <a:prstClr val="black"/>
                </a:solidFill>
                <a:latin typeface="Arial" pitchFamily="34" charset="0"/>
                <a:cs typeface="Arial" pitchFamily="34" charset="0"/>
              </a:rPr>
              <a:t>Realisation</a:t>
            </a:r>
            <a:r>
              <a:rPr lang="en-US" sz="2000" dirty="0">
                <a:solidFill>
                  <a:prstClr val="black"/>
                </a:solidFill>
                <a:latin typeface="Arial" pitchFamily="34" charset="0"/>
                <a:cs typeface="Arial" pitchFamily="34" charset="0"/>
              </a:rPr>
              <a:t> = clarity about co-existence (submergence of nature in space)</a:t>
            </a:r>
          </a:p>
          <a:p>
            <a:pPr marL="457200" indent="-457200" eaLnBrk="1" hangingPunct="1">
              <a:buFont typeface="Symbol" pitchFamily="18" charset="2"/>
              <a:buNone/>
              <a:defRPr/>
            </a:pPr>
            <a:r>
              <a:rPr lang="en-US" sz="2000" dirty="0">
                <a:solidFill>
                  <a:prstClr val="black"/>
                </a:solidFill>
                <a:latin typeface="Arial" pitchFamily="34" charset="0"/>
                <a:cs typeface="Arial" pitchFamily="34" charset="0"/>
              </a:rPr>
              <a:t>	Authentication = all my effort will now be for authenticating co-existence (submergence of nature in space)</a:t>
            </a:r>
          </a:p>
        </p:txBody>
      </p:sp>
    </p:spTree>
    <p:extLst>
      <p:ext uri="{BB962C8B-B14F-4D97-AF65-F5344CB8AC3E}">
        <p14:creationId xmlns="" xmlns:p14="http://schemas.microsoft.com/office/powerpoint/2010/main" val="360940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0" presetClass="exit" presetSubtype="0" fill="hold" grpId="1" nodeType="withEffect">
                                  <p:stCondLst>
                                    <p:cond delay="0"/>
                                  </p:stCondLst>
                                  <p:childTnLst>
                                    <p:animEffect transition="out" filter="fade">
                                      <p:cBhvr>
                                        <p:cTn id="12" dur="2000"/>
                                        <p:tgtEl>
                                          <p:spTgt spid="59"/>
                                        </p:tgtEl>
                                      </p:cBhvr>
                                    </p:animEffect>
                                    <p:set>
                                      <p:cBhvr>
                                        <p:cTn id="13" dur="1" fill="hold">
                                          <p:stCondLst>
                                            <p:cond delay="1999"/>
                                          </p:stCondLst>
                                        </p:cTn>
                                        <p:tgtEl>
                                          <p:spTgt spid="5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childTnLst>
                                </p:cTn>
                              </p:par>
                              <p:par>
                                <p:cTn id="18" presetID="10" presetClass="exit" presetSubtype="0" fill="hold" grpId="1" nodeType="withEffect">
                                  <p:stCondLst>
                                    <p:cond delay="0"/>
                                  </p:stCondLst>
                                  <p:childTnLst>
                                    <p:animEffect transition="out" filter="fade">
                                      <p:cBhvr>
                                        <p:cTn id="19" dur="2000"/>
                                        <p:tgtEl>
                                          <p:spTgt spid="60"/>
                                        </p:tgtEl>
                                      </p:cBhvr>
                                    </p:animEffect>
                                    <p:set>
                                      <p:cBhvr>
                                        <p:cTn id="20" dur="1" fill="hold">
                                          <p:stCondLst>
                                            <p:cond delay="1999"/>
                                          </p:stCondLst>
                                        </p:cTn>
                                        <p:tgtEl>
                                          <p:spTgt spid="6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0" presetClass="exit" presetSubtype="0" fill="hold" grpId="1" nodeType="withEffect">
                                  <p:stCondLst>
                                    <p:cond delay="0"/>
                                  </p:stCondLst>
                                  <p:childTnLst>
                                    <p:animEffect transition="out" filter="fade">
                                      <p:cBhvr>
                                        <p:cTn id="26" dur="2000"/>
                                        <p:tgtEl>
                                          <p:spTgt spid="61"/>
                                        </p:tgtEl>
                                      </p:cBhvr>
                                    </p:animEffect>
                                    <p:set>
                                      <p:cBhvr>
                                        <p:cTn id="27" dur="1" fill="hold">
                                          <p:stCondLst>
                                            <p:cond delay="1999"/>
                                          </p:stCondLst>
                                        </p:cTn>
                                        <p:tgtEl>
                                          <p:spTgt spid="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60" grpId="0" animBg="1"/>
      <p:bldP spid="60" grpId="1" animBg="1"/>
      <p:bldP spid="61" grpId="0" animBg="1"/>
      <p:bldP spid="61" grpId="1" animBg="1"/>
      <p:bldP spid="6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43E2E1-0EBE-4D96-9D89-4366795C24C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latin typeface="+mj-lt"/>
                <a:cs typeface="Arial" panose="020B0604020202020204" pitchFamily="34" charset="0"/>
              </a:rPr>
              <a:t>Fulfillment </a:t>
            </a:r>
            <a:r>
              <a:rPr lang="en-US" altLang="en-US" sz="3200" i="1" dirty="0">
                <a:latin typeface="+mj-lt"/>
                <a:cs typeface="Arial" panose="020B0604020202020204" pitchFamily="34" charset="0"/>
              </a:rPr>
              <a:t>(</a:t>
            </a:r>
            <a:r>
              <a:rPr lang="en-US" altLang="en-US" sz="3200" i="1" dirty="0" err="1">
                <a:latin typeface="+mj-lt"/>
                <a:cs typeface="Arial" panose="020B0604020202020204" pitchFamily="34" charset="0"/>
              </a:rPr>
              <a:t>tripti</a:t>
            </a:r>
            <a:r>
              <a:rPr lang="en-US" altLang="en-US" sz="3200" i="1" dirty="0">
                <a:latin typeface="+mj-lt"/>
                <a:cs typeface="Arial" panose="020B0604020202020204" pitchFamily="34" charset="0"/>
              </a:rPr>
              <a:t>)</a:t>
            </a:r>
            <a:r>
              <a:rPr lang="en-US" altLang="en-US" sz="3200" dirty="0">
                <a:latin typeface="+mj-lt"/>
                <a:cs typeface="Arial" panose="020B0604020202020204" pitchFamily="34" charset="0"/>
              </a:rPr>
              <a:t> of being Self-</a:t>
            </a:r>
            <a:r>
              <a:rPr lang="en-US" altLang="en-US" sz="3200" dirty="0" err="1">
                <a:latin typeface="+mj-lt"/>
                <a:cs typeface="Arial" panose="020B0604020202020204" pitchFamily="34" charset="0"/>
              </a:rPr>
              <a:t>organised</a:t>
            </a:r>
            <a:endParaRPr lang="en-US" sz="3200" u="sng" dirty="0">
              <a:latin typeface="+mj-lt"/>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82E29097-E7DD-41D2-833F-A826FAD86C24}"/>
              </a:ext>
            </a:extLst>
          </p:cNvPr>
          <p:cNvSpPr txBox="1">
            <a:spLocks/>
          </p:cNvSpPr>
          <p:nvPr/>
        </p:nvSpPr>
        <p:spPr>
          <a:xfrm>
            <a:off x="152400" y="1219200"/>
            <a:ext cx="91440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Symbol" pitchFamily="18" charset="2"/>
              <a:buNone/>
              <a:defRPr/>
            </a:pPr>
            <a:r>
              <a:rPr lang="en-US" sz="2000" u="sng" dirty="0"/>
              <a:t>Happiness</a:t>
            </a:r>
          </a:p>
          <a:p>
            <a:pPr marL="457200" indent="-457200" fontAlgn="auto">
              <a:spcAft>
                <a:spcPts val="0"/>
              </a:spcAft>
              <a:buFont typeface="Symbol" pitchFamily="18" charset="2"/>
              <a:buAutoNum type="alphaLcParenR"/>
              <a:defRPr/>
            </a:pPr>
            <a:r>
              <a:rPr lang="en-US" sz="2000" dirty="0"/>
              <a:t>Harmony at the level of selecting and tasting</a:t>
            </a:r>
          </a:p>
          <a:p>
            <a:pPr marL="457200" indent="-457200" fontAlgn="auto">
              <a:spcAft>
                <a:spcPts val="0"/>
              </a:spcAft>
              <a:buFont typeface="Symbol" pitchFamily="18" charset="2"/>
              <a:buNone/>
              <a:defRPr/>
            </a:pPr>
            <a:r>
              <a:rPr lang="en-US" sz="2000" dirty="0"/>
              <a:t>	i.e. selecting is on the basis of goal and value guided sensation based tasting</a:t>
            </a:r>
          </a:p>
          <a:p>
            <a:pPr marL="457200" indent="-457200" fontAlgn="auto">
              <a:spcAft>
                <a:spcPts val="0"/>
              </a:spcAft>
              <a:buFont typeface="Symbol" pitchFamily="18" charset="2"/>
              <a:buAutoNum type="alphaLcParenR" startAt="2"/>
              <a:defRPr/>
            </a:pPr>
            <a:r>
              <a:rPr lang="en-US" sz="2000" dirty="0"/>
              <a:t>Selecting and tasting is guided by comparing and </a:t>
            </a:r>
            <a:r>
              <a:rPr lang="en-US" sz="2000" dirty="0" err="1"/>
              <a:t>analysing</a:t>
            </a:r>
            <a:endParaRPr lang="en-US" sz="2000" dirty="0"/>
          </a:p>
          <a:p>
            <a:pPr marL="457200" indent="-457200" fontAlgn="auto">
              <a:spcAft>
                <a:spcPts val="0"/>
              </a:spcAft>
              <a:buFont typeface="Symbol" pitchFamily="18" charset="2"/>
              <a:buNone/>
              <a:defRPr/>
            </a:pPr>
            <a:endParaRPr lang="en-US" sz="2000" dirty="0"/>
          </a:p>
          <a:p>
            <a:pPr marL="457200" indent="-457200" fontAlgn="auto">
              <a:spcAft>
                <a:spcPts val="0"/>
              </a:spcAft>
              <a:buFont typeface="Symbol" pitchFamily="18" charset="2"/>
              <a:buNone/>
              <a:defRPr/>
            </a:pPr>
            <a:endParaRPr lang="en-US" sz="2000" dirty="0"/>
          </a:p>
          <a:p>
            <a:pPr marL="457200" indent="-457200" fontAlgn="auto">
              <a:spcAft>
                <a:spcPts val="0"/>
              </a:spcAft>
              <a:buFont typeface="Symbol" pitchFamily="18" charset="2"/>
              <a:buNone/>
              <a:defRPr/>
            </a:pPr>
            <a:r>
              <a:rPr lang="en-US" sz="2000" u="sng" dirty="0"/>
              <a:t>Peace</a:t>
            </a:r>
          </a:p>
          <a:p>
            <a:pPr marL="457200" indent="-457200" fontAlgn="auto">
              <a:spcAft>
                <a:spcPts val="0"/>
              </a:spcAft>
              <a:buFont typeface="Symbol" pitchFamily="18" charset="2"/>
              <a:buAutoNum type="alphaLcParenR"/>
              <a:defRPr/>
            </a:pPr>
            <a:r>
              <a:rPr lang="en-US" sz="2000" dirty="0"/>
              <a:t>Harmony at the level of </a:t>
            </a:r>
            <a:r>
              <a:rPr lang="en-US" sz="2000" dirty="0" err="1"/>
              <a:t>analysing</a:t>
            </a:r>
            <a:r>
              <a:rPr lang="en-US" sz="2000" dirty="0"/>
              <a:t> and comparing</a:t>
            </a:r>
          </a:p>
          <a:p>
            <a:pPr marL="457200" indent="-457200" fontAlgn="auto">
              <a:spcAft>
                <a:spcPts val="0"/>
              </a:spcAft>
              <a:buFont typeface="Symbol" pitchFamily="18" charset="2"/>
              <a:buNone/>
              <a:defRPr/>
            </a:pPr>
            <a:r>
              <a:rPr lang="en-US" sz="2000" dirty="0"/>
              <a:t>	i.e. </a:t>
            </a:r>
            <a:r>
              <a:rPr lang="en-US" sz="2000" dirty="0" err="1"/>
              <a:t>analysing</a:t>
            </a:r>
            <a:r>
              <a:rPr lang="en-US" sz="2000" dirty="0"/>
              <a:t> on the basis of co-existence, harmony, justice guided </a:t>
            </a:r>
            <a:r>
              <a:rPr lang="en-US" sz="2000" dirty="0" err="1"/>
              <a:t>priya</a:t>
            </a:r>
            <a:r>
              <a:rPr lang="en-US" sz="2000" dirty="0"/>
              <a:t>-hit-</a:t>
            </a:r>
            <a:r>
              <a:rPr lang="en-US" sz="2000" dirty="0" err="1"/>
              <a:t>laabh</a:t>
            </a:r>
            <a:r>
              <a:rPr lang="en-US" sz="2000" dirty="0"/>
              <a:t> based comparing</a:t>
            </a:r>
          </a:p>
          <a:p>
            <a:pPr marL="457200" indent="-457200" fontAlgn="auto">
              <a:spcAft>
                <a:spcPts val="0"/>
              </a:spcAft>
              <a:buFont typeface="Symbol" pitchFamily="18" charset="2"/>
              <a:buAutoNum type="alphaLcParenR" startAt="2"/>
              <a:defRPr/>
            </a:pPr>
            <a:r>
              <a:rPr lang="en-US" sz="2000" dirty="0" err="1"/>
              <a:t>Analysing</a:t>
            </a:r>
            <a:r>
              <a:rPr lang="en-US" sz="2000" dirty="0"/>
              <a:t> and comparing is guided by contemplation and desire</a:t>
            </a:r>
          </a:p>
          <a:p>
            <a:pPr marL="457200" indent="-457200" fontAlgn="auto">
              <a:spcAft>
                <a:spcPts val="0"/>
              </a:spcAft>
              <a:buFont typeface="Symbol" pitchFamily="18" charset="2"/>
              <a:buNone/>
              <a:defRPr/>
            </a:pPr>
            <a:endParaRPr lang="en-US" sz="2000" dirty="0"/>
          </a:p>
        </p:txBody>
      </p:sp>
    </p:spTree>
    <p:extLst>
      <p:ext uri="{BB962C8B-B14F-4D97-AF65-F5344CB8AC3E}">
        <p14:creationId xmlns="" xmlns:p14="http://schemas.microsoft.com/office/powerpoint/2010/main" val="2224479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4DABBF5-B6DF-4C3A-8527-18CEC0218AA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latin typeface="+mj-lt"/>
                <a:cs typeface="Arial" panose="020B0604020202020204" pitchFamily="34" charset="0"/>
              </a:rPr>
              <a:t>Fulfillment </a:t>
            </a:r>
            <a:r>
              <a:rPr lang="en-US" altLang="en-US" sz="3200" i="1" dirty="0">
                <a:latin typeface="+mj-lt"/>
                <a:cs typeface="Arial" panose="020B0604020202020204" pitchFamily="34" charset="0"/>
              </a:rPr>
              <a:t>(</a:t>
            </a:r>
            <a:r>
              <a:rPr lang="en-US" altLang="en-US" sz="3200" i="1" dirty="0" err="1">
                <a:latin typeface="+mj-lt"/>
                <a:cs typeface="Arial" panose="020B0604020202020204" pitchFamily="34" charset="0"/>
              </a:rPr>
              <a:t>tripti</a:t>
            </a:r>
            <a:r>
              <a:rPr lang="en-US" altLang="en-US" sz="3200" i="1" dirty="0">
                <a:latin typeface="+mj-lt"/>
                <a:cs typeface="Arial" panose="020B0604020202020204" pitchFamily="34" charset="0"/>
              </a:rPr>
              <a:t>)</a:t>
            </a:r>
            <a:r>
              <a:rPr lang="en-US" altLang="en-US" sz="3200" dirty="0">
                <a:latin typeface="+mj-lt"/>
                <a:cs typeface="Arial" panose="020B0604020202020204" pitchFamily="34" charset="0"/>
              </a:rPr>
              <a:t> of being Self-</a:t>
            </a:r>
            <a:r>
              <a:rPr lang="en-US" altLang="en-US" sz="3200" dirty="0" err="1">
                <a:latin typeface="+mj-lt"/>
                <a:cs typeface="Arial" panose="020B0604020202020204" pitchFamily="34" charset="0"/>
              </a:rPr>
              <a:t>organised</a:t>
            </a:r>
            <a:endParaRPr lang="en-US" sz="3200" u="sng" dirty="0">
              <a:latin typeface="+mj-lt"/>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80B069CA-B4FB-4188-BF8B-FB69DA12C2A2}"/>
              </a:ext>
            </a:extLst>
          </p:cNvPr>
          <p:cNvSpPr txBox="1">
            <a:spLocks/>
          </p:cNvSpPr>
          <p:nvPr/>
        </p:nvSpPr>
        <p:spPr>
          <a:xfrm>
            <a:off x="152400" y="914400"/>
            <a:ext cx="9144000" cy="5943600"/>
          </a:xfrm>
          <a:prstGeom prst="rect">
            <a:avLst/>
          </a:prstGeom>
        </p:spPr>
        <p:txBody>
          <a:bodyPr>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Symbol" pitchFamily="18" charset="2"/>
              <a:buNone/>
              <a:defRPr/>
            </a:pPr>
            <a:r>
              <a:rPr lang="en-US" u="sng" dirty="0"/>
              <a:t>Satisfaction</a:t>
            </a:r>
          </a:p>
          <a:p>
            <a:pPr marL="457200" indent="-457200" fontAlgn="auto">
              <a:spcAft>
                <a:spcPts val="0"/>
              </a:spcAft>
              <a:buFont typeface="Symbol" pitchFamily="18" charset="2"/>
              <a:buAutoNum type="alphaLcParenR"/>
              <a:defRPr/>
            </a:pPr>
            <a:r>
              <a:rPr lang="en-US" dirty="0"/>
              <a:t>Harmony at the level of desire and contemplation</a:t>
            </a:r>
          </a:p>
          <a:p>
            <a:pPr marL="457200" indent="-457200" fontAlgn="auto">
              <a:spcAft>
                <a:spcPts val="0"/>
              </a:spcAft>
              <a:buFont typeface="Symbol" pitchFamily="18" charset="2"/>
              <a:buNone/>
              <a:defRPr/>
            </a:pPr>
            <a:r>
              <a:rPr lang="en-US" dirty="0"/>
              <a:t>	i.e. desires are based on (guided by) contemplation of the participation of human being in entire nature. Desires are definite and it is clear that there is every provision in nature for their fulfillment</a:t>
            </a:r>
          </a:p>
          <a:p>
            <a:pPr marL="457200" indent="-457200" fontAlgn="auto">
              <a:spcAft>
                <a:spcPts val="0"/>
              </a:spcAft>
              <a:buFont typeface="Symbol" pitchFamily="18" charset="2"/>
              <a:buNone/>
              <a:defRPr/>
            </a:pPr>
            <a:r>
              <a:rPr lang="en-US" dirty="0"/>
              <a:t>b)	Desire and contemplation are guided by understanding and determination</a:t>
            </a:r>
          </a:p>
          <a:p>
            <a:pPr fontAlgn="auto">
              <a:spcAft>
                <a:spcPts val="0"/>
              </a:spcAft>
              <a:buFont typeface="Symbol" pitchFamily="18" charset="2"/>
              <a:buNone/>
              <a:defRPr/>
            </a:pPr>
            <a:endParaRPr lang="en-US" dirty="0"/>
          </a:p>
          <a:p>
            <a:pPr fontAlgn="auto">
              <a:spcAft>
                <a:spcPts val="0"/>
              </a:spcAft>
              <a:buFont typeface="Symbol" pitchFamily="18" charset="2"/>
              <a:buNone/>
              <a:defRPr/>
            </a:pPr>
            <a:endParaRPr lang="en-US" dirty="0"/>
          </a:p>
          <a:p>
            <a:pPr fontAlgn="auto">
              <a:spcAft>
                <a:spcPts val="0"/>
              </a:spcAft>
              <a:buFont typeface="Symbol" pitchFamily="18" charset="2"/>
              <a:buNone/>
              <a:defRPr/>
            </a:pPr>
            <a:r>
              <a:rPr lang="en-US" u="sng" dirty="0"/>
              <a:t>Bliss</a:t>
            </a:r>
          </a:p>
          <a:p>
            <a:pPr marL="457200" indent="-457200" fontAlgn="auto">
              <a:spcAft>
                <a:spcPts val="0"/>
              </a:spcAft>
              <a:buFont typeface="Symbol" pitchFamily="18" charset="2"/>
              <a:buAutoNum type="alphaLcParenR"/>
              <a:defRPr/>
            </a:pPr>
            <a:r>
              <a:rPr lang="en-US" dirty="0"/>
              <a:t>Harmony at the level of determination and understanding</a:t>
            </a:r>
          </a:p>
          <a:p>
            <a:pPr marL="457200" indent="-457200" fontAlgn="auto">
              <a:spcAft>
                <a:spcPts val="0"/>
              </a:spcAft>
              <a:buFont typeface="Symbol" pitchFamily="18" charset="2"/>
              <a:buNone/>
              <a:defRPr/>
            </a:pPr>
            <a:r>
              <a:rPr lang="en-US" dirty="0"/>
              <a:t>	Understanding = clarity about the harmony in nature</a:t>
            </a:r>
          </a:p>
          <a:p>
            <a:pPr marL="457200" indent="-457200" fontAlgn="auto">
              <a:spcAft>
                <a:spcPts val="0"/>
              </a:spcAft>
              <a:buFont typeface="Symbol" pitchFamily="18" charset="2"/>
              <a:buNone/>
              <a:defRPr/>
            </a:pPr>
            <a:r>
              <a:rPr lang="en-US" dirty="0"/>
              <a:t>	Determination = all my effort will now be for mutual enrichment</a:t>
            </a:r>
          </a:p>
          <a:p>
            <a:pPr marL="457200" indent="-457200" fontAlgn="auto">
              <a:spcAft>
                <a:spcPts val="0"/>
              </a:spcAft>
              <a:buFont typeface="Symbol" pitchFamily="18" charset="2"/>
              <a:buAutoNum type="alphaLcParenR"/>
              <a:defRPr/>
            </a:pPr>
            <a:r>
              <a:rPr lang="en-US" dirty="0"/>
              <a:t>Understanding and determination is guided by </a:t>
            </a:r>
            <a:r>
              <a:rPr lang="en-US" dirty="0" err="1"/>
              <a:t>realisation</a:t>
            </a:r>
            <a:r>
              <a:rPr lang="en-US" dirty="0"/>
              <a:t> and authentication</a:t>
            </a:r>
          </a:p>
          <a:p>
            <a:pPr marL="457200" indent="-457200" fontAlgn="auto">
              <a:spcAft>
                <a:spcPts val="0"/>
              </a:spcAft>
              <a:buFont typeface="Symbol" pitchFamily="18" charset="2"/>
              <a:buNone/>
              <a:defRPr/>
            </a:pPr>
            <a:r>
              <a:rPr lang="en-US" dirty="0"/>
              <a:t>	</a:t>
            </a:r>
            <a:r>
              <a:rPr lang="en-US" dirty="0" err="1"/>
              <a:t>Realisation</a:t>
            </a:r>
            <a:r>
              <a:rPr lang="en-US" dirty="0"/>
              <a:t> = clarity about co-existence (submergence of nature in space)</a:t>
            </a:r>
          </a:p>
          <a:p>
            <a:pPr marL="457200" indent="-457200" fontAlgn="auto">
              <a:spcAft>
                <a:spcPts val="0"/>
              </a:spcAft>
              <a:buFont typeface="Symbol" pitchFamily="18" charset="2"/>
              <a:buNone/>
              <a:defRPr/>
            </a:pPr>
            <a:r>
              <a:rPr lang="en-US" dirty="0"/>
              <a:t>	Authentication = all my effort will now be for authenticating co-existence (submergence of nature in space)</a:t>
            </a:r>
          </a:p>
          <a:p>
            <a:pPr marL="457200" indent="-457200" fontAlgn="auto">
              <a:spcAft>
                <a:spcPts val="0"/>
              </a:spcAft>
              <a:buFont typeface="Symbol" pitchFamily="18" charset="2"/>
              <a:buAutoNum type="alphaLcParenR"/>
              <a:defRPr/>
            </a:pPr>
            <a:endParaRPr lang="en-US" dirty="0"/>
          </a:p>
        </p:txBody>
      </p:sp>
    </p:spTree>
    <p:extLst>
      <p:ext uri="{BB962C8B-B14F-4D97-AF65-F5344CB8AC3E}">
        <p14:creationId xmlns="" xmlns:p14="http://schemas.microsoft.com/office/powerpoint/2010/main" val="3203083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6502B0-343F-4A6F-A7E6-24DCF3F4353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cs typeface="Arial" panose="020B0604020202020204" pitchFamily="34" charset="0"/>
              </a:rPr>
              <a:t>Participation in the Universal Order as a Human Being</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CEA0F853-194C-4C04-BC16-82F1229269CF}"/>
              </a:ext>
            </a:extLst>
          </p:cNvPr>
          <p:cNvSpPr txBox="1">
            <a:spLocks/>
          </p:cNvSpPr>
          <p:nvPr/>
        </p:nvSpPr>
        <p:spPr>
          <a:xfrm>
            <a:off x="-740" y="817163"/>
            <a:ext cx="9144000" cy="5943600"/>
          </a:xfrm>
          <a:prstGeom prst="rect">
            <a:avLst/>
          </a:prstGeom>
        </p:spPr>
        <p:txBody>
          <a:bodyPr>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Bef>
                <a:spcPts val="24"/>
              </a:spcBef>
              <a:spcAft>
                <a:spcPts val="0"/>
              </a:spcAft>
              <a:buFont typeface="Symbol" pitchFamily="18" charset="2"/>
              <a:buNone/>
              <a:defRPr/>
            </a:pPr>
            <a:r>
              <a:rPr lang="en-US" dirty="0">
                <a:latin typeface="+mj-lt"/>
              </a:rPr>
              <a:t>= Natural Characteristic of Human Being with Human Consciousness</a:t>
            </a:r>
            <a:endParaRPr lang="en-US" dirty="0">
              <a:solidFill>
                <a:srgbClr val="1E00AA"/>
              </a:solidFill>
              <a:latin typeface="+mj-lt"/>
            </a:endParaRPr>
          </a:p>
          <a:p>
            <a:pPr fontAlgn="auto">
              <a:spcBef>
                <a:spcPts val="24"/>
              </a:spcBef>
              <a:spcAft>
                <a:spcPts val="0"/>
              </a:spcAft>
              <a:buFont typeface="Symbol" pitchFamily="18" charset="2"/>
              <a:buNone/>
              <a:defRPr/>
            </a:pPr>
            <a:endParaRPr lang="en-US" dirty="0">
              <a:solidFill>
                <a:srgbClr val="1E00AA"/>
              </a:solidFill>
              <a:latin typeface="+mj-lt"/>
            </a:endParaRPr>
          </a:p>
          <a:p>
            <a:pPr fontAlgn="auto">
              <a:spcBef>
                <a:spcPts val="24"/>
              </a:spcBef>
              <a:spcAft>
                <a:spcPts val="0"/>
              </a:spcAft>
              <a:buFont typeface="Symbol" pitchFamily="18" charset="2"/>
              <a:buNone/>
              <a:defRPr/>
            </a:pPr>
            <a:r>
              <a:rPr lang="en-US" dirty="0" err="1">
                <a:solidFill>
                  <a:srgbClr val="1E00AA"/>
                </a:solidFill>
                <a:latin typeface="+mj-lt"/>
              </a:rPr>
              <a:t>Perseverence</a:t>
            </a:r>
            <a:r>
              <a:rPr lang="en-US" dirty="0">
                <a:solidFill>
                  <a:srgbClr val="1E00AA"/>
                </a:solidFill>
                <a:latin typeface="+mj-lt"/>
              </a:rPr>
              <a:t>	Commitment for living in harmony at all 4 levels with</a:t>
            </a:r>
          </a:p>
          <a:p>
            <a:pPr fontAlgn="auto">
              <a:spcBef>
                <a:spcPts val="24"/>
              </a:spcBef>
              <a:spcAft>
                <a:spcPts val="0"/>
              </a:spcAft>
              <a:buFont typeface="Symbol" pitchFamily="18" charset="2"/>
              <a:buNone/>
              <a:defRPr/>
            </a:pPr>
            <a:r>
              <a:rPr lang="en-US" sz="2600" dirty="0">
                <a:solidFill>
                  <a:srgbClr val="1E00AA"/>
                </a:solidFill>
                <a:latin typeface="+mj-lt"/>
                <a:ea typeface="Times New Roman"/>
                <a:cs typeface="Arial"/>
              </a:rPr>
              <a:t> </a:t>
            </a:r>
            <a:r>
              <a:rPr lang="en-US" sz="2600" dirty="0">
                <a:solidFill>
                  <a:srgbClr val="002060"/>
                </a:solidFill>
                <a:latin typeface="+mj-lt"/>
                <a:ea typeface="Times New Roman"/>
                <a:cs typeface="Arial"/>
              </a:rPr>
              <a:t>     </a:t>
            </a:r>
            <a:r>
              <a:rPr lang="en-US" sz="2400" dirty="0">
                <a:solidFill>
                  <a:srgbClr val="002060"/>
                </a:solidFill>
                <a:latin typeface="+mj-lt"/>
                <a:ea typeface="Times New Roman"/>
                <a:cs typeface="Arial"/>
              </a:rPr>
              <a:t> </a:t>
            </a:r>
            <a:r>
              <a:rPr lang="en-US" dirty="0">
                <a:solidFill>
                  <a:srgbClr val="1E00AA"/>
                </a:solidFill>
                <a:latin typeface="+mj-lt"/>
              </a:rPr>
              <a:t>		patience</a:t>
            </a:r>
          </a:p>
          <a:p>
            <a:pPr fontAlgn="auto">
              <a:spcBef>
                <a:spcPts val="24"/>
              </a:spcBef>
              <a:spcAft>
                <a:spcPts val="0"/>
              </a:spcAft>
              <a:buFont typeface="Symbol" pitchFamily="18" charset="2"/>
              <a:buNone/>
              <a:defRPr/>
            </a:pPr>
            <a:endParaRPr lang="en-US" dirty="0">
              <a:latin typeface="+mj-lt"/>
            </a:endParaRPr>
          </a:p>
          <a:p>
            <a:pPr fontAlgn="auto">
              <a:spcBef>
                <a:spcPts val="24"/>
              </a:spcBef>
              <a:spcAft>
                <a:spcPts val="0"/>
              </a:spcAft>
              <a:buFont typeface="Symbol" pitchFamily="18" charset="2"/>
              <a:buNone/>
              <a:defRPr/>
            </a:pPr>
            <a:r>
              <a:rPr lang="en-US" dirty="0" err="1">
                <a:latin typeface="+mj-lt"/>
              </a:rPr>
              <a:t>Bravity</a:t>
            </a:r>
            <a:r>
              <a:rPr lang="en-US" dirty="0">
                <a:latin typeface="+mj-lt"/>
              </a:rPr>
              <a:t>		Commitment for helping the other to understand harmony</a:t>
            </a:r>
          </a:p>
          <a:p>
            <a:pPr fontAlgn="auto">
              <a:spcBef>
                <a:spcPts val="24"/>
              </a:spcBef>
              <a:spcAft>
                <a:spcPts val="0"/>
              </a:spcAft>
              <a:buFont typeface="Symbol" pitchFamily="18" charset="2"/>
              <a:buNone/>
              <a:defRPr/>
            </a:pPr>
            <a:r>
              <a:rPr lang="en-US" sz="2600" dirty="0">
                <a:latin typeface="+mj-lt"/>
                <a:ea typeface="Times New Roman"/>
                <a:cs typeface="Arial"/>
              </a:rPr>
              <a:t>      </a:t>
            </a:r>
            <a:r>
              <a:rPr lang="en-US" dirty="0">
                <a:latin typeface="+mj-lt"/>
              </a:rPr>
              <a:t>			&amp; to live in harmony at all 4 levels</a:t>
            </a:r>
          </a:p>
          <a:p>
            <a:pPr fontAlgn="auto">
              <a:spcBef>
                <a:spcPts val="24"/>
              </a:spcBef>
              <a:spcAft>
                <a:spcPts val="0"/>
              </a:spcAft>
              <a:buFont typeface="Symbol" pitchFamily="18" charset="2"/>
              <a:buNone/>
              <a:defRPr/>
            </a:pPr>
            <a:endParaRPr lang="en-US" dirty="0">
              <a:solidFill>
                <a:srgbClr val="1E00AA"/>
              </a:solidFill>
              <a:latin typeface="+mj-lt"/>
            </a:endParaRPr>
          </a:p>
          <a:p>
            <a:pPr fontAlgn="auto">
              <a:spcBef>
                <a:spcPts val="24"/>
              </a:spcBef>
              <a:spcAft>
                <a:spcPts val="0"/>
              </a:spcAft>
              <a:buFont typeface="Symbol" pitchFamily="18" charset="2"/>
              <a:buNone/>
              <a:defRPr/>
            </a:pPr>
            <a:r>
              <a:rPr lang="en-US" dirty="0">
                <a:solidFill>
                  <a:srgbClr val="1E00AA"/>
                </a:solidFill>
                <a:latin typeface="+mj-lt"/>
              </a:rPr>
              <a:t>Generosity	The commitment to invest one's Self, Body &amp;</a:t>
            </a:r>
          </a:p>
          <a:p>
            <a:pPr fontAlgn="auto">
              <a:spcBef>
                <a:spcPts val="24"/>
              </a:spcBef>
              <a:spcAft>
                <a:spcPts val="0"/>
              </a:spcAft>
              <a:buFont typeface="Symbol" pitchFamily="18" charset="2"/>
              <a:buNone/>
              <a:defRPr/>
            </a:pPr>
            <a:r>
              <a:rPr lang="en-US" sz="2600" dirty="0">
                <a:solidFill>
                  <a:srgbClr val="1E00AA"/>
                </a:solidFill>
                <a:latin typeface="+mj-lt"/>
                <a:ea typeface="Times New Roman"/>
                <a:cs typeface="Arial"/>
              </a:rPr>
              <a:t> </a:t>
            </a:r>
            <a:r>
              <a:rPr lang="en-US" sz="2600" dirty="0">
                <a:solidFill>
                  <a:srgbClr val="002060"/>
                </a:solidFill>
                <a:latin typeface="+mj-lt"/>
                <a:ea typeface="Times New Roman"/>
                <a:cs typeface="Arial"/>
              </a:rPr>
              <a:t>             </a:t>
            </a:r>
            <a:r>
              <a:rPr lang="en-US" dirty="0">
                <a:solidFill>
                  <a:srgbClr val="1E00AA"/>
                </a:solidFill>
                <a:latin typeface="+mj-lt"/>
              </a:rPr>
              <a:t>		physical facility for understanding &amp; living in harmony</a:t>
            </a:r>
          </a:p>
          <a:p>
            <a:pPr fontAlgn="auto">
              <a:spcBef>
                <a:spcPts val="24"/>
              </a:spcBef>
              <a:spcAft>
                <a:spcPts val="0"/>
              </a:spcAft>
              <a:buFont typeface="Symbol" pitchFamily="18" charset="2"/>
              <a:buNone/>
              <a:defRPr/>
            </a:pPr>
            <a:r>
              <a:rPr lang="en-US" dirty="0">
                <a:solidFill>
                  <a:srgbClr val="1E00AA"/>
                </a:solidFill>
                <a:latin typeface="+mj-lt"/>
              </a:rPr>
              <a:t>			at all 4 levels</a:t>
            </a:r>
          </a:p>
          <a:p>
            <a:pPr fontAlgn="auto">
              <a:spcBef>
                <a:spcPts val="24"/>
              </a:spcBef>
              <a:spcAft>
                <a:spcPts val="0"/>
              </a:spcAft>
              <a:buFont typeface="Symbol" pitchFamily="18" charset="2"/>
              <a:buNone/>
              <a:defRPr/>
            </a:pPr>
            <a:endParaRPr lang="en-US" dirty="0">
              <a:solidFill>
                <a:srgbClr val="0000FF"/>
              </a:solidFill>
              <a:latin typeface="+mj-lt"/>
            </a:endParaRPr>
          </a:p>
          <a:p>
            <a:pPr fontAlgn="auto">
              <a:spcBef>
                <a:spcPts val="24"/>
              </a:spcBef>
              <a:spcAft>
                <a:spcPts val="0"/>
              </a:spcAft>
              <a:buFont typeface="Symbol" pitchFamily="18" charset="2"/>
              <a:buNone/>
              <a:defRPr/>
            </a:pPr>
            <a:r>
              <a:rPr lang="en-US" dirty="0">
                <a:solidFill>
                  <a:srgbClr val="0000FF"/>
                </a:solidFill>
                <a:latin typeface="+mj-lt"/>
                <a:cs typeface="Arial" charset="0"/>
              </a:rPr>
              <a:t>Kindness	Providing means to one who has the ability but not feel</a:t>
            </a:r>
            <a:r>
              <a:rPr lang="en-US" sz="2400" dirty="0">
                <a:solidFill>
                  <a:srgbClr val="0000FF"/>
                </a:solidFill>
                <a:latin typeface="+mj-lt"/>
                <a:cs typeface="Arial" charset="0"/>
                <a:sym typeface="Symbol" pitchFamily="18" charset="2"/>
              </a:rPr>
              <a:t> </a:t>
            </a:r>
            <a:r>
              <a:rPr lang="en-US" dirty="0">
                <a:solidFill>
                  <a:srgbClr val="0000FF"/>
                </a:solidFill>
                <a:latin typeface="+mj-lt"/>
                <a:cs typeface="Arial" charset="0"/>
              </a:rPr>
              <a:t>			the need</a:t>
            </a:r>
          </a:p>
          <a:p>
            <a:pPr fontAlgn="auto">
              <a:spcBef>
                <a:spcPts val="24"/>
              </a:spcBef>
              <a:spcAft>
                <a:spcPts val="0"/>
              </a:spcAft>
              <a:buFont typeface="Symbol" pitchFamily="18" charset="2"/>
              <a:buNone/>
              <a:defRPr/>
            </a:pPr>
            <a:endParaRPr lang="en-US" dirty="0">
              <a:solidFill>
                <a:srgbClr val="0000FF"/>
              </a:solidFill>
              <a:latin typeface="+mj-lt"/>
              <a:cs typeface="Arial" charset="0"/>
            </a:endParaRPr>
          </a:p>
          <a:p>
            <a:pPr fontAlgn="auto">
              <a:spcBef>
                <a:spcPts val="24"/>
              </a:spcBef>
              <a:spcAft>
                <a:spcPts val="0"/>
              </a:spcAft>
              <a:buFont typeface="Symbol" pitchFamily="18" charset="2"/>
              <a:buNone/>
              <a:defRPr/>
            </a:pPr>
            <a:r>
              <a:rPr lang="en-US" dirty="0" err="1">
                <a:solidFill>
                  <a:srgbClr val="0000FF"/>
                </a:solidFill>
                <a:latin typeface="+mj-lt"/>
                <a:cs typeface="Arial" charset="0"/>
              </a:rPr>
              <a:t>Beneficience</a:t>
            </a:r>
            <a:r>
              <a:rPr lang="en-US" dirty="0">
                <a:solidFill>
                  <a:srgbClr val="0000FF"/>
                </a:solidFill>
                <a:latin typeface="+mj-lt"/>
                <a:cs typeface="Arial" charset="0"/>
              </a:rPr>
              <a:t>	Helping the other to develop the competence to</a:t>
            </a:r>
            <a:endParaRPr lang="en-US" sz="2400" dirty="0">
              <a:solidFill>
                <a:srgbClr val="0000FF"/>
              </a:solidFill>
              <a:latin typeface="+mj-lt"/>
              <a:cs typeface="Arial" charset="0"/>
            </a:endParaRPr>
          </a:p>
          <a:p>
            <a:pPr fontAlgn="auto">
              <a:spcBef>
                <a:spcPts val="24"/>
              </a:spcBef>
              <a:spcAft>
                <a:spcPts val="0"/>
              </a:spcAft>
              <a:buFont typeface="Symbol" pitchFamily="18" charset="2"/>
              <a:buNone/>
              <a:defRPr/>
            </a:pPr>
            <a:r>
              <a:rPr lang="en-US" sz="2400" dirty="0">
                <a:solidFill>
                  <a:srgbClr val="0000FF"/>
                </a:solidFill>
                <a:latin typeface="+mj-lt"/>
                <a:cs typeface="Arial" charset="0"/>
              </a:rPr>
              <a:t>			</a:t>
            </a:r>
            <a:r>
              <a:rPr lang="en-US" dirty="0" err="1">
                <a:solidFill>
                  <a:srgbClr val="0000FF"/>
                </a:solidFill>
                <a:latin typeface="+mj-lt"/>
                <a:cs typeface="Arial" charset="0"/>
              </a:rPr>
              <a:t>utilise</a:t>
            </a:r>
            <a:r>
              <a:rPr lang="en-US" dirty="0">
                <a:solidFill>
                  <a:srgbClr val="0000FF"/>
                </a:solidFill>
                <a:latin typeface="+mj-lt"/>
                <a:cs typeface="Arial" charset="0"/>
              </a:rPr>
              <a:t> the means they already have</a:t>
            </a:r>
          </a:p>
          <a:p>
            <a:pPr fontAlgn="auto">
              <a:spcBef>
                <a:spcPts val="24"/>
              </a:spcBef>
              <a:spcAft>
                <a:spcPts val="0"/>
              </a:spcAft>
              <a:buFont typeface="Symbol" pitchFamily="18" charset="2"/>
              <a:buNone/>
              <a:defRPr/>
            </a:pPr>
            <a:endParaRPr lang="en-US" dirty="0">
              <a:solidFill>
                <a:srgbClr val="0000FF"/>
              </a:solidFill>
              <a:latin typeface="+mj-lt"/>
              <a:cs typeface="Arial" charset="0"/>
            </a:endParaRPr>
          </a:p>
          <a:p>
            <a:pPr fontAlgn="auto">
              <a:spcBef>
                <a:spcPts val="24"/>
              </a:spcBef>
              <a:spcAft>
                <a:spcPts val="0"/>
              </a:spcAft>
              <a:buFont typeface="Symbol" pitchFamily="18" charset="2"/>
              <a:buNone/>
              <a:defRPr/>
            </a:pPr>
            <a:r>
              <a:rPr lang="en-US" dirty="0">
                <a:solidFill>
                  <a:srgbClr val="0000FF"/>
                </a:solidFill>
                <a:latin typeface="+mj-lt"/>
                <a:cs typeface="Arial" charset="0"/>
              </a:rPr>
              <a:t>Compassion	Helping the other unconditionally</a:t>
            </a:r>
          </a:p>
          <a:p>
            <a:pPr fontAlgn="auto">
              <a:spcBef>
                <a:spcPts val="24"/>
              </a:spcBef>
              <a:spcAft>
                <a:spcPts val="0"/>
              </a:spcAft>
              <a:buFont typeface="Symbol" pitchFamily="18" charset="2"/>
              <a:buNone/>
              <a:defRPr/>
            </a:pPr>
            <a:r>
              <a:rPr lang="en-US" sz="2400" dirty="0">
                <a:solidFill>
                  <a:srgbClr val="0000FF"/>
                </a:solidFill>
                <a:latin typeface="+mj-lt"/>
                <a:cs typeface="Arial" charset="0"/>
                <a:sym typeface="Symbol" pitchFamily="18" charset="2"/>
              </a:rPr>
              <a:t>	</a:t>
            </a:r>
            <a:endParaRPr lang="en-US" dirty="0">
              <a:solidFill>
                <a:srgbClr val="0000FF"/>
              </a:solidFill>
              <a:latin typeface="+mj-lt"/>
            </a:endParaRPr>
          </a:p>
        </p:txBody>
      </p:sp>
    </p:spTree>
    <p:extLst>
      <p:ext uri="{BB962C8B-B14F-4D97-AF65-F5344CB8AC3E}">
        <p14:creationId xmlns="" xmlns:p14="http://schemas.microsoft.com/office/powerpoint/2010/main" val="2667616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FBF9151-C9EF-4E3D-AF4A-9071D8EB144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cs typeface="Arial" panose="020B0604020202020204" pitchFamily="34" charset="0"/>
              </a:rPr>
              <a:t>Participation in the Universal Order as a Human Being</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3007BBA5-1E69-4361-A271-0D8222D5E3A7}"/>
              </a:ext>
            </a:extLst>
          </p:cNvPr>
          <p:cNvSpPr txBox="1">
            <a:spLocks/>
          </p:cNvSpPr>
          <p:nvPr/>
        </p:nvSpPr>
        <p:spPr bwMode="auto">
          <a:xfrm>
            <a:off x="228600" y="1143000"/>
            <a:ext cx="9144000" cy="5943600"/>
          </a:xfrm>
          <a:prstGeom prst="rect">
            <a:avLst/>
          </a:prstGeom>
          <a:ln>
            <a:miter lim="800000"/>
            <a:headEnd/>
            <a:tailEnd/>
          </a:ln>
        </p:spPr>
        <p:txBody>
          <a:bodyPr vert="horz" wrap="square" lIns="91440" tIns="45720" rIns="91440" bIns="45720" numCol="1"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Bef>
                <a:spcPts val="25"/>
              </a:spcBef>
              <a:spcAft>
                <a:spcPts val="0"/>
              </a:spcAft>
              <a:buFont typeface="Symbol" pitchFamily="18" charset="2"/>
              <a:buNone/>
              <a:defRPr/>
            </a:pPr>
            <a:r>
              <a:rPr lang="en-US" sz="2200" dirty="0">
                <a:latin typeface="+mj-lt"/>
              </a:rPr>
              <a:t>= Natural Characteristic of Human Being with Human Consciousness</a:t>
            </a:r>
            <a:endParaRPr lang="en-US" sz="2200" dirty="0">
              <a:solidFill>
                <a:srgbClr val="1E00AA"/>
              </a:solidFill>
              <a:latin typeface="+mj-lt"/>
            </a:endParaRPr>
          </a:p>
          <a:p>
            <a:pPr fontAlgn="auto">
              <a:spcBef>
                <a:spcPts val="25"/>
              </a:spcBef>
              <a:spcAft>
                <a:spcPts val="0"/>
              </a:spcAft>
              <a:buFont typeface="Symbol" pitchFamily="18" charset="2"/>
              <a:buNone/>
              <a:defRPr/>
            </a:pPr>
            <a:endParaRPr lang="en-US" sz="2200" dirty="0">
              <a:latin typeface="+mj-lt"/>
              <a:cs typeface="Arial" charset="0"/>
            </a:endParaRPr>
          </a:p>
          <a:p>
            <a:pPr fontAlgn="auto">
              <a:spcBef>
                <a:spcPts val="25"/>
              </a:spcBef>
              <a:spcAft>
                <a:spcPts val="0"/>
              </a:spcAft>
              <a:buFont typeface="Symbol" pitchFamily="18" charset="2"/>
              <a:buNone/>
              <a:defRPr/>
            </a:pPr>
            <a:r>
              <a:rPr lang="en-US" sz="2200" dirty="0">
                <a:latin typeface="+mj-lt"/>
                <a:cs typeface="Arial" charset="0"/>
              </a:rPr>
              <a:t>Kindness	Providing means to one who has the ability but not the</a:t>
            </a:r>
          </a:p>
          <a:p>
            <a:pPr fontAlgn="auto">
              <a:spcBef>
                <a:spcPts val="25"/>
              </a:spcBef>
              <a:spcAft>
                <a:spcPts val="0"/>
              </a:spcAft>
              <a:buFont typeface="Symbol" pitchFamily="18" charset="2"/>
              <a:buNone/>
              <a:defRPr/>
            </a:pPr>
            <a:r>
              <a:rPr lang="en-US" sz="2200" dirty="0">
                <a:latin typeface="+mj-lt"/>
                <a:cs typeface="Arial" charset="0"/>
                <a:sym typeface="Symbol" pitchFamily="18" charset="2"/>
              </a:rPr>
              <a:t>			</a:t>
            </a:r>
            <a:r>
              <a:rPr lang="en-US" sz="2200" dirty="0">
                <a:latin typeface="+mj-lt"/>
                <a:cs typeface="Arial" charset="0"/>
              </a:rPr>
              <a:t>means.</a:t>
            </a:r>
          </a:p>
          <a:p>
            <a:pPr fontAlgn="auto">
              <a:spcBef>
                <a:spcPts val="25"/>
              </a:spcBef>
              <a:spcAft>
                <a:spcPts val="0"/>
              </a:spcAft>
              <a:buFont typeface="Symbol" pitchFamily="18" charset="2"/>
              <a:buNone/>
              <a:defRPr/>
            </a:pPr>
            <a:endParaRPr lang="en-US" sz="2200" dirty="0">
              <a:latin typeface="+mj-lt"/>
              <a:cs typeface="Arial" charset="0"/>
            </a:endParaRPr>
          </a:p>
          <a:p>
            <a:pPr fontAlgn="auto">
              <a:spcBef>
                <a:spcPts val="25"/>
              </a:spcBef>
              <a:spcAft>
                <a:spcPts val="0"/>
              </a:spcAft>
              <a:buFont typeface="Symbol" pitchFamily="18" charset="2"/>
              <a:buNone/>
              <a:defRPr/>
            </a:pPr>
            <a:r>
              <a:rPr lang="en-US" sz="2200" dirty="0" err="1">
                <a:solidFill>
                  <a:srgbClr val="1E00AA"/>
                </a:solidFill>
                <a:latin typeface="+mj-lt"/>
                <a:cs typeface="Arial" charset="0"/>
              </a:rPr>
              <a:t>Beneficience</a:t>
            </a:r>
            <a:r>
              <a:rPr lang="en-US" sz="2200" dirty="0">
                <a:solidFill>
                  <a:srgbClr val="1E00AA"/>
                </a:solidFill>
                <a:latin typeface="+mj-lt"/>
                <a:cs typeface="Arial" charset="0"/>
              </a:rPr>
              <a:t>	Helping the other to develop the competence to</a:t>
            </a:r>
          </a:p>
          <a:p>
            <a:pPr fontAlgn="auto">
              <a:spcBef>
                <a:spcPts val="25"/>
              </a:spcBef>
              <a:spcAft>
                <a:spcPts val="0"/>
              </a:spcAft>
              <a:buFont typeface="Symbol" pitchFamily="18" charset="2"/>
              <a:buNone/>
              <a:defRPr/>
            </a:pPr>
            <a:r>
              <a:rPr lang="en-US" sz="2200" dirty="0">
                <a:solidFill>
                  <a:srgbClr val="1E00AA"/>
                </a:solidFill>
                <a:latin typeface="+mj-lt"/>
                <a:cs typeface="Arial" charset="0"/>
              </a:rPr>
              <a:t>			</a:t>
            </a:r>
            <a:r>
              <a:rPr lang="en-US" sz="2200" dirty="0" err="1">
                <a:solidFill>
                  <a:srgbClr val="1E00AA"/>
                </a:solidFill>
                <a:latin typeface="+mj-lt"/>
                <a:cs typeface="Arial" charset="0"/>
              </a:rPr>
              <a:t>utilise</a:t>
            </a:r>
            <a:r>
              <a:rPr lang="en-US" sz="2200" dirty="0">
                <a:solidFill>
                  <a:srgbClr val="1E00AA"/>
                </a:solidFill>
                <a:latin typeface="+mj-lt"/>
                <a:cs typeface="Arial" charset="0"/>
              </a:rPr>
              <a:t> the means they already have.</a:t>
            </a:r>
          </a:p>
          <a:p>
            <a:pPr fontAlgn="auto">
              <a:spcBef>
                <a:spcPts val="25"/>
              </a:spcBef>
              <a:spcAft>
                <a:spcPts val="0"/>
              </a:spcAft>
              <a:buFont typeface="Symbol" pitchFamily="18" charset="2"/>
              <a:buNone/>
              <a:defRPr/>
            </a:pPr>
            <a:endParaRPr lang="en-US" sz="2200" dirty="0">
              <a:solidFill>
                <a:srgbClr val="1E00AA"/>
              </a:solidFill>
              <a:latin typeface="+mj-lt"/>
              <a:cs typeface="Arial" charset="0"/>
              <a:sym typeface="Symbol" pitchFamily="18" charset="2"/>
            </a:endParaRPr>
          </a:p>
          <a:p>
            <a:pPr fontAlgn="auto">
              <a:spcBef>
                <a:spcPts val="25"/>
              </a:spcBef>
              <a:spcAft>
                <a:spcPts val="0"/>
              </a:spcAft>
              <a:buFont typeface="Symbol" pitchFamily="18" charset="2"/>
              <a:buNone/>
              <a:defRPr/>
            </a:pPr>
            <a:r>
              <a:rPr lang="en-US" sz="2200" dirty="0">
                <a:latin typeface="+mj-lt"/>
                <a:cs typeface="Arial" charset="0"/>
              </a:rPr>
              <a:t>Compassion	Helping the other unconditionally, to  develop the</a:t>
            </a:r>
          </a:p>
          <a:p>
            <a:pPr fontAlgn="auto">
              <a:spcBef>
                <a:spcPts val="25"/>
              </a:spcBef>
              <a:spcAft>
                <a:spcPts val="0"/>
              </a:spcAft>
              <a:buFont typeface="Symbol" pitchFamily="18" charset="2"/>
              <a:buNone/>
              <a:defRPr/>
            </a:pPr>
            <a:r>
              <a:rPr lang="en-US" sz="2200" dirty="0">
                <a:latin typeface="+mj-lt"/>
                <a:cs typeface="Arial" charset="0"/>
              </a:rPr>
              <a:t>			competence as well as the means, to fulfill his needs 		when he neither has the ability nor the means.</a:t>
            </a:r>
          </a:p>
          <a:p>
            <a:pPr fontAlgn="auto">
              <a:spcAft>
                <a:spcPts val="0"/>
              </a:spcAft>
              <a:buFont typeface="Symbol" pitchFamily="18" charset="2"/>
              <a:buNone/>
              <a:defRPr/>
            </a:pPr>
            <a:endParaRPr lang="en-US" sz="2200" dirty="0">
              <a:latin typeface="+mj-lt"/>
              <a:cs typeface="Arial" charset="0"/>
            </a:endParaRPr>
          </a:p>
        </p:txBody>
      </p:sp>
    </p:spTree>
    <p:extLst>
      <p:ext uri="{BB962C8B-B14F-4D97-AF65-F5344CB8AC3E}">
        <p14:creationId xmlns="" xmlns:p14="http://schemas.microsoft.com/office/powerpoint/2010/main" val="3007721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3511469-5E6F-4F12-8C6B-781014DC4BE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latin typeface="+mj-lt"/>
                <a:cs typeface="Arial" panose="020B0604020202020204" pitchFamily="34" charset="0"/>
              </a:rPr>
              <a:t>Participation in Human-Human Relationship as a Human Being</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AA4593DC-A1E9-4FEA-ABF3-A324B52F6FBE}"/>
              </a:ext>
            </a:extLst>
          </p:cNvPr>
          <p:cNvSpPr txBox="1">
            <a:spLocks/>
          </p:cNvSpPr>
          <p:nvPr/>
        </p:nvSpPr>
        <p:spPr>
          <a:xfrm>
            <a:off x="152400" y="840837"/>
            <a:ext cx="9144000" cy="5943600"/>
          </a:xfrm>
          <a:prstGeom prst="rect">
            <a:avLst/>
          </a:prstGeom>
        </p:spPr>
        <p:txBody>
          <a:bodyPr>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Symbol" pitchFamily="18" charset="2"/>
              <a:buNone/>
              <a:defRPr/>
            </a:pPr>
            <a:r>
              <a:rPr lang="en-US" dirty="0"/>
              <a:t>Trust 		To be assured that the other intends my happiness &amp;</a:t>
            </a:r>
          </a:p>
          <a:p>
            <a:pPr fontAlgn="auto">
              <a:spcAft>
                <a:spcPts val="0"/>
              </a:spcAft>
              <a:buFont typeface="Symbol" pitchFamily="18" charset="2"/>
              <a:buNone/>
              <a:defRPr/>
            </a:pPr>
            <a:r>
              <a:rPr lang="en-US" dirty="0">
                <a:solidFill>
                  <a:srgbClr val="FF0000"/>
                </a:solidFill>
              </a:rPr>
              <a:t>Foundation Value </a:t>
            </a:r>
            <a:r>
              <a:rPr lang="en-US" dirty="0"/>
              <a:t>					prosperity</a:t>
            </a:r>
          </a:p>
          <a:p>
            <a:pPr fontAlgn="auto">
              <a:spcAft>
                <a:spcPts val="0"/>
              </a:spcAft>
              <a:buFont typeface="Symbol" pitchFamily="18" charset="2"/>
              <a:buNone/>
              <a:defRPr/>
            </a:pPr>
            <a:endParaRPr lang="en-US" sz="500" dirty="0"/>
          </a:p>
          <a:p>
            <a:pPr fontAlgn="auto">
              <a:spcAft>
                <a:spcPts val="0"/>
              </a:spcAft>
              <a:buFont typeface="Symbol" pitchFamily="18" charset="2"/>
              <a:buNone/>
              <a:defRPr/>
            </a:pPr>
            <a:r>
              <a:rPr lang="en-US" dirty="0"/>
              <a:t>Respect 	Right evaluation (with the basis that the other is like me 			and we are complementary to each other)</a:t>
            </a:r>
          </a:p>
          <a:p>
            <a:pPr fontAlgn="auto">
              <a:spcAft>
                <a:spcPts val="0"/>
              </a:spcAft>
              <a:buFont typeface="Symbol" pitchFamily="18" charset="2"/>
              <a:buNone/>
              <a:defRPr/>
            </a:pPr>
            <a:r>
              <a:rPr lang="en-US" dirty="0"/>
              <a:t>Affection	Acceptance of the other as one’s relative</a:t>
            </a:r>
          </a:p>
          <a:p>
            <a:pPr fontAlgn="auto">
              <a:spcAft>
                <a:spcPts val="0"/>
              </a:spcAft>
              <a:buFont typeface="Symbol" pitchFamily="18" charset="2"/>
              <a:buNone/>
              <a:defRPr/>
            </a:pPr>
            <a:r>
              <a:rPr lang="en-US" dirty="0"/>
              <a:t>Care 		Responsibility &amp; commitment for nurturing and 				protecting the Body of one’s relative</a:t>
            </a:r>
          </a:p>
          <a:p>
            <a:pPr fontAlgn="auto">
              <a:spcAft>
                <a:spcPts val="0"/>
              </a:spcAft>
              <a:buFont typeface="Symbol" pitchFamily="18" charset="2"/>
              <a:buNone/>
              <a:defRPr/>
            </a:pPr>
            <a:r>
              <a:rPr lang="en-US" dirty="0"/>
              <a:t>Guidance 	Responsibility &amp; commitment for ensuring Right 			Understanding and Right Feeling in the Self  of one’s 			relative</a:t>
            </a:r>
          </a:p>
          <a:p>
            <a:pPr fontAlgn="auto">
              <a:spcAft>
                <a:spcPts val="0"/>
              </a:spcAft>
              <a:buFont typeface="Symbol" pitchFamily="18" charset="2"/>
              <a:buNone/>
              <a:defRPr/>
            </a:pPr>
            <a:r>
              <a:rPr lang="en-US" dirty="0"/>
              <a:t>Reverence	Acceptance for Excellence</a:t>
            </a:r>
          </a:p>
          <a:p>
            <a:pPr fontAlgn="auto">
              <a:spcAft>
                <a:spcPts val="0"/>
              </a:spcAft>
              <a:buFont typeface="Symbol" pitchFamily="18" charset="2"/>
              <a:buNone/>
              <a:defRPr/>
            </a:pPr>
            <a:r>
              <a:rPr lang="en-US" dirty="0"/>
              <a:t>Glory 		Acceptance for those who have made effort for 				Excellence</a:t>
            </a:r>
          </a:p>
          <a:p>
            <a:pPr fontAlgn="auto">
              <a:spcAft>
                <a:spcPts val="0"/>
              </a:spcAft>
              <a:buFont typeface="Symbol" pitchFamily="18" charset="2"/>
              <a:buNone/>
              <a:defRPr/>
            </a:pPr>
            <a:r>
              <a:rPr lang="en-US" dirty="0"/>
              <a:t>Gratitude 	Acceptance for those who have made effort for my 			Excellence</a:t>
            </a:r>
          </a:p>
          <a:p>
            <a:pPr fontAlgn="auto">
              <a:spcAft>
                <a:spcPts val="0"/>
              </a:spcAft>
              <a:buFont typeface="Symbol" pitchFamily="18" charset="2"/>
              <a:buNone/>
              <a:defRPr/>
            </a:pPr>
            <a:endParaRPr lang="en-US" sz="500" dirty="0"/>
          </a:p>
          <a:p>
            <a:pPr fontAlgn="auto">
              <a:spcAft>
                <a:spcPts val="0"/>
              </a:spcAft>
              <a:buFont typeface="Symbol" pitchFamily="18" charset="2"/>
              <a:buNone/>
              <a:defRPr/>
            </a:pPr>
            <a:r>
              <a:rPr lang="en-US" dirty="0"/>
              <a:t>Love 		The feeling of being related to all</a:t>
            </a:r>
          </a:p>
          <a:p>
            <a:pPr fontAlgn="auto">
              <a:spcAft>
                <a:spcPts val="0"/>
              </a:spcAft>
              <a:buFont typeface="Symbol" pitchFamily="18" charset="2"/>
              <a:buNone/>
              <a:defRPr/>
            </a:pPr>
            <a:r>
              <a:rPr lang="en-US" dirty="0">
                <a:solidFill>
                  <a:srgbClr val="FF0000"/>
                </a:solidFill>
              </a:rPr>
              <a:t>Complete Value</a:t>
            </a:r>
            <a:endParaRPr lang="en-US" sz="2600" dirty="0">
              <a:solidFill>
                <a:srgbClr val="FF0000"/>
              </a:solidFill>
              <a:latin typeface="Kruti Dev 010" pitchFamily="2" charset="0"/>
            </a:endParaRPr>
          </a:p>
        </p:txBody>
      </p:sp>
    </p:spTree>
    <p:extLst>
      <p:ext uri="{BB962C8B-B14F-4D97-AF65-F5344CB8AC3E}">
        <p14:creationId xmlns="" xmlns:p14="http://schemas.microsoft.com/office/powerpoint/2010/main" val="3146596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2A3C7F-1544-48D4-8FD0-D1C2618D577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latin typeface="+mj-lt"/>
                <a:cs typeface="Arial" panose="020B0604020202020204" pitchFamily="34" charset="0"/>
              </a:rPr>
              <a:t>Participation in Human-Human Relationship as a Human Being</a:t>
            </a:r>
            <a:r>
              <a:rPr lang="en-IN" sz="3200" dirty="0">
                <a:latin typeface="+mj-lt"/>
              </a:rPr>
              <a:t> </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29760351-6AC9-4BB4-8273-6CA1C5E51F67}"/>
              </a:ext>
            </a:extLst>
          </p:cNvPr>
          <p:cNvGraphicFramePr>
            <a:graphicFrameLocks noGrp="1"/>
          </p:cNvGraphicFramePr>
          <p:nvPr>
            <p:extLst>
              <p:ext uri="{D42A27DB-BD31-4B8C-83A1-F6EECF244321}">
                <p14:modId xmlns="" xmlns:p14="http://schemas.microsoft.com/office/powerpoint/2010/main" val="1124062722"/>
              </p:ext>
            </p:extLst>
          </p:nvPr>
        </p:nvGraphicFramePr>
        <p:xfrm>
          <a:off x="228600" y="817163"/>
          <a:ext cx="8534400" cy="5974863"/>
        </p:xfrm>
        <a:graphic>
          <a:graphicData uri="http://schemas.openxmlformats.org/drawingml/2006/table">
            <a:tbl>
              <a:tblPr firstRow="1" bandRow="1">
                <a:tableStyleId>{5C22544A-7EE6-4342-B048-85BDC9FD1C3A}</a:tableStyleId>
              </a:tblPr>
              <a:tblGrid>
                <a:gridCol w="1920240">
                  <a:extLst>
                    <a:ext uri="{9D8B030D-6E8A-4147-A177-3AD203B41FA5}">
                      <a16:colId xmlns="" xmlns:a16="http://schemas.microsoft.com/office/drawing/2014/main" val="20000"/>
                    </a:ext>
                  </a:extLst>
                </a:gridCol>
                <a:gridCol w="2346960">
                  <a:extLst>
                    <a:ext uri="{9D8B030D-6E8A-4147-A177-3AD203B41FA5}">
                      <a16:colId xmlns="" xmlns:a16="http://schemas.microsoft.com/office/drawing/2014/main" val="20001"/>
                    </a:ext>
                  </a:extLst>
                </a:gridCol>
                <a:gridCol w="4267200">
                  <a:extLst>
                    <a:ext uri="{9D8B030D-6E8A-4147-A177-3AD203B41FA5}">
                      <a16:colId xmlns="" xmlns:a16="http://schemas.microsoft.com/office/drawing/2014/main" val="20002"/>
                    </a:ext>
                  </a:extLst>
                </a:gridCol>
              </a:tblGrid>
              <a:tr h="9152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Arial" pitchFamily="34" charset="0"/>
                          <a:cs typeface="Arial" pitchFamily="34" charset="0"/>
                        </a:rPr>
                        <a:t>Established </a:t>
                      </a:r>
                      <a:r>
                        <a:rPr lang="en-US" sz="2000" b="1" baseline="0" dirty="0">
                          <a:solidFill>
                            <a:schemeClr val="tx1"/>
                          </a:solidFill>
                          <a:latin typeface="Arial" pitchFamily="34" charset="0"/>
                          <a:cs typeface="Arial" pitchFamily="34" charset="0"/>
                        </a:rPr>
                        <a:t> </a:t>
                      </a:r>
                      <a:r>
                        <a:rPr lang="en-US" sz="2000" b="1" dirty="0">
                          <a:solidFill>
                            <a:schemeClr val="tx1"/>
                          </a:solidFill>
                          <a:latin typeface="Arial" pitchFamily="34" charset="0"/>
                          <a:cs typeface="Arial" pitchFamily="34" charset="0"/>
                        </a:rPr>
                        <a:t>Value</a:t>
                      </a: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Arial" pitchFamily="34" charset="0"/>
                          <a:cs typeface="Arial" pitchFamily="34" charset="0"/>
                        </a:rPr>
                        <a:t>Expressed Value</a:t>
                      </a: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200" b="1" dirty="0">
                          <a:solidFill>
                            <a:schemeClr val="tx1"/>
                          </a:solidFill>
                          <a:latin typeface="Arial" pitchFamily="34" charset="0"/>
                          <a:cs typeface="Arial" pitchFamily="34" charset="0"/>
                        </a:rPr>
                        <a:t>Indicators</a:t>
                      </a:r>
                      <a:endParaRPr lang="en-GB" sz="2200" b="1" i="0" dirty="0">
                        <a:solidFill>
                          <a:schemeClr val="tx1"/>
                        </a:solidFill>
                        <a:latin typeface="Arial" pitchFamily="34" charset="0"/>
                        <a:cs typeface="Arial" pitchFamily="34" charset="0"/>
                      </a:endParaRPr>
                    </a:p>
                  </a:txBody>
                  <a:tcPr marT="45709" marB="45709"/>
                </a:tc>
                <a:extLst>
                  <a:ext uri="{0D108BD9-81ED-4DB2-BD59-A6C34878D82A}">
                    <a16:rowId xmlns="" xmlns:a16="http://schemas.microsoft.com/office/drawing/2014/main" val="10000"/>
                  </a:ext>
                </a:extLst>
              </a:tr>
              <a:tr h="7060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Trust</a:t>
                      </a:r>
                      <a:endParaRPr lang="en-GB" sz="200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err="1">
                          <a:solidFill>
                            <a:srgbClr val="FF0000"/>
                          </a:solidFill>
                          <a:latin typeface="Arial" pitchFamily="34" charset="0"/>
                          <a:cs typeface="Arial" pitchFamily="34" charset="0"/>
                        </a:rPr>
                        <a:t>Complimentariness</a:t>
                      </a:r>
                      <a:endParaRPr lang="en-GB" sz="2800" kern="1200" dirty="0">
                        <a:solidFill>
                          <a:srgbClr val="1E00AA"/>
                        </a:solidFill>
                        <a:latin typeface="Kruti Dev 010" pitchFamily="2" charset="0"/>
                        <a:ea typeface="+mn-ea"/>
                        <a:cs typeface="+mn-cs"/>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solidFill>
                            <a:schemeClr val="tx1"/>
                          </a:solidFill>
                          <a:latin typeface="Arial" pitchFamily="34" charset="0"/>
                          <a:cs typeface="Arial" pitchFamily="34" charset="0"/>
                        </a:rPr>
                        <a:t>Able to work together</a:t>
                      </a:r>
                    </a:p>
                    <a:p>
                      <a:pPr marL="0" marR="0" indent="0" algn="l" defTabSz="914400" rtl="0" eaLnBrk="1" fontAlgn="auto" latinLnBrk="0" hangingPunct="1">
                        <a:lnSpc>
                          <a:spcPct val="100000"/>
                        </a:lnSpc>
                        <a:spcBef>
                          <a:spcPts val="0"/>
                        </a:spcBef>
                        <a:spcAft>
                          <a:spcPts val="0"/>
                        </a:spcAft>
                        <a:buClrTx/>
                        <a:buSzTx/>
                        <a:buFontTx/>
                        <a:buNone/>
                        <a:tabLst/>
                        <a:defRPr/>
                      </a:pPr>
                      <a:r>
                        <a:rPr lang="hi-IN" sz="2200" b="0" dirty="0">
                          <a:solidFill>
                            <a:schemeClr val="tx1"/>
                          </a:solidFill>
                          <a:latin typeface="Arial" pitchFamily="34" charset="0"/>
                          <a:cs typeface="Arial" pitchFamily="34" charset="0"/>
                        </a:rPr>
                        <a:t>सहयोगिता, सहकारिता, सहभागिता</a:t>
                      </a:r>
                      <a:endParaRPr lang="en-GB" sz="2200" b="0" dirty="0">
                        <a:solidFill>
                          <a:schemeClr val="tx1"/>
                        </a:solidFill>
                        <a:latin typeface="Arial" pitchFamily="34" charset="0"/>
                        <a:cs typeface="Arial" pitchFamily="34" charset="0"/>
                      </a:endParaRPr>
                    </a:p>
                  </a:txBody>
                  <a:tcPr marT="45709" marB="45709"/>
                </a:tc>
                <a:extLst>
                  <a:ext uri="{0D108BD9-81ED-4DB2-BD59-A6C34878D82A}">
                    <a16:rowId xmlns="" xmlns:a16="http://schemas.microsoft.com/office/drawing/2014/main" val="10001"/>
                  </a:ext>
                </a:extLst>
              </a:tr>
              <a:tr h="10002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Respect</a:t>
                      </a:r>
                      <a:endParaRPr lang="en-GB" sz="200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FF0000"/>
                          </a:solidFill>
                          <a:latin typeface="Arial" pitchFamily="34" charset="0"/>
                          <a:cs typeface="Arial" pitchFamily="34" charset="0"/>
                        </a:rPr>
                        <a:t>Compliance</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FF0000"/>
                          </a:solidFill>
                          <a:latin typeface="Arial" pitchFamily="34" charset="0"/>
                          <a:cs typeface="Arial" pitchFamily="34" charset="0"/>
                        </a:rPr>
                        <a:t>Transparency</a:t>
                      </a: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200" b="0" dirty="0">
                          <a:solidFill>
                            <a:schemeClr val="tx1"/>
                          </a:solidFill>
                          <a:latin typeface="Arial" pitchFamily="34" charset="0"/>
                          <a:cs typeface="Arial" pitchFamily="34" charset="0"/>
                        </a:rPr>
                        <a:t>The other is like me. I am complimentary to the other.</a:t>
                      </a:r>
                      <a:r>
                        <a:rPr lang="en-GB" sz="2200" b="0" baseline="0" dirty="0">
                          <a:solidFill>
                            <a:schemeClr val="tx1"/>
                          </a:solidFill>
                          <a:latin typeface="Arial" pitchFamily="34" charset="0"/>
                          <a:cs typeface="Arial" pitchFamily="34" charset="0"/>
                        </a:rPr>
                        <a:t> Able to rightly evaluate each other</a:t>
                      </a:r>
                      <a:endParaRPr lang="en-GB" sz="2200" b="0" dirty="0">
                        <a:solidFill>
                          <a:schemeClr val="tx1"/>
                        </a:solidFill>
                        <a:latin typeface="Arial" pitchFamily="34" charset="0"/>
                        <a:cs typeface="Arial" pitchFamily="34" charset="0"/>
                      </a:endParaRPr>
                    </a:p>
                  </a:txBody>
                  <a:tcPr marT="45709" marB="45709"/>
                </a:tc>
                <a:extLst>
                  <a:ext uri="{0D108BD9-81ED-4DB2-BD59-A6C34878D82A}">
                    <a16:rowId xmlns="" xmlns:a16="http://schemas.microsoft.com/office/drawing/2014/main" val="10002"/>
                  </a:ext>
                </a:extLst>
              </a:tr>
              <a:tr h="10002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Affection</a:t>
                      </a:r>
                      <a:endParaRPr lang="en-GB" sz="200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itchFamily="34" charset="0"/>
                          <a:cs typeface="Arial" pitchFamily="34" charset="0"/>
                        </a:rPr>
                        <a:t>Commitment</a:t>
                      </a:r>
                      <a:endParaRPr lang="en-GB" sz="2800" kern="1200" dirty="0">
                        <a:solidFill>
                          <a:srgbClr val="1E00AA"/>
                        </a:solidFill>
                        <a:latin typeface="Kruti Dev 010" pitchFamily="2" charset="0"/>
                        <a:ea typeface="+mn-ea"/>
                        <a:cs typeface="+mn-cs"/>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200" b="0" dirty="0">
                          <a:solidFill>
                            <a:schemeClr val="tx1"/>
                          </a:solidFill>
                          <a:latin typeface="Arial" pitchFamily="34" charset="0"/>
                          <a:cs typeface="Arial" pitchFamily="34" charset="0"/>
                        </a:rPr>
                        <a:t>Self-motivated</a:t>
                      </a:r>
                      <a:r>
                        <a:rPr lang="en-GB" sz="2200" b="0" baseline="0" dirty="0">
                          <a:solidFill>
                            <a:schemeClr val="tx1"/>
                          </a:solidFill>
                          <a:latin typeface="Arial" pitchFamily="34" charset="0"/>
                          <a:cs typeface="Arial" pitchFamily="34" charset="0"/>
                        </a:rPr>
                        <a:t> for fulfilling responsibility  in relationship </a:t>
                      </a:r>
                      <a:endParaRPr lang="hi-IN" sz="2200" b="0" baseline="0" dirty="0">
                        <a:solidFill>
                          <a:schemeClr val="tx1"/>
                        </a:solidFill>
                        <a:latin typeface="Arial" pitchFamily="34" charset="0"/>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2200" b="0" baseline="0" dirty="0">
                          <a:solidFill>
                            <a:schemeClr val="tx1"/>
                          </a:solidFill>
                          <a:latin typeface="Arial" pitchFamily="34" charset="0"/>
                          <a:cs typeface="Arial" pitchFamily="34" charset="0"/>
                        </a:rPr>
                        <a:t>(</a:t>
                      </a:r>
                      <a:r>
                        <a:rPr lang="hi-IN" sz="2200" b="0" baseline="0" dirty="0">
                          <a:solidFill>
                            <a:schemeClr val="tx1"/>
                          </a:solidFill>
                          <a:latin typeface="Arial" pitchFamily="34" charset="0"/>
                          <a:cs typeface="Arial" pitchFamily="34" charset="0"/>
                        </a:rPr>
                        <a:t>कर्तव्य एवं  दायित्व)</a:t>
                      </a:r>
                      <a:endParaRPr lang="en-GB" sz="2200" b="0" dirty="0">
                        <a:solidFill>
                          <a:schemeClr val="tx1"/>
                        </a:solidFill>
                        <a:latin typeface="Arial" pitchFamily="34" charset="0"/>
                        <a:cs typeface="Arial" pitchFamily="34" charset="0"/>
                      </a:endParaRPr>
                    </a:p>
                  </a:txBody>
                  <a:tcPr marT="45709" marB="45709"/>
                </a:tc>
                <a:extLst>
                  <a:ext uri="{0D108BD9-81ED-4DB2-BD59-A6C34878D82A}">
                    <a16:rowId xmlns="" xmlns:a16="http://schemas.microsoft.com/office/drawing/2014/main" val="10003"/>
                  </a:ext>
                </a:extLst>
              </a:tr>
              <a:tr h="8891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Care</a:t>
                      </a:r>
                      <a:endParaRPr lang="en-GB" sz="200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itchFamily="34" charset="0"/>
                          <a:cs typeface="Arial" pitchFamily="34" charset="0"/>
                        </a:rPr>
                        <a:t>Generosity </a:t>
                      </a:r>
                      <a:endParaRPr lang="en-GB" sz="2000" b="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latin typeface="Arial" pitchFamily="34" charset="0"/>
                          <a:cs typeface="Arial" pitchFamily="34" charset="0"/>
                        </a:rPr>
                        <a:t>Offer our self, body, wealth as required  </a:t>
                      </a:r>
                      <a:r>
                        <a:rPr lang="hi-IN" sz="1800" b="0" dirty="0">
                          <a:solidFill>
                            <a:schemeClr val="tx1"/>
                          </a:solidFill>
                          <a:latin typeface="Arial" pitchFamily="34" charset="0"/>
                          <a:cs typeface="Arial" pitchFamily="34" charset="0"/>
                        </a:rPr>
                        <a:t>मन-तन-धन को आवश्यकतानुसार अर्पित करते हैं</a:t>
                      </a:r>
                      <a:endParaRPr lang="en-GB" sz="1800" b="0" dirty="0">
                        <a:solidFill>
                          <a:schemeClr val="tx1"/>
                        </a:solidFill>
                        <a:latin typeface="Arial" pitchFamily="34" charset="0"/>
                        <a:cs typeface="Arial" pitchFamily="34" charset="0"/>
                      </a:endParaRPr>
                    </a:p>
                  </a:txBody>
                  <a:tcPr marT="45709" marB="45709"/>
                </a:tc>
                <a:extLst>
                  <a:ext uri="{0D108BD9-81ED-4DB2-BD59-A6C34878D82A}">
                    <a16:rowId xmlns="" xmlns:a16="http://schemas.microsoft.com/office/drawing/2014/main" val="10004"/>
                  </a:ext>
                </a:extLst>
              </a:tr>
              <a:tr h="102808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Guidance</a:t>
                      </a:r>
                      <a:endParaRPr lang="en-GB" sz="200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FF0000"/>
                          </a:solidFill>
                          <a:latin typeface="Arial" pitchFamily="34" charset="0"/>
                          <a:cs typeface="Arial" pitchFamily="34" charset="0"/>
                        </a:rPr>
                        <a:t>Spontaneity </a:t>
                      </a:r>
                      <a:endParaRPr lang="en-GB" sz="2000" b="0" dirty="0">
                        <a:solidFill>
                          <a:schemeClr val="tx1"/>
                        </a:solidFill>
                        <a:latin typeface="Arial" pitchFamily="34" charset="0"/>
                        <a:cs typeface="Arial" pitchFamily="34" charset="0"/>
                      </a:endParaRPr>
                    </a:p>
                  </a:txBody>
                  <a:tcPr marT="45709" marB="4570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latin typeface="Arial" pitchFamily="34" charset="0"/>
                          <a:cs typeface="Arial" pitchFamily="34" charset="0"/>
                        </a:rPr>
                        <a:t>Provides right education-</a:t>
                      </a:r>
                      <a:r>
                        <a:rPr lang="en-IN" sz="2000" b="0" dirty="0" err="1">
                          <a:solidFill>
                            <a:schemeClr val="tx1"/>
                          </a:solidFill>
                          <a:latin typeface="Arial" pitchFamily="34" charset="0"/>
                          <a:cs typeface="Arial" pitchFamily="34" charset="0"/>
                        </a:rPr>
                        <a:t>sanskar</a:t>
                      </a:r>
                      <a:r>
                        <a:rPr lang="en-IN" sz="2000" b="0" dirty="0">
                          <a:solidFill>
                            <a:schemeClr val="tx1"/>
                          </a:solidFill>
                          <a:latin typeface="Arial" pitchFamily="34" charset="0"/>
                          <a:cs typeface="Arial" pitchFamily="34" charset="0"/>
                        </a:rPr>
                        <a:t>;</a:t>
                      </a:r>
                      <a:r>
                        <a:rPr lang="en-IN" sz="2000" b="0" baseline="0" dirty="0">
                          <a:solidFill>
                            <a:schemeClr val="tx1"/>
                          </a:solidFill>
                          <a:latin typeface="Arial" pitchFamily="34" charset="0"/>
                          <a:cs typeface="Arial" pitchFamily="34" charset="0"/>
                        </a:rPr>
                        <a:t> Protects from wrong</a:t>
                      </a:r>
                      <a:r>
                        <a:rPr lang="en-IN" sz="1400" b="0" baseline="0" dirty="0">
                          <a:solidFill>
                            <a:schemeClr val="tx1"/>
                          </a:solidFill>
                          <a:latin typeface="Arial" pitchFamily="34" charset="0"/>
                          <a:cs typeface="Arial"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hi-IN" sz="1400" b="0" dirty="0">
                          <a:solidFill>
                            <a:schemeClr val="tx1"/>
                          </a:solidFill>
                          <a:latin typeface="Arial" pitchFamily="34" charset="0"/>
                          <a:cs typeface="Arial" pitchFamily="34" charset="0"/>
                        </a:rPr>
                        <a:t>सही शिक्षा-संस्कार, अनुकुल वातावरण देते हैं; गलत से बचाते हैं</a:t>
                      </a:r>
                      <a:endParaRPr lang="en-GB" sz="1400" b="0" dirty="0">
                        <a:solidFill>
                          <a:schemeClr val="tx1"/>
                        </a:solidFill>
                        <a:latin typeface="Arial" pitchFamily="34" charset="0"/>
                        <a:cs typeface="Arial" pitchFamily="34" charset="0"/>
                      </a:endParaRPr>
                    </a:p>
                  </a:txBody>
                  <a:tcPr marT="45709" marB="45709"/>
                </a:tc>
                <a:extLst>
                  <a:ext uri="{0D108BD9-81ED-4DB2-BD59-A6C34878D82A}">
                    <a16:rowId xmlns="" xmlns:a16="http://schemas.microsoft.com/office/drawing/2014/main" val="10005"/>
                  </a:ext>
                </a:extLst>
              </a:tr>
            </a:tbl>
          </a:graphicData>
        </a:graphic>
      </p:graphicFrame>
    </p:spTree>
    <p:extLst>
      <p:ext uri="{BB962C8B-B14F-4D97-AF65-F5344CB8AC3E}">
        <p14:creationId xmlns="" xmlns:p14="http://schemas.microsoft.com/office/powerpoint/2010/main" val="4187068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69D4BC5-634C-4A70-8B83-FCC11E21BD4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CABABAC2-3172-421F-9DEF-508EDA291DD2}"/>
              </a:ext>
            </a:extLst>
          </p:cNvPr>
          <p:cNvGraphicFramePr>
            <a:graphicFrameLocks noGrp="1"/>
          </p:cNvGraphicFramePr>
          <p:nvPr/>
        </p:nvGraphicFramePr>
        <p:xfrm>
          <a:off x="0" y="533400"/>
          <a:ext cx="9143999" cy="4993095"/>
        </p:xfrm>
        <a:graphic>
          <a:graphicData uri="http://schemas.openxmlformats.org/drawingml/2006/table">
            <a:tbl>
              <a:tblPr firstRow="1" bandRow="1">
                <a:tableStyleId>{5C22544A-7EE6-4342-B048-85BDC9FD1C3A}</a:tableStyleId>
              </a:tblPr>
              <a:tblGrid>
                <a:gridCol w="2057400">
                  <a:extLst>
                    <a:ext uri="{9D8B030D-6E8A-4147-A177-3AD203B41FA5}">
                      <a16:colId xmlns="" xmlns:a16="http://schemas.microsoft.com/office/drawing/2014/main" val="20000"/>
                    </a:ext>
                  </a:extLst>
                </a:gridCol>
                <a:gridCol w="2514600">
                  <a:extLst>
                    <a:ext uri="{9D8B030D-6E8A-4147-A177-3AD203B41FA5}">
                      <a16:colId xmlns="" xmlns:a16="http://schemas.microsoft.com/office/drawing/2014/main" val="20001"/>
                    </a:ext>
                  </a:extLst>
                </a:gridCol>
                <a:gridCol w="4571999">
                  <a:extLst>
                    <a:ext uri="{9D8B030D-6E8A-4147-A177-3AD203B41FA5}">
                      <a16:colId xmlns="" xmlns:a16="http://schemas.microsoft.com/office/drawing/2014/main" val="20002"/>
                    </a:ext>
                  </a:extLst>
                </a:gridCol>
              </a:tblGrid>
              <a:tr h="106363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Arial" pitchFamily="34" charset="0"/>
                          <a:cs typeface="Arial" pitchFamily="34" charset="0"/>
                        </a:rPr>
                        <a:t>Established </a:t>
                      </a:r>
                      <a:r>
                        <a:rPr lang="en-US" sz="2000" b="1" baseline="0" dirty="0">
                          <a:solidFill>
                            <a:schemeClr val="tx1"/>
                          </a:solidFill>
                          <a:latin typeface="Arial" pitchFamily="34" charset="0"/>
                          <a:cs typeface="Arial" pitchFamily="34" charset="0"/>
                        </a:rPr>
                        <a:t> </a:t>
                      </a:r>
                      <a:r>
                        <a:rPr lang="en-US" sz="2000" b="1" dirty="0">
                          <a:solidFill>
                            <a:schemeClr val="tx1"/>
                          </a:solidFill>
                          <a:latin typeface="Arial" pitchFamily="34" charset="0"/>
                          <a:cs typeface="Arial" pitchFamily="34" charset="0"/>
                        </a:rPr>
                        <a:t>Value</a:t>
                      </a: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latin typeface="Arial" pitchFamily="34" charset="0"/>
                          <a:cs typeface="Arial" pitchFamily="34" charset="0"/>
                        </a:rPr>
                        <a:t>Expressed Value</a:t>
                      </a: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200" b="1" dirty="0">
                          <a:solidFill>
                            <a:schemeClr val="tx1"/>
                          </a:solidFill>
                          <a:latin typeface="Arial" pitchFamily="34" charset="0"/>
                          <a:cs typeface="Arial" pitchFamily="34" charset="0"/>
                        </a:rPr>
                        <a:t>Indicators</a:t>
                      </a:r>
                      <a:endParaRPr lang="en-GB" sz="2200" b="1" i="0" dirty="0">
                        <a:solidFill>
                          <a:schemeClr val="tx1"/>
                        </a:solidFill>
                        <a:latin typeface="Arial" pitchFamily="34" charset="0"/>
                        <a:cs typeface="Arial" pitchFamily="34" charset="0"/>
                      </a:endParaRPr>
                    </a:p>
                  </a:txBody>
                  <a:tcPr marT="45259" marB="45259"/>
                </a:tc>
                <a:extLst>
                  <a:ext uri="{0D108BD9-81ED-4DB2-BD59-A6C34878D82A}">
                    <a16:rowId xmlns="" xmlns:a16="http://schemas.microsoft.com/office/drawing/2014/main" val="10000"/>
                  </a:ext>
                </a:extLst>
              </a:tr>
              <a:tr h="97240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Reverence</a:t>
                      </a:r>
                      <a:endParaRPr lang="en-GB" sz="2000" dirty="0">
                        <a:solidFill>
                          <a:schemeClr val="tx1"/>
                        </a:solidFill>
                        <a:latin typeface="Arial" pitchFamily="34" charset="0"/>
                        <a:cs typeface="Arial" pitchFamily="34" charset="0"/>
                      </a:endParaRP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itchFamily="34" charset="0"/>
                          <a:cs typeface="Arial" pitchFamily="34" charset="0"/>
                        </a:rPr>
                        <a:t>Obedience</a:t>
                      </a:r>
                      <a:endParaRPr lang="en-GB" sz="2000" b="0" dirty="0">
                        <a:solidFill>
                          <a:schemeClr val="tx1"/>
                        </a:solidFill>
                        <a:latin typeface="Arial" pitchFamily="34" charset="0"/>
                        <a:cs typeface="Arial" pitchFamily="34" charset="0"/>
                      </a:endParaRP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latin typeface="Arial" pitchFamily="34" charset="0"/>
                          <a:cs typeface="Arial" pitchFamily="34" charset="0"/>
                        </a:rPr>
                        <a:t>Willing</a:t>
                      </a:r>
                      <a:r>
                        <a:rPr lang="en-IN" sz="2000" b="0" baseline="0" dirty="0">
                          <a:solidFill>
                            <a:schemeClr val="tx1"/>
                          </a:solidFill>
                          <a:latin typeface="Arial" pitchFamily="34" charset="0"/>
                          <a:cs typeface="Arial" pitchFamily="34" charset="0"/>
                        </a:rPr>
                        <a:t> to receive the inspiration for what is right</a:t>
                      </a:r>
                      <a:r>
                        <a:rPr lang="en-IN" sz="1800" b="0" baseline="0" dirty="0">
                          <a:solidFill>
                            <a:schemeClr val="tx1"/>
                          </a:solidFill>
                          <a:latin typeface="Arial" pitchFamily="34" charset="0"/>
                          <a:cs typeface="Arial"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IN" sz="1800" b="0" baseline="0" dirty="0">
                          <a:solidFill>
                            <a:schemeClr val="tx1"/>
                          </a:solidFill>
                          <a:latin typeface="Arial" pitchFamily="34" charset="0"/>
                          <a:cs typeface="Arial" pitchFamily="34" charset="0"/>
                        </a:rPr>
                        <a:t>(</a:t>
                      </a:r>
                      <a:r>
                        <a:rPr lang="hi-IN" sz="1800" b="0" dirty="0">
                          <a:solidFill>
                            <a:schemeClr val="tx1"/>
                          </a:solidFill>
                          <a:latin typeface="Arial" pitchFamily="34" charset="0"/>
                          <a:cs typeface="Arial" pitchFamily="34" charset="0"/>
                        </a:rPr>
                        <a:t>सही की) प्रेरणा स्वीकारने के लिए तत्पर रहते हैं</a:t>
                      </a:r>
                      <a:endParaRPr lang="en-GB" sz="1800" b="0" dirty="0">
                        <a:solidFill>
                          <a:schemeClr val="tx1"/>
                        </a:solidFill>
                        <a:latin typeface="Arial" pitchFamily="34" charset="0"/>
                        <a:cs typeface="Arial" pitchFamily="34" charset="0"/>
                      </a:endParaRPr>
                    </a:p>
                  </a:txBody>
                  <a:tcPr marT="45259" marB="45259"/>
                </a:tc>
                <a:extLst>
                  <a:ext uri="{0D108BD9-81ED-4DB2-BD59-A6C34878D82A}">
                    <a16:rowId xmlns="" xmlns:a16="http://schemas.microsoft.com/office/drawing/2014/main" val="10001"/>
                  </a:ext>
                </a:extLst>
              </a:tr>
              <a:tr h="759533">
                <a:tc>
                  <a:txBody>
                    <a:bodyPr/>
                    <a:lstStyle/>
                    <a:p>
                      <a:pPr marL="533400" indent="-533400" eaLnBrk="0" hangingPunct="0">
                        <a:lnSpc>
                          <a:spcPct val="80000"/>
                        </a:lnSpc>
                        <a:spcBef>
                          <a:spcPct val="20000"/>
                        </a:spcBef>
                      </a:pPr>
                      <a:r>
                        <a:rPr lang="en-GB" sz="2000" b="0" kern="1200" dirty="0">
                          <a:solidFill>
                            <a:schemeClr val="tx1"/>
                          </a:solidFill>
                          <a:latin typeface="Arial" pitchFamily="34" charset="0"/>
                          <a:ea typeface="+mn-ea"/>
                          <a:cs typeface="Arial" pitchFamily="34" charset="0"/>
                        </a:rPr>
                        <a:t>Glory</a:t>
                      </a:r>
                      <a:endParaRPr lang="en-GB" sz="2800" i="1" dirty="0">
                        <a:solidFill>
                          <a:srgbClr val="1E00AA"/>
                        </a:solidFill>
                        <a:latin typeface="Kruti Dev 010" pitchFamily="2" charset="0"/>
                        <a:cs typeface="Arial" pitchFamily="34" charset="0"/>
                      </a:endParaRP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itchFamily="34" charset="0"/>
                          <a:cs typeface="Arial" pitchFamily="34" charset="0"/>
                        </a:rPr>
                        <a:t>Simplicity</a:t>
                      </a:r>
                      <a:endParaRPr lang="en-GB" sz="2000" b="0" dirty="0">
                        <a:solidFill>
                          <a:schemeClr val="tx1"/>
                        </a:solidFill>
                        <a:latin typeface="Arial" pitchFamily="34" charset="0"/>
                        <a:cs typeface="Arial" pitchFamily="34" charset="0"/>
                      </a:endParaRP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b="0" dirty="0">
                          <a:solidFill>
                            <a:schemeClr val="tx1"/>
                          </a:solidFill>
                          <a:latin typeface="Arial" pitchFamily="34" charset="0"/>
                          <a:cs typeface="Arial" pitchFamily="34" charset="0"/>
                        </a:rPr>
                        <a:t>Absence of Ego</a:t>
                      </a:r>
                    </a:p>
                    <a:p>
                      <a:pPr marL="0" marR="0" indent="0" algn="l" defTabSz="914400" rtl="0" eaLnBrk="1" fontAlgn="auto" latinLnBrk="0" hangingPunct="1">
                        <a:lnSpc>
                          <a:spcPct val="100000"/>
                        </a:lnSpc>
                        <a:spcBef>
                          <a:spcPts val="0"/>
                        </a:spcBef>
                        <a:spcAft>
                          <a:spcPts val="0"/>
                        </a:spcAft>
                        <a:buClrTx/>
                        <a:buSzTx/>
                        <a:buFontTx/>
                        <a:buNone/>
                        <a:tabLst/>
                        <a:defRPr/>
                      </a:pPr>
                      <a:r>
                        <a:rPr lang="hi-IN" sz="2200" b="0" dirty="0">
                          <a:solidFill>
                            <a:schemeClr val="tx1"/>
                          </a:solidFill>
                          <a:latin typeface="Arial" pitchFamily="34" charset="0"/>
                          <a:cs typeface="Arial" pitchFamily="34" charset="0"/>
                        </a:rPr>
                        <a:t>अभिमान का अभाव</a:t>
                      </a:r>
                      <a:endParaRPr lang="en-GB" sz="2200" b="0" dirty="0">
                        <a:solidFill>
                          <a:schemeClr val="tx1"/>
                        </a:solidFill>
                        <a:latin typeface="Arial" pitchFamily="34" charset="0"/>
                        <a:cs typeface="Arial" pitchFamily="34" charset="0"/>
                      </a:endParaRPr>
                    </a:p>
                  </a:txBody>
                  <a:tcPr marT="45259" marB="45259"/>
                </a:tc>
                <a:extLst>
                  <a:ext uri="{0D108BD9-81ED-4DB2-BD59-A6C34878D82A}">
                    <a16:rowId xmlns="" xmlns:a16="http://schemas.microsoft.com/office/drawing/2014/main" val="10002"/>
                  </a:ext>
                </a:extLst>
              </a:tr>
              <a:tr h="9419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Gratitude</a:t>
                      </a:r>
                      <a:r>
                        <a:rPr lang="en-GB" sz="2000" dirty="0">
                          <a:cs typeface="Arial" pitchFamily="34" charset="0"/>
                        </a:rPr>
                        <a:t> </a:t>
                      </a: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itchFamily="34" charset="0"/>
                          <a:cs typeface="Arial" pitchFamily="34" charset="0"/>
                        </a:rPr>
                        <a:t>Self-restraint </a:t>
                      </a:r>
                      <a:endParaRPr lang="en-GB" sz="2000" b="0" dirty="0">
                        <a:solidFill>
                          <a:schemeClr val="tx1"/>
                        </a:solidFill>
                        <a:latin typeface="Arial" pitchFamily="34" charset="0"/>
                        <a:cs typeface="Arial" pitchFamily="34" charset="0"/>
                      </a:endParaRP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b="0" dirty="0">
                          <a:solidFill>
                            <a:schemeClr val="tx1"/>
                          </a:solidFill>
                          <a:latin typeface="Arial" pitchFamily="34" charset="0"/>
                          <a:cs typeface="Arial" pitchFamily="34" charset="0"/>
                        </a:rPr>
                        <a:t>Behaving with courtesy</a:t>
                      </a:r>
                    </a:p>
                    <a:p>
                      <a:pPr marL="0" marR="0" indent="0" algn="l" defTabSz="914400" rtl="0" eaLnBrk="1" fontAlgn="auto" latinLnBrk="0" hangingPunct="1">
                        <a:lnSpc>
                          <a:spcPct val="100000"/>
                        </a:lnSpc>
                        <a:spcBef>
                          <a:spcPts val="0"/>
                        </a:spcBef>
                        <a:spcAft>
                          <a:spcPts val="0"/>
                        </a:spcAft>
                        <a:buClrTx/>
                        <a:buSzTx/>
                        <a:buFontTx/>
                        <a:buNone/>
                        <a:tabLst/>
                        <a:defRPr/>
                      </a:pPr>
                      <a:r>
                        <a:rPr lang="hi-IN" sz="2200" b="0" dirty="0">
                          <a:solidFill>
                            <a:schemeClr val="tx1"/>
                          </a:solidFill>
                          <a:latin typeface="Arial" pitchFamily="34" charset="0"/>
                          <a:cs typeface="Arial" pitchFamily="34" charset="0"/>
                        </a:rPr>
                        <a:t>शिष्टता पूर्वक प्रस्तुत होते हैं</a:t>
                      </a:r>
                      <a:endParaRPr lang="en-GB" sz="2200" b="0" dirty="0">
                        <a:solidFill>
                          <a:schemeClr val="tx1"/>
                        </a:solidFill>
                        <a:latin typeface="Arial" pitchFamily="34" charset="0"/>
                        <a:cs typeface="Arial" pitchFamily="34" charset="0"/>
                      </a:endParaRPr>
                    </a:p>
                  </a:txBody>
                  <a:tcPr marT="45259" marB="45259"/>
                </a:tc>
                <a:extLst>
                  <a:ext uri="{0D108BD9-81ED-4DB2-BD59-A6C34878D82A}">
                    <a16:rowId xmlns="" xmlns:a16="http://schemas.microsoft.com/office/drawing/2014/main" val="10003"/>
                  </a:ext>
                </a:extLst>
              </a:tr>
              <a:tr h="125198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kern="1200" dirty="0">
                          <a:solidFill>
                            <a:schemeClr val="tx1"/>
                          </a:solidFill>
                          <a:latin typeface="Arial" pitchFamily="34" charset="0"/>
                          <a:ea typeface="+mn-ea"/>
                          <a:cs typeface="Arial" pitchFamily="34" charset="0"/>
                        </a:rPr>
                        <a:t>Love</a:t>
                      </a:r>
                      <a:r>
                        <a:rPr lang="en-GB" sz="2000" dirty="0">
                          <a:cs typeface="Arial" pitchFamily="34" charset="0"/>
                        </a:rPr>
                        <a:t> </a:t>
                      </a:r>
                      <a:endParaRPr lang="en-GB" sz="2800" kern="1200" dirty="0">
                        <a:solidFill>
                          <a:srgbClr val="1E00AA"/>
                        </a:solidFill>
                        <a:latin typeface="Kruti Dev 010" pitchFamily="2" charset="0"/>
                        <a:ea typeface="+mn-ea"/>
                        <a:cs typeface="+mn-cs"/>
                      </a:endParaRPr>
                    </a:p>
                  </a:txBody>
                  <a:tcPr marT="45259" marB="4525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pitchFamily="34" charset="0"/>
                          <a:cs typeface="Arial" pitchFamily="34" charset="0"/>
                        </a:rPr>
                        <a:t>Unanimity </a:t>
                      </a:r>
                      <a:endParaRPr lang="en-GB" sz="2000" b="0" dirty="0">
                        <a:solidFill>
                          <a:schemeClr val="tx1"/>
                        </a:solidFill>
                        <a:latin typeface="Arial" pitchFamily="34" charset="0"/>
                        <a:cs typeface="Arial" pitchFamily="34" charset="0"/>
                      </a:endParaRPr>
                    </a:p>
                  </a:txBody>
                  <a:tcPr marT="45259" marB="45259"/>
                </a:tc>
                <a:tc>
                  <a:txBody>
                    <a:bodyPr/>
                    <a:lstStyle/>
                    <a:p>
                      <a:pPr marL="533400" indent="-533400" eaLnBrk="0" hangingPunct="0">
                        <a:lnSpc>
                          <a:spcPct val="80000"/>
                        </a:lnSpc>
                        <a:spcBef>
                          <a:spcPct val="20000"/>
                        </a:spcBef>
                      </a:pPr>
                      <a:r>
                        <a:rPr lang="en-IN" sz="1800" b="0" dirty="0">
                          <a:solidFill>
                            <a:schemeClr val="tx1"/>
                          </a:solidFill>
                          <a:latin typeface="Arial" pitchFamily="34" charset="0"/>
                          <a:cs typeface="Arial" pitchFamily="34" charset="0"/>
                        </a:rPr>
                        <a:t>To live</a:t>
                      </a:r>
                      <a:r>
                        <a:rPr lang="en-IN" sz="1800" b="0" baseline="0" dirty="0">
                          <a:solidFill>
                            <a:schemeClr val="tx1"/>
                          </a:solidFill>
                          <a:latin typeface="Arial" pitchFamily="34" charset="0"/>
                          <a:cs typeface="Arial" pitchFamily="34" charset="0"/>
                        </a:rPr>
                        <a:t> with feeling of co-existence, relationship with every unit in existence </a:t>
                      </a:r>
                    </a:p>
                    <a:p>
                      <a:pPr marL="533400" indent="-533400" eaLnBrk="0" hangingPunct="0">
                        <a:lnSpc>
                          <a:spcPct val="80000"/>
                        </a:lnSpc>
                        <a:spcBef>
                          <a:spcPct val="20000"/>
                        </a:spcBef>
                      </a:pPr>
                      <a:r>
                        <a:rPr lang="hi-IN" sz="1800" b="0" dirty="0">
                          <a:solidFill>
                            <a:schemeClr val="tx1"/>
                          </a:solidFill>
                          <a:latin typeface="Arial" pitchFamily="34" charset="0"/>
                          <a:cs typeface="Arial" pitchFamily="34" charset="0"/>
                        </a:rPr>
                        <a:t>सह-अस्तित्व के भाव में जीना</a:t>
                      </a:r>
                      <a:r>
                        <a:rPr lang="en-IN" sz="1800" b="0" dirty="0">
                          <a:solidFill>
                            <a:schemeClr val="tx1"/>
                          </a:solidFill>
                          <a:latin typeface="Arial" pitchFamily="34" charset="0"/>
                          <a:cs typeface="Arial" pitchFamily="34" charset="0"/>
                        </a:rPr>
                        <a:t>, </a:t>
                      </a:r>
                      <a:r>
                        <a:rPr lang="hi-IN" sz="1800" b="0" dirty="0">
                          <a:solidFill>
                            <a:schemeClr val="tx1"/>
                          </a:solidFill>
                          <a:latin typeface="Arial" pitchFamily="34" charset="0"/>
                          <a:cs typeface="Arial" pitchFamily="34" charset="0"/>
                        </a:rPr>
                        <a:t> अस्तित्व</a:t>
                      </a:r>
                      <a:r>
                        <a:rPr lang="en-IN" sz="1800" b="0" dirty="0">
                          <a:solidFill>
                            <a:schemeClr val="tx1"/>
                          </a:solidFill>
                          <a:latin typeface="Arial" pitchFamily="34" charset="0"/>
                          <a:cs typeface="Arial" pitchFamily="34" charset="0"/>
                        </a:rPr>
                        <a:t> </a:t>
                      </a:r>
                      <a:r>
                        <a:rPr lang="hi-IN" sz="1800" b="0" dirty="0">
                          <a:solidFill>
                            <a:schemeClr val="tx1"/>
                          </a:solidFill>
                          <a:latin typeface="Arial" pitchFamily="34" charset="0"/>
                          <a:cs typeface="Arial" pitchFamily="34" charset="0"/>
                        </a:rPr>
                        <a:t>की हर इकाई के साथ सम्बन्ध पूर्वक जीना</a:t>
                      </a:r>
                      <a:endParaRPr lang="en-GB" sz="1800" b="0" dirty="0">
                        <a:solidFill>
                          <a:schemeClr val="tx1"/>
                        </a:solidFill>
                        <a:latin typeface="Arial" pitchFamily="34" charset="0"/>
                        <a:cs typeface="Arial" pitchFamily="34" charset="0"/>
                      </a:endParaRPr>
                    </a:p>
                  </a:txBody>
                  <a:tcPr marT="45259" marB="45259"/>
                </a:tc>
                <a:extLst>
                  <a:ext uri="{0D108BD9-81ED-4DB2-BD59-A6C34878D82A}">
                    <a16:rowId xmlns="" xmlns:a16="http://schemas.microsoft.com/office/drawing/2014/main" val="10004"/>
                  </a:ext>
                </a:extLst>
              </a:tr>
            </a:tbl>
          </a:graphicData>
        </a:graphic>
      </p:graphicFrame>
    </p:spTree>
    <p:extLst>
      <p:ext uri="{BB962C8B-B14F-4D97-AF65-F5344CB8AC3E}">
        <p14:creationId xmlns="" xmlns:p14="http://schemas.microsoft.com/office/powerpoint/2010/main" val="1602309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7EFAFFA-A978-4305-981D-A2B6671CBFB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cs typeface="Arial" panose="020B0604020202020204" pitchFamily="34" charset="0"/>
              </a:rPr>
              <a:t>Participation in Human-Rest of Nature Relationship</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 xmlns:a16="http://schemas.microsoft.com/office/drawing/2014/main" id="{6A3BBE7D-00BA-4E8A-8AAB-B6DE46EE7224}"/>
              </a:ext>
            </a:extLst>
          </p:cNvPr>
          <p:cNvSpPr txBox="1">
            <a:spLocks/>
          </p:cNvSpPr>
          <p:nvPr/>
        </p:nvSpPr>
        <p:spPr>
          <a:xfrm>
            <a:off x="76200" y="685799"/>
            <a:ext cx="91440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Arial" charset="0"/>
              <a:buNone/>
              <a:defRPr/>
            </a:pPr>
            <a:endParaRPr lang="en-US" sz="2200" b="1" dirty="0">
              <a:latin typeface="+mj-lt"/>
            </a:endParaRPr>
          </a:p>
          <a:p>
            <a:pPr fontAlgn="auto">
              <a:spcAft>
                <a:spcPts val="0"/>
              </a:spcAft>
              <a:buFont typeface="Arial" charset="0"/>
              <a:buNone/>
              <a:defRPr/>
            </a:pPr>
            <a:r>
              <a:rPr lang="en-US" sz="2200" b="1" dirty="0">
                <a:latin typeface="+mj-lt"/>
              </a:rPr>
              <a:t>Utility Value</a:t>
            </a:r>
            <a:r>
              <a:rPr lang="en-US" sz="2200" dirty="0">
                <a:latin typeface="+mj-lt"/>
              </a:rPr>
              <a:t> (</a:t>
            </a:r>
            <a:r>
              <a:rPr lang="en-US" sz="2200" dirty="0" err="1">
                <a:latin typeface="+mj-lt"/>
                <a:cs typeface="Arial" charset="0"/>
              </a:rPr>
              <a:t>उपयोगिता</a:t>
            </a:r>
            <a:r>
              <a:rPr lang="en-US" sz="2200" dirty="0">
                <a:latin typeface="+mj-lt"/>
                <a:cs typeface="Arial" charset="0"/>
              </a:rPr>
              <a:t> </a:t>
            </a:r>
            <a:r>
              <a:rPr lang="en-US" sz="2200" dirty="0" err="1">
                <a:latin typeface="+mj-lt"/>
                <a:cs typeface="Arial" charset="0"/>
              </a:rPr>
              <a:t>मूल्य</a:t>
            </a:r>
            <a:r>
              <a:rPr lang="en-US" sz="2200" dirty="0">
                <a:latin typeface="+mj-lt"/>
              </a:rPr>
              <a:t>)</a:t>
            </a:r>
          </a:p>
          <a:p>
            <a:pPr marL="457200" indent="-457200" fontAlgn="auto">
              <a:spcAft>
                <a:spcPts val="0"/>
              </a:spcAft>
              <a:buFont typeface="Arial" charset="0"/>
              <a:buAutoNum type="alphaLcParenR"/>
              <a:defRPr/>
            </a:pPr>
            <a:r>
              <a:rPr lang="en-US" sz="2200" dirty="0">
                <a:latin typeface="+mj-lt"/>
              </a:rPr>
              <a:t>in nurturing Body</a:t>
            </a:r>
          </a:p>
          <a:p>
            <a:pPr marL="457200" indent="-457200" fontAlgn="auto">
              <a:spcAft>
                <a:spcPts val="0"/>
              </a:spcAft>
              <a:buFont typeface="Arial" charset="0"/>
              <a:buAutoNum type="alphaLcParenR"/>
              <a:defRPr/>
            </a:pPr>
            <a:r>
              <a:rPr lang="en-US" sz="2200" dirty="0">
                <a:latin typeface="+mj-lt"/>
              </a:rPr>
              <a:t>in protecting Body</a:t>
            </a:r>
          </a:p>
          <a:p>
            <a:pPr marL="457200" indent="-457200" fontAlgn="auto">
              <a:spcAft>
                <a:spcPts val="0"/>
              </a:spcAft>
              <a:buFont typeface="Arial" charset="0"/>
              <a:buAutoNum type="alphaLcParenR"/>
              <a:defRPr/>
            </a:pPr>
            <a:r>
              <a:rPr lang="en-US" sz="2200" dirty="0">
                <a:latin typeface="+mj-lt"/>
              </a:rPr>
              <a:t>in enhancing capacity of Body for use in societal development  (right </a:t>
            </a:r>
            <a:r>
              <a:rPr lang="en-US" sz="2200" dirty="0" err="1">
                <a:latin typeface="+mj-lt"/>
              </a:rPr>
              <a:t>utilisation</a:t>
            </a:r>
            <a:r>
              <a:rPr lang="en-US" sz="2200" dirty="0">
                <a:latin typeface="+mj-lt"/>
              </a:rPr>
              <a:t>)</a:t>
            </a:r>
          </a:p>
          <a:p>
            <a:pPr marL="457200" indent="-457200" fontAlgn="auto">
              <a:spcAft>
                <a:spcPts val="0"/>
              </a:spcAft>
              <a:buFont typeface="Arial" charset="0"/>
              <a:buNone/>
              <a:defRPr/>
            </a:pPr>
            <a:endParaRPr lang="en-US" sz="2200" dirty="0">
              <a:latin typeface="+mj-lt"/>
            </a:endParaRPr>
          </a:p>
          <a:p>
            <a:pPr marL="457200" indent="-457200" fontAlgn="auto">
              <a:spcAft>
                <a:spcPts val="0"/>
              </a:spcAft>
              <a:buFont typeface="Arial" charset="0"/>
              <a:buNone/>
              <a:defRPr/>
            </a:pPr>
            <a:r>
              <a:rPr lang="en-US" sz="2200" b="1" dirty="0">
                <a:latin typeface="+mj-lt"/>
              </a:rPr>
              <a:t>Artistic Value</a:t>
            </a:r>
            <a:r>
              <a:rPr lang="en-US" sz="2200" dirty="0">
                <a:latin typeface="+mj-lt"/>
              </a:rPr>
              <a:t> (</a:t>
            </a:r>
            <a:r>
              <a:rPr lang="en-US" sz="2200" dirty="0" err="1">
                <a:latin typeface="+mj-lt"/>
                <a:cs typeface="Arial" charset="0"/>
              </a:rPr>
              <a:t>कला</a:t>
            </a:r>
            <a:r>
              <a:rPr lang="en-US" sz="2200" dirty="0">
                <a:latin typeface="+mj-lt"/>
                <a:cs typeface="Arial" charset="0"/>
              </a:rPr>
              <a:t> </a:t>
            </a:r>
            <a:r>
              <a:rPr lang="en-US" sz="2200" dirty="0" err="1">
                <a:latin typeface="+mj-lt"/>
                <a:cs typeface="Arial" charset="0"/>
              </a:rPr>
              <a:t>मूल्य</a:t>
            </a:r>
            <a:r>
              <a:rPr lang="en-US" sz="2200" dirty="0">
                <a:latin typeface="+mj-lt"/>
              </a:rPr>
              <a:t>)</a:t>
            </a:r>
          </a:p>
          <a:p>
            <a:pPr marL="457200" indent="-457200" fontAlgn="auto">
              <a:spcAft>
                <a:spcPts val="0"/>
              </a:spcAft>
              <a:buFont typeface="Arial" charset="0"/>
              <a:buNone/>
              <a:defRPr/>
            </a:pPr>
            <a:r>
              <a:rPr lang="en-US" sz="2200" dirty="0">
                <a:latin typeface="+mj-lt"/>
              </a:rPr>
              <a:t>(Facilitating enrichment, protection &amp; right </a:t>
            </a:r>
            <a:r>
              <a:rPr lang="en-US" sz="2200" dirty="0" err="1">
                <a:latin typeface="+mj-lt"/>
              </a:rPr>
              <a:t>utilisation</a:t>
            </a:r>
            <a:r>
              <a:rPr lang="en-US" sz="2200" dirty="0">
                <a:latin typeface="+mj-lt"/>
              </a:rPr>
              <a:t>)</a:t>
            </a:r>
          </a:p>
          <a:p>
            <a:pPr marL="457200" indent="-457200" fontAlgn="auto">
              <a:spcAft>
                <a:spcPts val="0"/>
              </a:spcAft>
              <a:buFont typeface="+mj-lt"/>
              <a:buAutoNum type="alphaLcParenR"/>
              <a:defRPr/>
            </a:pPr>
            <a:r>
              <a:rPr lang="en-US" sz="2200" dirty="0">
                <a:latin typeface="+mj-lt"/>
              </a:rPr>
              <a:t>Protecting the physical facility</a:t>
            </a:r>
          </a:p>
          <a:p>
            <a:pPr marL="457200" indent="-457200" fontAlgn="auto">
              <a:spcAft>
                <a:spcPts val="0"/>
              </a:spcAft>
              <a:buFont typeface="+mj-lt"/>
              <a:buAutoNum type="alphaLcParenR"/>
              <a:defRPr/>
            </a:pPr>
            <a:r>
              <a:rPr lang="en-US" sz="2200" dirty="0">
                <a:latin typeface="+mj-lt"/>
              </a:rPr>
              <a:t>People friendly- Facilitating </a:t>
            </a:r>
            <a:r>
              <a:rPr lang="en-US" sz="2200" dirty="0" err="1">
                <a:latin typeface="+mj-lt"/>
              </a:rPr>
              <a:t>behaviour</a:t>
            </a:r>
            <a:r>
              <a:rPr lang="en-US" sz="2200" dirty="0">
                <a:latin typeface="+mj-lt"/>
              </a:rPr>
              <a:t> (making it convenient for sharing, expressing or receiving knowledge, feeling, thought)</a:t>
            </a:r>
          </a:p>
          <a:p>
            <a:pPr marL="457200" indent="-457200" fontAlgn="auto">
              <a:spcAft>
                <a:spcPts val="0"/>
              </a:spcAft>
              <a:buFont typeface="+mj-lt"/>
              <a:buAutoNum type="alphaLcParenR"/>
              <a:defRPr/>
            </a:pPr>
            <a:r>
              <a:rPr lang="en-US" sz="2200" dirty="0">
                <a:latin typeface="+mj-lt"/>
              </a:rPr>
              <a:t>Ease in use- Facilitating work (making it convenient for usage)</a:t>
            </a:r>
          </a:p>
          <a:p>
            <a:pPr marL="457200" indent="-457200" fontAlgn="auto">
              <a:spcAft>
                <a:spcPts val="0"/>
              </a:spcAft>
              <a:buFontTx/>
              <a:buChar char="-"/>
              <a:defRPr/>
            </a:pPr>
            <a:endParaRPr lang="en-US" sz="2200" dirty="0">
              <a:latin typeface="+mj-lt"/>
            </a:endParaRPr>
          </a:p>
          <a:p>
            <a:pPr marL="457200" indent="-457200" fontAlgn="auto">
              <a:spcAft>
                <a:spcPts val="0"/>
              </a:spcAft>
              <a:buFontTx/>
              <a:buChar char="-"/>
              <a:defRPr/>
            </a:pPr>
            <a:endParaRPr lang="en-US" sz="2200" dirty="0">
              <a:latin typeface="+mj-lt"/>
            </a:endParaRPr>
          </a:p>
          <a:p>
            <a:pPr marL="457200" indent="-457200" fontAlgn="auto">
              <a:spcAft>
                <a:spcPts val="0"/>
              </a:spcAft>
              <a:buFontTx/>
              <a:buChar char="-"/>
              <a:defRPr/>
            </a:pPr>
            <a:endParaRPr lang="en-US" sz="2200" dirty="0">
              <a:latin typeface="+mj-lt"/>
            </a:endParaRPr>
          </a:p>
          <a:p>
            <a:pPr marL="457200" indent="-457200" fontAlgn="auto">
              <a:spcAft>
                <a:spcPts val="0"/>
              </a:spcAft>
              <a:buFont typeface="Arial" charset="0"/>
              <a:buNone/>
              <a:defRPr/>
            </a:pPr>
            <a:endParaRPr lang="en-US" sz="2200" dirty="0">
              <a:latin typeface="+mj-lt"/>
            </a:endParaRPr>
          </a:p>
        </p:txBody>
      </p:sp>
    </p:spTree>
    <p:extLst>
      <p:ext uri="{BB962C8B-B14F-4D97-AF65-F5344CB8AC3E}">
        <p14:creationId xmlns="" xmlns:p14="http://schemas.microsoft.com/office/powerpoint/2010/main" val="1687295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8D6361B-04AC-4AEE-87C6-7A502C319A3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cs typeface="Arial" panose="020B0604020202020204" pitchFamily="34" charset="0"/>
              </a:rPr>
              <a:t>Policy – Detail, thought of "how to do"–Human Constitution</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E08913FB-35B2-4EBE-B58A-B38FE52D5F77}"/>
              </a:ext>
            </a:extLst>
          </p:cNvPr>
          <p:cNvSpPr txBox="1">
            <a:spLocks/>
          </p:cNvSpPr>
          <p:nvPr/>
        </p:nvSpPr>
        <p:spPr>
          <a:xfrm>
            <a:off x="0" y="801549"/>
            <a:ext cx="9144000" cy="59436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fontAlgn="auto">
              <a:spcAft>
                <a:spcPts val="0"/>
              </a:spcAft>
              <a:buFont typeface="Symbol" pitchFamily="18" charset="2"/>
              <a:buNone/>
              <a:defRPr/>
            </a:pPr>
            <a:r>
              <a:rPr lang="en-US" sz="2200" dirty="0">
                <a:latin typeface="+mj-lt"/>
                <a:cs typeface="Arial" charset="0"/>
              </a:rPr>
              <a:t>Includes p</a:t>
            </a:r>
            <a:r>
              <a:rPr lang="en-US" sz="2200" dirty="0">
                <a:latin typeface="+mj-lt"/>
              </a:rPr>
              <a:t>lan, program, implementation, results, evaluation</a:t>
            </a:r>
            <a:endParaRPr lang="en-US" sz="2200" dirty="0">
              <a:solidFill>
                <a:schemeClr val="bg1">
                  <a:lumMod val="50000"/>
                </a:schemeClr>
              </a:solidFill>
              <a:latin typeface="+mj-lt"/>
            </a:endParaRPr>
          </a:p>
          <a:p>
            <a:pPr marL="800100" lvl="2" indent="-342900" fontAlgn="auto">
              <a:spcAft>
                <a:spcPts val="0"/>
              </a:spcAft>
              <a:defRPr/>
            </a:pPr>
            <a:r>
              <a:rPr lang="en-US" sz="2200" dirty="0">
                <a:latin typeface="+mj-lt"/>
              </a:rPr>
              <a:t>Policy for enrichment	(</a:t>
            </a:r>
            <a:r>
              <a:rPr lang="en-US" sz="2200" dirty="0" err="1">
                <a:latin typeface="+mj-lt"/>
              </a:rPr>
              <a:t>arth</a:t>
            </a:r>
            <a:r>
              <a:rPr lang="en-US" sz="2200" dirty="0">
                <a:latin typeface="+mj-lt"/>
              </a:rPr>
              <a:t> </a:t>
            </a:r>
            <a:r>
              <a:rPr lang="en-US" sz="2200" dirty="0" err="1">
                <a:latin typeface="+mj-lt"/>
              </a:rPr>
              <a:t>neeti</a:t>
            </a:r>
            <a:r>
              <a:rPr lang="en-US" sz="2200" dirty="0">
                <a:latin typeface="+mj-lt"/>
              </a:rPr>
              <a:t>)	of Self , Body, Physical Facility</a:t>
            </a:r>
          </a:p>
          <a:p>
            <a:pPr marL="800100" lvl="2" indent="-342900" fontAlgn="auto">
              <a:spcAft>
                <a:spcPts val="0"/>
              </a:spcAft>
              <a:defRPr/>
            </a:pPr>
            <a:r>
              <a:rPr lang="en-US" sz="2200" dirty="0">
                <a:latin typeface="+mj-lt"/>
              </a:rPr>
              <a:t>Policy for protection	(</a:t>
            </a:r>
            <a:r>
              <a:rPr lang="en-US" sz="2200" dirty="0" err="1">
                <a:latin typeface="+mj-lt"/>
              </a:rPr>
              <a:t>rajya</a:t>
            </a:r>
            <a:r>
              <a:rPr lang="en-US" sz="2200" dirty="0">
                <a:latin typeface="+mj-lt"/>
              </a:rPr>
              <a:t> </a:t>
            </a:r>
            <a:r>
              <a:rPr lang="en-US" sz="2200" dirty="0" err="1">
                <a:latin typeface="+mj-lt"/>
              </a:rPr>
              <a:t>neeti</a:t>
            </a:r>
            <a:r>
              <a:rPr lang="en-US" sz="2200" dirty="0">
                <a:latin typeface="+mj-lt"/>
              </a:rPr>
              <a:t>)	of Self , Body, Physical Facility</a:t>
            </a:r>
          </a:p>
          <a:p>
            <a:pPr marL="800100" lvl="2" indent="-342900" fontAlgn="auto">
              <a:spcAft>
                <a:spcPts val="0"/>
              </a:spcAft>
              <a:defRPr/>
            </a:pPr>
            <a:r>
              <a:rPr lang="en-US" sz="2200" dirty="0">
                <a:latin typeface="+mj-lt"/>
              </a:rPr>
              <a:t>Policy for right </a:t>
            </a:r>
            <a:r>
              <a:rPr lang="en-US" sz="2200" dirty="0" err="1">
                <a:latin typeface="+mj-lt"/>
              </a:rPr>
              <a:t>utilisation</a:t>
            </a:r>
            <a:r>
              <a:rPr lang="en-US" sz="2200" dirty="0">
                <a:latin typeface="+mj-lt"/>
              </a:rPr>
              <a:t>	(</a:t>
            </a:r>
            <a:r>
              <a:rPr lang="en-US" sz="2200" dirty="0" err="1">
                <a:latin typeface="+mj-lt"/>
              </a:rPr>
              <a:t>dharm</a:t>
            </a:r>
            <a:r>
              <a:rPr lang="en-US" sz="2200" dirty="0">
                <a:latin typeface="+mj-lt"/>
              </a:rPr>
              <a:t> </a:t>
            </a:r>
            <a:r>
              <a:rPr lang="en-US" sz="2200" dirty="0" err="1">
                <a:latin typeface="+mj-lt"/>
              </a:rPr>
              <a:t>neeti</a:t>
            </a:r>
            <a:r>
              <a:rPr lang="en-US" sz="2200" dirty="0">
                <a:latin typeface="+mj-lt"/>
              </a:rPr>
              <a:t>)	of Self , Body, Physical Facility</a:t>
            </a:r>
          </a:p>
          <a:p>
            <a:pPr fontAlgn="auto">
              <a:spcAft>
                <a:spcPts val="0"/>
              </a:spcAft>
              <a:buFont typeface="Symbol" pitchFamily="18" charset="2"/>
              <a:buNone/>
              <a:defRPr/>
            </a:pPr>
            <a:r>
              <a:rPr lang="en-US" sz="2200" b="1" u="sng" dirty="0">
                <a:latin typeface="+mj-lt"/>
              </a:rPr>
              <a:t>Policy for right </a:t>
            </a:r>
            <a:r>
              <a:rPr lang="en-US" sz="2200" b="1" u="sng" dirty="0" err="1">
                <a:latin typeface="+mj-lt"/>
              </a:rPr>
              <a:t>utilisation</a:t>
            </a:r>
            <a:r>
              <a:rPr lang="en-US" sz="2200" b="1" u="sng" dirty="0">
                <a:latin typeface="+mj-lt"/>
              </a:rPr>
              <a:t> (priority1)</a:t>
            </a:r>
          </a:p>
          <a:p>
            <a:pPr fontAlgn="auto">
              <a:spcAft>
                <a:spcPts val="0"/>
              </a:spcAft>
              <a:buFont typeface="Symbol" pitchFamily="18" charset="2"/>
              <a:buNone/>
              <a:defRPr/>
            </a:pPr>
            <a:r>
              <a:rPr lang="en-US" sz="2200" dirty="0">
                <a:latin typeface="+mj-lt"/>
              </a:rPr>
              <a:t>Of Self 		Policy for investing the Self  for Self study- practice and 			authenticating in living</a:t>
            </a:r>
          </a:p>
          <a:p>
            <a:pPr fontAlgn="auto">
              <a:spcAft>
                <a:spcPts val="0"/>
              </a:spcAft>
              <a:buFont typeface="Symbol" pitchFamily="18" charset="2"/>
              <a:buNone/>
              <a:defRPr/>
            </a:pPr>
            <a:r>
              <a:rPr lang="en-US" sz="2200" dirty="0">
                <a:latin typeface="+mj-lt"/>
              </a:rPr>
              <a:t>Of 	Body	Policy to ensure that the Body is used for ensuring right 			understanding and right feeling in the Self as well as its 			authentication in living, including behavior, work and 			participation in larger order</a:t>
            </a:r>
          </a:p>
          <a:p>
            <a:pPr fontAlgn="auto">
              <a:spcAft>
                <a:spcPts val="0"/>
              </a:spcAft>
              <a:buFont typeface="Symbol" pitchFamily="18" charset="2"/>
              <a:buNone/>
              <a:defRPr/>
            </a:pPr>
            <a:r>
              <a:rPr lang="en-US" sz="2200" dirty="0">
                <a:latin typeface="+mj-lt"/>
              </a:rPr>
              <a:t>Of PF		Policy to ensure the use of PF for nurturing, protection and 		right </a:t>
            </a:r>
            <a:r>
              <a:rPr lang="en-US" sz="2200" dirty="0" err="1">
                <a:latin typeface="+mj-lt"/>
              </a:rPr>
              <a:t>utilisation</a:t>
            </a:r>
            <a:r>
              <a:rPr lang="en-US" sz="2200" dirty="0">
                <a:latin typeface="+mj-lt"/>
              </a:rPr>
              <a:t> of the Body. Policy for right </a:t>
            </a:r>
            <a:r>
              <a:rPr lang="en-US" sz="2200" dirty="0" err="1">
                <a:latin typeface="+mj-lt"/>
              </a:rPr>
              <a:t>utilisation</a:t>
            </a:r>
            <a:r>
              <a:rPr lang="en-US" sz="2200" dirty="0">
                <a:latin typeface="+mj-lt"/>
              </a:rPr>
              <a:t> of 			physical facility for relationship and societal order</a:t>
            </a:r>
          </a:p>
        </p:txBody>
      </p:sp>
    </p:spTree>
    <p:extLst>
      <p:ext uri="{BB962C8B-B14F-4D97-AF65-F5344CB8AC3E}">
        <p14:creationId xmlns="" xmlns:p14="http://schemas.microsoft.com/office/powerpoint/2010/main" val="2140704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864802-9D1A-4F5D-BA10-8FD64B43254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cs typeface="Arial" panose="020B0604020202020204" pitchFamily="34" charset="0"/>
              </a:rPr>
              <a:t>Policy – Detail, thought of "how to do"–Human Constitution</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74E8FCDE-F381-4FE4-93FA-6F6B33741157}"/>
              </a:ext>
            </a:extLst>
          </p:cNvPr>
          <p:cNvSpPr txBox="1">
            <a:spLocks/>
          </p:cNvSpPr>
          <p:nvPr/>
        </p:nvSpPr>
        <p:spPr bwMode="auto">
          <a:xfrm>
            <a:off x="76200" y="817163"/>
            <a:ext cx="9144000" cy="5943600"/>
          </a:xfrm>
          <a:prstGeom prst="rect">
            <a:avLst/>
          </a:prstGeom>
          <a:ln>
            <a:miter lim="800000"/>
            <a:headEnd/>
            <a:tailEnd/>
          </a:ln>
        </p:spPr>
        <p:txBody>
          <a:bodyPr vert="horz" wrap="square" lIns="91440" tIns="45720" rIns="91440" bIns="45720" numCol="1" anchor="t"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Symbol" pitchFamily="18" charset="2"/>
              <a:buNone/>
              <a:defRPr/>
            </a:pPr>
            <a:r>
              <a:rPr lang="en-US" sz="2200" b="1" u="sng" dirty="0">
                <a:latin typeface="+mj-lt"/>
                <a:cs typeface="Arial" charset="0"/>
              </a:rPr>
              <a:t>Policy for Protection (priority 2)</a:t>
            </a:r>
          </a:p>
          <a:p>
            <a:pPr fontAlgn="auto">
              <a:spcAft>
                <a:spcPts val="0"/>
              </a:spcAft>
              <a:buFont typeface="Symbol" pitchFamily="18" charset="2"/>
              <a:buNone/>
              <a:defRPr/>
            </a:pPr>
            <a:r>
              <a:rPr lang="en-US" sz="2200" dirty="0">
                <a:latin typeface="+mj-lt"/>
                <a:cs typeface="Arial" charset="0"/>
              </a:rPr>
              <a:t>For Self 	Policy for ensuring conducive environment and protecting from </a:t>
            </a:r>
            <a:r>
              <a:rPr lang="en-US" sz="2200" dirty="0" err="1">
                <a:latin typeface="+mj-lt"/>
                <a:cs typeface="Arial" charset="0"/>
              </a:rPr>
              <a:t>unfavourable</a:t>
            </a:r>
            <a:r>
              <a:rPr lang="en-US" sz="2200" dirty="0">
                <a:latin typeface="+mj-lt"/>
                <a:cs typeface="Arial" charset="0"/>
              </a:rPr>
              <a:t> environment</a:t>
            </a:r>
          </a:p>
          <a:p>
            <a:pPr fontAlgn="auto">
              <a:spcAft>
                <a:spcPts val="0"/>
              </a:spcAft>
              <a:buFont typeface="Symbol" pitchFamily="18" charset="2"/>
              <a:buNone/>
              <a:defRPr/>
            </a:pPr>
            <a:r>
              <a:rPr lang="en-US" sz="2200" dirty="0">
                <a:latin typeface="+mj-lt"/>
                <a:cs typeface="Arial" charset="0"/>
              </a:rPr>
              <a:t>For Body	Policy for ensuring shelter, clothes…</a:t>
            </a:r>
          </a:p>
          <a:p>
            <a:pPr fontAlgn="auto">
              <a:spcAft>
                <a:spcPts val="0"/>
              </a:spcAft>
              <a:buFont typeface="Symbol" pitchFamily="18" charset="2"/>
              <a:buNone/>
              <a:defRPr/>
            </a:pPr>
            <a:r>
              <a:rPr lang="en-US" sz="2200" dirty="0">
                <a:latin typeface="+mj-lt"/>
                <a:cs typeface="Arial" charset="0"/>
              </a:rPr>
              <a:t>For PF		Policy for proper storage</a:t>
            </a:r>
          </a:p>
          <a:p>
            <a:pPr fontAlgn="auto">
              <a:spcAft>
                <a:spcPts val="0"/>
              </a:spcAft>
              <a:buFont typeface="Symbol" pitchFamily="18" charset="2"/>
              <a:buNone/>
              <a:defRPr/>
            </a:pPr>
            <a:endParaRPr lang="en-US" sz="2200" dirty="0">
              <a:latin typeface="+mj-lt"/>
              <a:cs typeface="Arial" charset="0"/>
            </a:endParaRPr>
          </a:p>
          <a:p>
            <a:pPr fontAlgn="auto">
              <a:spcAft>
                <a:spcPts val="0"/>
              </a:spcAft>
              <a:buFont typeface="Symbol" pitchFamily="18" charset="2"/>
              <a:buNone/>
              <a:defRPr/>
            </a:pPr>
            <a:r>
              <a:rPr lang="en-US" sz="2200" b="1" u="sng" dirty="0">
                <a:latin typeface="+mj-lt"/>
                <a:cs typeface="Arial" charset="0"/>
              </a:rPr>
              <a:t>Policy for Enrichment (priority 3)</a:t>
            </a:r>
          </a:p>
          <a:p>
            <a:pPr fontAlgn="auto">
              <a:spcAft>
                <a:spcPts val="0"/>
              </a:spcAft>
              <a:buFont typeface="Symbol" pitchFamily="18" charset="2"/>
              <a:buNone/>
              <a:defRPr/>
            </a:pPr>
            <a:r>
              <a:rPr lang="en-US" sz="2200" dirty="0">
                <a:latin typeface="+mj-lt"/>
                <a:cs typeface="Arial" charset="0"/>
              </a:rPr>
              <a:t>For Self 	Policy for education-</a:t>
            </a:r>
            <a:r>
              <a:rPr lang="en-US" sz="2200" dirty="0" err="1">
                <a:latin typeface="+mj-lt"/>
                <a:cs typeface="Arial" charset="0"/>
              </a:rPr>
              <a:t>sanskar</a:t>
            </a:r>
            <a:r>
              <a:rPr lang="en-US" sz="2200" dirty="0">
                <a:latin typeface="+mj-lt"/>
                <a:cs typeface="Arial" charset="0"/>
              </a:rPr>
              <a:t>, adult education, other efforts for development of </a:t>
            </a:r>
            <a:r>
              <a:rPr lang="en-US" sz="2200" dirty="0" err="1">
                <a:latin typeface="+mj-lt"/>
                <a:cs typeface="Arial" charset="0"/>
              </a:rPr>
              <a:t>sanskar</a:t>
            </a:r>
            <a:r>
              <a:rPr lang="en-US" sz="2200" dirty="0">
                <a:latin typeface="+mj-lt"/>
                <a:cs typeface="Arial" charset="0"/>
              </a:rPr>
              <a:t> in society like music, dance, drama…</a:t>
            </a:r>
          </a:p>
          <a:p>
            <a:pPr fontAlgn="auto">
              <a:spcAft>
                <a:spcPts val="0"/>
              </a:spcAft>
              <a:buFont typeface="Symbol" pitchFamily="18" charset="2"/>
              <a:buNone/>
              <a:defRPr/>
            </a:pPr>
            <a:endParaRPr lang="en-US" sz="2200" dirty="0">
              <a:latin typeface="+mj-lt"/>
              <a:cs typeface="Arial" charset="0"/>
            </a:endParaRPr>
          </a:p>
          <a:p>
            <a:pPr fontAlgn="auto">
              <a:spcAft>
                <a:spcPts val="0"/>
              </a:spcAft>
              <a:buFont typeface="Symbol" pitchFamily="18" charset="2"/>
              <a:buNone/>
              <a:defRPr/>
            </a:pPr>
            <a:r>
              <a:rPr lang="en-US" sz="2200" dirty="0">
                <a:latin typeface="+mj-lt"/>
                <a:cs typeface="Arial" charset="0"/>
              </a:rPr>
              <a:t>For Body	Policy for intake-lifestyle to ensure health of Body</a:t>
            </a:r>
          </a:p>
          <a:p>
            <a:pPr fontAlgn="auto">
              <a:spcAft>
                <a:spcPts val="0"/>
              </a:spcAft>
              <a:buFont typeface="Symbol" pitchFamily="18" charset="2"/>
              <a:buNone/>
              <a:defRPr/>
            </a:pPr>
            <a:endParaRPr lang="en-US" sz="2200" dirty="0">
              <a:latin typeface="+mj-lt"/>
              <a:cs typeface="Arial" charset="0"/>
            </a:endParaRPr>
          </a:p>
          <a:p>
            <a:pPr fontAlgn="auto">
              <a:spcAft>
                <a:spcPts val="0"/>
              </a:spcAft>
              <a:buFont typeface="Symbol" pitchFamily="18" charset="2"/>
              <a:buNone/>
              <a:defRPr/>
            </a:pPr>
            <a:r>
              <a:rPr lang="en-US" sz="2200" dirty="0">
                <a:latin typeface="+mj-lt"/>
                <a:cs typeface="Arial" charset="0"/>
              </a:rPr>
              <a:t>For PF		Policy for production with right process &amp; right skills</a:t>
            </a:r>
          </a:p>
          <a:p>
            <a:pPr fontAlgn="auto">
              <a:spcAft>
                <a:spcPts val="0"/>
              </a:spcAft>
              <a:buFont typeface="Symbol" pitchFamily="18" charset="2"/>
              <a:buNone/>
              <a:defRPr/>
            </a:pPr>
            <a:endParaRPr lang="en-US" sz="2200" dirty="0">
              <a:latin typeface="+mj-lt"/>
              <a:cs typeface="Arial" charset="0"/>
            </a:endParaRPr>
          </a:p>
        </p:txBody>
      </p:sp>
    </p:spTree>
    <p:extLst>
      <p:ext uri="{BB962C8B-B14F-4D97-AF65-F5344CB8AC3E}">
        <p14:creationId xmlns="" xmlns:p14="http://schemas.microsoft.com/office/powerpoint/2010/main" val="1064640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E9B6DAB-3418-4860-99A4-806A604391F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altLang="en-US" sz="3200" dirty="0">
                <a:cs typeface="Arial" panose="020B0604020202020204" pitchFamily="34" charset="0"/>
              </a:rPr>
              <a:t>Character</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ext Placeholder 2">
            <a:extLst>
              <a:ext uri="{FF2B5EF4-FFF2-40B4-BE49-F238E27FC236}">
                <a16:creationId xmlns="" xmlns:a16="http://schemas.microsoft.com/office/drawing/2014/main" id="{FE1C7ACC-978A-4AB3-B520-3130604CD0A2}"/>
              </a:ext>
            </a:extLst>
          </p:cNvPr>
          <p:cNvSpPr txBox="1">
            <a:spLocks/>
          </p:cNvSpPr>
          <p:nvPr/>
        </p:nvSpPr>
        <p:spPr bwMode="auto">
          <a:xfrm>
            <a:off x="0" y="609600"/>
            <a:ext cx="9144000" cy="5943600"/>
          </a:xfrm>
          <a:prstGeom prst="rect">
            <a:avLst/>
          </a:prstGeom>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defRPr/>
            </a:pPr>
            <a:endParaRPr lang="en-US" altLang="en-US" sz="2200" dirty="0">
              <a:latin typeface="+mj-lt"/>
            </a:endParaRPr>
          </a:p>
          <a:p>
            <a:pPr marL="457200" indent="-457200" fontAlgn="auto">
              <a:spcAft>
                <a:spcPts val="0"/>
              </a:spcAft>
              <a:defRPr/>
            </a:pPr>
            <a:r>
              <a:rPr lang="en-US" altLang="en-US" sz="2200" dirty="0">
                <a:latin typeface="+mj-lt"/>
              </a:rPr>
              <a:t>Compassionate </a:t>
            </a:r>
            <a:r>
              <a:rPr lang="en-US" altLang="en-US" sz="2200" dirty="0" err="1">
                <a:latin typeface="+mj-lt"/>
              </a:rPr>
              <a:t>behaviour</a:t>
            </a:r>
            <a:r>
              <a:rPr lang="en-US" altLang="en-US" sz="2200" dirty="0">
                <a:latin typeface="+mj-lt"/>
              </a:rPr>
              <a:t>, work &amp; participation in larger order on the basis of human values</a:t>
            </a:r>
          </a:p>
          <a:p>
            <a:pPr marL="914400" lvl="2" indent="-457200" fontAlgn="auto">
              <a:spcAft>
                <a:spcPts val="0"/>
              </a:spcAft>
              <a:defRPr/>
            </a:pPr>
            <a:r>
              <a:rPr lang="en-US" altLang="en-US" sz="2200" dirty="0" err="1">
                <a:latin typeface="+mj-lt"/>
              </a:rPr>
              <a:t>Behaviour</a:t>
            </a:r>
            <a:r>
              <a:rPr lang="en-US" altLang="en-US" sz="2200" dirty="0">
                <a:latin typeface="+mj-lt"/>
              </a:rPr>
              <a:t> 	– ensuring justice, mutual happiness 				   (while also filling the gaps created in ignorance)</a:t>
            </a:r>
          </a:p>
          <a:p>
            <a:pPr marL="914400" lvl="2" indent="-457200" fontAlgn="auto">
              <a:spcAft>
                <a:spcPts val="0"/>
              </a:spcAft>
              <a:defRPr/>
            </a:pPr>
            <a:r>
              <a:rPr lang="en-US" altLang="en-US" sz="2200" dirty="0">
                <a:latin typeface="+mj-lt"/>
              </a:rPr>
              <a:t>Work 		– ensuring preservation, mutual prosperity 				   (while also filling the gaps created in ignorance)</a:t>
            </a:r>
          </a:p>
          <a:p>
            <a:pPr marL="457200" indent="-457200" fontAlgn="auto">
              <a:spcAft>
                <a:spcPts val="0"/>
              </a:spcAft>
              <a:defRPr/>
            </a:pPr>
            <a:endParaRPr lang="en-US" altLang="en-US" sz="2200" dirty="0">
              <a:latin typeface="+mj-lt"/>
            </a:endParaRPr>
          </a:p>
          <a:p>
            <a:pPr marL="457200" indent="-457200" fontAlgn="auto">
              <a:spcAft>
                <a:spcPts val="0"/>
              </a:spcAft>
              <a:defRPr/>
            </a:pPr>
            <a:r>
              <a:rPr lang="en-US" altLang="en-US" sz="2200" dirty="0">
                <a:latin typeface="+mj-lt"/>
              </a:rPr>
              <a:t>Rightfully acquired wealth (</a:t>
            </a:r>
            <a:r>
              <a:rPr lang="en-US" altLang="en-US" sz="2200" dirty="0" err="1">
                <a:latin typeface="+mj-lt"/>
              </a:rPr>
              <a:t>swa-dhan</a:t>
            </a:r>
            <a:r>
              <a:rPr lang="en-US" altLang="en-US" sz="2200" dirty="0">
                <a:latin typeface="+mj-lt"/>
              </a:rPr>
              <a:t>)</a:t>
            </a:r>
          </a:p>
          <a:p>
            <a:pPr marL="457200" indent="-457200" fontAlgn="auto">
              <a:spcAft>
                <a:spcPts val="0"/>
              </a:spcAft>
              <a:defRPr/>
            </a:pPr>
            <a:endParaRPr lang="en-US" altLang="en-US" sz="2200" dirty="0">
              <a:latin typeface="+mj-lt"/>
            </a:endParaRPr>
          </a:p>
          <a:p>
            <a:pPr marL="457200" indent="-457200" fontAlgn="auto">
              <a:spcAft>
                <a:spcPts val="0"/>
              </a:spcAft>
              <a:defRPr/>
            </a:pPr>
            <a:r>
              <a:rPr lang="en-US" altLang="en-US" sz="2200" dirty="0">
                <a:latin typeface="+mj-lt"/>
              </a:rPr>
              <a:t>Chastity in conjugal relationship (</a:t>
            </a:r>
            <a:r>
              <a:rPr lang="en-US" altLang="en-US" sz="2200" dirty="0" err="1">
                <a:latin typeface="+mj-lt"/>
              </a:rPr>
              <a:t>swa-nari</a:t>
            </a:r>
            <a:r>
              <a:rPr lang="en-US" altLang="en-US" sz="2200" dirty="0">
                <a:latin typeface="+mj-lt"/>
              </a:rPr>
              <a:t>/</a:t>
            </a:r>
            <a:r>
              <a:rPr lang="en-US" altLang="en-US" sz="2200" dirty="0" err="1">
                <a:latin typeface="+mj-lt"/>
              </a:rPr>
              <a:t>swa-purush</a:t>
            </a:r>
            <a:r>
              <a:rPr lang="en-US" altLang="en-US" sz="2200" dirty="0">
                <a:latin typeface="+mj-lt"/>
              </a:rPr>
              <a:t>)</a:t>
            </a:r>
          </a:p>
          <a:p>
            <a:pPr fontAlgn="auto">
              <a:spcAft>
                <a:spcPts val="0"/>
              </a:spcAft>
              <a:buFont typeface="Symbol" pitchFamily="18" charset="2"/>
              <a:buNone/>
              <a:defRPr/>
            </a:pPr>
            <a:endParaRPr lang="en-US" altLang="en-US" sz="2200" dirty="0">
              <a:latin typeface="+mj-lt"/>
            </a:endParaRPr>
          </a:p>
        </p:txBody>
      </p:sp>
    </p:spTree>
    <p:extLst>
      <p:ext uri="{BB962C8B-B14F-4D97-AF65-F5344CB8AC3E}">
        <p14:creationId xmlns="" xmlns:p14="http://schemas.microsoft.com/office/powerpoint/2010/main" val="452202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A24A76C-6E61-4762-BFF2-80A3E219363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06/22/21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eaLnBrk="1" fontAlgn="auto" hangingPunct="1">
              <a:spcAft>
                <a:spcPts val="0"/>
              </a:spcAft>
              <a:defRPr/>
            </a:pPr>
            <a:r>
              <a:rPr lang="en-US" altLang="en-US" sz="3200" dirty="0">
                <a:cs typeface="Arial" panose="020B0604020202020204" pitchFamily="34" charset="0"/>
              </a:rPr>
              <a:t>Rightfully Acquired Wealth</a:t>
            </a:r>
            <a:r>
              <a:rPr kumimoji="0" lang="en-US" altLang="en-US" sz="3000" b="0" i="0" u="none" strike="noStrike" kern="1200" cap="none" spc="0" normalizeH="0" baseline="0" noProof="0" dirty="0">
                <a:ln>
                  <a:noFill/>
                </a:ln>
                <a:solidFill>
                  <a:prstClr val="black"/>
                </a:solidFill>
                <a:effectLst/>
                <a:uLnTx/>
                <a:uFillTx/>
                <a:latin typeface="Calibri"/>
                <a:ea typeface="+mn-ea"/>
                <a:cs typeface="+mn-cs"/>
              </a:rPr>
              <a:t>[CO5]</a:t>
            </a:r>
            <a:endParaRPr kumimoji="0" lang="en-US" sz="30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3">
            <a:extLst>
              <a:ext uri="{FF2B5EF4-FFF2-40B4-BE49-F238E27FC236}">
                <a16:creationId xmlns="" xmlns:a16="http://schemas.microsoft.com/office/drawing/2014/main" id="{5FEF19EA-FD5E-47DF-BE92-D8190C683144}"/>
              </a:ext>
            </a:extLst>
          </p:cNvPr>
          <p:cNvSpPr txBox="1">
            <a:spLocks/>
          </p:cNvSpPr>
          <p:nvPr/>
        </p:nvSpPr>
        <p:spPr bwMode="auto">
          <a:xfrm>
            <a:off x="152400" y="1295400"/>
            <a:ext cx="8763000" cy="5943600"/>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buFont typeface="Arial" pitchFamily="34" charset="0"/>
              <a:buNone/>
            </a:pPr>
            <a:r>
              <a:rPr lang="en-US" altLang="en-US" sz="2200" dirty="0"/>
              <a:t>Production through </a:t>
            </a:r>
            <a:r>
              <a:rPr lang="en-US" altLang="en-US" sz="2200" dirty="0" err="1"/>
              <a:t>labour</a:t>
            </a:r>
            <a:r>
              <a:rPr lang="en-US" altLang="en-US" sz="2200" dirty="0"/>
              <a:t> on rest of nature or physical facility obtained in exchange of service – physical facility endowed with utility value &amp; artistic value</a:t>
            </a:r>
          </a:p>
          <a:p>
            <a:pPr fontAlgn="auto">
              <a:spcAft>
                <a:spcPts val="0"/>
              </a:spcAft>
              <a:buFont typeface="Arial" pitchFamily="34" charset="0"/>
              <a:buNone/>
            </a:pPr>
            <a:endParaRPr lang="en-US" altLang="en-US" sz="2200" dirty="0"/>
          </a:p>
          <a:p>
            <a:pPr fontAlgn="auto">
              <a:spcAft>
                <a:spcPts val="0"/>
              </a:spcAft>
              <a:buFont typeface="Arial" pitchFamily="34" charset="0"/>
              <a:buNone/>
            </a:pPr>
            <a:r>
              <a:rPr lang="en-US" altLang="en-US" sz="2200" dirty="0"/>
              <a:t>Gift – wealth shared willingly / happily from one’s rightfully acquired wealth on various occasions like festivals (ex. gift in relationship)</a:t>
            </a:r>
          </a:p>
          <a:p>
            <a:pPr fontAlgn="auto">
              <a:spcAft>
                <a:spcPts val="0"/>
              </a:spcAft>
              <a:buFont typeface="Arial" pitchFamily="34" charset="0"/>
              <a:buNone/>
            </a:pPr>
            <a:endParaRPr lang="en-US" altLang="en-US" sz="2200" dirty="0"/>
          </a:p>
          <a:p>
            <a:pPr fontAlgn="auto">
              <a:spcAft>
                <a:spcPts val="0"/>
              </a:spcAft>
              <a:buFont typeface="Arial" pitchFamily="34" charset="0"/>
              <a:buNone/>
            </a:pPr>
            <a:r>
              <a:rPr lang="en-US" altLang="en-US" sz="2200" dirty="0"/>
              <a:t>Award – physical facility / wealth given with joy in a function to </a:t>
            </a:r>
            <a:r>
              <a:rPr lang="en-US" altLang="en-US" sz="2200" dirty="0" err="1"/>
              <a:t>recognise</a:t>
            </a:r>
            <a:r>
              <a:rPr lang="en-US" altLang="en-US" sz="2200" dirty="0"/>
              <a:t> one’s contribution to society and for motivating others</a:t>
            </a:r>
          </a:p>
        </p:txBody>
      </p:sp>
    </p:spTree>
    <p:extLst>
      <p:ext uri="{BB962C8B-B14F-4D97-AF65-F5344CB8AC3E}">
        <p14:creationId xmlns="" xmlns:p14="http://schemas.microsoft.com/office/powerpoint/2010/main" val="3266617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85413"/>
            <a:ext cx="8915400" cy="5539187"/>
          </a:xfrm>
        </p:spPr>
        <p:txBody>
          <a:bodyPr>
            <a:normAutofit/>
          </a:bodyPr>
          <a:lstStyle/>
          <a:p>
            <a:pPr marL="457200" indent="-457200" algn="just">
              <a:buFont typeface="+mj-lt"/>
              <a:buAutoNum type="arabicPeriod"/>
            </a:pPr>
            <a:r>
              <a:rPr lang="en-US" sz="2200" dirty="0">
                <a:effectLst/>
                <a:ea typeface="Times New Roman" panose="02020603050405020304" pitchFamily="18" charset="0"/>
              </a:rPr>
              <a:t>_________ deals with what is universally valuable to us, what is conductive to our individual and collective happiness and prosperity in a sustainable way.</a:t>
            </a:r>
            <a:endParaRPr lang="en-IN" sz="2200" dirty="0">
              <a:effectLst/>
              <a:ea typeface="Times New Roman" panose="02020603050405020304" pitchFamily="18" charset="0"/>
            </a:endParaRPr>
          </a:p>
          <a:p>
            <a:pPr marL="457200" lvl="0" indent="-457200" algn="just">
              <a:spcAft>
                <a:spcPts val="0"/>
              </a:spcAft>
              <a:buFont typeface="+mj-lt"/>
              <a:buAutoNum type="arabicPeriod"/>
            </a:pPr>
            <a:endParaRPr lang="en-US" sz="2200" dirty="0">
              <a:effectLst/>
              <a:ea typeface="Calibri" panose="020F0502020204030204" pitchFamily="34" charset="0"/>
            </a:endParaRPr>
          </a:p>
          <a:p>
            <a:pPr algn="just">
              <a:buFont typeface="+mj-lt"/>
              <a:buAutoNum type="arabicPeriod" startAt="2"/>
            </a:pPr>
            <a:r>
              <a:rPr lang="en-IN" sz="2200" dirty="0">
                <a:solidFill>
                  <a:srgbClr val="000000"/>
                </a:solidFill>
                <a:effectLst/>
                <a:ea typeface="Helvetica Neue"/>
                <a:cs typeface="Helvetica Neue"/>
              </a:rPr>
              <a:t>Working only for physical facilities is living with ____________.</a:t>
            </a:r>
          </a:p>
          <a:p>
            <a:pPr algn="just">
              <a:buFont typeface="+mj-lt"/>
              <a:buAutoNum type="arabicPeriod" startAt="2"/>
            </a:pPr>
            <a:endParaRPr lang="en-IN" sz="2200" dirty="0">
              <a:solidFill>
                <a:srgbClr val="000000"/>
              </a:solidFill>
              <a:effectLst/>
              <a:ea typeface="Helvetica Neue"/>
              <a:cs typeface="Helvetica Neue"/>
            </a:endParaRPr>
          </a:p>
          <a:p>
            <a:pPr algn="just">
              <a:buFont typeface="+mj-lt"/>
              <a:buAutoNum type="arabicPeriod" startAt="2"/>
            </a:pPr>
            <a:r>
              <a:rPr lang="en-IN" sz="2200" dirty="0">
                <a:solidFill>
                  <a:srgbClr val="000000"/>
                </a:solidFill>
                <a:effectLst/>
                <a:ea typeface="Helvetica Neue"/>
                <a:cs typeface="Helvetica Neue"/>
              </a:rPr>
              <a:t>The basic requirements for fulfilling the aspirations of every human being are ___________, ________ &amp; ___________.</a:t>
            </a:r>
          </a:p>
          <a:p>
            <a:pPr algn="just">
              <a:buFont typeface="+mj-lt"/>
              <a:buAutoNum type="arabicPeriod" startAt="2"/>
            </a:pPr>
            <a:endParaRPr lang="en-IN" sz="2200" dirty="0">
              <a:solidFill>
                <a:srgbClr val="000000"/>
              </a:solidFill>
              <a:effectLst/>
              <a:ea typeface="Helvetica Neue"/>
              <a:cs typeface="Helvetica Neue"/>
            </a:endParaRPr>
          </a:p>
          <a:p>
            <a:pPr algn="just">
              <a:buFont typeface="+mj-lt"/>
              <a:buAutoNum type="arabicPeriod" startAt="2"/>
            </a:pPr>
            <a:r>
              <a:rPr lang="en-IN" sz="2200" dirty="0">
                <a:effectLst/>
                <a:ea typeface="Calibri" panose="020F0502020204030204" pitchFamily="34" charset="0"/>
                <a:cs typeface="Times New Roman" panose="02020603050405020304" pitchFamily="18" charset="0"/>
              </a:rPr>
              <a:t>Working for right understanding as the first priority followed </a:t>
            </a:r>
            <a:r>
              <a:rPr lang="en-IN" sz="2200" spc="15" dirty="0">
                <a:effectLst/>
                <a:ea typeface="Calibri" panose="020F0502020204030204" pitchFamily="34" charset="0"/>
                <a:cs typeface="Times New Roman" panose="02020603050405020304" pitchFamily="18" charset="0"/>
              </a:rPr>
              <a:t>by </a:t>
            </a:r>
            <a:r>
              <a:rPr lang="en-IN" sz="2200" dirty="0">
                <a:effectLst/>
                <a:ea typeface="Calibri" panose="020F0502020204030204" pitchFamily="34" charset="0"/>
                <a:cs typeface="Times New Roman" panose="02020603050405020304" pitchFamily="18" charset="0"/>
              </a:rPr>
              <a:t>relationship and physical facilities implies living with _________.</a:t>
            </a:r>
          </a:p>
          <a:p>
            <a:pPr algn="just">
              <a:buFont typeface="+mj-lt"/>
              <a:buAutoNum type="arabicPeriod" startAt="2"/>
            </a:pPr>
            <a:endParaRPr lang="en-IN" sz="2200" dirty="0">
              <a:effectLst/>
              <a:ea typeface="Calibri" panose="020F0502020204030204" pitchFamily="34" charset="0"/>
              <a:cs typeface="Times New Roman" panose="02020603050405020304" pitchFamily="18" charset="0"/>
            </a:endParaRPr>
          </a:p>
          <a:p>
            <a:pPr lvl="0" algn="just">
              <a:spcAft>
                <a:spcPts val="0"/>
              </a:spcAft>
              <a:buFont typeface="+mj-lt"/>
              <a:buAutoNum type="arabicPeriod" startAt="2"/>
            </a:pPr>
            <a:r>
              <a:rPr lang="en-US" sz="2200" dirty="0">
                <a:solidFill>
                  <a:srgbClr val="000000"/>
                </a:solidFill>
                <a:effectLst/>
                <a:ea typeface="Arial Unicode MS"/>
              </a:rPr>
              <a:t>Physical facilities are necessary as well as complete for a human being- True /False</a:t>
            </a:r>
            <a:endParaRPr lang="en-US" sz="2200" dirty="0">
              <a:effectLst/>
              <a:ea typeface="Calibri" panose="020F0502020204030204" pitchFamily="34" charset="0"/>
            </a:endParaRPr>
          </a:p>
          <a:p>
            <a:pPr marL="514350" lvl="0" indent="-514350" algn="just">
              <a:spcAft>
                <a:spcPts val="0"/>
              </a:spcAft>
              <a:buFont typeface="+mj-lt"/>
              <a:buAutoNum type="arabicPeriod" startAt="2"/>
            </a:pPr>
            <a:endParaRPr lang="en-US" sz="2200" dirty="0"/>
          </a:p>
        </p:txBody>
      </p:sp>
      <p:sp>
        <p:nvSpPr>
          <p:cNvPr id="4" name="Date Placeholder 3"/>
          <p:cNvSpPr>
            <a:spLocks noGrp="1"/>
          </p:cNvSpPr>
          <p:nvPr>
            <p:ph type="dt" sz="half" idx="10"/>
          </p:nvPr>
        </p:nvSpPr>
        <p:spPr/>
        <p:txBody>
          <a:bodyPr/>
          <a:lstStyle/>
          <a:p>
            <a:fld id="{FEEE2828-68C3-4505-BC48-6C9B15986CC5}"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dirty="0"/>
              <a:t>Daily Quiz</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4">
            <a:extLst>
              <a:ext uri="{FF2B5EF4-FFF2-40B4-BE49-F238E27FC236}">
                <a16:creationId xmlns="" xmlns:a16="http://schemas.microsoft.com/office/drawing/2014/main" id="{01526290-4535-404A-A6B0-12AE265AA3A0}"/>
              </a:ext>
            </a:extLst>
          </p:cNvPr>
          <p:cNvSpPr>
            <a:spLocks noGrp="1"/>
          </p:cNvSpPr>
          <p:nvPr>
            <p:ph type="ftr" sz="quarter" idx="11"/>
          </p:nvPr>
        </p:nvSpPr>
        <p:spPr>
          <a:xfrm>
            <a:off x="2438401" y="6376243"/>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:V</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 xmlns:p14="http://schemas.microsoft.com/office/powerpoint/2010/main" val="1580354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130291"/>
            <a:ext cx="8929718" cy="4597417"/>
          </a:xfrm>
        </p:spPr>
        <p:txBody>
          <a:bodyPr>
            <a:noAutofit/>
          </a:bodyPr>
          <a:lstStyle/>
          <a:p>
            <a:pPr>
              <a:defRPr/>
            </a:pPr>
            <a:r>
              <a:rPr lang="en-US" altLang="en-US" sz="2200" dirty="0">
                <a:latin typeface="+mj-lt"/>
              </a:rPr>
              <a:t>Self  – Happiness, Peace, Satisfaction, Bliss</a:t>
            </a:r>
          </a:p>
          <a:p>
            <a:pPr>
              <a:spcBef>
                <a:spcPts val="24"/>
              </a:spcBef>
              <a:defRPr/>
            </a:pPr>
            <a:r>
              <a:rPr lang="en-US" sz="2200" dirty="0" err="1">
                <a:latin typeface="+mj-lt"/>
              </a:rPr>
              <a:t>Perseverence</a:t>
            </a:r>
            <a:r>
              <a:rPr lang="en-US" sz="2200" dirty="0">
                <a:latin typeface="+mj-lt"/>
              </a:rPr>
              <a:t>, </a:t>
            </a:r>
            <a:r>
              <a:rPr lang="en-US" sz="2200" dirty="0" err="1">
                <a:latin typeface="+mj-lt"/>
              </a:rPr>
              <a:t>Bravity</a:t>
            </a:r>
            <a:r>
              <a:rPr lang="en-US" sz="2200" dirty="0">
                <a:latin typeface="+mj-lt"/>
              </a:rPr>
              <a:t> and Generosity for others. </a:t>
            </a:r>
            <a:endParaRPr lang="en-US" altLang="en-US" sz="2200" dirty="0">
              <a:latin typeface="+mj-lt"/>
            </a:endParaRPr>
          </a:p>
          <a:p>
            <a:pPr>
              <a:spcBef>
                <a:spcPts val="24"/>
              </a:spcBef>
              <a:defRPr/>
            </a:pPr>
            <a:r>
              <a:rPr lang="en-US" altLang="en-US" sz="2200" dirty="0">
                <a:latin typeface="+mj-lt"/>
              </a:rPr>
              <a:t>Compassionate </a:t>
            </a:r>
            <a:r>
              <a:rPr lang="en-US" altLang="en-US" sz="2200" dirty="0" err="1">
                <a:latin typeface="+mj-lt"/>
              </a:rPr>
              <a:t>behaviour</a:t>
            </a:r>
            <a:r>
              <a:rPr lang="en-US" altLang="en-US" sz="2200" dirty="0">
                <a:latin typeface="+mj-lt"/>
              </a:rPr>
              <a:t>, work &amp; participation in larger order on the basis of human values</a:t>
            </a:r>
          </a:p>
          <a:p>
            <a:pPr marL="914400" lvl="2" indent="-457200">
              <a:defRPr/>
            </a:pPr>
            <a:r>
              <a:rPr lang="en-US" altLang="en-US" sz="2200" dirty="0" err="1">
                <a:latin typeface="+mj-lt"/>
              </a:rPr>
              <a:t>Behaviour</a:t>
            </a:r>
            <a:r>
              <a:rPr lang="en-US" altLang="en-US" sz="2200" dirty="0">
                <a:latin typeface="+mj-lt"/>
              </a:rPr>
              <a:t> 	– ensuring justice, mutual happiness 				   (while also filling the gaps created in ignorance)</a:t>
            </a:r>
          </a:p>
          <a:p>
            <a:pPr marL="914400" lvl="2" indent="-457200">
              <a:defRPr/>
            </a:pPr>
            <a:r>
              <a:rPr lang="en-US" altLang="en-US" sz="2200" dirty="0">
                <a:latin typeface="+mj-lt"/>
              </a:rPr>
              <a:t>Work 		– ensuring preservation, mutual prosperity 				   (while also filling the gaps created in ignorance)</a:t>
            </a:r>
          </a:p>
          <a:p>
            <a:pPr marL="457200" indent="-457200">
              <a:defRPr/>
            </a:pPr>
            <a:r>
              <a:rPr lang="en-US" altLang="en-US" sz="2200" dirty="0">
                <a:latin typeface="+mj-lt"/>
              </a:rPr>
              <a:t>Rightfully acquired wealth (</a:t>
            </a:r>
            <a:r>
              <a:rPr lang="en-US" altLang="en-US" sz="2200" dirty="0" err="1">
                <a:latin typeface="+mj-lt"/>
              </a:rPr>
              <a:t>swa-dhan</a:t>
            </a:r>
            <a:r>
              <a:rPr lang="en-US" altLang="en-US" sz="2200" dirty="0">
                <a:latin typeface="+mj-lt"/>
              </a:rPr>
              <a:t>)</a:t>
            </a:r>
          </a:p>
          <a:p>
            <a:pPr marL="457200" indent="-457200">
              <a:defRPr/>
            </a:pPr>
            <a:r>
              <a:rPr lang="en-US" altLang="en-US" sz="2200" dirty="0">
                <a:latin typeface="+mj-lt"/>
              </a:rPr>
              <a:t>Chastity in conjugal relationship (</a:t>
            </a:r>
            <a:r>
              <a:rPr lang="en-US" altLang="en-US" sz="2200" dirty="0" err="1">
                <a:latin typeface="+mj-lt"/>
              </a:rPr>
              <a:t>swa-nari</a:t>
            </a:r>
            <a:r>
              <a:rPr lang="en-US" altLang="en-US" sz="2200" dirty="0">
                <a:latin typeface="+mj-lt"/>
              </a:rPr>
              <a:t>/</a:t>
            </a:r>
            <a:r>
              <a:rPr lang="en-US" altLang="en-US" sz="2200" dirty="0" err="1">
                <a:latin typeface="+mj-lt"/>
              </a:rPr>
              <a:t>swa-purush</a:t>
            </a:r>
            <a:r>
              <a:rPr lang="en-US" altLang="en-US" sz="2200" dirty="0">
                <a:latin typeface="+mj-lt"/>
              </a:rPr>
              <a:t>)</a:t>
            </a:r>
          </a:p>
          <a:p>
            <a:pPr>
              <a:spcBef>
                <a:spcPts val="24"/>
              </a:spcBef>
              <a:buFont typeface="Symbol" pitchFamily="18" charset="2"/>
              <a:buNone/>
              <a:defRPr/>
            </a:pPr>
            <a:endParaRPr lang="en-US" altLang="en-US" sz="2200" dirty="0">
              <a:latin typeface="+mj-lt"/>
            </a:endParaRPr>
          </a:p>
          <a:p>
            <a:pPr algn="just">
              <a:spcAft>
                <a:spcPts val="1200"/>
              </a:spcAft>
              <a:buFont typeface="Wingdings" pitchFamily="2" charset="2"/>
              <a:buChar char="§"/>
              <a:defRPr/>
            </a:pPr>
            <a:endParaRPr lang="en-IN" sz="2200" dirty="0">
              <a:latin typeface="+mj-lt"/>
              <a:cs typeface="Arial" pitchFamily="34" charset="0"/>
            </a:endParaRPr>
          </a:p>
          <a:p>
            <a:pPr algn="just">
              <a:buFont typeface="Wingdings" pitchFamily="2" charset="2"/>
              <a:buChar char="§"/>
              <a:defRPr/>
            </a:pPr>
            <a:endParaRPr lang="en-IN" sz="2200" b="1" dirty="0">
              <a:latin typeface="+mj-lt"/>
              <a:cs typeface="Arial" pitchFamily="34" charset="0"/>
            </a:endParaRPr>
          </a:p>
        </p:txBody>
      </p:sp>
      <p:sp>
        <p:nvSpPr>
          <p:cNvPr id="4" name="Date Placeholder 3"/>
          <p:cNvSpPr>
            <a:spLocks noGrp="1"/>
          </p:cNvSpPr>
          <p:nvPr>
            <p:ph type="dt" sz="half" idx="10"/>
          </p:nvPr>
        </p:nvSpPr>
        <p:spPr/>
        <p:txBody>
          <a:bodyPr/>
          <a:lstStyle/>
          <a:p>
            <a:fld id="{0F682590-CA77-4BC1-A469-0419DAC21DEC}"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1</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:V</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68561CF-205B-428C-ACB4-434A167AE7B7}"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dirty="0">
                <a:latin typeface="+mn-lt"/>
              </a:rPr>
              <a:t>Prerequisite</a:t>
            </a:r>
            <a:r>
              <a:rPr lang="en-US" altLang="en-US" sz="3000" dirty="0"/>
              <a:t> to Topic 2</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E0760DA7-2631-429D-9B62-CBED1968B0D0}"/>
              </a:ext>
            </a:extLst>
          </p:cNvPr>
          <p:cNvGraphicFramePr>
            <a:graphicFrameLocks noGrp="1"/>
          </p:cNvGraphicFramePr>
          <p:nvPr>
            <p:extLst>
              <p:ext uri="{D42A27DB-BD31-4B8C-83A1-F6EECF244321}">
                <p14:modId xmlns="" xmlns:p14="http://schemas.microsoft.com/office/powerpoint/2010/main" val="3874370761"/>
              </p:ext>
            </p:extLst>
          </p:nvPr>
        </p:nvGraphicFramePr>
        <p:xfrm>
          <a:off x="629816" y="1066800"/>
          <a:ext cx="8077200" cy="2026920"/>
        </p:xfrm>
        <a:graphic>
          <a:graphicData uri="http://schemas.openxmlformats.org/drawingml/2006/table">
            <a:tbl>
              <a:tblPr firstRow="1" bandRow="1">
                <a:tableStyleId>{5C22544A-7EE6-4342-B048-85BDC9FD1C3A}</a:tableStyleId>
              </a:tblPr>
              <a:tblGrid>
                <a:gridCol w="8077200">
                  <a:extLst>
                    <a:ext uri="{9D8B030D-6E8A-4147-A177-3AD203B41FA5}">
                      <a16:colId xmlns="" xmlns:a16="http://schemas.microsoft.com/office/drawing/2014/main" val="3762556906"/>
                    </a:ext>
                  </a:extLst>
                </a:gridCol>
              </a:tblGrid>
              <a:tr h="461652">
                <a:tc>
                  <a:txBody>
                    <a:bodyPr/>
                    <a:lstStyle/>
                    <a:p>
                      <a:pPr algn="ctr"/>
                      <a:r>
                        <a:rPr lang="en-IN" sz="2400" dirty="0">
                          <a:latin typeface="+mn-lt"/>
                        </a:rPr>
                        <a:t>Prerequisite</a:t>
                      </a:r>
                    </a:p>
                  </a:txBody>
                  <a:tcPr/>
                </a:tc>
                <a:extLst>
                  <a:ext uri="{0D108BD9-81ED-4DB2-BD59-A6C34878D82A}">
                    <a16:rowId xmlns="" xmlns:a16="http://schemas.microsoft.com/office/drawing/2014/main" val="3830064644"/>
                  </a:ext>
                </a:extLst>
              </a:tr>
              <a:tr h="1565268">
                <a:tc>
                  <a:txBody>
                    <a:bodyPr/>
                    <a:lstStyle/>
                    <a:p>
                      <a:pPr marL="0" indent="0" algn="just">
                        <a:buFont typeface="Arial" panose="020B0604020202020204" pitchFamily="34" charset="0"/>
                        <a:buNone/>
                      </a:pPr>
                      <a:r>
                        <a:rPr lang="en-US" sz="2200" dirty="0">
                          <a:latin typeface="+mn-lt"/>
                          <a:ea typeface="Calibri"/>
                          <a:cs typeface="Times New Roman"/>
                        </a:rPr>
                        <a:t>Student should be familiar</a:t>
                      </a:r>
                      <a:r>
                        <a:rPr lang="en-US" sz="2200" baseline="0" dirty="0">
                          <a:latin typeface="+mn-lt"/>
                          <a:ea typeface="Calibri"/>
                          <a:cs typeface="Times New Roman"/>
                        </a:rPr>
                        <a:t> to concepts right understanding, harmony, Human being as an Existence, Awakening of higher activities of the self and higher activities then guiding the lower activities of the self.</a:t>
                      </a:r>
                      <a:endParaRPr lang="en-IN" sz="2200" dirty="0">
                        <a:latin typeface="+mn-lt"/>
                      </a:endParaRP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1020196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5A62B4C-DBD3-4F16-8A8E-A3CF98B04D7B}"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Introduction to Topic 2</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2" name="Table 8">
            <a:extLst>
              <a:ext uri="{FF2B5EF4-FFF2-40B4-BE49-F238E27FC236}">
                <a16:creationId xmlns="" xmlns:a16="http://schemas.microsoft.com/office/drawing/2014/main" id="{C00455C5-365A-49B7-9271-2B297026341D}"/>
              </a:ext>
            </a:extLst>
          </p:cNvPr>
          <p:cNvGraphicFramePr>
            <a:graphicFrameLocks noGrp="1"/>
          </p:cNvGraphicFramePr>
          <p:nvPr/>
        </p:nvGraphicFramePr>
        <p:xfrm>
          <a:off x="662512" y="959596"/>
          <a:ext cx="8060055" cy="2900052"/>
        </p:xfrm>
        <a:graphic>
          <a:graphicData uri="http://schemas.openxmlformats.org/drawingml/2006/table">
            <a:tbl>
              <a:tblPr firstRow="1" bandRow="1">
                <a:tableStyleId>{5C22544A-7EE6-4342-B048-85BDC9FD1C3A}</a:tableStyleId>
              </a:tblPr>
              <a:tblGrid>
                <a:gridCol w="1905000">
                  <a:extLst>
                    <a:ext uri="{9D8B030D-6E8A-4147-A177-3AD203B41FA5}">
                      <a16:colId xmlns="" xmlns:a16="http://schemas.microsoft.com/office/drawing/2014/main" val="3762556906"/>
                    </a:ext>
                  </a:extLst>
                </a:gridCol>
                <a:gridCol w="3810000">
                  <a:extLst>
                    <a:ext uri="{9D8B030D-6E8A-4147-A177-3AD203B41FA5}">
                      <a16:colId xmlns="" xmlns:a16="http://schemas.microsoft.com/office/drawing/2014/main" val="3051182208"/>
                    </a:ext>
                  </a:extLst>
                </a:gridCol>
                <a:gridCol w="2345055">
                  <a:extLst>
                    <a:ext uri="{9D8B030D-6E8A-4147-A177-3AD203B41FA5}">
                      <a16:colId xmlns="" xmlns:a16="http://schemas.microsoft.com/office/drawing/2014/main" val="458174207"/>
                    </a:ext>
                  </a:extLst>
                </a:gridCol>
              </a:tblGrid>
              <a:tr h="461652">
                <a:tc>
                  <a:txBody>
                    <a:bodyPr/>
                    <a:lstStyle/>
                    <a:p>
                      <a:r>
                        <a:rPr lang="en-IN" sz="2200" dirty="0">
                          <a:latin typeface="+mn-lt"/>
                        </a:rPr>
                        <a:t>Name of Topic</a:t>
                      </a:r>
                    </a:p>
                  </a:txBody>
                  <a:tcPr/>
                </a:tc>
                <a:tc>
                  <a:txBody>
                    <a:bodyPr/>
                    <a:lstStyle/>
                    <a:p>
                      <a:pPr algn="ctr"/>
                      <a:r>
                        <a:rPr lang="en-IN" sz="2200" dirty="0">
                          <a:latin typeface="+mn-lt"/>
                        </a:rPr>
                        <a:t>Objective of Topic</a:t>
                      </a:r>
                    </a:p>
                  </a:txBody>
                  <a:tcPr/>
                </a:tc>
                <a:tc>
                  <a:txBody>
                    <a:bodyPr/>
                    <a:lstStyle/>
                    <a:p>
                      <a:r>
                        <a:rPr lang="en-IN" sz="2200" dirty="0">
                          <a:latin typeface="+mn-lt"/>
                        </a:rPr>
                        <a:t>Mapping with CO</a:t>
                      </a:r>
                    </a:p>
                  </a:txBody>
                  <a:tcPr/>
                </a:tc>
                <a:extLst>
                  <a:ext uri="{0D108BD9-81ED-4DB2-BD59-A6C34878D82A}">
                    <a16:rowId xmlns="" xmlns:a16="http://schemas.microsoft.com/office/drawing/2014/main" val="3830064644"/>
                  </a:ext>
                </a:extLst>
              </a:tr>
              <a:tr h="1565268">
                <a:tc>
                  <a:txBody>
                    <a:bodyPr/>
                    <a:lstStyle/>
                    <a:p>
                      <a:pPr algn="just"/>
                      <a:r>
                        <a:rPr lang="en-US" altLang="en-US" sz="2200" b="0" kern="1200" dirty="0">
                          <a:solidFill>
                            <a:schemeClr val="dk1"/>
                          </a:solidFill>
                          <a:latin typeface="+mn-lt"/>
                          <a:ea typeface="+mn-ea"/>
                          <a:cs typeface="Arial" panose="020B0604020202020204" pitchFamily="34" charset="0"/>
                        </a:rPr>
                        <a:t>All Encompassing Resolution-Wisdom </a:t>
                      </a:r>
                    </a:p>
                    <a:p>
                      <a:pPr algn="just"/>
                      <a:endParaRPr lang="en-IN" sz="2000" dirty="0">
                        <a:latin typeface="+mn-lt"/>
                      </a:endParaRPr>
                    </a:p>
                  </a:txBody>
                  <a:tcPr/>
                </a:tc>
                <a:tc>
                  <a:txBody>
                    <a:bodyPr/>
                    <a:lstStyle/>
                    <a:p>
                      <a:pPr algn="just"/>
                      <a:r>
                        <a:rPr lang="en-IN" altLang="en-US" sz="2200" dirty="0"/>
                        <a:t>Students will be able to observe that the problems that we see at any level – individual, family, </a:t>
                      </a:r>
                      <a:r>
                        <a:rPr lang="en-IN" altLang="en-US" sz="2200" dirty="0" err="1"/>
                        <a:t>soci</a:t>
                      </a:r>
                      <a:r>
                        <a:rPr lang="hi-IN" altLang="en-US" sz="2200" dirty="0"/>
                        <a:t>et</a:t>
                      </a:r>
                      <a:r>
                        <a:rPr lang="en-IN" altLang="en-US" sz="2200" dirty="0"/>
                        <a:t>al</a:t>
                      </a:r>
                      <a:r>
                        <a:rPr lang="hi-IN" altLang="en-US" sz="2200" dirty="0"/>
                        <a:t> </a:t>
                      </a:r>
                      <a:r>
                        <a:rPr lang="en-IN" altLang="en-US" sz="2200" dirty="0"/>
                        <a:t>or at the level of entire nature – are nothing but absence of fulfilment of some part of the human goal. </a:t>
                      </a:r>
                      <a:endParaRPr lang="en-IN" sz="2200" dirty="0">
                        <a:latin typeface="+mn-lt"/>
                      </a:endParaRPr>
                    </a:p>
                  </a:txBody>
                  <a:tcPr/>
                </a:tc>
                <a:tc>
                  <a:txBody>
                    <a:bodyPr/>
                    <a:lstStyle/>
                    <a:p>
                      <a:pPr algn="ctr"/>
                      <a:endParaRPr lang="en-IN" sz="2200" dirty="0">
                        <a:latin typeface="+mn-lt"/>
                      </a:endParaRPr>
                    </a:p>
                    <a:p>
                      <a:pPr algn="ctr"/>
                      <a:endParaRPr lang="en-IN" sz="2200" dirty="0">
                        <a:latin typeface="+mn-lt"/>
                      </a:endParaRPr>
                    </a:p>
                    <a:p>
                      <a:pPr algn="ctr"/>
                      <a:r>
                        <a:rPr lang="en-IN" sz="2200" dirty="0">
                          <a:latin typeface="+mn-lt"/>
                        </a:rPr>
                        <a:t>CO 5</a:t>
                      </a: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3180833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 xmlns:a16="http://schemas.microsoft.com/office/drawing/2014/main" id="{58167F9A-471A-46CE-A521-B147CCFA059D}"/>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304800" y="817162"/>
            <a:ext cx="8534399" cy="4821637"/>
          </a:xfrm>
        </p:spPr>
      </p:pic>
      <p:sp>
        <p:nvSpPr>
          <p:cNvPr id="4" name="Date Placeholder 3"/>
          <p:cNvSpPr>
            <a:spLocks noGrp="1"/>
          </p:cNvSpPr>
          <p:nvPr>
            <p:ph type="dt" sz="half" idx="10"/>
          </p:nvPr>
        </p:nvSpPr>
        <p:spPr/>
        <p:txBody>
          <a:bodyPr/>
          <a:lstStyle/>
          <a:p>
            <a:fld id="{E2AC3A54-CF21-457A-B11A-8E1FE7D2DF6F}"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Self and Body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2920811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 xmlns:a16="http://schemas.microsoft.com/office/drawing/2014/main" id="{BD0F8B2B-732A-4737-97FA-B952E2CB94EC}"/>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228600" y="817164"/>
            <a:ext cx="8763000" cy="5407822"/>
          </a:xfrm>
        </p:spPr>
      </p:pic>
      <p:sp>
        <p:nvSpPr>
          <p:cNvPr id="4" name="Date Placeholder 3"/>
          <p:cNvSpPr>
            <a:spLocks noGrp="1"/>
          </p:cNvSpPr>
          <p:nvPr>
            <p:ph type="dt" sz="half" idx="10"/>
          </p:nvPr>
        </p:nvSpPr>
        <p:spPr/>
        <p:txBody>
          <a:bodyPr/>
          <a:lstStyle/>
          <a:p>
            <a:fld id="{A0900D91-3369-4FB9-A523-E59F344E0AAF}"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Self and Body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1993550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 xmlns:a16="http://schemas.microsoft.com/office/drawing/2014/main" id="{05639BE2-4CA1-4F22-B2E7-6B10F9637DC0}"/>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304800" y="817163"/>
            <a:ext cx="8686800" cy="5202637"/>
          </a:xfrm>
        </p:spPr>
      </p:pic>
      <p:sp>
        <p:nvSpPr>
          <p:cNvPr id="4" name="Date Placeholder 3"/>
          <p:cNvSpPr>
            <a:spLocks noGrp="1"/>
          </p:cNvSpPr>
          <p:nvPr>
            <p:ph type="dt" sz="half" idx="10"/>
          </p:nvPr>
        </p:nvSpPr>
        <p:spPr/>
        <p:txBody>
          <a:bodyPr/>
          <a:lstStyle/>
          <a:p>
            <a:fld id="{D8036710-F4B9-4C37-B96C-6B3DF538BC9E}"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Self and Body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4195062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77514"/>
            <a:ext cx="8915400" cy="5278836"/>
          </a:xfrm>
        </p:spPr>
        <p:txBody>
          <a:bodyPr>
            <a:noAutofit/>
          </a:bodyPr>
          <a:lstStyle/>
          <a:p>
            <a:pPr algn="just">
              <a:defRPr/>
            </a:pPr>
            <a:r>
              <a:rPr lang="en-GB" sz="2200" dirty="0">
                <a:cs typeface="Arial" charset="0"/>
              </a:rPr>
              <a:t>Prosperity –  The feeling of </a:t>
            </a:r>
            <a:r>
              <a:rPr lang="en-GB" sz="2200" b="1" u="sng" dirty="0">
                <a:cs typeface="Arial" charset="0"/>
              </a:rPr>
              <a:t>having more </a:t>
            </a:r>
            <a:r>
              <a:rPr lang="en-GB" sz="2200" dirty="0">
                <a:cs typeface="Arial" charset="0"/>
              </a:rPr>
              <a:t>than </a:t>
            </a:r>
            <a:r>
              <a:rPr lang="en-GB" sz="2200" b="1" u="sng" dirty="0">
                <a:cs typeface="Arial" charset="0"/>
              </a:rPr>
              <a:t>required Physical Facility</a:t>
            </a:r>
            <a:endParaRPr lang="en-GB" sz="2200" dirty="0">
              <a:cs typeface="Arial" charset="0"/>
            </a:endParaRPr>
          </a:p>
          <a:p>
            <a:pPr algn="just">
              <a:buFont typeface="Symbol" pitchFamily="18" charset="2"/>
              <a:buNone/>
              <a:defRPr/>
            </a:pPr>
            <a:r>
              <a:rPr lang="en-GB" sz="2200" dirty="0">
                <a:cs typeface="Arial" charset="0"/>
              </a:rPr>
              <a:t>					2			1</a:t>
            </a:r>
          </a:p>
          <a:p>
            <a:pPr marL="800100" lvl="1" indent="-342900" algn="just">
              <a:buFont typeface="+mj-lt"/>
              <a:buAutoNum type="arabicPeriod"/>
              <a:defRPr/>
            </a:pPr>
            <a:r>
              <a:rPr lang="en-GB" sz="2200" dirty="0">
                <a:cs typeface="Arial" charset="0"/>
              </a:rPr>
              <a:t> Identification of </a:t>
            </a:r>
            <a:r>
              <a:rPr lang="en-GB" sz="2200" b="1" u="sng" dirty="0">
                <a:cs typeface="Arial" charset="0"/>
              </a:rPr>
              <a:t>required physical facility </a:t>
            </a:r>
            <a:r>
              <a:rPr lang="en-GB" sz="2200" dirty="0">
                <a:cs typeface="Arial" charset="0"/>
              </a:rPr>
              <a:t>(including the required quantity) - with right understanding</a:t>
            </a:r>
          </a:p>
          <a:p>
            <a:pPr marL="457200" lvl="1" indent="0" algn="just">
              <a:buNone/>
              <a:defRPr/>
            </a:pPr>
            <a:endParaRPr lang="en-GB" sz="2200" dirty="0">
              <a:cs typeface="Arial" charset="0"/>
            </a:endParaRPr>
          </a:p>
          <a:p>
            <a:pPr marL="742950" lvl="2" indent="-342900" algn="just">
              <a:buFont typeface="+mj-lt"/>
              <a:buAutoNum type="arabicPeriod" startAt="2"/>
              <a:defRPr/>
            </a:pPr>
            <a:r>
              <a:rPr lang="en-GB" sz="2200" dirty="0">
                <a:cs typeface="Arial" charset="0"/>
              </a:rPr>
              <a:t> Ensuring </a:t>
            </a:r>
            <a:r>
              <a:rPr lang="en-GB" sz="2200" b="1" u="sng" dirty="0">
                <a:cs typeface="Arial" charset="0"/>
              </a:rPr>
              <a:t>availability/ production of more </a:t>
            </a:r>
            <a:r>
              <a:rPr lang="en-GB" sz="2200" dirty="0">
                <a:cs typeface="Arial" charset="0"/>
              </a:rPr>
              <a:t>than required physical facility - with right skills</a:t>
            </a:r>
          </a:p>
          <a:p>
            <a:pPr algn="just">
              <a:buFont typeface="Symbol" pitchFamily="18" charset="2"/>
              <a:buNone/>
              <a:defRPr/>
            </a:pPr>
            <a:r>
              <a:rPr lang="en-GB" sz="2200" b="1" dirty="0">
                <a:solidFill>
                  <a:srgbClr val="1E00AA"/>
                </a:solidFill>
                <a:cs typeface="Arial" charset="0"/>
              </a:rPr>
              <a:t>	</a:t>
            </a:r>
            <a:endParaRPr lang="en-GB" sz="2200" dirty="0">
              <a:cs typeface="Arial" charset="0"/>
            </a:endParaRPr>
          </a:p>
          <a:p>
            <a:pPr algn="just">
              <a:defRPr/>
            </a:pPr>
            <a:r>
              <a:rPr lang="en-GB" sz="2200" dirty="0">
                <a:cs typeface="Arial" charset="0"/>
              </a:rPr>
              <a:t>A prosperous person thinks of right utilisation, nurturing the other.</a:t>
            </a:r>
          </a:p>
          <a:p>
            <a:pPr algn="just">
              <a:defRPr/>
            </a:pPr>
            <a:endParaRPr lang="en-GB" sz="2200" dirty="0">
              <a:cs typeface="Arial" charset="0"/>
            </a:endParaRPr>
          </a:p>
          <a:p>
            <a:pPr algn="just">
              <a:defRPr/>
            </a:pPr>
            <a:r>
              <a:rPr lang="en-GB" sz="2200" dirty="0">
                <a:solidFill>
                  <a:srgbClr val="FF0000"/>
                </a:solidFill>
                <a:cs typeface="Arial" charset="0"/>
              </a:rPr>
              <a:t>A  deprived person thinks of accumulation,  exploiting the other.</a:t>
            </a:r>
            <a:endParaRPr lang="en-GB" sz="2200" b="1" dirty="0">
              <a:solidFill>
                <a:srgbClr val="1E00AA"/>
              </a:solidFill>
              <a:cs typeface="Arial" charset="0"/>
            </a:endParaRPr>
          </a:p>
          <a:p>
            <a:pPr marL="0" indent="0" algn="just">
              <a:buFont typeface="Symbol" pitchFamily="18" charset="2"/>
              <a:buNone/>
              <a:defRPr/>
            </a:pPr>
            <a:endParaRPr lang="en-IN" sz="2200" dirty="0"/>
          </a:p>
        </p:txBody>
      </p:sp>
      <p:sp>
        <p:nvSpPr>
          <p:cNvPr id="4" name="Date Placeholder 3"/>
          <p:cNvSpPr>
            <a:spLocks noGrp="1"/>
          </p:cNvSpPr>
          <p:nvPr>
            <p:ph type="dt" sz="half" idx="10"/>
          </p:nvPr>
        </p:nvSpPr>
        <p:spPr/>
        <p:txBody>
          <a:bodyPr/>
          <a:lstStyle/>
          <a:p>
            <a:fld id="{FBA314F6-2AA8-446A-AC61-DCCD1093FD79}"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1371600" y="-1"/>
            <a:ext cx="7772400" cy="89217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indent="0" algn="ctr">
              <a:buFont typeface="Symbol" pitchFamily="18" charset="2"/>
              <a:buNone/>
              <a:defRPr/>
            </a:pPr>
            <a:r>
              <a:rPr lang="en-GB" altLang="en-US" sz="3000" dirty="0"/>
              <a:t>Understanding Prosperity</a:t>
            </a:r>
            <a:r>
              <a:rPr lang="en-US" altLang="en-US" sz="3000" dirty="0"/>
              <a:t> [CO5]</a:t>
            </a:r>
            <a:endParaRPr lang="en-IN" sz="3000" dirty="0"/>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42229825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17164"/>
            <a:ext cx="8915400" cy="5278836"/>
          </a:xfrm>
        </p:spPr>
        <p:txBody>
          <a:bodyPr>
            <a:noAutofit/>
          </a:bodyPr>
          <a:lstStyle/>
          <a:p>
            <a:pPr>
              <a:defRPr/>
            </a:pPr>
            <a:r>
              <a:rPr lang="en-IN" sz="2200" dirty="0"/>
              <a:t>We had seen that we can observe two categories of human beings</a:t>
            </a:r>
          </a:p>
          <a:p>
            <a:pPr marL="857250" lvl="1" indent="-457200">
              <a:buFont typeface="+mj-lt"/>
              <a:buAutoNum type="arabicPeriod"/>
              <a:defRPr/>
            </a:pPr>
            <a:r>
              <a:rPr lang="en-IN" sz="2200" dirty="0"/>
              <a:t>Lacking physical facility, unhappy deprived - </a:t>
            </a:r>
            <a:r>
              <a:rPr lang="en-IN" sz="2200" b="1" dirty="0"/>
              <a:t>SVDD – </a:t>
            </a:r>
            <a:r>
              <a:rPr lang="en-IN" sz="2200" b="1" dirty="0" err="1"/>
              <a:t>Sadhan</a:t>
            </a:r>
            <a:r>
              <a:rPr lang="en-IN" sz="2200" b="1" dirty="0"/>
              <a:t> </a:t>
            </a:r>
            <a:r>
              <a:rPr lang="en-IN" sz="2200" b="1" dirty="0" err="1"/>
              <a:t>Viheen</a:t>
            </a:r>
            <a:r>
              <a:rPr lang="en-IN" sz="2200" b="1" dirty="0"/>
              <a:t> </a:t>
            </a:r>
            <a:r>
              <a:rPr lang="en-IN" sz="2200" b="1" dirty="0" err="1"/>
              <a:t>Dukhi</a:t>
            </a:r>
            <a:r>
              <a:rPr lang="en-IN" sz="2200" b="1" dirty="0"/>
              <a:t> </a:t>
            </a:r>
            <a:r>
              <a:rPr lang="en-IN" sz="2200" b="1" dirty="0" err="1"/>
              <a:t>Daridra</a:t>
            </a:r>
            <a:r>
              <a:rPr lang="en-IN" sz="2200" b="1" dirty="0"/>
              <a:t> </a:t>
            </a:r>
            <a:endParaRPr lang="en-IN" sz="2200" dirty="0"/>
          </a:p>
          <a:p>
            <a:pPr marL="857250" lvl="1" indent="-457200">
              <a:buFont typeface="+mj-lt"/>
              <a:buAutoNum type="arabicPeriod"/>
              <a:defRPr/>
            </a:pPr>
            <a:r>
              <a:rPr lang="en-IN" sz="2200" dirty="0"/>
              <a:t>Having physical facility, unhappy deprived – </a:t>
            </a:r>
            <a:r>
              <a:rPr lang="en-IN" sz="2200" b="1" dirty="0"/>
              <a:t>SSDD -</a:t>
            </a:r>
            <a:r>
              <a:rPr lang="en-IN" sz="2200" b="1" dirty="0" err="1"/>
              <a:t>Sadhan</a:t>
            </a:r>
            <a:r>
              <a:rPr lang="en-IN" sz="2200" b="1" dirty="0"/>
              <a:t> </a:t>
            </a:r>
            <a:r>
              <a:rPr lang="en-IN" sz="2200" b="1" dirty="0" err="1"/>
              <a:t>Sampann</a:t>
            </a:r>
            <a:r>
              <a:rPr lang="en-IN" sz="2200" b="1" dirty="0"/>
              <a:t> </a:t>
            </a:r>
            <a:r>
              <a:rPr lang="en-IN" sz="2200" b="1" dirty="0" err="1"/>
              <a:t>Dukhi</a:t>
            </a:r>
            <a:r>
              <a:rPr lang="en-IN" sz="2200" b="1" dirty="0"/>
              <a:t> </a:t>
            </a:r>
            <a:r>
              <a:rPr lang="en-IN" sz="2200" b="1" dirty="0" err="1"/>
              <a:t>Daridra</a:t>
            </a:r>
            <a:r>
              <a:rPr lang="en-IN" sz="2200" b="1" dirty="0"/>
              <a:t> </a:t>
            </a:r>
            <a:endParaRPr lang="en-IN" sz="2200" dirty="0"/>
          </a:p>
          <a:p>
            <a:pPr marL="0" indent="0">
              <a:buNone/>
              <a:defRPr/>
            </a:pPr>
            <a:r>
              <a:rPr lang="en-IN" sz="2200" dirty="0"/>
              <a:t>(now we can see that if the identification of required physical facility is missing, then one can only shift between category 1 &amp; category 2)</a:t>
            </a:r>
          </a:p>
          <a:p>
            <a:pPr>
              <a:buFont typeface="Symbol" pitchFamily="18" charset="2"/>
              <a:buNone/>
              <a:defRPr/>
            </a:pPr>
            <a:endParaRPr lang="en-IN" sz="2200" dirty="0"/>
          </a:p>
          <a:p>
            <a:pPr>
              <a:defRPr/>
            </a:pPr>
            <a:r>
              <a:rPr lang="en-IN" sz="2200" dirty="0"/>
              <a:t>While we want to be –</a:t>
            </a:r>
          </a:p>
          <a:p>
            <a:pPr marL="800100" lvl="1" indent="-342900">
              <a:buFont typeface="+mj-lt"/>
              <a:buAutoNum type="arabicPeriod"/>
              <a:defRPr/>
            </a:pPr>
            <a:r>
              <a:rPr lang="en-IN" sz="2200" dirty="0"/>
              <a:t>Having physical facility, happy prosperous - </a:t>
            </a:r>
            <a:r>
              <a:rPr lang="en-IN" altLang="en-US" sz="2200" b="1" dirty="0"/>
              <a:t>SSSS – </a:t>
            </a:r>
            <a:r>
              <a:rPr lang="en-IN" altLang="en-US" sz="2200" b="1" dirty="0" err="1"/>
              <a:t>Sadhan</a:t>
            </a:r>
            <a:r>
              <a:rPr lang="en-IN" altLang="en-US" sz="2200" b="1" dirty="0"/>
              <a:t> </a:t>
            </a:r>
            <a:r>
              <a:rPr lang="en-IN" altLang="en-US" sz="2200" b="1" dirty="0" err="1"/>
              <a:t>Sampann</a:t>
            </a:r>
            <a:r>
              <a:rPr lang="en-IN" altLang="en-US" sz="2200" b="1" dirty="0"/>
              <a:t> </a:t>
            </a:r>
            <a:r>
              <a:rPr lang="en-IN" altLang="en-US" sz="2200" b="1" dirty="0" err="1"/>
              <a:t>Sukhi</a:t>
            </a:r>
            <a:r>
              <a:rPr lang="en-IN" altLang="en-US" sz="2200" b="1" dirty="0"/>
              <a:t> </a:t>
            </a:r>
            <a:r>
              <a:rPr lang="en-IN" altLang="en-US" sz="2200" b="1" dirty="0" err="1"/>
              <a:t>Samriddha</a:t>
            </a:r>
            <a:r>
              <a:rPr lang="en-IN" altLang="en-US" sz="2200" b="1" dirty="0"/>
              <a:t> </a:t>
            </a:r>
            <a:endParaRPr lang="en-IN" sz="2200" dirty="0"/>
          </a:p>
          <a:p>
            <a:pPr>
              <a:buFont typeface="Symbol" pitchFamily="18" charset="2"/>
              <a:buNone/>
              <a:defRPr/>
            </a:pPr>
            <a:r>
              <a:rPr lang="en-IN" sz="2200" dirty="0"/>
              <a:t>	This is possible only with</a:t>
            </a:r>
          </a:p>
          <a:p>
            <a:pPr>
              <a:buFont typeface="Wingdings" pitchFamily="2" charset="2"/>
              <a:buNone/>
              <a:defRPr/>
            </a:pPr>
            <a:r>
              <a:rPr lang="en-IN" sz="2200" dirty="0"/>
              <a:t>	 1- the right identification of required physical facility and </a:t>
            </a:r>
          </a:p>
          <a:p>
            <a:pPr>
              <a:buFont typeface="Wingdings" pitchFamily="2" charset="2"/>
              <a:buNone/>
              <a:defRPr/>
            </a:pPr>
            <a:r>
              <a:rPr lang="en-IN" sz="2200" dirty="0"/>
              <a:t>	 2- availability / production of more than required physical facility</a:t>
            </a:r>
          </a:p>
          <a:p>
            <a:pPr algn="just"/>
            <a:endParaRPr lang="en-IN" altLang="en-US" sz="2200" dirty="0"/>
          </a:p>
        </p:txBody>
      </p:sp>
      <p:sp>
        <p:nvSpPr>
          <p:cNvPr id="4" name="Date Placeholder 3"/>
          <p:cNvSpPr>
            <a:spLocks noGrp="1"/>
          </p:cNvSpPr>
          <p:nvPr>
            <p:ph type="dt" sz="half" idx="10"/>
          </p:nvPr>
        </p:nvSpPr>
        <p:spPr/>
        <p:txBody>
          <a:bodyPr/>
          <a:lstStyle/>
          <a:p>
            <a:fld id="{E108F083-0736-41FC-A409-4A11DA951E1A}"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indent="0" algn="ctr">
              <a:buFont typeface="Symbol" pitchFamily="18" charset="2"/>
              <a:buNone/>
              <a:defRPr/>
            </a:pPr>
            <a:r>
              <a:rPr lang="en-IN" sz="3000" dirty="0"/>
              <a:t>Categories of Persons</a:t>
            </a:r>
            <a:r>
              <a:rPr lang="en-US" altLang="en-US" sz="3000" dirty="0"/>
              <a:t> [CO5]</a:t>
            </a:r>
            <a:r>
              <a:rPr lang="en-IN" sz="3000" dirty="0"/>
              <a:t>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6670625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Oval 8">
            <a:extLst>
              <a:ext uri="{FF2B5EF4-FFF2-40B4-BE49-F238E27FC236}">
                <a16:creationId xmlns="" xmlns:a16="http://schemas.microsoft.com/office/drawing/2014/main" id="{0B7832DC-A06D-4B03-9949-E93DB248EFC7}"/>
              </a:ext>
            </a:extLst>
          </p:cNvPr>
          <p:cNvSpPr>
            <a:spLocks noChangeAspect="1" noChangeArrowheads="1"/>
          </p:cNvSpPr>
          <p:nvPr/>
        </p:nvSpPr>
        <p:spPr bwMode="auto">
          <a:xfrm>
            <a:off x="4267200" y="2438400"/>
            <a:ext cx="2971800" cy="2903538"/>
          </a:xfrm>
          <a:prstGeom prst="ellipse">
            <a:avLst/>
          </a:prstGeom>
          <a:solidFill>
            <a:srgbClr val="FFFFFF">
              <a:alpha val="0"/>
            </a:srgbClr>
          </a:solidFill>
          <a:ln w="9525">
            <a:solidFill>
              <a:srgbClr val="FF0000"/>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200"/>
          </a:p>
        </p:txBody>
      </p:sp>
      <p:grpSp>
        <p:nvGrpSpPr>
          <p:cNvPr id="2" name="Group 45">
            <a:extLst>
              <a:ext uri="{FF2B5EF4-FFF2-40B4-BE49-F238E27FC236}">
                <a16:creationId xmlns="" xmlns:a16="http://schemas.microsoft.com/office/drawing/2014/main" id="{A0D7A1B5-CC0A-4892-AF63-FD1136E40CFC}"/>
              </a:ext>
            </a:extLst>
          </p:cNvPr>
          <p:cNvGrpSpPr>
            <a:grpSpLocks/>
          </p:cNvGrpSpPr>
          <p:nvPr/>
        </p:nvGrpSpPr>
        <p:grpSpPr bwMode="auto">
          <a:xfrm>
            <a:off x="6303841" y="5135080"/>
            <a:ext cx="2667000" cy="1336675"/>
            <a:chOff x="6324600" y="4988560"/>
            <a:chExt cx="2667000" cy="1336040"/>
          </a:xfrm>
        </p:grpSpPr>
        <p:sp>
          <p:nvSpPr>
            <p:cNvPr id="5171" name="Text Box 13">
              <a:extLst>
                <a:ext uri="{FF2B5EF4-FFF2-40B4-BE49-F238E27FC236}">
                  <a16:creationId xmlns="" xmlns:a16="http://schemas.microsoft.com/office/drawing/2014/main" id="{703B0239-B549-46B0-96F8-5F8764F9AAEF}"/>
                </a:ext>
              </a:extLst>
            </p:cNvPr>
            <p:cNvSpPr txBox="1">
              <a:spLocks noChangeArrowheads="1"/>
            </p:cNvSpPr>
            <p:nvPr/>
          </p:nvSpPr>
          <p:spPr bwMode="auto">
            <a:xfrm>
              <a:off x="7124700" y="5168900"/>
              <a:ext cx="1866900" cy="1155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1000"/>
                </a:spcAft>
              </a:pPr>
              <a:r>
                <a:rPr lang="en-US" altLang="en-US" sz="2000" dirty="0">
                  <a:solidFill>
                    <a:srgbClr val="FF0000"/>
                  </a:solidFill>
                </a:rPr>
                <a:t>Sensation</a:t>
              </a:r>
            </a:p>
            <a:p>
              <a:pPr eaLnBrk="1" hangingPunct="1">
                <a:spcAft>
                  <a:spcPts val="1000"/>
                </a:spcAft>
              </a:pPr>
              <a:endParaRPr lang="en-US" altLang="en-US" sz="1600" dirty="0">
                <a:solidFill>
                  <a:srgbClr val="002060"/>
                </a:solidFill>
                <a:latin typeface="Kruti Dev 010" pitchFamily="2" charset="0"/>
              </a:endParaRPr>
            </a:p>
            <a:p>
              <a:pPr eaLnBrk="1" hangingPunct="1"/>
              <a:endParaRPr lang="en-US" altLang="en-US" dirty="0"/>
            </a:p>
          </p:txBody>
        </p:sp>
        <p:cxnSp>
          <p:nvCxnSpPr>
            <p:cNvPr id="5172" name="AutoShape 14">
              <a:extLst>
                <a:ext uri="{FF2B5EF4-FFF2-40B4-BE49-F238E27FC236}">
                  <a16:creationId xmlns="" xmlns:a16="http://schemas.microsoft.com/office/drawing/2014/main" id="{C574AB5D-D912-4500-A9E6-39A96BD8B006}"/>
                </a:ext>
              </a:extLst>
            </p:cNvPr>
            <p:cNvCxnSpPr>
              <a:cxnSpLocks noChangeShapeType="1"/>
            </p:cNvCxnSpPr>
            <p:nvPr/>
          </p:nvCxnSpPr>
          <p:spPr bwMode="auto">
            <a:xfrm flipV="1">
              <a:off x="6324600" y="4988560"/>
              <a:ext cx="0" cy="373063"/>
            </a:xfrm>
            <a:prstGeom prst="straightConnector1">
              <a:avLst/>
            </a:prstGeom>
            <a:noFill/>
            <a:ln w="9525">
              <a:solidFill>
                <a:srgbClr val="FF0000"/>
              </a:solidFill>
              <a:round/>
              <a:headEnd/>
              <a:tailEnd type="triangle" w="med" len="med"/>
            </a:ln>
            <a:extLst>
              <a:ext uri="{909E8E84-426E-40DD-AFC4-6F175D3DCCD1}">
                <a14:hiddenFill xmlns="" xmlns:a14="http://schemas.microsoft.com/office/drawing/2010/main">
                  <a:noFill/>
                </a14:hiddenFill>
              </a:ext>
            </a:extLst>
          </p:spPr>
        </p:cxnSp>
        <p:cxnSp>
          <p:nvCxnSpPr>
            <p:cNvPr id="5173" name="AutoShape 11">
              <a:extLst>
                <a:ext uri="{FF2B5EF4-FFF2-40B4-BE49-F238E27FC236}">
                  <a16:creationId xmlns="" xmlns:a16="http://schemas.microsoft.com/office/drawing/2014/main" id="{4893254F-9163-4423-964D-F373CA020356}"/>
                </a:ext>
              </a:extLst>
            </p:cNvPr>
            <p:cNvCxnSpPr>
              <a:cxnSpLocks noChangeShapeType="1"/>
            </p:cNvCxnSpPr>
            <p:nvPr/>
          </p:nvCxnSpPr>
          <p:spPr bwMode="auto">
            <a:xfrm>
              <a:off x="6324600" y="5367972"/>
              <a:ext cx="838200" cy="1588"/>
            </a:xfrm>
            <a:prstGeom prst="straightConnector1">
              <a:avLst/>
            </a:prstGeom>
            <a:noFill/>
            <a:ln w="9525">
              <a:solidFill>
                <a:srgbClr val="FF0000"/>
              </a:solidFill>
              <a:round/>
              <a:headEnd/>
              <a:tailEnd/>
            </a:ln>
            <a:extLst>
              <a:ext uri="{909E8E84-426E-40DD-AFC4-6F175D3DCCD1}">
                <a14:hiddenFill xmlns="" xmlns:a14="http://schemas.microsoft.com/office/drawing/2010/main">
                  <a:noFill/>
                </a14:hiddenFill>
              </a:ext>
            </a:extLst>
          </p:spPr>
        </p:cxnSp>
        <p:sp>
          <p:nvSpPr>
            <p:cNvPr id="44" name="Oval 4">
              <a:extLst>
                <a:ext uri="{FF2B5EF4-FFF2-40B4-BE49-F238E27FC236}">
                  <a16:creationId xmlns="" xmlns:a16="http://schemas.microsoft.com/office/drawing/2014/main" id="{EABC6433-D9FE-4B52-8DF9-F78E4850BF66}"/>
                </a:ext>
              </a:extLst>
            </p:cNvPr>
            <p:cNvSpPr/>
            <p:nvPr/>
          </p:nvSpPr>
          <p:spPr bwMode="auto">
            <a:xfrm>
              <a:off x="6705600" y="5182143"/>
              <a:ext cx="457200" cy="3808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800080"/>
                  </a:solidFill>
                </a:rPr>
                <a:t>2</a:t>
              </a:r>
            </a:p>
          </p:txBody>
        </p:sp>
      </p:grpSp>
      <p:graphicFrame>
        <p:nvGraphicFramePr>
          <p:cNvPr id="3" name="Table 2">
            <a:extLst>
              <a:ext uri="{FF2B5EF4-FFF2-40B4-BE49-F238E27FC236}">
                <a16:creationId xmlns="" xmlns:a16="http://schemas.microsoft.com/office/drawing/2014/main" id="{5751216D-5CD9-4575-A4BF-D62B7F56A999}"/>
              </a:ext>
            </a:extLst>
          </p:cNvPr>
          <p:cNvGraphicFramePr>
            <a:graphicFrameLocks noGrp="1"/>
          </p:cNvGraphicFramePr>
          <p:nvPr/>
        </p:nvGraphicFramePr>
        <p:xfrm>
          <a:off x="2209800" y="1187065"/>
          <a:ext cx="4800599" cy="4083770"/>
        </p:xfrm>
        <a:graphic>
          <a:graphicData uri="http://schemas.openxmlformats.org/drawingml/2006/table">
            <a:tbl>
              <a:tblPr/>
              <a:tblGrid>
                <a:gridCol w="413396">
                  <a:extLst>
                    <a:ext uri="{9D8B030D-6E8A-4147-A177-3AD203B41FA5}">
                      <a16:colId xmlns="" xmlns:a16="http://schemas.microsoft.com/office/drawing/2014/main" val="20000"/>
                    </a:ext>
                  </a:extLst>
                </a:gridCol>
                <a:gridCol w="2055803">
                  <a:extLst>
                    <a:ext uri="{9D8B030D-6E8A-4147-A177-3AD203B41FA5}">
                      <a16:colId xmlns="" xmlns:a16="http://schemas.microsoft.com/office/drawing/2014/main" val="20001"/>
                    </a:ext>
                  </a:extLst>
                </a:gridCol>
                <a:gridCol w="2331400">
                  <a:extLst>
                    <a:ext uri="{9D8B030D-6E8A-4147-A177-3AD203B41FA5}">
                      <a16:colId xmlns="" xmlns:a16="http://schemas.microsoft.com/office/drawing/2014/main" val="20002"/>
                    </a:ext>
                  </a:extLst>
                </a:gridCol>
              </a:tblGrid>
              <a:tr h="657526">
                <a:tc>
                  <a:txBody>
                    <a:bodyPr/>
                    <a:lstStyle/>
                    <a:p>
                      <a:pPr marL="0" marR="0">
                        <a:spcBef>
                          <a:spcPts val="0"/>
                        </a:spcBef>
                        <a:spcAft>
                          <a:spcPts val="0"/>
                        </a:spcAft>
                      </a:pPr>
                      <a:endParaRPr lang="en-US" sz="2200" b="1" dirty="0">
                        <a:latin typeface="+mn-lt"/>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2200" b="1" dirty="0">
                          <a:latin typeface="+mn-lt"/>
                          <a:ea typeface="Times New Roman"/>
                        </a:rPr>
                        <a:t>Force / Power</a:t>
                      </a: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marL="0" marR="0" algn="ctr">
                        <a:spcBef>
                          <a:spcPts val="0"/>
                        </a:spcBef>
                        <a:spcAft>
                          <a:spcPts val="0"/>
                        </a:spcAft>
                      </a:pPr>
                      <a:r>
                        <a:rPr lang="en-US" sz="2200" b="1" dirty="0">
                          <a:latin typeface="+mn-lt"/>
                          <a:ea typeface="Times New Roman"/>
                        </a:rPr>
                        <a:t>Activity</a:t>
                      </a: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chemeClr val="accent5">
                        <a:lumMod val="60000"/>
                        <a:lumOff val="40000"/>
                      </a:schemeClr>
                    </a:solidFill>
                  </a:tcPr>
                </a:tc>
                <a:extLst>
                  <a:ext uri="{0D108BD9-81ED-4DB2-BD59-A6C34878D82A}">
                    <a16:rowId xmlns="" xmlns:a16="http://schemas.microsoft.com/office/drawing/2014/main" val="10000"/>
                  </a:ext>
                </a:extLst>
              </a:tr>
              <a:tr h="657526">
                <a:tc>
                  <a:txBody>
                    <a:bodyPr/>
                    <a:lstStyle/>
                    <a:p>
                      <a:pPr marL="0" marR="0" algn="r">
                        <a:spcBef>
                          <a:spcPts val="0"/>
                        </a:spcBef>
                        <a:spcAft>
                          <a:spcPts val="0"/>
                        </a:spcAft>
                      </a:pPr>
                      <a:r>
                        <a:rPr lang="en-US" sz="2200" b="1">
                          <a:latin typeface="+mn-lt"/>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solidFill>
                          <a:schemeClr val="tx1"/>
                        </a:solidFill>
                        <a:latin typeface="+mn-lt"/>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solidFill>
                          <a:schemeClr val="bg1"/>
                        </a:solidFill>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783106">
                <a:tc>
                  <a:txBody>
                    <a:bodyPr/>
                    <a:lstStyle/>
                    <a:p>
                      <a:r>
                        <a:rPr lang="en-US" sz="2200" b="1" baseline="0" dirty="0">
                          <a:latin typeface="+mn-lt"/>
                          <a:ea typeface="Calibri"/>
                        </a:rPr>
                        <a:t> </a:t>
                      </a:r>
                      <a:r>
                        <a:rPr lang="en-US" sz="2200" b="1" dirty="0">
                          <a:latin typeface="+mn-lt"/>
                          <a:ea typeface="Calibri"/>
                        </a:rPr>
                        <a:t>2.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latin typeface="+mn-lt"/>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solidFill>
                          <a:schemeClr val="bg1"/>
                        </a:solidFill>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657526">
                <a:tc>
                  <a:txBody>
                    <a:bodyPr/>
                    <a:lstStyle/>
                    <a:p>
                      <a:pPr marL="0" marR="0" algn="r">
                        <a:spcBef>
                          <a:spcPts val="0"/>
                        </a:spcBef>
                        <a:spcAft>
                          <a:spcPts val="0"/>
                        </a:spcAft>
                      </a:pPr>
                      <a:r>
                        <a:rPr lang="en-US" sz="2200" b="1" dirty="0">
                          <a:latin typeface="+mn-lt"/>
                          <a:ea typeface="Times New Roman"/>
                        </a:rPr>
                        <a:t>3.</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Desire</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Imaging</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657526">
                <a:tc>
                  <a:txBody>
                    <a:bodyPr/>
                    <a:lstStyle/>
                    <a:p>
                      <a:pPr marL="0" marR="0" algn="r">
                        <a:spcBef>
                          <a:spcPts val="0"/>
                        </a:spcBef>
                        <a:spcAft>
                          <a:spcPts val="0"/>
                        </a:spcAft>
                      </a:pPr>
                      <a:r>
                        <a:rPr lang="en-US" sz="2200" b="1">
                          <a:latin typeface="+mn-lt"/>
                          <a:ea typeface="Times New Roman"/>
                        </a:rPr>
                        <a:t>4.</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Thought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err="1">
                          <a:latin typeface="+mn-lt"/>
                          <a:ea typeface="Times New Roman"/>
                        </a:rPr>
                        <a:t>Analysing</a:t>
                      </a:r>
                      <a:endParaRPr lang="en-US" sz="2200" b="1"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657526">
                <a:tc>
                  <a:txBody>
                    <a:bodyPr/>
                    <a:lstStyle/>
                    <a:p>
                      <a:pPr marL="0" marR="0" algn="r">
                        <a:spcBef>
                          <a:spcPts val="0"/>
                        </a:spcBef>
                        <a:spcAft>
                          <a:spcPts val="0"/>
                        </a:spcAft>
                      </a:pPr>
                      <a:r>
                        <a:rPr lang="en-US" sz="2200" b="1">
                          <a:latin typeface="+mn-lt"/>
                          <a:ea typeface="Times New Roman"/>
                        </a:rPr>
                        <a:t>5.</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Expectation</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Selecting/Tasting</a:t>
                      </a:r>
                    </a:p>
                    <a:p>
                      <a:pPr marL="0" marR="0">
                        <a:spcBef>
                          <a:spcPts val="0"/>
                        </a:spcBef>
                        <a:spcAft>
                          <a:spcPts val="0"/>
                        </a:spcAft>
                      </a:pPr>
                      <a:endParaRPr lang="en-US" sz="2200" b="1"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
        <p:nvSpPr>
          <p:cNvPr id="5151" name="Rectangle 8">
            <a:extLst>
              <a:ext uri="{FF2B5EF4-FFF2-40B4-BE49-F238E27FC236}">
                <a16:creationId xmlns="" xmlns:a16="http://schemas.microsoft.com/office/drawing/2014/main" id="{328532E8-0860-4AD6-B3C0-C7FA6014EDC4}"/>
              </a:ext>
            </a:extLst>
          </p:cNvPr>
          <p:cNvSpPr>
            <a:spLocks noChangeArrowheads="1"/>
          </p:cNvSpPr>
          <p:nvPr/>
        </p:nvSpPr>
        <p:spPr bwMode="auto">
          <a:xfrm>
            <a:off x="397336" y="1347451"/>
            <a:ext cx="998991"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b="1" dirty="0">
                <a:latin typeface="+mn-lt"/>
              </a:rPr>
              <a:t>Self (I) </a:t>
            </a:r>
          </a:p>
        </p:txBody>
      </p:sp>
      <p:sp>
        <p:nvSpPr>
          <p:cNvPr id="5152" name="Rectangle 10">
            <a:extLst>
              <a:ext uri="{FF2B5EF4-FFF2-40B4-BE49-F238E27FC236}">
                <a16:creationId xmlns="" xmlns:a16="http://schemas.microsoft.com/office/drawing/2014/main" id="{5FB00690-23B9-4D01-AAEB-4BF3E0278E06}"/>
              </a:ext>
            </a:extLst>
          </p:cNvPr>
          <p:cNvSpPr>
            <a:spLocks noChangeArrowheads="1"/>
          </p:cNvSpPr>
          <p:nvPr/>
        </p:nvSpPr>
        <p:spPr bwMode="auto">
          <a:xfrm>
            <a:off x="448780" y="5341938"/>
            <a:ext cx="779381"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b="1" dirty="0">
                <a:latin typeface="+mn-lt"/>
              </a:rPr>
              <a:t>Body</a:t>
            </a:r>
          </a:p>
        </p:txBody>
      </p:sp>
      <p:cxnSp>
        <p:nvCxnSpPr>
          <p:cNvPr id="13" name="Straight Connector 12">
            <a:extLst>
              <a:ext uri="{FF2B5EF4-FFF2-40B4-BE49-F238E27FC236}">
                <a16:creationId xmlns="" xmlns:a16="http://schemas.microsoft.com/office/drawing/2014/main" id="{FF3F724C-BF2C-40C6-9AD1-4ACC1F0F573E}"/>
              </a:ext>
            </a:extLst>
          </p:cNvPr>
          <p:cNvCxnSpPr/>
          <p:nvPr/>
        </p:nvCxnSpPr>
        <p:spPr>
          <a:xfrm rot="10800000">
            <a:off x="0" y="5256212"/>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54" name="Rectangle 13">
            <a:extLst>
              <a:ext uri="{FF2B5EF4-FFF2-40B4-BE49-F238E27FC236}">
                <a16:creationId xmlns="" xmlns:a16="http://schemas.microsoft.com/office/drawing/2014/main" id="{30672732-FB67-461D-894E-F654F0DC0CDE}"/>
              </a:ext>
            </a:extLst>
          </p:cNvPr>
          <p:cNvSpPr>
            <a:spLocks noChangeArrowheads="1"/>
          </p:cNvSpPr>
          <p:nvPr/>
        </p:nvSpPr>
        <p:spPr bwMode="auto">
          <a:xfrm>
            <a:off x="1506659" y="5638800"/>
            <a:ext cx="1406282"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err="1">
                <a:latin typeface="+mn-lt"/>
              </a:rPr>
              <a:t>Behaviour</a:t>
            </a:r>
            <a:r>
              <a:rPr lang="en-US" altLang="en-US" sz="2200" dirty="0">
                <a:latin typeface="+mn-lt"/>
              </a:rPr>
              <a:t> </a:t>
            </a:r>
            <a:endParaRPr lang="en-US" altLang="en-US" sz="2200" dirty="0">
              <a:solidFill>
                <a:srgbClr val="1E00AA"/>
              </a:solidFill>
              <a:latin typeface="+mn-lt"/>
            </a:endParaRPr>
          </a:p>
        </p:txBody>
      </p:sp>
      <p:sp>
        <p:nvSpPr>
          <p:cNvPr id="5155" name="Rectangle 14">
            <a:extLst>
              <a:ext uri="{FF2B5EF4-FFF2-40B4-BE49-F238E27FC236}">
                <a16:creationId xmlns="" xmlns:a16="http://schemas.microsoft.com/office/drawing/2014/main" id="{5BAB27FC-B612-4D21-B5FF-18106C6C90A9}"/>
              </a:ext>
            </a:extLst>
          </p:cNvPr>
          <p:cNvSpPr>
            <a:spLocks noChangeArrowheads="1"/>
          </p:cNvSpPr>
          <p:nvPr/>
        </p:nvSpPr>
        <p:spPr bwMode="auto">
          <a:xfrm>
            <a:off x="4032302" y="5676900"/>
            <a:ext cx="863698"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mn-lt"/>
              </a:rPr>
              <a:t>Work </a:t>
            </a:r>
            <a:endParaRPr lang="en-US" altLang="en-US" sz="2200" dirty="0">
              <a:solidFill>
                <a:srgbClr val="1E00AA"/>
              </a:solidFill>
              <a:latin typeface="+mn-lt"/>
            </a:endParaRPr>
          </a:p>
        </p:txBody>
      </p:sp>
      <p:cxnSp>
        <p:nvCxnSpPr>
          <p:cNvPr id="18" name="Straight Arrow Connector 17">
            <a:extLst>
              <a:ext uri="{FF2B5EF4-FFF2-40B4-BE49-F238E27FC236}">
                <a16:creationId xmlns="" xmlns:a16="http://schemas.microsoft.com/office/drawing/2014/main" id="{5BB1DF0C-9843-45E1-95D0-420409ADF7BC}"/>
              </a:ext>
            </a:extLst>
          </p:cNvPr>
          <p:cNvCxnSpPr>
            <a:cxnSpLocks/>
          </p:cNvCxnSpPr>
          <p:nvPr/>
        </p:nvCxnSpPr>
        <p:spPr>
          <a:xfrm rot="10800000" flipV="1">
            <a:off x="2627313" y="5181599"/>
            <a:ext cx="2478087" cy="533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 xmlns:a16="http://schemas.microsoft.com/office/drawing/2014/main" id="{BB304ACA-43B0-4BBA-B928-22CD31692950}"/>
              </a:ext>
            </a:extLst>
          </p:cNvPr>
          <p:cNvCxnSpPr>
            <a:cxnSpLocks/>
          </p:cNvCxnSpPr>
          <p:nvPr/>
        </p:nvCxnSpPr>
        <p:spPr>
          <a:xfrm rot="5400000">
            <a:off x="4641057" y="5174456"/>
            <a:ext cx="533400" cy="3952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 xmlns:a16="http://schemas.microsoft.com/office/drawing/2014/main" id="{210AE2C8-AE29-4338-BA08-2E9756ABC7A1}"/>
              </a:ext>
            </a:extLst>
          </p:cNvPr>
          <p:cNvSpPr>
            <a:spLocks noChangeArrowheads="1"/>
          </p:cNvSpPr>
          <p:nvPr/>
        </p:nvSpPr>
        <p:spPr bwMode="auto">
          <a:xfrm>
            <a:off x="0" y="3124200"/>
            <a:ext cx="2057399"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1000"/>
              </a:spcAft>
            </a:pPr>
            <a:r>
              <a:rPr lang="en-US" altLang="en-US" sz="2200" b="1" dirty="0" err="1">
                <a:solidFill>
                  <a:srgbClr val="FF0000"/>
                </a:solidFill>
                <a:latin typeface="+mn-lt"/>
                <a:cs typeface="Arial" panose="020B0604020202020204" pitchFamily="34" charset="0"/>
              </a:rPr>
              <a:t>Partantrata</a:t>
            </a:r>
            <a:r>
              <a:rPr lang="en-US" altLang="en-US" sz="2200" b="1" dirty="0">
                <a:solidFill>
                  <a:srgbClr val="FF0000"/>
                </a:solidFill>
                <a:latin typeface="+mn-lt"/>
                <a:cs typeface="Arial" panose="020B0604020202020204" pitchFamily="34" charset="0"/>
              </a:rPr>
              <a:t> </a:t>
            </a:r>
            <a:r>
              <a:rPr lang="en-US" altLang="en-US" sz="2200" dirty="0">
                <a:solidFill>
                  <a:srgbClr val="FF0000"/>
                </a:solidFill>
                <a:latin typeface="+mn-lt"/>
              </a:rPr>
              <a:t>X </a:t>
            </a:r>
          </a:p>
        </p:txBody>
      </p:sp>
      <p:sp>
        <p:nvSpPr>
          <p:cNvPr id="35" name="Rectangle 34">
            <a:extLst>
              <a:ext uri="{FF2B5EF4-FFF2-40B4-BE49-F238E27FC236}">
                <a16:creationId xmlns="" xmlns:a16="http://schemas.microsoft.com/office/drawing/2014/main" id="{065AAC63-8784-4278-A74F-FD6986B95BBE}"/>
              </a:ext>
            </a:extLst>
          </p:cNvPr>
          <p:cNvSpPr>
            <a:spLocks noChangeArrowheads="1"/>
          </p:cNvSpPr>
          <p:nvPr/>
        </p:nvSpPr>
        <p:spPr bwMode="auto">
          <a:xfrm>
            <a:off x="7162800" y="3726359"/>
            <a:ext cx="1904999"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b="1" dirty="0" err="1">
                <a:latin typeface="+mn-lt"/>
                <a:cs typeface="Arial" panose="020B0604020202020204" pitchFamily="34" charset="0"/>
              </a:rPr>
              <a:t>Swatantrata</a:t>
            </a:r>
            <a:r>
              <a:rPr lang="en-US" altLang="en-US" sz="2200" b="1" dirty="0">
                <a:latin typeface="+mn-lt"/>
                <a:cs typeface="Arial" panose="020B0604020202020204" pitchFamily="34" charset="0"/>
              </a:rPr>
              <a:t> </a:t>
            </a:r>
            <a:r>
              <a:rPr lang="en-US" altLang="en-US" sz="2200" b="1" dirty="0">
                <a:solidFill>
                  <a:srgbClr val="FF0000"/>
                </a:solidFill>
                <a:latin typeface="+mn-lt"/>
              </a:rPr>
              <a:t>√</a:t>
            </a:r>
          </a:p>
        </p:txBody>
      </p:sp>
      <p:sp>
        <p:nvSpPr>
          <p:cNvPr id="42" name="Rectangle 41">
            <a:extLst>
              <a:ext uri="{FF2B5EF4-FFF2-40B4-BE49-F238E27FC236}">
                <a16:creationId xmlns="" xmlns:a16="http://schemas.microsoft.com/office/drawing/2014/main" id="{FAC429F7-E627-448A-935A-F45571DCF7C2}"/>
              </a:ext>
            </a:extLst>
          </p:cNvPr>
          <p:cNvSpPr>
            <a:spLocks noChangeArrowheads="1"/>
          </p:cNvSpPr>
          <p:nvPr/>
        </p:nvSpPr>
        <p:spPr bwMode="auto">
          <a:xfrm>
            <a:off x="6703164" y="5669617"/>
            <a:ext cx="2111475"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1000"/>
              </a:spcAft>
            </a:pPr>
            <a:r>
              <a:rPr lang="en-US" altLang="en-US" sz="2000" b="1" dirty="0" err="1">
                <a:solidFill>
                  <a:srgbClr val="FF0000"/>
                </a:solidFill>
                <a:cs typeface="Arial" panose="020B0604020202020204" pitchFamily="34" charset="0"/>
              </a:rPr>
              <a:t>Partantrata</a:t>
            </a:r>
            <a:r>
              <a:rPr lang="en-US" altLang="en-US" sz="2000" b="1" dirty="0">
                <a:solidFill>
                  <a:srgbClr val="FF0000"/>
                </a:solidFill>
                <a:cs typeface="Arial" panose="020B0604020202020204" pitchFamily="34" charset="0"/>
              </a:rPr>
              <a:t> </a:t>
            </a:r>
            <a:r>
              <a:rPr lang="en-US" altLang="en-US" sz="2800" b="1" dirty="0">
                <a:solidFill>
                  <a:srgbClr val="FF0000"/>
                </a:solidFill>
                <a:latin typeface="Kruti Dev 010" pitchFamily="2" charset="0"/>
              </a:rPr>
              <a:t> </a:t>
            </a:r>
            <a:r>
              <a:rPr lang="en-US" altLang="en-US" sz="2400" dirty="0">
                <a:solidFill>
                  <a:srgbClr val="FF0000"/>
                </a:solidFill>
              </a:rPr>
              <a:t>X </a:t>
            </a:r>
          </a:p>
        </p:txBody>
      </p:sp>
      <p:grpSp>
        <p:nvGrpSpPr>
          <p:cNvPr id="4" name="Group 46">
            <a:extLst>
              <a:ext uri="{FF2B5EF4-FFF2-40B4-BE49-F238E27FC236}">
                <a16:creationId xmlns="" xmlns:a16="http://schemas.microsoft.com/office/drawing/2014/main" id="{53489A5F-0C2F-4381-8C37-9AFB4F673943}"/>
              </a:ext>
            </a:extLst>
          </p:cNvPr>
          <p:cNvGrpSpPr>
            <a:grpSpLocks/>
          </p:cNvGrpSpPr>
          <p:nvPr/>
        </p:nvGrpSpPr>
        <p:grpSpPr bwMode="auto">
          <a:xfrm>
            <a:off x="6364461" y="1778338"/>
            <a:ext cx="2820987" cy="1758338"/>
            <a:chOff x="6323806" y="1594462"/>
            <a:chExt cx="2820194" cy="1758338"/>
          </a:xfrm>
        </p:grpSpPr>
        <p:sp>
          <p:nvSpPr>
            <p:cNvPr id="5167" name="Text Box 10">
              <a:extLst>
                <a:ext uri="{FF2B5EF4-FFF2-40B4-BE49-F238E27FC236}">
                  <a16:creationId xmlns="" xmlns:a16="http://schemas.microsoft.com/office/drawing/2014/main" id="{FC2B86E1-3DEB-437A-9C7E-F10F533F6246}"/>
                </a:ext>
              </a:extLst>
            </p:cNvPr>
            <p:cNvSpPr txBox="1">
              <a:spLocks noChangeArrowheads="1"/>
            </p:cNvSpPr>
            <p:nvPr/>
          </p:nvSpPr>
          <p:spPr bwMode="auto">
            <a:xfrm>
              <a:off x="7165975" y="1594462"/>
              <a:ext cx="1978025" cy="1758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1000"/>
                </a:spcAft>
              </a:pPr>
              <a:r>
                <a:rPr lang="en-US" altLang="en-US" sz="2200" dirty="0">
                  <a:solidFill>
                    <a:srgbClr val="FF0000"/>
                  </a:solidFill>
                  <a:latin typeface="+mn-lt"/>
                </a:rPr>
                <a:t>Self verification on the basis of Natural Acceptance </a:t>
              </a:r>
            </a:p>
          </p:txBody>
        </p:sp>
        <p:cxnSp>
          <p:nvCxnSpPr>
            <p:cNvPr id="5168" name="AutoShape 11">
              <a:extLst>
                <a:ext uri="{FF2B5EF4-FFF2-40B4-BE49-F238E27FC236}">
                  <a16:creationId xmlns="" xmlns:a16="http://schemas.microsoft.com/office/drawing/2014/main" id="{AF79DAE2-3A75-450C-9956-430556BA71FF}"/>
                </a:ext>
              </a:extLst>
            </p:cNvPr>
            <p:cNvCxnSpPr>
              <a:cxnSpLocks noChangeShapeType="1"/>
            </p:cNvCxnSpPr>
            <p:nvPr/>
          </p:nvCxnSpPr>
          <p:spPr bwMode="auto">
            <a:xfrm>
              <a:off x="6324600" y="2132806"/>
              <a:ext cx="838200" cy="1588"/>
            </a:xfrm>
            <a:prstGeom prst="straightConnector1">
              <a:avLst/>
            </a:prstGeom>
            <a:noFill/>
            <a:ln w="9525">
              <a:solidFill>
                <a:srgbClr val="FF0000"/>
              </a:solidFill>
              <a:round/>
              <a:headEnd/>
              <a:tailEnd/>
            </a:ln>
            <a:extLst>
              <a:ext uri="{909E8E84-426E-40DD-AFC4-6F175D3DCCD1}">
                <a14:hiddenFill xmlns="" xmlns:a14="http://schemas.microsoft.com/office/drawing/2010/main">
                  <a:noFill/>
                </a14:hiddenFill>
              </a:ext>
            </a:extLst>
          </p:spPr>
        </p:cxnSp>
        <p:cxnSp>
          <p:nvCxnSpPr>
            <p:cNvPr id="5169" name="AutoShape 12">
              <a:extLst>
                <a:ext uri="{FF2B5EF4-FFF2-40B4-BE49-F238E27FC236}">
                  <a16:creationId xmlns="" xmlns:a16="http://schemas.microsoft.com/office/drawing/2014/main" id="{18A042CE-DC69-40B9-AFAA-B5B0F058B77B}"/>
                </a:ext>
              </a:extLst>
            </p:cNvPr>
            <p:cNvCxnSpPr>
              <a:cxnSpLocks noChangeShapeType="1"/>
            </p:cNvCxnSpPr>
            <p:nvPr/>
          </p:nvCxnSpPr>
          <p:spPr bwMode="auto">
            <a:xfrm rot="5400000">
              <a:off x="5867400" y="2590006"/>
              <a:ext cx="914400" cy="1588"/>
            </a:xfrm>
            <a:prstGeom prst="straightConnector1">
              <a:avLst/>
            </a:prstGeom>
            <a:noFill/>
            <a:ln w="9525">
              <a:solidFill>
                <a:srgbClr val="FF0000"/>
              </a:solidFill>
              <a:round/>
              <a:headEnd/>
              <a:tailEnd type="triangle" w="med" len="med"/>
            </a:ln>
            <a:extLst>
              <a:ext uri="{909E8E84-426E-40DD-AFC4-6F175D3DCCD1}">
                <a14:hiddenFill xmlns="" xmlns:a14="http://schemas.microsoft.com/office/drawing/2010/main">
                  <a:noFill/>
                </a14:hiddenFill>
              </a:ext>
            </a:extLst>
          </p:spPr>
        </p:cxnSp>
        <p:sp>
          <p:nvSpPr>
            <p:cNvPr id="43" name="Oval 4">
              <a:extLst>
                <a:ext uri="{FF2B5EF4-FFF2-40B4-BE49-F238E27FC236}">
                  <a16:creationId xmlns="" xmlns:a16="http://schemas.microsoft.com/office/drawing/2014/main" id="{4B578537-5CAE-4054-81AA-7A2CD911CDE5}"/>
                </a:ext>
              </a:extLst>
            </p:cNvPr>
            <p:cNvSpPr/>
            <p:nvPr/>
          </p:nvSpPr>
          <p:spPr bwMode="auto">
            <a:xfrm>
              <a:off x="6706285" y="1960563"/>
              <a:ext cx="457071" cy="381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800080"/>
                  </a:solidFill>
                </a:rPr>
                <a:t>3</a:t>
              </a:r>
            </a:p>
          </p:txBody>
        </p:sp>
      </p:grpSp>
      <p:grpSp>
        <p:nvGrpSpPr>
          <p:cNvPr id="5" name="Group 47">
            <a:extLst>
              <a:ext uri="{FF2B5EF4-FFF2-40B4-BE49-F238E27FC236}">
                <a16:creationId xmlns="" xmlns:a16="http://schemas.microsoft.com/office/drawing/2014/main" id="{370E2194-7BA6-41D3-B774-9DAE51C5B5C7}"/>
              </a:ext>
            </a:extLst>
          </p:cNvPr>
          <p:cNvGrpSpPr>
            <a:grpSpLocks/>
          </p:cNvGrpSpPr>
          <p:nvPr/>
        </p:nvGrpSpPr>
        <p:grpSpPr bwMode="auto">
          <a:xfrm>
            <a:off x="0" y="2514600"/>
            <a:ext cx="5259388" cy="838200"/>
            <a:chOff x="0" y="2209800"/>
            <a:chExt cx="5259388" cy="838200"/>
          </a:xfrm>
        </p:grpSpPr>
        <p:sp>
          <p:nvSpPr>
            <p:cNvPr id="5163" name="Text Box 7">
              <a:extLst>
                <a:ext uri="{FF2B5EF4-FFF2-40B4-BE49-F238E27FC236}">
                  <a16:creationId xmlns="" xmlns:a16="http://schemas.microsoft.com/office/drawing/2014/main" id="{AB43382F-DC36-480C-B45D-FCF32E0EBA0C}"/>
                </a:ext>
              </a:extLst>
            </p:cNvPr>
            <p:cNvSpPr txBox="1">
              <a:spLocks noChangeArrowheads="1"/>
            </p:cNvSpPr>
            <p:nvPr/>
          </p:nvSpPr>
          <p:spPr bwMode="auto">
            <a:xfrm>
              <a:off x="0" y="2209800"/>
              <a:ext cx="1981200" cy="83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1000"/>
                </a:spcAft>
              </a:pPr>
              <a:r>
                <a:rPr lang="en-US" altLang="en-US" sz="2200" dirty="0">
                  <a:solidFill>
                    <a:srgbClr val="FF0000"/>
                  </a:solidFill>
                  <a:latin typeface="+mn-lt"/>
                </a:rPr>
                <a:t>Preconditioning</a:t>
              </a:r>
            </a:p>
          </p:txBody>
        </p:sp>
        <p:cxnSp>
          <p:nvCxnSpPr>
            <p:cNvPr id="5164" name="AutoShape 8">
              <a:extLst>
                <a:ext uri="{FF2B5EF4-FFF2-40B4-BE49-F238E27FC236}">
                  <a16:creationId xmlns="" xmlns:a16="http://schemas.microsoft.com/office/drawing/2014/main" id="{73DD01BE-7AFC-4D26-BE47-8230A3C4C59F}"/>
                </a:ext>
              </a:extLst>
            </p:cNvPr>
            <p:cNvCxnSpPr>
              <a:cxnSpLocks noChangeShapeType="1"/>
            </p:cNvCxnSpPr>
            <p:nvPr/>
          </p:nvCxnSpPr>
          <p:spPr bwMode="auto">
            <a:xfrm>
              <a:off x="2057400" y="2438400"/>
              <a:ext cx="3200400" cy="1"/>
            </a:xfrm>
            <a:prstGeom prst="straightConnector1">
              <a:avLst/>
            </a:prstGeom>
            <a:noFill/>
            <a:ln w="9525">
              <a:solidFill>
                <a:srgbClr val="FF0000"/>
              </a:solidFill>
              <a:round/>
              <a:headEnd/>
              <a:tailEnd/>
            </a:ln>
            <a:extLst>
              <a:ext uri="{909E8E84-426E-40DD-AFC4-6F175D3DCCD1}">
                <a14:hiddenFill xmlns="" xmlns:a14="http://schemas.microsoft.com/office/drawing/2010/main">
                  <a:noFill/>
                </a14:hiddenFill>
              </a:ext>
            </a:extLst>
          </p:spPr>
        </p:cxnSp>
        <p:cxnSp>
          <p:nvCxnSpPr>
            <p:cNvPr id="5165" name="AutoShape 9">
              <a:extLst>
                <a:ext uri="{FF2B5EF4-FFF2-40B4-BE49-F238E27FC236}">
                  <a16:creationId xmlns="" xmlns:a16="http://schemas.microsoft.com/office/drawing/2014/main" id="{D8376A89-D24F-4DF2-9417-2AAD5D79998C}"/>
                </a:ext>
              </a:extLst>
            </p:cNvPr>
            <p:cNvCxnSpPr>
              <a:cxnSpLocks noChangeShapeType="1"/>
            </p:cNvCxnSpPr>
            <p:nvPr/>
          </p:nvCxnSpPr>
          <p:spPr bwMode="auto">
            <a:xfrm>
              <a:off x="5257800" y="2438400"/>
              <a:ext cx="1588" cy="298450"/>
            </a:xfrm>
            <a:prstGeom prst="straightConnector1">
              <a:avLst/>
            </a:prstGeom>
            <a:noFill/>
            <a:ln w="9525">
              <a:solidFill>
                <a:srgbClr val="FF0000"/>
              </a:solidFill>
              <a:round/>
              <a:headEnd/>
              <a:tailEnd type="triangle" w="med" len="med"/>
            </a:ln>
            <a:extLst>
              <a:ext uri="{909E8E84-426E-40DD-AFC4-6F175D3DCCD1}">
                <a14:hiddenFill xmlns="" xmlns:a14="http://schemas.microsoft.com/office/drawing/2010/main">
                  <a:noFill/>
                </a14:hiddenFill>
              </a:ext>
            </a:extLst>
          </p:spPr>
        </p:cxnSp>
        <p:sp>
          <p:nvSpPr>
            <p:cNvPr id="45" name="Oval 4">
              <a:extLst>
                <a:ext uri="{FF2B5EF4-FFF2-40B4-BE49-F238E27FC236}">
                  <a16:creationId xmlns="" xmlns:a16="http://schemas.microsoft.com/office/drawing/2014/main" id="{80280BEB-2B92-4DAB-918F-BAC5FDE410E4}"/>
                </a:ext>
              </a:extLst>
            </p:cNvPr>
            <p:cNvSpPr/>
            <p:nvPr/>
          </p:nvSpPr>
          <p:spPr bwMode="auto">
            <a:xfrm>
              <a:off x="1925638" y="2230438"/>
              <a:ext cx="457200" cy="381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800080"/>
                  </a:solidFill>
                </a:rPr>
                <a:t>1</a:t>
              </a:r>
            </a:p>
          </p:txBody>
        </p:sp>
      </p:grpSp>
      <p:sp>
        <p:nvSpPr>
          <p:cNvPr id="7" name="Title 1">
            <a:extLst>
              <a:ext uri="{FF2B5EF4-FFF2-40B4-BE49-F238E27FC236}">
                <a16:creationId xmlns="" xmlns:a16="http://schemas.microsoft.com/office/drawing/2014/main" id="{6D96F644-A110-4A11-9729-912121DC6CB2}"/>
              </a:ext>
            </a:extLst>
          </p:cNvPr>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indent="0" algn="ctr">
              <a:buFont typeface="Symbol" pitchFamily="18" charset="2"/>
              <a:buNone/>
            </a:pPr>
            <a:r>
              <a:rPr lang="en-IN" altLang="en-US" sz="3000" dirty="0"/>
              <a:t>Activities of Self</a:t>
            </a:r>
            <a:r>
              <a:rPr lang="en-US" altLang="en-US" sz="3000" dirty="0"/>
              <a:t> [CO5]</a:t>
            </a:r>
            <a:endParaRPr lang="en-IN" altLang="en-US" sz="3000" dirty="0"/>
          </a:p>
        </p:txBody>
      </p:sp>
      <p:pic>
        <p:nvPicPr>
          <p:cNvPr id="8" name="Picture 2" descr="E:\NIET\Project\xLogo11.png.pagespeed.ic.pydHLuCQEZ.png">
            <a:extLst>
              <a:ext uri="{FF2B5EF4-FFF2-40B4-BE49-F238E27FC236}">
                <a16:creationId xmlns="" xmlns:a16="http://schemas.microsoft.com/office/drawing/2014/main" id="{101F8E97-2E5E-4967-803F-C48529AF623B}"/>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Rectangle 8">
            <a:extLst>
              <a:ext uri="{FF2B5EF4-FFF2-40B4-BE49-F238E27FC236}">
                <a16:creationId xmlns="" xmlns:a16="http://schemas.microsoft.com/office/drawing/2014/main" id="{738BAF15-06A0-45B2-AAF9-E27FCA3DF08C}"/>
              </a:ext>
            </a:extLst>
          </p:cNvPr>
          <p:cNvSpPr/>
          <p:nvPr/>
        </p:nvSpPr>
        <p:spPr>
          <a:xfrm>
            <a:off x="0" y="990600"/>
            <a:ext cx="9144000" cy="520223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6" name="Footer Placeholder 4">
            <a:extLst>
              <a:ext uri="{FF2B5EF4-FFF2-40B4-BE49-F238E27FC236}">
                <a16:creationId xmlns="" xmlns:a16="http://schemas.microsoft.com/office/drawing/2014/main" id="{5BA8544A-B3B7-4C04-9BE3-85DAF949FC7C}"/>
              </a:ext>
            </a:extLst>
          </p:cNvPr>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37" name="Date Placeholder 3">
            <a:extLst>
              <a:ext uri="{FF2B5EF4-FFF2-40B4-BE49-F238E27FC236}">
                <a16:creationId xmlns="" xmlns:a16="http://schemas.microsoft.com/office/drawing/2014/main" id="{A53CA101-37EE-49B6-BA92-0FEE465EC13F}"/>
              </a:ext>
            </a:extLst>
          </p:cNvPr>
          <p:cNvSpPr>
            <a:spLocks noGrp="1"/>
          </p:cNvSpPr>
          <p:nvPr>
            <p:ph type="dt" sz="half" idx="10"/>
          </p:nvPr>
        </p:nvSpPr>
        <p:spPr>
          <a:xfrm>
            <a:off x="457200" y="6356350"/>
            <a:ext cx="2133600" cy="365125"/>
          </a:xfrm>
        </p:spPr>
        <p:txBody>
          <a:bodyPr/>
          <a:lstStyle/>
          <a:p>
            <a:fld id="{B57C42F0-A47D-43E7-BEDC-C8B41DE3290E}" type="datetime1">
              <a:rPr lang="en-US" smtClean="0"/>
              <a:t>06/22/21</a:t>
            </a:fld>
            <a:endParaRPr lang="en-US"/>
          </a:p>
        </p:txBody>
      </p:sp>
      <p:sp>
        <p:nvSpPr>
          <p:cNvPr id="38" name="Slide Number Placeholder 5">
            <a:extLst>
              <a:ext uri="{FF2B5EF4-FFF2-40B4-BE49-F238E27FC236}">
                <a16:creationId xmlns="" xmlns:a16="http://schemas.microsoft.com/office/drawing/2014/main" id="{C8282EB2-2054-41AF-AC5B-FA663BA349C4}"/>
              </a:ext>
            </a:extLst>
          </p:cNvPr>
          <p:cNvSpPr>
            <a:spLocks noGrp="1"/>
          </p:cNvSpPr>
          <p:nvPr>
            <p:ph type="sldNum" sz="quarter" idx="12"/>
          </p:nvPr>
        </p:nvSpPr>
        <p:spPr>
          <a:xfrm>
            <a:off x="6553200" y="6356350"/>
            <a:ext cx="2133600" cy="365125"/>
          </a:xfrm>
        </p:spPr>
        <p:txBody>
          <a:bodyPr/>
          <a:lstStyle/>
          <a:p>
            <a:fld id="{B6F15528-21DE-4FAA-801E-634DDDAF4B2B}" type="slidenum">
              <a:rPr lang="en-US" smtClean="0"/>
              <a:pPr/>
              <a:t>36</a:t>
            </a:fld>
            <a:endParaRPr lang="en-US"/>
          </a:p>
        </p:txBody>
      </p:sp>
      <p:sp>
        <p:nvSpPr>
          <p:cNvPr id="10" name="Rectangle 9">
            <a:extLst>
              <a:ext uri="{FF2B5EF4-FFF2-40B4-BE49-F238E27FC236}">
                <a16:creationId xmlns="" xmlns:a16="http://schemas.microsoft.com/office/drawing/2014/main" id="{2C8082B8-1EF6-4BEE-82F7-62583CE8F998}"/>
              </a:ext>
            </a:extLst>
          </p:cNvPr>
          <p:cNvSpPr/>
          <p:nvPr/>
        </p:nvSpPr>
        <p:spPr>
          <a:xfrm>
            <a:off x="2209801" y="1189711"/>
            <a:ext cx="417511" cy="58896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 xmlns:p14="http://schemas.microsoft.com/office/powerpoint/2010/main" val="3125489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4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 xmlns:a16="http://schemas.microsoft.com/office/drawing/2014/main" id="{2D727E1F-2DBD-4C75-ADB8-BF1509EA5C4F}"/>
              </a:ext>
            </a:extLst>
          </p:cNvPr>
          <p:cNvGraphicFramePr>
            <a:graphicFrameLocks noGrp="1"/>
          </p:cNvGraphicFramePr>
          <p:nvPr/>
        </p:nvGraphicFramePr>
        <p:xfrm>
          <a:off x="609600" y="762000"/>
          <a:ext cx="8534400" cy="4314826"/>
        </p:xfrm>
        <a:graphic>
          <a:graphicData uri="http://schemas.openxmlformats.org/drawingml/2006/table">
            <a:tbl>
              <a:tblPr/>
              <a:tblGrid>
                <a:gridCol w="391957">
                  <a:extLst>
                    <a:ext uri="{9D8B030D-6E8A-4147-A177-3AD203B41FA5}">
                      <a16:colId xmlns="" xmlns:a16="http://schemas.microsoft.com/office/drawing/2014/main" val="20000"/>
                    </a:ext>
                  </a:extLst>
                </a:gridCol>
                <a:gridCol w="1608276">
                  <a:extLst>
                    <a:ext uri="{9D8B030D-6E8A-4147-A177-3AD203B41FA5}">
                      <a16:colId xmlns="" xmlns:a16="http://schemas.microsoft.com/office/drawing/2014/main" val="20001"/>
                    </a:ext>
                  </a:extLst>
                </a:gridCol>
                <a:gridCol w="2000233">
                  <a:extLst>
                    <a:ext uri="{9D8B030D-6E8A-4147-A177-3AD203B41FA5}">
                      <a16:colId xmlns="" xmlns:a16="http://schemas.microsoft.com/office/drawing/2014/main" val="20002"/>
                    </a:ext>
                  </a:extLst>
                </a:gridCol>
                <a:gridCol w="2266967">
                  <a:extLst>
                    <a:ext uri="{9D8B030D-6E8A-4147-A177-3AD203B41FA5}">
                      <a16:colId xmlns="" xmlns:a16="http://schemas.microsoft.com/office/drawing/2014/main" val="20003"/>
                    </a:ext>
                  </a:extLst>
                </a:gridCol>
                <a:gridCol w="2266967">
                  <a:extLst>
                    <a:ext uri="{9D8B030D-6E8A-4147-A177-3AD203B41FA5}">
                      <a16:colId xmlns="" xmlns:a16="http://schemas.microsoft.com/office/drawing/2014/main" val="20004"/>
                    </a:ext>
                  </a:extLst>
                </a:gridCol>
              </a:tblGrid>
              <a:tr h="714000">
                <a:tc>
                  <a:txBody>
                    <a:bodyPr/>
                    <a:lstStyle/>
                    <a:p>
                      <a:pPr marL="0" marR="0">
                        <a:spcBef>
                          <a:spcPts val="0"/>
                        </a:spcBef>
                        <a:spcAft>
                          <a:spcPts val="0"/>
                        </a:spcAft>
                      </a:pPr>
                      <a:endParaRPr lang="en-US" sz="2200" b="1" dirty="0">
                        <a:latin typeface="+mn-lt"/>
                        <a:ea typeface="Times New Roman"/>
                      </a:endParaRPr>
                    </a:p>
                  </a:txBody>
                  <a:tcPr marL="68573" marR="68573" marT="0" marB="0">
                    <a:lnL>
                      <a:noFill/>
                    </a:lnL>
                    <a:lnR>
                      <a:noFill/>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2200" b="1" dirty="0">
                          <a:latin typeface="+mn-lt"/>
                          <a:ea typeface="Times New Roman"/>
                        </a:rPr>
                        <a:t>Power</a:t>
                      </a:r>
                    </a:p>
                  </a:txBody>
                  <a:tcPr marL="68573" marR="68573"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2200" b="1" dirty="0">
                          <a:latin typeface="+mn-lt"/>
                          <a:ea typeface="Times New Roman"/>
                        </a:rPr>
                        <a:t>Dynamic Activity</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2200" b="1" kern="1200" dirty="0">
                          <a:solidFill>
                            <a:schemeClr val="tx1"/>
                          </a:solidFill>
                          <a:latin typeface="+mn-lt"/>
                          <a:ea typeface="Times New Roman"/>
                          <a:cs typeface="+mn-cs"/>
                        </a:rPr>
                        <a:t>State  Activity</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200" b="1" kern="1200" dirty="0">
                        <a:solidFill>
                          <a:srgbClr val="002060"/>
                        </a:solidFill>
                        <a:latin typeface="+mn-lt"/>
                        <a:ea typeface="Times New Roman"/>
                        <a:cs typeface="Arial"/>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 xmlns:a16="http://schemas.microsoft.com/office/drawing/2014/main" val="10000"/>
                  </a:ext>
                </a:extLst>
              </a:tr>
              <a:tr h="714000">
                <a:tc>
                  <a:txBody>
                    <a:bodyPr/>
                    <a:lstStyle/>
                    <a:p>
                      <a:pPr marL="0" marR="0" algn="r">
                        <a:spcBef>
                          <a:spcPts val="0"/>
                        </a:spcBef>
                        <a:spcAft>
                          <a:spcPts val="0"/>
                        </a:spcAft>
                      </a:pPr>
                      <a:r>
                        <a:rPr lang="en-US" sz="2200" b="1">
                          <a:latin typeface="+mn-lt"/>
                          <a:ea typeface="Times New Roman"/>
                        </a:rPr>
                        <a:t>1.</a:t>
                      </a:r>
                    </a:p>
                  </a:txBody>
                  <a:tcPr marL="68573" marR="68573"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solidFill>
                          <a:schemeClr val="tx1"/>
                        </a:solidFill>
                        <a:latin typeface="+mn-lt"/>
                        <a:ea typeface="Times New Roman"/>
                      </a:endParaRP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2200" b="1" kern="1200" dirty="0">
                          <a:solidFill>
                            <a:schemeClr val="bg1">
                              <a:lumMod val="95000"/>
                            </a:schemeClr>
                          </a:solidFill>
                          <a:latin typeface="+mn-lt"/>
                          <a:ea typeface="Calibri"/>
                          <a:cs typeface="+mn-cs"/>
                        </a:rPr>
                        <a:t>Authentication</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spcBef>
                          <a:spcPts val="0"/>
                        </a:spcBef>
                        <a:spcAft>
                          <a:spcPts val="0"/>
                        </a:spcAft>
                      </a:pPr>
                      <a:r>
                        <a:rPr lang="en-US" sz="2200" b="1" dirty="0">
                          <a:solidFill>
                            <a:schemeClr val="bg1">
                              <a:lumMod val="95000"/>
                            </a:schemeClr>
                          </a:solidFill>
                          <a:latin typeface="+mn-lt"/>
                          <a:ea typeface="Calibri"/>
                        </a:rPr>
                        <a:t>Realization </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spcBef>
                          <a:spcPts val="0"/>
                        </a:spcBef>
                        <a:spcAft>
                          <a:spcPts val="0"/>
                        </a:spcAft>
                      </a:pPr>
                      <a:endParaRPr lang="en-US" sz="2200" b="1" dirty="0">
                        <a:solidFill>
                          <a:schemeClr val="bg1">
                            <a:lumMod val="95000"/>
                          </a:schemeClr>
                        </a:solidFill>
                        <a:latin typeface="+mn-lt"/>
                        <a:ea typeface="Times New Roman"/>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1"/>
                  </a:ext>
                </a:extLst>
              </a:tr>
              <a:tr h="696444">
                <a:tc>
                  <a:txBody>
                    <a:bodyPr/>
                    <a:lstStyle/>
                    <a:p>
                      <a:r>
                        <a:rPr lang="en-US" sz="2200" b="1" dirty="0">
                          <a:latin typeface="+mn-lt"/>
                          <a:ea typeface="Calibri"/>
                        </a:rPr>
                        <a:t>2. </a:t>
                      </a:r>
                    </a:p>
                  </a:txBody>
                  <a:tcPr marL="68573" marR="68573"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solidFill>
                          <a:schemeClr val="tx1"/>
                        </a:solidFill>
                        <a:latin typeface="+mn-lt"/>
                        <a:ea typeface="Times New Roman"/>
                      </a:endParaRP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2200" b="1" kern="1200" dirty="0">
                          <a:solidFill>
                            <a:schemeClr val="bg1">
                              <a:lumMod val="95000"/>
                            </a:schemeClr>
                          </a:solidFill>
                          <a:latin typeface="+mn-lt"/>
                          <a:ea typeface="Calibri"/>
                          <a:cs typeface="+mn-cs"/>
                        </a:rPr>
                        <a:t>Determination</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spcBef>
                          <a:spcPts val="0"/>
                        </a:spcBef>
                        <a:spcAft>
                          <a:spcPts val="0"/>
                        </a:spcAft>
                      </a:pPr>
                      <a:r>
                        <a:rPr lang="en-US" sz="2200" b="1" dirty="0">
                          <a:solidFill>
                            <a:schemeClr val="bg1">
                              <a:lumMod val="95000"/>
                            </a:schemeClr>
                          </a:solidFill>
                          <a:latin typeface="+mn-lt"/>
                          <a:ea typeface="Times New Roman"/>
                        </a:rPr>
                        <a:t>Understanding</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spcBef>
                          <a:spcPts val="0"/>
                        </a:spcBef>
                        <a:spcAft>
                          <a:spcPts val="0"/>
                        </a:spcAft>
                      </a:pPr>
                      <a:endParaRPr lang="en-US" sz="2200" b="1" dirty="0">
                        <a:solidFill>
                          <a:schemeClr val="bg1">
                            <a:lumMod val="95000"/>
                          </a:schemeClr>
                        </a:solidFill>
                        <a:latin typeface="+mn-lt"/>
                        <a:ea typeface="Times New Roman"/>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2"/>
                  </a:ext>
                </a:extLst>
              </a:tr>
              <a:tr h="771659">
                <a:tc>
                  <a:txBody>
                    <a:bodyPr/>
                    <a:lstStyle/>
                    <a:p>
                      <a:pPr marL="0" marR="0" algn="r">
                        <a:spcBef>
                          <a:spcPts val="0"/>
                        </a:spcBef>
                        <a:spcAft>
                          <a:spcPts val="0"/>
                        </a:spcAft>
                      </a:pPr>
                      <a:r>
                        <a:rPr lang="en-US" sz="2200" b="1" dirty="0">
                          <a:latin typeface="+mn-lt"/>
                          <a:ea typeface="Times New Roman"/>
                        </a:rPr>
                        <a:t>3.</a:t>
                      </a:r>
                    </a:p>
                  </a:txBody>
                  <a:tcPr marL="68573" marR="68573"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Desire</a:t>
                      </a: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Imaging</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kern="1200" dirty="0">
                          <a:solidFill>
                            <a:schemeClr val="bg1">
                              <a:lumMod val="95000"/>
                            </a:schemeClr>
                          </a:solidFill>
                          <a:latin typeface="+mn-lt"/>
                          <a:ea typeface="Times New Roman"/>
                          <a:cs typeface="+mn-cs"/>
                        </a:rPr>
                        <a:t>Contemplation</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200" b="1" kern="1200" dirty="0">
                        <a:solidFill>
                          <a:schemeClr val="bg1">
                            <a:lumMod val="95000"/>
                          </a:schemeClr>
                        </a:solidFill>
                        <a:latin typeface="+mn-lt"/>
                        <a:ea typeface="Times New Roman"/>
                        <a:cs typeface="Arial"/>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3"/>
                  </a:ext>
                </a:extLst>
              </a:tr>
              <a:tr h="704723">
                <a:tc>
                  <a:txBody>
                    <a:bodyPr/>
                    <a:lstStyle/>
                    <a:p>
                      <a:pPr marL="0" marR="0" algn="r">
                        <a:spcBef>
                          <a:spcPts val="0"/>
                        </a:spcBef>
                        <a:spcAft>
                          <a:spcPts val="0"/>
                        </a:spcAft>
                      </a:pPr>
                      <a:r>
                        <a:rPr lang="en-US" sz="2200" b="1">
                          <a:latin typeface="+mn-lt"/>
                          <a:ea typeface="Times New Roman"/>
                        </a:rPr>
                        <a:t>4.</a:t>
                      </a:r>
                    </a:p>
                  </a:txBody>
                  <a:tcPr marL="68573" marR="68573"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Thought</a:t>
                      </a: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err="1">
                          <a:latin typeface="+mn-lt"/>
                          <a:ea typeface="Times New Roman"/>
                        </a:rPr>
                        <a:t>Analysing</a:t>
                      </a:r>
                      <a:endParaRPr lang="en-US" sz="2200" b="1" dirty="0">
                        <a:latin typeface="+mn-lt"/>
                        <a:ea typeface="Times New Roman"/>
                      </a:endParaRP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l" defTabSz="914400" rtl="0" eaLnBrk="1" latinLnBrk="0" hangingPunct="1">
                        <a:spcBef>
                          <a:spcPts val="0"/>
                        </a:spcBef>
                        <a:spcAft>
                          <a:spcPts val="0"/>
                        </a:spcAft>
                      </a:pPr>
                      <a:r>
                        <a:rPr lang="en-US" sz="2200" b="1" kern="1200" dirty="0">
                          <a:solidFill>
                            <a:schemeClr val="tx1"/>
                          </a:solidFill>
                          <a:latin typeface="+mn-lt"/>
                          <a:ea typeface="Times New Roman"/>
                          <a:cs typeface="+mn-cs"/>
                        </a:rPr>
                        <a:t>Comparing</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l" defTabSz="914400" rtl="0" eaLnBrk="1" latinLnBrk="0" hangingPunct="1">
                        <a:spcBef>
                          <a:spcPts val="0"/>
                        </a:spcBef>
                        <a:spcAft>
                          <a:spcPts val="0"/>
                        </a:spcAft>
                      </a:pPr>
                      <a:r>
                        <a:rPr lang="en-US" sz="2200" b="1" kern="1200" dirty="0">
                          <a:solidFill>
                            <a:srgbClr val="FF0000"/>
                          </a:solidFill>
                          <a:latin typeface="+mn-lt"/>
                          <a:ea typeface="Times New Roman"/>
                          <a:cs typeface="+mn-cs"/>
                        </a:rPr>
                        <a:t>Unguided</a:t>
                      </a:r>
                      <a:r>
                        <a:rPr lang="en-US" sz="2200" b="1" kern="1200" dirty="0">
                          <a:solidFill>
                            <a:schemeClr val="tx1"/>
                          </a:solidFill>
                          <a:latin typeface="+mn-lt"/>
                          <a:ea typeface="Times New Roman"/>
                          <a:cs typeface="+mn-cs"/>
                        </a:rPr>
                        <a:t> Senses, Health, Profit</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r h="714000">
                <a:tc>
                  <a:txBody>
                    <a:bodyPr/>
                    <a:lstStyle/>
                    <a:p>
                      <a:pPr marL="0" marR="0" algn="r">
                        <a:spcBef>
                          <a:spcPts val="0"/>
                        </a:spcBef>
                        <a:spcAft>
                          <a:spcPts val="0"/>
                        </a:spcAft>
                      </a:pPr>
                      <a:endParaRPr lang="en-US" sz="2200" b="1" dirty="0">
                        <a:latin typeface="+mn-lt"/>
                        <a:ea typeface="Times New Roman"/>
                      </a:endParaRPr>
                    </a:p>
                  </a:txBody>
                  <a:tcPr marL="68573" marR="68573"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200" b="1" dirty="0">
                        <a:latin typeface="+mn-lt"/>
                        <a:ea typeface="Times New Roman"/>
                      </a:endParaRP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200" b="1" dirty="0">
                          <a:latin typeface="+mn-lt"/>
                          <a:ea typeface="Times New Roman"/>
                        </a:rPr>
                        <a:t>Selecting</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spcBef>
                          <a:spcPts val="0"/>
                        </a:spcBef>
                        <a:spcAft>
                          <a:spcPts val="0"/>
                        </a:spcAft>
                      </a:pPr>
                      <a:r>
                        <a:rPr lang="en-US" sz="2200" b="1" kern="1200" dirty="0">
                          <a:solidFill>
                            <a:schemeClr val="tx1"/>
                          </a:solidFill>
                          <a:latin typeface="+mn-lt"/>
                          <a:ea typeface="Times New Roman"/>
                          <a:cs typeface="+mn-cs"/>
                        </a:rPr>
                        <a:t>Tasting</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kern="1200" dirty="0">
                          <a:solidFill>
                            <a:srgbClr val="FF0000"/>
                          </a:solidFill>
                          <a:latin typeface="+mn-lt"/>
                          <a:ea typeface="Times New Roman"/>
                          <a:cs typeface="+mn-cs"/>
                        </a:rPr>
                        <a:t>Unguided</a:t>
                      </a:r>
                      <a:r>
                        <a:rPr lang="en-US" sz="2200" b="1" kern="1200" dirty="0">
                          <a:solidFill>
                            <a:schemeClr val="tx1"/>
                          </a:solidFill>
                          <a:latin typeface="+mn-lt"/>
                          <a:ea typeface="Times New Roman"/>
                          <a:cs typeface="+mn-cs"/>
                        </a:rPr>
                        <a:t> Sensation</a:t>
                      </a:r>
                    </a:p>
                  </a:txBody>
                  <a:tcPr marL="68573" marR="685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bl>
          </a:graphicData>
        </a:graphic>
      </p:graphicFrame>
      <p:sp>
        <p:nvSpPr>
          <p:cNvPr id="11308" name="Rectangle 8">
            <a:extLst>
              <a:ext uri="{FF2B5EF4-FFF2-40B4-BE49-F238E27FC236}">
                <a16:creationId xmlns="" xmlns:a16="http://schemas.microsoft.com/office/drawing/2014/main" id="{7E52B09A-BD6B-434F-BCA7-C6DA76A56423}"/>
              </a:ext>
            </a:extLst>
          </p:cNvPr>
          <p:cNvSpPr>
            <a:spLocks noChangeArrowheads="1"/>
          </p:cNvSpPr>
          <p:nvPr/>
        </p:nvSpPr>
        <p:spPr bwMode="auto">
          <a:xfrm rot="-5400000">
            <a:off x="-136524" y="1976437"/>
            <a:ext cx="1008062"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t>Self (I) </a:t>
            </a:r>
          </a:p>
          <a:p>
            <a:pPr eaLnBrk="1" hangingPunct="1"/>
            <a:r>
              <a:rPr lang="en-US" altLang="en-US" sz="2800">
                <a:solidFill>
                  <a:srgbClr val="1E00AA"/>
                </a:solidFill>
                <a:latin typeface="Kruti Dev 010" pitchFamily="2" charset="0"/>
              </a:rPr>
              <a:t>eSa</a:t>
            </a:r>
            <a:r>
              <a:rPr lang="en-US" altLang="en-US" sz="2400">
                <a:latin typeface="Kruti Dev 010" pitchFamily="2" charset="0"/>
              </a:rPr>
              <a:t> </a:t>
            </a:r>
            <a:endParaRPr lang="en-US" altLang="en-US" sz="2000"/>
          </a:p>
        </p:txBody>
      </p:sp>
      <p:sp>
        <p:nvSpPr>
          <p:cNvPr id="11309" name="Rectangle 10">
            <a:extLst>
              <a:ext uri="{FF2B5EF4-FFF2-40B4-BE49-F238E27FC236}">
                <a16:creationId xmlns="" xmlns:a16="http://schemas.microsoft.com/office/drawing/2014/main" id="{2B044DDF-86B1-41D6-8D99-32A71FA18068}"/>
              </a:ext>
            </a:extLst>
          </p:cNvPr>
          <p:cNvSpPr>
            <a:spLocks noChangeArrowheads="1"/>
          </p:cNvSpPr>
          <p:nvPr/>
        </p:nvSpPr>
        <p:spPr bwMode="auto">
          <a:xfrm>
            <a:off x="0" y="5105400"/>
            <a:ext cx="763351"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mn-lt"/>
              </a:rPr>
              <a:t>Body</a:t>
            </a:r>
          </a:p>
        </p:txBody>
      </p:sp>
      <p:cxnSp>
        <p:nvCxnSpPr>
          <p:cNvPr id="13" name="Straight Connector 12">
            <a:extLst>
              <a:ext uri="{FF2B5EF4-FFF2-40B4-BE49-F238E27FC236}">
                <a16:creationId xmlns="" xmlns:a16="http://schemas.microsoft.com/office/drawing/2014/main" id="{C0AF5A4E-7281-4485-BCCF-544852C968FA}"/>
              </a:ext>
            </a:extLst>
          </p:cNvPr>
          <p:cNvCxnSpPr/>
          <p:nvPr/>
        </p:nvCxnSpPr>
        <p:spPr>
          <a:xfrm rot="10800000">
            <a:off x="0" y="5083175"/>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311" name="Rectangle 13">
            <a:extLst>
              <a:ext uri="{FF2B5EF4-FFF2-40B4-BE49-F238E27FC236}">
                <a16:creationId xmlns="" xmlns:a16="http://schemas.microsoft.com/office/drawing/2014/main" id="{6D9A9527-5A1E-4D67-B1E8-53C8E2CE3DDF}"/>
              </a:ext>
            </a:extLst>
          </p:cNvPr>
          <p:cNvSpPr>
            <a:spLocks noChangeArrowheads="1"/>
          </p:cNvSpPr>
          <p:nvPr/>
        </p:nvSpPr>
        <p:spPr bwMode="auto">
          <a:xfrm>
            <a:off x="1828800" y="5257800"/>
            <a:ext cx="1406282" cy="11079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err="1">
                <a:latin typeface="+mn-lt"/>
              </a:rPr>
              <a:t>Behaviour</a:t>
            </a:r>
            <a:r>
              <a:rPr lang="en-US" altLang="en-US" sz="2200" dirty="0">
                <a:latin typeface="+mn-lt"/>
              </a:rPr>
              <a:t> </a:t>
            </a:r>
            <a:endParaRPr lang="en-US" altLang="en-US" sz="2200" dirty="0">
              <a:solidFill>
                <a:srgbClr val="1E00AA"/>
              </a:solidFill>
              <a:latin typeface="+mn-lt"/>
            </a:endParaRPr>
          </a:p>
          <a:p>
            <a:pPr eaLnBrk="1" hangingPunct="1"/>
            <a:endParaRPr lang="en-US" altLang="en-US" sz="2200" dirty="0">
              <a:solidFill>
                <a:srgbClr val="1E00AA"/>
              </a:solidFill>
              <a:latin typeface="+mn-lt"/>
            </a:endParaRPr>
          </a:p>
          <a:p>
            <a:pPr eaLnBrk="1" hangingPunct="1"/>
            <a:r>
              <a:rPr lang="en-US" altLang="en-US" sz="2200" dirty="0">
                <a:latin typeface="+mn-lt"/>
              </a:rPr>
              <a:t>Human </a:t>
            </a:r>
            <a:endParaRPr lang="en-US" altLang="en-US" sz="2200" dirty="0">
              <a:solidFill>
                <a:srgbClr val="1E00AA"/>
              </a:solidFill>
              <a:latin typeface="+mn-lt"/>
            </a:endParaRPr>
          </a:p>
        </p:txBody>
      </p:sp>
      <p:sp>
        <p:nvSpPr>
          <p:cNvPr id="11312" name="Rectangle 14">
            <a:extLst>
              <a:ext uri="{FF2B5EF4-FFF2-40B4-BE49-F238E27FC236}">
                <a16:creationId xmlns="" xmlns:a16="http://schemas.microsoft.com/office/drawing/2014/main" id="{8400F9CE-C913-499A-AA72-7B6FDA22958B}"/>
              </a:ext>
            </a:extLst>
          </p:cNvPr>
          <p:cNvSpPr>
            <a:spLocks noChangeArrowheads="1"/>
          </p:cNvSpPr>
          <p:nvPr/>
        </p:nvSpPr>
        <p:spPr bwMode="auto">
          <a:xfrm>
            <a:off x="4114800" y="5257800"/>
            <a:ext cx="1832553" cy="11079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mn-lt"/>
              </a:rPr>
              <a:t>Work</a:t>
            </a:r>
          </a:p>
          <a:p>
            <a:pPr eaLnBrk="1" hangingPunct="1"/>
            <a:endParaRPr lang="en-US" altLang="en-US" sz="2200" dirty="0">
              <a:latin typeface="+mn-lt"/>
            </a:endParaRPr>
          </a:p>
          <a:p>
            <a:pPr eaLnBrk="1" hangingPunct="1"/>
            <a:r>
              <a:rPr lang="en-US" altLang="en-US" sz="2200" dirty="0">
                <a:latin typeface="+mn-lt"/>
              </a:rPr>
              <a:t>Rest of Nature</a:t>
            </a:r>
          </a:p>
        </p:txBody>
      </p:sp>
      <p:cxnSp>
        <p:nvCxnSpPr>
          <p:cNvPr id="15" name="Straight Connector 14">
            <a:extLst>
              <a:ext uri="{FF2B5EF4-FFF2-40B4-BE49-F238E27FC236}">
                <a16:creationId xmlns="" xmlns:a16="http://schemas.microsoft.com/office/drawing/2014/main" id="{4A65DAA7-F8AF-4120-98C8-37B8C012791A}"/>
              </a:ext>
            </a:extLst>
          </p:cNvPr>
          <p:cNvCxnSpPr/>
          <p:nvPr/>
        </p:nvCxnSpPr>
        <p:spPr>
          <a:xfrm rot="10800000">
            <a:off x="0" y="1479550"/>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D43A0B77-5DB6-44B2-B939-F0704A2B1BD7}"/>
              </a:ext>
            </a:extLst>
          </p:cNvPr>
          <p:cNvCxnSpPr/>
          <p:nvPr/>
        </p:nvCxnSpPr>
        <p:spPr>
          <a:xfrm rot="10800000">
            <a:off x="0" y="5724525"/>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315" name="Rectangle 10">
            <a:extLst>
              <a:ext uri="{FF2B5EF4-FFF2-40B4-BE49-F238E27FC236}">
                <a16:creationId xmlns="" xmlns:a16="http://schemas.microsoft.com/office/drawing/2014/main" id="{F7981C4C-5EA7-45C4-B84B-3084403051B4}"/>
              </a:ext>
            </a:extLst>
          </p:cNvPr>
          <p:cNvSpPr>
            <a:spLocks noChangeArrowheads="1"/>
          </p:cNvSpPr>
          <p:nvPr/>
        </p:nvSpPr>
        <p:spPr bwMode="auto">
          <a:xfrm>
            <a:off x="0" y="5715000"/>
            <a:ext cx="1676400"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mn-lt"/>
              </a:rPr>
              <a:t>Other  </a:t>
            </a:r>
          </a:p>
        </p:txBody>
      </p:sp>
      <p:sp>
        <p:nvSpPr>
          <p:cNvPr id="25" name="Oval 5">
            <a:extLst>
              <a:ext uri="{FF2B5EF4-FFF2-40B4-BE49-F238E27FC236}">
                <a16:creationId xmlns="" xmlns:a16="http://schemas.microsoft.com/office/drawing/2014/main" id="{8E312C80-326B-4D59-9089-C027E81B249E}"/>
              </a:ext>
            </a:extLst>
          </p:cNvPr>
          <p:cNvSpPr/>
          <p:nvPr/>
        </p:nvSpPr>
        <p:spPr bwMode="auto">
          <a:xfrm>
            <a:off x="6172200" y="1503363"/>
            <a:ext cx="609600" cy="4572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B1</a:t>
            </a:r>
          </a:p>
        </p:txBody>
      </p:sp>
      <p:sp>
        <p:nvSpPr>
          <p:cNvPr id="26" name="Oval 5">
            <a:extLst>
              <a:ext uri="{FF2B5EF4-FFF2-40B4-BE49-F238E27FC236}">
                <a16:creationId xmlns="" xmlns:a16="http://schemas.microsoft.com/office/drawing/2014/main" id="{1417873C-8740-467E-900C-B52AE893EC35}"/>
              </a:ext>
            </a:extLst>
          </p:cNvPr>
          <p:cNvSpPr/>
          <p:nvPr/>
        </p:nvSpPr>
        <p:spPr bwMode="auto">
          <a:xfrm>
            <a:off x="6172200" y="3678238"/>
            <a:ext cx="609600" cy="4572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B2</a:t>
            </a:r>
          </a:p>
        </p:txBody>
      </p:sp>
      <p:grpSp>
        <p:nvGrpSpPr>
          <p:cNvPr id="11318" name="Group 41">
            <a:extLst>
              <a:ext uri="{FF2B5EF4-FFF2-40B4-BE49-F238E27FC236}">
                <a16:creationId xmlns="" xmlns:a16="http://schemas.microsoft.com/office/drawing/2014/main" id="{C57BC241-E69D-4FF7-A9DE-B1DCFE86A849}"/>
              </a:ext>
            </a:extLst>
          </p:cNvPr>
          <p:cNvGrpSpPr>
            <a:grpSpLocks/>
          </p:cNvGrpSpPr>
          <p:nvPr/>
        </p:nvGrpSpPr>
        <p:grpSpPr bwMode="auto">
          <a:xfrm>
            <a:off x="2436813" y="5029200"/>
            <a:ext cx="2135187" cy="423863"/>
            <a:chOff x="2436826" y="4986670"/>
            <a:chExt cx="2134791" cy="423530"/>
          </a:xfrm>
        </p:grpSpPr>
        <p:cxnSp>
          <p:nvCxnSpPr>
            <p:cNvPr id="21" name="Straight Connector 20">
              <a:extLst>
                <a:ext uri="{FF2B5EF4-FFF2-40B4-BE49-F238E27FC236}">
                  <a16:creationId xmlns="" xmlns:a16="http://schemas.microsoft.com/office/drawing/2014/main" id="{17CE0831-298F-4F73-8AD5-B89E52E9F130}"/>
                </a:ext>
              </a:extLst>
            </p:cNvPr>
            <p:cNvCxnSpPr/>
            <p:nvPr/>
          </p:nvCxnSpPr>
          <p:spPr>
            <a:xfrm rot="5400000">
              <a:off x="4457407" y="5295990"/>
              <a:ext cx="228420" cy="0"/>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5A339FCB-E181-415B-A65B-57FED6936AE9}"/>
                </a:ext>
              </a:extLst>
            </p:cNvPr>
            <p:cNvCxnSpPr/>
            <p:nvPr/>
          </p:nvCxnSpPr>
          <p:spPr>
            <a:xfrm rot="5400000">
              <a:off x="2323410" y="5295196"/>
              <a:ext cx="228420" cy="1587"/>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21689D0A-C512-4C42-80F5-539A19E786F4}"/>
                </a:ext>
              </a:extLst>
            </p:cNvPr>
            <p:cNvCxnSpPr/>
            <p:nvPr/>
          </p:nvCxnSpPr>
          <p:spPr>
            <a:xfrm>
              <a:off x="2438413" y="5215090"/>
              <a:ext cx="2133204" cy="158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 xmlns:a16="http://schemas.microsoft.com/office/drawing/2014/main" id="{99AB2769-6055-4689-9071-448ABCD09C07}"/>
                </a:ext>
              </a:extLst>
            </p:cNvPr>
            <p:cNvCxnSpPr/>
            <p:nvPr/>
          </p:nvCxnSpPr>
          <p:spPr>
            <a:xfrm rot="5400000">
              <a:off x="3483645" y="5084225"/>
              <a:ext cx="195110" cy="0"/>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 xmlns:a16="http://schemas.microsoft.com/office/drawing/2014/main" id="{ADC562D2-EFA5-4AEF-A209-C3BE6531ACE9}"/>
              </a:ext>
            </a:extLst>
          </p:cNvPr>
          <p:cNvCxnSpPr/>
          <p:nvPr/>
        </p:nvCxnSpPr>
        <p:spPr>
          <a:xfrm>
            <a:off x="2590800" y="2819400"/>
            <a:ext cx="1981200" cy="158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EECEF9D6-A125-4DCA-B27D-466F05F4FA99}"/>
              </a:ext>
            </a:extLst>
          </p:cNvPr>
          <p:cNvCxnSpPr/>
          <p:nvPr/>
        </p:nvCxnSpPr>
        <p:spPr>
          <a:xfrm>
            <a:off x="4551363" y="3602038"/>
            <a:ext cx="2286000" cy="158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 xmlns:a16="http://schemas.microsoft.com/office/drawing/2014/main" id="{79F2288F-E808-4B6C-A18F-6340A2E90CB0}"/>
              </a:ext>
            </a:extLst>
          </p:cNvPr>
          <p:cNvCxnSpPr/>
          <p:nvPr/>
        </p:nvCxnSpPr>
        <p:spPr>
          <a:xfrm rot="16200000" flipH="1">
            <a:off x="4097338" y="3217863"/>
            <a:ext cx="8382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7066F84D-F4D2-4DBF-A461-C8F9CC0A0036}"/>
              </a:ext>
            </a:extLst>
          </p:cNvPr>
          <p:cNvCxnSpPr/>
          <p:nvPr/>
        </p:nvCxnSpPr>
        <p:spPr>
          <a:xfrm rot="10800000">
            <a:off x="0" y="762000"/>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45">
            <a:extLst>
              <a:ext uri="{FF2B5EF4-FFF2-40B4-BE49-F238E27FC236}">
                <a16:creationId xmlns="" xmlns:a16="http://schemas.microsoft.com/office/drawing/2014/main" id="{C15F6405-04C2-4EEE-A01C-3186AB5A3C82}"/>
              </a:ext>
            </a:extLst>
          </p:cNvPr>
          <p:cNvGrpSpPr>
            <a:grpSpLocks/>
          </p:cNvGrpSpPr>
          <p:nvPr/>
        </p:nvGrpSpPr>
        <p:grpSpPr bwMode="auto">
          <a:xfrm>
            <a:off x="4418807" y="4988721"/>
            <a:ext cx="4725193" cy="1272928"/>
            <a:chOff x="4418807" y="4989354"/>
            <a:chExt cx="5029993" cy="1272323"/>
          </a:xfrm>
          <a:solidFill>
            <a:srgbClr val="FFFFFF"/>
          </a:solidFill>
        </p:grpSpPr>
        <p:sp>
          <p:nvSpPr>
            <p:cNvPr id="29" name="Text Box 13">
              <a:extLst>
                <a:ext uri="{FF2B5EF4-FFF2-40B4-BE49-F238E27FC236}">
                  <a16:creationId xmlns="" xmlns:a16="http://schemas.microsoft.com/office/drawing/2014/main" id="{B485D9C6-0882-406A-BD8E-4152D9FCBCC0}"/>
                </a:ext>
              </a:extLst>
            </p:cNvPr>
            <p:cNvSpPr txBox="1">
              <a:spLocks noChangeArrowheads="1"/>
            </p:cNvSpPr>
            <p:nvPr/>
          </p:nvSpPr>
          <p:spPr bwMode="auto">
            <a:xfrm>
              <a:off x="7429501" y="5105978"/>
              <a:ext cx="2019299" cy="1155699"/>
            </a:xfrm>
            <a:prstGeom prst="rect">
              <a:avLst/>
            </a:prstGeom>
            <a:grpFill/>
            <a:ln w="9525">
              <a:noFill/>
              <a:miter lim="800000"/>
              <a:headEnd/>
              <a:tailEnd/>
            </a:ln>
          </p:spPr>
          <p:txBody>
            <a:bodyPr/>
            <a:lstStyle/>
            <a:p>
              <a:pPr>
                <a:spcAft>
                  <a:spcPts val="1000"/>
                </a:spcAft>
                <a:defRPr/>
              </a:pPr>
              <a:r>
                <a:rPr lang="en-US" sz="2200" dirty="0">
                  <a:solidFill>
                    <a:srgbClr val="FF0000"/>
                  </a:solidFill>
                </a:rPr>
                <a:t>Sensation</a:t>
              </a:r>
            </a:p>
            <a:p>
              <a:pPr>
                <a:spcAft>
                  <a:spcPts val="1000"/>
                </a:spcAft>
                <a:defRPr/>
              </a:pPr>
              <a:endParaRPr lang="en-US" sz="2200" dirty="0">
                <a:solidFill>
                  <a:srgbClr val="002060"/>
                </a:solidFill>
              </a:endParaRPr>
            </a:p>
            <a:p>
              <a:pPr>
                <a:defRPr/>
              </a:pPr>
              <a:endParaRPr lang="en-US" sz="2200" dirty="0"/>
            </a:p>
          </p:txBody>
        </p:sp>
        <p:cxnSp>
          <p:nvCxnSpPr>
            <p:cNvPr id="30" name="AutoShape 14">
              <a:extLst>
                <a:ext uri="{FF2B5EF4-FFF2-40B4-BE49-F238E27FC236}">
                  <a16:creationId xmlns="" xmlns:a16="http://schemas.microsoft.com/office/drawing/2014/main" id="{4EE67609-8405-4D2F-8037-168E920C04A4}"/>
                </a:ext>
              </a:extLst>
            </p:cNvPr>
            <p:cNvCxnSpPr>
              <a:cxnSpLocks noChangeShapeType="1"/>
            </p:cNvCxnSpPr>
            <p:nvPr/>
          </p:nvCxnSpPr>
          <p:spPr bwMode="auto">
            <a:xfrm rot="5400000" flipH="1" flipV="1">
              <a:off x="4322809" y="5085352"/>
              <a:ext cx="193583" cy="1588"/>
            </a:xfrm>
            <a:prstGeom prst="straightConnector1">
              <a:avLst/>
            </a:prstGeom>
            <a:grpFill/>
            <a:ln w="9525">
              <a:solidFill>
                <a:srgbClr val="FF0000"/>
              </a:solidFill>
              <a:round/>
              <a:headEnd/>
              <a:tailEnd type="triangle" w="med" len="med"/>
            </a:ln>
          </p:spPr>
        </p:cxnSp>
        <p:cxnSp>
          <p:nvCxnSpPr>
            <p:cNvPr id="31" name="AutoShape 11">
              <a:extLst>
                <a:ext uri="{FF2B5EF4-FFF2-40B4-BE49-F238E27FC236}">
                  <a16:creationId xmlns="" xmlns:a16="http://schemas.microsoft.com/office/drawing/2014/main" id="{56477EC9-45AD-43F4-BC8D-A2825F6E8ACB}"/>
                </a:ext>
              </a:extLst>
            </p:cNvPr>
            <p:cNvCxnSpPr>
              <a:cxnSpLocks noChangeShapeType="1"/>
            </p:cNvCxnSpPr>
            <p:nvPr/>
          </p:nvCxnSpPr>
          <p:spPr bwMode="auto">
            <a:xfrm>
              <a:off x="4419600" y="5182141"/>
              <a:ext cx="2743200" cy="1587"/>
            </a:xfrm>
            <a:prstGeom prst="straightConnector1">
              <a:avLst/>
            </a:prstGeom>
            <a:grpFill/>
            <a:ln w="9525">
              <a:solidFill>
                <a:srgbClr val="FF0000"/>
              </a:solidFill>
              <a:round/>
              <a:headEnd/>
              <a:tailEnd/>
            </a:ln>
          </p:spPr>
        </p:cxnSp>
        <p:sp>
          <p:nvSpPr>
            <p:cNvPr id="32" name="Oval 4">
              <a:extLst>
                <a:ext uri="{FF2B5EF4-FFF2-40B4-BE49-F238E27FC236}">
                  <a16:creationId xmlns="" xmlns:a16="http://schemas.microsoft.com/office/drawing/2014/main" id="{BCB387C7-2066-43AA-95AF-0049506740CF}"/>
                </a:ext>
              </a:extLst>
            </p:cNvPr>
            <p:cNvSpPr/>
            <p:nvPr/>
          </p:nvSpPr>
          <p:spPr bwMode="auto">
            <a:xfrm>
              <a:off x="7010400" y="5105978"/>
              <a:ext cx="457200" cy="3808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800080"/>
                  </a:solidFill>
                </a:rPr>
                <a:t>2</a:t>
              </a:r>
            </a:p>
          </p:txBody>
        </p:sp>
      </p:grpSp>
      <p:grpSp>
        <p:nvGrpSpPr>
          <p:cNvPr id="5" name="Group 47">
            <a:extLst>
              <a:ext uri="{FF2B5EF4-FFF2-40B4-BE49-F238E27FC236}">
                <a16:creationId xmlns="" xmlns:a16="http://schemas.microsoft.com/office/drawing/2014/main" id="{642E6562-366D-4810-8EE5-7F446A9E470C}"/>
              </a:ext>
            </a:extLst>
          </p:cNvPr>
          <p:cNvGrpSpPr>
            <a:grpSpLocks/>
          </p:cNvGrpSpPr>
          <p:nvPr/>
        </p:nvGrpSpPr>
        <p:grpSpPr bwMode="auto">
          <a:xfrm>
            <a:off x="-1588" y="1981200"/>
            <a:ext cx="3432176" cy="914400"/>
            <a:chOff x="0" y="2209800"/>
            <a:chExt cx="3432176" cy="914400"/>
          </a:xfrm>
          <a:solidFill>
            <a:srgbClr val="FFFFFF"/>
          </a:solidFill>
        </p:grpSpPr>
        <p:sp>
          <p:nvSpPr>
            <p:cNvPr id="34" name="Text Box 7">
              <a:extLst>
                <a:ext uri="{FF2B5EF4-FFF2-40B4-BE49-F238E27FC236}">
                  <a16:creationId xmlns="" xmlns:a16="http://schemas.microsoft.com/office/drawing/2014/main" id="{F25FBCE2-0F76-4350-90B5-CC3D4007555E}"/>
                </a:ext>
              </a:extLst>
            </p:cNvPr>
            <p:cNvSpPr txBox="1">
              <a:spLocks noChangeArrowheads="1"/>
            </p:cNvSpPr>
            <p:nvPr/>
          </p:nvSpPr>
          <p:spPr bwMode="auto">
            <a:xfrm>
              <a:off x="0" y="2209800"/>
              <a:ext cx="1981200" cy="838200"/>
            </a:xfrm>
            <a:prstGeom prst="rect">
              <a:avLst/>
            </a:prstGeom>
            <a:grpFill/>
            <a:ln w="9525">
              <a:noFill/>
              <a:miter lim="800000"/>
              <a:headEnd/>
              <a:tailEnd/>
            </a:ln>
          </p:spPr>
          <p:txBody>
            <a:bodyPr/>
            <a:lstStyle/>
            <a:p>
              <a:pPr>
                <a:spcAft>
                  <a:spcPts val="1000"/>
                </a:spcAft>
                <a:defRPr/>
              </a:pPr>
              <a:r>
                <a:rPr lang="en-US" sz="2200" dirty="0">
                  <a:solidFill>
                    <a:srgbClr val="FF0000"/>
                  </a:solidFill>
                </a:rPr>
                <a:t>Preconditioning</a:t>
              </a:r>
            </a:p>
          </p:txBody>
        </p:sp>
        <p:cxnSp>
          <p:nvCxnSpPr>
            <p:cNvPr id="35" name="AutoShape 8">
              <a:extLst>
                <a:ext uri="{FF2B5EF4-FFF2-40B4-BE49-F238E27FC236}">
                  <a16:creationId xmlns="" xmlns:a16="http://schemas.microsoft.com/office/drawing/2014/main" id="{0A419897-017A-49EE-81C8-D70059C307C4}"/>
                </a:ext>
              </a:extLst>
            </p:cNvPr>
            <p:cNvCxnSpPr>
              <a:cxnSpLocks noChangeShapeType="1"/>
            </p:cNvCxnSpPr>
            <p:nvPr/>
          </p:nvCxnSpPr>
          <p:spPr bwMode="auto">
            <a:xfrm>
              <a:off x="2057400" y="2589212"/>
              <a:ext cx="1373188" cy="1588"/>
            </a:xfrm>
            <a:prstGeom prst="straightConnector1">
              <a:avLst/>
            </a:prstGeom>
            <a:grpFill/>
            <a:ln w="9525">
              <a:solidFill>
                <a:srgbClr val="FF0000"/>
              </a:solidFill>
              <a:round/>
              <a:headEnd/>
              <a:tailEnd/>
            </a:ln>
          </p:spPr>
        </p:cxnSp>
        <p:cxnSp>
          <p:nvCxnSpPr>
            <p:cNvPr id="38" name="AutoShape 9">
              <a:extLst>
                <a:ext uri="{FF2B5EF4-FFF2-40B4-BE49-F238E27FC236}">
                  <a16:creationId xmlns="" xmlns:a16="http://schemas.microsoft.com/office/drawing/2014/main" id="{6B156107-FD6C-40A6-A2B8-BC4061B31B01}"/>
                </a:ext>
              </a:extLst>
            </p:cNvPr>
            <p:cNvCxnSpPr>
              <a:cxnSpLocks noChangeShapeType="1"/>
            </p:cNvCxnSpPr>
            <p:nvPr/>
          </p:nvCxnSpPr>
          <p:spPr bwMode="auto">
            <a:xfrm rot="16200000" flipH="1">
              <a:off x="3164682" y="2856706"/>
              <a:ext cx="533400" cy="1588"/>
            </a:xfrm>
            <a:prstGeom prst="straightConnector1">
              <a:avLst/>
            </a:prstGeom>
            <a:grpFill/>
            <a:ln w="9525">
              <a:solidFill>
                <a:srgbClr val="FF0000"/>
              </a:solidFill>
              <a:round/>
              <a:headEnd/>
              <a:tailEnd type="triangle" w="med" len="med"/>
            </a:ln>
          </p:spPr>
        </p:cxnSp>
        <p:sp>
          <p:nvSpPr>
            <p:cNvPr id="40" name="Oval 4">
              <a:extLst>
                <a:ext uri="{FF2B5EF4-FFF2-40B4-BE49-F238E27FC236}">
                  <a16:creationId xmlns="" xmlns:a16="http://schemas.microsoft.com/office/drawing/2014/main" id="{4D84E91A-5D03-4C6A-A339-F176726D059B}"/>
                </a:ext>
              </a:extLst>
            </p:cNvPr>
            <p:cNvSpPr/>
            <p:nvPr/>
          </p:nvSpPr>
          <p:spPr bwMode="auto">
            <a:xfrm>
              <a:off x="1925638" y="2362200"/>
              <a:ext cx="457200" cy="381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800080"/>
                  </a:solidFill>
                </a:rPr>
                <a:t>1</a:t>
              </a:r>
            </a:p>
          </p:txBody>
        </p:sp>
      </p:grpSp>
      <p:grpSp>
        <p:nvGrpSpPr>
          <p:cNvPr id="11325" name="Group 46">
            <a:extLst>
              <a:ext uri="{FF2B5EF4-FFF2-40B4-BE49-F238E27FC236}">
                <a16:creationId xmlns="" xmlns:a16="http://schemas.microsoft.com/office/drawing/2014/main" id="{F62DED6F-FAF7-4143-AE6C-8F7BAE40A218}"/>
              </a:ext>
            </a:extLst>
          </p:cNvPr>
          <p:cNvGrpSpPr>
            <a:grpSpLocks/>
          </p:cNvGrpSpPr>
          <p:nvPr/>
        </p:nvGrpSpPr>
        <p:grpSpPr bwMode="auto">
          <a:xfrm>
            <a:off x="3732213" y="998537"/>
            <a:ext cx="5398891" cy="2587620"/>
            <a:chOff x="3734537" y="1303337"/>
            <a:chExt cx="5396574" cy="2587620"/>
          </a:xfrm>
        </p:grpSpPr>
        <p:sp>
          <p:nvSpPr>
            <p:cNvPr id="11326" name="Text Box 10">
              <a:extLst>
                <a:ext uri="{FF2B5EF4-FFF2-40B4-BE49-F238E27FC236}">
                  <a16:creationId xmlns="" xmlns:a16="http://schemas.microsoft.com/office/drawing/2014/main" id="{BB083506-366C-4D49-80DA-A06750A93DFA}"/>
                </a:ext>
              </a:extLst>
            </p:cNvPr>
            <p:cNvSpPr txBox="1">
              <a:spLocks noChangeArrowheads="1"/>
            </p:cNvSpPr>
            <p:nvPr/>
          </p:nvSpPr>
          <p:spPr bwMode="auto">
            <a:xfrm>
              <a:off x="6922260" y="1303337"/>
              <a:ext cx="2208851" cy="258762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spcAft>
                  <a:spcPts val="1000"/>
                </a:spcAft>
              </a:pPr>
              <a:r>
                <a:rPr lang="en-US" altLang="en-US" sz="2000" dirty="0">
                  <a:solidFill>
                    <a:srgbClr val="FF0000"/>
                  </a:solidFill>
                </a:rPr>
                <a:t>Self verification on the basis of Natural Acceptance </a:t>
              </a:r>
            </a:p>
          </p:txBody>
        </p:sp>
        <p:cxnSp>
          <p:nvCxnSpPr>
            <p:cNvPr id="11327" name="AutoShape 11">
              <a:extLst>
                <a:ext uri="{FF2B5EF4-FFF2-40B4-BE49-F238E27FC236}">
                  <a16:creationId xmlns="" xmlns:a16="http://schemas.microsoft.com/office/drawing/2014/main" id="{F896C358-29FD-4C1F-B74E-0069C537354A}"/>
                </a:ext>
              </a:extLst>
            </p:cNvPr>
            <p:cNvCxnSpPr>
              <a:cxnSpLocks noChangeShapeType="1"/>
            </p:cNvCxnSpPr>
            <p:nvPr/>
          </p:nvCxnSpPr>
          <p:spPr bwMode="auto">
            <a:xfrm>
              <a:off x="3735331" y="2133600"/>
              <a:ext cx="3427488" cy="794"/>
            </a:xfrm>
            <a:prstGeom prst="straightConnector1">
              <a:avLst/>
            </a:prstGeom>
            <a:noFill/>
            <a:ln w="9525">
              <a:solidFill>
                <a:srgbClr val="FF0000"/>
              </a:solidFill>
              <a:round/>
              <a:headEnd/>
              <a:tailEnd/>
            </a:ln>
            <a:extLst>
              <a:ext uri="{909E8E84-426E-40DD-AFC4-6F175D3DCCD1}">
                <a14:hiddenFill xmlns="" xmlns:a14="http://schemas.microsoft.com/office/drawing/2010/main">
                  <a:noFill/>
                </a14:hiddenFill>
              </a:ext>
            </a:extLst>
          </p:spPr>
        </p:cxnSp>
        <p:cxnSp>
          <p:nvCxnSpPr>
            <p:cNvPr id="11328" name="AutoShape 12">
              <a:extLst>
                <a:ext uri="{FF2B5EF4-FFF2-40B4-BE49-F238E27FC236}">
                  <a16:creationId xmlns="" xmlns:a16="http://schemas.microsoft.com/office/drawing/2014/main" id="{75AB80CC-6522-4DA8-BDEA-68BA1F3DD7ED}"/>
                </a:ext>
              </a:extLst>
            </p:cNvPr>
            <p:cNvCxnSpPr>
              <a:cxnSpLocks noChangeShapeType="1"/>
            </p:cNvCxnSpPr>
            <p:nvPr/>
          </p:nvCxnSpPr>
          <p:spPr bwMode="auto">
            <a:xfrm rot="5400000">
              <a:off x="3201137" y="2667000"/>
              <a:ext cx="1067594" cy="794"/>
            </a:xfrm>
            <a:prstGeom prst="straightConnector1">
              <a:avLst/>
            </a:prstGeom>
            <a:noFill/>
            <a:ln w="9525">
              <a:solidFill>
                <a:srgbClr val="FF0000"/>
              </a:solidFill>
              <a:round/>
              <a:headEnd/>
              <a:tailEnd type="triangle" w="med" len="med"/>
            </a:ln>
            <a:extLst>
              <a:ext uri="{909E8E84-426E-40DD-AFC4-6F175D3DCCD1}">
                <a14:hiddenFill xmlns="" xmlns:a14="http://schemas.microsoft.com/office/drawing/2010/main">
                  <a:noFill/>
                </a14:hiddenFill>
              </a:ext>
            </a:extLst>
          </p:spPr>
        </p:cxnSp>
        <p:sp>
          <p:nvSpPr>
            <p:cNvPr id="53" name="Oval 4">
              <a:extLst>
                <a:ext uri="{FF2B5EF4-FFF2-40B4-BE49-F238E27FC236}">
                  <a16:creationId xmlns="" xmlns:a16="http://schemas.microsoft.com/office/drawing/2014/main" id="{4C236E27-4795-4079-AED5-861638D51A26}"/>
                </a:ext>
              </a:extLst>
            </p:cNvPr>
            <p:cNvSpPr/>
            <p:nvPr/>
          </p:nvSpPr>
          <p:spPr bwMode="auto">
            <a:xfrm>
              <a:off x="6858982" y="1960563"/>
              <a:ext cx="457004" cy="381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800080"/>
                  </a:solidFill>
                </a:rPr>
                <a:t>3</a:t>
              </a:r>
            </a:p>
          </p:txBody>
        </p:sp>
      </p:grpSp>
      <p:sp>
        <p:nvSpPr>
          <p:cNvPr id="6" name="Title 1">
            <a:extLst>
              <a:ext uri="{FF2B5EF4-FFF2-40B4-BE49-F238E27FC236}">
                <a16:creationId xmlns="" xmlns:a16="http://schemas.microsoft.com/office/drawing/2014/main" id="{78052569-D34A-406D-BDC2-6069F2DA0012}"/>
              </a:ext>
            </a:extLst>
          </p:cNvPr>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indent="0" algn="ctr">
              <a:buFont typeface="Symbol" pitchFamily="18" charset="2"/>
              <a:buNone/>
            </a:pPr>
            <a:r>
              <a:rPr lang="en-IN" altLang="en-US" sz="3000" dirty="0"/>
              <a:t>Activities of Self</a:t>
            </a:r>
            <a:r>
              <a:rPr lang="en-US" altLang="en-US" sz="3000" dirty="0"/>
              <a:t> [CO5]</a:t>
            </a:r>
            <a:endParaRPr lang="en-IN" altLang="en-US" sz="3000" dirty="0"/>
          </a:p>
        </p:txBody>
      </p:sp>
      <p:pic>
        <p:nvPicPr>
          <p:cNvPr id="7" name="Picture 2" descr="E:\NIET\Project\xLogo11.png.pagespeed.ic.pydHLuCQEZ.png">
            <a:extLst>
              <a:ext uri="{FF2B5EF4-FFF2-40B4-BE49-F238E27FC236}">
                <a16:creationId xmlns="" xmlns:a16="http://schemas.microsoft.com/office/drawing/2014/main" id="{5C2FAEA3-90A2-4D2A-A3E7-D9C07FC15C1E}"/>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44" name="Footer Placeholder 4">
            <a:extLst>
              <a:ext uri="{FF2B5EF4-FFF2-40B4-BE49-F238E27FC236}">
                <a16:creationId xmlns="" xmlns:a16="http://schemas.microsoft.com/office/drawing/2014/main" id="{404D7FD6-340B-4B90-88B1-81E4976D840C}"/>
              </a:ext>
            </a:extLst>
          </p:cNvPr>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45" name="Date Placeholder 3">
            <a:extLst>
              <a:ext uri="{FF2B5EF4-FFF2-40B4-BE49-F238E27FC236}">
                <a16:creationId xmlns="" xmlns:a16="http://schemas.microsoft.com/office/drawing/2014/main" id="{79EC78A8-F6CC-406F-A545-A6C5EDB0764B}"/>
              </a:ext>
            </a:extLst>
          </p:cNvPr>
          <p:cNvSpPr>
            <a:spLocks noGrp="1"/>
          </p:cNvSpPr>
          <p:nvPr>
            <p:ph type="dt" sz="half" idx="10"/>
          </p:nvPr>
        </p:nvSpPr>
        <p:spPr>
          <a:xfrm>
            <a:off x="457200" y="6356350"/>
            <a:ext cx="2133600" cy="365125"/>
          </a:xfrm>
        </p:spPr>
        <p:txBody>
          <a:bodyPr/>
          <a:lstStyle/>
          <a:p>
            <a:fld id="{C7343F0F-B73F-4BF1-8F3C-CE8C8A77B357}" type="datetime1">
              <a:rPr lang="en-US" smtClean="0"/>
              <a:t>06/22/21</a:t>
            </a:fld>
            <a:endParaRPr lang="en-US" dirty="0"/>
          </a:p>
        </p:txBody>
      </p:sp>
      <p:sp>
        <p:nvSpPr>
          <p:cNvPr id="47" name="Slide Number Placeholder 5">
            <a:extLst>
              <a:ext uri="{FF2B5EF4-FFF2-40B4-BE49-F238E27FC236}">
                <a16:creationId xmlns="" xmlns:a16="http://schemas.microsoft.com/office/drawing/2014/main" id="{F7099024-C887-4E23-B9E0-F1EC1D113F7E}"/>
              </a:ext>
            </a:extLst>
          </p:cNvPr>
          <p:cNvSpPr>
            <a:spLocks noGrp="1"/>
          </p:cNvSpPr>
          <p:nvPr>
            <p:ph type="sldNum" sz="quarter" idx="12"/>
          </p:nvPr>
        </p:nvSpPr>
        <p:spPr>
          <a:xfrm>
            <a:off x="6553200" y="6356350"/>
            <a:ext cx="2133600" cy="365125"/>
          </a:xfrm>
        </p:spPr>
        <p:txBody>
          <a:bodyPr/>
          <a:lstStyle/>
          <a:p>
            <a:fld id="{B6F15528-21DE-4FAA-801E-634DDDAF4B2B}" type="slidenum">
              <a:rPr lang="en-US" smtClean="0"/>
              <a:pPr/>
              <a:t>37</a:t>
            </a:fld>
            <a:endParaRPr lang="en-US" dirty="0"/>
          </a:p>
        </p:txBody>
      </p:sp>
      <p:sp>
        <p:nvSpPr>
          <p:cNvPr id="8" name="Rectangle 7">
            <a:extLst>
              <a:ext uri="{FF2B5EF4-FFF2-40B4-BE49-F238E27FC236}">
                <a16:creationId xmlns="" xmlns:a16="http://schemas.microsoft.com/office/drawing/2014/main" id="{074A602D-0B05-4779-9581-DE0A131D4B40}"/>
              </a:ext>
            </a:extLst>
          </p:cNvPr>
          <p:cNvSpPr/>
          <p:nvPr/>
        </p:nvSpPr>
        <p:spPr>
          <a:xfrm>
            <a:off x="0" y="761999"/>
            <a:ext cx="9131104" cy="559435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9" name="Rectangle 8">
            <a:extLst>
              <a:ext uri="{FF2B5EF4-FFF2-40B4-BE49-F238E27FC236}">
                <a16:creationId xmlns="" xmlns:a16="http://schemas.microsoft.com/office/drawing/2014/main" id="{700E28C1-8D57-4B94-98DF-859D57677D55}"/>
              </a:ext>
            </a:extLst>
          </p:cNvPr>
          <p:cNvSpPr>
            <a:spLocks noChangeArrowheads="1"/>
          </p:cNvSpPr>
          <p:nvPr/>
        </p:nvSpPr>
        <p:spPr bwMode="auto">
          <a:xfrm rot="-5400000">
            <a:off x="-96178" y="2781727"/>
            <a:ext cx="1008609"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t>Self (I) </a:t>
            </a:r>
          </a:p>
          <a:p>
            <a:pPr eaLnBrk="1" hangingPunct="1"/>
            <a:endParaRPr lang="en-US" altLang="en-US" sz="2000" dirty="0"/>
          </a:p>
        </p:txBody>
      </p:sp>
    </p:spTree>
    <p:extLst>
      <p:ext uri="{BB962C8B-B14F-4D97-AF65-F5344CB8AC3E}">
        <p14:creationId xmlns="" xmlns:p14="http://schemas.microsoft.com/office/powerpoint/2010/main" val="437508525"/>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799"/>
            <a:ext cx="8763000" cy="5539187"/>
          </a:xfrm>
        </p:spPr>
        <p:txBody>
          <a:bodyPr>
            <a:noAutofit/>
          </a:bodyPr>
          <a:lstStyle/>
          <a:p>
            <a:pPr algn="just">
              <a:defRPr/>
            </a:pPr>
            <a:r>
              <a:rPr lang="en-IN" sz="2200" dirty="0"/>
              <a:t>Are you able to see that</a:t>
            </a:r>
          </a:p>
          <a:p>
            <a:pPr marL="857250" lvl="1" indent="-457200" algn="just">
              <a:buFont typeface="Symbol" pitchFamily="18" charset="2"/>
              <a:buAutoNum type="arabicPeriod"/>
              <a:defRPr/>
            </a:pPr>
            <a:r>
              <a:rPr lang="en-IN" sz="2200" dirty="0"/>
              <a:t>Imagination is going on</a:t>
            </a:r>
          </a:p>
          <a:p>
            <a:pPr marL="857250" lvl="1" indent="-457200" algn="just">
              <a:buFont typeface="Symbol" pitchFamily="18" charset="2"/>
              <a:buAutoNum type="arabicPeriod"/>
              <a:defRPr/>
            </a:pPr>
            <a:r>
              <a:rPr lang="en-IN" sz="2200" dirty="0"/>
              <a:t>There is a whole lot of accumulation of all these imaginations</a:t>
            </a:r>
          </a:p>
          <a:p>
            <a:pPr marL="857250" lvl="1" indent="-457200" algn="just">
              <a:buFont typeface="Symbol" pitchFamily="18" charset="2"/>
              <a:buAutoNum type="arabicPeriod"/>
              <a:defRPr/>
            </a:pPr>
            <a:r>
              <a:rPr lang="en-IN" sz="2200" dirty="0"/>
              <a:t>These imaginations are motivated by</a:t>
            </a:r>
          </a:p>
          <a:p>
            <a:pPr marL="1371600" lvl="3" indent="-457200" algn="just">
              <a:defRPr/>
            </a:pPr>
            <a:r>
              <a:rPr lang="en-IN" sz="2200" dirty="0"/>
              <a:t>Preconditioning or</a:t>
            </a:r>
          </a:p>
          <a:p>
            <a:pPr marL="1371600" lvl="3" indent="-457200" algn="just">
              <a:defRPr/>
            </a:pPr>
            <a:r>
              <a:rPr lang="en-IN" sz="2200" dirty="0"/>
              <a:t>Sensation or</a:t>
            </a:r>
          </a:p>
          <a:p>
            <a:pPr marL="1371600" lvl="3" indent="-457200" algn="just">
              <a:defRPr/>
            </a:pPr>
            <a:r>
              <a:rPr lang="en-IN" sz="2200" dirty="0"/>
              <a:t>Natural acceptance</a:t>
            </a:r>
          </a:p>
          <a:p>
            <a:pPr marL="457200" indent="-457200" algn="just">
              <a:buFont typeface="Symbol" pitchFamily="18" charset="2"/>
              <a:buNone/>
              <a:defRPr/>
            </a:pPr>
            <a:endParaRPr lang="en-IN" sz="2200" dirty="0"/>
          </a:p>
          <a:p>
            <a:pPr algn="just">
              <a:defRPr/>
            </a:pPr>
            <a:r>
              <a:rPr lang="en-IN" sz="2200" dirty="0"/>
              <a:t>There is no solution at the level of sensation, body or physical facility </a:t>
            </a:r>
            <a:r>
              <a:rPr lang="en-IN" sz="2200" dirty="0">
                <a:sym typeface="Wingdings" pitchFamily="2" charset="2"/>
              </a:rPr>
              <a:t> There is a need to look into the self, into B2</a:t>
            </a:r>
            <a:endParaRPr lang="en-IN" sz="2200" dirty="0"/>
          </a:p>
          <a:p>
            <a:pPr marL="457200" indent="-457200" algn="just">
              <a:buFont typeface="Symbol" pitchFamily="18" charset="2"/>
              <a:buNone/>
              <a:defRPr/>
            </a:pPr>
            <a:endParaRPr lang="en-IN" sz="2200" dirty="0"/>
          </a:p>
          <a:p>
            <a:pPr algn="just">
              <a:defRPr/>
            </a:pPr>
            <a:r>
              <a:rPr lang="en-IN" sz="2200" dirty="0"/>
              <a:t>There is no solution even at the level of B2 </a:t>
            </a:r>
            <a:r>
              <a:rPr lang="en-IN" sz="2200" dirty="0">
                <a:sym typeface="Wingdings" pitchFamily="2" charset="2"/>
              </a:rPr>
              <a:t></a:t>
            </a:r>
            <a:endParaRPr lang="en-IN" sz="2200" dirty="0"/>
          </a:p>
          <a:p>
            <a:pPr marL="457200" indent="-457200" algn="just">
              <a:buFont typeface="Symbol" pitchFamily="18" charset="2"/>
              <a:buNone/>
              <a:defRPr/>
            </a:pPr>
            <a:r>
              <a:rPr lang="en-IN" sz="2200" dirty="0"/>
              <a:t>	There is a need to seek for solution at level of B1</a:t>
            </a:r>
          </a:p>
          <a:p>
            <a:pPr marL="457200" indent="-457200" algn="ctr">
              <a:buFont typeface="Symbol" pitchFamily="18" charset="2"/>
              <a:buNone/>
              <a:defRPr/>
            </a:pPr>
            <a:r>
              <a:rPr lang="en-IN" sz="2200" b="1" dirty="0"/>
              <a:t>There is a need to work on oneself</a:t>
            </a:r>
          </a:p>
        </p:txBody>
      </p:sp>
      <p:sp>
        <p:nvSpPr>
          <p:cNvPr id="4" name="Date Placeholder 3"/>
          <p:cNvSpPr>
            <a:spLocks noGrp="1"/>
          </p:cNvSpPr>
          <p:nvPr>
            <p:ph type="dt" sz="half" idx="10"/>
          </p:nvPr>
        </p:nvSpPr>
        <p:spPr/>
        <p:txBody>
          <a:bodyPr/>
          <a:lstStyle/>
          <a:p>
            <a:fld id="{94FDF4DF-007B-416F-B794-4F26D39FE0CD}"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altLang="en-US" sz="3000" dirty="0"/>
              <a:t>Home Work</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19137824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857232"/>
            <a:ext cx="8715436" cy="4525963"/>
          </a:xfrm>
        </p:spPr>
        <p:txBody>
          <a:bodyPr>
            <a:noAutofit/>
          </a:bodyPr>
          <a:lstStyle/>
          <a:p>
            <a:pPr marL="457200" lvl="0" indent="-457200" algn="just">
              <a:buFont typeface="+mj-lt"/>
              <a:buAutoNum type="arabicPeriod"/>
            </a:pPr>
            <a:r>
              <a:rPr lang="en-IN" sz="2200" dirty="0">
                <a:latin typeface="Arial" pitchFamily="34" charset="0"/>
                <a:cs typeface="Arial" pitchFamily="34" charset="0"/>
              </a:rPr>
              <a:t>Comprehensive human goal is right understanding, prosperity, fearlessness and ________. </a:t>
            </a:r>
          </a:p>
          <a:p>
            <a:pPr marL="0" lvl="0" indent="0" algn="just">
              <a:buNone/>
            </a:pPr>
            <a:r>
              <a:rPr lang="en-IN" sz="2200" dirty="0">
                <a:latin typeface="Arial" pitchFamily="34" charset="0"/>
                <a:cs typeface="Arial" pitchFamily="34" charset="0"/>
              </a:rPr>
              <a:t>		(a) Mutual fulfilment		(b) Natural Acceptance</a:t>
            </a:r>
          </a:p>
          <a:p>
            <a:pPr marL="0" lvl="0" indent="0" algn="just">
              <a:buNone/>
            </a:pPr>
            <a:r>
              <a:rPr lang="en-IN" sz="2200" dirty="0">
                <a:latin typeface="Arial" pitchFamily="34" charset="0"/>
                <a:cs typeface="Arial" pitchFamily="34" charset="0"/>
              </a:rPr>
              <a:t>		(c) Mutual prosperity		(d) Co-existence</a:t>
            </a:r>
          </a:p>
          <a:p>
            <a:pPr marL="0" indent="0" algn="just">
              <a:spcAft>
                <a:spcPts val="200"/>
              </a:spcAft>
              <a:buNone/>
            </a:pPr>
            <a:r>
              <a:rPr lang="en-IN" sz="2200" dirty="0">
                <a:latin typeface="Arial" pitchFamily="34" charset="0"/>
                <a:cs typeface="Arial" pitchFamily="34" charset="0"/>
              </a:rPr>
              <a:t>2. The course inputs for human values need not to be  verifiable. (True/False) </a:t>
            </a:r>
          </a:p>
          <a:p>
            <a:pPr marL="0" indent="0" algn="just">
              <a:spcAft>
                <a:spcPts val="200"/>
              </a:spcAft>
              <a:buNone/>
            </a:pPr>
            <a:r>
              <a:rPr lang="en-IN" sz="2200" dirty="0">
                <a:latin typeface="Arial" pitchFamily="34" charset="0"/>
                <a:cs typeface="Arial" pitchFamily="34" charset="0"/>
              </a:rPr>
              <a:t>3. </a:t>
            </a:r>
            <a:r>
              <a:rPr lang="en-IN" sz="2200" dirty="0" err="1">
                <a:latin typeface="Arial" pitchFamily="34" charset="0"/>
                <a:cs typeface="Arial" pitchFamily="34" charset="0"/>
              </a:rPr>
              <a:t>Sanyam</a:t>
            </a:r>
            <a:r>
              <a:rPr lang="en-IN" sz="2200" dirty="0">
                <a:latin typeface="Arial" pitchFamily="34" charset="0"/>
                <a:cs typeface="Arial" pitchFamily="34" charset="0"/>
              </a:rPr>
              <a:t> leads to </a:t>
            </a:r>
            <a:r>
              <a:rPr lang="en-IN" sz="2200" dirty="0" err="1">
                <a:latin typeface="Arial" pitchFamily="34" charset="0"/>
                <a:cs typeface="Arial" pitchFamily="34" charset="0"/>
              </a:rPr>
              <a:t>swasthya</a:t>
            </a:r>
            <a:r>
              <a:rPr lang="en-IN" sz="2200" dirty="0">
                <a:latin typeface="Arial" pitchFamily="34" charset="0"/>
                <a:cs typeface="Arial" pitchFamily="34" charset="0"/>
              </a:rPr>
              <a:t> and </a:t>
            </a:r>
            <a:r>
              <a:rPr lang="en-IN" sz="2200" dirty="0" err="1">
                <a:latin typeface="Arial" pitchFamily="34" charset="0"/>
                <a:cs typeface="Arial" pitchFamily="34" charset="0"/>
              </a:rPr>
              <a:t>swasthya</a:t>
            </a:r>
            <a:r>
              <a:rPr lang="en-IN" sz="2200" dirty="0">
                <a:latin typeface="Arial" pitchFamily="34" charset="0"/>
                <a:cs typeface="Arial" pitchFamily="34" charset="0"/>
              </a:rPr>
              <a:t> leads to </a:t>
            </a:r>
            <a:r>
              <a:rPr lang="en-IN" sz="2200" dirty="0" err="1">
                <a:latin typeface="Arial" pitchFamily="34" charset="0"/>
                <a:cs typeface="Arial" pitchFamily="34" charset="0"/>
              </a:rPr>
              <a:t>sukh</a:t>
            </a:r>
            <a:r>
              <a:rPr lang="en-IN" sz="2200" dirty="0">
                <a:latin typeface="Arial" pitchFamily="34" charset="0"/>
                <a:cs typeface="Arial" pitchFamily="34" charset="0"/>
              </a:rPr>
              <a:t>. (True/False)</a:t>
            </a:r>
          </a:p>
          <a:p>
            <a:pPr marL="0" indent="0" algn="just">
              <a:buNone/>
            </a:pPr>
            <a:r>
              <a:rPr lang="en-IN" sz="2200" dirty="0">
                <a:latin typeface="Arial" pitchFamily="34" charset="0"/>
                <a:cs typeface="Arial" pitchFamily="34" charset="0"/>
              </a:rPr>
              <a:t>4. The ‘I’ is the doer, sear and enjoyer. (True/False)</a:t>
            </a:r>
          </a:p>
          <a:p>
            <a:pPr marL="0" indent="0" algn="just">
              <a:buNone/>
            </a:pPr>
            <a:endParaRPr lang="en-IN" sz="2200" dirty="0">
              <a:latin typeface="Arial" pitchFamily="34" charset="0"/>
              <a:cs typeface="Arial" pitchFamily="34" charset="0"/>
            </a:endParaRPr>
          </a:p>
          <a:p>
            <a:pPr marL="0" indent="0" algn="just">
              <a:buNone/>
            </a:pPr>
            <a:r>
              <a:rPr lang="en-IN" sz="2200" dirty="0">
                <a:latin typeface="Arial" pitchFamily="34" charset="0"/>
                <a:cs typeface="Arial" pitchFamily="34" charset="0"/>
              </a:rPr>
              <a:t>5. There is an inherent inter connectedness, self regulation and harmony at all levels of existence and this needs to be discovered by each individual. The whole existence is coexistence. Humans are only a constituent part. (True/False)</a:t>
            </a:r>
          </a:p>
          <a:p>
            <a:pPr marL="457200" indent="-457200" algn="just">
              <a:buFont typeface="+mj-lt"/>
              <a:buAutoNum type="arabicPeriod"/>
            </a:pPr>
            <a:endParaRPr lang="en-IN" sz="2200" dirty="0">
              <a:latin typeface="Arial" pitchFamily="34" charset="0"/>
              <a:cs typeface="Arial" pitchFamily="34" charset="0"/>
            </a:endParaRPr>
          </a:p>
          <a:p>
            <a:pPr marL="457200" indent="-457200" algn="just">
              <a:buFont typeface="+mj-lt"/>
              <a:buAutoNum type="arabicPeriod"/>
            </a:pPr>
            <a:endParaRPr lang="en-IN"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A9374B71-17DB-491F-94D3-4671C193B2A8}"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t>Daily Quiz</a:t>
            </a: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357422" y="6356350"/>
            <a:ext cx="5429288" cy="501650"/>
          </a:xfrm>
        </p:spPr>
        <p:txBody>
          <a:bodyPr/>
          <a:lstStyle/>
          <a:p>
            <a:r>
              <a:rPr lang="fi-FI" smtClean="0"/>
              <a:t>SHYAM LAL SHARMA           KOE069 UHV-2               Unit :V</a:t>
            </a:r>
            <a:endParaRPr lang="en-US" dirty="0"/>
          </a:p>
        </p:txBody>
      </p:sp>
    </p:spTree>
    <p:extLst>
      <p:ext uri="{BB962C8B-B14F-4D97-AF65-F5344CB8AC3E}">
        <p14:creationId xmlns="" xmlns:p14="http://schemas.microsoft.com/office/powerpoint/2010/main" val="17767993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21562"/>
            <a:ext cx="8001000" cy="4597417"/>
          </a:xfrm>
        </p:spPr>
        <p:txBody>
          <a:bodyPr>
            <a:noAutofit/>
          </a:bodyPr>
          <a:lstStyle/>
          <a:p>
            <a:pPr algn="just">
              <a:defRPr/>
            </a:pPr>
            <a:r>
              <a:rPr lang="en-IN" altLang="en-US" sz="2200" dirty="0"/>
              <a:t>The problems that we see at any level – individual, family, </a:t>
            </a:r>
            <a:r>
              <a:rPr lang="en-IN" altLang="en-US" sz="2200" dirty="0" err="1"/>
              <a:t>soci</a:t>
            </a:r>
            <a:r>
              <a:rPr lang="hi-IN" altLang="en-US" sz="2200" dirty="0"/>
              <a:t>et</a:t>
            </a:r>
            <a:r>
              <a:rPr lang="en-IN" altLang="en-US" sz="2200" dirty="0"/>
              <a:t>al</a:t>
            </a:r>
            <a:r>
              <a:rPr lang="hi-IN" altLang="en-US" sz="2200" dirty="0"/>
              <a:t> (Village</a:t>
            </a:r>
            <a:r>
              <a:rPr lang="en-IN" altLang="en-US" sz="2200" dirty="0"/>
              <a:t>,</a:t>
            </a:r>
            <a:r>
              <a:rPr lang="hi-IN" altLang="en-US" sz="2200" dirty="0"/>
              <a:t> ...,</a:t>
            </a:r>
            <a:r>
              <a:rPr lang="en-IN" altLang="en-US" sz="2200" dirty="0"/>
              <a:t> national, international</a:t>
            </a:r>
            <a:r>
              <a:rPr lang="hi-IN" altLang="en-US" sz="2200" dirty="0"/>
              <a:t>)</a:t>
            </a:r>
            <a:r>
              <a:rPr lang="en-IN" altLang="en-US" sz="2200" dirty="0"/>
              <a:t> or at the level of entire nature – are nothing but absence of fulfilment of some part of the human goal. </a:t>
            </a:r>
          </a:p>
          <a:p>
            <a:pPr algn="just">
              <a:defRPr/>
            </a:pPr>
            <a:r>
              <a:rPr lang="en-IN" altLang="en-US" sz="2200" dirty="0"/>
              <a:t>If we ensure the fulfilment of these (human) goals, then does it seem feasible that we will also get rid of the problems we are facing today?</a:t>
            </a:r>
          </a:p>
          <a:p>
            <a:pPr algn="just">
              <a:defRPr/>
            </a:pPr>
            <a:r>
              <a:rPr lang="en-IN" altLang="en-US" sz="2200" dirty="0"/>
              <a:t>What do you see as your goal at the collective level and is it taking care of all dimensions of our living?</a:t>
            </a:r>
          </a:p>
          <a:p>
            <a:pPr algn="just">
              <a:defRPr/>
            </a:pPr>
            <a:r>
              <a:rPr lang="en-IN" altLang="en-US" sz="2200" dirty="0"/>
              <a:t>We can make a comparative study of the two formulations of Human Goal. </a:t>
            </a: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65F0EEC0-0EF6-4439-84CE-93E7CFE6C744}"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2</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:V</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C992A-8A76-4431-8BCC-42E5FDE993D6}"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dirty="0">
                <a:latin typeface="+mn-lt"/>
              </a:rPr>
              <a:t>Prerequisite</a:t>
            </a:r>
            <a:r>
              <a:rPr lang="en-US" altLang="en-US" sz="3000" dirty="0"/>
              <a:t> to Topic 3</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02031D09-C562-47DA-A59D-645B5FF10CDB}"/>
              </a:ext>
            </a:extLst>
          </p:cNvPr>
          <p:cNvGraphicFramePr>
            <a:graphicFrameLocks noGrp="1"/>
          </p:cNvGraphicFramePr>
          <p:nvPr>
            <p:extLst>
              <p:ext uri="{D42A27DB-BD31-4B8C-83A1-F6EECF244321}">
                <p14:modId xmlns="" xmlns:p14="http://schemas.microsoft.com/office/powerpoint/2010/main" val="1719567903"/>
              </p:ext>
            </p:extLst>
          </p:nvPr>
        </p:nvGraphicFramePr>
        <p:xfrm>
          <a:off x="723900" y="990600"/>
          <a:ext cx="8077200" cy="2026920"/>
        </p:xfrm>
        <a:graphic>
          <a:graphicData uri="http://schemas.openxmlformats.org/drawingml/2006/table">
            <a:tbl>
              <a:tblPr firstRow="1" bandRow="1">
                <a:tableStyleId>{5C22544A-7EE6-4342-B048-85BDC9FD1C3A}</a:tableStyleId>
              </a:tblPr>
              <a:tblGrid>
                <a:gridCol w="8077200">
                  <a:extLst>
                    <a:ext uri="{9D8B030D-6E8A-4147-A177-3AD203B41FA5}">
                      <a16:colId xmlns="" xmlns:a16="http://schemas.microsoft.com/office/drawing/2014/main" val="3762556906"/>
                    </a:ext>
                  </a:extLst>
                </a:gridCol>
              </a:tblGrid>
              <a:tr h="461652">
                <a:tc>
                  <a:txBody>
                    <a:bodyPr/>
                    <a:lstStyle/>
                    <a:p>
                      <a:pPr algn="ctr"/>
                      <a:r>
                        <a:rPr lang="en-IN" sz="2400" dirty="0">
                          <a:latin typeface="+mn-lt"/>
                        </a:rPr>
                        <a:t>Prerequisite</a:t>
                      </a:r>
                    </a:p>
                  </a:txBody>
                  <a:tcPr/>
                </a:tc>
                <a:extLst>
                  <a:ext uri="{0D108BD9-81ED-4DB2-BD59-A6C34878D82A}">
                    <a16:rowId xmlns="" xmlns:a16="http://schemas.microsoft.com/office/drawing/2014/main" val="3830064644"/>
                  </a:ext>
                </a:extLst>
              </a:tr>
              <a:tr h="1565268">
                <a:tc>
                  <a:txBody>
                    <a:bodyPr/>
                    <a:lstStyle/>
                    <a:p>
                      <a:pPr marL="0" indent="0" algn="just">
                        <a:buFont typeface="Arial" panose="020B0604020202020204" pitchFamily="34" charset="0"/>
                        <a:buNone/>
                      </a:pPr>
                      <a:r>
                        <a:rPr lang="en-US" sz="2200" dirty="0">
                          <a:latin typeface="+mn-lt"/>
                          <a:ea typeface="Calibri"/>
                          <a:cs typeface="Times New Roman"/>
                        </a:rPr>
                        <a:t>Student should be familiar</a:t>
                      </a:r>
                      <a:r>
                        <a:rPr lang="en-US" sz="2200" baseline="0" dirty="0">
                          <a:latin typeface="+mn-lt"/>
                          <a:ea typeface="Calibri"/>
                          <a:cs typeface="Times New Roman"/>
                        </a:rPr>
                        <a:t> to concepts right understanding, harmony, Human being as an Existence, Awakening of higher activities of the self and higher activities then guiding the lower activities of the self.</a:t>
                      </a:r>
                      <a:endParaRPr lang="en-IN" sz="2200" dirty="0">
                        <a:latin typeface="+mn-lt"/>
                      </a:endParaRPr>
                    </a:p>
                    <a:p>
                      <a:pPr algn="just"/>
                      <a:endParaRPr lang="en-IN" sz="2200" dirty="0">
                        <a:latin typeface="+mn-lt"/>
                      </a:endParaRP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16336030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F94F6AC-47E4-438E-A3C1-83E0B56EAAAF}"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Introduction to Topic 3</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2" name="Table 8">
            <a:extLst>
              <a:ext uri="{FF2B5EF4-FFF2-40B4-BE49-F238E27FC236}">
                <a16:creationId xmlns="" xmlns:a16="http://schemas.microsoft.com/office/drawing/2014/main" id="{C00455C5-365A-49B7-9271-2B297026341D}"/>
              </a:ext>
            </a:extLst>
          </p:cNvPr>
          <p:cNvGraphicFramePr>
            <a:graphicFrameLocks noGrp="1"/>
          </p:cNvGraphicFramePr>
          <p:nvPr/>
        </p:nvGraphicFramePr>
        <p:xfrm>
          <a:off x="723900" y="1066800"/>
          <a:ext cx="8060055" cy="4130040"/>
        </p:xfrm>
        <a:graphic>
          <a:graphicData uri="http://schemas.openxmlformats.org/drawingml/2006/table">
            <a:tbl>
              <a:tblPr firstRow="1" bandRow="1">
                <a:tableStyleId>{5C22544A-7EE6-4342-B048-85BDC9FD1C3A}</a:tableStyleId>
              </a:tblPr>
              <a:tblGrid>
                <a:gridCol w="1943100">
                  <a:extLst>
                    <a:ext uri="{9D8B030D-6E8A-4147-A177-3AD203B41FA5}">
                      <a16:colId xmlns="" xmlns:a16="http://schemas.microsoft.com/office/drawing/2014/main" val="3762556906"/>
                    </a:ext>
                  </a:extLst>
                </a:gridCol>
                <a:gridCol w="3886200">
                  <a:extLst>
                    <a:ext uri="{9D8B030D-6E8A-4147-A177-3AD203B41FA5}">
                      <a16:colId xmlns="" xmlns:a16="http://schemas.microsoft.com/office/drawing/2014/main" val="3051182208"/>
                    </a:ext>
                  </a:extLst>
                </a:gridCol>
                <a:gridCol w="2230755">
                  <a:extLst>
                    <a:ext uri="{9D8B030D-6E8A-4147-A177-3AD203B41FA5}">
                      <a16:colId xmlns="" xmlns:a16="http://schemas.microsoft.com/office/drawing/2014/main" val="458174207"/>
                    </a:ext>
                  </a:extLst>
                </a:gridCol>
              </a:tblGrid>
              <a:tr h="461652">
                <a:tc>
                  <a:txBody>
                    <a:bodyPr/>
                    <a:lstStyle/>
                    <a:p>
                      <a:r>
                        <a:rPr lang="en-IN" sz="2200" dirty="0">
                          <a:latin typeface="+mn-lt"/>
                        </a:rPr>
                        <a:t>Name of Topic</a:t>
                      </a:r>
                    </a:p>
                  </a:txBody>
                  <a:tcPr/>
                </a:tc>
                <a:tc>
                  <a:txBody>
                    <a:bodyPr/>
                    <a:lstStyle/>
                    <a:p>
                      <a:r>
                        <a:rPr lang="en-IN" sz="2200" dirty="0">
                          <a:latin typeface="+mn-lt"/>
                        </a:rPr>
                        <a:t>Objective of Topic</a:t>
                      </a:r>
                    </a:p>
                  </a:txBody>
                  <a:tcPr/>
                </a:tc>
                <a:tc>
                  <a:txBody>
                    <a:bodyPr/>
                    <a:lstStyle/>
                    <a:p>
                      <a:r>
                        <a:rPr lang="en-IN" sz="2200" dirty="0">
                          <a:latin typeface="+mn-lt"/>
                        </a:rPr>
                        <a:t>Mapping with CO</a:t>
                      </a:r>
                    </a:p>
                  </a:txBody>
                  <a:tcPr/>
                </a:tc>
                <a:extLst>
                  <a:ext uri="{0D108BD9-81ED-4DB2-BD59-A6C34878D82A}">
                    <a16:rowId xmlns="" xmlns:a16="http://schemas.microsoft.com/office/drawing/2014/main" val="3830064644"/>
                  </a:ext>
                </a:extLst>
              </a:tr>
              <a:tr h="1565268">
                <a:tc>
                  <a:txBody>
                    <a:bodyPr/>
                    <a:lstStyle/>
                    <a:p>
                      <a:pPr algn="just"/>
                      <a:r>
                        <a:rPr lang="en-US" altLang="en-US" sz="2200" b="0" kern="1200" dirty="0">
                          <a:solidFill>
                            <a:schemeClr val="dk1"/>
                          </a:solidFill>
                          <a:latin typeface="+mn-lt"/>
                          <a:ea typeface="+mn-ea"/>
                          <a:cs typeface="Arial" panose="020B0604020202020204" pitchFamily="34" charset="0"/>
                        </a:rPr>
                        <a:t>All Encompassing Resolution-Science, Science of </a:t>
                      </a:r>
                      <a:r>
                        <a:rPr lang="en-US" altLang="en-US" sz="2200" b="0" kern="1200" dirty="0" err="1">
                          <a:solidFill>
                            <a:schemeClr val="dk1"/>
                          </a:solidFill>
                          <a:latin typeface="+mn-lt"/>
                          <a:ea typeface="+mn-ea"/>
                          <a:cs typeface="Arial" panose="020B0604020202020204" pitchFamily="34" charset="0"/>
                        </a:rPr>
                        <a:t>behaviour</a:t>
                      </a:r>
                      <a:r>
                        <a:rPr lang="en-US" altLang="en-US" sz="2200" b="0" kern="1200" dirty="0">
                          <a:solidFill>
                            <a:schemeClr val="dk1"/>
                          </a:solidFill>
                          <a:latin typeface="+mn-lt"/>
                          <a:ea typeface="+mn-ea"/>
                          <a:cs typeface="Arial" panose="020B0604020202020204" pitchFamily="34" charset="0"/>
                        </a:rPr>
                        <a:t> </a:t>
                      </a:r>
                    </a:p>
                  </a:txBody>
                  <a:tcPr/>
                </a:tc>
                <a:tc>
                  <a:txBody>
                    <a:bodyPr/>
                    <a:lstStyle/>
                    <a:p>
                      <a:pPr marL="0" lvl="0" indent="0">
                        <a:buFont typeface="Arial" panose="020B0604020202020204" pitchFamily="34" charset="0"/>
                        <a:buNone/>
                      </a:pPr>
                      <a:r>
                        <a:rPr lang="en-IN" sz="2200" dirty="0"/>
                        <a:t>Students will be able to </a:t>
                      </a:r>
                      <a:r>
                        <a:rPr lang="en-IN" altLang="en-US" sz="2200" dirty="0"/>
                        <a:t>see that science can be expanded as- science of behaviour, work and participation. In the present day science, they will be able to take care of all three.</a:t>
                      </a:r>
                      <a:endParaRPr lang="en-US" sz="2200" noProof="0" dirty="0"/>
                    </a:p>
                  </a:txBody>
                  <a:tcPr/>
                </a:tc>
                <a:tc>
                  <a:txBody>
                    <a:bodyPr/>
                    <a:lstStyle/>
                    <a:p>
                      <a:pPr algn="ctr"/>
                      <a:endParaRPr lang="en-IN" sz="2200" dirty="0">
                        <a:latin typeface="+mn-lt"/>
                      </a:endParaRPr>
                    </a:p>
                    <a:p>
                      <a:pPr algn="ctr"/>
                      <a:r>
                        <a:rPr lang="en-IN" sz="2200" dirty="0">
                          <a:latin typeface="+mn-lt"/>
                        </a:rPr>
                        <a:t>CO 5</a:t>
                      </a:r>
                    </a:p>
                  </a:txBody>
                  <a:tcPr/>
                </a:tc>
                <a:extLst>
                  <a:ext uri="{0D108BD9-81ED-4DB2-BD59-A6C34878D82A}">
                    <a16:rowId xmlns="" xmlns:a16="http://schemas.microsoft.com/office/drawing/2014/main" val="2300639783"/>
                  </a:ext>
                </a:extLst>
              </a:tr>
              <a:tr h="1565268">
                <a:tc>
                  <a:txBody>
                    <a:bodyPr/>
                    <a:lstStyle/>
                    <a:p>
                      <a:pPr algn="just"/>
                      <a:endParaRPr lang="en-US" altLang="en-US" sz="2200" b="0" kern="1200" dirty="0">
                        <a:solidFill>
                          <a:schemeClr val="dk1"/>
                        </a:solidFill>
                        <a:latin typeface="+mn-lt"/>
                        <a:ea typeface="+mn-ea"/>
                        <a:cs typeface="Arial" panose="020B0604020202020204" pitchFamily="34" charset="0"/>
                      </a:endParaRPr>
                    </a:p>
                  </a:txBody>
                  <a:tcPr/>
                </a:tc>
                <a:tc>
                  <a:txBody>
                    <a:bodyPr/>
                    <a:lstStyle/>
                    <a:p>
                      <a:pPr algn="just"/>
                      <a:endParaRPr lang="en-IN" sz="2200" dirty="0">
                        <a:latin typeface="+mn-lt"/>
                      </a:endParaRPr>
                    </a:p>
                  </a:txBody>
                  <a:tcPr/>
                </a:tc>
                <a:tc>
                  <a:txBody>
                    <a:bodyPr/>
                    <a:lstStyle/>
                    <a:p>
                      <a:pPr algn="ctr"/>
                      <a:endParaRPr lang="en-IN" sz="2200" dirty="0">
                        <a:latin typeface="+mn-lt"/>
                      </a:endParaRPr>
                    </a:p>
                  </a:txBody>
                  <a:tcPr/>
                </a:tc>
                <a:extLst>
                  <a:ext uri="{0D108BD9-81ED-4DB2-BD59-A6C34878D82A}">
                    <a16:rowId xmlns="" xmlns:a16="http://schemas.microsoft.com/office/drawing/2014/main" val="648993769"/>
                  </a:ext>
                </a:extLst>
              </a:tr>
            </a:tbl>
          </a:graphicData>
        </a:graphic>
      </p:graphicFrame>
    </p:spTree>
    <p:extLst>
      <p:ext uri="{BB962C8B-B14F-4D97-AF65-F5344CB8AC3E}">
        <p14:creationId xmlns="" xmlns:p14="http://schemas.microsoft.com/office/powerpoint/2010/main" val="842729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 xmlns:a16="http://schemas.microsoft.com/office/drawing/2014/main" id="{AF3FD92F-F071-4793-87C2-ACBFC9F46A55}"/>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457200" y="817162"/>
            <a:ext cx="8382000" cy="5278837"/>
          </a:xfrm>
        </p:spPr>
      </p:pic>
      <p:sp>
        <p:nvSpPr>
          <p:cNvPr id="4" name="Date Placeholder 3"/>
          <p:cNvSpPr>
            <a:spLocks noGrp="1"/>
          </p:cNvSpPr>
          <p:nvPr>
            <p:ph type="dt" sz="half" idx="10"/>
          </p:nvPr>
        </p:nvSpPr>
        <p:spPr/>
        <p:txBody>
          <a:bodyPr/>
          <a:lstStyle/>
          <a:p>
            <a:fld id="{7B212ED6-7C8E-4248-8B8B-D68AEABAD110}"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371600" y="7620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12871643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253B4FB-5786-4999-9D27-E44035ACB7EB}"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cs typeface="Arial" panose="020B0604020202020204" pitchFamily="34" charset="0"/>
              </a:rPr>
              <a:t>Innateness &amp; Natural Characteristic of 4 Orders</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485D70B9-65C9-478E-89EF-CF0C90E2D802}"/>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817163"/>
            <a:ext cx="8534400" cy="5117995"/>
          </a:xfrm>
        </p:spPr>
      </p:pic>
    </p:spTree>
    <p:extLst>
      <p:ext uri="{BB962C8B-B14F-4D97-AF65-F5344CB8AC3E}">
        <p14:creationId xmlns="" xmlns:p14="http://schemas.microsoft.com/office/powerpoint/2010/main" val="38946601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8BE6BE-FFCB-45D1-9596-73F1156EC1E0}"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156752D0-FA7F-4BF9-9333-9913138550F9}"/>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990600"/>
            <a:ext cx="8382000" cy="5105400"/>
          </a:xfrm>
        </p:spPr>
      </p:pic>
    </p:spTree>
    <p:extLst>
      <p:ext uri="{BB962C8B-B14F-4D97-AF65-F5344CB8AC3E}">
        <p14:creationId xmlns="" xmlns:p14="http://schemas.microsoft.com/office/powerpoint/2010/main" val="4938885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6C2883-CCF6-44C6-9EF2-96FA54DB064A}"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9652021A-B81A-441E-88A3-B92FCCCA8232}"/>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609600" y="990601"/>
            <a:ext cx="8153400" cy="4935032"/>
          </a:xfrm>
        </p:spPr>
      </p:pic>
    </p:spTree>
    <p:extLst>
      <p:ext uri="{BB962C8B-B14F-4D97-AF65-F5344CB8AC3E}">
        <p14:creationId xmlns="" xmlns:p14="http://schemas.microsoft.com/office/powerpoint/2010/main" val="1199111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B257FF-EC2A-4E7F-8AA1-BFD9D0981815}"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2EA27403-336F-4D84-8D97-BF7F783DED4E}"/>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609600" y="914400"/>
            <a:ext cx="8229600" cy="4982653"/>
          </a:xfrm>
        </p:spPr>
      </p:pic>
    </p:spTree>
    <p:extLst>
      <p:ext uri="{BB962C8B-B14F-4D97-AF65-F5344CB8AC3E}">
        <p14:creationId xmlns="" xmlns:p14="http://schemas.microsoft.com/office/powerpoint/2010/main" val="40493762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D71413-6DC9-456C-BD42-AE9C9EDFB5B7}"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8A140F7E-47D5-47E1-AD9C-59D362DE466D}"/>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817164"/>
            <a:ext cx="8382000" cy="5089416"/>
          </a:xfrm>
        </p:spPr>
      </p:pic>
    </p:spTree>
    <p:extLst>
      <p:ext uri="{BB962C8B-B14F-4D97-AF65-F5344CB8AC3E}">
        <p14:creationId xmlns="" xmlns:p14="http://schemas.microsoft.com/office/powerpoint/2010/main" val="118181723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AE61CE-F13D-4DC1-92F2-66EAB784A77D}"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Realization of Co-existence &amp; it’s expression – Universal Human Order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11" name="Content Placeholder 10">
            <a:extLst>
              <a:ext uri="{FF2B5EF4-FFF2-40B4-BE49-F238E27FC236}">
                <a16:creationId xmlns="" xmlns:a16="http://schemas.microsoft.com/office/drawing/2014/main" id="{816E51F3-74BC-4294-9E06-546BFF82856B}"/>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817163"/>
            <a:ext cx="8458200" cy="5407823"/>
          </a:xfrm>
        </p:spPr>
      </p:pic>
    </p:spTree>
    <p:extLst>
      <p:ext uri="{BB962C8B-B14F-4D97-AF65-F5344CB8AC3E}">
        <p14:creationId xmlns="" xmlns:p14="http://schemas.microsoft.com/office/powerpoint/2010/main" val="284459128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69349A-BEF7-4BCD-8A81-5CE24CF90D02}"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Realization of Co-existence &amp; it’s expression – Universal Human Order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6FDF70D9-BC3F-49F0-8611-4402A08901A9}"/>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817163"/>
            <a:ext cx="8382000" cy="5108469"/>
          </a:xfrm>
        </p:spPr>
      </p:pic>
    </p:spTree>
    <p:extLst>
      <p:ext uri="{BB962C8B-B14F-4D97-AF65-F5344CB8AC3E}">
        <p14:creationId xmlns="" xmlns:p14="http://schemas.microsoft.com/office/powerpoint/2010/main" val="313629094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96DF09-6861-48A7-911D-2F0A49744EDE}"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Realization of Co-existence &amp; it’s expression – Universal Human Order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95D53179-51F3-407C-AB67-EE2A7275A7C9}"/>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609600" y="1066799"/>
            <a:ext cx="8153400" cy="4858833"/>
          </a:xfrm>
        </p:spPr>
      </p:pic>
    </p:spTree>
    <p:extLst>
      <p:ext uri="{BB962C8B-B14F-4D97-AF65-F5344CB8AC3E}">
        <p14:creationId xmlns="" xmlns:p14="http://schemas.microsoft.com/office/powerpoint/2010/main" val="386257758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5D6860-3425-482B-A98C-78C5DC7AE956}"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Realization of Co-existence &amp; it’s expression – Universal Human Order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03AFE05E-E650-4458-BF2D-B11E01454DF8}"/>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533400" y="817164"/>
            <a:ext cx="8153401" cy="5098942"/>
          </a:xfrm>
        </p:spPr>
      </p:pic>
    </p:spTree>
    <p:extLst>
      <p:ext uri="{BB962C8B-B14F-4D97-AF65-F5344CB8AC3E}">
        <p14:creationId xmlns="" xmlns:p14="http://schemas.microsoft.com/office/powerpoint/2010/main" val="33661636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E99E1-4209-4144-8E0A-11C4215FABF3}"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Awakening Activity of Contemplation, Understanding &amp; Realization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228600" y="817164"/>
            <a:ext cx="8763000" cy="5539186"/>
          </a:xfrm>
        </p:spPr>
        <p:txBody>
          <a:bodyPr>
            <a:noAutofit/>
          </a:bodyPr>
          <a:lstStyle/>
          <a:p>
            <a:pPr algn="just">
              <a:defRPr/>
            </a:pPr>
            <a:r>
              <a:rPr lang="en-IN" sz="2200" b="1" dirty="0"/>
              <a:t>Realisation: of Co-existence </a:t>
            </a:r>
            <a:r>
              <a:rPr lang="en-IN" sz="2200" dirty="0"/>
              <a:t>Existence is Co-existence</a:t>
            </a:r>
          </a:p>
          <a:p>
            <a:pPr algn="just">
              <a:defRPr/>
            </a:pPr>
            <a:r>
              <a:rPr lang="en-IN" sz="2200" dirty="0"/>
              <a:t>Every unit in Nature is:</a:t>
            </a:r>
          </a:p>
          <a:p>
            <a:pPr marL="1085850" lvl="2" indent="-457200" algn="just">
              <a:buFont typeface="+mj-lt"/>
              <a:buAutoNum type="arabicPeriod"/>
              <a:defRPr/>
            </a:pPr>
            <a:r>
              <a:rPr lang="en-IN" sz="2200" dirty="0"/>
              <a:t>Energised in space</a:t>
            </a:r>
          </a:p>
          <a:p>
            <a:pPr marL="1085850" lvl="2" indent="-457200" algn="just">
              <a:buFont typeface="+mj-lt"/>
              <a:buAutoNum type="arabicPeriod"/>
              <a:defRPr/>
            </a:pPr>
            <a:r>
              <a:rPr lang="en-IN" sz="2200" dirty="0"/>
              <a:t>Self-organised in space, exists in a definite order</a:t>
            </a:r>
          </a:p>
          <a:p>
            <a:pPr marL="1085850" lvl="2" indent="-457200" algn="just">
              <a:buFont typeface="+mj-lt"/>
              <a:buAutoNum type="arabicPeriod"/>
              <a:defRPr/>
            </a:pPr>
            <a:r>
              <a:rPr lang="en-IN" sz="2200" dirty="0"/>
              <a:t>Recognises its relationship with every other unit and </a:t>
            </a:r>
            <a:r>
              <a:rPr lang="en-IN" sz="2200" dirty="0" err="1"/>
              <a:t>fulfills</a:t>
            </a:r>
            <a:r>
              <a:rPr lang="en-IN" sz="2200" dirty="0"/>
              <a:t> the relationship in space</a:t>
            </a:r>
          </a:p>
          <a:p>
            <a:pPr algn="just">
              <a:defRPr/>
            </a:pPr>
            <a:r>
              <a:rPr lang="en-IN" sz="2200" dirty="0"/>
              <a:t>I am a unit of consciousness in space</a:t>
            </a:r>
          </a:p>
          <a:p>
            <a:pPr algn="just">
              <a:defRPr/>
            </a:pPr>
            <a:r>
              <a:rPr lang="en-IN" sz="2200" dirty="0"/>
              <a:t>I am energised in space. Activities of desire, thought, expectation… are continuous in me</a:t>
            </a:r>
          </a:p>
          <a:p>
            <a:pPr algn="just">
              <a:defRPr/>
            </a:pPr>
            <a:r>
              <a:rPr lang="en-IN" sz="2200" dirty="0"/>
              <a:t>I am self-organised in space; I exist in a definite order</a:t>
            </a:r>
          </a:p>
          <a:p>
            <a:pPr algn="just">
              <a:defRPr/>
            </a:pPr>
            <a:r>
              <a:rPr lang="en-IN" sz="2200" dirty="0"/>
              <a:t>I have to rightly recognise my relationship with other units and </a:t>
            </a:r>
            <a:r>
              <a:rPr lang="en-IN" sz="2200" dirty="0" err="1"/>
              <a:t>fulfill</a:t>
            </a:r>
            <a:r>
              <a:rPr lang="en-IN" sz="2200" dirty="0"/>
              <a:t> it. When I do, I feel happy, when I do not, I feel unhappy…</a:t>
            </a:r>
          </a:p>
          <a:p>
            <a:pPr marL="457200" indent="-457200" algn="just">
              <a:buFont typeface="Symbol" pitchFamily="18" charset="2"/>
              <a:buNone/>
              <a:defRPr/>
            </a:pPr>
            <a:endParaRPr lang="en-IN" sz="2200" dirty="0"/>
          </a:p>
          <a:p>
            <a:pPr marL="457200" indent="-457200" algn="just">
              <a:buFont typeface="Symbol" pitchFamily="18" charset="2"/>
              <a:buNone/>
              <a:defRPr/>
            </a:pPr>
            <a:r>
              <a:rPr lang="en-IN" sz="2200" dirty="0"/>
              <a:t>With this realisation, I live with authenticity, in continuity</a:t>
            </a:r>
          </a:p>
          <a:p>
            <a:pPr algn="just"/>
            <a:endParaRPr lang="en-IN" sz="2200" dirty="0"/>
          </a:p>
        </p:txBody>
      </p:sp>
    </p:spTree>
    <p:extLst>
      <p:ext uri="{BB962C8B-B14F-4D97-AF65-F5344CB8AC3E}">
        <p14:creationId xmlns="" xmlns:p14="http://schemas.microsoft.com/office/powerpoint/2010/main" val="36915090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384186-4703-4FD8-AA2C-7CC4A2848521}"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Awakening </a:t>
            </a:r>
            <a:r>
              <a:rPr lang="en-IN" altLang="en-US" sz="3000" dirty="0"/>
              <a:t>A</a:t>
            </a:r>
            <a:r>
              <a:rPr lang="en-US" altLang="en-US" sz="3000" dirty="0" err="1"/>
              <a:t>ctivity</a:t>
            </a:r>
            <a:r>
              <a:rPr lang="en-US" altLang="en-US" sz="3000" dirty="0"/>
              <a:t> of Contemplation, Understanding &amp; Realization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304800" y="817164"/>
            <a:ext cx="8382000" cy="5309000"/>
          </a:xfrm>
        </p:spPr>
        <p:txBody>
          <a:bodyPr>
            <a:normAutofit/>
          </a:bodyPr>
          <a:lstStyle/>
          <a:p>
            <a:pPr marL="342900" lvl="1" indent="-342900" algn="just">
              <a:buFont typeface="Arial" panose="020B0604020202020204" pitchFamily="34" charset="0"/>
              <a:buChar char="•"/>
            </a:pPr>
            <a:r>
              <a:rPr lang="en-IN" altLang="en-US" sz="2200" b="1" dirty="0"/>
              <a:t>Understanding: of Harmony (Self-organisation) in Nature</a:t>
            </a:r>
          </a:p>
          <a:p>
            <a:pPr marL="0" lvl="1" indent="0" algn="just">
              <a:buNone/>
            </a:pPr>
            <a:endParaRPr lang="en-IN" altLang="en-US" sz="2200" b="1" dirty="0"/>
          </a:p>
          <a:p>
            <a:pPr marL="342900" lvl="1" indent="-342900" algn="just">
              <a:buFont typeface="Arial" panose="020B0604020202020204" pitchFamily="34" charset="0"/>
              <a:buChar char="•"/>
            </a:pPr>
            <a:r>
              <a:rPr lang="en-IN" altLang="en-US" sz="2200" dirty="0"/>
              <a:t>All units in Nature can be classified into 4 orders. These units are connected to each other; there is a relationship of Mutual Fulfilment amongst them (Self-organisation or Innateness of 4 orders)</a:t>
            </a:r>
          </a:p>
          <a:p>
            <a:pPr algn="just"/>
            <a:endParaRPr lang="en-IN" altLang="en-US" sz="2200" dirty="0"/>
          </a:p>
          <a:p>
            <a:pPr algn="just"/>
            <a:r>
              <a:rPr lang="en-IN" altLang="en-US" sz="2200" dirty="0"/>
              <a:t>There is complementarity in Nature, no opposition</a:t>
            </a:r>
          </a:p>
          <a:p>
            <a:pPr algn="just"/>
            <a:endParaRPr lang="en-IN" altLang="en-US" sz="2200" dirty="0"/>
          </a:p>
          <a:p>
            <a:pPr algn="just"/>
            <a:r>
              <a:rPr lang="en-IN" altLang="en-US" sz="2200" dirty="0"/>
              <a:t>When I understand this, I am determined to live in a mutually fulfilling manner with every unit in existence</a:t>
            </a:r>
          </a:p>
          <a:p>
            <a:pPr algn="just"/>
            <a:endParaRPr lang="en-IN" altLang="en-US" sz="2200" dirty="0"/>
          </a:p>
          <a:p>
            <a:pPr algn="just"/>
            <a:r>
              <a:rPr lang="en-IN" altLang="en-US" sz="2200" dirty="0"/>
              <a:t>This definiteness leads to a feeling of Bliss (Anand)</a:t>
            </a:r>
          </a:p>
          <a:p>
            <a:pPr algn="just"/>
            <a:endParaRPr lang="en-IN" sz="2200" dirty="0"/>
          </a:p>
        </p:txBody>
      </p:sp>
    </p:spTree>
    <p:extLst>
      <p:ext uri="{BB962C8B-B14F-4D97-AF65-F5344CB8AC3E}">
        <p14:creationId xmlns="" xmlns:p14="http://schemas.microsoft.com/office/powerpoint/2010/main" val="370610942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30B0AB-FC6F-42FD-9564-F2BA815C138D}"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Awakening </a:t>
            </a:r>
            <a:r>
              <a:rPr lang="en-IN" altLang="en-US" sz="3000" dirty="0"/>
              <a:t>A</a:t>
            </a:r>
            <a:r>
              <a:rPr lang="en-US" altLang="en-US" sz="3000" dirty="0" err="1"/>
              <a:t>ctivity</a:t>
            </a:r>
            <a:r>
              <a:rPr lang="en-US" altLang="en-US" sz="3000" dirty="0"/>
              <a:t> of Contemplation, Understanding &amp; Realization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381000" y="817164"/>
            <a:ext cx="8610600" cy="5309000"/>
          </a:xfrm>
        </p:spPr>
        <p:txBody>
          <a:bodyPr>
            <a:noAutofit/>
          </a:bodyPr>
          <a:lstStyle/>
          <a:p>
            <a:pPr marL="228600" lvl="1" algn="just">
              <a:buFont typeface="Wingdings" pitchFamily="2" charset="2"/>
              <a:buNone/>
              <a:defRPr/>
            </a:pPr>
            <a:r>
              <a:rPr lang="en-IN" sz="2200" b="1" dirty="0"/>
              <a:t>Contemplation: of My Participation in Larger Order</a:t>
            </a:r>
            <a:r>
              <a:rPr lang="en-IN" sz="2200" dirty="0">
                <a:solidFill>
                  <a:srgbClr val="1E00AA"/>
                </a:solidFill>
              </a:rPr>
              <a:t> </a:t>
            </a:r>
          </a:p>
          <a:p>
            <a:pPr marL="342900" lvl="1" indent="-342900" algn="just">
              <a:buFont typeface="Arial" panose="020B0604020202020204" pitchFamily="34" charset="0"/>
              <a:buChar char="•"/>
              <a:defRPr/>
            </a:pPr>
            <a:r>
              <a:rPr lang="en-IN" sz="2200" dirty="0"/>
              <a:t>What is my role in existence</a:t>
            </a:r>
          </a:p>
          <a:p>
            <a:pPr algn="just">
              <a:defRPr/>
            </a:pPr>
            <a:r>
              <a:rPr lang="en-IN" sz="2200" dirty="0"/>
              <a:t>What do I have to do as a Human Being, What is valuable for me as a human being</a:t>
            </a:r>
          </a:p>
          <a:p>
            <a:pPr algn="just">
              <a:defRPr/>
            </a:pPr>
            <a:r>
              <a:rPr lang="en-IN" sz="2200" dirty="0"/>
              <a:t>What is my participation in larger order… self, family, society, nature/existence</a:t>
            </a:r>
          </a:p>
          <a:p>
            <a:pPr algn="just">
              <a:defRPr/>
            </a:pPr>
            <a:r>
              <a:rPr lang="en-IN" sz="2200" dirty="0"/>
              <a:t>What is my value in existence (Human Value)</a:t>
            </a:r>
          </a:p>
          <a:p>
            <a:pPr marL="800100" lvl="1" indent="-342900" algn="just">
              <a:buFont typeface="+mj-lt"/>
              <a:buAutoNum type="arabicPeriod"/>
              <a:defRPr/>
            </a:pPr>
            <a:r>
              <a:rPr lang="en-IN" sz="2200" dirty="0"/>
              <a:t>Relationship of Mutual Fulfilment with Human Being </a:t>
            </a:r>
            <a:r>
              <a:rPr lang="en-IN" sz="2200" dirty="0">
                <a:sym typeface="Wingdings" pitchFamily="2" charset="2"/>
              </a:rPr>
              <a:t> Mutual Happiness  Undivided Society</a:t>
            </a:r>
            <a:endParaRPr lang="en-IN" sz="2200" dirty="0"/>
          </a:p>
          <a:p>
            <a:pPr marL="800100" lvl="1" indent="-342900" algn="just">
              <a:buFont typeface="+mj-lt"/>
              <a:buAutoNum type="arabicPeriod"/>
              <a:defRPr/>
            </a:pPr>
            <a:r>
              <a:rPr lang="en-IN" sz="2200" dirty="0"/>
              <a:t>Relationship of Mutual Enrichment with Rest of Nature </a:t>
            </a:r>
            <a:r>
              <a:rPr lang="en-IN" sz="2200" dirty="0">
                <a:sym typeface="Wingdings" pitchFamily="2" charset="2"/>
              </a:rPr>
              <a:t> Mutual Prosperity</a:t>
            </a:r>
            <a:endParaRPr lang="en-IN" sz="2200" dirty="0"/>
          </a:p>
          <a:p>
            <a:pPr marL="800100" lvl="1" indent="-342900" algn="just">
              <a:buFont typeface="+mj-lt"/>
              <a:buAutoNum type="arabicPeriod"/>
              <a:defRPr/>
            </a:pPr>
            <a:r>
              <a:rPr lang="en-IN" sz="2200" dirty="0"/>
              <a:t>Participation or Natural Characteristic  of 4 orders </a:t>
            </a:r>
            <a:r>
              <a:rPr lang="en-IN" sz="2200" dirty="0">
                <a:sym typeface="Wingdings" pitchFamily="2" charset="2"/>
              </a:rPr>
              <a:t> Participation in Larger Order  Fulfilment of Human Goal, Universal Human Order, Human Tradition</a:t>
            </a:r>
          </a:p>
          <a:p>
            <a:pPr marL="0" algn="just">
              <a:buFont typeface="Symbol" pitchFamily="18" charset="2"/>
              <a:buNone/>
              <a:defRPr/>
            </a:pPr>
            <a:endParaRPr lang="en-IN" sz="2200" dirty="0">
              <a:sym typeface="Wingdings" pitchFamily="2" charset="2"/>
            </a:endParaRPr>
          </a:p>
          <a:p>
            <a:pPr marL="0" indent="0" algn="just">
              <a:buNone/>
            </a:pPr>
            <a:endParaRPr lang="en-IN" sz="2200" dirty="0"/>
          </a:p>
        </p:txBody>
      </p:sp>
    </p:spTree>
    <p:extLst>
      <p:ext uri="{BB962C8B-B14F-4D97-AF65-F5344CB8AC3E}">
        <p14:creationId xmlns="" xmlns:p14="http://schemas.microsoft.com/office/powerpoint/2010/main" val="321293891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E50498F-1818-41CC-86F2-B881DDA2EDC8}"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Awakening Activity of Contemplation, Understanding &amp; </a:t>
            </a:r>
            <a:r>
              <a:rPr lang="en-US" altLang="en-US" sz="3000" dirty="0" err="1"/>
              <a:t>Realisation</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457200" y="914400"/>
            <a:ext cx="8229600" cy="5211763"/>
          </a:xfrm>
        </p:spPr>
        <p:txBody>
          <a:bodyPr>
            <a:normAutofit/>
          </a:bodyPr>
          <a:lstStyle/>
          <a:p>
            <a:pPr marL="0" algn="just">
              <a:buFont typeface="Symbol" pitchFamily="18" charset="2"/>
              <a:buNone/>
              <a:defRPr/>
            </a:pPr>
            <a:endParaRPr lang="en-IN" sz="2200" dirty="0">
              <a:sym typeface="Wingdings" pitchFamily="2" charset="2"/>
            </a:endParaRPr>
          </a:p>
          <a:p>
            <a:pPr algn="just">
              <a:defRPr/>
            </a:pPr>
            <a:r>
              <a:rPr lang="en-IN" sz="2200" dirty="0">
                <a:sym typeface="Wingdings" pitchFamily="2" charset="2"/>
              </a:rPr>
              <a:t>On the basis of understanding my participation in existence, I can see that I have a definite role to play as a human being. Then my desire is to fulfil that definite role – on this basis my desires become definite</a:t>
            </a:r>
          </a:p>
          <a:p>
            <a:pPr algn="just">
              <a:defRPr/>
            </a:pPr>
            <a:endParaRPr lang="en-IN" sz="2200" dirty="0">
              <a:sym typeface="Wingdings" pitchFamily="2" charset="2"/>
            </a:endParaRPr>
          </a:p>
          <a:p>
            <a:pPr algn="just">
              <a:defRPr/>
            </a:pPr>
            <a:r>
              <a:rPr lang="en-IN" sz="2200" dirty="0">
                <a:sym typeface="Wingdings" pitchFamily="2" charset="2"/>
              </a:rPr>
              <a:t>When I understand that Mutual </a:t>
            </a:r>
            <a:r>
              <a:rPr lang="en-IN" sz="2200" dirty="0" err="1">
                <a:sym typeface="Wingdings" pitchFamily="2" charset="2"/>
              </a:rPr>
              <a:t>fulflment</a:t>
            </a:r>
            <a:r>
              <a:rPr lang="en-IN" sz="2200" dirty="0">
                <a:sym typeface="Wingdings" pitchFamily="2" charset="2"/>
              </a:rPr>
              <a:t> is inherent in Nature, I am  assured that these definite desires will be fulfilled</a:t>
            </a:r>
          </a:p>
          <a:p>
            <a:pPr algn="just">
              <a:defRPr/>
            </a:pPr>
            <a:endParaRPr lang="en-IN" sz="2200" dirty="0">
              <a:sym typeface="Wingdings" pitchFamily="2" charset="2"/>
            </a:endParaRPr>
          </a:p>
          <a:p>
            <a:pPr algn="just">
              <a:defRPr/>
            </a:pPr>
            <a:r>
              <a:rPr lang="en-IN" sz="2200" dirty="0">
                <a:sym typeface="Wingdings" pitchFamily="2" charset="2"/>
              </a:rPr>
              <a:t>This leads to a feeling of </a:t>
            </a:r>
            <a:r>
              <a:rPr lang="en-IN" sz="2200" dirty="0"/>
              <a:t>Satisfaction/Contentment (Santosh)</a:t>
            </a:r>
          </a:p>
          <a:p>
            <a:pPr algn="just"/>
            <a:endParaRPr lang="en-IN" sz="2200" dirty="0"/>
          </a:p>
        </p:txBody>
      </p:sp>
    </p:spTree>
    <p:extLst>
      <p:ext uri="{BB962C8B-B14F-4D97-AF65-F5344CB8AC3E}">
        <p14:creationId xmlns="" xmlns:p14="http://schemas.microsoft.com/office/powerpoint/2010/main" val="369819104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046177"/>
            <a:ext cx="8477280" cy="4668839"/>
          </a:xfrm>
        </p:spPr>
        <p:txBody>
          <a:bodyPr>
            <a:noAutofit/>
          </a:bodyPr>
          <a:lstStyle/>
          <a:p>
            <a:pPr lvl="0">
              <a:buNone/>
            </a:pPr>
            <a:r>
              <a:rPr lang="en-IN" sz="2200" dirty="0">
                <a:latin typeface="Arial" pitchFamily="34" charset="0"/>
                <a:cs typeface="Arial" pitchFamily="34" charset="0"/>
              </a:rPr>
              <a:t>1. Acceptance of excellence in others is called __________.</a:t>
            </a:r>
          </a:p>
          <a:p>
            <a:pPr lvl="0">
              <a:buNone/>
            </a:pPr>
            <a:r>
              <a:rPr lang="en-IN" sz="2200" dirty="0">
                <a:latin typeface="Arial" pitchFamily="34" charset="0"/>
                <a:cs typeface="Arial" pitchFamily="34" charset="0"/>
              </a:rPr>
              <a:t>	(a) Gratitude			(b) Reverence</a:t>
            </a:r>
          </a:p>
          <a:p>
            <a:pPr lvl="0">
              <a:buNone/>
            </a:pPr>
            <a:r>
              <a:rPr lang="en-IN" sz="2200" dirty="0">
                <a:latin typeface="Arial" pitchFamily="34" charset="0"/>
                <a:cs typeface="Arial" pitchFamily="34" charset="0"/>
              </a:rPr>
              <a:t>	(c) Glory				(d) None of above</a:t>
            </a:r>
          </a:p>
          <a:p>
            <a:pPr lvl="0">
              <a:buNone/>
            </a:pPr>
            <a:r>
              <a:rPr lang="en-IN" sz="2200" dirty="0">
                <a:latin typeface="Arial" pitchFamily="34" charset="0"/>
                <a:cs typeface="Arial" pitchFamily="34" charset="0"/>
              </a:rPr>
              <a:t>2.Employing the body physically for production and maintenance of physical facilities is      called  __________.</a:t>
            </a:r>
          </a:p>
          <a:p>
            <a:pPr lvl="0">
              <a:buNone/>
            </a:pPr>
            <a:r>
              <a:rPr lang="en-IN" sz="2200" dirty="0">
                <a:latin typeface="Arial" pitchFamily="34" charset="0"/>
                <a:cs typeface="Arial" pitchFamily="34" charset="0"/>
              </a:rPr>
              <a:t>	(a) Labour				(b) Work</a:t>
            </a:r>
          </a:p>
          <a:p>
            <a:pPr lvl="0">
              <a:buNone/>
            </a:pPr>
            <a:r>
              <a:rPr lang="en-IN" sz="2200" dirty="0">
                <a:latin typeface="Arial" pitchFamily="34" charset="0"/>
                <a:cs typeface="Arial" pitchFamily="34" charset="0"/>
              </a:rPr>
              <a:t>	(c) Skill				(d) None of above</a:t>
            </a:r>
          </a:p>
          <a:p>
            <a:pPr lvl="0">
              <a:buNone/>
            </a:pPr>
            <a:r>
              <a:rPr lang="en-IN" sz="2200" dirty="0">
                <a:latin typeface="Arial" pitchFamily="34" charset="0"/>
                <a:cs typeface="Arial" pitchFamily="34" charset="0"/>
              </a:rPr>
              <a:t>3.The problems in our relationship with various entities are due to our  ______.</a:t>
            </a:r>
          </a:p>
          <a:p>
            <a:pPr lvl="0">
              <a:buNone/>
            </a:pPr>
            <a:r>
              <a:rPr lang="en-IN" sz="2200" dirty="0">
                <a:latin typeface="Arial" pitchFamily="34" charset="0"/>
                <a:cs typeface="Arial" pitchFamily="34" charset="0"/>
              </a:rPr>
              <a:t>	(a) Assumptions			(b) Misunderstanding</a:t>
            </a:r>
          </a:p>
          <a:p>
            <a:pPr lvl="0">
              <a:buNone/>
            </a:pPr>
            <a:r>
              <a:rPr lang="en-IN" sz="2200" dirty="0">
                <a:latin typeface="Arial" pitchFamily="34" charset="0"/>
                <a:cs typeface="Arial" pitchFamily="34" charset="0"/>
              </a:rPr>
              <a:t>	(c) Differentiation			(d) None of above</a:t>
            </a:r>
          </a:p>
          <a:p>
            <a:pPr lvl="0">
              <a:buNone/>
            </a:pPr>
            <a:r>
              <a:rPr lang="en-IN" sz="2200" dirty="0">
                <a:latin typeface="Arial" pitchFamily="34" charset="0"/>
                <a:cs typeface="Arial" pitchFamily="34" charset="0"/>
              </a:rPr>
              <a:t>4. Human conduct is definite. </a:t>
            </a:r>
            <a:r>
              <a:rPr lang="en-IN" sz="2200" b="1" dirty="0">
                <a:latin typeface="Arial" pitchFamily="34" charset="0"/>
                <a:cs typeface="Arial" pitchFamily="34" charset="0"/>
              </a:rPr>
              <a:t>(True/False)</a:t>
            </a:r>
          </a:p>
          <a:p>
            <a:pPr>
              <a:buNone/>
            </a:pPr>
            <a:r>
              <a:rPr lang="en-IN" sz="2200" dirty="0">
                <a:latin typeface="Arial" pitchFamily="34" charset="0"/>
                <a:cs typeface="Arial" pitchFamily="34" charset="0"/>
              </a:rPr>
              <a:t>5. The ‘I’ is the doer, sear and enjoyer. (True/False)</a:t>
            </a:r>
          </a:p>
          <a:p>
            <a:pPr lvl="0">
              <a:buNone/>
            </a:pPr>
            <a:endParaRPr lang="en-IN"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6A59BF5D-4A07-4DD1-952A-807A4BC1F507}" type="datetime1">
              <a:rPr lang="en-US" smtClean="0"/>
              <a:t>06/22/21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t>Daily Quiz</a:t>
            </a: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285984" y="6356350"/>
            <a:ext cx="5500726" cy="501650"/>
          </a:xfrm>
        </p:spPr>
        <p:txBody>
          <a:bodyPr/>
          <a:lstStyle/>
          <a:p>
            <a:r>
              <a:rPr lang="fi-FI" smtClean="0"/>
              <a:t>SHYAM LAL SHARMA           KOE069 UHV-2               Unit :V</a:t>
            </a:r>
            <a:endParaRPr lang="en-US" dirty="0"/>
          </a:p>
        </p:txBody>
      </p:sp>
    </p:spTree>
    <p:extLst>
      <p:ext uri="{BB962C8B-B14F-4D97-AF65-F5344CB8AC3E}">
        <p14:creationId xmlns="" xmlns:p14="http://schemas.microsoft.com/office/powerpoint/2010/main" val="47255824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186231"/>
            <a:ext cx="8548718" cy="4597417"/>
          </a:xfrm>
        </p:spPr>
        <p:txBody>
          <a:bodyPr>
            <a:noAutofit/>
          </a:bodyPr>
          <a:lstStyle/>
          <a:p>
            <a:pPr algn="just"/>
            <a:r>
              <a:rPr lang="en-IN" altLang="en-US" sz="2200" dirty="0"/>
              <a:t>We have seen that science can be expanded as- science of behaviour, work and participation.</a:t>
            </a:r>
          </a:p>
          <a:p>
            <a:pPr algn="just"/>
            <a:r>
              <a:rPr lang="en-IN" altLang="en-US" sz="2200" dirty="0"/>
              <a:t>In the present day science, are we taking care of all three or only the science of work, in that too all aspects of it or only some limited aspects of it?</a:t>
            </a:r>
          </a:p>
          <a:p>
            <a:pPr marL="0" indent="0" algn="just">
              <a:buNone/>
            </a:pPr>
            <a:r>
              <a:rPr lang="en-IN" altLang="en-US" sz="2200" dirty="0"/>
              <a:t>In the science of behaviour, </a:t>
            </a:r>
          </a:p>
          <a:p>
            <a:pPr algn="just"/>
            <a:r>
              <a:rPr lang="en-IN" altLang="en-US" sz="2200" dirty="0"/>
              <a:t>What will be priority of understanding, feelings and physical facility? </a:t>
            </a:r>
          </a:p>
          <a:p>
            <a:pPr algn="just"/>
            <a:r>
              <a:rPr lang="en-IN" altLang="en-US" sz="2200" dirty="0"/>
              <a:t>What is the role of physical facility in it?</a:t>
            </a:r>
          </a:p>
          <a:p>
            <a:pPr algn="just"/>
            <a:r>
              <a:rPr lang="en-IN" altLang="en-US" sz="2200" dirty="0"/>
              <a:t>In the science of participation, what do you see as your role at different levels- family order to nation to world family order?</a:t>
            </a:r>
          </a:p>
          <a:p>
            <a:pPr algn="just"/>
            <a:r>
              <a:rPr lang="en-IN" altLang="en-US" sz="2200" dirty="0"/>
              <a:t>Does the present education system prepare you for there roles?</a:t>
            </a:r>
          </a:p>
          <a:p>
            <a:pPr algn="just"/>
            <a:r>
              <a:rPr lang="en-IN" altLang="en-US" sz="2200" dirty="0"/>
              <a:t>What change is required in the present education system? </a:t>
            </a: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FEE23BE1-DA21-4AAE-A07A-0EA4FDAA89E3}"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a:t>
            </a:r>
            <a:r>
              <a:rPr lang="en-US" sz="3200" dirty="0">
                <a:latin typeface="Arial" pitchFamily="34" charset="0"/>
                <a:cs typeface="Arial" pitchFamily="34" charset="0"/>
              </a:rPr>
              <a:t>3</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:V</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CD6CF9-A5FD-4BAB-9741-CCB7B19C5482}"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dirty="0">
                <a:latin typeface="+mn-lt"/>
              </a:rPr>
              <a:t>Prerequisite</a:t>
            </a:r>
            <a:r>
              <a:rPr lang="en-US" altLang="en-US" sz="3000" dirty="0"/>
              <a:t> to Topic 4</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15B64337-DE8F-4082-B62B-646278135E61}"/>
              </a:ext>
            </a:extLst>
          </p:cNvPr>
          <p:cNvGraphicFramePr>
            <a:graphicFrameLocks noGrp="1"/>
          </p:cNvGraphicFramePr>
          <p:nvPr>
            <p:extLst>
              <p:ext uri="{D42A27DB-BD31-4B8C-83A1-F6EECF244321}">
                <p14:modId xmlns="" xmlns:p14="http://schemas.microsoft.com/office/powerpoint/2010/main" val="3071708024"/>
              </p:ext>
            </p:extLst>
          </p:nvPr>
        </p:nvGraphicFramePr>
        <p:xfrm>
          <a:off x="745671" y="990600"/>
          <a:ext cx="8077200" cy="2026920"/>
        </p:xfrm>
        <a:graphic>
          <a:graphicData uri="http://schemas.openxmlformats.org/drawingml/2006/table">
            <a:tbl>
              <a:tblPr firstRow="1" bandRow="1">
                <a:tableStyleId>{5C22544A-7EE6-4342-B048-85BDC9FD1C3A}</a:tableStyleId>
              </a:tblPr>
              <a:tblGrid>
                <a:gridCol w="8077200">
                  <a:extLst>
                    <a:ext uri="{9D8B030D-6E8A-4147-A177-3AD203B41FA5}">
                      <a16:colId xmlns="" xmlns:a16="http://schemas.microsoft.com/office/drawing/2014/main" val="3762556906"/>
                    </a:ext>
                  </a:extLst>
                </a:gridCol>
              </a:tblGrid>
              <a:tr h="461652">
                <a:tc>
                  <a:txBody>
                    <a:bodyPr/>
                    <a:lstStyle/>
                    <a:p>
                      <a:pPr algn="ctr"/>
                      <a:r>
                        <a:rPr lang="en-IN" sz="2400" dirty="0">
                          <a:latin typeface="+mn-lt"/>
                        </a:rPr>
                        <a:t>Prerequisite</a:t>
                      </a:r>
                    </a:p>
                  </a:txBody>
                  <a:tcPr/>
                </a:tc>
                <a:extLst>
                  <a:ext uri="{0D108BD9-81ED-4DB2-BD59-A6C34878D82A}">
                    <a16:rowId xmlns="" xmlns:a16="http://schemas.microsoft.com/office/drawing/2014/main" val="3830064644"/>
                  </a:ext>
                </a:extLst>
              </a:tr>
              <a:tr h="1565268">
                <a:tc>
                  <a:txBody>
                    <a:bodyPr/>
                    <a:lstStyle/>
                    <a:p>
                      <a:pPr marL="0" indent="0" algn="just">
                        <a:buFont typeface="Arial" panose="020B0604020202020204" pitchFamily="34" charset="0"/>
                        <a:buNone/>
                      </a:pPr>
                      <a:r>
                        <a:rPr lang="en-US" sz="2200" dirty="0">
                          <a:latin typeface="+mn-lt"/>
                          <a:ea typeface="Calibri"/>
                          <a:cs typeface="Times New Roman"/>
                        </a:rPr>
                        <a:t>Student should be familiar</a:t>
                      </a:r>
                      <a:r>
                        <a:rPr lang="en-US" sz="2200" baseline="0" dirty="0">
                          <a:latin typeface="+mn-lt"/>
                          <a:ea typeface="Calibri"/>
                          <a:cs typeface="Times New Roman"/>
                        </a:rPr>
                        <a:t> to concepts right understanding, harmony, Human being as an Existence, Awakening of higher activities of the self and higher activities then guiding the lower activities of the self.</a:t>
                      </a:r>
                      <a:endParaRPr lang="en-IN" sz="2200" dirty="0">
                        <a:latin typeface="+mn-lt"/>
                      </a:endParaRPr>
                    </a:p>
                    <a:p>
                      <a:pPr algn="just"/>
                      <a:endParaRPr lang="en-IN" sz="2200" dirty="0">
                        <a:latin typeface="+mn-lt"/>
                      </a:endParaRP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29889935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F76DC4-D343-4CA6-9982-E8FDC01EA535}"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Introduction to Topic 4</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2" name="Table 8">
            <a:extLst>
              <a:ext uri="{FF2B5EF4-FFF2-40B4-BE49-F238E27FC236}">
                <a16:creationId xmlns="" xmlns:a16="http://schemas.microsoft.com/office/drawing/2014/main" id="{C00455C5-365A-49B7-9271-2B297026341D}"/>
              </a:ext>
            </a:extLst>
          </p:cNvPr>
          <p:cNvGraphicFramePr>
            <a:graphicFrameLocks noGrp="1"/>
          </p:cNvGraphicFramePr>
          <p:nvPr/>
        </p:nvGraphicFramePr>
        <p:xfrm>
          <a:off x="686578" y="1123942"/>
          <a:ext cx="8060055" cy="2564772"/>
        </p:xfrm>
        <a:graphic>
          <a:graphicData uri="http://schemas.openxmlformats.org/drawingml/2006/table">
            <a:tbl>
              <a:tblPr firstRow="1" bandRow="1">
                <a:tableStyleId>{5C22544A-7EE6-4342-B048-85BDC9FD1C3A}</a:tableStyleId>
              </a:tblPr>
              <a:tblGrid>
                <a:gridCol w="2438400">
                  <a:extLst>
                    <a:ext uri="{9D8B030D-6E8A-4147-A177-3AD203B41FA5}">
                      <a16:colId xmlns="" xmlns:a16="http://schemas.microsoft.com/office/drawing/2014/main" val="3762556906"/>
                    </a:ext>
                  </a:extLst>
                </a:gridCol>
                <a:gridCol w="3124200">
                  <a:extLst>
                    <a:ext uri="{9D8B030D-6E8A-4147-A177-3AD203B41FA5}">
                      <a16:colId xmlns="" xmlns:a16="http://schemas.microsoft.com/office/drawing/2014/main" val="3051182208"/>
                    </a:ext>
                  </a:extLst>
                </a:gridCol>
                <a:gridCol w="2497455">
                  <a:extLst>
                    <a:ext uri="{9D8B030D-6E8A-4147-A177-3AD203B41FA5}">
                      <a16:colId xmlns="" xmlns:a16="http://schemas.microsoft.com/office/drawing/2014/main" val="458174207"/>
                    </a:ext>
                  </a:extLst>
                </a:gridCol>
              </a:tblGrid>
              <a:tr h="461652">
                <a:tc>
                  <a:txBody>
                    <a:bodyPr/>
                    <a:lstStyle/>
                    <a:p>
                      <a:r>
                        <a:rPr lang="en-IN" sz="2200" dirty="0">
                          <a:latin typeface="+mn-lt"/>
                        </a:rPr>
                        <a:t>Name of Topic</a:t>
                      </a:r>
                    </a:p>
                  </a:txBody>
                  <a:tcPr/>
                </a:tc>
                <a:tc>
                  <a:txBody>
                    <a:bodyPr/>
                    <a:lstStyle/>
                    <a:p>
                      <a:r>
                        <a:rPr lang="en-IN" sz="2200" dirty="0">
                          <a:latin typeface="+mn-lt"/>
                        </a:rPr>
                        <a:t>Objective of Topic</a:t>
                      </a:r>
                    </a:p>
                  </a:txBody>
                  <a:tcPr/>
                </a:tc>
                <a:tc>
                  <a:txBody>
                    <a:bodyPr/>
                    <a:lstStyle/>
                    <a:p>
                      <a:r>
                        <a:rPr lang="en-IN" sz="2200" dirty="0">
                          <a:latin typeface="+mn-lt"/>
                        </a:rPr>
                        <a:t>Mapping with CO</a:t>
                      </a:r>
                    </a:p>
                  </a:txBody>
                  <a:tcPr/>
                </a:tc>
                <a:extLst>
                  <a:ext uri="{0D108BD9-81ED-4DB2-BD59-A6C34878D82A}">
                    <a16:rowId xmlns="" xmlns:a16="http://schemas.microsoft.com/office/drawing/2014/main" val="3830064644"/>
                  </a:ext>
                </a:extLst>
              </a:tr>
              <a:tr h="1565268">
                <a:tc>
                  <a:txBody>
                    <a:bodyPr/>
                    <a:lstStyle/>
                    <a:p>
                      <a:pPr algn="just"/>
                      <a:r>
                        <a:rPr lang="en-US" altLang="en-US" sz="2200" b="0" kern="1200" dirty="0">
                          <a:solidFill>
                            <a:schemeClr val="dk1"/>
                          </a:solidFill>
                          <a:latin typeface="+mn-lt"/>
                          <a:ea typeface="+mn-ea"/>
                          <a:cs typeface="Arial" panose="020B0604020202020204" pitchFamily="34" charset="0"/>
                        </a:rPr>
                        <a:t>All Encompassing Resolution-Science of Work &amp; Participation </a:t>
                      </a:r>
                    </a:p>
                    <a:p>
                      <a:pPr algn="just"/>
                      <a:endParaRPr lang="en-IN" sz="2000" dirty="0">
                        <a:latin typeface="+mn-lt"/>
                      </a:endParaRPr>
                    </a:p>
                  </a:txBody>
                  <a:tcPr/>
                </a:tc>
                <a:tc>
                  <a:txBody>
                    <a:bodyPr/>
                    <a:lstStyle/>
                    <a:p>
                      <a:pPr algn="just"/>
                      <a:r>
                        <a:rPr lang="en-IN" sz="2200" dirty="0">
                          <a:latin typeface="+mn-lt"/>
                        </a:rPr>
                        <a:t>Students will be able to see their </a:t>
                      </a:r>
                      <a:r>
                        <a:rPr lang="en-IN" altLang="en-US" sz="2200" dirty="0"/>
                        <a:t>role at different levels- family order to nation to world family order, according to the science of participation.</a:t>
                      </a:r>
                      <a:endParaRPr lang="en-IN" sz="2200" dirty="0">
                        <a:latin typeface="+mn-lt"/>
                      </a:endParaRPr>
                    </a:p>
                  </a:txBody>
                  <a:tcPr/>
                </a:tc>
                <a:tc>
                  <a:txBody>
                    <a:bodyPr/>
                    <a:lstStyle/>
                    <a:p>
                      <a:pPr algn="ctr"/>
                      <a:endParaRPr lang="en-IN" sz="2200" dirty="0">
                        <a:latin typeface="+mn-lt"/>
                      </a:endParaRPr>
                    </a:p>
                    <a:p>
                      <a:pPr algn="ctr"/>
                      <a:r>
                        <a:rPr lang="en-IN" sz="2200" dirty="0">
                          <a:latin typeface="+mn-lt"/>
                        </a:rPr>
                        <a:t>CO 5</a:t>
                      </a: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159776030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9B7C09C-6A9F-499C-985B-D7E18D9DB6E2}"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HB– Comparing (Basis for </a:t>
            </a:r>
            <a:r>
              <a:rPr lang="en-US" altLang="en-US" sz="3000" dirty="0" err="1"/>
              <a:t>Analysing</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EF6CF54C-565B-46D8-8F7D-A986150A3166}"/>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381000" y="990600"/>
            <a:ext cx="8458200" cy="5234386"/>
          </a:xfrm>
        </p:spPr>
      </p:pic>
    </p:spTree>
    <p:extLst>
      <p:ext uri="{BB962C8B-B14F-4D97-AF65-F5344CB8AC3E}">
        <p14:creationId xmlns="" xmlns:p14="http://schemas.microsoft.com/office/powerpoint/2010/main" val="67860766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3B9887-D934-41BF-A839-7476AAF06D3A}"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0"/>
            <a:ext cx="77724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Categories: Preconditioning, Sensation and Natural Acceptance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228600" y="817164"/>
            <a:ext cx="8915400" cy="5539186"/>
          </a:xfrm>
        </p:spPr>
        <p:txBody>
          <a:bodyPr>
            <a:noAutofit/>
          </a:bodyPr>
          <a:lstStyle/>
          <a:p>
            <a:pPr algn="just">
              <a:defRPr/>
            </a:pPr>
            <a:r>
              <a:rPr lang="en-IN" sz="2200" b="1" dirty="0">
                <a:cs typeface="Arial" charset="0"/>
              </a:rPr>
              <a:t>Preconditioning: </a:t>
            </a:r>
            <a:r>
              <a:rPr lang="en-IN" sz="2200" dirty="0">
                <a:cs typeface="Arial" charset="0"/>
              </a:rPr>
              <a:t>Assuming without knowing. Depends on something or someone outside, keeps changing. Not sure it leads to harmony or contradiction. </a:t>
            </a:r>
          </a:p>
          <a:p>
            <a:pPr algn="just">
              <a:defRPr/>
            </a:pPr>
            <a:r>
              <a:rPr lang="en-IN" sz="2200" b="1" dirty="0">
                <a:cs typeface="Arial" charset="0"/>
              </a:rPr>
              <a:t>Sensation</a:t>
            </a:r>
            <a:r>
              <a:rPr lang="en-IN" sz="2200" dirty="0">
                <a:cs typeface="Arial" charset="0"/>
              </a:rPr>
              <a:t>: taste of sound, touch, sight, taste, smell</a:t>
            </a:r>
            <a:r>
              <a:rPr lang="en-IN" sz="2200" dirty="0">
                <a:solidFill>
                  <a:schemeClr val="bg1"/>
                </a:solidFill>
                <a:cs typeface="Arial" charset="0"/>
              </a:rPr>
              <a:t>, 4 topics: food, sleep, fear/security, sex (</a:t>
            </a:r>
            <a:r>
              <a:rPr lang="en-IN" sz="2200" dirty="0" err="1">
                <a:solidFill>
                  <a:schemeClr val="bg1"/>
                </a:solidFill>
                <a:cs typeface="Arial" charset="0"/>
              </a:rPr>
              <a:t>samvedna</a:t>
            </a:r>
            <a:r>
              <a:rPr lang="en-IN" sz="2200" dirty="0">
                <a:solidFill>
                  <a:schemeClr val="bg1"/>
                </a:solidFill>
                <a:cs typeface="Arial" charset="0"/>
              </a:rPr>
              <a:t> – </a:t>
            </a:r>
            <a:r>
              <a:rPr lang="en-IN" sz="2200" dirty="0" err="1">
                <a:solidFill>
                  <a:schemeClr val="bg1"/>
                </a:solidFill>
                <a:cs typeface="Arial" charset="0"/>
              </a:rPr>
              <a:t>shabd</a:t>
            </a:r>
            <a:r>
              <a:rPr lang="en-IN" sz="2200" dirty="0">
                <a:solidFill>
                  <a:schemeClr val="bg1"/>
                </a:solidFill>
                <a:cs typeface="Arial" charset="0"/>
              </a:rPr>
              <a:t>, </a:t>
            </a:r>
            <a:r>
              <a:rPr lang="en-IN" sz="2200" dirty="0" err="1">
                <a:solidFill>
                  <a:schemeClr val="bg1"/>
                </a:solidFill>
                <a:cs typeface="Arial" charset="0"/>
              </a:rPr>
              <a:t>sparsh</a:t>
            </a:r>
            <a:r>
              <a:rPr lang="en-IN" sz="2200" dirty="0">
                <a:solidFill>
                  <a:schemeClr val="bg1"/>
                </a:solidFill>
                <a:cs typeface="Arial" charset="0"/>
              </a:rPr>
              <a:t>, </a:t>
            </a:r>
            <a:endParaRPr lang="en-IN" sz="2200" dirty="0">
              <a:cs typeface="Arial" charset="0"/>
            </a:endParaRPr>
          </a:p>
          <a:p>
            <a:pPr algn="just">
              <a:buFont typeface="Symbol" pitchFamily="18" charset="2"/>
              <a:buNone/>
              <a:defRPr/>
            </a:pPr>
            <a:r>
              <a:rPr lang="en-IN" sz="2200" dirty="0">
                <a:cs typeface="Arial" charset="0"/>
              </a:rPr>
              <a:t>	</a:t>
            </a:r>
            <a:r>
              <a:rPr lang="en-IN" sz="2200" dirty="0">
                <a:cs typeface="Arial" charset="0"/>
                <a:sym typeface="Wingdings" pitchFamily="2" charset="2"/>
              </a:rPr>
              <a:t>tasty-necessary  tasty-unnecessary  tasteless-unnecessary  intolerable</a:t>
            </a:r>
            <a:endParaRPr lang="en-IN" sz="2200" dirty="0">
              <a:cs typeface="Arial" charset="0"/>
            </a:endParaRPr>
          </a:p>
          <a:p>
            <a:pPr algn="just">
              <a:buFont typeface="Symbol" pitchFamily="18" charset="2"/>
              <a:buNone/>
              <a:defRPr/>
            </a:pPr>
            <a:r>
              <a:rPr lang="en-IN" sz="2200" dirty="0">
                <a:cs typeface="Arial" charset="0"/>
              </a:rPr>
              <a:t>	</a:t>
            </a:r>
            <a:r>
              <a:rPr lang="en-IN" sz="2200" dirty="0">
                <a:solidFill>
                  <a:schemeClr val="bg1"/>
                </a:solidFill>
                <a:cs typeface="Arial" charset="0"/>
              </a:rPr>
              <a:t>(</a:t>
            </a:r>
            <a:r>
              <a:rPr lang="en-IN" sz="2200" dirty="0" err="1">
                <a:solidFill>
                  <a:schemeClr val="bg1"/>
                </a:solidFill>
                <a:cs typeface="Arial" charset="0"/>
              </a:rPr>
              <a:t>ruchikar-avashyak</a:t>
            </a:r>
            <a:r>
              <a:rPr lang="en-IN" sz="2200" dirty="0">
                <a:solidFill>
                  <a:schemeClr val="bg1"/>
                </a:solidFill>
                <a:cs typeface="Arial" charset="0"/>
              </a:rPr>
              <a:t> </a:t>
            </a:r>
            <a:r>
              <a:rPr lang="en-IN" sz="2200" dirty="0">
                <a:solidFill>
                  <a:schemeClr val="bg1"/>
                </a:solidFill>
                <a:cs typeface="Arial" charset="0"/>
                <a:sym typeface="Wingdings" pitchFamily="2" charset="2"/>
              </a:rPr>
              <a:t> </a:t>
            </a:r>
            <a:r>
              <a:rPr lang="en-IN" sz="2200" dirty="0" err="1">
                <a:solidFill>
                  <a:schemeClr val="bg1"/>
                </a:solidFill>
                <a:cs typeface="Arial" charset="0"/>
                <a:sym typeface="Wingdings" pitchFamily="2" charset="2"/>
              </a:rPr>
              <a:t>ruchikar-anavashyak</a:t>
            </a:r>
            <a:r>
              <a:rPr lang="en-IN" sz="2200" dirty="0">
                <a:solidFill>
                  <a:schemeClr val="bg1"/>
                </a:solidFill>
                <a:cs typeface="Arial" charset="0"/>
                <a:sym typeface="Wingdings" pitchFamily="2" charset="2"/>
              </a:rPr>
              <a:t>  </a:t>
            </a:r>
            <a:r>
              <a:rPr lang="en-IN" sz="2200" dirty="0" err="1">
                <a:solidFill>
                  <a:schemeClr val="bg1"/>
                </a:solidFill>
                <a:cs typeface="Arial" charset="0"/>
                <a:sym typeface="Wingdings" pitchFamily="2" charset="2"/>
              </a:rPr>
              <a:t>aruchikar-unavashyak</a:t>
            </a:r>
            <a:r>
              <a:rPr lang="en-IN" sz="2200" dirty="0">
                <a:solidFill>
                  <a:schemeClr val="bg1"/>
                </a:solidFill>
                <a:cs typeface="Arial" charset="0"/>
                <a:sym typeface="Wingdings" pitchFamily="2" charset="2"/>
              </a:rPr>
              <a:t> </a:t>
            </a:r>
            <a:endParaRPr lang="en-IN" sz="2200" dirty="0">
              <a:cs typeface="Arial" charset="0"/>
            </a:endParaRPr>
          </a:p>
          <a:p>
            <a:pPr algn="just">
              <a:defRPr/>
            </a:pPr>
            <a:r>
              <a:rPr lang="en-IN" sz="2200" b="1" dirty="0">
                <a:cs typeface="Arial" charset="0"/>
              </a:rPr>
              <a:t>Natural Acceptance: </a:t>
            </a:r>
            <a:r>
              <a:rPr lang="en-IN" sz="2200" dirty="0"/>
              <a:t>Given all the choice, what I accept naturally. Leads to harmony (happiness) within, continuity is desirable, possible</a:t>
            </a:r>
          </a:p>
          <a:p>
            <a:pPr marL="857250" lvl="1" indent="-457200" algn="just">
              <a:buFont typeface="Symbol" pitchFamily="18" charset="2"/>
              <a:buAutoNum type="arabicPeriod"/>
              <a:defRPr/>
            </a:pPr>
            <a:r>
              <a:rPr lang="en-IN" sz="2200" dirty="0">
                <a:cs typeface="Arial" charset="0"/>
              </a:rPr>
              <a:t>Assurance	</a:t>
            </a:r>
            <a:r>
              <a:rPr lang="en-IN" sz="2200" dirty="0">
                <a:solidFill>
                  <a:srgbClr val="1E00AA"/>
                </a:solidFill>
                <a:cs typeface="Arial" charset="0"/>
              </a:rPr>
              <a:t>(</a:t>
            </a:r>
            <a:r>
              <a:rPr lang="en-IN" sz="2200" dirty="0" err="1">
                <a:solidFill>
                  <a:srgbClr val="1E00AA"/>
                </a:solidFill>
                <a:cs typeface="Arial" charset="0"/>
              </a:rPr>
              <a:t>Ashwasti</a:t>
            </a:r>
            <a:r>
              <a:rPr lang="en-IN" sz="2200" dirty="0">
                <a:solidFill>
                  <a:srgbClr val="1E00AA"/>
                </a:solidFill>
                <a:cs typeface="Arial" charset="0"/>
              </a:rPr>
              <a:t>)</a:t>
            </a:r>
            <a:endParaRPr lang="en-IN" sz="2200" dirty="0">
              <a:cs typeface="Arial" charset="0"/>
            </a:endParaRPr>
          </a:p>
          <a:p>
            <a:pPr marL="857250" lvl="1" indent="-457200" algn="just">
              <a:buFont typeface="Symbol" pitchFamily="18" charset="2"/>
              <a:buAutoNum type="arabicPeriod"/>
              <a:defRPr/>
            </a:pPr>
            <a:r>
              <a:rPr lang="en-IN" sz="2200" dirty="0">
                <a:cs typeface="Arial" charset="0"/>
              </a:rPr>
              <a:t>Satisfaction	</a:t>
            </a:r>
            <a:r>
              <a:rPr lang="en-IN" sz="2200" dirty="0">
                <a:solidFill>
                  <a:srgbClr val="1E00AA"/>
                </a:solidFill>
                <a:cs typeface="Arial" charset="0"/>
              </a:rPr>
              <a:t>(</a:t>
            </a:r>
            <a:r>
              <a:rPr lang="en-IN" sz="2200" dirty="0" err="1">
                <a:solidFill>
                  <a:srgbClr val="1E00AA"/>
                </a:solidFill>
                <a:cs typeface="Arial" charset="0"/>
              </a:rPr>
              <a:t>Tripti</a:t>
            </a:r>
            <a:r>
              <a:rPr lang="en-IN" sz="2200" dirty="0">
                <a:solidFill>
                  <a:srgbClr val="1E00AA"/>
                </a:solidFill>
                <a:cs typeface="Arial" charset="0"/>
              </a:rPr>
              <a:t>)</a:t>
            </a:r>
          </a:p>
          <a:p>
            <a:pPr marL="857250" lvl="1" indent="-457200" algn="just">
              <a:buFont typeface="Symbol" pitchFamily="18" charset="2"/>
              <a:buAutoNum type="arabicPeriod"/>
              <a:defRPr/>
            </a:pPr>
            <a:r>
              <a:rPr lang="en-IN" sz="2200" dirty="0">
                <a:cs typeface="Arial" charset="0"/>
              </a:rPr>
              <a:t>Universal	 </a:t>
            </a:r>
            <a:r>
              <a:rPr lang="en-IN" sz="2200" dirty="0">
                <a:solidFill>
                  <a:srgbClr val="1E00AA"/>
                </a:solidFill>
                <a:cs typeface="Arial" charset="0"/>
              </a:rPr>
              <a:t>(</a:t>
            </a:r>
            <a:r>
              <a:rPr lang="en-IN" sz="2200" dirty="0" err="1">
                <a:solidFill>
                  <a:srgbClr val="1E00AA"/>
                </a:solidFill>
                <a:cs typeface="Arial" charset="0"/>
              </a:rPr>
              <a:t>Sarvbhaum</a:t>
            </a:r>
            <a:r>
              <a:rPr lang="en-IN" sz="2200" dirty="0">
                <a:solidFill>
                  <a:srgbClr val="1E00AA"/>
                </a:solidFill>
                <a:cs typeface="Arial" charset="0"/>
              </a:rPr>
              <a:t>)</a:t>
            </a:r>
          </a:p>
          <a:p>
            <a:pPr algn="just">
              <a:buFont typeface="Symbol" pitchFamily="18" charset="2"/>
              <a:buNone/>
              <a:defRPr/>
            </a:pPr>
            <a:r>
              <a:rPr lang="en-IN" sz="2200" dirty="0">
                <a:solidFill>
                  <a:srgbClr val="FF0000"/>
                </a:solidFill>
                <a:cs typeface="Arial" charset="0"/>
              </a:rPr>
              <a:t>Q: % Preconditioning, % Sensation and % Natural Acceptance</a:t>
            </a:r>
          </a:p>
          <a:p>
            <a:pPr algn="just"/>
            <a:endParaRPr lang="en-IN" sz="2200" dirty="0"/>
          </a:p>
        </p:txBody>
      </p:sp>
    </p:spTree>
    <p:extLst>
      <p:ext uri="{BB962C8B-B14F-4D97-AF65-F5344CB8AC3E}">
        <p14:creationId xmlns="" xmlns:p14="http://schemas.microsoft.com/office/powerpoint/2010/main" val="102225423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45DFA6-46A9-42F1-8F67-112B1716774B}"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0"/>
            <a:ext cx="7772400" cy="81716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Sensation for Health of Body &amp; Fulfillment of Purpose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228600" y="817162"/>
            <a:ext cx="8686800" cy="5539188"/>
          </a:xfrm>
        </p:spPr>
        <p:txBody>
          <a:bodyPr>
            <a:noAutofit/>
          </a:bodyPr>
          <a:lstStyle/>
          <a:p>
            <a:pPr algn="just">
              <a:defRPr/>
            </a:pPr>
            <a:r>
              <a:rPr lang="en-IN" sz="2200" dirty="0"/>
              <a:t>Role of sensation or right utilisation of sensation</a:t>
            </a:r>
          </a:p>
          <a:p>
            <a:pPr marL="1085850" lvl="2" indent="-457200">
              <a:buFont typeface="Symbol" pitchFamily="18" charset="2"/>
              <a:buAutoNum type="arabicPeriod"/>
              <a:defRPr/>
            </a:pPr>
            <a:r>
              <a:rPr lang="en-IN" sz="2200" dirty="0"/>
              <a:t>To keep body in good health by nurturing, protection of body</a:t>
            </a:r>
          </a:p>
          <a:p>
            <a:pPr marL="1085850" lvl="2" indent="-457200">
              <a:buFont typeface="Symbol" pitchFamily="18" charset="2"/>
              <a:buAutoNum type="arabicPeriod"/>
              <a:defRPr/>
            </a:pPr>
            <a:r>
              <a:rPr lang="en-IN" sz="2200" dirty="0"/>
              <a:t>To exchange right understanding &amp; right feeling (Education-</a:t>
            </a:r>
            <a:r>
              <a:rPr lang="en-IN" sz="2200" dirty="0" err="1"/>
              <a:t>sanskar</a:t>
            </a:r>
            <a:r>
              <a:rPr lang="en-IN" sz="2200" dirty="0"/>
              <a:t>)</a:t>
            </a:r>
          </a:p>
          <a:p>
            <a:pPr marL="457200" indent="-457200">
              <a:buFont typeface="Symbol" pitchFamily="18" charset="2"/>
              <a:buNone/>
              <a:defRPr/>
            </a:pPr>
            <a:endParaRPr lang="en-IN" sz="2200" dirty="0"/>
          </a:p>
          <a:p>
            <a:pPr>
              <a:defRPr/>
            </a:pPr>
            <a:r>
              <a:rPr lang="en-IN" sz="2200" dirty="0"/>
              <a:t>Sensation in animal		naturally restrained (by nature) for health</a:t>
            </a:r>
          </a:p>
          <a:p>
            <a:pPr>
              <a:defRPr/>
            </a:pPr>
            <a:r>
              <a:rPr lang="en-IN" sz="2200" dirty="0"/>
              <a:t>Sensation in human being	can make right utilisation of sensation</a:t>
            </a:r>
          </a:p>
          <a:p>
            <a:pPr marL="457200" indent="-457200">
              <a:buFont typeface="Symbol" pitchFamily="18" charset="2"/>
              <a:buNone/>
              <a:defRPr/>
            </a:pPr>
            <a:r>
              <a:rPr lang="en-IN" sz="2200" dirty="0"/>
              <a:t>					only with right understanding</a:t>
            </a:r>
          </a:p>
          <a:p>
            <a:pPr marL="457200" indent="-457200">
              <a:buFont typeface="Symbol" pitchFamily="18" charset="2"/>
              <a:buNone/>
              <a:defRPr/>
            </a:pPr>
            <a:endParaRPr lang="en-IN" sz="2200" dirty="0"/>
          </a:p>
          <a:p>
            <a:pPr>
              <a:defRPr/>
            </a:pPr>
            <a:r>
              <a:rPr lang="en-IN" sz="2200" dirty="0"/>
              <a:t>Right utilisation of body [body is an instrument of the Self (I)</a:t>
            </a:r>
          </a:p>
          <a:p>
            <a:pPr marL="1085850" lvl="2" indent="-457200">
              <a:buFont typeface="Symbol" pitchFamily="18" charset="2"/>
              <a:buAutoNum type="arabicPeriod"/>
              <a:defRPr/>
            </a:pPr>
            <a:r>
              <a:rPr lang="en-IN" sz="2200" dirty="0"/>
              <a:t>As an instrument for communication</a:t>
            </a:r>
          </a:p>
          <a:p>
            <a:pPr marL="1085850" lvl="2" indent="-457200">
              <a:buFont typeface="Symbol" pitchFamily="18" charset="2"/>
              <a:buAutoNum type="arabicPeriod"/>
              <a:defRPr/>
            </a:pPr>
            <a:r>
              <a:rPr lang="en-IN" sz="2200" dirty="0"/>
              <a:t>As an instrument </a:t>
            </a:r>
            <a:r>
              <a:rPr lang="en-IN" sz="2200" dirty="0" err="1"/>
              <a:t>fpr</a:t>
            </a:r>
            <a:r>
              <a:rPr lang="en-IN" sz="2200" dirty="0"/>
              <a:t> labour, to obtain necessary physical facility for the body</a:t>
            </a:r>
          </a:p>
          <a:p>
            <a:pPr marL="1085850" lvl="2" indent="-457200">
              <a:buFont typeface="Symbol" pitchFamily="18" charset="2"/>
              <a:buAutoNum type="arabicPeriod"/>
              <a:defRPr/>
            </a:pPr>
            <a:r>
              <a:rPr lang="en-IN" sz="2200" dirty="0"/>
              <a:t>As an instrument for continuity of Human Tradition (new body)</a:t>
            </a:r>
          </a:p>
          <a:p>
            <a:pPr>
              <a:buFont typeface="Symbol" pitchFamily="18" charset="2"/>
              <a:buNone/>
              <a:defRPr/>
            </a:pPr>
            <a:endParaRPr lang="en-IN" sz="2200" dirty="0"/>
          </a:p>
          <a:p>
            <a:endParaRPr lang="en-IN" sz="2200" dirty="0"/>
          </a:p>
        </p:txBody>
      </p:sp>
    </p:spTree>
    <p:extLst>
      <p:ext uri="{BB962C8B-B14F-4D97-AF65-F5344CB8AC3E}">
        <p14:creationId xmlns="" xmlns:p14="http://schemas.microsoft.com/office/powerpoint/2010/main" val="85886339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24B13A-0A79-42C7-BA3D-04BAF04F5CD9}"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altLang="en-US" sz="3000" dirty="0"/>
              <a:t>Criteria for Comparing</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Rectangle 9">
            <a:extLst>
              <a:ext uri="{FF2B5EF4-FFF2-40B4-BE49-F238E27FC236}">
                <a16:creationId xmlns="" xmlns:a16="http://schemas.microsoft.com/office/drawing/2014/main" id="{F904A6A4-137C-4897-9ED2-5D1560F2A2DB}"/>
              </a:ext>
            </a:extLst>
          </p:cNvPr>
          <p:cNvSpPr/>
          <p:nvPr/>
        </p:nvSpPr>
        <p:spPr>
          <a:xfrm>
            <a:off x="42863" y="838200"/>
            <a:ext cx="4224337" cy="533400"/>
          </a:xfrm>
          <a:prstGeom prst="rect">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en-US" sz="2000" dirty="0">
              <a:solidFill>
                <a:srgbClr val="FFFFFF"/>
              </a:solidFill>
            </a:endParaRPr>
          </a:p>
          <a:p>
            <a:pPr>
              <a:defRPr/>
            </a:pPr>
            <a:endParaRPr lang="en-US" altLang="en-US" sz="2000" dirty="0">
              <a:solidFill>
                <a:srgbClr val="FFFFFF"/>
              </a:solidFill>
            </a:endParaRPr>
          </a:p>
          <a:p>
            <a:pPr>
              <a:defRPr/>
            </a:pPr>
            <a:r>
              <a:rPr lang="en-US" altLang="en-US" sz="2000" dirty="0">
                <a:solidFill>
                  <a:srgbClr val="FFFFFF"/>
                </a:solidFill>
              </a:rPr>
              <a:t>Co-existence        Harmony</a:t>
            </a:r>
          </a:p>
          <a:p>
            <a:pPr algn="ctr">
              <a:defRPr/>
            </a:pPr>
            <a:endParaRPr lang="en-US" altLang="en-US" sz="2000" dirty="0">
              <a:solidFill>
                <a:srgbClr val="FFFFFF"/>
              </a:solidFill>
            </a:endParaRPr>
          </a:p>
          <a:p>
            <a:pPr algn="ctr" eaLnBrk="1" hangingPunct="1">
              <a:defRPr/>
            </a:pPr>
            <a:endParaRPr lang="en-US" sz="2000" dirty="0">
              <a:solidFill>
                <a:prstClr val="white"/>
              </a:solidFill>
            </a:endParaRPr>
          </a:p>
        </p:txBody>
      </p:sp>
      <p:sp>
        <p:nvSpPr>
          <p:cNvPr id="11" name="TextBox 22">
            <a:extLst>
              <a:ext uri="{FF2B5EF4-FFF2-40B4-BE49-F238E27FC236}">
                <a16:creationId xmlns="" xmlns:a16="http://schemas.microsoft.com/office/drawing/2014/main" id="{1DA5B26E-F13A-49D3-AAA0-F45C1FC9C6FA}"/>
              </a:ext>
            </a:extLst>
          </p:cNvPr>
          <p:cNvSpPr txBox="1">
            <a:spLocks noChangeArrowheads="1"/>
          </p:cNvSpPr>
          <p:nvPr/>
        </p:nvSpPr>
        <p:spPr bwMode="auto">
          <a:xfrm>
            <a:off x="3170419" y="904845"/>
            <a:ext cx="13716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solidFill>
                  <a:srgbClr val="FFFFFF"/>
                </a:solidFill>
                <a:latin typeface="+mn-lt"/>
              </a:rPr>
              <a:t>Justice</a:t>
            </a:r>
          </a:p>
        </p:txBody>
      </p:sp>
      <p:sp>
        <p:nvSpPr>
          <p:cNvPr id="12" name="TextBox 23">
            <a:extLst>
              <a:ext uri="{FF2B5EF4-FFF2-40B4-BE49-F238E27FC236}">
                <a16:creationId xmlns="" xmlns:a16="http://schemas.microsoft.com/office/drawing/2014/main" id="{E8A1CF8A-DFA8-4F6F-B277-4F45D3DB40E7}"/>
              </a:ext>
            </a:extLst>
          </p:cNvPr>
          <p:cNvSpPr txBox="1">
            <a:spLocks noChangeArrowheads="1"/>
          </p:cNvSpPr>
          <p:nvPr/>
        </p:nvSpPr>
        <p:spPr bwMode="auto">
          <a:xfrm>
            <a:off x="44112" y="2105328"/>
            <a:ext cx="1524000" cy="2462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solidFill>
                  <a:srgbClr val="000000"/>
                </a:solidFill>
                <a:latin typeface="+mn-lt"/>
              </a:rPr>
              <a:t>Authentication of co-existence, submergence in space. Mutual fulfilment</a:t>
            </a:r>
          </a:p>
        </p:txBody>
      </p:sp>
      <p:sp>
        <p:nvSpPr>
          <p:cNvPr id="13" name="TextBox 23">
            <a:extLst>
              <a:ext uri="{FF2B5EF4-FFF2-40B4-BE49-F238E27FC236}">
                <a16:creationId xmlns="" xmlns:a16="http://schemas.microsoft.com/office/drawing/2014/main" id="{A15339D5-0230-4EA8-885B-BE29F7BE844C}"/>
              </a:ext>
            </a:extLst>
          </p:cNvPr>
          <p:cNvSpPr txBox="1">
            <a:spLocks noChangeArrowheads="1"/>
          </p:cNvSpPr>
          <p:nvPr/>
        </p:nvSpPr>
        <p:spPr bwMode="auto">
          <a:xfrm>
            <a:off x="1584156" y="2097419"/>
            <a:ext cx="1576270" cy="2800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solidFill>
                  <a:srgbClr val="000000"/>
                </a:solidFill>
                <a:latin typeface="+mn-lt"/>
              </a:rPr>
              <a:t>Ensuring the harmony, mutual enrichment in human-nature relationship</a:t>
            </a:r>
          </a:p>
        </p:txBody>
      </p:sp>
      <p:sp>
        <p:nvSpPr>
          <p:cNvPr id="14" name="TextBox 22">
            <a:extLst>
              <a:ext uri="{FF2B5EF4-FFF2-40B4-BE49-F238E27FC236}">
                <a16:creationId xmlns="" xmlns:a16="http://schemas.microsoft.com/office/drawing/2014/main" id="{A013024F-A924-485C-ACF5-1F6D7BD73A10}"/>
              </a:ext>
            </a:extLst>
          </p:cNvPr>
          <p:cNvSpPr txBox="1">
            <a:spLocks noChangeArrowheads="1"/>
          </p:cNvSpPr>
          <p:nvPr/>
        </p:nvSpPr>
        <p:spPr bwMode="auto">
          <a:xfrm>
            <a:off x="3160425" y="2036259"/>
            <a:ext cx="1571805" cy="28007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solidFill>
                  <a:srgbClr val="000000"/>
                </a:solidFill>
                <a:latin typeface="+mn-lt"/>
              </a:rPr>
              <a:t>Living in a relationship of mutual fulfillment, justice in human-human relationship</a:t>
            </a:r>
          </a:p>
        </p:txBody>
      </p:sp>
      <p:cxnSp>
        <p:nvCxnSpPr>
          <p:cNvPr id="15" name="Straight Arrow Connector 14">
            <a:extLst>
              <a:ext uri="{FF2B5EF4-FFF2-40B4-BE49-F238E27FC236}">
                <a16:creationId xmlns="" xmlns:a16="http://schemas.microsoft.com/office/drawing/2014/main" id="{4BEE62E5-7383-4722-B35B-0C41FC11C5EE}"/>
              </a:ext>
            </a:extLst>
          </p:cNvPr>
          <p:cNvCxnSpPr>
            <a:cxnSpLocks/>
          </p:cNvCxnSpPr>
          <p:nvPr/>
        </p:nvCxnSpPr>
        <p:spPr>
          <a:xfrm>
            <a:off x="457200" y="1428749"/>
            <a:ext cx="0" cy="6338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 xmlns:a16="http://schemas.microsoft.com/office/drawing/2014/main" id="{22D68012-B615-4705-BEF4-0233D26531D2}"/>
              </a:ext>
            </a:extLst>
          </p:cNvPr>
          <p:cNvCxnSpPr>
            <a:cxnSpLocks/>
          </p:cNvCxnSpPr>
          <p:nvPr/>
        </p:nvCxnSpPr>
        <p:spPr>
          <a:xfrm>
            <a:off x="2029008" y="1505909"/>
            <a:ext cx="0" cy="61006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 xmlns:a16="http://schemas.microsoft.com/office/drawing/2014/main" id="{2D216B23-AB6E-4526-8E93-E0704DD9C0BA}"/>
              </a:ext>
            </a:extLst>
          </p:cNvPr>
          <p:cNvCxnSpPr>
            <a:cxnSpLocks/>
          </p:cNvCxnSpPr>
          <p:nvPr/>
        </p:nvCxnSpPr>
        <p:spPr>
          <a:xfrm>
            <a:off x="3547672" y="1485900"/>
            <a:ext cx="0" cy="5195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8">
            <a:extLst>
              <a:ext uri="{FF2B5EF4-FFF2-40B4-BE49-F238E27FC236}">
                <a16:creationId xmlns="" xmlns:a16="http://schemas.microsoft.com/office/drawing/2014/main" id="{EC2E8036-7444-4361-B314-0774C503F1E3}"/>
              </a:ext>
            </a:extLst>
          </p:cNvPr>
          <p:cNvSpPr txBox="1">
            <a:spLocks noChangeArrowheads="1"/>
          </p:cNvSpPr>
          <p:nvPr/>
        </p:nvSpPr>
        <p:spPr bwMode="auto">
          <a:xfrm>
            <a:off x="5066336" y="838200"/>
            <a:ext cx="1791664" cy="646331"/>
          </a:xfrm>
          <a:prstGeom prst="rect">
            <a:avLst/>
          </a:prstGeom>
          <a:solidFill>
            <a:srgbClr val="FFFF00"/>
          </a:solid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0000"/>
                </a:solidFill>
                <a:latin typeface="+mn-lt"/>
              </a:rPr>
              <a:t>Appealing</a:t>
            </a:r>
          </a:p>
          <a:p>
            <a:pPr eaLnBrk="1" hangingPunct="1"/>
            <a:r>
              <a:rPr lang="en-US" altLang="en-US" dirty="0">
                <a:solidFill>
                  <a:srgbClr val="000000"/>
                </a:solidFill>
                <a:latin typeface="+mn-lt"/>
              </a:rPr>
              <a:t>to Senses</a:t>
            </a:r>
          </a:p>
        </p:txBody>
      </p:sp>
      <p:sp>
        <p:nvSpPr>
          <p:cNvPr id="21" name="TextBox 20">
            <a:extLst>
              <a:ext uri="{FF2B5EF4-FFF2-40B4-BE49-F238E27FC236}">
                <a16:creationId xmlns="" xmlns:a16="http://schemas.microsoft.com/office/drawing/2014/main" id="{C17D17CA-D0C3-443A-885C-38E450148882}"/>
              </a:ext>
            </a:extLst>
          </p:cNvPr>
          <p:cNvSpPr txBox="1">
            <a:spLocks noChangeArrowheads="1"/>
          </p:cNvSpPr>
          <p:nvPr/>
        </p:nvSpPr>
        <p:spPr bwMode="auto">
          <a:xfrm>
            <a:off x="6858000" y="838200"/>
            <a:ext cx="1295400" cy="646113"/>
          </a:xfrm>
          <a:prstGeom prst="rect">
            <a:avLst/>
          </a:prstGeom>
          <a:solidFill>
            <a:srgbClr val="FFFF00"/>
          </a:solid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0000"/>
                </a:solidFill>
                <a:latin typeface="+mn-lt"/>
              </a:rPr>
              <a:t>Conducive to Health</a:t>
            </a:r>
          </a:p>
        </p:txBody>
      </p:sp>
      <p:sp>
        <p:nvSpPr>
          <p:cNvPr id="22" name="TextBox 21">
            <a:extLst>
              <a:ext uri="{FF2B5EF4-FFF2-40B4-BE49-F238E27FC236}">
                <a16:creationId xmlns="" xmlns:a16="http://schemas.microsoft.com/office/drawing/2014/main" id="{E5B1DA2D-BA18-4F0C-8221-DB52BA81EF84}"/>
              </a:ext>
            </a:extLst>
          </p:cNvPr>
          <p:cNvSpPr txBox="1">
            <a:spLocks noChangeArrowheads="1"/>
          </p:cNvSpPr>
          <p:nvPr/>
        </p:nvSpPr>
        <p:spPr bwMode="auto">
          <a:xfrm>
            <a:off x="8153400" y="838200"/>
            <a:ext cx="888512" cy="646113"/>
          </a:xfrm>
          <a:prstGeom prst="rect">
            <a:avLst/>
          </a:prstGeom>
          <a:solidFill>
            <a:srgbClr val="FFFF00"/>
          </a:solid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0000"/>
                </a:solidFill>
                <a:latin typeface="+mn-lt"/>
              </a:rPr>
              <a:t>Profit</a:t>
            </a:r>
          </a:p>
          <a:p>
            <a:pPr eaLnBrk="1" hangingPunct="1"/>
            <a:r>
              <a:rPr lang="en-US" altLang="en-US" dirty="0">
                <a:solidFill>
                  <a:srgbClr val="000000"/>
                </a:solidFill>
                <a:latin typeface="+mn-lt"/>
              </a:rPr>
              <a:t>  able</a:t>
            </a:r>
          </a:p>
        </p:txBody>
      </p:sp>
      <p:sp>
        <p:nvSpPr>
          <p:cNvPr id="23" name="TextBox 26">
            <a:extLst>
              <a:ext uri="{FF2B5EF4-FFF2-40B4-BE49-F238E27FC236}">
                <a16:creationId xmlns="" xmlns:a16="http://schemas.microsoft.com/office/drawing/2014/main" id="{6C4DA550-E9E5-492B-B018-61691AEBFAAB}"/>
              </a:ext>
            </a:extLst>
          </p:cNvPr>
          <p:cNvSpPr txBox="1">
            <a:spLocks noChangeArrowheads="1"/>
          </p:cNvSpPr>
          <p:nvPr/>
        </p:nvSpPr>
        <p:spPr bwMode="auto">
          <a:xfrm>
            <a:off x="5029200" y="1998893"/>
            <a:ext cx="1295399" cy="17851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200" dirty="0">
                <a:solidFill>
                  <a:srgbClr val="000000"/>
                </a:solidFill>
                <a:latin typeface="+mn-lt"/>
              </a:rPr>
              <a:t>Identification of right physical facility</a:t>
            </a:r>
          </a:p>
        </p:txBody>
      </p:sp>
      <p:sp>
        <p:nvSpPr>
          <p:cNvPr id="24" name="TextBox 31">
            <a:extLst>
              <a:ext uri="{FF2B5EF4-FFF2-40B4-BE49-F238E27FC236}">
                <a16:creationId xmlns="" xmlns:a16="http://schemas.microsoft.com/office/drawing/2014/main" id="{F7A72E2C-214E-4931-9989-BA4EF65C5DAC}"/>
              </a:ext>
            </a:extLst>
          </p:cNvPr>
          <p:cNvSpPr txBox="1">
            <a:spLocks noChangeArrowheads="1"/>
          </p:cNvSpPr>
          <p:nvPr/>
        </p:nvSpPr>
        <p:spPr bwMode="auto">
          <a:xfrm>
            <a:off x="6400789" y="2092793"/>
            <a:ext cx="1219211" cy="144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err="1">
                <a:solidFill>
                  <a:srgbClr val="000000"/>
                </a:solidFill>
                <a:latin typeface="+mn-lt"/>
              </a:rPr>
              <a:t>Sanyam</a:t>
            </a:r>
            <a:r>
              <a:rPr lang="en-US" altLang="en-US" sz="2200" dirty="0">
                <a:solidFill>
                  <a:srgbClr val="000000"/>
                </a:solidFill>
                <a:latin typeface="+mn-lt"/>
              </a:rPr>
              <a:t>, ensuring health of body</a:t>
            </a:r>
          </a:p>
        </p:txBody>
      </p:sp>
      <p:sp>
        <p:nvSpPr>
          <p:cNvPr id="25" name="TextBox 32">
            <a:extLst>
              <a:ext uri="{FF2B5EF4-FFF2-40B4-BE49-F238E27FC236}">
                <a16:creationId xmlns="" xmlns:a16="http://schemas.microsoft.com/office/drawing/2014/main" id="{FC6BBD5E-BD5F-41B7-B036-2B3D5E3330FF}"/>
              </a:ext>
            </a:extLst>
          </p:cNvPr>
          <p:cNvSpPr txBox="1">
            <a:spLocks noChangeArrowheads="1"/>
          </p:cNvSpPr>
          <p:nvPr/>
        </p:nvSpPr>
        <p:spPr bwMode="auto">
          <a:xfrm>
            <a:off x="7806126" y="2117448"/>
            <a:ext cx="1219211" cy="144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solidFill>
                  <a:srgbClr val="000000"/>
                </a:solidFill>
                <a:latin typeface="+mn-lt"/>
              </a:rPr>
              <a:t>Clarity about Prosperity</a:t>
            </a:r>
          </a:p>
        </p:txBody>
      </p:sp>
      <p:sp>
        <p:nvSpPr>
          <p:cNvPr id="26" name="Rectangle 25">
            <a:extLst>
              <a:ext uri="{FF2B5EF4-FFF2-40B4-BE49-F238E27FC236}">
                <a16:creationId xmlns="" xmlns:a16="http://schemas.microsoft.com/office/drawing/2014/main" id="{27C93A49-391E-4DC3-BCFD-7ABEC3C4AE5F}"/>
              </a:ext>
            </a:extLst>
          </p:cNvPr>
          <p:cNvSpPr/>
          <p:nvPr/>
        </p:nvSpPr>
        <p:spPr>
          <a:xfrm>
            <a:off x="5045234" y="817163"/>
            <a:ext cx="4055903" cy="68579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cxnSp>
        <p:nvCxnSpPr>
          <p:cNvPr id="27" name="Straight Arrow Connector 26">
            <a:extLst>
              <a:ext uri="{FF2B5EF4-FFF2-40B4-BE49-F238E27FC236}">
                <a16:creationId xmlns="" xmlns:a16="http://schemas.microsoft.com/office/drawing/2014/main" id="{FC8F0F9C-F5E9-4D0C-BE05-D3CBBD6F85EF}"/>
              </a:ext>
            </a:extLst>
          </p:cNvPr>
          <p:cNvCxnSpPr>
            <a:cxnSpLocks/>
          </p:cNvCxnSpPr>
          <p:nvPr/>
        </p:nvCxnSpPr>
        <p:spPr>
          <a:xfrm>
            <a:off x="5676899" y="1529828"/>
            <a:ext cx="0" cy="53548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 xmlns:a16="http://schemas.microsoft.com/office/drawing/2014/main" id="{43EFB108-B9FA-4835-AFF1-2F119508040B}"/>
              </a:ext>
            </a:extLst>
          </p:cNvPr>
          <p:cNvCxnSpPr>
            <a:cxnSpLocks/>
          </p:cNvCxnSpPr>
          <p:nvPr/>
        </p:nvCxnSpPr>
        <p:spPr>
          <a:xfrm>
            <a:off x="7073185" y="1529828"/>
            <a:ext cx="0" cy="50643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 xmlns:a16="http://schemas.microsoft.com/office/drawing/2014/main" id="{216C743F-721F-481A-9C53-E3EFB87DA610}"/>
              </a:ext>
            </a:extLst>
          </p:cNvPr>
          <p:cNvCxnSpPr>
            <a:cxnSpLocks/>
          </p:cNvCxnSpPr>
          <p:nvPr/>
        </p:nvCxnSpPr>
        <p:spPr>
          <a:xfrm>
            <a:off x="8415731" y="1529828"/>
            <a:ext cx="0" cy="50643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42324199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1692E0A-BA33-4123-B16C-C80D10C0C163}"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altLang="en-US" sz="3000" dirty="0"/>
              <a:t>Criteria for Comparing</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457200" y="914400"/>
            <a:ext cx="8229600" cy="5211763"/>
          </a:xfrm>
        </p:spPr>
        <p:txBody>
          <a:bodyPr>
            <a:normAutofit/>
          </a:bodyPr>
          <a:lstStyle/>
          <a:p>
            <a:pPr algn="just"/>
            <a:r>
              <a:rPr lang="en-IN" altLang="en-US" sz="2200" dirty="0"/>
              <a:t>Mutual Fulfilment with every unit, ensuring the comprehensive Human Goal and unconditional justice in human-human relationship are then the primary criteria for Comparing. </a:t>
            </a:r>
          </a:p>
          <a:p>
            <a:pPr algn="just"/>
            <a:r>
              <a:rPr lang="en-IN" altLang="en-US" sz="2200" dirty="0"/>
              <a:t>These three guide the right use of sensation, body and physical facility. So these guided choices enable using sensation for selecting appropriate physical facility for nurturing and protection, ensuring health of the body; using the body for self-development and societal development (comprehensive Human Goal); and using physical facility for ensuring mutual prosperity.</a:t>
            </a:r>
          </a:p>
          <a:p>
            <a:pPr algn="just"/>
            <a:endParaRPr lang="en-IN" sz="2200" dirty="0"/>
          </a:p>
        </p:txBody>
      </p:sp>
    </p:spTree>
    <p:extLst>
      <p:ext uri="{BB962C8B-B14F-4D97-AF65-F5344CB8AC3E}">
        <p14:creationId xmlns="" xmlns:p14="http://schemas.microsoft.com/office/powerpoint/2010/main" val="38433354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65600B-BA13-4CDB-8BDC-A8C54A1D780E}"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Comparing (Basis for </a:t>
            </a:r>
            <a:r>
              <a:rPr lang="en-US" altLang="en-US" sz="3000" dirty="0" err="1"/>
              <a:t>Analysing</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228600" y="914400"/>
            <a:ext cx="8686800" cy="5211763"/>
          </a:xfrm>
        </p:spPr>
        <p:txBody>
          <a:bodyPr>
            <a:normAutofit/>
          </a:bodyPr>
          <a:lstStyle/>
          <a:p>
            <a:pPr algn="just">
              <a:defRPr/>
            </a:pPr>
            <a:r>
              <a:rPr lang="en-IN" sz="2200" dirty="0">
                <a:latin typeface="+mj-lt"/>
              </a:rPr>
              <a:t>Authentication of co-existence, the submergence in space</a:t>
            </a:r>
            <a:endParaRPr lang="hi-IN" sz="2200" dirty="0">
              <a:latin typeface="+mj-lt"/>
            </a:endParaRPr>
          </a:p>
          <a:p>
            <a:pPr algn="just">
              <a:defRPr/>
            </a:pPr>
            <a:r>
              <a:rPr lang="en-IN" sz="2200" dirty="0">
                <a:latin typeface="+mj-lt"/>
              </a:rPr>
              <a:t>Authentication of harmony, i.e. human-nature relationship, mutual enrichment (mutual prosperity)</a:t>
            </a:r>
            <a:endParaRPr lang="hi-IN" sz="2200" dirty="0">
              <a:latin typeface="+mj-lt"/>
            </a:endParaRPr>
          </a:p>
          <a:p>
            <a:pPr algn="just">
              <a:defRPr/>
            </a:pPr>
            <a:r>
              <a:rPr lang="en-IN" sz="2200" dirty="0">
                <a:latin typeface="+mj-lt"/>
              </a:rPr>
              <a:t>Authentication of relationship, i.e. human-human relationship, mutual fulfilment (mutual happiness)</a:t>
            </a:r>
          </a:p>
          <a:p>
            <a:pPr algn="just">
              <a:defRPr/>
            </a:pPr>
            <a:endParaRPr lang="en-IN" sz="2200" dirty="0"/>
          </a:p>
          <a:p>
            <a:pPr algn="just">
              <a:defRPr/>
            </a:pPr>
            <a:endParaRPr lang="en-IN" sz="2200" dirty="0"/>
          </a:p>
          <a:p>
            <a:pPr algn="just">
              <a:defRPr/>
            </a:pPr>
            <a:r>
              <a:rPr lang="en-IN" sz="2200" dirty="0"/>
              <a:t>For identification of physical facility that is nurturing for the body, for protection of body,  for behaviour / work, sharing knowledge, feeling.</a:t>
            </a:r>
          </a:p>
          <a:p>
            <a:pPr algn="just">
              <a:defRPr/>
            </a:pPr>
            <a:r>
              <a:rPr lang="en-IN" sz="2200" dirty="0" err="1"/>
              <a:t>Sanyam</a:t>
            </a:r>
            <a:r>
              <a:rPr lang="en-IN" sz="2200" dirty="0"/>
              <a:t>, clarity about program for </a:t>
            </a:r>
            <a:r>
              <a:rPr lang="en-IN" sz="2200" dirty="0" err="1"/>
              <a:t>sanyam</a:t>
            </a:r>
            <a:r>
              <a:rPr lang="en-IN" sz="2200" dirty="0"/>
              <a:t> ensuring health of body, so that body is capable of being used for ensuring right understanding and right feeling in the self as well as its authentication in living, including </a:t>
            </a:r>
            <a:r>
              <a:rPr lang="en-IN" sz="2200" dirty="0" err="1"/>
              <a:t>behavior</a:t>
            </a:r>
            <a:r>
              <a:rPr lang="en-IN" sz="2200" dirty="0"/>
              <a:t>, work and participation in larger order</a:t>
            </a:r>
          </a:p>
          <a:p>
            <a:pPr algn="just">
              <a:defRPr/>
            </a:pPr>
            <a:endParaRPr lang="en-IN" sz="2200" dirty="0"/>
          </a:p>
        </p:txBody>
      </p:sp>
      <p:cxnSp>
        <p:nvCxnSpPr>
          <p:cNvPr id="9" name="Straight Arrow Connector 8">
            <a:extLst>
              <a:ext uri="{FF2B5EF4-FFF2-40B4-BE49-F238E27FC236}">
                <a16:creationId xmlns="" xmlns:a16="http://schemas.microsoft.com/office/drawing/2014/main" id="{F5209157-CCBD-4911-86F9-FEEE2A9EDED4}"/>
              </a:ext>
            </a:extLst>
          </p:cNvPr>
          <p:cNvCxnSpPr>
            <a:cxnSpLocks/>
          </p:cNvCxnSpPr>
          <p:nvPr/>
        </p:nvCxnSpPr>
        <p:spPr bwMode="auto">
          <a:xfrm>
            <a:off x="990601" y="2895600"/>
            <a:ext cx="2" cy="6246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23">
            <a:extLst>
              <a:ext uri="{FF2B5EF4-FFF2-40B4-BE49-F238E27FC236}">
                <a16:creationId xmlns="" xmlns:a16="http://schemas.microsoft.com/office/drawing/2014/main" id="{CE8FAA86-71B7-44F4-A1B4-4216A719866F}"/>
              </a:ext>
            </a:extLst>
          </p:cNvPr>
          <p:cNvSpPr txBox="1">
            <a:spLocks noChangeArrowheads="1"/>
          </p:cNvSpPr>
          <p:nvPr/>
        </p:nvSpPr>
        <p:spPr bwMode="auto">
          <a:xfrm>
            <a:off x="1291652" y="2950763"/>
            <a:ext cx="3810000"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b="1" dirty="0">
                <a:solidFill>
                  <a:srgbClr val="FF0000"/>
                </a:solidFill>
                <a:latin typeface="+mn-lt"/>
              </a:rPr>
              <a:t>Guided</a:t>
            </a:r>
          </a:p>
        </p:txBody>
      </p:sp>
    </p:spTree>
    <p:extLst>
      <p:ext uri="{BB962C8B-B14F-4D97-AF65-F5344CB8AC3E}">
        <p14:creationId xmlns="" xmlns:p14="http://schemas.microsoft.com/office/powerpoint/2010/main" val="206504069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0FEE35-8643-4AF7-9C0B-3899EF90CF38}"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Comparing (Basis for </a:t>
            </a:r>
            <a:r>
              <a:rPr lang="en-US" altLang="en-US" sz="3000" dirty="0" err="1"/>
              <a:t>Analysing</a:t>
            </a:r>
            <a:r>
              <a:rPr lang="en-US" altLang="en-US" sz="3000" dirty="0"/>
              <a:t>)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F9DFDBD5-5F64-4A46-953B-5A8BF4E88A04}"/>
              </a:ext>
            </a:extLst>
          </p:cNvPr>
          <p:cNvSpPr>
            <a:spLocks noGrp="1"/>
          </p:cNvSpPr>
          <p:nvPr>
            <p:ph idx="1"/>
          </p:nvPr>
        </p:nvSpPr>
        <p:spPr>
          <a:xfrm>
            <a:off x="457200" y="1066800"/>
            <a:ext cx="8229600" cy="5059363"/>
          </a:xfrm>
        </p:spPr>
        <p:txBody>
          <a:bodyPr>
            <a:normAutofit/>
          </a:bodyPr>
          <a:lstStyle/>
          <a:p>
            <a:pPr algn="just"/>
            <a:r>
              <a:rPr lang="en-IN" sz="2200" dirty="0"/>
              <a:t>For clarity about prosperity (identification, production &amp; right utilisation of physical facility), so that nurturing, protection and right utilisation of the body and right utilisation of physical facility is ensured for relationship and societal order.</a:t>
            </a:r>
          </a:p>
          <a:p>
            <a:pPr algn="just"/>
            <a:endParaRPr lang="en-IN" sz="2200" dirty="0"/>
          </a:p>
        </p:txBody>
      </p:sp>
    </p:spTree>
    <p:extLst>
      <p:ext uri="{BB962C8B-B14F-4D97-AF65-F5344CB8AC3E}">
        <p14:creationId xmlns="" xmlns:p14="http://schemas.microsoft.com/office/powerpoint/2010/main" val="141956876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85413"/>
            <a:ext cx="8915400" cy="5539187"/>
          </a:xfrm>
        </p:spPr>
        <p:txBody>
          <a:bodyPr>
            <a:normAutofit/>
          </a:bodyPr>
          <a:lstStyle/>
          <a:p>
            <a:pPr marL="342900" lvl="0" indent="-342900" algn="just">
              <a:spcAft>
                <a:spcPts val="0"/>
              </a:spcAft>
              <a:buFont typeface="+mj-lt"/>
              <a:buAutoNum type="arabicPeriod"/>
            </a:pPr>
            <a:r>
              <a:rPr lang="en-US" sz="2200" u="sng" dirty="0">
                <a:solidFill>
                  <a:srgbClr val="000000"/>
                </a:solidFill>
                <a:effectLst/>
                <a:ea typeface="Helvetica Neue"/>
                <a:cs typeface="Helvetica Neue"/>
              </a:rPr>
              <a:t>_________ </a:t>
            </a:r>
            <a:r>
              <a:rPr lang="en-US" sz="2200" dirty="0">
                <a:solidFill>
                  <a:srgbClr val="000000"/>
                </a:solidFill>
                <a:effectLst/>
                <a:ea typeface="Times New Roman" panose="02020603050405020304" pitchFamily="18" charset="0"/>
                <a:cs typeface="Helvetica Neue"/>
              </a:rPr>
              <a:t>means our ability to do or perform.</a:t>
            </a:r>
            <a:r>
              <a:rPr lang="en-US" sz="2200" i="1" dirty="0">
                <a:solidFill>
                  <a:srgbClr val="000000"/>
                </a:solidFill>
                <a:effectLst/>
                <a:ea typeface="Times New Roman" panose="02020603050405020304" pitchFamily="18" charset="0"/>
                <a:cs typeface="Helvetica Neue"/>
              </a:rPr>
              <a:t> </a:t>
            </a:r>
            <a:endParaRPr lang="en-IN" sz="2200" dirty="0">
              <a:solidFill>
                <a:srgbClr val="000000"/>
              </a:solidFill>
              <a:effectLst/>
              <a:ea typeface="Helvetica Neue"/>
              <a:cs typeface="Helvetica Neue"/>
            </a:endParaRPr>
          </a:p>
          <a:p>
            <a:pPr marL="400050" lvl="1" indent="0">
              <a:buNone/>
            </a:pPr>
            <a:r>
              <a:rPr lang="en-US" sz="2200" b="1" dirty="0">
                <a:effectLst/>
                <a:ea typeface="Arial Unicode MS"/>
              </a:rPr>
              <a:t>Answer- </a:t>
            </a:r>
            <a:r>
              <a:rPr lang="en-US" sz="2200" b="1" dirty="0">
                <a:solidFill>
                  <a:srgbClr val="000000"/>
                </a:solidFill>
                <a:effectLst/>
                <a:ea typeface="Times New Roman" panose="02020603050405020304" pitchFamily="18" charset="0"/>
              </a:rPr>
              <a:t>Competence</a:t>
            </a:r>
            <a:endParaRPr lang="en-US" sz="2200" b="1" dirty="0">
              <a:effectLst/>
              <a:ea typeface="Calibri" panose="020F0502020204030204" pitchFamily="34" charset="0"/>
            </a:endParaRPr>
          </a:p>
          <a:p>
            <a:pPr>
              <a:buFont typeface="+mj-lt"/>
              <a:buAutoNum type="arabicPeriod" startAt="2"/>
            </a:pPr>
            <a:r>
              <a:rPr lang="en-US" sz="2200" dirty="0">
                <a:solidFill>
                  <a:srgbClr val="000000"/>
                </a:solidFill>
                <a:effectLst/>
                <a:ea typeface="Arial Unicode MS"/>
              </a:rPr>
              <a:t>Happiness and Prosperity are the two basic human desires.</a:t>
            </a:r>
            <a:r>
              <a:rPr lang="en-US" sz="2200" dirty="0">
                <a:solidFill>
                  <a:srgbClr val="3A3A3A"/>
                </a:solidFill>
                <a:effectLst/>
                <a:ea typeface="Arial Unicode MS"/>
              </a:rPr>
              <a:t/>
            </a:r>
            <a:br>
              <a:rPr lang="en-US" sz="2200" dirty="0">
                <a:solidFill>
                  <a:srgbClr val="3A3A3A"/>
                </a:solidFill>
                <a:effectLst/>
                <a:ea typeface="Arial Unicode MS"/>
              </a:rPr>
            </a:br>
            <a:r>
              <a:rPr lang="en-US" sz="2200" b="1" dirty="0">
                <a:solidFill>
                  <a:srgbClr val="3A3A3A"/>
                </a:solidFill>
                <a:effectLst/>
                <a:ea typeface="Arial Unicode MS"/>
              </a:rPr>
              <a:t>a) True</a:t>
            </a:r>
            <a:r>
              <a:rPr lang="en-US" sz="2200" dirty="0">
                <a:solidFill>
                  <a:srgbClr val="3A3A3A"/>
                </a:solidFill>
                <a:effectLst/>
                <a:ea typeface="Arial Unicode MS"/>
              </a:rPr>
              <a:t/>
            </a:r>
            <a:br>
              <a:rPr lang="en-US" sz="2200" dirty="0">
                <a:solidFill>
                  <a:srgbClr val="3A3A3A"/>
                </a:solidFill>
                <a:effectLst/>
                <a:ea typeface="Arial Unicode MS"/>
              </a:rPr>
            </a:br>
            <a:r>
              <a:rPr lang="en-US" sz="2200" dirty="0">
                <a:solidFill>
                  <a:srgbClr val="3A3A3A"/>
                </a:solidFill>
                <a:effectLst/>
                <a:ea typeface="Arial Unicode MS"/>
              </a:rPr>
              <a:t>b) False</a:t>
            </a:r>
            <a:endParaRPr lang="en-IN" sz="2200" dirty="0">
              <a:solidFill>
                <a:srgbClr val="000000"/>
              </a:solidFill>
              <a:effectLst/>
              <a:ea typeface="Helvetica Neue"/>
              <a:cs typeface="Helvetica Neue"/>
            </a:endParaRPr>
          </a:p>
          <a:p>
            <a:pPr fontAlgn="base">
              <a:spcAft>
                <a:spcPts val="0"/>
              </a:spcAft>
              <a:buFont typeface="+mj-lt"/>
              <a:buAutoNum type="arabicPeriod" startAt="3"/>
            </a:pPr>
            <a:r>
              <a:rPr lang="en-IN" sz="2200" dirty="0">
                <a:solidFill>
                  <a:srgbClr val="000000"/>
                </a:solidFill>
                <a:effectLst/>
                <a:ea typeface="Times New Roman" panose="02020603050405020304" pitchFamily="18" charset="0"/>
              </a:rPr>
              <a:t>The needs of the self are variable with time or place or people.</a:t>
            </a:r>
            <a:endParaRPr lang="en-IN" sz="2200" dirty="0">
              <a:effectLst/>
              <a:ea typeface="Times New Roman" panose="02020603050405020304" pitchFamily="18" charset="0"/>
            </a:endParaRPr>
          </a:p>
          <a:p>
            <a:pPr marL="400050" lvl="1" indent="0">
              <a:buNone/>
            </a:pPr>
            <a:r>
              <a:rPr lang="en-US" sz="2200" dirty="0">
                <a:solidFill>
                  <a:srgbClr val="3A3A3A"/>
                </a:solidFill>
                <a:effectLst/>
                <a:ea typeface="Arial Unicode MS"/>
              </a:rPr>
              <a:t>a) True</a:t>
            </a:r>
            <a:br>
              <a:rPr lang="en-US" sz="2200" dirty="0">
                <a:solidFill>
                  <a:srgbClr val="3A3A3A"/>
                </a:solidFill>
                <a:effectLst/>
                <a:ea typeface="Arial Unicode MS"/>
              </a:rPr>
            </a:br>
            <a:r>
              <a:rPr lang="en-US" sz="2200" b="1" dirty="0">
                <a:solidFill>
                  <a:srgbClr val="3A3A3A"/>
                </a:solidFill>
                <a:effectLst/>
                <a:ea typeface="Arial Unicode MS"/>
              </a:rPr>
              <a:t>b) False</a:t>
            </a:r>
            <a:endParaRPr lang="en-IN" sz="2200" b="1" dirty="0">
              <a:solidFill>
                <a:srgbClr val="000000"/>
              </a:solidFill>
              <a:effectLst/>
              <a:ea typeface="Helvetica Neue"/>
              <a:cs typeface="Helvetica Neue"/>
            </a:endParaRPr>
          </a:p>
          <a:p>
            <a:pPr marL="457200" indent="-457200" algn="just">
              <a:buFont typeface="+mj-lt"/>
              <a:buAutoNum type="arabicPeriod" startAt="4"/>
              <a:defRPr/>
            </a:pPr>
            <a:r>
              <a:rPr lang="en-IN" sz="2200" dirty="0">
                <a:cs typeface="Arial" charset="0"/>
              </a:rPr>
              <a:t>_________ Assuming without knowing. </a:t>
            </a:r>
          </a:p>
          <a:p>
            <a:pPr marL="400050" lvl="1" indent="0" algn="just">
              <a:buNone/>
              <a:defRPr/>
            </a:pPr>
            <a:r>
              <a:rPr lang="en-US" sz="2200" b="1" dirty="0">
                <a:effectLst/>
                <a:ea typeface="Arial Unicode MS"/>
              </a:rPr>
              <a:t>Answer- </a:t>
            </a:r>
            <a:r>
              <a:rPr lang="en-IN" sz="2200" b="1" dirty="0">
                <a:cs typeface="Arial" charset="0"/>
              </a:rPr>
              <a:t>Preconditioning</a:t>
            </a:r>
            <a:endParaRPr lang="en-IN" sz="2200" dirty="0">
              <a:cs typeface="Arial" charset="0"/>
            </a:endParaRPr>
          </a:p>
          <a:p>
            <a:pPr marL="457200" indent="-457200" algn="just">
              <a:buFont typeface="+mj-lt"/>
              <a:buAutoNum type="arabicPeriod" startAt="5"/>
              <a:defRPr/>
            </a:pPr>
            <a:r>
              <a:rPr lang="en-IN" sz="2200" dirty="0">
                <a:cs typeface="Arial" charset="0"/>
              </a:rPr>
              <a:t>________ taste of sound, touch, sight, taste, smell</a:t>
            </a:r>
            <a:r>
              <a:rPr lang="en-IN" sz="2200" dirty="0">
                <a:solidFill>
                  <a:schemeClr val="bg1"/>
                </a:solidFill>
                <a:cs typeface="Arial" charset="0"/>
              </a:rPr>
              <a:t>,</a:t>
            </a:r>
            <a:endParaRPr lang="en-US" sz="2200" dirty="0">
              <a:solidFill>
                <a:schemeClr val="bg1"/>
              </a:solidFill>
              <a:cs typeface="Arial" charset="0"/>
            </a:endParaRPr>
          </a:p>
          <a:p>
            <a:pPr marL="400050" lvl="1" indent="0" algn="just">
              <a:buNone/>
              <a:defRPr/>
            </a:pPr>
            <a:r>
              <a:rPr lang="en-US" sz="2200" b="1" dirty="0">
                <a:effectLst/>
                <a:ea typeface="Arial Unicode MS"/>
              </a:rPr>
              <a:t>Answer- </a:t>
            </a:r>
            <a:r>
              <a:rPr lang="en-IN" sz="2200" b="1" dirty="0">
                <a:cs typeface="Arial" charset="0"/>
              </a:rPr>
              <a:t>Sensation</a:t>
            </a:r>
            <a:endParaRPr lang="en-IN" sz="2200" dirty="0">
              <a:cs typeface="Arial" charset="0"/>
            </a:endParaRPr>
          </a:p>
          <a:p>
            <a:pPr marL="0" indent="0" algn="just">
              <a:buNone/>
              <a:defRPr/>
            </a:pPr>
            <a:endParaRPr lang="en-IN" sz="2200" dirty="0">
              <a:solidFill>
                <a:schemeClr val="bg1"/>
              </a:solidFill>
              <a:cs typeface="Arial" charset="0"/>
            </a:endParaRPr>
          </a:p>
        </p:txBody>
      </p:sp>
      <p:sp>
        <p:nvSpPr>
          <p:cNvPr id="4" name="Date Placeholder 3"/>
          <p:cNvSpPr>
            <a:spLocks noGrp="1"/>
          </p:cNvSpPr>
          <p:nvPr>
            <p:ph type="dt" sz="half" idx="10"/>
          </p:nvPr>
        </p:nvSpPr>
        <p:spPr/>
        <p:txBody>
          <a:bodyPr/>
          <a:lstStyle/>
          <a:p>
            <a:fld id="{02530F71-B5C2-4D12-BBD2-4834EB8EBDDF}"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dirty="0"/>
              <a:t>Daily Quiz</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398432023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066800"/>
            <a:ext cx="8548718" cy="4597417"/>
          </a:xfrm>
        </p:spPr>
        <p:txBody>
          <a:bodyPr>
            <a:noAutofit/>
          </a:bodyPr>
          <a:lstStyle/>
          <a:p>
            <a:pPr marL="457200" indent="-457200" algn="just">
              <a:buFont typeface="Symbol" pitchFamily="18" charset="2"/>
              <a:buNone/>
            </a:pPr>
            <a:r>
              <a:rPr lang="en-IN" altLang="en-US" sz="2200" dirty="0"/>
              <a:t>1.	We have seen that science can be expanded as- science of behaviour, work and participation.</a:t>
            </a:r>
          </a:p>
          <a:p>
            <a:pPr marL="457200" indent="-457200" algn="just">
              <a:buFont typeface="Symbol" pitchFamily="18" charset="2"/>
              <a:buNone/>
            </a:pPr>
            <a:r>
              <a:rPr lang="en-IN" altLang="en-US" sz="2200" dirty="0"/>
              <a:t>	In the present day science, are we taking care of </a:t>
            </a:r>
          </a:p>
          <a:p>
            <a:pPr lvl="2" algn="just"/>
            <a:r>
              <a:rPr lang="en-IN" altLang="en-US" sz="2200" dirty="0"/>
              <a:t>all three (science of behaviour, work and participation)?</a:t>
            </a:r>
          </a:p>
          <a:p>
            <a:pPr lvl="2" algn="just"/>
            <a:r>
              <a:rPr lang="en-IN" altLang="en-US" sz="2200" dirty="0"/>
              <a:t>only the science of work, in all aspects of it?</a:t>
            </a:r>
          </a:p>
          <a:p>
            <a:pPr lvl="2" algn="just"/>
            <a:r>
              <a:rPr lang="en-IN" altLang="en-US" sz="2200" dirty="0"/>
              <a:t>only the science of work, in only some limited aspects of it?</a:t>
            </a:r>
          </a:p>
          <a:p>
            <a:pPr marL="457200" indent="-457200" algn="just">
              <a:buFont typeface="Symbol" pitchFamily="18" charset="2"/>
              <a:buAutoNum type="arabicPeriod" startAt="2"/>
            </a:pPr>
            <a:r>
              <a:rPr lang="en-IN" altLang="en-US" sz="2200" dirty="0"/>
              <a:t>In the science of participation, what do you see as your role at different levels- family order to nation to world family order?</a:t>
            </a:r>
          </a:p>
          <a:p>
            <a:pPr marL="457200" indent="-457200" algn="just">
              <a:buFont typeface="Symbol" pitchFamily="18" charset="2"/>
              <a:buAutoNum type="arabicPeriod" startAt="3"/>
            </a:pPr>
            <a:r>
              <a:rPr lang="en-IN" altLang="en-US" sz="2200" dirty="0"/>
              <a:t>Does the present education system prepare you for there roles?</a:t>
            </a:r>
          </a:p>
          <a:p>
            <a:pPr marL="457200" indent="-457200" algn="just">
              <a:buFont typeface="Symbol" pitchFamily="18" charset="2"/>
              <a:buNone/>
            </a:pPr>
            <a:r>
              <a:rPr lang="en-IN" altLang="en-US" sz="2200" dirty="0"/>
              <a:t>4.	What change is required in the present education system? </a:t>
            </a: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53078084-1A98-4572-893A-3B4D5B709BE3}"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4</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:V</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7C649F-4EDF-424C-BF00-AAF216359982}"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dirty="0">
                <a:latin typeface="+mn-lt"/>
              </a:rPr>
              <a:t>Prerequisite</a:t>
            </a:r>
            <a:r>
              <a:rPr lang="en-US" altLang="en-US" sz="3000" dirty="0"/>
              <a:t> to Topic 5</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a:extLst>
              <a:ext uri="{FF2B5EF4-FFF2-40B4-BE49-F238E27FC236}">
                <a16:creationId xmlns="" xmlns:a16="http://schemas.microsoft.com/office/drawing/2014/main" id="{442F0F3C-739A-40F3-BDC7-35EFD6696EF7}"/>
              </a:ext>
            </a:extLst>
          </p:cNvPr>
          <p:cNvGraphicFramePr>
            <a:graphicFrameLocks noGrp="1"/>
          </p:cNvGraphicFramePr>
          <p:nvPr>
            <p:extLst>
              <p:ext uri="{D42A27DB-BD31-4B8C-83A1-F6EECF244321}">
                <p14:modId xmlns="" xmlns:p14="http://schemas.microsoft.com/office/powerpoint/2010/main" val="545628959"/>
              </p:ext>
            </p:extLst>
          </p:nvPr>
        </p:nvGraphicFramePr>
        <p:xfrm>
          <a:off x="533400" y="1066800"/>
          <a:ext cx="8077200" cy="2026920"/>
        </p:xfrm>
        <a:graphic>
          <a:graphicData uri="http://schemas.openxmlformats.org/drawingml/2006/table">
            <a:tbl>
              <a:tblPr firstRow="1" bandRow="1">
                <a:tableStyleId>{5C22544A-7EE6-4342-B048-85BDC9FD1C3A}</a:tableStyleId>
              </a:tblPr>
              <a:tblGrid>
                <a:gridCol w="8077200">
                  <a:extLst>
                    <a:ext uri="{9D8B030D-6E8A-4147-A177-3AD203B41FA5}">
                      <a16:colId xmlns="" xmlns:a16="http://schemas.microsoft.com/office/drawing/2014/main" val="3762556906"/>
                    </a:ext>
                  </a:extLst>
                </a:gridCol>
              </a:tblGrid>
              <a:tr h="461652">
                <a:tc>
                  <a:txBody>
                    <a:bodyPr/>
                    <a:lstStyle/>
                    <a:p>
                      <a:pPr algn="ctr"/>
                      <a:r>
                        <a:rPr lang="en-IN" sz="2400" dirty="0">
                          <a:latin typeface="+mn-lt"/>
                        </a:rPr>
                        <a:t>Prerequisite</a:t>
                      </a:r>
                    </a:p>
                  </a:txBody>
                  <a:tcPr/>
                </a:tc>
                <a:extLst>
                  <a:ext uri="{0D108BD9-81ED-4DB2-BD59-A6C34878D82A}">
                    <a16:rowId xmlns="" xmlns:a16="http://schemas.microsoft.com/office/drawing/2014/main" val="3830064644"/>
                  </a:ext>
                </a:extLst>
              </a:tr>
              <a:tr h="1565268">
                <a:tc>
                  <a:txBody>
                    <a:bodyPr/>
                    <a:lstStyle/>
                    <a:p>
                      <a:pPr marL="0" indent="0" algn="just">
                        <a:buFont typeface="Arial" panose="020B0604020202020204" pitchFamily="34" charset="0"/>
                        <a:buNone/>
                      </a:pPr>
                      <a:r>
                        <a:rPr lang="en-US" sz="2200" dirty="0">
                          <a:latin typeface="+mn-lt"/>
                          <a:ea typeface="Calibri"/>
                          <a:cs typeface="Times New Roman"/>
                        </a:rPr>
                        <a:t>Student should be familiar</a:t>
                      </a:r>
                      <a:r>
                        <a:rPr lang="en-US" sz="2200" baseline="0" dirty="0">
                          <a:latin typeface="+mn-lt"/>
                          <a:ea typeface="Calibri"/>
                          <a:cs typeface="Times New Roman"/>
                        </a:rPr>
                        <a:t> to concepts right understanding, harmony, Human being as an Existence, Awakening of higher activities of the self and higher activities then guiding the lower activities of the self.</a:t>
                      </a:r>
                      <a:endParaRPr lang="en-IN" sz="2200" dirty="0">
                        <a:latin typeface="+mn-lt"/>
                      </a:endParaRPr>
                    </a:p>
                    <a:p>
                      <a:pPr algn="just"/>
                      <a:endParaRPr lang="en-IN" sz="2200" dirty="0">
                        <a:latin typeface="+mn-lt"/>
                      </a:endParaRP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286945957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176818-0263-45E8-A8BD-E1EEC5AB2045}"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Introduction to Topic 5</a:t>
            </a:r>
            <a:endParaRPr lang="en-US" sz="3000"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2" name="Table 8">
            <a:extLst>
              <a:ext uri="{FF2B5EF4-FFF2-40B4-BE49-F238E27FC236}">
                <a16:creationId xmlns="" xmlns:a16="http://schemas.microsoft.com/office/drawing/2014/main" id="{C00455C5-365A-49B7-9271-2B297026341D}"/>
              </a:ext>
            </a:extLst>
          </p:cNvPr>
          <p:cNvGraphicFramePr>
            <a:graphicFrameLocks noGrp="1"/>
          </p:cNvGraphicFramePr>
          <p:nvPr/>
        </p:nvGraphicFramePr>
        <p:xfrm>
          <a:off x="609600" y="1402080"/>
          <a:ext cx="8060055" cy="2229492"/>
        </p:xfrm>
        <a:graphic>
          <a:graphicData uri="http://schemas.openxmlformats.org/drawingml/2006/table">
            <a:tbl>
              <a:tblPr firstRow="1" bandRow="1">
                <a:tableStyleId>{5C22544A-7EE6-4342-B048-85BDC9FD1C3A}</a:tableStyleId>
              </a:tblPr>
              <a:tblGrid>
                <a:gridCol w="2286000">
                  <a:extLst>
                    <a:ext uri="{9D8B030D-6E8A-4147-A177-3AD203B41FA5}">
                      <a16:colId xmlns="" xmlns:a16="http://schemas.microsoft.com/office/drawing/2014/main" val="3762556906"/>
                    </a:ext>
                  </a:extLst>
                </a:gridCol>
                <a:gridCol w="3352800">
                  <a:extLst>
                    <a:ext uri="{9D8B030D-6E8A-4147-A177-3AD203B41FA5}">
                      <a16:colId xmlns="" xmlns:a16="http://schemas.microsoft.com/office/drawing/2014/main" val="3051182208"/>
                    </a:ext>
                  </a:extLst>
                </a:gridCol>
                <a:gridCol w="2421255">
                  <a:extLst>
                    <a:ext uri="{9D8B030D-6E8A-4147-A177-3AD203B41FA5}">
                      <a16:colId xmlns="" xmlns:a16="http://schemas.microsoft.com/office/drawing/2014/main" val="458174207"/>
                    </a:ext>
                  </a:extLst>
                </a:gridCol>
              </a:tblGrid>
              <a:tr h="461652">
                <a:tc>
                  <a:txBody>
                    <a:bodyPr/>
                    <a:lstStyle/>
                    <a:p>
                      <a:r>
                        <a:rPr lang="en-IN" sz="2200" dirty="0">
                          <a:latin typeface="+mn-lt"/>
                        </a:rPr>
                        <a:t>Name of Topic</a:t>
                      </a:r>
                    </a:p>
                  </a:txBody>
                  <a:tcPr/>
                </a:tc>
                <a:tc>
                  <a:txBody>
                    <a:bodyPr/>
                    <a:lstStyle/>
                    <a:p>
                      <a:r>
                        <a:rPr lang="en-IN" sz="2200" dirty="0">
                          <a:latin typeface="+mn-lt"/>
                        </a:rPr>
                        <a:t>Objective of Topic</a:t>
                      </a:r>
                    </a:p>
                  </a:txBody>
                  <a:tcPr/>
                </a:tc>
                <a:tc>
                  <a:txBody>
                    <a:bodyPr/>
                    <a:lstStyle/>
                    <a:p>
                      <a:r>
                        <a:rPr lang="en-IN" sz="2200" dirty="0">
                          <a:latin typeface="+mn-lt"/>
                        </a:rPr>
                        <a:t>Mapping with CO</a:t>
                      </a:r>
                    </a:p>
                  </a:txBody>
                  <a:tcPr/>
                </a:tc>
                <a:extLst>
                  <a:ext uri="{0D108BD9-81ED-4DB2-BD59-A6C34878D82A}">
                    <a16:rowId xmlns="" xmlns:a16="http://schemas.microsoft.com/office/drawing/2014/main" val="3830064644"/>
                  </a:ext>
                </a:extLst>
              </a:tr>
              <a:tr h="1565268">
                <a:tc>
                  <a:txBody>
                    <a:bodyPr/>
                    <a:lstStyle/>
                    <a:p>
                      <a:pPr algn="just"/>
                      <a:r>
                        <a:rPr lang="en-IN" altLang="en-US" sz="2200" b="0" kern="1200" dirty="0">
                          <a:solidFill>
                            <a:schemeClr val="dk1"/>
                          </a:solidFill>
                          <a:latin typeface="+mn-lt"/>
                          <a:ea typeface="+mn-ea"/>
                          <a:cs typeface="Arial" panose="020B0604020202020204" pitchFamily="34" charset="0"/>
                        </a:rPr>
                        <a:t>Undivided Society, Universal Human Order, Human Tradition</a:t>
                      </a:r>
                      <a:endParaRPr lang="en-IN" sz="2200" dirty="0">
                        <a:latin typeface="+mn-lt"/>
                      </a:endParaRPr>
                    </a:p>
                  </a:txBody>
                  <a:tcPr/>
                </a:tc>
                <a:tc>
                  <a:txBody>
                    <a:bodyPr/>
                    <a:lstStyle/>
                    <a:p>
                      <a:pPr algn="just"/>
                      <a:r>
                        <a:rPr lang="en-IN" sz="2200" dirty="0">
                          <a:latin typeface="+mn-lt"/>
                        </a:rPr>
                        <a:t>Students will be able to understand their </a:t>
                      </a:r>
                      <a:r>
                        <a:rPr lang="en-IN" sz="2200" dirty="0" err="1">
                          <a:latin typeface="+mn-lt"/>
                        </a:rPr>
                        <a:t>behavior</a:t>
                      </a:r>
                      <a:r>
                        <a:rPr lang="en-IN" sz="2200" dirty="0">
                          <a:latin typeface="+mn-lt"/>
                        </a:rPr>
                        <a:t>, work and participation from family order to the world family order.</a:t>
                      </a:r>
                    </a:p>
                  </a:txBody>
                  <a:tcPr/>
                </a:tc>
                <a:tc>
                  <a:txBody>
                    <a:bodyPr/>
                    <a:lstStyle/>
                    <a:p>
                      <a:pPr algn="ctr"/>
                      <a:endParaRPr lang="en-IN" sz="2200" dirty="0">
                        <a:latin typeface="+mn-lt"/>
                      </a:endParaRPr>
                    </a:p>
                    <a:p>
                      <a:pPr algn="ctr"/>
                      <a:r>
                        <a:rPr lang="en-IN" sz="2200" dirty="0">
                          <a:latin typeface="+mn-lt"/>
                        </a:rPr>
                        <a:t>CO 5</a:t>
                      </a:r>
                    </a:p>
                  </a:txBody>
                  <a:tcPr/>
                </a:tc>
                <a:extLst>
                  <a:ext uri="{0D108BD9-81ED-4DB2-BD59-A6C34878D82A}">
                    <a16:rowId xmlns="" xmlns:a16="http://schemas.microsoft.com/office/drawing/2014/main" val="2300639783"/>
                  </a:ext>
                </a:extLst>
              </a:tr>
            </a:tbl>
          </a:graphicData>
        </a:graphic>
      </p:graphicFrame>
    </p:spTree>
    <p:extLst>
      <p:ext uri="{BB962C8B-B14F-4D97-AF65-F5344CB8AC3E}">
        <p14:creationId xmlns="" xmlns:p14="http://schemas.microsoft.com/office/powerpoint/2010/main" val="75800799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849A67-8B57-47F1-AC66-09BF5B8E605A}"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HB– Basis of Selection, Tasting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F4C510EB-55B0-4203-A7A8-6EAF151CC392}"/>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817164"/>
            <a:ext cx="8458200" cy="5079890"/>
          </a:xfrm>
        </p:spPr>
      </p:pic>
    </p:spTree>
    <p:extLst>
      <p:ext uri="{BB962C8B-B14F-4D97-AF65-F5344CB8AC3E}">
        <p14:creationId xmlns="" xmlns:p14="http://schemas.microsoft.com/office/powerpoint/2010/main" val="138855364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3758DC-18AD-427B-A692-1EA2AF5B561E}"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Sources of Happiness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C6FDF303-D7DE-4BEC-9EF2-FB9909F5D5B7}"/>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914400"/>
            <a:ext cx="8382000" cy="4944547"/>
          </a:xfrm>
        </p:spPr>
      </p:pic>
    </p:spTree>
    <p:extLst>
      <p:ext uri="{BB962C8B-B14F-4D97-AF65-F5344CB8AC3E}">
        <p14:creationId xmlns="" xmlns:p14="http://schemas.microsoft.com/office/powerpoint/2010/main" val="646830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12AA2BE-36CB-4BF0-8629-9D07CB034F2A}"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Sources of Excitement (Temporary Happiness)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11" name="Content Placeholder 10">
            <a:extLst>
              <a:ext uri="{FF2B5EF4-FFF2-40B4-BE49-F238E27FC236}">
                <a16:creationId xmlns="" xmlns:a16="http://schemas.microsoft.com/office/drawing/2014/main" id="{E073B5EA-30BA-4484-A720-21015613F078}"/>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609600" y="914400"/>
            <a:ext cx="8229600" cy="4163388"/>
          </a:xfrm>
        </p:spPr>
      </p:pic>
    </p:spTree>
    <p:extLst>
      <p:ext uri="{BB962C8B-B14F-4D97-AF65-F5344CB8AC3E}">
        <p14:creationId xmlns="" xmlns:p14="http://schemas.microsoft.com/office/powerpoint/2010/main" val="295502291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A528E0-582D-401D-9FFA-751C652D62C7}"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Sources of Continuous Happiness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10" name="Content Placeholder 9">
            <a:extLst>
              <a:ext uri="{FF2B5EF4-FFF2-40B4-BE49-F238E27FC236}">
                <a16:creationId xmlns="" xmlns:a16="http://schemas.microsoft.com/office/drawing/2014/main" id="{A6ED8AFD-F669-4D17-B9EC-8B80D066D68F}"/>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990600"/>
            <a:ext cx="8382000" cy="3830020"/>
          </a:xfrm>
        </p:spPr>
      </p:pic>
    </p:spTree>
    <p:extLst>
      <p:ext uri="{BB962C8B-B14F-4D97-AF65-F5344CB8AC3E}">
        <p14:creationId xmlns="" xmlns:p14="http://schemas.microsoft.com/office/powerpoint/2010/main" val="55075878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A4429D-FB07-45C9-BB52-708D62A2A4EE}"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Purpose of  Right Understanding, Right Feeling, Sensation/PF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56F825DF-7D1D-488C-93A5-EDAF4B3457FB}"/>
              </a:ext>
            </a:extLst>
          </p:cNvPr>
          <p:cNvSpPr>
            <a:spLocks noGrp="1"/>
          </p:cNvSpPr>
          <p:nvPr>
            <p:ph idx="1"/>
          </p:nvPr>
        </p:nvSpPr>
        <p:spPr>
          <a:xfrm>
            <a:off x="76200" y="817163"/>
            <a:ext cx="9067800" cy="5539187"/>
          </a:xfrm>
        </p:spPr>
        <p:txBody>
          <a:bodyPr>
            <a:noAutofit/>
          </a:bodyPr>
          <a:lstStyle/>
          <a:p>
            <a:pPr marL="457200" indent="-457200">
              <a:buFont typeface="Symbol" pitchFamily="18" charset="2"/>
              <a:buAutoNum type="arabicPeriod"/>
              <a:defRPr/>
            </a:pPr>
            <a:r>
              <a:rPr lang="en-IN" sz="2200" b="1" dirty="0"/>
              <a:t>Right Understanding</a:t>
            </a:r>
          </a:p>
          <a:p>
            <a:pPr marL="457200" indent="-457200">
              <a:buFont typeface="Symbol" pitchFamily="18" charset="2"/>
              <a:buNone/>
              <a:defRPr/>
            </a:pPr>
            <a:r>
              <a:rPr lang="en-IN" sz="2200" dirty="0"/>
              <a:t>				</a:t>
            </a:r>
            <a:r>
              <a:rPr lang="en-IN" sz="2200" dirty="0">
                <a:solidFill>
                  <a:srgbClr val="1E00AA"/>
                </a:solidFill>
              </a:rPr>
              <a:t>Harmony at all levels of being</a:t>
            </a:r>
          </a:p>
          <a:p>
            <a:pPr marL="457200" indent="-457200">
              <a:buFont typeface="Symbol" pitchFamily="18" charset="2"/>
              <a:buNone/>
              <a:defRPr/>
            </a:pPr>
            <a:r>
              <a:rPr lang="en-IN" sz="2200" dirty="0">
                <a:solidFill>
                  <a:srgbClr val="1E00AA"/>
                </a:solidFill>
              </a:rPr>
              <a:t>				Human Being, Family, </a:t>
            </a:r>
            <a:r>
              <a:rPr lang="en-IN" sz="2200" dirty="0" err="1">
                <a:solidFill>
                  <a:srgbClr val="1E00AA"/>
                </a:solidFill>
              </a:rPr>
              <a:t>Society,Nature</a:t>
            </a:r>
            <a:r>
              <a:rPr lang="en-IN" sz="2200" dirty="0">
                <a:solidFill>
                  <a:srgbClr val="1E00AA"/>
                </a:solidFill>
              </a:rPr>
              <a:t>/Existence</a:t>
            </a:r>
          </a:p>
          <a:p>
            <a:pPr>
              <a:buFont typeface="Symbol" pitchFamily="18" charset="2"/>
              <a:buNone/>
              <a:defRPr/>
            </a:pPr>
            <a:r>
              <a:rPr lang="en-IN" sz="2200" dirty="0"/>
              <a:t>	– in Self (I)		for happiness in the Self(I), definite completion pt.</a:t>
            </a:r>
          </a:p>
          <a:p>
            <a:pPr>
              <a:buFont typeface="Symbol" pitchFamily="18" charset="2"/>
              <a:buNone/>
              <a:defRPr/>
            </a:pPr>
            <a:r>
              <a:rPr lang="en-IN" sz="2200" b="1" dirty="0"/>
              <a:t>2. Right Feeling 	</a:t>
            </a:r>
            <a:r>
              <a:rPr lang="en-IN" sz="2200" dirty="0">
                <a:solidFill>
                  <a:srgbClr val="1E00AA"/>
                </a:solidFill>
              </a:rPr>
              <a:t>Trust, Respect, Affection, Care, Guidance, </a:t>
            </a:r>
          </a:p>
          <a:p>
            <a:pPr>
              <a:buFont typeface="Symbol" pitchFamily="18" charset="2"/>
              <a:buNone/>
              <a:defRPr/>
            </a:pPr>
            <a:r>
              <a:rPr lang="en-IN" sz="2200" dirty="0">
                <a:solidFill>
                  <a:srgbClr val="1E00AA"/>
                </a:solidFill>
              </a:rPr>
              <a:t>				Reverence, Glory, Gratitude, Love</a:t>
            </a:r>
          </a:p>
          <a:p>
            <a:pPr>
              <a:buFont typeface="Symbol" pitchFamily="18" charset="2"/>
              <a:buNone/>
              <a:defRPr/>
            </a:pPr>
            <a:r>
              <a:rPr lang="en-IN" sz="2200" dirty="0"/>
              <a:t>	– in Self (I)		for happiness in the Self(I), definite completion pt.</a:t>
            </a:r>
          </a:p>
          <a:p>
            <a:pPr>
              <a:buFont typeface="Symbol" pitchFamily="18" charset="2"/>
              <a:buNone/>
              <a:defRPr/>
            </a:pPr>
            <a:r>
              <a:rPr lang="en-IN" sz="2200" dirty="0"/>
              <a:t>	– From Other	For evaluating state of other Self(I)</a:t>
            </a:r>
          </a:p>
          <a:p>
            <a:pPr>
              <a:buFont typeface="Symbol" pitchFamily="18" charset="2"/>
              <a:buNone/>
              <a:defRPr/>
            </a:pPr>
            <a:r>
              <a:rPr lang="en-IN" sz="2200" dirty="0"/>
              <a:t>				to identify complementarity in relationship</a:t>
            </a:r>
          </a:p>
          <a:p>
            <a:pPr>
              <a:buFont typeface="Symbol" pitchFamily="18" charset="2"/>
              <a:buNone/>
              <a:defRPr/>
            </a:pPr>
            <a:r>
              <a:rPr lang="en-IN" sz="2200" dirty="0"/>
              <a:t>3. </a:t>
            </a:r>
            <a:r>
              <a:rPr lang="en-IN" sz="2200" b="1" dirty="0"/>
              <a:t>Sensation, PF 	</a:t>
            </a:r>
            <a:r>
              <a:rPr lang="en-IN" sz="2200" dirty="0">
                <a:solidFill>
                  <a:srgbClr val="1E00AA"/>
                </a:solidFill>
              </a:rPr>
              <a:t>Sound, Touch, Form, Taste, Smell</a:t>
            </a:r>
          </a:p>
          <a:p>
            <a:pPr>
              <a:buFont typeface="Symbol" pitchFamily="18" charset="2"/>
              <a:buNone/>
              <a:defRPr/>
            </a:pPr>
            <a:r>
              <a:rPr lang="en-IN" sz="2200" dirty="0"/>
              <a:t>	– Through Body	For evaluating state of physical facility</a:t>
            </a:r>
          </a:p>
          <a:p>
            <a:pPr>
              <a:buFont typeface="Symbol" pitchFamily="18" charset="2"/>
              <a:buNone/>
              <a:defRPr/>
            </a:pPr>
            <a:r>
              <a:rPr lang="en-IN" sz="2200" dirty="0"/>
              <a:t>				to identify if it is OK for nurturing, protection</a:t>
            </a:r>
          </a:p>
          <a:p>
            <a:pPr>
              <a:buFont typeface="Symbol" pitchFamily="18" charset="2"/>
              <a:buNone/>
              <a:defRPr/>
            </a:pPr>
            <a:r>
              <a:rPr lang="en-IN" sz="2200" dirty="0"/>
              <a:t>				of body (health of body)</a:t>
            </a:r>
          </a:p>
          <a:p>
            <a:pPr>
              <a:buFont typeface="Symbol" pitchFamily="18" charset="2"/>
              <a:buNone/>
              <a:defRPr/>
            </a:pPr>
            <a:r>
              <a:rPr lang="en-IN" sz="2200" dirty="0"/>
              <a:t>				For behaviour / work, sharing knowledge, feeling</a:t>
            </a:r>
          </a:p>
          <a:p>
            <a:endParaRPr lang="en-IN" sz="2200" dirty="0"/>
          </a:p>
        </p:txBody>
      </p:sp>
    </p:spTree>
    <p:extLst>
      <p:ext uri="{BB962C8B-B14F-4D97-AF65-F5344CB8AC3E}">
        <p14:creationId xmlns="" xmlns:p14="http://schemas.microsoft.com/office/powerpoint/2010/main" val="41778821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3D200E5-804A-4A6A-BD76-DCD0E6EEBFFF}"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1600" y="622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HB– Basis of Selection, Tasting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011968F2-A107-497F-8283-B9B801A56150}"/>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1447800"/>
            <a:ext cx="8382000" cy="2981459"/>
          </a:xfrm>
        </p:spPr>
      </p:pic>
    </p:spTree>
    <p:extLst>
      <p:ext uri="{BB962C8B-B14F-4D97-AF65-F5344CB8AC3E}">
        <p14:creationId xmlns="" xmlns:p14="http://schemas.microsoft.com/office/powerpoint/2010/main" val="346785703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D2F9EF-D125-4ECA-B50E-86B0666B36A4}"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HB– Basis of Selection, Tasting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Picture 15" descr="Picture5.png">
            <a:extLst>
              <a:ext uri="{FF2B5EF4-FFF2-40B4-BE49-F238E27FC236}">
                <a16:creationId xmlns="" xmlns:a16="http://schemas.microsoft.com/office/drawing/2014/main" id="{A6A95D57-9830-4ED4-8E8D-BEF3916527D5}"/>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rcRect/>
          <a:stretch>
            <a:fillRect/>
          </a:stretch>
        </p:blipFill>
        <p:spPr bwMode="auto">
          <a:xfrm>
            <a:off x="304800" y="718278"/>
            <a:ext cx="8686800" cy="56380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25306977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1B166D-9462-4E36-89F2-2D3826014428}"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Basis of Selection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 xmlns:a16="http://schemas.microsoft.com/office/drawing/2014/main" id="{56F825DF-7D1D-488C-93A5-EDAF4B3457FB}"/>
              </a:ext>
            </a:extLst>
          </p:cNvPr>
          <p:cNvSpPr>
            <a:spLocks noGrp="1"/>
          </p:cNvSpPr>
          <p:nvPr>
            <p:ph idx="1"/>
          </p:nvPr>
        </p:nvSpPr>
        <p:spPr>
          <a:xfrm>
            <a:off x="152400" y="817164"/>
            <a:ext cx="8991600" cy="5309000"/>
          </a:xfrm>
        </p:spPr>
        <p:txBody>
          <a:bodyPr>
            <a:noAutofit/>
          </a:bodyPr>
          <a:lstStyle/>
          <a:p>
            <a:pPr algn="just">
              <a:defRPr/>
            </a:pPr>
            <a:r>
              <a:rPr lang="en-IN" sz="2200" dirty="0"/>
              <a:t>Selecting on the basis of human goal based tasting</a:t>
            </a:r>
          </a:p>
          <a:p>
            <a:pPr marL="857250" lvl="1" indent="-457200" algn="just">
              <a:buFont typeface="Symbol" pitchFamily="18" charset="2"/>
              <a:buAutoNum type="alphaLcParenR"/>
              <a:defRPr/>
            </a:pPr>
            <a:r>
              <a:rPr lang="en-IN" sz="2200" dirty="0"/>
              <a:t>Awakening (in the self) – Harmony in the self leading to happiness, peace, satisfaction, bliss in the self (based on comparing on the basis of co-existence)</a:t>
            </a:r>
          </a:p>
          <a:p>
            <a:pPr marL="857250" lvl="1" indent="-457200" algn="just">
              <a:buFont typeface="Symbol" pitchFamily="18" charset="2"/>
              <a:buAutoNum type="alphaLcParenR"/>
              <a:defRPr/>
            </a:pPr>
            <a:r>
              <a:rPr lang="en-IN" sz="2200" dirty="0"/>
              <a:t>Harmony (with entire nature) – Participation in larger order leading to 1-right understanding, and resolution (right feeling &amp; right thought) in the self, 2-prosperity in every family, 3-fearlessness (trust) in society and 4-co-existence in existence (based on comparing on the basis of harmony)</a:t>
            </a:r>
          </a:p>
          <a:p>
            <a:pPr marL="457200" indent="-457200" algn="just">
              <a:buFont typeface="Symbol" pitchFamily="18" charset="2"/>
              <a:buNone/>
              <a:defRPr/>
            </a:pPr>
            <a:endParaRPr lang="en-IN" sz="2200" dirty="0"/>
          </a:p>
          <a:p>
            <a:pPr algn="just">
              <a:defRPr/>
            </a:pPr>
            <a:r>
              <a:rPr lang="en-IN" sz="2200" dirty="0"/>
              <a:t>Selecting on the basis of human value (feeling) based tasting </a:t>
            </a:r>
          </a:p>
          <a:p>
            <a:pPr algn="just">
              <a:defRPr/>
            </a:pPr>
            <a:r>
              <a:rPr lang="en-IN" sz="2200" dirty="0"/>
              <a:t>Justice in behaviour with human being (based on comparing on the basis of justice</a:t>
            </a:r>
          </a:p>
          <a:p>
            <a:pPr marL="457200" indent="-457200">
              <a:buFont typeface="Symbol" pitchFamily="18" charset="2"/>
              <a:buNone/>
              <a:defRPr/>
            </a:pPr>
            <a:endParaRPr lang="en-IN" sz="2200" dirty="0"/>
          </a:p>
          <a:p>
            <a:pPr marL="457200" indent="-457200">
              <a:buFont typeface="Symbol" pitchFamily="18" charset="2"/>
              <a:buNone/>
              <a:defRPr/>
            </a:pPr>
            <a:endParaRPr lang="en-IN" sz="2200" dirty="0"/>
          </a:p>
          <a:p>
            <a:pPr marL="457200" indent="-457200">
              <a:buFont typeface="Symbol" pitchFamily="18" charset="2"/>
              <a:buNone/>
              <a:defRPr/>
            </a:pPr>
            <a:endParaRPr lang="en-IN" sz="2200" dirty="0"/>
          </a:p>
          <a:p>
            <a:endParaRPr lang="en-IN" sz="2200" dirty="0"/>
          </a:p>
        </p:txBody>
      </p:sp>
      <p:cxnSp>
        <p:nvCxnSpPr>
          <p:cNvPr id="9" name="Straight Arrow Connector 8">
            <a:extLst>
              <a:ext uri="{FF2B5EF4-FFF2-40B4-BE49-F238E27FC236}">
                <a16:creationId xmlns="" xmlns:a16="http://schemas.microsoft.com/office/drawing/2014/main" id="{1010FF65-834A-4033-91C7-61A08B81335E}"/>
              </a:ext>
            </a:extLst>
          </p:cNvPr>
          <p:cNvCxnSpPr>
            <a:cxnSpLocks/>
          </p:cNvCxnSpPr>
          <p:nvPr/>
        </p:nvCxnSpPr>
        <p:spPr bwMode="auto">
          <a:xfrm>
            <a:off x="2514601" y="5410200"/>
            <a:ext cx="2" cy="7159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349008783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3F444D-843F-488B-B710-63427962A3AE}"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240B7719-9DAD-43D8-AF80-2D5917FA39C2}"/>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457200" y="990600"/>
            <a:ext cx="8381999" cy="5029199"/>
          </a:xfrm>
        </p:spPr>
      </p:pic>
    </p:spTree>
    <p:extLst>
      <p:ext uri="{BB962C8B-B14F-4D97-AF65-F5344CB8AC3E}">
        <p14:creationId xmlns="" xmlns:p14="http://schemas.microsoft.com/office/powerpoint/2010/main" val="369155302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B013B6-828F-492F-A975-09291B9CF2B6}"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000" dirty="0"/>
              <a:t>Knowledge of Human Being – Activities of Self (I) [CO5]</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 xmlns:a16="http://schemas.microsoft.com/office/drawing/2014/main" id="{E3989F5F-B591-439B-9D1A-628661A0E0B7}"/>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304800" y="817162"/>
            <a:ext cx="8763000" cy="5278837"/>
          </a:xfrm>
        </p:spPr>
      </p:pic>
    </p:spTree>
    <p:extLst>
      <p:ext uri="{BB962C8B-B14F-4D97-AF65-F5344CB8AC3E}">
        <p14:creationId xmlns="" xmlns:p14="http://schemas.microsoft.com/office/powerpoint/2010/main" val="387041437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85413"/>
            <a:ext cx="8915400" cy="5539187"/>
          </a:xfrm>
        </p:spPr>
        <p:txBody>
          <a:bodyPr>
            <a:normAutofit/>
          </a:bodyPr>
          <a:lstStyle/>
          <a:p>
            <a:pPr marL="457200" indent="-457200" algn="just">
              <a:buFont typeface="+mj-lt"/>
              <a:buAutoNum type="arabicPeriod"/>
            </a:pPr>
            <a:r>
              <a:rPr lang="en-US" sz="2200" dirty="0">
                <a:solidFill>
                  <a:srgbClr val="000000"/>
                </a:solidFill>
                <a:effectLst/>
                <a:ea typeface="Arial Unicode MS"/>
              </a:rPr>
              <a:t>____________ means physical facilities more than to satisfy my needs.</a:t>
            </a:r>
          </a:p>
          <a:p>
            <a:pPr marL="400050" lvl="1" indent="0" algn="just">
              <a:buNone/>
            </a:pPr>
            <a:r>
              <a:rPr lang="en-US" sz="2200" b="1" dirty="0">
                <a:effectLst/>
                <a:ea typeface="Arial Unicode MS"/>
              </a:rPr>
              <a:t>Answer: </a:t>
            </a:r>
            <a:r>
              <a:rPr lang="en-US" sz="2200" b="1" dirty="0">
                <a:solidFill>
                  <a:srgbClr val="000000"/>
                </a:solidFill>
                <a:ea typeface="Arial Unicode MS"/>
              </a:rPr>
              <a:t>prosperity</a:t>
            </a:r>
            <a:endParaRPr lang="en-US" sz="2200" dirty="0">
              <a:effectLst/>
              <a:ea typeface="Calibri" panose="020F0502020204030204" pitchFamily="34" charset="0"/>
            </a:endParaRPr>
          </a:p>
          <a:p>
            <a:pPr marL="457200" indent="-457200" algn="just">
              <a:buFont typeface="+mj-lt"/>
              <a:buAutoNum type="arabicPeriod"/>
            </a:pPr>
            <a:r>
              <a:rPr lang="en-US" sz="2200" dirty="0">
                <a:solidFill>
                  <a:srgbClr val="000000"/>
                </a:solidFill>
                <a:effectLst/>
                <a:ea typeface="Arial Unicode MS"/>
              </a:rPr>
              <a:t>Self and ______________ are different in nature, materiality, needs and activities.</a:t>
            </a:r>
          </a:p>
          <a:p>
            <a:pPr marL="400050" lvl="1" indent="0" algn="just">
              <a:buNone/>
            </a:pPr>
            <a:r>
              <a:rPr lang="en-US" sz="2200" b="1" dirty="0">
                <a:effectLst/>
                <a:ea typeface="Arial Unicode MS"/>
              </a:rPr>
              <a:t>Answer: </a:t>
            </a:r>
            <a:r>
              <a:rPr lang="en-US" sz="2200" b="1" dirty="0">
                <a:solidFill>
                  <a:srgbClr val="000000"/>
                </a:solidFill>
                <a:ea typeface="Helvetica Neue"/>
                <a:cs typeface="Helvetica Neue"/>
              </a:rPr>
              <a:t>body</a:t>
            </a:r>
            <a:endParaRPr lang="en-IN" sz="2200" b="1" dirty="0">
              <a:solidFill>
                <a:srgbClr val="000000"/>
              </a:solidFill>
              <a:effectLst/>
              <a:ea typeface="Helvetica Neue"/>
              <a:cs typeface="Helvetica Neue"/>
            </a:endParaRPr>
          </a:p>
          <a:p>
            <a:pPr marL="457200" indent="-457200" algn="just">
              <a:buFont typeface="+mj-lt"/>
              <a:buAutoNum type="arabicPeriod"/>
            </a:pPr>
            <a:r>
              <a:rPr lang="en-US" sz="2200" dirty="0">
                <a:effectLst/>
                <a:ea typeface="Arial Unicode MS"/>
              </a:rPr>
              <a:t>Any entity that has the activity of recognizing and fulfillment only can be called as _________.</a:t>
            </a:r>
          </a:p>
          <a:p>
            <a:pPr marL="400050" lvl="1" indent="0" algn="just">
              <a:buNone/>
            </a:pPr>
            <a:r>
              <a:rPr lang="en-US" sz="2200" b="1" dirty="0">
                <a:effectLst/>
                <a:ea typeface="Arial Unicode MS"/>
              </a:rPr>
              <a:t>Answer: </a:t>
            </a:r>
            <a:r>
              <a:rPr lang="en-IN" sz="2200" b="1" dirty="0">
                <a:effectLst/>
                <a:ea typeface="Arial Unicode MS"/>
              </a:rPr>
              <a:t>material entity</a:t>
            </a:r>
            <a:endParaRPr lang="en-IN" sz="2200" dirty="0">
              <a:effectLst/>
              <a:ea typeface="Calibri" panose="020F0502020204030204" pitchFamily="34" charset="0"/>
              <a:cs typeface="Times New Roman" panose="02020603050405020304" pitchFamily="18" charset="0"/>
            </a:endParaRPr>
          </a:p>
          <a:p>
            <a:pPr marL="457200" indent="-457200">
              <a:lnSpc>
                <a:spcPts val="1500"/>
              </a:lnSpc>
              <a:spcAft>
                <a:spcPts val="0"/>
              </a:spcAft>
              <a:buFont typeface="+mj-lt"/>
              <a:buAutoNum type="arabicPeriod"/>
            </a:pPr>
            <a:r>
              <a:rPr lang="en-IN" sz="2200" dirty="0">
                <a:solidFill>
                  <a:srgbClr val="000000"/>
                </a:solidFill>
                <a:effectLst/>
                <a:ea typeface="Times New Roman" panose="02020603050405020304" pitchFamily="18" charset="0"/>
              </a:rPr>
              <a:t>Based on the taste, the ______could be triggered.</a:t>
            </a:r>
            <a:endParaRPr lang="en-IN" sz="2200" dirty="0">
              <a:effectLst/>
              <a:ea typeface="Times New Roman" panose="02020603050405020304" pitchFamily="18" charset="0"/>
            </a:endParaRPr>
          </a:p>
          <a:p>
            <a:pPr marL="400050" lvl="1" indent="0">
              <a:buNone/>
            </a:pPr>
            <a:r>
              <a:rPr lang="en-US" sz="2200" b="1" dirty="0">
                <a:effectLst/>
                <a:ea typeface="Arial Unicode MS"/>
              </a:rPr>
              <a:t>Answer: thoughts</a:t>
            </a:r>
            <a:endParaRPr lang="en-IN" sz="2200" dirty="0">
              <a:effectLst/>
              <a:ea typeface="Calibri" panose="020F0502020204030204" pitchFamily="34" charset="0"/>
              <a:cs typeface="Times New Roman" panose="02020603050405020304" pitchFamily="18" charset="0"/>
            </a:endParaRPr>
          </a:p>
          <a:p>
            <a:pPr marL="457200" indent="-457200">
              <a:lnSpc>
                <a:spcPct val="107000"/>
              </a:lnSpc>
              <a:spcAft>
                <a:spcPts val="0"/>
              </a:spcAft>
              <a:buFont typeface="+mj-lt"/>
              <a:buAutoNum type="arabicPeriod"/>
            </a:pPr>
            <a:r>
              <a:rPr lang="en-US" sz="2200" dirty="0">
                <a:solidFill>
                  <a:srgbClr val="000000"/>
                </a:solidFill>
                <a:effectLst/>
                <a:ea typeface="Helvetica Neue"/>
                <a:cs typeface="Helvetica Neue"/>
              </a:rPr>
              <a:t>In I (self), recognizing and fulfillment depends on ____________.</a:t>
            </a:r>
          </a:p>
          <a:p>
            <a:pPr marL="400050" lvl="1" indent="0">
              <a:lnSpc>
                <a:spcPct val="107000"/>
              </a:lnSpc>
              <a:buNone/>
            </a:pPr>
            <a:r>
              <a:rPr lang="en-US" sz="2200" b="1" dirty="0">
                <a:effectLst/>
                <a:ea typeface="Arial Unicode MS"/>
              </a:rPr>
              <a:t>Answer: assuming</a:t>
            </a:r>
            <a:endParaRPr lang="en-IN" sz="2200" dirty="0">
              <a:solidFill>
                <a:srgbClr val="000000"/>
              </a:solidFill>
              <a:effectLst/>
              <a:ea typeface="Helvetica Neue"/>
              <a:cs typeface="Helvetica Neue"/>
            </a:endParaRPr>
          </a:p>
        </p:txBody>
      </p:sp>
      <p:sp>
        <p:nvSpPr>
          <p:cNvPr id="4" name="Date Placeholder 3"/>
          <p:cNvSpPr>
            <a:spLocks noGrp="1"/>
          </p:cNvSpPr>
          <p:nvPr>
            <p:ph type="dt" sz="half" idx="10"/>
          </p:nvPr>
        </p:nvSpPr>
        <p:spPr/>
        <p:txBody>
          <a:bodyPr/>
          <a:lstStyle/>
          <a:p>
            <a:fld id="{5575128F-DB7F-4BFA-9379-A7DD679658FC}"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dirty="0"/>
              <a:t>Daily Quiz</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415676450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7686700" cy="4597417"/>
          </a:xfrm>
        </p:spPr>
        <p:txBody>
          <a:bodyPr>
            <a:noAutofit/>
          </a:bodyPr>
          <a:lstStyle/>
          <a:p>
            <a:pPr algn="just" eaLnBrk="1" hangingPunct="1">
              <a:spcBef>
                <a:spcPct val="20000"/>
              </a:spcBef>
              <a:buFont typeface="Calibri" panose="020F0502020204030204" pitchFamily="34" charset="0"/>
              <a:buAutoNum type="arabicPeriod"/>
            </a:pPr>
            <a:r>
              <a:rPr lang="en-IN" altLang="en-US" sz="2200" dirty="0">
                <a:cs typeface="Arial" panose="020B0604020202020204" pitchFamily="34" charset="0"/>
              </a:rPr>
              <a:t>Behaviour- the feeling of love is at the base and from there you are coming down to affection for a particular individual or otherwise</a:t>
            </a:r>
          </a:p>
          <a:p>
            <a:pPr algn="just" eaLnBrk="1" hangingPunct="1">
              <a:spcBef>
                <a:spcPct val="20000"/>
              </a:spcBef>
              <a:buFont typeface="Calibri" panose="020F0502020204030204" pitchFamily="34" charset="0"/>
              <a:buAutoNum type="arabicPeriod"/>
            </a:pPr>
            <a:r>
              <a:rPr lang="en-IN" altLang="en-US" sz="2200" dirty="0">
                <a:cs typeface="Arial" panose="020B0604020202020204" pitchFamily="34" charset="0"/>
              </a:rPr>
              <a:t>Work- mutual </a:t>
            </a:r>
            <a:r>
              <a:rPr lang="en-IN" altLang="en-US" sz="2200" dirty="0" err="1">
                <a:cs typeface="Arial" panose="020B0604020202020204" pitchFamily="34" charset="0"/>
              </a:rPr>
              <a:t>fulfillment</a:t>
            </a:r>
            <a:r>
              <a:rPr lang="en-IN" altLang="en-US" sz="2200" dirty="0">
                <a:cs typeface="Arial" panose="020B0604020202020204" pitchFamily="34" charset="0"/>
              </a:rPr>
              <a:t> with entire nature is at the base and from there you are coming down to mutual </a:t>
            </a:r>
            <a:r>
              <a:rPr lang="en-IN" altLang="en-US" sz="2200" dirty="0" err="1">
                <a:cs typeface="Arial" panose="020B0604020202020204" pitchFamily="34" charset="0"/>
              </a:rPr>
              <a:t>fulfillment</a:t>
            </a:r>
            <a:r>
              <a:rPr lang="en-IN" altLang="en-US" sz="2200" dirty="0">
                <a:cs typeface="Arial" panose="020B0604020202020204" pitchFamily="34" charset="0"/>
              </a:rPr>
              <a:t> with natural resources you are working with or otherwise</a:t>
            </a:r>
          </a:p>
          <a:p>
            <a:pPr algn="just" eaLnBrk="1" hangingPunct="1">
              <a:spcBef>
                <a:spcPct val="20000"/>
              </a:spcBef>
              <a:buFont typeface="Calibri" panose="020F0502020204030204" pitchFamily="34" charset="0"/>
              <a:buAutoNum type="arabicPeriod"/>
            </a:pPr>
            <a:r>
              <a:rPr lang="en-US" altLang="en-US" sz="2200" dirty="0">
                <a:cs typeface="Arial" panose="020B0604020202020204" pitchFamily="34" charset="0"/>
              </a:rPr>
              <a:t>Participation- Participation in the Universal Human Order is at the base and from there you are coming down to Participation in the Family Order or otherwise</a:t>
            </a: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C1D9B409-4403-4E2C-9565-34831603ADA6}" type="datetime1">
              <a:rPr lang="en-US" smtClean="0"/>
              <a:t>06/22/21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5</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:V</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17163"/>
            <a:ext cx="8686800" cy="5202637"/>
          </a:xfrm>
        </p:spPr>
        <p:txBody>
          <a:bodyPr>
            <a:noAutofit/>
          </a:bodyPr>
          <a:lstStyle/>
          <a:p>
            <a:pPr marL="457200" indent="-457200" algn="just">
              <a:lnSpc>
                <a:spcPct val="110000"/>
              </a:lnSpc>
              <a:buFont typeface="+mj-lt"/>
              <a:buAutoNum type="arabicPeriod"/>
            </a:pPr>
            <a:r>
              <a:rPr lang="en-US" sz="2200" dirty="0">
                <a:effectLst/>
                <a:ea typeface="Calibri" panose="020F0502020204030204" pitchFamily="34" charset="0"/>
                <a:cs typeface="Times New Roman" panose="02020603050405020304" pitchFamily="18" charset="0"/>
              </a:rPr>
              <a:t>What is the meaning of ‘contemplation’ as described in the course? Explain with the help of an example.</a:t>
            </a:r>
            <a:endParaRPr lang="en-IN" sz="2200" dirty="0">
              <a:effectLst/>
              <a:ea typeface="Times New Roman" panose="02020603050405020304" pitchFamily="18" charset="0"/>
            </a:endParaRPr>
          </a:p>
          <a:p>
            <a:pPr marL="457200" indent="-457200" algn="just">
              <a:lnSpc>
                <a:spcPct val="110000"/>
              </a:lnSpc>
              <a:buFont typeface="+mj-lt"/>
              <a:buAutoNum type="arabicPeriod"/>
            </a:pPr>
            <a:r>
              <a:rPr lang="en-US" sz="2200" dirty="0">
                <a:effectLst/>
                <a:ea typeface="Times New Roman" panose="02020603050405020304" pitchFamily="18" charset="0"/>
              </a:rPr>
              <a:t>What are basic human aspirations?</a:t>
            </a:r>
            <a:endParaRPr lang="en-IN" sz="2200" dirty="0">
              <a:effectLst/>
              <a:ea typeface="Times New Roman" panose="02020603050405020304" pitchFamily="18" charset="0"/>
            </a:endParaRPr>
          </a:p>
          <a:p>
            <a:pPr marL="457200" indent="-457200" algn="just">
              <a:lnSpc>
                <a:spcPct val="110000"/>
              </a:lnSpc>
              <a:spcBef>
                <a:spcPts val="685"/>
              </a:spcBef>
              <a:buFont typeface="+mj-lt"/>
              <a:buAutoNum type="arabicPeriod"/>
            </a:pPr>
            <a:r>
              <a:rPr lang="en-IN" sz="2200" dirty="0">
                <a:effectLst/>
                <a:ea typeface="Calibri" panose="020F0502020204030204" pitchFamily="34" charset="0"/>
                <a:cs typeface="Times New Roman" panose="02020603050405020304" pitchFamily="18" charset="0"/>
              </a:rPr>
              <a:t>How do you distinguish between a ‘prosperous’ person and a ‘deprived’ person in living? Explain.</a:t>
            </a:r>
          </a:p>
          <a:p>
            <a:pPr marL="457200" indent="-457200" algn="just">
              <a:lnSpc>
                <a:spcPct val="110000"/>
              </a:lnSpc>
              <a:spcBef>
                <a:spcPts val="685"/>
              </a:spcBef>
              <a:buFont typeface="+mj-lt"/>
              <a:buAutoNum type="arabicPeriod"/>
            </a:pPr>
            <a:r>
              <a:rPr lang="en-IN" sz="2200" dirty="0">
                <a:effectLst/>
                <a:ea typeface="Calibri" panose="020F0502020204030204" pitchFamily="34" charset="0"/>
                <a:cs typeface="Times New Roman" panose="02020603050405020304" pitchFamily="18" charset="0"/>
              </a:rPr>
              <a:t>How does any sensation produce only temporary happiness? Explain taking a few examples.</a:t>
            </a:r>
          </a:p>
          <a:p>
            <a:pPr marL="457200" lvl="0" indent="-457200" algn="just">
              <a:lnSpc>
                <a:spcPct val="110000"/>
              </a:lnSpc>
              <a:spcBef>
                <a:spcPts val="685"/>
              </a:spcBef>
              <a:spcAft>
                <a:spcPts val="0"/>
              </a:spcAft>
              <a:buFont typeface="+mj-lt"/>
              <a:buAutoNum type="arabicPeriod"/>
            </a:pPr>
            <a:r>
              <a:rPr lang="en-US" sz="2200" dirty="0">
                <a:effectLst/>
                <a:ea typeface="Calibri" panose="020F0502020204030204" pitchFamily="34" charset="0"/>
                <a:cs typeface="Times New Roman" panose="02020603050405020304" pitchFamily="18" charset="0"/>
              </a:rPr>
              <a:t>How does the ‘imaging’ in the Self get transformed with ‘Contemplation’?  Explain with the help of two examples.</a:t>
            </a:r>
            <a:endParaRPr lang="en-IN" sz="2200" dirty="0">
              <a:effectLst/>
              <a:ea typeface="Times New Roman" panose="02020603050405020304" pitchFamily="18" charset="0"/>
            </a:endParaRPr>
          </a:p>
          <a:p>
            <a:pPr marL="457200" indent="-457200" algn="just">
              <a:lnSpc>
                <a:spcPct val="110000"/>
              </a:lnSpc>
              <a:buFont typeface="+mj-lt"/>
              <a:buAutoNum type="arabicPeriod"/>
            </a:pPr>
            <a:endParaRPr lang="en-US" sz="2200" dirty="0"/>
          </a:p>
        </p:txBody>
      </p:sp>
      <p:sp>
        <p:nvSpPr>
          <p:cNvPr id="4" name="Date Placeholder 3"/>
          <p:cNvSpPr>
            <a:spLocks noGrp="1"/>
          </p:cNvSpPr>
          <p:nvPr>
            <p:ph type="dt" sz="half" idx="10"/>
          </p:nvPr>
        </p:nvSpPr>
        <p:spPr/>
        <p:txBody>
          <a:bodyPr/>
          <a:lstStyle/>
          <a:p>
            <a:fld id="{341D8002-3519-4CB3-BA30-F57143138AD0}"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Weekly</a:t>
            </a:r>
            <a:r>
              <a:rPr kumimoji="0" lang="en-US" sz="3000" b="0" i="0" u="none" strike="noStrike" kern="1200" cap="none" spc="0" normalizeH="0" noProof="0" dirty="0">
                <a:ln>
                  <a:noFill/>
                </a:ln>
                <a:solidFill>
                  <a:schemeClr val="dk1"/>
                </a:solidFill>
                <a:effectLst/>
                <a:uLnTx/>
                <a:uFillTx/>
                <a:latin typeface="+mn-lt"/>
                <a:ea typeface="+mn-ea"/>
                <a:cs typeface="+mn-cs"/>
              </a:rPr>
              <a:t> Assignment 1</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48523509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686800" cy="4876800"/>
          </a:xfrm>
        </p:spPr>
        <p:txBody>
          <a:bodyPr>
            <a:normAutofit/>
          </a:bodyPr>
          <a:lstStyle/>
          <a:p>
            <a:pPr algn="just">
              <a:spcAft>
                <a:spcPts val="1000"/>
              </a:spcAft>
              <a:buFont typeface="+mj-lt"/>
              <a:buAutoNum type="arabicPeriod"/>
            </a:pPr>
            <a:r>
              <a:rPr lang="en-US" sz="2200" dirty="0">
                <a:effectLst/>
                <a:latin typeface="Calibri" panose="020F0502020204030204" pitchFamily="34" charset="0"/>
                <a:ea typeface="Calibri" panose="020F0502020204030204" pitchFamily="34" charset="0"/>
                <a:cs typeface="Times New Roman" panose="02020603050405020304" pitchFamily="18" charset="0"/>
              </a:rPr>
              <a:t>Name the three kinds of tasting in the Self. How are they related?</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buFont typeface="+mj-lt"/>
              <a:buAutoNum type="arabicPeriod"/>
            </a:pPr>
            <a:r>
              <a:rPr lang="en-US" sz="2200" dirty="0">
                <a:effectLst/>
                <a:latin typeface="Calibri" panose="020F0502020204030204" pitchFamily="34" charset="0"/>
                <a:ea typeface="Calibri" panose="020F0502020204030204" pitchFamily="34" charset="0"/>
                <a:cs typeface="Times New Roman" panose="02020603050405020304" pitchFamily="18" charset="0"/>
              </a:rPr>
              <a:t>How does the activity of ‘tasting’ in the Self get transformed with right understanding? Explain.</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buFont typeface="+mj-lt"/>
              <a:buAutoNum type="arabicPeriod"/>
            </a:pPr>
            <a:r>
              <a:rPr lang="en-US" sz="2200" dirty="0">
                <a:effectLst/>
                <a:latin typeface="Calibri" panose="020F0502020204030204" pitchFamily="34" charset="0"/>
                <a:ea typeface="Calibri" panose="020F0502020204030204" pitchFamily="34" charset="0"/>
                <a:cs typeface="Times New Roman" panose="02020603050405020304" pitchFamily="18" charset="0"/>
              </a:rPr>
              <a:t>Describe the content of activities of dimension of Realization in the Self. </a:t>
            </a:r>
          </a:p>
          <a:p>
            <a:pPr algn="just">
              <a:spcAft>
                <a:spcPts val="10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What are the sources of happiness for a human being? Classify them, and show their correlation.</a:t>
            </a:r>
          </a:p>
          <a:p>
            <a:pPr algn="just">
              <a:spcAft>
                <a:spcPts val="1000"/>
              </a:spcAft>
              <a:buFont typeface="+mj-lt"/>
              <a:buAutoNum type="arabicPeriod"/>
            </a:pPr>
            <a:r>
              <a:rPr lang="en-IN" sz="2200" dirty="0">
                <a:effectLst/>
                <a:latin typeface="Calibri" panose="020F0502020204030204" pitchFamily="34" charset="0"/>
                <a:ea typeface="Calibri" panose="020F0502020204030204" pitchFamily="34" charset="0"/>
                <a:cs typeface="Times New Roman" panose="02020603050405020304" pitchFamily="18" charset="0"/>
              </a:rPr>
              <a:t>Make a line sketch showing how imagination migrates from one issue to another. Then at each point, explain the activities of imaging, analysing and selecting. Take one example to illustrate.</a:t>
            </a:r>
          </a:p>
          <a:p>
            <a:pPr marL="457200" indent="-457200" algn="just">
              <a:spcBef>
                <a:spcPts val="685"/>
              </a:spcBef>
              <a:buFont typeface="+mj-lt"/>
              <a:buAutoNum type="arabicPeriod"/>
            </a:pPr>
            <a:endParaRPr lang="en-US" sz="2200" dirty="0">
              <a:effectLst/>
              <a:ea typeface="Times New Roman" panose="02020603050405020304" pitchFamily="18" charset="0"/>
            </a:endParaRPr>
          </a:p>
        </p:txBody>
      </p:sp>
      <p:sp>
        <p:nvSpPr>
          <p:cNvPr id="4" name="Date Placeholder 3"/>
          <p:cNvSpPr>
            <a:spLocks noGrp="1"/>
          </p:cNvSpPr>
          <p:nvPr>
            <p:ph type="dt" sz="half" idx="10"/>
          </p:nvPr>
        </p:nvSpPr>
        <p:spPr/>
        <p:txBody>
          <a:bodyPr/>
          <a:lstStyle/>
          <a:p>
            <a:fld id="{D5D7CB89-A78C-441B-B131-03F26B77D586}"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Weekly</a:t>
            </a:r>
            <a:r>
              <a:rPr kumimoji="0" lang="en-US" sz="3000" b="0" i="0" u="none" strike="noStrike" kern="1200" cap="none" spc="0" normalizeH="0" noProof="0" dirty="0">
                <a:ln>
                  <a:noFill/>
                </a:ln>
                <a:solidFill>
                  <a:schemeClr val="dk1"/>
                </a:solidFill>
                <a:effectLst/>
                <a:uLnTx/>
                <a:uFillTx/>
                <a:latin typeface="+mn-lt"/>
                <a:ea typeface="+mn-ea"/>
                <a:cs typeface="+mn-cs"/>
              </a:rPr>
              <a:t> Assignment 2</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394056377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839200" cy="5029200"/>
          </a:xfrm>
        </p:spPr>
        <p:txBody>
          <a:bodyPr>
            <a:noAutofit/>
          </a:bodyPr>
          <a:lstStyle/>
          <a:p>
            <a:pPr algn="just"/>
            <a:r>
              <a:rPr lang="en-US" sz="2200" dirty="0" err="1"/>
              <a:t>Youtube</a:t>
            </a:r>
            <a:r>
              <a:rPr lang="en-US" sz="2200" dirty="0"/>
              <a:t>/other  Video Links</a:t>
            </a:r>
          </a:p>
          <a:p>
            <a:pPr marL="800100" lvl="1" indent="-342900">
              <a:buFont typeface="+mj-lt"/>
              <a:buAutoNum type="arabicPeriod"/>
            </a:pPr>
            <a:r>
              <a:rPr lang="en-IN" sz="2200" dirty="0">
                <a:cs typeface="Arial" pitchFamily="34" charset="0"/>
                <a:hlinkClick r:id="rId2"/>
              </a:rPr>
              <a:t>https://www.youtube.com/watch?v=DO1HQuoUfBQ</a:t>
            </a:r>
            <a:r>
              <a:rPr lang="en-IN" sz="2200" dirty="0">
                <a:cs typeface="Arial" pitchFamily="34" charset="0"/>
              </a:rPr>
              <a:t>  </a:t>
            </a:r>
          </a:p>
          <a:p>
            <a:pPr marL="800100" lvl="1" indent="-342900">
              <a:buFont typeface="+mj-lt"/>
              <a:buAutoNum type="arabicPeriod"/>
            </a:pPr>
            <a:r>
              <a:rPr lang="en-IN" sz="2200" dirty="0">
                <a:cs typeface="Arial" pitchFamily="34" charset="0"/>
                <a:hlinkClick r:id="rId3"/>
              </a:rPr>
              <a:t>https://www.youtube.com/watch?v=nFAa4t1d0TA</a:t>
            </a:r>
            <a:endParaRPr lang="en-IN" sz="2200" dirty="0">
              <a:cs typeface="Arial" pitchFamily="34" charset="0"/>
            </a:endParaRPr>
          </a:p>
          <a:p>
            <a:pPr marL="800100" lvl="1" indent="-342900">
              <a:buFont typeface="+mj-lt"/>
              <a:buAutoNum type="arabicPeriod"/>
            </a:pPr>
            <a:r>
              <a:rPr lang="en-IN" sz="2200" dirty="0">
                <a:cs typeface="Arial" pitchFamily="34" charset="0"/>
                <a:hlinkClick r:id="rId4"/>
              </a:rPr>
              <a:t>https://www.youtube.com/watch?v=-1VzEaPZWls</a:t>
            </a:r>
            <a:endParaRPr lang="en-IN" sz="2200" dirty="0">
              <a:cs typeface="Arial" pitchFamily="34" charset="0"/>
            </a:endParaRPr>
          </a:p>
          <a:p>
            <a:pPr marL="800100" lvl="1" indent="-342900">
              <a:buFont typeface="+mj-lt"/>
              <a:buAutoNum type="arabicPeriod"/>
            </a:pPr>
            <a:r>
              <a:rPr lang="en-IN" sz="2200" dirty="0">
                <a:cs typeface="Arial" pitchFamily="34" charset="0"/>
                <a:hlinkClick r:id="rId5"/>
              </a:rPr>
              <a:t>https://www.youtube.com/watch?v=WNxF_hwxeB8&amp;list=PLWDeKF97v9SP_Kt6jqzA3pZ3yA7g_OAQz&amp;index=17</a:t>
            </a:r>
            <a:endParaRPr lang="en-IN" sz="2200" dirty="0">
              <a:cs typeface="Arial" pitchFamily="34" charset="0"/>
            </a:endParaRPr>
          </a:p>
          <a:p>
            <a:pPr marL="800100" lvl="1" indent="-342900">
              <a:buFont typeface="+mj-lt"/>
              <a:buAutoNum type="arabicPeriod"/>
            </a:pPr>
            <a:r>
              <a:rPr lang="en-IN" sz="2200" dirty="0">
                <a:cs typeface="Arial" pitchFamily="34" charset="0"/>
                <a:hlinkClick r:id="rId6"/>
              </a:rPr>
              <a:t>https://www.youtube.com/watch?v=Cnw1nK3K5qk&amp;list=PLWDeKF97v9SP_Kt6jqzA3pZ3yA7g_OAQz&amp;index=15</a:t>
            </a:r>
            <a:endParaRPr lang="en-IN" sz="2200" dirty="0">
              <a:cs typeface="Arial" pitchFamily="34" charset="0"/>
            </a:endParaRPr>
          </a:p>
          <a:p>
            <a:pPr marL="800100" lvl="1" indent="-342900">
              <a:buFont typeface="+mj-lt"/>
              <a:buAutoNum type="arabicPeriod"/>
            </a:pPr>
            <a:r>
              <a:rPr lang="en-IN" sz="2200" dirty="0">
                <a:cs typeface="Arial" pitchFamily="34" charset="0"/>
                <a:hlinkClick r:id="rId7"/>
              </a:rPr>
              <a:t>https://www.youtube.com/watch?v=nFAa4t1d0TA&amp;list=PLWDeKF97v9SP_Kt6jqzA3pZ3yA7g_OAQz&amp;index=16</a:t>
            </a:r>
            <a:endParaRPr lang="en-IN" sz="2200" dirty="0">
              <a:cs typeface="Arial" pitchFamily="34" charset="0"/>
            </a:endParaRPr>
          </a:p>
          <a:p>
            <a:pPr marL="800100" lvl="1" indent="-342900">
              <a:buFont typeface="+mj-lt"/>
              <a:buAutoNum type="arabicPeriod"/>
            </a:pPr>
            <a:r>
              <a:rPr lang="en-IN" sz="2200" dirty="0">
                <a:cs typeface="Arial" pitchFamily="34" charset="0"/>
                <a:hlinkClick r:id="rId8"/>
              </a:rPr>
              <a:t>https://www.youtube.com/watch?v=tULgi8tNg9k&amp;list=PLWDeKF97v9SP_Kt6jqzA3pZ3yA7g_OAQz&amp;index=18</a:t>
            </a:r>
            <a:endParaRPr lang="en-IN" sz="2200" dirty="0">
              <a:cs typeface="Arial" pitchFamily="34" charset="0"/>
            </a:endParaRPr>
          </a:p>
          <a:p>
            <a:pPr marL="0" indent="0" algn="just">
              <a:buNone/>
            </a:pPr>
            <a:endParaRPr lang="en-IN" sz="2200" dirty="0"/>
          </a:p>
        </p:txBody>
      </p:sp>
      <p:sp>
        <p:nvSpPr>
          <p:cNvPr id="4" name="Date Placeholder 3"/>
          <p:cNvSpPr>
            <a:spLocks noGrp="1"/>
          </p:cNvSpPr>
          <p:nvPr>
            <p:ph type="dt" sz="half" idx="10"/>
          </p:nvPr>
        </p:nvSpPr>
        <p:spPr/>
        <p:txBody>
          <a:bodyPr/>
          <a:lstStyle/>
          <a:p>
            <a:fld id="{AC3C2F5E-E80F-4B7A-A582-4FB3F21B4B9B}" type="datetime1">
              <a:rPr lang="en-US" smtClean="0"/>
              <a:t>06/22/21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7" name="Title 1"/>
          <p:cNvSpPr txBox="1">
            <a:spLocks/>
          </p:cNvSpPr>
          <p:nvPr/>
        </p:nvSpPr>
        <p:spPr>
          <a:xfrm>
            <a:off x="1371600" y="0"/>
            <a:ext cx="7772400" cy="81716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3000" b="0" i="0" u="none" strike="noStrike" kern="1200" cap="none" spc="0" normalizeH="0" noProof="0" dirty="0">
                <a:ln>
                  <a:noFill/>
                </a:ln>
                <a:solidFill>
                  <a:schemeClr val="dk1"/>
                </a:solidFill>
                <a:effectLst/>
                <a:uLnTx/>
                <a:uFillTx/>
                <a:latin typeface="+mn-lt"/>
                <a:ea typeface="+mn-ea"/>
                <a:cs typeface="+mn-cs"/>
              </a:rPr>
              <a:t> Links, </a:t>
            </a:r>
            <a:r>
              <a:rPr kumimoji="0" lang="en-US" sz="3000" b="0" i="0" u="none" strike="noStrike" kern="1200" cap="none" spc="0" normalizeH="0" noProof="0" dirty="0" err="1">
                <a:ln>
                  <a:noFill/>
                </a:ln>
                <a:solidFill>
                  <a:schemeClr val="dk1"/>
                </a:solidFill>
                <a:effectLst/>
                <a:uLnTx/>
                <a:uFillTx/>
                <a:latin typeface="+mn-lt"/>
                <a:ea typeface="+mn-ea"/>
                <a:cs typeface="+mn-cs"/>
              </a:rPr>
              <a:t>Youtube</a:t>
            </a:r>
            <a:r>
              <a:rPr kumimoji="0" lang="en-US" sz="30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9"/>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397868291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48913"/>
            <a:ext cx="8686800" cy="5376073"/>
          </a:xfrm>
        </p:spPr>
        <p:txBody>
          <a:bodyPr>
            <a:noAutofit/>
          </a:bodyPr>
          <a:lstStyle/>
          <a:p>
            <a:pPr algn="just">
              <a:lnSpc>
                <a:spcPct val="150000"/>
              </a:lnSpc>
              <a:spcBef>
                <a:spcPts val="450"/>
              </a:spcBef>
              <a:buSzPts val="1150"/>
              <a:buFont typeface="Wingdings" panose="05000000000000000000" pitchFamily="2" charset="2"/>
              <a:buChar char="§"/>
            </a:pPr>
            <a:r>
              <a:rPr lang="en-IN" sz="2200" kern="0" dirty="0">
                <a:solidFill>
                  <a:srgbClr val="000000"/>
                </a:solidFill>
                <a:effectLst/>
                <a:ea typeface="Times New Roman" panose="02020603050405020304" pitchFamily="18" charset="0"/>
                <a:cs typeface="Times New Roman" panose="02020603050405020304" pitchFamily="18" charset="0"/>
              </a:rPr>
              <a:t>A perception associated with stimulation of a sense organ or with a specific body condition is known as _____________.</a:t>
            </a:r>
            <a:endParaRPr lang="en-IN" sz="2200" kern="0" dirty="0">
              <a:solidFill>
                <a:srgbClr val="365F91"/>
              </a:solidFill>
              <a:effectLst/>
              <a:ea typeface="Times New Roman" panose="02020603050405020304" pitchFamily="18" charset="0"/>
              <a:cs typeface="Times New Roman" panose="02020603050405020304" pitchFamily="18" charset="0"/>
            </a:endParaRPr>
          </a:p>
          <a:p>
            <a:pPr lvl="1" indent="-342900" algn="just">
              <a:buClr>
                <a:srgbClr val="000000"/>
              </a:buClr>
              <a:buFont typeface="+mj-lt"/>
              <a:buAutoNum type="alphaLcParenR"/>
            </a:pPr>
            <a:r>
              <a:rPr lang="en-IN" sz="2200" dirty="0">
                <a:solidFill>
                  <a:srgbClr val="000000"/>
                </a:solidFill>
                <a:effectLst/>
                <a:ea typeface="Helvetica Neue"/>
                <a:cs typeface="Helvetica Neue"/>
              </a:rPr>
              <a:t>Sensation                               b) Happiness</a:t>
            </a:r>
          </a:p>
          <a:p>
            <a:pPr marL="400050" lvl="1" indent="0" algn="just">
              <a:buClr>
                <a:srgbClr val="000000"/>
              </a:buClr>
              <a:buNone/>
            </a:pPr>
            <a:r>
              <a:rPr lang="en-US" sz="2200" dirty="0">
                <a:solidFill>
                  <a:srgbClr val="000000"/>
                </a:solidFill>
                <a:effectLst/>
                <a:ea typeface="Helvetica Neue"/>
                <a:cs typeface="Helvetica Neue"/>
              </a:rPr>
              <a:t>c)   </a:t>
            </a:r>
            <a:r>
              <a:rPr lang="en-IN" sz="2200" dirty="0">
                <a:solidFill>
                  <a:srgbClr val="000000"/>
                </a:solidFill>
                <a:effectLst/>
                <a:ea typeface="Helvetica Neue"/>
                <a:cs typeface="Helvetica Neue"/>
              </a:rPr>
              <a:t>Recognizing                          </a:t>
            </a:r>
            <a:r>
              <a:rPr lang="en-IN" sz="2200" dirty="0">
                <a:solidFill>
                  <a:srgbClr val="000000"/>
                </a:solidFill>
                <a:ea typeface="Helvetica Neue"/>
                <a:cs typeface="Helvetica Neue"/>
              </a:rPr>
              <a:t>d) </a:t>
            </a:r>
            <a:r>
              <a:rPr lang="en-US" sz="2200" dirty="0">
                <a:solidFill>
                  <a:srgbClr val="000000"/>
                </a:solidFill>
                <a:effectLst/>
                <a:ea typeface="Helvetica Neue"/>
                <a:cs typeface="Helvetica Neue"/>
              </a:rPr>
              <a:t>None</a:t>
            </a:r>
          </a:p>
          <a:p>
            <a:pPr marL="0" lvl="0" indent="0" algn="just">
              <a:spcAft>
                <a:spcPts val="0"/>
              </a:spcAft>
              <a:buClr>
                <a:srgbClr val="000000"/>
              </a:buClr>
              <a:buNone/>
            </a:pPr>
            <a:endParaRPr lang="en-US" sz="2200" dirty="0">
              <a:solidFill>
                <a:srgbClr val="000000"/>
              </a:solidFill>
              <a:effectLst/>
              <a:ea typeface="Helvetica Neue"/>
              <a:cs typeface="Helvetica Neue"/>
            </a:endParaRPr>
          </a:p>
          <a:p>
            <a:pPr algn="just"/>
            <a:r>
              <a:rPr lang="en-US" sz="2200" dirty="0">
                <a:solidFill>
                  <a:srgbClr val="000000"/>
                </a:solidFill>
                <a:effectLst/>
                <a:ea typeface="Helvetica Neue"/>
                <a:cs typeface="Helvetica Neue"/>
              </a:rPr>
              <a:t>Basic human aspirations are-</a:t>
            </a:r>
            <a:endParaRPr lang="en-IN" sz="2200" dirty="0">
              <a:solidFill>
                <a:srgbClr val="000000"/>
              </a:solidFill>
              <a:effectLst/>
              <a:ea typeface="Helvetica Neue"/>
              <a:cs typeface="Helvetica Neue"/>
            </a:endParaRPr>
          </a:p>
          <a:p>
            <a:pPr lvl="1" indent="-342900" algn="just">
              <a:buFont typeface="+mj-lt"/>
              <a:buAutoNum type="alphaLcParenR"/>
            </a:pPr>
            <a:r>
              <a:rPr lang="en-US" sz="2200" dirty="0">
                <a:solidFill>
                  <a:srgbClr val="000000"/>
                </a:solidFill>
                <a:effectLst/>
                <a:ea typeface="Helvetica Neue"/>
                <a:cs typeface="Helvetica Neue"/>
              </a:rPr>
              <a:t>Continuous happiness</a:t>
            </a:r>
            <a:r>
              <a:rPr lang="en-IN" sz="2200" dirty="0">
                <a:solidFill>
                  <a:srgbClr val="000000"/>
                </a:solidFill>
                <a:ea typeface="Helvetica Neue"/>
                <a:cs typeface="Helvetica Neue"/>
              </a:rPr>
              <a:t>                        b) </a:t>
            </a:r>
            <a:r>
              <a:rPr lang="en-US" sz="2200" dirty="0">
                <a:solidFill>
                  <a:srgbClr val="000000"/>
                </a:solidFill>
                <a:effectLst/>
                <a:ea typeface="Helvetica Neue"/>
                <a:cs typeface="Helvetica Neue"/>
              </a:rPr>
              <a:t>Prosperity</a:t>
            </a:r>
            <a:endParaRPr lang="en-IN" sz="2200" dirty="0">
              <a:solidFill>
                <a:srgbClr val="000000"/>
              </a:solidFill>
              <a:effectLst/>
              <a:ea typeface="Helvetica Neue"/>
              <a:cs typeface="Helvetica Neue"/>
            </a:endParaRPr>
          </a:p>
          <a:p>
            <a:pPr marL="400050" lvl="1" indent="0" algn="just">
              <a:buNone/>
            </a:pPr>
            <a:r>
              <a:rPr lang="en-US" sz="2200" dirty="0">
                <a:solidFill>
                  <a:srgbClr val="000000"/>
                </a:solidFill>
                <a:effectLst/>
                <a:ea typeface="Helvetica Neue"/>
                <a:cs typeface="Helvetica Neue"/>
              </a:rPr>
              <a:t>c)   Both</a:t>
            </a:r>
            <a:r>
              <a:rPr lang="en-IN" sz="2200" dirty="0">
                <a:solidFill>
                  <a:srgbClr val="000000"/>
                </a:solidFill>
                <a:ea typeface="Helvetica Neue"/>
                <a:cs typeface="Helvetica Neue"/>
              </a:rPr>
              <a:t>                                                      d) </a:t>
            </a:r>
            <a:r>
              <a:rPr lang="en-US" sz="2200" dirty="0">
                <a:effectLst/>
                <a:ea typeface="Calibri" panose="020F0502020204030204" pitchFamily="34" charset="0"/>
              </a:rPr>
              <a:t>None</a:t>
            </a:r>
          </a:p>
          <a:p>
            <a:pPr marL="457200" lvl="0" indent="-457200" algn="just">
              <a:spcAft>
                <a:spcPts val="0"/>
              </a:spcAft>
              <a:buAutoNum type="alphaLcParenR" startAt="3"/>
            </a:pPr>
            <a:endParaRPr lang="en-US" sz="2200" dirty="0">
              <a:effectLst/>
              <a:ea typeface="Calibri" panose="020F0502020204030204" pitchFamily="34" charset="0"/>
            </a:endParaRPr>
          </a:p>
          <a:p>
            <a:pPr algn="just"/>
            <a:r>
              <a:rPr lang="en-IN" sz="2200" dirty="0">
                <a:solidFill>
                  <a:srgbClr val="000000"/>
                </a:solidFill>
                <a:effectLst/>
                <a:ea typeface="Times New Roman" panose="02020603050405020304" pitchFamily="18" charset="0"/>
                <a:cs typeface="Helvetica Neue"/>
              </a:rPr>
              <a:t>_________ means we have assumed something about our desires on the basis of prevailing notion about it.</a:t>
            </a:r>
            <a:endParaRPr lang="en-IN" sz="2200" dirty="0">
              <a:solidFill>
                <a:srgbClr val="000000"/>
              </a:solidFill>
              <a:effectLst/>
              <a:ea typeface="Helvetica Neue"/>
              <a:cs typeface="Helvetica Neue"/>
            </a:endParaRPr>
          </a:p>
          <a:p>
            <a:pPr lvl="1" indent="-342900" algn="just">
              <a:buFont typeface="+mj-lt"/>
              <a:buAutoNum type="alphaLcParenR"/>
            </a:pPr>
            <a:r>
              <a:rPr lang="en-IN" sz="2200" dirty="0">
                <a:solidFill>
                  <a:srgbClr val="000000"/>
                </a:solidFill>
                <a:effectLst/>
                <a:ea typeface="Helvetica Neue"/>
                <a:cs typeface="Helvetica Neue"/>
              </a:rPr>
              <a:t>Natural Acceptance                              </a:t>
            </a:r>
            <a:r>
              <a:rPr lang="en-IN" sz="2200" dirty="0">
                <a:solidFill>
                  <a:srgbClr val="000000"/>
                </a:solidFill>
                <a:ea typeface="Helvetica Neue"/>
                <a:cs typeface="Helvetica Neue"/>
              </a:rPr>
              <a:t>b) </a:t>
            </a:r>
            <a:r>
              <a:rPr lang="en-IN" sz="2200" dirty="0">
                <a:solidFill>
                  <a:srgbClr val="000000"/>
                </a:solidFill>
                <a:effectLst/>
                <a:ea typeface="Helvetica Neue"/>
                <a:cs typeface="Helvetica Neue"/>
              </a:rPr>
              <a:t>Preconditioning</a:t>
            </a:r>
          </a:p>
          <a:p>
            <a:pPr marL="400050" lvl="1" indent="0" algn="just">
              <a:buNone/>
            </a:pPr>
            <a:r>
              <a:rPr lang="en-US" sz="2200" dirty="0">
                <a:solidFill>
                  <a:srgbClr val="000000"/>
                </a:solidFill>
                <a:effectLst/>
                <a:ea typeface="Helvetica Neue"/>
                <a:cs typeface="Helvetica Neue"/>
              </a:rPr>
              <a:t>c)   </a:t>
            </a:r>
            <a:r>
              <a:rPr lang="en-IN" sz="2200" dirty="0">
                <a:solidFill>
                  <a:srgbClr val="000000"/>
                </a:solidFill>
                <a:effectLst/>
                <a:ea typeface="Helvetica Neue"/>
                <a:cs typeface="Helvetica Neue"/>
              </a:rPr>
              <a:t>Self- Exploration</a:t>
            </a:r>
            <a:r>
              <a:rPr lang="en-IN" sz="2200" dirty="0">
                <a:solidFill>
                  <a:srgbClr val="000000"/>
                </a:solidFill>
                <a:ea typeface="Helvetica Neue"/>
                <a:cs typeface="Helvetica Neue"/>
              </a:rPr>
              <a:t>                                   d) </a:t>
            </a:r>
            <a:r>
              <a:rPr lang="en-US" sz="2200" dirty="0">
                <a:effectLst/>
                <a:ea typeface="Calibri" panose="020F0502020204030204" pitchFamily="34" charset="0"/>
              </a:rPr>
              <a:t>None</a:t>
            </a:r>
          </a:p>
          <a:p>
            <a:pPr marL="0" indent="0" algn="just">
              <a:buNone/>
            </a:pPr>
            <a:endParaRPr lang="en-US" sz="2200" dirty="0"/>
          </a:p>
        </p:txBody>
      </p:sp>
      <p:sp>
        <p:nvSpPr>
          <p:cNvPr id="4" name="Date Placeholder 3"/>
          <p:cNvSpPr>
            <a:spLocks noGrp="1"/>
          </p:cNvSpPr>
          <p:nvPr>
            <p:ph type="dt" sz="half" idx="10"/>
          </p:nvPr>
        </p:nvSpPr>
        <p:spPr/>
        <p:txBody>
          <a:bodyPr/>
          <a:lstStyle/>
          <a:p>
            <a:fld id="{8AE472AD-7154-4F27-9908-3170250D2996}" type="datetime1">
              <a:rPr lang="en-US" smtClean="0"/>
              <a:t>06/22/21</a:t>
            </a:fld>
            <a:endParaRPr lang="en-US"/>
          </a:p>
        </p:txBody>
      </p:sp>
      <p:sp>
        <p:nvSpPr>
          <p:cNvPr id="5" name="Footer Placeholder 4"/>
          <p:cNvSpPr>
            <a:spLocks noGrp="1"/>
          </p:cNvSpPr>
          <p:nvPr>
            <p:ph type="ftr" sz="quarter" idx="11"/>
          </p:nvPr>
        </p:nvSpPr>
        <p:spPr>
          <a:xfrm>
            <a:off x="2514600" y="6324600"/>
            <a:ext cx="48768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MCQ</a:t>
            </a:r>
            <a:r>
              <a:rPr kumimoji="0" lang="en-US" sz="3000" b="0" i="0" u="none" strike="noStrike" kern="1200" cap="none" spc="0" normalizeH="0" noProof="0" dirty="0">
                <a:ln>
                  <a:noFill/>
                </a:ln>
                <a:solidFill>
                  <a:schemeClr val="dk1"/>
                </a:solidFill>
                <a:effectLst/>
                <a:uLnTx/>
                <a:uFillTx/>
                <a:latin typeface="+mn-lt"/>
                <a:ea typeface="+mn-ea"/>
                <a:cs typeface="+mn-cs"/>
              </a:rPr>
              <a:t> s</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48913"/>
            <a:ext cx="8686800" cy="5376073"/>
          </a:xfrm>
        </p:spPr>
        <p:txBody>
          <a:bodyPr>
            <a:noAutofit/>
          </a:bodyPr>
          <a:lstStyle/>
          <a:p>
            <a:pPr algn="just">
              <a:lnSpc>
                <a:spcPct val="107000"/>
              </a:lnSpc>
              <a:spcAft>
                <a:spcPts val="800"/>
              </a:spcAft>
              <a:buSzPts val="1150"/>
              <a:buFont typeface="Wingdings" panose="05000000000000000000" pitchFamily="2" charset="2"/>
              <a:buChar char="§"/>
            </a:pPr>
            <a:r>
              <a:rPr lang="en-US" sz="2200" dirty="0">
                <a:solidFill>
                  <a:srgbClr val="000000"/>
                </a:solidFill>
                <a:effectLst/>
                <a:ea typeface="Times New Roman" panose="02020603050405020304" pitchFamily="18" charset="0"/>
                <a:cs typeface="Helvetica Neue"/>
              </a:rPr>
              <a:t>I am the _________ entity and body is ____________ entity.</a:t>
            </a:r>
            <a:endParaRPr lang="en-IN" sz="2200" dirty="0">
              <a:solidFill>
                <a:srgbClr val="000000"/>
              </a:solidFill>
              <a:effectLst/>
              <a:ea typeface="Times New Roman" panose="02020603050405020304" pitchFamily="18" charset="0"/>
              <a:cs typeface="Helvetica Neue"/>
            </a:endParaRPr>
          </a:p>
          <a:p>
            <a:pPr lvl="1" indent="-342900" algn="just">
              <a:buClr>
                <a:srgbClr val="000000"/>
              </a:buClr>
              <a:buFont typeface="+mj-lt"/>
              <a:buAutoNum type="alphaLcParenR"/>
            </a:pPr>
            <a:r>
              <a:rPr lang="en-US" sz="2200" b="1" dirty="0">
                <a:effectLst/>
                <a:ea typeface="Calibri" panose="020F0502020204030204" pitchFamily="34" charset="0"/>
              </a:rPr>
              <a:t>Conscious &amp; material</a:t>
            </a:r>
            <a:r>
              <a:rPr lang="en-IN" sz="2200" dirty="0">
                <a:solidFill>
                  <a:srgbClr val="000000"/>
                </a:solidFill>
                <a:effectLst/>
                <a:ea typeface="Helvetica Neue"/>
                <a:cs typeface="Helvetica Neue"/>
              </a:rPr>
              <a:t>                              b) material &amp; Conscious</a:t>
            </a:r>
          </a:p>
          <a:p>
            <a:pPr marL="400050" lvl="1" indent="0" algn="just">
              <a:buClr>
                <a:srgbClr val="000000"/>
              </a:buClr>
              <a:buNone/>
            </a:pPr>
            <a:r>
              <a:rPr lang="en-US" sz="2200" dirty="0">
                <a:solidFill>
                  <a:srgbClr val="000000"/>
                </a:solidFill>
                <a:effectLst/>
                <a:ea typeface="Helvetica Neue"/>
                <a:cs typeface="Helvetica Neue"/>
              </a:rPr>
              <a:t>c)   </a:t>
            </a:r>
            <a:r>
              <a:rPr lang="en-IN" sz="2200" dirty="0">
                <a:solidFill>
                  <a:srgbClr val="000000"/>
                </a:solidFill>
                <a:effectLst/>
                <a:ea typeface="Helvetica Neue"/>
                <a:cs typeface="Helvetica Neue"/>
              </a:rPr>
              <a:t>Recognizing &amp; Conscious                        </a:t>
            </a:r>
            <a:r>
              <a:rPr lang="en-IN" sz="2200" dirty="0">
                <a:solidFill>
                  <a:srgbClr val="000000"/>
                </a:solidFill>
                <a:ea typeface="Helvetica Neue"/>
                <a:cs typeface="Helvetica Neue"/>
              </a:rPr>
              <a:t>d) </a:t>
            </a:r>
            <a:r>
              <a:rPr lang="en-US" sz="2200" dirty="0">
                <a:solidFill>
                  <a:srgbClr val="000000"/>
                </a:solidFill>
                <a:effectLst/>
                <a:ea typeface="Helvetica Neue"/>
                <a:cs typeface="Helvetica Neue"/>
              </a:rPr>
              <a:t>None</a:t>
            </a:r>
          </a:p>
          <a:p>
            <a:pPr marL="0" lvl="0" indent="0" algn="just">
              <a:spcAft>
                <a:spcPts val="0"/>
              </a:spcAft>
              <a:buClr>
                <a:srgbClr val="000000"/>
              </a:buClr>
              <a:buNone/>
            </a:pPr>
            <a:endParaRPr lang="en-US" sz="2200" dirty="0">
              <a:solidFill>
                <a:srgbClr val="000000"/>
              </a:solidFill>
              <a:effectLst/>
              <a:ea typeface="Helvetica Neue"/>
              <a:cs typeface="Helvetica Neue"/>
            </a:endParaRPr>
          </a:p>
          <a:p>
            <a:pPr algn="just">
              <a:lnSpc>
                <a:spcPct val="107000"/>
              </a:lnSpc>
              <a:buSzPts val="1150"/>
              <a:buFont typeface="Wingdings" panose="05000000000000000000" pitchFamily="2" charset="2"/>
              <a:buChar char="§"/>
            </a:pPr>
            <a:r>
              <a:rPr lang="en-US" sz="2200" dirty="0">
                <a:solidFill>
                  <a:srgbClr val="000000"/>
                </a:solidFill>
                <a:effectLst/>
                <a:ea typeface="Times New Roman" panose="02020603050405020304" pitchFamily="18" charset="0"/>
                <a:cs typeface="Helvetica Neue"/>
              </a:rPr>
              <a:t>Imagination is combination of-</a:t>
            </a:r>
            <a:endParaRPr lang="en-IN" sz="2200" dirty="0">
              <a:solidFill>
                <a:srgbClr val="000000"/>
              </a:solidFill>
              <a:effectLst/>
              <a:ea typeface="Times New Roman" panose="02020603050405020304" pitchFamily="18" charset="0"/>
              <a:cs typeface="Helvetica Neue"/>
            </a:endParaRPr>
          </a:p>
          <a:p>
            <a:pPr marL="400050" lvl="1" indent="0" algn="just">
              <a:lnSpc>
                <a:spcPct val="107000"/>
              </a:lnSpc>
              <a:buNone/>
            </a:pPr>
            <a:r>
              <a:rPr lang="en-US" sz="2200" dirty="0">
                <a:solidFill>
                  <a:srgbClr val="000000"/>
                </a:solidFill>
                <a:effectLst/>
                <a:ea typeface="Helvetica Neue"/>
                <a:cs typeface="Helvetica Neue"/>
              </a:rPr>
              <a:t>a) Desire &amp;thought</a:t>
            </a:r>
            <a:r>
              <a:rPr lang="en-IN" sz="2200" dirty="0">
                <a:solidFill>
                  <a:srgbClr val="000000"/>
                </a:solidFill>
                <a:ea typeface="Helvetica Neue"/>
                <a:cs typeface="Helvetica Neue"/>
              </a:rPr>
              <a:t>                             </a:t>
            </a:r>
            <a:r>
              <a:rPr lang="en-US" sz="2200" dirty="0">
                <a:solidFill>
                  <a:srgbClr val="000000"/>
                </a:solidFill>
                <a:effectLst/>
                <a:ea typeface="Helvetica Neue"/>
                <a:cs typeface="Helvetica Neue"/>
              </a:rPr>
              <a:t>b) </a:t>
            </a:r>
            <a:r>
              <a:rPr lang="en-US" sz="2200" b="1" dirty="0">
                <a:solidFill>
                  <a:srgbClr val="000000"/>
                </a:solidFill>
                <a:effectLst/>
                <a:ea typeface="Helvetica Neue"/>
                <a:cs typeface="Helvetica Neue"/>
              </a:rPr>
              <a:t>Desire, thought &amp; expectation</a:t>
            </a:r>
            <a:endParaRPr lang="en-IN" sz="2200" dirty="0">
              <a:solidFill>
                <a:srgbClr val="000000"/>
              </a:solidFill>
              <a:effectLst/>
              <a:ea typeface="Helvetica Neue"/>
              <a:cs typeface="Helvetica Neue"/>
            </a:endParaRPr>
          </a:p>
          <a:p>
            <a:pPr marL="400050" lvl="1" indent="0" algn="just">
              <a:lnSpc>
                <a:spcPct val="107000"/>
              </a:lnSpc>
              <a:buNone/>
            </a:pPr>
            <a:r>
              <a:rPr lang="en-US" sz="2200" dirty="0">
                <a:solidFill>
                  <a:srgbClr val="000000"/>
                </a:solidFill>
                <a:effectLst/>
                <a:ea typeface="Helvetica Neue"/>
                <a:cs typeface="Helvetica Neue"/>
              </a:rPr>
              <a:t>c)Expectation &amp; thought</a:t>
            </a:r>
            <a:r>
              <a:rPr lang="en-IN" sz="2200" dirty="0">
                <a:solidFill>
                  <a:srgbClr val="000000"/>
                </a:solidFill>
                <a:ea typeface="Helvetica Neue"/>
                <a:cs typeface="Helvetica Neue"/>
              </a:rPr>
              <a:t>                    </a:t>
            </a:r>
            <a:r>
              <a:rPr lang="en-US" sz="2200" dirty="0">
                <a:solidFill>
                  <a:srgbClr val="000000"/>
                </a:solidFill>
                <a:effectLst/>
                <a:ea typeface="Helvetica Neue"/>
                <a:cs typeface="Helvetica Neue"/>
              </a:rPr>
              <a:t>d) None</a:t>
            </a:r>
            <a:endParaRPr lang="en-IN" sz="2200" dirty="0">
              <a:solidFill>
                <a:srgbClr val="000000"/>
              </a:solidFill>
              <a:effectLst/>
              <a:ea typeface="Helvetica Neue"/>
              <a:cs typeface="Helvetica Neue"/>
            </a:endParaRPr>
          </a:p>
          <a:p>
            <a:pPr marL="457200" lvl="0" indent="-457200" algn="just">
              <a:spcAft>
                <a:spcPts val="0"/>
              </a:spcAft>
              <a:buAutoNum type="alphaLcParenR" startAt="3"/>
            </a:pPr>
            <a:endParaRPr lang="en-US" sz="2200" dirty="0">
              <a:effectLst/>
              <a:ea typeface="Calibri" panose="020F0502020204030204" pitchFamily="34" charset="0"/>
            </a:endParaRPr>
          </a:p>
          <a:p>
            <a:pPr algn="just">
              <a:lnSpc>
                <a:spcPct val="107000"/>
              </a:lnSpc>
              <a:buSzPts val="1150"/>
              <a:buFont typeface="Wingdings" panose="05000000000000000000" pitchFamily="2" charset="2"/>
              <a:buChar char="§"/>
            </a:pPr>
            <a:r>
              <a:rPr lang="en-US" sz="2200" dirty="0">
                <a:solidFill>
                  <a:srgbClr val="000000"/>
                </a:solidFill>
                <a:effectLst/>
                <a:ea typeface="Times New Roman" panose="02020603050405020304" pitchFamily="18" charset="0"/>
                <a:cs typeface="Helvetica Neue"/>
              </a:rPr>
              <a:t>Human being is a combination of sentiment (‘I’) and ___________</a:t>
            </a:r>
            <a:endParaRPr lang="en-IN" sz="2200" dirty="0">
              <a:solidFill>
                <a:srgbClr val="000000"/>
              </a:solidFill>
              <a:effectLst/>
              <a:ea typeface="Helvetica Neue"/>
              <a:cs typeface="Helvetica Neue"/>
            </a:endParaRPr>
          </a:p>
          <a:p>
            <a:pPr marL="400050" lvl="1" indent="0">
              <a:buNone/>
            </a:pPr>
            <a:r>
              <a:rPr lang="en-IN" sz="2200" b="1" dirty="0">
                <a:effectLst/>
                <a:ea typeface="Calibri" panose="020F0502020204030204" pitchFamily="34" charset="0"/>
              </a:rPr>
              <a:t>Answer-</a:t>
            </a:r>
            <a:r>
              <a:rPr lang="en-IN" sz="2200" dirty="0">
                <a:effectLst/>
                <a:ea typeface="Calibri" panose="020F0502020204030204" pitchFamily="34" charset="0"/>
              </a:rPr>
              <a:t> </a:t>
            </a:r>
            <a:r>
              <a:rPr lang="en-US" sz="2200" b="1" dirty="0">
                <a:effectLst/>
                <a:ea typeface="Calibri" panose="020F0502020204030204" pitchFamily="34" charset="0"/>
              </a:rPr>
              <a:t>Material body</a:t>
            </a:r>
            <a:endParaRPr lang="en-US" sz="2200" dirty="0"/>
          </a:p>
        </p:txBody>
      </p:sp>
      <p:sp>
        <p:nvSpPr>
          <p:cNvPr id="4" name="Date Placeholder 3"/>
          <p:cNvSpPr>
            <a:spLocks noGrp="1"/>
          </p:cNvSpPr>
          <p:nvPr>
            <p:ph type="dt" sz="half" idx="10"/>
          </p:nvPr>
        </p:nvSpPr>
        <p:spPr/>
        <p:txBody>
          <a:bodyPr/>
          <a:lstStyle/>
          <a:p>
            <a:fld id="{03A3A877-F8A3-40A4-BF66-81378B4F4DAC}" type="datetime1">
              <a:rPr lang="en-US" smtClean="0"/>
              <a:t>06/22/21</a:t>
            </a:fld>
            <a:endParaRPr lang="en-US"/>
          </a:p>
        </p:txBody>
      </p:sp>
      <p:sp>
        <p:nvSpPr>
          <p:cNvPr id="5" name="Footer Placeholder 4"/>
          <p:cNvSpPr>
            <a:spLocks noGrp="1"/>
          </p:cNvSpPr>
          <p:nvPr>
            <p:ph type="ftr" sz="quarter" idx="11"/>
          </p:nvPr>
        </p:nvSpPr>
        <p:spPr>
          <a:xfrm>
            <a:off x="2514600" y="6324600"/>
            <a:ext cx="48768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MCQ</a:t>
            </a:r>
            <a:r>
              <a:rPr kumimoji="0" lang="en-US" sz="3000" b="0" i="0" u="none" strike="noStrike" kern="1200" cap="none" spc="0" normalizeH="0" noProof="0" dirty="0">
                <a:ln>
                  <a:noFill/>
                </a:ln>
                <a:solidFill>
                  <a:schemeClr val="dk1"/>
                </a:solidFill>
                <a:effectLst/>
                <a:uLnTx/>
                <a:uFillTx/>
                <a:latin typeface="+mn-lt"/>
                <a:ea typeface="+mn-ea"/>
                <a:cs typeface="+mn-cs"/>
              </a:rPr>
              <a:t> s</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187900523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48914"/>
            <a:ext cx="8839200" cy="4820050"/>
          </a:xfrm>
        </p:spPr>
        <p:txBody>
          <a:bodyPr>
            <a:normAutofit/>
          </a:bodyPr>
          <a:lstStyle/>
          <a:p>
            <a:pPr marL="0" lvl="0" indent="0" algn="just">
              <a:lnSpc>
                <a:spcPct val="107000"/>
              </a:lnSpc>
              <a:spcAft>
                <a:spcPts val="0"/>
              </a:spcAft>
              <a:buNone/>
            </a:pPr>
            <a:r>
              <a:rPr lang="en-US" sz="2200" dirty="0"/>
              <a:t>Previous University Papers can be studied from following links-</a:t>
            </a:r>
          </a:p>
          <a:p>
            <a:pPr marL="0" lvl="0" indent="0" algn="just">
              <a:lnSpc>
                <a:spcPct val="107000"/>
              </a:lnSpc>
              <a:spcAft>
                <a:spcPts val="0"/>
              </a:spcAft>
              <a:buNone/>
            </a:pPr>
            <a:endParaRPr lang="en-US" sz="2200" dirty="0"/>
          </a:p>
          <a:p>
            <a:pPr algn="just"/>
            <a:r>
              <a:rPr lang="en-IN" sz="2200" dirty="0">
                <a:cs typeface="Arial" pitchFamily="34" charset="0"/>
                <a:hlinkClick r:id="rId2"/>
              </a:rPr>
              <a:t>https://abesit.in/library/download/B.Tech./Sem.7/2019-20/UNDERSTANDING-THE-HUMAN-BEING-COMPREHENSIVELY-ROE-074.pdf</a:t>
            </a:r>
            <a:endParaRPr lang="en-IN" sz="2200" dirty="0">
              <a:cs typeface="Arial" pitchFamily="34" charset="0"/>
            </a:endParaRPr>
          </a:p>
          <a:p>
            <a:pPr algn="just"/>
            <a:endParaRPr lang="en-US" sz="2200" dirty="0">
              <a:cs typeface="Arial" pitchFamily="34" charset="0"/>
            </a:endParaRPr>
          </a:p>
          <a:p>
            <a:pPr algn="just"/>
            <a:r>
              <a:rPr lang="en-IN" sz="2200" dirty="0">
                <a:cs typeface="Arial" pitchFamily="34" charset="0"/>
                <a:hlinkClick r:id="rId3"/>
              </a:rPr>
              <a:t>https://abesit.in/library/download/B.Tech./Sem.3/2018-19/UNIVERSAL-HUMAN-VALUES-AND-PROFESSIONAL-ETHICS-RVE-301.pdf</a:t>
            </a:r>
            <a:endParaRPr lang="en-IN" sz="2200" dirty="0">
              <a:cs typeface="Arial" pitchFamily="34" charset="0"/>
            </a:endParaRPr>
          </a:p>
          <a:p>
            <a:pPr algn="just"/>
            <a:endParaRPr lang="en-IN" sz="2200" dirty="0">
              <a:cs typeface="Arial" pitchFamily="34" charset="0"/>
            </a:endParaRPr>
          </a:p>
          <a:p>
            <a:pPr algn="just"/>
            <a:r>
              <a:rPr lang="en-IN" sz="2200" dirty="0">
                <a:cs typeface="Arial" pitchFamily="34" charset="0"/>
                <a:hlinkClick r:id="rId4"/>
              </a:rPr>
              <a:t>https://abesit.in/library/download/B.Tech./Sem.3/2017-18/UNIVERSAL-HUMAN-VALUES-PROFESSIONAL-ETHICS-RVE-301.pdf</a:t>
            </a:r>
            <a:endParaRPr lang="en-US" sz="2200" dirty="0">
              <a:cs typeface="Arial" pitchFamily="34" charset="0"/>
            </a:endParaRPr>
          </a:p>
          <a:p>
            <a:endParaRPr lang="en-US" sz="2200" dirty="0"/>
          </a:p>
        </p:txBody>
      </p:sp>
      <p:sp>
        <p:nvSpPr>
          <p:cNvPr id="4" name="Date Placeholder 3"/>
          <p:cNvSpPr>
            <a:spLocks noGrp="1"/>
          </p:cNvSpPr>
          <p:nvPr>
            <p:ph type="dt" sz="half" idx="10"/>
          </p:nvPr>
        </p:nvSpPr>
        <p:spPr/>
        <p:txBody>
          <a:bodyPr/>
          <a:lstStyle/>
          <a:p>
            <a:fld id="{851CE73F-A120-465B-B4D3-2BD683D6CA77}" type="datetime1">
              <a:rPr lang="en-US" smtClean="0"/>
              <a:t>06/22/21</a:t>
            </a:fld>
            <a:endParaRPr lang="en-US"/>
          </a:p>
        </p:txBody>
      </p:sp>
      <p:sp>
        <p:nvSpPr>
          <p:cNvPr id="5" name="Footer Placeholder 4"/>
          <p:cNvSpPr>
            <a:spLocks noGrp="1"/>
          </p:cNvSpPr>
          <p:nvPr>
            <p:ph type="ftr" sz="quarter" idx="11"/>
          </p:nvPr>
        </p:nvSpPr>
        <p:spPr>
          <a:xfrm>
            <a:off x="2514600" y="6324600"/>
            <a:ext cx="48768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Old</a:t>
            </a:r>
            <a:r>
              <a:rPr kumimoji="0" lang="en-US" sz="3000" b="0" i="0" u="none" strike="noStrike" kern="1200" cap="none" spc="0" normalizeH="0" noProof="0" dirty="0">
                <a:ln>
                  <a:noFill/>
                </a:ln>
                <a:solidFill>
                  <a:schemeClr val="dk1"/>
                </a:solidFill>
                <a:effectLst/>
                <a:uLnTx/>
                <a:uFillTx/>
                <a:latin typeface="+mn-lt"/>
                <a:ea typeface="+mn-ea"/>
                <a:cs typeface="+mn-cs"/>
              </a:rPr>
              <a:t> Question Papers</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5"/>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17163"/>
            <a:ext cx="8763000" cy="5670549"/>
          </a:xfrm>
        </p:spPr>
        <p:txBody>
          <a:bodyPr>
            <a:noAutofit/>
          </a:bodyPr>
          <a:lstStyle/>
          <a:p>
            <a:pPr algn="just">
              <a:spcAft>
                <a:spcPts val="1000"/>
              </a:spcAft>
              <a:buFont typeface="+mj-lt"/>
              <a:buAutoNum type="arabicPeriod"/>
            </a:pPr>
            <a:r>
              <a:rPr lang="en-US" sz="2200" dirty="0">
                <a:effectLst/>
                <a:ea typeface="Calibri" panose="020F0502020204030204" pitchFamily="34" charset="0"/>
              </a:rPr>
              <a:t>Critically examine the prevailing notions of happiness and prosperity and their consequences.</a:t>
            </a:r>
            <a:endParaRPr lang="en-US" sz="2200" b="1" dirty="0">
              <a:solidFill>
                <a:srgbClr val="000000"/>
              </a:solidFill>
              <a:ea typeface="Calibri" panose="020F0502020204030204" pitchFamily="34" charset="0"/>
            </a:endParaRPr>
          </a:p>
          <a:p>
            <a:pPr algn="just">
              <a:buFont typeface="+mj-lt"/>
              <a:buAutoNum type="arabicPeriod"/>
            </a:pPr>
            <a:r>
              <a:rPr lang="en-US" sz="2200" dirty="0">
                <a:effectLst/>
                <a:ea typeface="Calibri" panose="020F0502020204030204" pitchFamily="34" charset="0"/>
                <a:cs typeface="Times New Roman" panose="02020603050405020304" pitchFamily="18" charset="0"/>
              </a:rPr>
              <a:t>How is ‘expectation to live with continuous happiness’ different from ‘desire to live with continuous happiness’?</a:t>
            </a:r>
          </a:p>
          <a:p>
            <a:pPr algn="just">
              <a:lnSpc>
                <a:spcPct val="107000"/>
              </a:lnSpc>
              <a:buFont typeface="+mj-lt"/>
              <a:buAutoNum type="arabicPeriod"/>
            </a:pPr>
            <a:r>
              <a:rPr lang="en-US" sz="2200" dirty="0">
                <a:effectLst/>
                <a:ea typeface="Calibri" panose="020F0502020204030204" pitchFamily="34" charset="0"/>
                <a:cs typeface="Times New Roman" panose="02020603050405020304" pitchFamily="18" charset="0"/>
              </a:rPr>
              <a:t>List the three bases of the activity of ‘comparing’ in the Self lacking right understanding. Explain each with an individual example.</a:t>
            </a:r>
            <a:endParaRPr lang="en-US" sz="2200" dirty="0">
              <a:ea typeface="Calibri" panose="020F0502020204030204" pitchFamily="34" charset="0"/>
              <a:cs typeface="Times New Roman" panose="02020603050405020304" pitchFamily="18" charset="0"/>
            </a:endParaRPr>
          </a:p>
          <a:p>
            <a:pPr algn="just">
              <a:lnSpc>
                <a:spcPct val="107000"/>
              </a:lnSpc>
              <a:buFont typeface="+mj-lt"/>
              <a:buAutoNum type="arabicPeriod"/>
            </a:pPr>
            <a:r>
              <a:rPr lang="en-US" sz="2200" dirty="0">
                <a:effectLst/>
                <a:ea typeface="Calibri" panose="020F0502020204030204" pitchFamily="34" charset="0"/>
                <a:cs typeface="Times New Roman" panose="02020603050405020304" pitchFamily="18" charset="0"/>
              </a:rPr>
              <a:t>List the three bases of the activity of ‘comparing’ that get activated in the Self with right understanding. How do they guide the other three bases of comparing? Explain with individual examples.</a:t>
            </a:r>
          </a:p>
          <a:p>
            <a:pPr algn="just">
              <a:lnSpc>
                <a:spcPct val="107000"/>
              </a:lnSpc>
              <a:buFont typeface="+mj-lt"/>
              <a:buAutoNum type="arabicPeriod"/>
            </a:pPr>
            <a:r>
              <a:rPr lang="en-US" sz="2200" dirty="0">
                <a:effectLst/>
                <a:ea typeface="Calibri" panose="020F0502020204030204" pitchFamily="34" charset="0"/>
                <a:cs typeface="Times New Roman" panose="02020603050405020304" pitchFamily="18" charset="0"/>
              </a:rPr>
              <a:t>How does the activity of ‘tasting’ in the Self get transformed with right understanding? Explain.</a:t>
            </a:r>
            <a:endParaRPr lang="en-IN" sz="2200" dirty="0">
              <a:effectLst/>
              <a:ea typeface="Calibri" panose="020F0502020204030204" pitchFamily="34" charset="0"/>
              <a:cs typeface="Times New Roman" panose="02020603050405020304" pitchFamily="18" charset="0"/>
            </a:endParaRPr>
          </a:p>
          <a:p>
            <a:pPr algn="just">
              <a:lnSpc>
                <a:spcPct val="107000"/>
              </a:lnSpc>
              <a:buFont typeface="+mj-lt"/>
              <a:buAutoNum type="arabicPeriod"/>
            </a:pPr>
            <a:r>
              <a:rPr lang="en-US" sz="2200" dirty="0">
                <a:effectLst/>
                <a:ea typeface="Calibri" panose="020F0502020204030204" pitchFamily="34" charset="0"/>
                <a:cs typeface="Times New Roman" panose="02020603050405020304" pitchFamily="18" charset="0"/>
              </a:rPr>
              <a:t>What is the meaning of ‘contemplation’ as described in the course? Explain with the help of an example.</a:t>
            </a:r>
          </a:p>
          <a:p>
            <a:pPr algn="just">
              <a:lnSpc>
                <a:spcPct val="107000"/>
              </a:lnSpc>
              <a:buFont typeface="+mj-lt"/>
              <a:buAutoNum type="arabicPeriod"/>
            </a:pPr>
            <a:endParaRPr lang="en-US" sz="2200" dirty="0"/>
          </a:p>
        </p:txBody>
      </p:sp>
      <p:sp>
        <p:nvSpPr>
          <p:cNvPr id="4" name="Date Placeholder 3"/>
          <p:cNvSpPr>
            <a:spLocks noGrp="1"/>
          </p:cNvSpPr>
          <p:nvPr>
            <p:ph type="dt" sz="half" idx="10"/>
          </p:nvPr>
        </p:nvSpPr>
        <p:spPr/>
        <p:txBody>
          <a:bodyPr/>
          <a:lstStyle/>
          <a:p>
            <a:fld id="{04867677-C683-442B-9F52-197DAEEF6526}" type="datetime1">
              <a:rPr lang="en-US" smtClean="0"/>
              <a:t>06/22/21</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Expected Questions for University Exam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17164"/>
            <a:ext cx="8763000" cy="5278836"/>
          </a:xfrm>
        </p:spPr>
        <p:txBody>
          <a:bodyPr>
            <a:normAutofit/>
          </a:bodyPr>
          <a:lstStyle/>
          <a:p>
            <a:pPr marL="457200" indent="-457200" algn="just">
              <a:buAutoNum type="arabicPeriod"/>
            </a:pPr>
            <a:r>
              <a:rPr lang="en-IN" sz="2200" dirty="0">
                <a:cs typeface="Arial" pitchFamily="34" charset="0"/>
              </a:rPr>
              <a:t>A Foundation Course in Human Values and Profession Ethics (Text Book and Teachers’ Manual), R. R. Gaur, R. </a:t>
            </a:r>
            <a:r>
              <a:rPr lang="en-IN" sz="2200" dirty="0" err="1">
                <a:cs typeface="Arial" pitchFamily="34" charset="0"/>
              </a:rPr>
              <a:t>Sangal</a:t>
            </a:r>
            <a:r>
              <a:rPr lang="en-IN" sz="2200" dirty="0">
                <a:cs typeface="Arial" pitchFamily="34" charset="0"/>
              </a:rPr>
              <a:t>, G. P. </a:t>
            </a:r>
            <a:r>
              <a:rPr lang="en-IN" sz="2200" dirty="0" err="1">
                <a:cs typeface="Arial" pitchFamily="34" charset="0"/>
              </a:rPr>
              <a:t>Bagaria</a:t>
            </a:r>
            <a:r>
              <a:rPr lang="en-IN" sz="2200" dirty="0">
                <a:cs typeface="Arial" pitchFamily="34" charset="0"/>
              </a:rPr>
              <a:t> (2010), Excel </a:t>
            </a:r>
            <a:r>
              <a:rPr lang="en-IN" sz="2200" dirty="0" err="1">
                <a:cs typeface="Arial" pitchFamily="34" charset="0"/>
              </a:rPr>
              <a:t>Books,New</a:t>
            </a:r>
            <a:r>
              <a:rPr lang="en-IN" sz="2200" dirty="0">
                <a:cs typeface="Arial" pitchFamily="34" charset="0"/>
              </a:rPr>
              <a:t> Delhi [ISBN 978-8-174-46781-2]</a:t>
            </a:r>
          </a:p>
          <a:p>
            <a:pPr marL="457200" indent="-457200" algn="just">
              <a:buAutoNum type="arabicPeriod"/>
            </a:pPr>
            <a:r>
              <a:rPr lang="en-IN" sz="2200" dirty="0" err="1">
                <a:cs typeface="Arial" pitchFamily="34" charset="0"/>
              </a:rPr>
              <a:t>Avartansheel</a:t>
            </a:r>
            <a:r>
              <a:rPr lang="en-IN" sz="2200" dirty="0">
                <a:cs typeface="Arial" pitchFamily="34" charset="0"/>
              </a:rPr>
              <a:t> </a:t>
            </a:r>
            <a:r>
              <a:rPr lang="en-IN" sz="2200" dirty="0" err="1">
                <a:cs typeface="Arial" pitchFamily="34" charset="0"/>
              </a:rPr>
              <a:t>Arthshastra</a:t>
            </a:r>
            <a:r>
              <a:rPr lang="en-IN" sz="2200" dirty="0">
                <a:cs typeface="Arial" pitchFamily="34" charset="0"/>
              </a:rPr>
              <a:t>, A. Nagraj, </a:t>
            </a:r>
            <a:r>
              <a:rPr lang="en-IN" sz="2200" dirty="0" err="1">
                <a:cs typeface="Arial" pitchFamily="34" charset="0"/>
              </a:rPr>
              <a:t>Divya</a:t>
            </a:r>
            <a:r>
              <a:rPr lang="en-IN" sz="2200" dirty="0">
                <a:cs typeface="Arial" pitchFamily="34" charset="0"/>
              </a:rPr>
              <a:t> Path </a:t>
            </a:r>
            <a:r>
              <a:rPr lang="en-IN" sz="2200" dirty="0" err="1">
                <a:cs typeface="Arial" pitchFamily="34" charset="0"/>
              </a:rPr>
              <a:t>Sansthan</a:t>
            </a:r>
            <a:r>
              <a:rPr lang="en-IN" sz="2200" dirty="0">
                <a:cs typeface="Arial" pitchFamily="34" charset="0"/>
              </a:rPr>
              <a:t>, </a:t>
            </a:r>
            <a:r>
              <a:rPr lang="en-IN" sz="2200" dirty="0" err="1">
                <a:cs typeface="Arial" pitchFamily="34" charset="0"/>
              </a:rPr>
              <a:t>Amarkantak</a:t>
            </a:r>
            <a:r>
              <a:rPr lang="en-IN" sz="2200" dirty="0">
                <a:cs typeface="Arial" pitchFamily="34" charset="0"/>
              </a:rPr>
              <a:t>, India</a:t>
            </a:r>
          </a:p>
          <a:p>
            <a:pPr marL="457200" indent="-457200" algn="just">
              <a:buAutoNum type="arabicPeriod"/>
            </a:pPr>
            <a:r>
              <a:rPr lang="en-IN" sz="2200" dirty="0">
                <a:cs typeface="Arial" pitchFamily="34" charset="0"/>
              </a:rPr>
              <a:t>Economy of Permanence – (a quest for social order based on non-violence), J.</a:t>
            </a:r>
          </a:p>
          <a:p>
            <a:pPr marL="457200" indent="-457200" algn="just">
              <a:buAutoNum type="arabicPeriod"/>
            </a:pPr>
            <a:r>
              <a:rPr lang="fi-FI" sz="2200" dirty="0">
                <a:cs typeface="Arial" pitchFamily="34" charset="0"/>
              </a:rPr>
              <a:t>C. Kumarappa (2010), Sarva-Seva-Sangh-Prakashan, Varansi, India</a:t>
            </a:r>
          </a:p>
          <a:p>
            <a:pPr marL="457200" indent="-457200">
              <a:buAutoNum type="arabicPeriod"/>
            </a:pPr>
            <a:r>
              <a:rPr lang="en-IN" sz="2200" dirty="0">
                <a:cs typeface="Arial" pitchFamily="34" charset="0"/>
              </a:rPr>
              <a:t>Slow is Beautiful, Cecile Andrews http://www.newsociety.com/Books/S/Slowis-Beautiful)</a:t>
            </a: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cs typeface="Arial" pitchFamily="34" charset="0"/>
            </a:endParaRPr>
          </a:p>
          <a:p>
            <a:pPr marL="457200" lvl="0" indent="-457200" algn="just">
              <a:lnSpc>
                <a:spcPct val="107000"/>
              </a:lnSpc>
              <a:spcAft>
                <a:spcPts val="0"/>
              </a:spcAft>
              <a:buFont typeface="+mj-lt"/>
              <a:buAutoNum type="arabicPeriod"/>
            </a:pPr>
            <a:endParaRPr lang="en-US" sz="2200" dirty="0"/>
          </a:p>
        </p:txBody>
      </p:sp>
      <p:sp>
        <p:nvSpPr>
          <p:cNvPr id="4" name="Date Placeholder 3"/>
          <p:cNvSpPr>
            <a:spLocks noGrp="1"/>
          </p:cNvSpPr>
          <p:nvPr>
            <p:ph type="dt" sz="half" idx="10"/>
          </p:nvPr>
        </p:nvSpPr>
        <p:spPr/>
        <p:txBody>
          <a:bodyPr/>
          <a:lstStyle/>
          <a:p>
            <a:fld id="{3375F30F-4516-41A6-8F45-3273D108592E}" type="datetime1">
              <a:rPr lang="en-US" smtClean="0"/>
              <a:t>06/22/21</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References</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 xmlns:p14="http://schemas.microsoft.com/office/powerpoint/2010/main" val="397269999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DCB661-972A-4882-85BD-82A8D579BB8D}" type="datetime1">
              <a:rPr lang="en-US" smtClean="0"/>
              <a:t>06/22/21</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en-IN" smtClean="0"/>
              <a:t>SHYAM LAL SHARMA           KOE069 UHV-2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References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2745692" y="1143000"/>
            <a:ext cx="3805016" cy="2326791"/>
          </a:xfrm>
          <a:prstGeom prst="rect">
            <a:avLst/>
          </a:prstGeom>
          <a:noFill/>
        </p:spPr>
        <p:txBody>
          <a:bodyPr wrap="none" lIns="91440" tIns="45720" rIns="91440" bIns="45720">
            <a:spAutoFit/>
          </a:bodyPr>
          <a:lstStyle/>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Tree>
    <p:extLst>
      <p:ext uri="{BB962C8B-B14F-4D97-AF65-F5344CB8AC3E}">
        <p14:creationId xmlns=""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12360</TotalTime>
  <Words>5486</Words>
  <Application>Microsoft Office PowerPoint</Application>
  <PresentationFormat>On-screen Show (4:3)</PresentationFormat>
  <Paragraphs>1161</Paragraphs>
  <Slides>92</Slides>
  <Notes>4</Notes>
  <HiddenSlides>0</HiddenSlides>
  <MMClips>0</MMClips>
  <ScaleCrop>false</ScaleCrop>
  <HeadingPairs>
    <vt:vector size="4" baseType="variant">
      <vt:variant>
        <vt:lpstr>Theme</vt:lpstr>
      </vt:variant>
      <vt:variant>
        <vt:i4>1</vt:i4>
      </vt:variant>
      <vt:variant>
        <vt:lpstr>Slide Titles</vt:lpstr>
      </vt:variant>
      <vt:variant>
        <vt:i4>92</vt:i4>
      </vt:variant>
    </vt:vector>
  </HeadingPairs>
  <TitlesOfParts>
    <vt:vector size="93" baseType="lpstr">
      <vt:lpstr>Office Theme</vt:lpstr>
      <vt:lpstr>Noida Institute of Engineering and Technology, Greater Noida</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    Space</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SHYAM LAL SHARMA</cp:lastModifiedBy>
  <cp:revision>535</cp:revision>
  <dcterms:created xsi:type="dcterms:W3CDTF">2006-08-16T00:00:00Z</dcterms:created>
  <dcterms:modified xsi:type="dcterms:W3CDTF">2021-06-22T15:17:02Z</dcterms:modified>
</cp:coreProperties>
</file>