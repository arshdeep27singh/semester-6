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02" r:id="rId1"/>
  </p:sldMasterIdLst>
  <p:notesMasterIdLst>
    <p:notesMasterId r:id="rId134"/>
  </p:notesMasterIdLst>
  <p:handoutMasterIdLst>
    <p:handoutMasterId r:id="rId135"/>
  </p:handoutMasterIdLst>
  <p:sldIdLst>
    <p:sldId id="380" r:id="rId2"/>
    <p:sldId id="375" r:id="rId3"/>
    <p:sldId id="376" r:id="rId4"/>
    <p:sldId id="381" r:id="rId5"/>
    <p:sldId id="411" r:id="rId6"/>
    <p:sldId id="412" r:id="rId7"/>
    <p:sldId id="413" r:id="rId8"/>
    <p:sldId id="414" r:id="rId9"/>
    <p:sldId id="415" r:id="rId10"/>
    <p:sldId id="416" r:id="rId11"/>
    <p:sldId id="417" r:id="rId12"/>
    <p:sldId id="418" r:id="rId13"/>
    <p:sldId id="419" r:id="rId14"/>
    <p:sldId id="420" r:id="rId15"/>
    <p:sldId id="421" r:id="rId16"/>
    <p:sldId id="422" r:id="rId17"/>
    <p:sldId id="423" r:id="rId18"/>
    <p:sldId id="424" r:id="rId19"/>
    <p:sldId id="425" r:id="rId20"/>
    <p:sldId id="426" r:id="rId21"/>
    <p:sldId id="427" r:id="rId22"/>
    <p:sldId id="382" r:id="rId23"/>
    <p:sldId id="402" r:id="rId24"/>
    <p:sldId id="257" r:id="rId25"/>
    <p:sldId id="388" r:id="rId26"/>
    <p:sldId id="258" r:id="rId27"/>
    <p:sldId id="259" r:id="rId28"/>
    <p:sldId id="261" r:id="rId29"/>
    <p:sldId id="264" r:id="rId30"/>
    <p:sldId id="265" r:id="rId31"/>
    <p:sldId id="266" r:id="rId32"/>
    <p:sldId id="268" r:id="rId33"/>
    <p:sldId id="271" r:id="rId34"/>
    <p:sldId id="272" r:id="rId35"/>
    <p:sldId id="273" r:id="rId36"/>
    <p:sldId id="377" r:id="rId37"/>
    <p:sldId id="276" r:id="rId38"/>
    <p:sldId id="277" r:id="rId39"/>
    <p:sldId id="279" r:id="rId40"/>
    <p:sldId id="280" r:id="rId41"/>
    <p:sldId id="281"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378" r:id="rId55"/>
    <p:sldId id="403" r:id="rId56"/>
    <p:sldId id="297" r:id="rId57"/>
    <p:sldId id="298" r:id="rId58"/>
    <p:sldId id="299" r:id="rId59"/>
    <p:sldId id="300" r:id="rId60"/>
    <p:sldId id="379" r:id="rId61"/>
    <p:sldId id="301" r:id="rId62"/>
    <p:sldId id="303" r:id="rId63"/>
    <p:sldId id="304" r:id="rId64"/>
    <p:sldId id="305" r:id="rId65"/>
    <p:sldId id="306" r:id="rId66"/>
    <p:sldId id="307" r:id="rId67"/>
    <p:sldId id="308" r:id="rId68"/>
    <p:sldId id="404" r:id="rId69"/>
    <p:sldId id="313" r:id="rId70"/>
    <p:sldId id="314" r:id="rId71"/>
    <p:sldId id="315" r:id="rId72"/>
    <p:sldId id="316" r:id="rId73"/>
    <p:sldId id="317" r:id="rId74"/>
    <p:sldId id="318" r:id="rId75"/>
    <p:sldId id="321" r:id="rId76"/>
    <p:sldId id="322" r:id="rId77"/>
    <p:sldId id="324" r:id="rId78"/>
    <p:sldId id="325" r:id="rId79"/>
    <p:sldId id="327" r:id="rId80"/>
    <p:sldId id="328" r:id="rId81"/>
    <p:sldId id="329" r:id="rId82"/>
    <p:sldId id="330" r:id="rId83"/>
    <p:sldId id="332" r:id="rId84"/>
    <p:sldId id="333"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405" r:id="rId116"/>
    <p:sldId id="389" r:id="rId117"/>
    <p:sldId id="390" r:id="rId118"/>
    <p:sldId id="391" r:id="rId119"/>
    <p:sldId id="393" r:id="rId120"/>
    <p:sldId id="394" r:id="rId121"/>
    <p:sldId id="395" r:id="rId122"/>
    <p:sldId id="396" r:id="rId123"/>
    <p:sldId id="397" r:id="rId124"/>
    <p:sldId id="398" r:id="rId125"/>
    <p:sldId id="428" r:id="rId126"/>
    <p:sldId id="429" r:id="rId127"/>
    <p:sldId id="430" r:id="rId128"/>
    <p:sldId id="431" r:id="rId129"/>
    <p:sldId id="399" r:id="rId130"/>
    <p:sldId id="432" r:id="rId131"/>
    <p:sldId id="400" r:id="rId132"/>
    <p:sldId id="401" r:id="rId1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E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527270-8120-4520-A0C9-57C0736123C2}" v="2" dt="2022-04-29T15:56:20.4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364" autoAdjust="0"/>
  </p:normalViewPr>
  <p:slideViewPr>
    <p:cSldViewPr snapToGrid="0">
      <p:cViewPr varScale="1">
        <p:scale>
          <a:sx n="59" d="100"/>
          <a:sy n="59" d="100"/>
        </p:scale>
        <p:origin x="1500" y="56"/>
      </p:cViewPr>
      <p:guideLst/>
    </p:cSldViewPr>
  </p:slideViewPr>
  <p:outlineViewPr>
    <p:cViewPr>
      <p:scale>
        <a:sx n="33" d="100"/>
        <a:sy n="33" d="100"/>
      </p:scale>
      <p:origin x="0" y="-4380"/>
    </p:cViewPr>
  </p:outlineViewPr>
  <p:notesTextViewPr>
    <p:cViewPr>
      <p:scale>
        <a:sx n="1" d="1"/>
        <a:sy n="1" d="1"/>
      </p:scale>
      <p:origin x="0" y="0"/>
    </p:cViewPr>
  </p:notesTextViewPr>
  <p:sorterViewPr>
    <p:cViewPr>
      <p:scale>
        <a:sx n="100" d="100"/>
        <a:sy n="100" d="100"/>
      </p:scale>
      <p:origin x="0" y="-7014"/>
    </p:cViewPr>
  </p:sorterViewPr>
  <p:notesViewPr>
    <p:cSldViewPr snapToGrid="0">
      <p:cViewPr varScale="1">
        <p:scale>
          <a:sx n="56" d="100"/>
          <a:sy n="56" d="100"/>
        </p:scale>
        <p:origin x="1830" y="7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nna" userId="58800b1c-5b9f-4417-9e7c-90ffec793d3b" providerId="ADAL" clId="{B7527270-8120-4520-A0C9-57C0736123C2}"/>
    <pc:docChg chg="custSel modSld">
      <pc:chgData name="Tamanna" userId="58800b1c-5b9f-4417-9e7c-90ffec793d3b" providerId="ADAL" clId="{B7527270-8120-4520-A0C9-57C0736123C2}" dt="2022-04-29T15:55:55.123" v="5" actId="478"/>
      <pc:docMkLst>
        <pc:docMk/>
      </pc:docMkLst>
      <pc:sldChg chg="delSp modSp mod">
        <pc:chgData name="Tamanna" userId="58800b1c-5b9f-4417-9e7c-90ffec793d3b" providerId="ADAL" clId="{B7527270-8120-4520-A0C9-57C0736123C2}" dt="2022-04-29T15:55:55.123" v="5" actId="478"/>
        <pc:sldMkLst>
          <pc:docMk/>
          <pc:sldMk cId="4192267336" sldId="380"/>
        </pc:sldMkLst>
        <pc:spChg chg="del mod">
          <ac:chgData name="Tamanna" userId="58800b1c-5b9f-4417-9e7c-90ffec793d3b" providerId="ADAL" clId="{B7527270-8120-4520-A0C9-57C0736123C2}" dt="2022-04-29T15:55:31.539" v="2" actId="478"/>
          <ac:spMkLst>
            <pc:docMk/>
            <pc:sldMk cId="4192267336" sldId="380"/>
            <ac:spMk id="6" creationId="{00000000-0000-0000-0000-000000000000}"/>
          </ac:spMkLst>
        </pc:spChg>
        <pc:spChg chg="del mod">
          <ac:chgData name="Tamanna" userId="58800b1c-5b9f-4417-9e7c-90ffec793d3b" providerId="ADAL" clId="{B7527270-8120-4520-A0C9-57C0736123C2}" dt="2022-04-29T15:55:55.123" v="5" actId="478"/>
          <ac:spMkLst>
            <pc:docMk/>
            <pc:sldMk cId="4192267336" sldId="380"/>
            <ac:spMk id="13" creationId="{00000000-0000-0000-0000-000000000000}"/>
          </ac:spMkLst>
        </pc:spChg>
        <pc:picChg chg="del">
          <ac:chgData name="Tamanna" userId="58800b1c-5b9f-4417-9e7c-90ffec793d3b" providerId="ADAL" clId="{B7527270-8120-4520-A0C9-57C0736123C2}" dt="2022-04-29T15:55:23.579" v="0" actId="478"/>
          <ac:picMkLst>
            <pc:docMk/>
            <pc:sldMk cId="4192267336" sldId="380"/>
            <ac:picMk id="1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0CDCD0-AC2F-4D1D-92FA-F76621A7DD74}" type="datetimeFigureOut">
              <a:rPr lang="en-US" smtClean="0"/>
              <a:t>4/29/2022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D4EC5F-1CA8-4F6C-8177-96F53AE2114D}" type="slidenum">
              <a:rPr lang="en-US" smtClean="0"/>
              <a:t>‹#›</a:t>
            </a:fld>
            <a:endParaRPr lang="en-US"/>
          </a:p>
        </p:txBody>
      </p:sp>
    </p:spTree>
    <p:extLst>
      <p:ext uri="{BB962C8B-B14F-4D97-AF65-F5344CB8AC3E}">
        <p14:creationId xmlns:p14="http://schemas.microsoft.com/office/powerpoint/2010/main" val="315465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60C62-FF63-4ED3-B5E3-BE004BB767E9}" type="datetimeFigureOut">
              <a:rPr lang="en-US" smtClean="0"/>
              <a:t>4/29/2022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F9F4A-680B-43D9-9653-B31F6FE4E1D3}" type="slidenum">
              <a:rPr lang="en-US" smtClean="0"/>
              <a:t>‹#›</a:t>
            </a:fld>
            <a:endParaRPr lang="en-US"/>
          </a:p>
        </p:txBody>
      </p:sp>
    </p:spTree>
    <p:extLst>
      <p:ext uri="{BB962C8B-B14F-4D97-AF65-F5344CB8AC3E}">
        <p14:creationId xmlns:p14="http://schemas.microsoft.com/office/powerpoint/2010/main" val="1049168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032913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a:headEnd/>
            <a:tailEnd/>
          </a:ln>
        </p:spPr>
      </p:sp>
      <p:sp>
        <p:nvSpPr>
          <p:cNvPr id="40963" name="Notes Placeholder 2"/>
          <p:cNvSpPr txBox="1">
            <a:spLocks noGrp="1"/>
          </p:cNvSpPr>
          <p:nvPr>
            <p:ph type="body" idx="1"/>
          </p:nvPr>
        </p:nvSpPr>
        <p:spPr>
          <a:ln/>
        </p:spPr>
        <p:txBody>
          <a:bodyPr/>
          <a:lstStyle/>
          <a:p>
            <a:endParaRPr lang="en-IN">
              <a:latin typeface="Arial" panose="020B0604020202020204" pitchFamily="34" charset="0"/>
              <a:cs typeface="Arial" panose="020B0604020202020204" pitchFamily="34" charset="0"/>
            </a:endParaRPr>
          </a:p>
        </p:txBody>
      </p:sp>
      <p:sp>
        <p:nvSpPr>
          <p:cNvPr id="409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2623C85A-2892-488F-AB8A-EE4C21D643AF}" type="slidenum">
              <a:rPr lang="en-US" sz="1200" smtClean="0">
                <a:latin typeface="Calibri" panose="020F0502020204030204" pitchFamily="34" charset="0"/>
                <a:cs typeface="Calibri" panose="020F0502020204030204" pitchFamily="34" charset="0"/>
                <a:sym typeface="Calibri" panose="020F0502020204030204" pitchFamily="34" charset="0"/>
              </a:rPr>
              <a:pPr/>
              <a:t>5</a:t>
            </a:fld>
            <a:endParaRPr lang="en-US" sz="1200">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59226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p:cNvSpPr>
            <a:spLocks noGrp="1" noRot="1" noChangeAspect="1" noTextEdit="1"/>
          </p:cNvSpPr>
          <p:nvPr>
            <p:ph type="sldImg"/>
          </p:nvPr>
        </p:nvSpPr>
        <p:spPr>
          <a:ln>
            <a:headEnd/>
            <a:tailEnd/>
          </a:ln>
        </p:spPr>
      </p:sp>
      <p:sp>
        <p:nvSpPr>
          <p:cNvPr id="240643" name="Notes Placeholder 2"/>
          <p:cNvSpPr txBox="1">
            <a:spLocks noGrp="1"/>
          </p:cNvSpPr>
          <p:nvPr>
            <p:ph type="body" idx="1"/>
          </p:nvPr>
        </p:nvSpPr>
        <p:spPr>
          <a:ln/>
        </p:spPr>
        <p:txBody>
          <a:bodyPr/>
          <a:lstStyle/>
          <a:p>
            <a:endParaRPr lang="en-US">
              <a:latin typeface="Arial" pitchFamily="34" charset="0"/>
              <a:cs typeface="Arial" pitchFamily="34" charset="0"/>
            </a:endParaRPr>
          </a:p>
        </p:txBody>
      </p:sp>
      <p:sp>
        <p:nvSpPr>
          <p:cNvPr id="240644" name="Slide Number Placeholder 3"/>
          <p:cNvSpPr>
            <a:spLocks noGrp="1"/>
          </p:cNvSpPr>
          <p:nvPr>
            <p:ph type="sldNum" sz="quarter" idx="12"/>
          </p:nvPr>
        </p:nvSpPr>
        <p:spPr>
          <a:noFill/>
        </p:spPr>
        <p:txBody>
          <a:bodyPr/>
          <a:lstStyle/>
          <a:p>
            <a:pPr>
              <a:buFont typeface="Arial" pitchFamily="34" charset="0"/>
              <a:buNone/>
            </a:pPr>
            <a:fld id="{5E06B982-9095-4965-9F6C-B43A78ECB672}" type="slidenum">
              <a:rPr lang="en-US" smtClean="0"/>
              <a:pPr>
                <a:buFont typeface="Arial" pitchFamily="34" charset="0"/>
                <a:buNone/>
              </a:pPr>
              <a:t>7</a:t>
            </a:fld>
            <a:endParaRPr lang="en-US"/>
          </a:p>
        </p:txBody>
      </p:sp>
    </p:spTree>
    <p:extLst>
      <p:ext uri="{BB962C8B-B14F-4D97-AF65-F5344CB8AC3E}">
        <p14:creationId xmlns:p14="http://schemas.microsoft.com/office/powerpoint/2010/main" val="1705455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EF9F4A-680B-43D9-9653-B31F6FE4E1D3}" type="slidenum">
              <a:rPr lang="en-US" smtClean="0"/>
              <a:t>27</a:t>
            </a:fld>
            <a:endParaRPr lang="en-US"/>
          </a:p>
        </p:txBody>
      </p:sp>
    </p:spTree>
    <p:extLst>
      <p:ext uri="{BB962C8B-B14F-4D97-AF65-F5344CB8AC3E}">
        <p14:creationId xmlns:p14="http://schemas.microsoft.com/office/powerpoint/2010/main" val="3387079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Image Placeholder 1"/>
          <p:cNvSpPr>
            <a:spLocks noGrp="1" noRot="1" noChangeAspect="1" noTextEdit="1"/>
          </p:cNvSpPr>
          <p:nvPr>
            <p:ph type="sldImg"/>
          </p:nvPr>
        </p:nvSpPr>
        <p:spPr>
          <a:ln>
            <a:headEnd/>
            <a:tailEnd/>
          </a:ln>
        </p:spPr>
      </p:sp>
      <p:sp>
        <p:nvSpPr>
          <p:cNvPr id="240643" name="Notes Placeholder 2"/>
          <p:cNvSpPr txBox="1">
            <a:spLocks noGrp="1"/>
          </p:cNvSpPr>
          <p:nvPr>
            <p:ph type="body" idx="1"/>
          </p:nvPr>
        </p:nvSpPr>
        <p:spPr>
          <a:ln/>
        </p:spPr>
        <p:txBody>
          <a:bodyPr/>
          <a:lstStyle/>
          <a:p>
            <a:endParaRPr lang="en-US">
              <a:latin typeface="Arial" pitchFamily="34" charset="0"/>
              <a:cs typeface="Arial" pitchFamily="34" charset="0"/>
            </a:endParaRPr>
          </a:p>
        </p:txBody>
      </p:sp>
      <p:sp>
        <p:nvSpPr>
          <p:cNvPr id="240644" name="Slide Number Placeholder 3"/>
          <p:cNvSpPr>
            <a:spLocks noGrp="1"/>
          </p:cNvSpPr>
          <p:nvPr>
            <p:ph type="sldNum" sz="quarter" idx="12"/>
          </p:nvPr>
        </p:nvSpPr>
        <p:spPr>
          <a:noFill/>
        </p:spPr>
        <p:txBody>
          <a:bodyPr/>
          <a:lstStyle/>
          <a:p>
            <a:pPr>
              <a:buFont typeface="Arial" pitchFamily="34" charset="0"/>
              <a:buNone/>
            </a:pPr>
            <a:fld id="{5E06B982-9095-4965-9F6C-B43A78ECB672}" type="slidenum">
              <a:rPr lang="en-US" smtClean="0"/>
              <a:pPr>
                <a:buFont typeface="Arial" pitchFamily="34" charset="0"/>
                <a:buNone/>
              </a:pPr>
              <a:t>130</a:t>
            </a:fld>
            <a:endParaRPr lang="en-US"/>
          </a:p>
        </p:txBody>
      </p:sp>
    </p:spTree>
    <p:extLst>
      <p:ext uri="{BB962C8B-B14F-4D97-AF65-F5344CB8AC3E}">
        <p14:creationId xmlns:p14="http://schemas.microsoft.com/office/powerpoint/2010/main" val="2062815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1EC9B93-7073-410D-86B6-9593463B8759}" type="datetime1">
              <a:rPr lang="en-US" smtClean="0"/>
              <a:t>4/29/2022</a:t>
            </a:fld>
            <a:endParaRPr lang="en-US" dirty="0"/>
          </a:p>
        </p:txBody>
      </p:sp>
      <p:sp>
        <p:nvSpPr>
          <p:cNvPr id="5" name="Footer Placeholder 4"/>
          <p:cNvSpPr>
            <a:spLocks noGrp="1"/>
          </p:cNvSpPr>
          <p:nvPr>
            <p:ph type="ftr" sz="quarter" idx="11"/>
          </p:nvPr>
        </p:nvSpPr>
        <p:spPr/>
        <p:txBody>
          <a:bodyPr/>
          <a:lstStyle/>
          <a:p>
            <a:r>
              <a:rPr lang="fi-FI"/>
              <a:t>Tamanna       KCS 603                  CN               Unit 4</a:t>
            </a:r>
            <a:endParaRPr lang="en-US" dirty="0"/>
          </a:p>
        </p:txBody>
      </p:sp>
      <p:sp>
        <p:nvSpPr>
          <p:cNvPr id="6" name="Slide Number Placeholder 5"/>
          <p:cNvSpPr>
            <a:spLocks noGrp="1"/>
          </p:cNvSpPr>
          <p:nvPr>
            <p:ph type="sldNum" sz="quarter" idx="12"/>
          </p:nvPr>
        </p:nvSpPr>
        <p:spPr/>
        <p:txBody>
          <a:bodyPr/>
          <a:lstStyle/>
          <a:p>
            <a:endParaRPr lang="en-US" dirty="0"/>
          </a:p>
        </p:txBody>
      </p:sp>
      <p:sp>
        <p:nvSpPr>
          <p:cNvPr id="8" name="Title 7"/>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89468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DDAD2E7-A28D-4EFD-A10D-9234F19043C0}" type="datetime1">
              <a:rPr lang="en-US" smtClean="0"/>
              <a:t>4/29/2022</a:t>
            </a:fld>
            <a:endParaRPr lang="en-US" dirty="0"/>
          </a:p>
        </p:txBody>
      </p:sp>
      <p:sp>
        <p:nvSpPr>
          <p:cNvPr id="4" name="Footer Placeholder 3"/>
          <p:cNvSpPr>
            <a:spLocks noGrp="1"/>
          </p:cNvSpPr>
          <p:nvPr>
            <p:ph type="ftr" sz="quarter" idx="11"/>
          </p:nvPr>
        </p:nvSpPr>
        <p:spPr/>
        <p:txBody>
          <a:bodyPr/>
          <a:lstStyle/>
          <a:p>
            <a:r>
              <a:rPr lang="fi-FI"/>
              <a:t>Tamanna       KCS 603                  CN               Unit 4</a:t>
            </a:r>
            <a:endParaRPr lang="en-US" dirty="0"/>
          </a:p>
        </p:txBody>
      </p:sp>
      <p:sp>
        <p:nvSpPr>
          <p:cNvPr id="5" name="Slide Number Placeholder 4"/>
          <p:cNvSpPr>
            <a:spLocks noGrp="1"/>
          </p:cNvSpPr>
          <p:nvPr>
            <p:ph type="sldNum" sz="quarter" idx="12"/>
          </p:nvPr>
        </p:nvSpPr>
        <p:spPr/>
        <p:txBody>
          <a:bodyPr/>
          <a:lstStyle/>
          <a:p>
            <a:fld id="{A0B67B60-8227-4ECE-9065-6110C6EB035F}" type="slidenum">
              <a:rPr lang="en-US" smtClean="0"/>
              <a:pPr/>
              <a:t>‹#›</a:t>
            </a:fld>
            <a:endParaRPr lang="en-US" dirty="0"/>
          </a:p>
        </p:txBody>
      </p:sp>
    </p:spTree>
    <p:extLst>
      <p:ext uri="{BB962C8B-B14F-4D97-AF65-F5344CB8AC3E}">
        <p14:creationId xmlns:p14="http://schemas.microsoft.com/office/powerpoint/2010/main" val="4294638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70862" y="0"/>
            <a:ext cx="7773138" cy="582700"/>
          </a:xfrm>
        </p:spPr>
        <p:txBody>
          <a:bodyPr wrap="square"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344106" y="844778"/>
            <a:ext cx="8683779" cy="345393"/>
          </a:xfrm>
        </p:spPr>
        <p:txBody>
          <a:bodyPr/>
          <a:lstStyle>
            <a:lvl1pPr marL="0" indent="0" algn="just">
              <a:buNone/>
              <a:defRPr sz="2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AF54AAD-250A-4B06-85F0-E1D9706C1544}" type="datetime1">
              <a:rPr lang="en-US" smtClean="0"/>
              <a:t>4/29/2022</a:t>
            </a:fld>
            <a:endParaRPr lang="en-US"/>
          </a:p>
        </p:txBody>
      </p:sp>
      <p:sp>
        <p:nvSpPr>
          <p:cNvPr id="5" name="Footer Placeholder 4"/>
          <p:cNvSpPr>
            <a:spLocks noGrp="1"/>
          </p:cNvSpPr>
          <p:nvPr>
            <p:ph type="ftr" sz="quarter" idx="11"/>
          </p:nvPr>
        </p:nvSpPr>
        <p:spPr/>
        <p:txBody>
          <a:bodyPr/>
          <a:lstStyle/>
          <a:p>
            <a:r>
              <a:rPr lang="fi-FI"/>
              <a:t>Tamanna       KCS 603                  CN               Unit 4</a:t>
            </a:r>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2559938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8040" y="0"/>
            <a:ext cx="7765960" cy="530226"/>
          </a:xfrm>
        </p:spPr>
        <p:txBody>
          <a:bodyPr anchor="b">
            <a:normAutofit/>
          </a:bodyPr>
          <a:lstStyle>
            <a:lvl1pPr>
              <a:defRPr sz="30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397032"/>
          </a:xfrm>
        </p:spPr>
        <p:txBody>
          <a:bodyPr anchor="t"/>
          <a:lstStyle>
            <a:lvl1pPr marL="0" indent="0">
              <a:buNone/>
              <a:defRPr sz="2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25041" y="987426"/>
            <a:ext cx="2949178" cy="397032"/>
          </a:xfrm>
        </p:spPr>
        <p:txBody>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D23CB77-C119-4C4C-93E2-0DC0B90B70EF}" type="datetime1">
              <a:rPr lang="en-US" smtClean="0"/>
              <a:t>4/29/2022</a:t>
            </a:fld>
            <a:endParaRPr lang="en-US"/>
          </a:p>
        </p:txBody>
      </p:sp>
      <p:sp>
        <p:nvSpPr>
          <p:cNvPr id="6" name="Footer Placeholder 5"/>
          <p:cNvSpPr>
            <a:spLocks noGrp="1"/>
          </p:cNvSpPr>
          <p:nvPr>
            <p:ph type="ftr" sz="quarter" idx="11"/>
          </p:nvPr>
        </p:nvSpPr>
        <p:spPr/>
        <p:txBody>
          <a:bodyPr/>
          <a:lstStyle/>
          <a:p>
            <a:r>
              <a:rPr lang="fi-FI"/>
              <a:t>Tamanna       KCS 603                  CN               Unit 4</a:t>
            </a:r>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2775726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NIE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29AD7E-DD91-4619-BC4C-DDC65331329E}" type="datetime1">
              <a:rPr lang="en-US" smtClean="0"/>
              <a:t>4/29/2022</a:t>
            </a:fld>
            <a:endParaRPr lang="en-US" dirty="0"/>
          </a:p>
        </p:txBody>
      </p:sp>
      <p:sp>
        <p:nvSpPr>
          <p:cNvPr id="3" name="Footer Placeholder 2"/>
          <p:cNvSpPr>
            <a:spLocks noGrp="1"/>
          </p:cNvSpPr>
          <p:nvPr>
            <p:ph type="ftr" sz="quarter" idx="11"/>
          </p:nvPr>
        </p:nvSpPr>
        <p:spPr/>
        <p:txBody>
          <a:bodyPr/>
          <a:lstStyle/>
          <a:p>
            <a:r>
              <a:rPr lang="fi-FI"/>
              <a:t>Tamanna       KCS 603                  CN               Unit 4</a:t>
            </a:r>
            <a:endParaRPr lang="en-US" dirty="0"/>
          </a:p>
        </p:txBody>
      </p:sp>
      <p:sp>
        <p:nvSpPr>
          <p:cNvPr id="4" name="Slide Number Placeholder 3"/>
          <p:cNvSpPr>
            <a:spLocks noGrp="1"/>
          </p:cNvSpPr>
          <p:nvPr>
            <p:ph type="sldNum" sz="quarter" idx="12"/>
          </p:nvPr>
        </p:nvSpPr>
        <p:spPr/>
        <p:txBody>
          <a:bodyPr/>
          <a:lstStyle/>
          <a:p>
            <a:fld id="{A0B67B60-8227-4ECE-9065-6110C6EB035F}"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
        <p:nvSpPr>
          <p:cNvPr id="8" name="Text Placeholder 2"/>
          <p:cNvSpPr>
            <a:spLocks noGrp="1"/>
          </p:cNvSpPr>
          <p:nvPr>
            <p:ph type="body" idx="1"/>
          </p:nvPr>
        </p:nvSpPr>
        <p:spPr>
          <a:xfrm>
            <a:off x="344106" y="844778"/>
            <a:ext cx="8683779" cy="345393"/>
          </a:xfrm>
        </p:spPr>
        <p:txBody>
          <a:bodyPr/>
          <a:lstStyle>
            <a:lvl1pPr marL="0" indent="0" algn="just">
              <a:buNone/>
              <a:defRPr sz="2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758609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862" y="0"/>
            <a:ext cx="7773138" cy="582700"/>
          </a:xfrm>
        </p:spPr>
        <p:txBody>
          <a:bodyPr wrap="square"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344106" y="844778"/>
            <a:ext cx="8683779" cy="345393"/>
          </a:xfrm>
        </p:spPr>
        <p:txBody>
          <a:bodyPr/>
          <a:lstStyle>
            <a:lvl1pPr marL="0" indent="0" algn="just">
              <a:buNone/>
              <a:defRPr sz="2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1032725" cy="365125"/>
          </a:xfrm>
        </p:spPr>
        <p:txBody>
          <a:bodyPr/>
          <a:lstStyle/>
          <a:p>
            <a:fld id="{7D64ACF9-34D1-4904-9E1A-FD556485D51E}" type="datetime1">
              <a:rPr lang="en-US" smtClean="0"/>
              <a:t>4/29/2022</a:t>
            </a:fld>
            <a:endParaRPr lang="en-US"/>
          </a:p>
        </p:txBody>
      </p:sp>
      <p:sp>
        <p:nvSpPr>
          <p:cNvPr id="5" name="Footer Placeholder 4"/>
          <p:cNvSpPr>
            <a:spLocks noGrp="1"/>
          </p:cNvSpPr>
          <p:nvPr>
            <p:ph type="ftr" sz="quarter" idx="11"/>
          </p:nvPr>
        </p:nvSpPr>
        <p:spPr>
          <a:xfrm>
            <a:off x="2163651" y="6356351"/>
            <a:ext cx="5074276" cy="365125"/>
          </a:xfrm>
        </p:spPr>
        <p:txBody>
          <a:bodyPr/>
          <a:lstStyle/>
          <a:p>
            <a:r>
              <a:rPr lang="fi-FI"/>
              <a:t>Tamanna       KCS 603                  CN               Unit 4</a:t>
            </a:r>
            <a:endParaRPr lang="en-US"/>
          </a:p>
        </p:txBody>
      </p:sp>
      <p:sp>
        <p:nvSpPr>
          <p:cNvPr id="6" name="Slide Number Placeholder 5"/>
          <p:cNvSpPr>
            <a:spLocks noGrp="1"/>
          </p:cNvSpPr>
          <p:nvPr>
            <p:ph type="sldNum" sz="quarter" idx="12"/>
          </p:nvPr>
        </p:nvSpPr>
        <p:spPr>
          <a:xfrm>
            <a:off x="7946265" y="6343471"/>
            <a:ext cx="569085" cy="365125"/>
          </a:xfrm>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507178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
    <p:spTree>
      <p:nvGrpSpPr>
        <p:cNvPr id="1" name=""/>
        <p:cNvGrpSpPr/>
        <p:nvPr/>
      </p:nvGrpSpPr>
      <p:grpSpPr>
        <a:xfrm>
          <a:off x="0" y="0"/>
          <a:ext cx="0" cy="0"/>
          <a:chOff x="0" y="0"/>
          <a:chExt cx="0" cy="0"/>
        </a:xfrm>
      </p:grpSpPr>
      <p:sp>
        <p:nvSpPr>
          <p:cNvPr id="2" name="Title 1"/>
          <p:cNvSpPr>
            <a:spLocks noGrp="1"/>
          </p:cNvSpPr>
          <p:nvPr>
            <p:ph type="title"/>
          </p:nvPr>
        </p:nvSpPr>
        <p:spPr>
          <a:xfrm>
            <a:off x="1370862" y="0"/>
            <a:ext cx="7773138" cy="582700"/>
          </a:xfrm>
        </p:spPr>
        <p:txBody>
          <a:bodyPr wrap="square" anchor="b">
            <a:normAutofit/>
          </a:bodyPr>
          <a:lstStyle>
            <a:lvl1pPr>
              <a:defRPr sz="3000"/>
            </a:lvl1pPr>
          </a:lstStyle>
          <a:p>
            <a:r>
              <a:rPr lang="en-US"/>
              <a:t>Click to edit Master title style</a:t>
            </a:r>
            <a:endParaRPr lang="en-US" dirty="0"/>
          </a:p>
        </p:txBody>
      </p:sp>
      <p:sp>
        <p:nvSpPr>
          <p:cNvPr id="3" name="Text Placeholder 2"/>
          <p:cNvSpPr>
            <a:spLocks noGrp="1"/>
          </p:cNvSpPr>
          <p:nvPr>
            <p:ph type="body" idx="1"/>
          </p:nvPr>
        </p:nvSpPr>
        <p:spPr>
          <a:xfrm>
            <a:off x="344106" y="844778"/>
            <a:ext cx="8683779" cy="345393"/>
          </a:xfrm>
        </p:spPr>
        <p:txBody>
          <a:bodyPr/>
          <a:lstStyle>
            <a:lvl1pPr marL="0" indent="0" algn="just">
              <a:buNone/>
              <a:defRPr sz="2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1032725" cy="365125"/>
          </a:xfrm>
        </p:spPr>
        <p:txBody>
          <a:bodyPr/>
          <a:lstStyle/>
          <a:p>
            <a:fld id="{CCCDEFF2-F0D7-41AD-96CA-FF06C4227C47}" type="datetime1">
              <a:rPr lang="en-US" smtClean="0"/>
              <a:t>4/29/2022</a:t>
            </a:fld>
            <a:endParaRPr lang="en-US"/>
          </a:p>
        </p:txBody>
      </p:sp>
      <p:sp>
        <p:nvSpPr>
          <p:cNvPr id="5" name="Footer Placeholder 4"/>
          <p:cNvSpPr>
            <a:spLocks noGrp="1"/>
          </p:cNvSpPr>
          <p:nvPr>
            <p:ph type="ftr" sz="quarter" idx="11"/>
          </p:nvPr>
        </p:nvSpPr>
        <p:spPr>
          <a:xfrm>
            <a:off x="2163651" y="6356351"/>
            <a:ext cx="5074276" cy="365125"/>
          </a:xfrm>
        </p:spPr>
        <p:txBody>
          <a:bodyPr/>
          <a:lstStyle/>
          <a:p>
            <a:r>
              <a:rPr lang="fi-FI"/>
              <a:t>Tamanna       KCS 603                  CN               Unit 4</a:t>
            </a:r>
            <a:endParaRPr lang="en-US"/>
          </a:p>
        </p:txBody>
      </p:sp>
      <p:sp>
        <p:nvSpPr>
          <p:cNvPr id="6" name="Slide Number Placeholder 5"/>
          <p:cNvSpPr>
            <a:spLocks noGrp="1"/>
          </p:cNvSpPr>
          <p:nvPr>
            <p:ph type="sldNum" sz="quarter" idx="12"/>
          </p:nvPr>
        </p:nvSpPr>
        <p:spPr>
          <a:xfrm>
            <a:off x="7946265" y="6343471"/>
            <a:ext cx="569085" cy="365125"/>
          </a:xfrm>
        </p:spPr>
        <p:txBody>
          <a:bodyPr/>
          <a:lstStyle/>
          <a:p>
            <a:fld id="{A0B67B60-8227-4ECE-9065-6110C6EB035F}" type="slidenum">
              <a:rPr lang="en-US" smtClean="0"/>
              <a:t>‹#›</a:t>
            </a:fld>
            <a:endParaRPr lang="en-US"/>
          </a:p>
        </p:txBody>
      </p:sp>
    </p:spTree>
    <p:extLst>
      <p:ext uri="{BB962C8B-B14F-4D97-AF65-F5344CB8AC3E}">
        <p14:creationId xmlns:p14="http://schemas.microsoft.com/office/powerpoint/2010/main" val="774275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6A38B36-EADB-486D-B9E3-47E547513A17}" type="datetime1">
              <a:rPr lang="en-US" smtClean="0"/>
              <a:t>4/29/2022</a:t>
            </a:fld>
            <a:endParaRPr lang="en-US"/>
          </a:p>
        </p:txBody>
      </p:sp>
      <p:sp>
        <p:nvSpPr>
          <p:cNvPr id="5" name="Footer Placeholder 4"/>
          <p:cNvSpPr>
            <a:spLocks noGrp="1"/>
          </p:cNvSpPr>
          <p:nvPr>
            <p:ph type="ftr" sz="quarter" idx="11"/>
          </p:nvPr>
        </p:nvSpPr>
        <p:spPr/>
        <p:txBody>
          <a:bodyPr/>
          <a:lstStyle/>
          <a:p>
            <a:r>
              <a:rPr lang="fi-FI"/>
              <a:t>Tamanna       KCS 603                  CN               Unit 4</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6289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FB540D-28E1-4F4E-92C8-EFE281241F87}" type="datetime1">
              <a:rPr lang="en-US" smtClean="0"/>
              <a:t>4/29/2022</a:t>
            </a:fld>
            <a:endParaRPr lang="en-US"/>
          </a:p>
        </p:txBody>
      </p:sp>
      <p:sp>
        <p:nvSpPr>
          <p:cNvPr id="3" name="Footer Placeholder 2"/>
          <p:cNvSpPr>
            <a:spLocks noGrp="1"/>
          </p:cNvSpPr>
          <p:nvPr>
            <p:ph type="ftr" sz="quarter" idx="11"/>
          </p:nvPr>
        </p:nvSpPr>
        <p:spPr/>
        <p:txBody>
          <a:bodyPr/>
          <a:lstStyle/>
          <a:p>
            <a:r>
              <a:rPr lang="fi-FI"/>
              <a:t>Tamanna       KCS 603                  CN               Unit 4</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7555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13645" y="1"/>
            <a:ext cx="7830355" cy="569448"/>
          </a:xfrm>
          <a:prstGeom prst="rect">
            <a:avLst/>
          </a:prstGeom>
          <a:solidFill>
            <a:srgbClr val="B7EEFF"/>
          </a:solidFill>
        </p:spPr>
        <p:txBody>
          <a:bodyPr vert="horz" wrap="square"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2740" y="1065770"/>
            <a:ext cx="8270652" cy="2041585"/>
          </a:xfrm>
          <a:prstGeom prst="rect">
            <a:avLst/>
          </a:prstGeom>
        </p:spPr>
        <p:txBody>
          <a:bodyPr vert="horz" wrap="square" lIns="91440" tIns="45720" rIns="91440" bIns="4572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103272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96597-E8B9-4B9F-96A7-0F00576F2E99}" type="datetime1">
              <a:rPr lang="en-US" smtClean="0"/>
              <a:t>4/29/2022</a:t>
            </a:fld>
            <a:endParaRPr lang="en-US" dirty="0"/>
          </a:p>
        </p:txBody>
      </p:sp>
      <p:sp>
        <p:nvSpPr>
          <p:cNvPr id="5" name="Footer Placeholder 4"/>
          <p:cNvSpPr>
            <a:spLocks noGrp="1"/>
          </p:cNvSpPr>
          <p:nvPr>
            <p:ph type="ftr" sz="quarter" idx="3"/>
          </p:nvPr>
        </p:nvSpPr>
        <p:spPr>
          <a:xfrm>
            <a:off x="2163651" y="6356351"/>
            <a:ext cx="5074276"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r>
              <a:rPr lang="fi-FI"/>
              <a:t>Tamanna       KCS 603                  CN               Unit 4</a:t>
            </a:r>
            <a:endParaRPr lang="en-US" dirty="0"/>
          </a:p>
        </p:txBody>
      </p:sp>
      <p:sp>
        <p:nvSpPr>
          <p:cNvPr id="6" name="Slide Number Placeholder 5"/>
          <p:cNvSpPr>
            <a:spLocks noGrp="1"/>
          </p:cNvSpPr>
          <p:nvPr>
            <p:ph type="sldNum" sz="quarter" idx="4"/>
          </p:nvPr>
        </p:nvSpPr>
        <p:spPr>
          <a:xfrm>
            <a:off x="7946265" y="6343471"/>
            <a:ext cx="56908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B67B60-8227-4ECE-9065-6110C6EB035F}" type="slidenum">
              <a:rPr lang="en-US" smtClean="0"/>
              <a:pPr/>
              <a:t>‹#›</a:t>
            </a:fld>
            <a:endParaRPr lang="en-US" dirty="0"/>
          </a:p>
        </p:txBody>
      </p:sp>
      <p:pic>
        <p:nvPicPr>
          <p:cNvPr id="8" name="Picture 2" descr="E:\NIET\Project\xLogo11.png.pagespeed.ic.pydHLuCQEZ.png"/>
          <p:cNvPicPr>
            <a:picLocks noChangeAspect="1" noChangeArrowheads="1"/>
          </p:cNvPicPr>
          <p:nvPr/>
        </p:nvPicPr>
        <p:blipFill>
          <a:blip r:embed="rId11"/>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738551476"/>
      </p:ext>
    </p:extLst>
  </p:cSld>
  <p:clrMap bg1="lt1" tx1="dk1" bg2="lt2" tx2="dk2" accent1="accent1" accent2="accent2" accent3="accent3" accent4="accent4" accent5="accent5" accent6="accent6" hlink="hlink" folHlink="folHlink"/>
  <p:sldLayoutIdLst>
    <p:sldLayoutId id="2147483903" r:id="rId1"/>
    <p:sldLayoutId id="2147483911" r:id="rId2"/>
    <p:sldLayoutId id="2147483904" r:id="rId3"/>
    <p:sldLayoutId id="2147483905" r:id="rId4"/>
    <p:sldLayoutId id="2147483906" r:id="rId5"/>
    <p:sldLayoutId id="2147483907" r:id="rId6"/>
    <p:sldLayoutId id="2147483908" r:id="rId7"/>
    <p:sldLayoutId id="2147483909" r:id="rId8"/>
    <p:sldLayoutId id="2147483910" r:id="rId9"/>
  </p:sldLayoutIdLst>
  <p:hf hdr="0" ftr="0"/>
  <p:txStyles>
    <p:titleStyle>
      <a:lvl1pPr algn="ctr" defTabSz="914400" rtl="0" eaLnBrk="1" latinLnBrk="0" hangingPunct="1">
        <a:lnSpc>
          <a:spcPct val="90000"/>
        </a:lnSpc>
        <a:spcBef>
          <a:spcPct val="0"/>
        </a:spcBef>
        <a:buNone/>
        <a:defRPr sz="3000" kern="1200">
          <a:solidFill>
            <a:schemeClr val="tx1"/>
          </a:solidFill>
          <a:latin typeface="+mj-lt"/>
          <a:ea typeface="+mj-ea"/>
          <a:cs typeface="+mj-cs"/>
        </a:defRPr>
      </a:lvl1pPr>
    </p:titleStyle>
    <p:bodyStyle>
      <a:lvl1pPr marL="228600" indent="-228600" algn="just" defTabSz="914400" rtl="0" eaLnBrk="1" latinLnBrk="0" hangingPunct="1">
        <a:lnSpc>
          <a:spcPct val="10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just"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1143000" indent="-228600" algn="just"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3pPr>
      <a:lvl4pPr marL="1600200" indent="-228600" algn="just"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s://en.wikipedia.org/wiki/State_(computer_science)" TargetMode="External"/><Relationship Id="rId2" Type="http://schemas.openxmlformats.org/officeDocument/2006/relationships/hyperlink" Target="https://en.wikipedia.org/wiki/Internet_socket"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hyperlink" Target="https://www.youtube.com/watch?v=4AroYuhsjL4" TargetMode="External"/><Relationship Id="rId2" Type="http://schemas.openxmlformats.org/officeDocument/2006/relationships/hyperlink" Target="https://www.youtube.com/watch?v=qdlYJ-Wa8i8"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youtube.com/watch?v=qYM4xkeLunY" TargetMode="Externa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3kK3291TzguwU6GAA8vIqrRw6w_13ypj/view?usp=sharing" TargetMode="Externa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hyperlink" Target="https://drive.google.com/open?id=1oFmw__qC7wdUP85gUkKbkohZvd9Vopm_" TargetMode="External"/><Relationship Id="rId7" Type="http://schemas.openxmlformats.org/officeDocument/2006/relationships/image" Target="../media/image1.png"/><Relationship Id="rId2" Type="http://schemas.openxmlformats.org/officeDocument/2006/relationships/hyperlink" Target="https://drive.google.com/open?id=17OUMNnX0kFDc9UB8tx8qd8zyEj7lCD5P" TargetMode="External"/><Relationship Id="rId1" Type="http://schemas.openxmlformats.org/officeDocument/2006/relationships/slideLayout" Target="../slideLayouts/slideLayout1.xml"/><Relationship Id="rId6" Type="http://schemas.openxmlformats.org/officeDocument/2006/relationships/hyperlink" Target="https://drive.google.com/open?id=1tjERKPwEA9icWcQTBZQnKUq_ttqBDeo5" TargetMode="External"/><Relationship Id="rId5" Type="http://schemas.openxmlformats.org/officeDocument/2006/relationships/hyperlink" Target="https://drive.google.com/open?id=1ljNxmZP1_pl10rbxJvK6xB1ybG7AMuqU" TargetMode="External"/><Relationship Id="rId4" Type="http://schemas.openxmlformats.org/officeDocument/2006/relationships/hyperlink" Target="https://drive.google.com/open?id=1eDrOkj2wVsxdTZPb7-A78YuYn16HC1ob" TargetMode="Externa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914400"/>
            <a:ext cx="6400800" cy="1676400"/>
          </a:xfrm>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a:solidFill>
                  <a:schemeClr val="tx1"/>
                </a:solidFill>
              </a:rPr>
              <a:t>Transport Layer</a:t>
            </a:r>
          </a:p>
        </p:txBody>
      </p:sp>
      <p:sp>
        <p:nvSpPr>
          <p:cNvPr id="9" name="Date Placeholder 8"/>
          <p:cNvSpPr>
            <a:spLocks noGrp="1"/>
          </p:cNvSpPr>
          <p:nvPr>
            <p:ph type="dt" sz="half" idx="10"/>
          </p:nvPr>
        </p:nvSpPr>
        <p:spPr>
          <a:xfrm>
            <a:off x="381000" y="6492875"/>
            <a:ext cx="2133600" cy="365125"/>
          </a:xfrm>
        </p:spPr>
        <p:txBody>
          <a:bodyPr/>
          <a:lstStyle/>
          <a:p>
            <a:fld id="{5F580A5D-5682-4ADE-B7C5-288F9D7007A1}" type="datetime1">
              <a:rPr lang="en-US" smtClean="0"/>
              <a:t>4/29/2022</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pic>
        <p:nvPicPr>
          <p:cNvPr id="1027" name="Picture 3" descr="C:\Users\Manks\Downloads\128_calendar-schedule-credit-mortgage-date-512.png"/>
          <p:cNvPicPr>
            <a:picLocks noChangeAspect="1" noChangeArrowheads="1"/>
          </p:cNvPicPr>
          <p:nvPr/>
        </p:nvPicPr>
        <p:blipFill>
          <a:blip r:embed="rId4" cstate="print"/>
          <a:srcRect/>
          <a:stretch>
            <a:fillRect/>
          </a:stretch>
        </p:blipFill>
        <p:spPr bwMode="auto">
          <a:xfrm flipH="1">
            <a:off x="381000" y="5943600"/>
            <a:ext cx="533400" cy="5334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a:t>
            </a:r>
            <a:r>
              <a:rPr lang="en-US" sz="2500" dirty="0">
                <a:solidFill>
                  <a:schemeClr val="tx1"/>
                </a:solidFill>
              </a:rPr>
              <a:t>4</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lvl="0" algn="ctr">
              <a:spcBef>
                <a:spcPct val="20000"/>
              </a:spcBef>
              <a:defRPr/>
            </a:pPr>
            <a:r>
              <a:rPr lang="en-US" sz="2400" dirty="0">
                <a:solidFill>
                  <a:schemeClr val="tx1"/>
                </a:solidFill>
              </a:rPr>
              <a:t>Computer Networks</a:t>
            </a:r>
          </a:p>
          <a:p>
            <a:pPr lvl="0" algn="ctr">
              <a:spcBef>
                <a:spcPct val="20000"/>
              </a:spcBef>
              <a:defRPr/>
            </a:pPr>
            <a:r>
              <a:rPr lang="en-US" sz="2400" dirty="0">
                <a:solidFill>
                  <a:schemeClr val="tx1"/>
                </a:solidFill>
              </a:rPr>
              <a:t>KCS 603</a:t>
            </a: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400" b="0" i="0" u="none" strike="noStrike" kern="1200" cap="none" spc="0" normalizeH="0" noProof="0" dirty="0">
                <a:ln>
                  <a:noFill/>
                </a:ln>
                <a:solidFill>
                  <a:schemeClr val="tx1"/>
                </a:solidFill>
                <a:effectLst/>
                <a:uLnTx/>
                <a:uFillTx/>
                <a:latin typeface="+mn-lt"/>
                <a:ea typeface="+mn-ea"/>
                <a:cs typeface="+mn-cs"/>
              </a:rPr>
              <a:t>B Tech 6</a:t>
            </a:r>
            <a:r>
              <a:rPr kumimoji="0" lang="en-US" sz="2400" b="0" i="0" u="none" strike="noStrike" kern="1200" cap="none" spc="0" normalizeH="0" baseline="30000" noProof="0" dirty="0">
                <a:ln>
                  <a:noFill/>
                </a:ln>
                <a:solidFill>
                  <a:schemeClr val="tx1"/>
                </a:solidFill>
                <a:effectLst/>
                <a:uLnTx/>
                <a:uFillTx/>
                <a:latin typeface="+mn-lt"/>
                <a:ea typeface="+mn-ea"/>
                <a:cs typeface="+mn-cs"/>
              </a:rPr>
              <a:t>th</a:t>
            </a:r>
            <a:r>
              <a:rPr kumimoji="0" lang="en-US" sz="2400" b="0" i="0" u="none" strike="noStrike" kern="1200" cap="none" spc="0" normalizeH="0" noProof="0" dirty="0">
                <a:ln>
                  <a:noFill/>
                </a:ln>
                <a:solidFill>
                  <a:schemeClr val="tx1"/>
                </a:solidFill>
                <a:effectLst/>
                <a:uLnTx/>
                <a:uFillTx/>
                <a:latin typeface="+mn-lt"/>
                <a:ea typeface="+mn-ea"/>
                <a:cs typeface="+mn-cs"/>
              </a:rPr>
              <a:t> </a:t>
            </a:r>
            <a:r>
              <a:rPr kumimoji="0" lang="en-US" sz="2400" b="0" i="0" u="none" strike="noStrike" kern="1200" cap="none" spc="0" normalizeH="0" noProof="0" dirty="0" err="1">
                <a:ln>
                  <a:noFill/>
                </a:ln>
                <a:solidFill>
                  <a:schemeClr val="tx1"/>
                </a:solidFill>
                <a:effectLst/>
                <a:uLnTx/>
                <a:uFillTx/>
                <a:latin typeface="+mn-lt"/>
                <a:ea typeface="+mn-ea"/>
                <a:cs typeface="+mn-cs"/>
              </a:rPr>
              <a:t>Sem</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7" name="Title 1"/>
          <p:cNvSpPr txBox="1">
            <a:spLocks/>
          </p:cNvSpPr>
          <p:nvPr/>
        </p:nvSpPr>
        <p:spPr>
          <a:xfrm>
            <a:off x="1370862" y="0"/>
            <a:ext cx="7773138" cy="582700"/>
          </a:xfrm>
          <a:prstGeom prst="rect">
            <a:avLst/>
          </a:prstGeom>
          <a:solidFill>
            <a:srgbClr val="B7EEFF"/>
          </a:solidFill>
        </p:spPr>
        <p:txBody>
          <a:bodyPr vert="horz" wrap="square" lIns="91440" tIns="45720" rIns="91440" bIns="45720" rtlCol="0" anchor="ctr">
            <a:normAutofit/>
          </a:bodyPr>
          <a:lstStyle>
            <a:lvl1pPr algn="ctr" defTabSz="914400" rtl="0" eaLnBrk="1" latinLnBrk="0" hangingPunct="1">
              <a:lnSpc>
                <a:spcPct val="90000"/>
              </a:lnSpc>
              <a:spcBef>
                <a:spcPct val="0"/>
              </a:spcBef>
              <a:buNone/>
              <a:defRPr sz="3000" kern="1200">
                <a:solidFill>
                  <a:schemeClr val="tx1"/>
                </a:solidFill>
                <a:latin typeface="+mj-lt"/>
                <a:ea typeface="+mj-ea"/>
                <a:cs typeface="+mj-cs"/>
              </a:defRPr>
            </a:lvl1pPr>
          </a:lstStyle>
          <a:p>
            <a:r>
              <a:rPr lang="en-US" dirty="0"/>
              <a:t>Noida Institute of Engineering and Technology </a:t>
            </a:r>
          </a:p>
        </p:txBody>
      </p:sp>
    </p:spTree>
    <p:extLst>
      <p:ext uri="{BB962C8B-B14F-4D97-AF65-F5344CB8AC3E}">
        <p14:creationId xmlns:p14="http://schemas.microsoft.com/office/powerpoint/2010/main" val="4192267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Text Placeholder 2"/>
          <p:cNvSpPr>
            <a:spLocks noGrp="1"/>
          </p:cNvSpPr>
          <p:nvPr>
            <p:ph type="body" idx="1"/>
          </p:nvPr>
        </p:nvSpPr>
        <p:spPr>
          <a:xfrm>
            <a:off x="358898" y="705529"/>
            <a:ext cx="8683779" cy="5583580"/>
          </a:xfrm>
        </p:spPr>
        <p:txBody>
          <a:bodyPr/>
          <a:lstStyle/>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Evaluation Scheme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Syllabus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Branch wise syllabus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Course Objective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Course Outcome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Program Outcome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CO-PO Mapping</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PSO</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CO- PSO Mapping</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PEO</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Result analysis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Paper template</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Prerequisites</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Introduction to subject</a:t>
            </a:r>
          </a:p>
          <a:p>
            <a:pPr indent="-304800">
              <a:spcBef>
                <a:spcPts val="0"/>
              </a:spcBef>
              <a:buClr>
                <a:schemeClr val="dk1"/>
              </a:buClr>
              <a:buSzPts val="1800"/>
              <a:buFont typeface="Arial" panose="020B0604020202020204" pitchFamily="34" charset="0"/>
              <a:buChar char="•"/>
              <a:defRPr/>
            </a:pPr>
            <a:r>
              <a:rPr lang="en-US" sz="1600" dirty="0">
                <a:cs typeface="Times New Roman" pitchFamily="18" charset="0"/>
              </a:rPr>
              <a:t>Unit objective</a:t>
            </a:r>
          </a:p>
          <a:p>
            <a:pPr indent="-304800">
              <a:spcBef>
                <a:spcPts val="0"/>
              </a:spcBef>
              <a:buClr>
                <a:schemeClr val="dk1"/>
              </a:buClr>
              <a:buSzPts val="1800"/>
              <a:buFont typeface="Arial" panose="020B0604020202020204" pitchFamily="34" charset="0"/>
              <a:buChar char="•"/>
              <a:defRPr/>
            </a:pPr>
            <a:r>
              <a:rPr lang="en-US" sz="1600" dirty="0"/>
              <a:t>TRANSPORT LAYER – </a:t>
            </a:r>
          </a:p>
          <a:p>
            <a:pPr marL="800100" lvl="1" indent="-342900">
              <a:buFont typeface="Arial" panose="020B0604020202020204" pitchFamily="34" charset="0"/>
              <a:buChar char="•"/>
            </a:pPr>
            <a:r>
              <a:rPr lang="en-US" sz="1600" dirty="0">
                <a:solidFill>
                  <a:schemeClr val="tx1"/>
                </a:solidFill>
              </a:rPr>
              <a:t>Topic Objective</a:t>
            </a:r>
          </a:p>
          <a:p>
            <a:pPr marL="800100" lvl="1" indent="-342900">
              <a:buFont typeface="Wingdings" panose="05000000000000000000" pitchFamily="2" charset="2"/>
              <a:buChar char="§"/>
            </a:pPr>
            <a:r>
              <a:rPr lang="en-US" sz="1600" dirty="0">
                <a:solidFill>
                  <a:schemeClr val="tx1"/>
                </a:solidFill>
              </a:rPr>
              <a:t>Quality of Service</a:t>
            </a:r>
          </a:p>
          <a:p>
            <a:pPr marL="800100" lvl="1" indent="-342900">
              <a:buFont typeface="Wingdings" panose="05000000000000000000" pitchFamily="2" charset="2"/>
              <a:buChar char="§"/>
            </a:pPr>
            <a:r>
              <a:rPr lang="en-US" sz="1600" dirty="0">
                <a:solidFill>
                  <a:schemeClr val="tx1"/>
                </a:solidFill>
              </a:rPr>
              <a:t>Services </a:t>
            </a:r>
          </a:p>
          <a:p>
            <a:pPr marL="1257300" lvl="2" indent="-342900">
              <a:buFont typeface="Wingdings" panose="05000000000000000000" pitchFamily="2" charset="2"/>
              <a:buChar char="§"/>
            </a:pPr>
            <a:r>
              <a:rPr lang="en-US" sz="1600" dirty="0">
                <a:solidFill>
                  <a:schemeClr val="tx1"/>
                </a:solidFill>
              </a:rPr>
              <a:t>Multiplexing</a:t>
            </a:r>
          </a:p>
          <a:p>
            <a:pPr marL="800100" lvl="1" indent="-342900">
              <a:buFont typeface="Arial" panose="020B0604020202020204" pitchFamily="34" charset="0"/>
              <a:buChar char="•"/>
            </a:pPr>
            <a:endParaRPr lang="en-US" sz="1600" dirty="0"/>
          </a:p>
        </p:txBody>
      </p:sp>
      <p:sp>
        <p:nvSpPr>
          <p:cNvPr id="4" name="Date Placeholder 3"/>
          <p:cNvSpPr>
            <a:spLocks noGrp="1"/>
          </p:cNvSpPr>
          <p:nvPr>
            <p:ph type="dt" sz="half" idx="10"/>
          </p:nvPr>
        </p:nvSpPr>
        <p:spPr>
          <a:xfrm>
            <a:off x="603597" y="6475199"/>
            <a:ext cx="1032725" cy="365125"/>
          </a:xfrm>
        </p:spPr>
        <p:txBody>
          <a:bodyPr/>
          <a:lstStyle/>
          <a:p>
            <a:fld id="{03D490FE-A0ED-49A4-B561-CE1E5CE5DF73}" type="datetime1">
              <a:rPr lang="en-US" smtClean="0"/>
              <a:t>4/29/2022</a:t>
            </a:fld>
            <a:endParaRPr lang="en-US" dirty="0"/>
          </a:p>
        </p:txBody>
      </p:sp>
      <p:sp>
        <p:nvSpPr>
          <p:cNvPr id="6" name="Slide Number Placeholder 5"/>
          <p:cNvSpPr>
            <a:spLocks noGrp="1"/>
          </p:cNvSpPr>
          <p:nvPr>
            <p:ph type="sldNum" sz="quarter" idx="12"/>
          </p:nvPr>
        </p:nvSpPr>
        <p:spPr>
          <a:xfrm>
            <a:off x="7987828" y="6475198"/>
            <a:ext cx="569085" cy="365125"/>
          </a:xfrm>
        </p:spPr>
        <p:txBody>
          <a:bodyPr/>
          <a:lstStyle/>
          <a:p>
            <a:fld id="{A0B67B60-8227-4ECE-9065-6110C6EB035F}" type="slidenum">
              <a:rPr lang="en-US" smtClean="0"/>
              <a:t>2</a:t>
            </a:fld>
            <a:endParaRPr lang="en-US" dirty="0"/>
          </a:p>
        </p:txBody>
      </p:sp>
    </p:spTree>
    <p:extLst>
      <p:ext uri="{BB962C8B-B14F-4D97-AF65-F5344CB8AC3E}">
        <p14:creationId xmlns:p14="http://schemas.microsoft.com/office/powerpoint/2010/main" val="649895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8899" y="907230"/>
            <a:ext cx="8683779" cy="5432256"/>
          </a:xfrm>
        </p:spPr>
        <p:txBody>
          <a:bodyPr/>
          <a:lstStyle/>
          <a:p>
            <a:pPr marL="1257300" lvl="2" indent="-342900">
              <a:buFont typeface="Wingdings" panose="05000000000000000000" pitchFamily="2" charset="2"/>
              <a:buChar char="§"/>
            </a:pPr>
            <a:r>
              <a:rPr lang="en-US" sz="1600" dirty="0">
                <a:solidFill>
                  <a:schemeClr val="tx1"/>
                </a:solidFill>
              </a:rPr>
              <a:t>End –to –end delivery</a:t>
            </a:r>
          </a:p>
          <a:p>
            <a:pPr marL="1257300" lvl="2" indent="-342900">
              <a:buFont typeface="Wingdings" panose="05000000000000000000" pitchFamily="2" charset="2"/>
              <a:buChar char="§"/>
            </a:pPr>
            <a:r>
              <a:rPr lang="en-US" sz="1600" dirty="0">
                <a:solidFill>
                  <a:schemeClr val="tx1"/>
                </a:solidFill>
              </a:rPr>
              <a:t>Addressing</a:t>
            </a:r>
          </a:p>
          <a:p>
            <a:pPr marL="1257300" lvl="2" indent="-342900">
              <a:buFont typeface="Wingdings" panose="05000000000000000000" pitchFamily="2" charset="2"/>
              <a:buChar char="§"/>
            </a:pPr>
            <a:r>
              <a:rPr lang="en-US" sz="1600" dirty="0">
                <a:solidFill>
                  <a:schemeClr val="tx1"/>
                </a:solidFill>
              </a:rPr>
              <a:t>Reliable Delivery</a:t>
            </a:r>
          </a:p>
          <a:p>
            <a:pPr marL="1257300" lvl="2" indent="-342900">
              <a:buFont typeface="Wingdings" panose="05000000000000000000" pitchFamily="2" charset="2"/>
              <a:buChar char="§"/>
            </a:pPr>
            <a:r>
              <a:rPr lang="en-US" sz="1600" dirty="0">
                <a:solidFill>
                  <a:schemeClr val="tx1"/>
                </a:solidFill>
              </a:rPr>
              <a:t>Flow Control</a:t>
            </a:r>
          </a:p>
          <a:p>
            <a:pPr marL="800100" lvl="1" indent="-342900">
              <a:buFont typeface="Wingdings" panose="05000000000000000000" pitchFamily="2" charset="2"/>
              <a:buChar char="§"/>
            </a:pPr>
            <a:r>
              <a:rPr lang="en-US" sz="1600" dirty="0">
                <a:solidFill>
                  <a:schemeClr val="tx1"/>
                </a:solidFill>
              </a:rPr>
              <a:t>USER DATAGRAM PROTOCOL (UDP)</a:t>
            </a:r>
          </a:p>
          <a:p>
            <a:pPr marL="800100" lvl="1" indent="-342900">
              <a:buFont typeface="Wingdings" panose="05000000000000000000" pitchFamily="2" charset="2"/>
              <a:buChar char="§"/>
            </a:pPr>
            <a:r>
              <a:rPr lang="en-US" sz="1600" dirty="0">
                <a:solidFill>
                  <a:schemeClr val="tx1"/>
                </a:solidFill>
              </a:rPr>
              <a:t>Transmission Control Protocol (TCP)</a:t>
            </a:r>
          </a:p>
          <a:p>
            <a:pPr marL="342900" indent="-342900">
              <a:buFont typeface="Arial" panose="020B0604020202020204" pitchFamily="34" charset="0"/>
              <a:buChar char="•"/>
            </a:pPr>
            <a:r>
              <a:rPr lang="en-US" sz="1600" dirty="0"/>
              <a:t>Session LAYER</a:t>
            </a:r>
          </a:p>
          <a:p>
            <a:pPr marL="800100" lvl="1" indent="-342900">
              <a:buFont typeface="Arial" panose="020B0604020202020204" pitchFamily="34" charset="0"/>
              <a:buChar char="•"/>
            </a:pPr>
            <a:r>
              <a:rPr lang="en-US" sz="1600" dirty="0">
                <a:solidFill>
                  <a:schemeClr val="tx1"/>
                </a:solidFill>
              </a:rPr>
              <a:t>Topic Objective  &amp; Recap of previous topic</a:t>
            </a:r>
            <a:endParaRPr lang="en-US" sz="1600" dirty="0"/>
          </a:p>
          <a:p>
            <a:pPr marL="800100" lvl="1" indent="-342900">
              <a:buFont typeface="Wingdings" panose="05000000000000000000" pitchFamily="2" charset="2"/>
              <a:buChar char="§"/>
            </a:pPr>
            <a:r>
              <a:rPr lang="en-US" sz="1600" dirty="0">
                <a:solidFill>
                  <a:schemeClr val="tx1"/>
                </a:solidFill>
              </a:rPr>
              <a:t>Functions of Session Layer</a:t>
            </a:r>
          </a:p>
          <a:p>
            <a:pPr marL="800100" lvl="1" indent="-342900">
              <a:buFont typeface="Wingdings" panose="05000000000000000000" pitchFamily="2" charset="2"/>
              <a:buChar char="§"/>
            </a:pPr>
            <a:r>
              <a:rPr lang="en-US" sz="1600" dirty="0">
                <a:solidFill>
                  <a:schemeClr val="tx1"/>
                </a:solidFill>
              </a:rPr>
              <a:t>Design Issues with Session Layer</a:t>
            </a:r>
          </a:p>
          <a:p>
            <a:pPr marL="800100" lvl="1" indent="-342900">
              <a:buFont typeface="Wingdings" panose="05000000000000000000" pitchFamily="2" charset="2"/>
              <a:buChar char="§"/>
            </a:pPr>
            <a:r>
              <a:rPr lang="en-US" sz="1600" dirty="0">
                <a:solidFill>
                  <a:schemeClr val="tx1"/>
                </a:solidFill>
              </a:rPr>
              <a:t>Remote Procedure Call (RPC)</a:t>
            </a:r>
          </a:p>
          <a:p>
            <a:pPr marL="342900" indent="-342900">
              <a:buFont typeface="Arial" panose="020B0604020202020204" pitchFamily="34" charset="0"/>
              <a:buChar char="•"/>
            </a:pPr>
            <a:r>
              <a:rPr lang="en-US" sz="1600" dirty="0"/>
              <a:t>Presentation Layer - OSI Model</a:t>
            </a:r>
          </a:p>
          <a:p>
            <a:pPr marL="800100" lvl="1" indent="-342900">
              <a:buFont typeface="Wingdings" panose="05000000000000000000" pitchFamily="2" charset="2"/>
              <a:buChar char="§"/>
            </a:pPr>
            <a:r>
              <a:rPr lang="en-US" sz="1600" dirty="0">
                <a:solidFill>
                  <a:schemeClr val="tx1"/>
                </a:solidFill>
              </a:rPr>
              <a:t>Topic Objective  &amp; Recap of previous topic</a:t>
            </a:r>
            <a:endParaRPr lang="en-US" sz="1600" dirty="0"/>
          </a:p>
          <a:p>
            <a:pPr marL="800100" lvl="1" indent="-342900">
              <a:buFont typeface="Wingdings" panose="05000000000000000000" pitchFamily="2" charset="2"/>
              <a:buChar char="§"/>
            </a:pPr>
            <a:r>
              <a:rPr lang="en-US" sz="1600" dirty="0">
                <a:solidFill>
                  <a:schemeClr val="tx1"/>
                </a:solidFill>
              </a:rPr>
              <a:t>Functions of Presentation Layer</a:t>
            </a:r>
          </a:p>
          <a:p>
            <a:pPr marL="800100" lvl="1" indent="-342900">
              <a:buFont typeface="Wingdings" panose="05000000000000000000" pitchFamily="2" charset="2"/>
              <a:buChar char="§"/>
            </a:pPr>
            <a:r>
              <a:rPr lang="en-US" sz="1600" dirty="0">
                <a:solidFill>
                  <a:schemeClr val="tx1"/>
                </a:solidFill>
              </a:rPr>
              <a:t>Design Issues with Presentation Layer</a:t>
            </a:r>
          </a:p>
          <a:p>
            <a:pPr marL="800100" lvl="1" indent="-342900">
              <a:buFont typeface="Wingdings" panose="05000000000000000000" pitchFamily="2" charset="2"/>
              <a:buChar char="§"/>
            </a:pPr>
            <a:r>
              <a:rPr lang="en-US" sz="1600" dirty="0">
                <a:solidFill>
                  <a:schemeClr val="tx1"/>
                </a:solidFill>
              </a:rPr>
              <a:t>Data compression techniques</a:t>
            </a:r>
          </a:p>
          <a:p>
            <a:pPr marL="800100" lvl="1" indent="-342900">
              <a:buFont typeface="Wingdings" panose="05000000000000000000" pitchFamily="2" charset="2"/>
              <a:buChar char="§"/>
            </a:pPr>
            <a:r>
              <a:rPr lang="en-US" sz="1600" dirty="0">
                <a:solidFill>
                  <a:schemeClr val="tx1"/>
                </a:solidFill>
              </a:rPr>
              <a:t>Cryptography</a:t>
            </a:r>
          </a:p>
        </p:txBody>
      </p:sp>
      <p:sp>
        <p:nvSpPr>
          <p:cNvPr id="4" name="Date Placeholder 3"/>
          <p:cNvSpPr>
            <a:spLocks noGrp="1"/>
          </p:cNvSpPr>
          <p:nvPr>
            <p:ph type="dt" sz="half" idx="10"/>
          </p:nvPr>
        </p:nvSpPr>
        <p:spPr/>
        <p:txBody>
          <a:bodyPr/>
          <a:lstStyle/>
          <a:p>
            <a:fld id="{93778E3A-32A0-42DA-AB37-5605851B6207}"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3</a:t>
            </a:fld>
            <a:endParaRPr lang="en-US"/>
          </a:p>
        </p:txBody>
      </p:sp>
      <p:sp>
        <p:nvSpPr>
          <p:cNvPr id="7" name="Title 1"/>
          <p:cNvSpPr>
            <a:spLocks noGrp="1"/>
          </p:cNvSpPr>
          <p:nvPr>
            <p:ph type="title"/>
          </p:nvPr>
        </p:nvSpPr>
        <p:spPr>
          <a:xfrm>
            <a:off x="1370862" y="0"/>
            <a:ext cx="7773138" cy="582700"/>
          </a:xfrm>
        </p:spPr>
        <p:txBody>
          <a:bodyPr/>
          <a:lstStyle/>
          <a:p>
            <a:r>
              <a:rPr lang="en-US" dirty="0"/>
              <a:t>Contents</a:t>
            </a:r>
          </a:p>
        </p:txBody>
      </p:sp>
    </p:spTree>
    <p:extLst>
      <p:ext uri="{BB962C8B-B14F-4D97-AF65-F5344CB8AC3E}">
        <p14:creationId xmlns:p14="http://schemas.microsoft.com/office/powerpoint/2010/main" val="3957551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8899" y="907230"/>
            <a:ext cx="8683779" cy="4360168"/>
          </a:xfrm>
        </p:spPr>
        <p:txBody>
          <a:bodyPr/>
          <a:lstStyle/>
          <a:p>
            <a:pPr marL="342900" indent="-342900">
              <a:buFont typeface="Arial" panose="020B0604020202020204" pitchFamily="34" charset="0"/>
              <a:buChar char="•"/>
            </a:pPr>
            <a:r>
              <a:rPr lang="en-US" sz="1600" dirty="0"/>
              <a:t>Video Links</a:t>
            </a:r>
          </a:p>
          <a:p>
            <a:pPr marL="342900" indent="-342900">
              <a:buFont typeface="Arial" panose="020B0604020202020204" pitchFamily="34" charset="0"/>
              <a:buChar char="•"/>
            </a:pPr>
            <a:r>
              <a:rPr lang="en-US" sz="1600" dirty="0"/>
              <a:t>Quiz</a:t>
            </a:r>
          </a:p>
          <a:p>
            <a:pPr marL="342900" indent="-342900">
              <a:buFont typeface="Arial" panose="020B0604020202020204" pitchFamily="34" charset="0"/>
              <a:buChar char="•"/>
            </a:pPr>
            <a:r>
              <a:rPr lang="en-US" sz="1600" dirty="0"/>
              <a:t>Weekly assignment</a:t>
            </a:r>
          </a:p>
          <a:p>
            <a:pPr marL="342900" indent="-342900">
              <a:buFont typeface="Arial" panose="020B0604020202020204" pitchFamily="34" charset="0"/>
              <a:buChar char="•"/>
            </a:pPr>
            <a:r>
              <a:rPr lang="en-US" sz="1600" dirty="0"/>
              <a:t>MCQ</a:t>
            </a:r>
          </a:p>
          <a:p>
            <a:pPr marL="342900" indent="-342900">
              <a:buFont typeface="Arial" panose="020B0604020202020204" pitchFamily="34" charset="0"/>
              <a:buChar char="•"/>
            </a:pPr>
            <a:r>
              <a:rPr lang="en-US" sz="1600" dirty="0"/>
              <a:t>Old Question papers</a:t>
            </a:r>
          </a:p>
          <a:p>
            <a:pPr marL="342900" indent="-342900">
              <a:buFont typeface="Arial" panose="020B0604020202020204" pitchFamily="34" charset="0"/>
              <a:buChar char="•"/>
            </a:pPr>
            <a:r>
              <a:rPr lang="en-US" sz="1600" dirty="0"/>
              <a:t>Expected Questions in University exams</a:t>
            </a:r>
          </a:p>
          <a:p>
            <a:pPr marL="342900" indent="-342900">
              <a:buFont typeface="Arial" panose="020B0604020202020204" pitchFamily="34" charset="0"/>
              <a:buChar char="•"/>
            </a:pPr>
            <a:r>
              <a:rPr lang="en-US" sz="1600" dirty="0"/>
              <a:t>Summary</a:t>
            </a:r>
          </a:p>
          <a:p>
            <a:pPr marL="342900" indent="-342900">
              <a:buFont typeface="Arial" panose="020B0604020202020204" pitchFamily="34" charset="0"/>
              <a:buChar char="•"/>
            </a:pPr>
            <a:r>
              <a:rPr lang="en-US" sz="1600" dirty="0"/>
              <a:t>Reference</a:t>
            </a:r>
          </a:p>
          <a:p>
            <a:endParaRPr lang="en-US" dirty="0"/>
          </a:p>
          <a:p>
            <a:pPr marL="342900" indent="-342900">
              <a:buFont typeface="Wingdings" panose="05000000000000000000" pitchFamily="2" charset="2"/>
              <a:buChar char="§"/>
            </a:pPr>
            <a:endParaRPr lang="en-US" dirty="0"/>
          </a:p>
          <a:p>
            <a:endParaRPr lang="en-US" dirty="0"/>
          </a:p>
        </p:txBody>
      </p:sp>
      <p:sp>
        <p:nvSpPr>
          <p:cNvPr id="4" name="Date Placeholder 3"/>
          <p:cNvSpPr>
            <a:spLocks noGrp="1"/>
          </p:cNvSpPr>
          <p:nvPr>
            <p:ph type="dt" sz="half" idx="10"/>
          </p:nvPr>
        </p:nvSpPr>
        <p:spPr/>
        <p:txBody>
          <a:bodyPr/>
          <a:lstStyle/>
          <a:p>
            <a:fld id="{328B2EA8-2BFF-46FC-AD4A-FBF4F9ECF01E}"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4</a:t>
            </a:fld>
            <a:endParaRPr lang="en-US"/>
          </a:p>
        </p:txBody>
      </p:sp>
      <p:sp>
        <p:nvSpPr>
          <p:cNvPr id="7" name="Title 1"/>
          <p:cNvSpPr>
            <a:spLocks noGrp="1"/>
          </p:cNvSpPr>
          <p:nvPr>
            <p:ph type="title"/>
          </p:nvPr>
        </p:nvSpPr>
        <p:spPr>
          <a:xfrm>
            <a:off x="1370862" y="0"/>
            <a:ext cx="7773138" cy="582700"/>
          </a:xfrm>
        </p:spPr>
        <p:txBody>
          <a:bodyPr/>
          <a:lstStyle/>
          <a:p>
            <a:r>
              <a:rPr lang="en-US" dirty="0"/>
              <a:t>Contents</a:t>
            </a:r>
          </a:p>
        </p:txBody>
      </p:sp>
    </p:spTree>
    <p:extLst>
      <p:ext uri="{BB962C8B-B14F-4D97-AF65-F5344CB8AC3E}">
        <p14:creationId xmlns:p14="http://schemas.microsoft.com/office/powerpoint/2010/main" val="2755358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588"/>
            <a:ext cx="7010400" cy="796925"/>
          </a:xfrm>
          <a:solidFill>
            <a:srgbClr val="B7EEFF"/>
          </a:solidFill>
        </p:spPr>
        <p:style>
          <a:lnRef idx="1">
            <a:schemeClr val="accent5"/>
          </a:lnRef>
          <a:fillRef idx="2">
            <a:schemeClr val="accent5"/>
          </a:fillRef>
          <a:effectRef idx="1">
            <a:schemeClr val="accent5"/>
          </a:effectRef>
          <a:fontRef idx="minor">
            <a:schemeClr val="dk1"/>
          </a:fontRef>
        </p:style>
        <p:txBody>
          <a:bodyPr rtlCol="0"/>
          <a:lstStyle/>
          <a:p>
            <a:pPr>
              <a:buFont typeface="Arial" charset="0"/>
              <a:buNone/>
              <a:defRPr/>
            </a:pPr>
            <a:r>
              <a:rPr lang="en-US" sz="2800" dirty="0">
                <a:latin typeface="Times New Roman" pitchFamily="18" charset="0"/>
                <a:cs typeface="Times New Roman" pitchFamily="18" charset="0"/>
                <a:sym typeface="Arial" charset="0"/>
              </a:rPr>
              <a:t>Evaluation Scheme</a:t>
            </a:r>
            <a:endParaRPr lang="en-IN" sz="2800" dirty="0">
              <a:latin typeface="Times New Roman" pitchFamily="18" charset="0"/>
              <a:cs typeface="Times New Roman" pitchFamily="18" charset="0"/>
              <a:sym typeface="Arial" charset="0"/>
            </a:endParaRPr>
          </a:p>
        </p:txBody>
      </p:sp>
      <p:sp>
        <p:nvSpPr>
          <p:cNvPr id="39939" name="Rectangle 7"/>
          <p:cNvSpPr>
            <a:spLocks noChangeArrowheads="1"/>
          </p:cNvSpPr>
          <p:nvPr/>
        </p:nvSpPr>
        <p:spPr bwMode="auto">
          <a:xfrm>
            <a:off x="204788" y="946150"/>
            <a:ext cx="82454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hangingPunct="1">
              <a:buClrTx/>
              <a:buFontTx/>
              <a:buNone/>
              <a:defRPr/>
            </a:pPr>
            <a:r>
              <a:rPr lang="en-US" sz="2400" dirty="0">
                <a:latin typeface="Times New Roman" panose="02020603050405020304" pitchFamily="18" charset="0"/>
                <a:cs typeface="Times New Roman" panose="02020603050405020304" pitchFamily="18" charset="0"/>
              </a:rPr>
              <a:t>        </a:t>
            </a:r>
          </a:p>
        </p:txBody>
      </p:sp>
      <p:sp>
        <p:nvSpPr>
          <p:cNvPr id="39940" name="Date Placeholder 6"/>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8DE64397-389D-48BC-9885-47E599DE2A85}" type="datetime1">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39941" name="Slide Number Placeholder 7"/>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C7FAFD75-C369-404B-8901-03CF49A01E66}" type="slidenum">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5</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39943" name="Picture 14" descr="NI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8"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p:nvPr/>
        </p:nvPicPr>
        <p:blipFill>
          <a:blip r:embed="rId4"/>
          <a:srcRect/>
          <a:stretch>
            <a:fillRect/>
          </a:stretch>
        </p:blipFill>
        <p:spPr bwMode="auto">
          <a:xfrm>
            <a:off x="533400" y="798512"/>
            <a:ext cx="8229600" cy="5602287"/>
          </a:xfrm>
          <a:prstGeom prst="rect">
            <a:avLst/>
          </a:prstGeom>
          <a:noFill/>
          <a:ln w="9525">
            <a:noFill/>
            <a:miter lim="800000"/>
            <a:headEnd/>
            <a:tailEnd/>
          </a:ln>
        </p:spPr>
      </p:pic>
    </p:spTree>
    <p:extLst>
      <p:ext uri="{BB962C8B-B14F-4D97-AF65-F5344CB8AC3E}">
        <p14:creationId xmlns:p14="http://schemas.microsoft.com/office/powerpoint/2010/main" val="834544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913782410"/>
              </p:ext>
            </p:extLst>
          </p:nvPr>
        </p:nvGraphicFramePr>
        <p:xfrm>
          <a:off x="228600" y="772138"/>
          <a:ext cx="8686800" cy="5579132"/>
        </p:xfrm>
        <a:graphic>
          <a:graphicData uri="http://schemas.openxmlformats.org/drawingml/2006/table">
            <a:tbl>
              <a:tblPr firstRow="1" firstCol="1" bandRow="1">
                <a:tableStyleId>{5C22544A-7EE6-4342-B048-85BDC9FD1C3A}</a:tableStyleId>
              </a:tblPr>
              <a:tblGrid>
                <a:gridCol w="533400">
                  <a:extLst>
                    <a:ext uri="{9D8B030D-6E8A-4147-A177-3AD203B41FA5}">
                      <a16:colId xmlns:a16="http://schemas.microsoft.com/office/drawing/2014/main" val="3653803457"/>
                    </a:ext>
                  </a:extLst>
                </a:gridCol>
                <a:gridCol w="8153400">
                  <a:extLst>
                    <a:ext uri="{9D8B030D-6E8A-4147-A177-3AD203B41FA5}">
                      <a16:colId xmlns:a16="http://schemas.microsoft.com/office/drawing/2014/main" val="1504710162"/>
                    </a:ext>
                  </a:extLst>
                </a:gridCol>
              </a:tblGrid>
              <a:tr h="228945">
                <a:tc>
                  <a:txBody>
                    <a:bodyPr/>
                    <a:lstStyle/>
                    <a:p>
                      <a:pPr marL="0" marR="0">
                        <a:lnSpc>
                          <a:spcPct val="115000"/>
                        </a:lnSpc>
                        <a:spcBef>
                          <a:spcPts val="0"/>
                        </a:spcBef>
                        <a:spcAft>
                          <a:spcPts val="0"/>
                        </a:spcAft>
                      </a:pPr>
                      <a:r>
                        <a:rPr lang="en-US" sz="1200" dirty="0">
                          <a:effectLst/>
                        </a:rPr>
                        <a:t>Unit</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nSpc>
                          <a:spcPct val="115000"/>
                        </a:lnSpc>
                        <a:spcBef>
                          <a:spcPts val="0"/>
                        </a:spcBef>
                        <a:spcAft>
                          <a:spcPts val="0"/>
                        </a:spcAft>
                      </a:pPr>
                      <a:r>
                        <a:rPr lang="en-US" sz="1200">
                          <a:effectLst/>
                        </a:rPr>
                        <a:t>Topic</a:t>
                      </a:r>
                      <a:endParaRPr lang="en-US"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6037876"/>
                  </a:ext>
                </a:extLst>
              </a:tr>
              <a:tr h="1165417">
                <a:tc>
                  <a:txBody>
                    <a:bodyPr/>
                    <a:lstStyle/>
                    <a:p>
                      <a:pPr marL="0" marR="0" algn="just">
                        <a:lnSpc>
                          <a:spcPct val="115000"/>
                        </a:lnSpc>
                        <a:spcBef>
                          <a:spcPts val="0"/>
                        </a:spcBef>
                        <a:spcAft>
                          <a:spcPts val="0"/>
                        </a:spcAft>
                      </a:pPr>
                      <a:r>
                        <a:rPr lang="en-US" sz="1200" b="0">
                          <a:effectLst/>
                        </a:rPr>
                        <a:t>I </a:t>
                      </a:r>
                      <a:endParaRPr lang="en-US" sz="1100" b="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b="0" kern="1200" dirty="0">
                          <a:solidFill>
                            <a:schemeClr val="dk1"/>
                          </a:solidFill>
                          <a:effectLst/>
                          <a:latin typeface="+mn-lt"/>
                          <a:ea typeface="+mn-ea"/>
                          <a:cs typeface="+mn-cs"/>
                        </a:rPr>
                        <a:t>Introductory Concepts: Goals and applications of networks, Categories of networks, Organization of the Internet, ISP, Network structure and architecture (layering principles, services, protocols and standards), The OSI reference model, TCP/IP protocol suite, Network devices and components. Physical Layer: Network topology design, Types of connections, Transmission media, Signal transmission and encoding, Network performance and transmission impairments, Switching techniques and multiplexing.</a:t>
                      </a:r>
                      <a:endParaRPr lang="en-US" sz="16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369317437"/>
                  </a:ext>
                </a:extLst>
              </a:tr>
              <a:tr h="929571">
                <a:tc>
                  <a:txBody>
                    <a:bodyPr/>
                    <a:lstStyle/>
                    <a:p>
                      <a:pPr marL="0" marR="0" algn="just">
                        <a:lnSpc>
                          <a:spcPct val="115000"/>
                        </a:lnSpc>
                        <a:spcBef>
                          <a:spcPts val="0"/>
                        </a:spcBef>
                        <a:spcAft>
                          <a:spcPts val="0"/>
                        </a:spcAft>
                      </a:pPr>
                      <a:r>
                        <a:rPr lang="en-US" sz="1200">
                          <a:effectLst/>
                        </a:rPr>
                        <a:t>II </a:t>
                      </a:r>
                      <a:endParaRPr lang="en-US" sz="1100">
                        <a:effectLst/>
                      </a:endParaRPr>
                    </a:p>
                    <a:p>
                      <a:pPr marL="0" marR="0" algn="just">
                        <a:lnSpc>
                          <a:spcPct val="115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kern="1200" dirty="0">
                          <a:solidFill>
                            <a:schemeClr val="dk1"/>
                          </a:solidFill>
                          <a:effectLst/>
                          <a:latin typeface="+mn-lt"/>
                          <a:ea typeface="+mn-ea"/>
                          <a:cs typeface="+mn-cs"/>
                        </a:rPr>
                        <a:t>Link layer: Framing, Error Detection and Correction, Flow control (Elementary Data Link Protocols, Sliding Window protocols). Medium Access Control and Local Area Networks: Channel allocation, Multiple access protocols, LAN standards, Link layer switches &amp; bridges (learning bridge and spanning tree algorithms).</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120622754"/>
                  </a:ext>
                </a:extLst>
              </a:tr>
              <a:tr h="693726">
                <a:tc>
                  <a:txBody>
                    <a:bodyPr/>
                    <a:lstStyle/>
                    <a:p>
                      <a:pPr marL="0" marR="0" algn="just">
                        <a:lnSpc>
                          <a:spcPct val="115000"/>
                        </a:lnSpc>
                        <a:spcBef>
                          <a:spcPts val="0"/>
                        </a:spcBef>
                        <a:spcAft>
                          <a:spcPts val="0"/>
                        </a:spcAft>
                      </a:pPr>
                      <a:r>
                        <a:rPr lang="en-US" sz="1200">
                          <a:effectLst/>
                        </a:rPr>
                        <a:t>III</a:t>
                      </a:r>
                      <a:endParaRPr lang="en-US"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kern="1200" dirty="0">
                          <a:solidFill>
                            <a:schemeClr val="dk1"/>
                          </a:solidFill>
                          <a:effectLst/>
                          <a:latin typeface="+mn-lt"/>
                          <a:ea typeface="+mn-ea"/>
                          <a:cs typeface="+mn-cs"/>
                        </a:rPr>
                        <a:t>Network Layer: Point-to-point networks, Logical addressing, Basic internetworking (IP, CIDR, ARP, RARP, DHCP, ICMP), Routing, forwarding and delivery, Static and dynamic routing, Routing algorithms and protocols, Congestion control algorithms, IPv6.</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70703379"/>
                  </a:ext>
                </a:extLst>
              </a:tr>
              <a:tr h="929571">
                <a:tc>
                  <a:txBody>
                    <a:bodyPr/>
                    <a:lstStyle/>
                    <a:p>
                      <a:pPr marL="0" marR="0" algn="just">
                        <a:lnSpc>
                          <a:spcPct val="115000"/>
                        </a:lnSpc>
                        <a:spcBef>
                          <a:spcPts val="0"/>
                        </a:spcBef>
                        <a:spcAft>
                          <a:spcPts val="0"/>
                        </a:spcAft>
                      </a:pPr>
                      <a:r>
                        <a:rPr lang="en-US" sz="1200" b="1">
                          <a:effectLst/>
                        </a:rPr>
                        <a:t>IV </a:t>
                      </a:r>
                      <a:endParaRPr lang="en-US" sz="1100" b="1">
                        <a:effectLst/>
                      </a:endParaRPr>
                    </a:p>
                    <a:p>
                      <a:pPr marL="0" marR="0" algn="just">
                        <a:lnSpc>
                          <a:spcPct val="115000"/>
                        </a:lnSpc>
                        <a:spcBef>
                          <a:spcPts val="0"/>
                        </a:spcBef>
                        <a:spcAft>
                          <a:spcPts val="0"/>
                        </a:spcAft>
                      </a:pPr>
                      <a:r>
                        <a:rPr lang="en-US" sz="1200" b="1">
                          <a:effectLst/>
                        </a:rPr>
                        <a:t> </a:t>
                      </a:r>
                      <a:endParaRPr lang="en-US" sz="11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b="1" kern="1200" dirty="0">
                          <a:solidFill>
                            <a:schemeClr val="dk1"/>
                          </a:solidFill>
                          <a:effectLst/>
                          <a:latin typeface="+mn-lt"/>
                          <a:ea typeface="+mn-ea"/>
                          <a:cs typeface="+mn-cs"/>
                        </a:rPr>
                        <a:t>Transport Layer: Process-to-process delivery, Transport layer protocols (UDP and TCP), Multiplexing, Connection management, Flow control and retransmission, Window management, TCP Congestion control, Quality of service.</a:t>
                      </a:r>
                      <a:endParaRPr lang="en-US" sz="16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573241202"/>
                  </a:ext>
                </a:extLst>
              </a:tr>
              <a:tr h="658949">
                <a:tc>
                  <a:txBody>
                    <a:bodyPr/>
                    <a:lstStyle/>
                    <a:p>
                      <a:pPr marL="0" marR="0" algn="just">
                        <a:lnSpc>
                          <a:spcPct val="115000"/>
                        </a:lnSpc>
                        <a:spcBef>
                          <a:spcPts val="0"/>
                        </a:spcBef>
                        <a:spcAft>
                          <a:spcPts val="0"/>
                        </a:spcAft>
                      </a:pPr>
                      <a:r>
                        <a:rPr lang="en-US" sz="1200">
                          <a:effectLst/>
                        </a:rPr>
                        <a:t>V </a:t>
                      </a:r>
                      <a:endParaRPr lang="en-US" sz="1100">
                        <a:effectLst/>
                      </a:endParaRPr>
                    </a:p>
                    <a:p>
                      <a:pPr marL="0" marR="0" algn="just">
                        <a:lnSpc>
                          <a:spcPct val="115000"/>
                        </a:lnSpc>
                        <a:spcBef>
                          <a:spcPts val="0"/>
                        </a:spcBef>
                        <a:spcAft>
                          <a:spcPts val="0"/>
                        </a:spcAft>
                      </a:pPr>
                      <a:r>
                        <a:rPr lang="en-US" sz="1200">
                          <a:effectLst/>
                        </a:rPr>
                        <a:t> </a:t>
                      </a:r>
                      <a:endParaRPr lang="en-US" sz="1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kern="1200" dirty="0">
                          <a:solidFill>
                            <a:schemeClr val="dk1"/>
                          </a:solidFill>
                          <a:effectLst/>
                          <a:latin typeface="+mn-lt"/>
                          <a:ea typeface="+mn-ea"/>
                          <a:cs typeface="+mn-cs"/>
                        </a:rPr>
                        <a:t>Application Layer: Domain Name System, World Wide Web and Hyper Text Transfer Protocol, Electronic mail, File Transfer Protocol, Remote login, Network management, Data compression, Cryptography – basic concepts.</a:t>
                      </a:r>
                      <a:endParaRPr lang="en-US" sz="16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912995172"/>
                  </a:ext>
                </a:extLst>
              </a:tr>
            </a:tbl>
          </a:graphicData>
        </a:graphic>
      </p:graphicFrame>
      <p:sp>
        <p:nvSpPr>
          <p:cNvPr id="4" name="Date Placeholder 3"/>
          <p:cNvSpPr>
            <a:spLocks noGrp="1"/>
          </p:cNvSpPr>
          <p:nvPr>
            <p:ph type="dt" sz="half" idx="10"/>
          </p:nvPr>
        </p:nvSpPr>
        <p:spPr/>
        <p:txBody>
          <a:bodyPr/>
          <a:lstStyle/>
          <a:p>
            <a:fld id="{CB3B9DFE-22AA-4A42-9FD6-BD49EAEA058A}"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71600" y="0"/>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Syllabus</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03215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1"/>
          </p:nvPr>
        </p:nvSpPr>
        <p:spPr>
          <a:xfrm>
            <a:off x="-304800" y="6356350"/>
            <a:ext cx="2895600" cy="365125"/>
          </a:xfrm>
          <a:noFill/>
        </p:spPr>
        <p:txBody>
          <a:bodyPr/>
          <a:lstStyle/>
          <a:p>
            <a:pPr>
              <a:buFont typeface="Arial" pitchFamily="34" charset="0"/>
              <a:buNone/>
            </a:pPr>
            <a:fld id="{642437DE-55C4-4C75-8BD9-6354DD9EE809}" type="datetime1">
              <a:rPr lang="en-US" smtClean="0"/>
              <a:t>4/29/2022</a:t>
            </a:fld>
            <a:endParaRPr lang="en-US" dirty="0"/>
          </a:p>
        </p:txBody>
      </p:sp>
      <p:sp>
        <p:nvSpPr>
          <p:cNvPr id="10244" name="Slide Number Placeholder 5"/>
          <p:cNvSpPr>
            <a:spLocks noGrp="1"/>
          </p:cNvSpPr>
          <p:nvPr>
            <p:ph type="sldNum" sz="quarter" idx="4294967295"/>
          </p:nvPr>
        </p:nvSpPr>
        <p:spPr>
          <a:xfrm>
            <a:off x="6223000" y="6356350"/>
            <a:ext cx="2895600" cy="365125"/>
          </a:xfrm>
          <a:prstGeom prst="rect">
            <a:avLst/>
          </a:prstGeom>
          <a:noFill/>
        </p:spPr>
        <p:txBody>
          <a:bodyPr/>
          <a:lstStyle/>
          <a:p>
            <a:pPr algn="ctr">
              <a:buSzPts val="1400"/>
              <a:buFont typeface="Arial" pitchFamily="34" charset="0"/>
              <a:buNone/>
            </a:pPr>
            <a:fld id="{C37AE07E-7BC9-49E1-822A-83DAB9ECD80E}" type="slidenum">
              <a:rPr lang="en-US" smtClean="0"/>
              <a:pPr algn="ctr">
                <a:buSzPts val="1400"/>
                <a:buFont typeface="Arial" pitchFamily="34" charset="0"/>
                <a:buNone/>
              </a:pPr>
              <a:t>7</a:t>
            </a:fld>
            <a:endParaRPr lang="en-US"/>
          </a:p>
        </p:txBody>
      </p:sp>
      <p:sp>
        <p:nvSpPr>
          <p:cNvPr id="7" name="Title 1"/>
          <p:cNvSpPr txBox="1">
            <a:spLocks/>
          </p:cNvSpPr>
          <p:nvPr/>
        </p:nvSpPr>
        <p:spPr>
          <a:xfrm>
            <a:off x="1524000" y="0"/>
            <a:ext cx="7620000" cy="68580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000" dirty="0">
                <a:sym typeface="Arial" charset="0"/>
              </a:rPr>
              <a:t>Branch wise Applications</a:t>
            </a:r>
          </a:p>
        </p:txBody>
      </p:sp>
      <p:sp>
        <p:nvSpPr>
          <p:cNvPr id="10246" name="TextBox 7"/>
          <p:cNvSpPr txBox="1">
            <a:spLocks noChangeArrowheads="1"/>
          </p:cNvSpPr>
          <p:nvPr/>
        </p:nvSpPr>
        <p:spPr bwMode="auto">
          <a:xfrm>
            <a:off x="457200" y="1066800"/>
            <a:ext cx="8250238" cy="4760278"/>
          </a:xfrm>
          <a:prstGeom prst="rect">
            <a:avLst/>
          </a:prstGeom>
          <a:noFill/>
          <a:ln w="9525">
            <a:noFill/>
            <a:miter lim="800000"/>
            <a:headEnd/>
            <a:tailEnd/>
          </a:ln>
        </p:spPr>
        <p:txBody>
          <a:bodyPr wrap="square">
            <a:spAutoFit/>
          </a:bodyPr>
          <a:lstStyle/>
          <a:p>
            <a:pPr marL="457200" indent="-457200">
              <a:buFont typeface="Arial" panose="020B0604020202020204" pitchFamily="34" charset="0"/>
              <a:buChar char="•"/>
            </a:pPr>
            <a:r>
              <a:rPr lang="en-US" sz="2800" dirty="0"/>
              <a:t>Resource Sharing</a:t>
            </a:r>
          </a:p>
          <a:p>
            <a:pPr marL="457200" indent="-457200">
              <a:buFont typeface="Arial" panose="020B0604020202020204" pitchFamily="34" charset="0"/>
              <a:buChar char="•"/>
            </a:pPr>
            <a:r>
              <a:rPr lang="en-US" sz="2800" dirty="0"/>
              <a:t>Server-Client model:</a:t>
            </a:r>
          </a:p>
          <a:p>
            <a:pPr marL="457200" indent="-457200">
              <a:buFont typeface="Arial" panose="020B0604020202020204" pitchFamily="34" charset="0"/>
              <a:buChar char="•"/>
            </a:pPr>
            <a:r>
              <a:rPr lang="en-US" sz="2800" dirty="0"/>
              <a:t>Communication Medium:</a:t>
            </a:r>
          </a:p>
          <a:p>
            <a:pPr marL="457200" indent="-457200">
              <a:buFont typeface="Arial" panose="020B0604020202020204" pitchFamily="34" charset="0"/>
              <a:buChar char="•"/>
            </a:pPr>
            <a:r>
              <a:rPr lang="en-US" sz="2800" dirty="0"/>
              <a:t>Access to remote information</a:t>
            </a:r>
          </a:p>
          <a:p>
            <a:pPr marL="457200" indent="-457200">
              <a:buFont typeface="Arial" panose="020B0604020202020204" pitchFamily="34" charset="0"/>
              <a:buChar char="•"/>
            </a:pPr>
            <a:r>
              <a:rPr lang="en-US" sz="2800" dirty="0"/>
              <a:t>Person-to-person communication</a:t>
            </a:r>
          </a:p>
          <a:p>
            <a:pPr marL="457200" indent="-457200">
              <a:buFont typeface="Arial" panose="020B0604020202020204" pitchFamily="34" charset="0"/>
              <a:buChar char="•"/>
            </a:pPr>
            <a:r>
              <a:rPr lang="en-US" sz="2800" dirty="0"/>
              <a:t>Electronic commerce</a:t>
            </a:r>
          </a:p>
          <a:p>
            <a:pPr marL="457200" indent="-457200">
              <a:spcBef>
                <a:spcPts val="363"/>
              </a:spcBef>
              <a:spcAft>
                <a:spcPct val="0"/>
              </a:spcAft>
              <a:buClr>
                <a:srgbClr val="000000"/>
              </a:buClr>
              <a:buFont typeface="Arial" panose="020B0604020202020204" pitchFamily="34" charset="0"/>
              <a:buChar char="•"/>
            </a:pPr>
            <a:r>
              <a:rPr lang="en-US" sz="2800" dirty="0">
                <a:cs typeface="Times New Roman" pitchFamily="18" charset="0"/>
              </a:rPr>
              <a:t>Cloud-based Applications</a:t>
            </a:r>
          </a:p>
          <a:p>
            <a:pPr marL="457200" indent="-457200">
              <a:spcBef>
                <a:spcPct val="0"/>
              </a:spcBef>
              <a:buFont typeface="Arial" panose="020B0604020202020204" pitchFamily="34" charset="0"/>
              <a:buChar char="•"/>
            </a:pPr>
            <a:r>
              <a:rPr lang="en-US" sz="2800" dirty="0">
                <a:solidFill>
                  <a:srgbClr val="000000"/>
                </a:solidFill>
                <a:cs typeface="Times New Roman" panose="02020603050405020304" pitchFamily="18" charset="0"/>
              </a:rPr>
              <a:t>AI and Expert System</a:t>
            </a:r>
          </a:p>
          <a:p>
            <a:pPr marL="457200" indent="-457200">
              <a:spcBef>
                <a:spcPct val="0"/>
              </a:spcBef>
              <a:buFont typeface="Arial" panose="020B0604020202020204" pitchFamily="34" charset="0"/>
              <a:buChar char="•"/>
            </a:pPr>
            <a:r>
              <a:rPr lang="en-US" sz="2800" dirty="0">
                <a:solidFill>
                  <a:srgbClr val="000000"/>
                </a:solidFill>
                <a:cs typeface="Times New Roman" panose="02020603050405020304" pitchFamily="18" charset="0"/>
              </a:rPr>
              <a:t>Neural Networks and parallel programming</a:t>
            </a:r>
          </a:p>
          <a:p>
            <a:pPr marL="457200" indent="-457200">
              <a:spcBef>
                <a:spcPct val="0"/>
              </a:spcBef>
              <a:buFont typeface="Arial" panose="020B0604020202020204" pitchFamily="34" charset="0"/>
              <a:buChar char="•"/>
            </a:pPr>
            <a:r>
              <a:rPr lang="en-US" sz="2800" dirty="0">
                <a:solidFill>
                  <a:srgbClr val="000000"/>
                </a:solidFill>
                <a:cs typeface="Times New Roman" panose="02020603050405020304" pitchFamily="18" charset="0"/>
              </a:rPr>
              <a:t>Decision support and office automation systems etc.</a:t>
            </a:r>
          </a:p>
          <a:p>
            <a:endParaRPr lang="en-US" sz="2000" dirty="0"/>
          </a:p>
        </p:txBody>
      </p:sp>
    </p:spTree>
    <p:extLst>
      <p:ext uri="{BB962C8B-B14F-4D97-AF65-F5344CB8AC3E}">
        <p14:creationId xmlns:p14="http://schemas.microsoft.com/office/powerpoint/2010/main" val="1593035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200" dirty="0"/>
              <a:t>To develop an understanding of </a:t>
            </a:r>
          </a:p>
          <a:p>
            <a:pPr algn="just"/>
            <a:r>
              <a:rPr lang="en-US" sz="2200" b="1" dirty="0"/>
              <a:t>To understand computer networking basics.</a:t>
            </a:r>
          </a:p>
          <a:p>
            <a:pPr algn="just"/>
            <a:r>
              <a:rPr lang="en-US" sz="2200" dirty="0"/>
              <a:t>To understand different components of computer networks.</a:t>
            </a:r>
          </a:p>
          <a:p>
            <a:pPr algn="just"/>
            <a:r>
              <a:rPr lang="en-US" sz="2200" dirty="0"/>
              <a:t>To study and understand various protocols.</a:t>
            </a:r>
          </a:p>
          <a:p>
            <a:pPr algn="just"/>
            <a:r>
              <a:rPr lang="en-US" sz="2200" dirty="0"/>
              <a:t>The standard models for the layered approach to communication between autonomous machines in a network.</a:t>
            </a:r>
          </a:p>
          <a:p>
            <a:pPr algn="just"/>
            <a:r>
              <a:rPr lang="en-US" sz="2200" dirty="0"/>
              <a:t>To study and understand the main characteristics of data transmission across various physical link types. </a:t>
            </a:r>
          </a:p>
        </p:txBody>
      </p:sp>
      <p:sp>
        <p:nvSpPr>
          <p:cNvPr id="4" name="Date Placeholder 3"/>
          <p:cNvSpPr>
            <a:spLocks noGrp="1"/>
          </p:cNvSpPr>
          <p:nvPr>
            <p:ph type="dt" sz="half" idx="10"/>
          </p:nvPr>
        </p:nvSpPr>
        <p:spPr/>
        <p:txBody>
          <a:bodyPr/>
          <a:lstStyle/>
          <a:p>
            <a:fld id="{79EFDCC2-AFC6-4DB8-9DAC-1A4F0F5DC640}"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Course</a:t>
            </a:r>
            <a:r>
              <a:rPr kumimoji="0" lang="en-US" sz="3000" b="0" i="0" u="none" strike="noStrike" kern="1200" cap="none" spc="0" normalizeH="0" noProof="0" dirty="0">
                <a:ln>
                  <a:noFill/>
                </a:ln>
                <a:solidFill>
                  <a:schemeClr val="dk1"/>
                </a:solidFill>
                <a:effectLst/>
                <a:uLnTx/>
                <a:uFillTx/>
                <a:latin typeface="+mn-lt"/>
                <a:ea typeface="+mn-ea"/>
                <a:cs typeface="+mn-cs"/>
              </a:rPr>
              <a:t> Objective</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109692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2B2D86-E5C7-4DCE-81CF-6D227F277541}"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Course</a:t>
            </a:r>
            <a:r>
              <a:rPr kumimoji="0" lang="en-US" sz="3000" b="0" i="0" u="none" strike="noStrike" kern="1200" cap="none" spc="0" normalizeH="0" noProof="0" dirty="0">
                <a:ln>
                  <a:noFill/>
                </a:ln>
                <a:solidFill>
                  <a:schemeClr val="dk1"/>
                </a:solidFill>
                <a:effectLst/>
                <a:uLnTx/>
                <a:uFillTx/>
                <a:latin typeface="+mn-lt"/>
                <a:ea typeface="+mn-ea"/>
                <a:cs typeface="+mn-cs"/>
              </a:rPr>
              <a:t> Outcome</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TextBox 2"/>
          <p:cNvSpPr txBox="1"/>
          <p:nvPr/>
        </p:nvSpPr>
        <p:spPr>
          <a:xfrm>
            <a:off x="150202" y="793836"/>
            <a:ext cx="5275162" cy="400110"/>
          </a:xfrm>
          <a:prstGeom prst="rect">
            <a:avLst/>
          </a:prstGeom>
          <a:noFill/>
        </p:spPr>
        <p:txBody>
          <a:bodyPr wrap="none" rtlCol="0">
            <a:spAutoFit/>
          </a:bodyPr>
          <a:lstStyle/>
          <a:p>
            <a:r>
              <a:rPr lang="en-US" sz="2000" dirty="0"/>
              <a:t>At the end of the course, the student will be able</a:t>
            </a:r>
          </a:p>
        </p:txBody>
      </p:sp>
      <p:graphicFrame>
        <p:nvGraphicFramePr>
          <p:cNvPr id="5" name="Table 4">
            <a:extLst>
              <a:ext uri="{FF2B5EF4-FFF2-40B4-BE49-F238E27FC236}">
                <a16:creationId xmlns:a16="http://schemas.microsoft.com/office/drawing/2014/main" id="{17149DD7-4484-47EC-AD6C-757022E06522}"/>
              </a:ext>
            </a:extLst>
          </p:cNvPr>
          <p:cNvGraphicFramePr>
            <a:graphicFrameLocks noGrp="1"/>
          </p:cNvGraphicFramePr>
          <p:nvPr>
            <p:extLst>
              <p:ext uri="{D42A27DB-BD31-4B8C-83A1-F6EECF244321}">
                <p14:modId xmlns:p14="http://schemas.microsoft.com/office/powerpoint/2010/main" val="555442511"/>
              </p:ext>
            </p:extLst>
          </p:nvPr>
        </p:nvGraphicFramePr>
        <p:xfrm>
          <a:off x="228600" y="1292733"/>
          <a:ext cx="8606910" cy="5057211"/>
        </p:xfrm>
        <a:graphic>
          <a:graphicData uri="http://schemas.openxmlformats.org/drawingml/2006/table">
            <a:tbl>
              <a:tblPr firstRow="1" firstCol="1" bandRow="1">
                <a:tableStyleId>{5C22544A-7EE6-4342-B048-85BDC9FD1C3A}</a:tableStyleId>
              </a:tblPr>
              <a:tblGrid>
                <a:gridCol w="1014810">
                  <a:extLst>
                    <a:ext uri="{9D8B030D-6E8A-4147-A177-3AD203B41FA5}">
                      <a16:colId xmlns:a16="http://schemas.microsoft.com/office/drawing/2014/main" val="1619956433"/>
                    </a:ext>
                  </a:extLst>
                </a:gridCol>
                <a:gridCol w="6385689">
                  <a:extLst>
                    <a:ext uri="{9D8B030D-6E8A-4147-A177-3AD203B41FA5}">
                      <a16:colId xmlns:a16="http://schemas.microsoft.com/office/drawing/2014/main" val="2417093939"/>
                    </a:ext>
                  </a:extLst>
                </a:gridCol>
                <a:gridCol w="1206411">
                  <a:extLst>
                    <a:ext uri="{9D8B030D-6E8A-4147-A177-3AD203B41FA5}">
                      <a16:colId xmlns:a16="http://schemas.microsoft.com/office/drawing/2014/main" val="3701425690"/>
                    </a:ext>
                  </a:extLst>
                </a:gridCol>
              </a:tblGrid>
              <a:tr h="218052">
                <a:tc gridSpan="2">
                  <a:txBody>
                    <a:bodyPr/>
                    <a:lstStyle/>
                    <a:p>
                      <a:pPr marL="0" marR="0" algn="just">
                        <a:lnSpc>
                          <a:spcPts val="1265"/>
                        </a:lnSpc>
                        <a:spcBef>
                          <a:spcPts val="0"/>
                        </a:spcBef>
                        <a:spcAft>
                          <a:spcPts val="1000"/>
                        </a:spcAft>
                      </a:pPr>
                      <a:r>
                        <a:rPr lang="en-US" sz="1400" dirty="0">
                          <a:effectLst/>
                        </a:rPr>
                        <a:t> </a:t>
                      </a:r>
                    </a:p>
                    <a:p>
                      <a:pPr marL="0" marR="0" algn="just">
                        <a:lnSpc>
                          <a:spcPts val="1265"/>
                        </a:lnSpc>
                        <a:spcBef>
                          <a:spcPts val="0"/>
                        </a:spcBef>
                        <a:spcAft>
                          <a:spcPts val="1000"/>
                        </a:spcAft>
                      </a:pPr>
                      <a:r>
                        <a:rPr lang="en-US" sz="1400" dirty="0">
                          <a:effectLst/>
                        </a:rPr>
                        <a:t>Course Outcomes (CO)</a:t>
                      </a:r>
                    </a:p>
                    <a:p>
                      <a:pPr marL="0" marR="0" algn="just">
                        <a:lnSpc>
                          <a:spcPts val="1265"/>
                        </a:lnSpc>
                        <a:spcBef>
                          <a:spcPts val="0"/>
                        </a:spcBef>
                        <a:spcAft>
                          <a:spcPts val="1000"/>
                        </a:spcAft>
                      </a:pPr>
                      <a:r>
                        <a:rPr lang="en-US" sz="1400" dirty="0">
                          <a:effectLst/>
                        </a:rPr>
                        <a:t> </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hMerge="1">
                  <a:txBody>
                    <a:bodyPr/>
                    <a:lstStyle/>
                    <a:p>
                      <a:endParaRPr lang="en-US"/>
                    </a:p>
                  </a:txBody>
                  <a:tcPr/>
                </a:tc>
                <a:tc>
                  <a:txBody>
                    <a:bodyPr/>
                    <a:lstStyle/>
                    <a:p>
                      <a:r>
                        <a:rPr lang="en-US" sz="1400" dirty="0">
                          <a:effectLst/>
                        </a:rPr>
                        <a:t>Bloom’s Knowledge Level (KL)</a:t>
                      </a:r>
                      <a:endParaRPr lang="en-US" dirty="0"/>
                    </a:p>
                  </a:txBody>
                  <a:tcPr marL="20258" marR="20258" marT="0" marB="0" anchor="ctr"/>
                </a:tc>
                <a:extLst>
                  <a:ext uri="{0D108BD9-81ED-4DB2-BD59-A6C34878D82A}">
                    <a16:rowId xmlns:a16="http://schemas.microsoft.com/office/drawing/2014/main" val="609850592"/>
                  </a:ext>
                </a:extLst>
              </a:tr>
              <a:tr h="1192540">
                <a:tc>
                  <a:txBody>
                    <a:bodyPr/>
                    <a:lstStyle/>
                    <a:p>
                      <a:pPr marL="0" marR="0">
                        <a:lnSpc>
                          <a:spcPts val="1265"/>
                        </a:lnSpc>
                        <a:spcBef>
                          <a:spcPts val="0"/>
                        </a:spcBef>
                        <a:spcAft>
                          <a:spcPts val="1000"/>
                        </a:spcAft>
                      </a:pPr>
                      <a:r>
                        <a:rPr lang="en-US" sz="1400" b="0" dirty="0">
                          <a:effectLst/>
                        </a:rPr>
                        <a:t>C603.1</a:t>
                      </a:r>
                      <a:endParaRPr lang="en-US" sz="1400" b="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nchor="ctr"/>
                </a:tc>
                <a:tc>
                  <a:txBody>
                    <a:bodyPr/>
                    <a:lstStyle/>
                    <a:p>
                      <a:pPr marL="0" marR="0" algn="just">
                        <a:lnSpc>
                          <a:spcPct val="115000"/>
                        </a:lnSpc>
                        <a:spcBef>
                          <a:spcPts val="0"/>
                        </a:spcBef>
                        <a:spcAft>
                          <a:spcPts val="1000"/>
                        </a:spcAft>
                      </a:pPr>
                      <a:r>
                        <a:rPr lang="en-US" sz="1400" b="0" dirty="0">
                          <a:effectLst/>
                        </a:rPr>
                        <a:t>Explain basic concepts, OSI reference model, services and role of each layer of OSI model and TCP/IP, networks devices and transmission media, Analog and digital data transmission</a:t>
                      </a:r>
                      <a:endParaRPr lang="en-US" sz="1400" b="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a:txBody>
                    <a:bodyPr/>
                    <a:lstStyle/>
                    <a:p>
                      <a:pPr marL="0" marR="0" algn="just">
                        <a:lnSpc>
                          <a:spcPct val="115000"/>
                        </a:lnSpc>
                        <a:spcBef>
                          <a:spcPts val="0"/>
                        </a:spcBef>
                        <a:spcAft>
                          <a:spcPts val="1000"/>
                        </a:spcAft>
                      </a:pPr>
                      <a:r>
                        <a:rPr lang="en-US" sz="1400" b="0" dirty="0">
                          <a:effectLst/>
                        </a:rPr>
                        <a:t>K1, K2</a:t>
                      </a:r>
                      <a:endParaRPr lang="en-US" sz="1400" b="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extLst>
                  <a:ext uri="{0D108BD9-81ED-4DB2-BD59-A6C34878D82A}">
                    <a16:rowId xmlns:a16="http://schemas.microsoft.com/office/drawing/2014/main" val="3355778335"/>
                  </a:ext>
                </a:extLst>
              </a:tr>
              <a:tr h="509181">
                <a:tc>
                  <a:txBody>
                    <a:bodyPr/>
                    <a:lstStyle/>
                    <a:p>
                      <a:pPr marL="0" marR="0">
                        <a:lnSpc>
                          <a:spcPct val="115000"/>
                        </a:lnSpc>
                        <a:spcBef>
                          <a:spcPts val="0"/>
                        </a:spcBef>
                        <a:spcAft>
                          <a:spcPts val="1000"/>
                        </a:spcAft>
                      </a:pPr>
                      <a:r>
                        <a:rPr lang="en-US" sz="1400">
                          <a:effectLst/>
                        </a:rPr>
                        <a:t>C603.2</a:t>
                      </a:r>
                      <a:endParaRPr lang="en-US" sz="140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nchor="ctr"/>
                </a:tc>
                <a:tc>
                  <a:txBody>
                    <a:bodyPr/>
                    <a:lstStyle/>
                    <a:p>
                      <a:pPr marL="0" marR="0" algn="just">
                        <a:lnSpc>
                          <a:spcPct val="115000"/>
                        </a:lnSpc>
                        <a:spcBef>
                          <a:spcPts val="0"/>
                        </a:spcBef>
                        <a:spcAft>
                          <a:spcPts val="1000"/>
                        </a:spcAft>
                      </a:pPr>
                      <a:r>
                        <a:rPr lang="en-US" sz="1400" dirty="0">
                          <a:effectLst/>
                        </a:rPr>
                        <a:t>Apply channel allocation, framing, error and flow control techniques.</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a:txBody>
                    <a:bodyPr/>
                    <a:lstStyle/>
                    <a:p>
                      <a:pPr marL="0" marR="0" algn="just">
                        <a:lnSpc>
                          <a:spcPct val="115000"/>
                        </a:lnSpc>
                        <a:spcBef>
                          <a:spcPts val="0"/>
                        </a:spcBef>
                        <a:spcAft>
                          <a:spcPts val="1000"/>
                        </a:spcAft>
                      </a:pPr>
                      <a:r>
                        <a:rPr lang="en-US" sz="1400" dirty="0">
                          <a:effectLst/>
                        </a:rPr>
                        <a:t> K3</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extLst>
                  <a:ext uri="{0D108BD9-81ED-4DB2-BD59-A6C34878D82A}">
                    <a16:rowId xmlns:a16="http://schemas.microsoft.com/office/drawing/2014/main" val="1945834857"/>
                  </a:ext>
                </a:extLst>
              </a:tr>
              <a:tr h="623074">
                <a:tc>
                  <a:txBody>
                    <a:bodyPr/>
                    <a:lstStyle/>
                    <a:p>
                      <a:pPr marL="0" marR="0">
                        <a:lnSpc>
                          <a:spcPct val="115000"/>
                        </a:lnSpc>
                        <a:spcBef>
                          <a:spcPts val="0"/>
                        </a:spcBef>
                        <a:spcAft>
                          <a:spcPts val="1000"/>
                        </a:spcAft>
                      </a:pPr>
                      <a:r>
                        <a:rPr lang="en-US" sz="1400">
                          <a:effectLst/>
                        </a:rPr>
                        <a:t>C603.3</a:t>
                      </a:r>
                      <a:endParaRPr lang="en-US" sz="140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nchor="ctr"/>
                </a:tc>
                <a:tc>
                  <a:txBody>
                    <a:bodyPr/>
                    <a:lstStyle/>
                    <a:p>
                      <a:pPr marL="0" marR="0" algn="just">
                        <a:lnSpc>
                          <a:spcPct val="115000"/>
                        </a:lnSpc>
                        <a:spcBef>
                          <a:spcPts val="0"/>
                        </a:spcBef>
                        <a:spcAft>
                          <a:spcPts val="1000"/>
                        </a:spcAft>
                      </a:pPr>
                      <a:r>
                        <a:rPr lang="en-US" sz="1400">
                          <a:effectLst/>
                        </a:rPr>
                        <a:t>Describe the functions of Network Layer i.e. Logical addressing, subnetting &amp; Routing Mechanism</a:t>
                      </a:r>
                      <a:endParaRPr lang="en-US" sz="140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a:txBody>
                    <a:bodyPr/>
                    <a:lstStyle/>
                    <a:p>
                      <a:pPr marL="0" marR="0" algn="just">
                        <a:lnSpc>
                          <a:spcPct val="115000"/>
                        </a:lnSpc>
                        <a:spcBef>
                          <a:spcPts val="0"/>
                        </a:spcBef>
                        <a:spcAft>
                          <a:spcPts val="1000"/>
                        </a:spcAft>
                      </a:pPr>
                      <a:r>
                        <a:rPr lang="en-US" sz="1400" dirty="0">
                          <a:effectLst/>
                        </a:rPr>
                        <a:t>K2, K3</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extLst>
                  <a:ext uri="{0D108BD9-81ED-4DB2-BD59-A6C34878D82A}">
                    <a16:rowId xmlns:a16="http://schemas.microsoft.com/office/drawing/2014/main" val="4286733592"/>
                  </a:ext>
                </a:extLst>
              </a:tr>
              <a:tr h="850861">
                <a:tc>
                  <a:txBody>
                    <a:bodyPr/>
                    <a:lstStyle/>
                    <a:p>
                      <a:pPr marL="0" marR="0">
                        <a:lnSpc>
                          <a:spcPct val="115000"/>
                        </a:lnSpc>
                        <a:spcBef>
                          <a:spcPts val="0"/>
                        </a:spcBef>
                        <a:spcAft>
                          <a:spcPts val="1000"/>
                        </a:spcAft>
                      </a:pPr>
                      <a:r>
                        <a:rPr lang="en-US" sz="1400" b="1">
                          <a:effectLst/>
                        </a:rPr>
                        <a:t>C603.4</a:t>
                      </a:r>
                      <a:endParaRPr lang="en-US" sz="1400" b="1">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nchor="ctr"/>
                </a:tc>
                <a:tc>
                  <a:txBody>
                    <a:bodyPr/>
                    <a:lstStyle/>
                    <a:p>
                      <a:pPr marL="0" marR="0" algn="just">
                        <a:lnSpc>
                          <a:spcPct val="115000"/>
                        </a:lnSpc>
                        <a:spcBef>
                          <a:spcPts val="0"/>
                        </a:spcBef>
                        <a:spcAft>
                          <a:spcPts val="1000"/>
                        </a:spcAft>
                      </a:pPr>
                      <a:r>
                        <a:rPr lang="en-US" sz="1400" b="1">
                          <a:effectLst/>
                        </a:rPr>
                        <a:t>Explain the different Transport Layer function i.e. Port addressing, Connection Management, Error control and Flow control mechanism.</a:t>
                      </a:r>
                      <a:endParaRPr lang="en-US" sz="1400" b="1">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a:txBody>
                    <a:bodyPr/>
                    <a:lstStyle/>
                    <a:p>
                      <a:pPr marL="0" marR="0" algn="just">
                        <a:lnSpc>
                          <a:spcPct val="115000"/>
                        </a:lnSpc>
                        <a:spcBef>
                          <a:spcPts val="0"/>
                        </a:spcBef>
                        <a:spcAft>
                          <a:spcPts val="1000"/>
                        </a:spcAft>
                      </a:pPr>
                      <a:r>
                        <a:rPr lang="en-US" sz="1400" b="1" dirty="0">
                          <a:effectLst/>
                        </a:rPr>
                        <a:t>K2, K3</a:t>
                      </a:r>
                      <a:endParaRPr lang="en-US" sz="1400" b="1"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extLst>
                  <a:ext uri="{0D108BD9-81ED-4DB2-BD59-A6C34878D82A}">
                    <a16:rowId xmlns:a16="http://schemas.microsoft.com/office/drawing/2014/main" val="3135048432"/>
                  </a:ext>
                </a:extLst>
              </a:tr>
              <a:tr h="509181">
                <a:tc>
                  <a:txBody>
                    <a:bodyPr/>
                    <a:lstStyle/>
                    <a:p>
                      <a:pPr marL="0" marR="0">
                        <a:lnSpc>
                          <a:spcPct val="115000"/>
                        </a:lnSpc>
                        <a:spcBef>
                          <a:spcPts val="0"/>
                        </a:spcBef>
                        <a:spcAft>
                          <a:spcPts val="1000"/>
                        </a:spcAft>
                      </a:pPr>
                      <a:r>
                        <a:rPr lang="en-US" sz="1400">
                          <a:effectLst/>
                        </a:rPr>
                        <a:t>C603.5</a:t>
                      </a:r>
                      <a:endParaRPr lang="en-US" sz="140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nchor="ctr"/>
                </a:tc>
                <a:tc>
                  <a:txBody>
                    <a:bodyPr/>
                    <a:lstStyle/>
                    <a:p>
                      <a:pPr marL="0" marR="0" algn="just">
                        <a:lnSpc>
                          <a:spcPct val="115000"/>
                        </a:lnSpc>
                        <a:spcBef>
                          <a:spcPts val="0"/>
                        </a:spcBef>
                        <a:spcAft>
                          <a:spcPts val="600"/>
                        </a:spcAft>
                      </a:pPr>
                      <a:r>
                        <a:rPr lang="en-US" sz="1400">
                          <a:effectLst/>
                        </a:rPr>
                        <a:t>Explain the functions offered by session and presentation layer and their Implementation.</a:t>
                      </a:r>
                      <a:endParaRPr lang="en-US" sz="140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a:txBody>
                    <a:bodyPr/>
                    <a:lstStyle/>
                    <a:p>
                      <a:pPr marL="0" marR="0">
                        <a:lnSpc>
                          <a:spcPct val="115000"/>
                        </a:lnSpc>
                        <a:spcBef>
                          <a:spcPts val="0"/>
                        </a:spcBef>
                        <a:spcAft>
                          <a:spcPts val="1000"/>
                        </a:spcAft>
                      </a:pPr>
                      <a:r>
                        <a:rPr lang="en-US" sz="1400" dirty="0">
                          <a:effectLst/>
                        </a:rPr>
                        <a:t>K2, K3</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extLst>
                  <a:ext uri="{0D108BD9-81ED-4DB2-BD59-A6C34878D82A}">
                    <a16:rowId xmlns:a16="http://schemas.microsoft.com/office/drawing/2014/main" val="3110489644"/>
                  </a:ext>
                </a:extLst>
              </a:tr>
              <a:tr h="623074">
                <a:tc>
                  <a:txBody>
                    <a:bodyPr/>
                    <a:lstStyle/>
                    <a:p>
                      <a:pPr marL="0" marR="0">
                        <a:lnSpc>
                          <a:spcPct val="115000"/>
                        </a:lnSpc>
                        <a:spcBef>
                          <a:spcPts val="0"/>
                        </a:spcBef>
                        <a:spcAft>
                          <a:spcPts val="1000"/>
                        </a:spcAft>
                      </a:pPr>
                      <a:r>
                        <a:rPr lang="en-US" sz="1400">
                          <a:effectLst/>
                        </a:rPr>
                        <a:t>C603.6</a:t>
                      </a:r>
                      <a:endParaRPr lang="en-US" sz="140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nchor="ctr"/>
                </a:tc>
                <a:tc>
                  <a:txBody>
                    <a:bodyPr/>
                    <a:lstStyle/>
                    <a:p>
                      <a:pPr marL="0" marR="0" algn="just">
                        <a:lnSpc>
                          <a:spcPct val="115000"/>
                        </a:lnSpc>
                        <a:spcBef>
                          <a:spcPts val="0"/>
                        </a:spcBef>
                        <a:spcAft>
                          <a:spcPts val="600"/>
                        </a:spcAft>
                      </a:pPr>
                      <a:r>
                        <a:rPr lang="en-US" sz="1400" dirty="0">
                          <a:effectLst/>
                        </a:rPr>
                        <a:t>Explain the different protocols used at application layer i.e. HTTP, SNMP, SMTP, FTP, TELNET and VPN.</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tc>
                  <a:txBody>
                    <a:bodyPr/>
                    <a:lstStyle/>
                    <a:p>
                      <a:pPr marL="0" marR="0">
                        <a:lnSpc>
                          <a:spcPct val="115000"/>
                        </a:lnSpc>
                        <a:spcBef>
                          <a:spcPts val="0"/>
                        </a:spcBef>
                        <a:spcAft>
                          <a:spcPts val="1000"/>
                        </a:spcAft>
                      </a:pPr>
                      <a:r>
                        <a:rPr lang="en-US" sz="1400" dirty="0">
                          <a:effectLst/>
                        </a:rPr>
                        <a:t>K2</a:t>
                      </a:r>
                      <a:endParaRPr lang="en-US" sz="1400" dirty="0">
                        <a:effectLst/>
                        <a:latin typeface="Calibri" panose="020F0502020204030204" pitchFamily="34" charset="0"/>
                        <a:ea typeface="Calibri" panose="020F0502020204030204" pitchFamily="34" charset="0"/>
                        <a:cs typeface="Mangal" panose="02040503050203030202" pitchFamily="18" charset="0"/>
                      </a:endParaRPr>
                    </a:p>
                  </a:txBody>
                  <a:tcPr marL="20258" marR="20258" marT="0" marB="0"/>
                </a:tc>
                <a:extLst>
                  <a:ext uri="{0D108BD9-81ED-4DB2-BD59-A6C34878D82A}">
                    <a16:rowId xmlns:a16="http://schemas.microsoft.com/office/drawing/2014/main" val="458386191"/>
                  </a:ext>
                </a:extLst>
              </a:tr>
            </a:tbl>
          </a:graphicData>
        </a:graphic>
      </p:graphicFrame>
      <p:sp>
        <p:nvSpPr>
          <p:cNvPr id="9" name="Ink 12">
            <a:extLst>
              <a:ext uri="{FF2B5EF4-FFF2-40B4-BE49-F238E27FC236}">
                <a16:creationId xmlns:a16="http://schemas.microsoft.com/office/drawing/2014/main" id="{569A3245-6708-47A4-B159-0F991CA6955B}"/>
              </a:ext>
            </a:extLst>
          </p:cNvPr>
          <p:cNvSpPr>
            <a:spLocks noRot="1" noChangeAspect="1" noEditPoints="1" noChangeArrowheads="1" noChangeShapeType="1" noTextEdit="1"/>
          </p:cNvSpPr>
          <p:nvPr/>
        </p:nvSpPr>
        <p:spPr bwMode="auto">
          <a:xfrm>
            <a:off x="4296545" y="1610999"/>
            <a:ext cx="78613" cy="19050"/>
          </a:xfrm>
          <a:prstGeom prst="rect">
            <a:avLst/>
          </a:prstGeom>
          <a:noFill/>
          <a:ln w="18000" cap="rnd" algn="ctr">
            <a:solidFill>
              <a:srgbClr val="000000"/>
            </a:solidFill>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62647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6454775" y="6356350"/>
            <a:ext cx="2895600" cy="365125"/>
          </a:xfrm>
          <a:prstGeom prst="rect">
            <a:avLst/>
          </a:prstGeom>
        </p:spPr>
        <p:txBody>
          <a:bodyPr/>
          <a:lstStyle/>
          <a:p>
            <a:pPr marL="38100" algn="ctr">
              <a:buSzPts val="1400"/>
              <a:defRPr/>
            </a:pPr>
            <a:fld id="{BB683F2C-7975-43FF-956B-FFB87A0E5681}" type="slidenum">
              <a:rPr lang="en-US" spc="-5" smtClean="0"/>
              <a:pPr marL="38100" algn="ctr">
                <a:buSzPts val="1400"/>
                <a:defRPr/>
              </a:pPr>
              <a:t>10</a:t>
            </a:fld>
            <a:endParaRPr lang="en-US" spc="-5" dirty="0"/>
          </a:p>
        </p:txBody>
      </p:sp>
      <p:sp>
        <p:nvSpPr>
          <p:cNvPr id="3" name="object 7"/>
          <p:cNvSpPr txBox="1">
            <a:spLocks noChangeArrowheads="1"/>
          </p:cNvSpPr>
          <p:nvPr/>
        </p:nvSpPr>
        <p:spPr bwMode="auto">
          <a:xfrm>
            <a:off x="533400" y="871538"/>
            <a:ext cx="8305800" cy="5505450"/>
          </a:xfrm>
          <a:prstGeom prst="rect">
            <a:avLst/>
          </a:prstGeom>
          <a:noFill/>
          <a:ln w="9525">
            <a:noFill/>
            <a:miter lim="800000"/>
            <a:headEnd/>
            <a:tailEnd/>
          </a:ln>
        </p:spPr>
        <p:txBody>
          <a:bodyPr lIns="0" tIns="12065" rIns="0" bIns="0">
            <a:spAutoFit/>
          </a:bodyPr>
          <a:lstStyle/>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1. Engineering knowledge</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2. Problem analysis</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3. Design/development of solutions</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4. Conduct investigations of complex problems</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5. Modern tool usage</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6. The engineer and society</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7. Environment and sustainability </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8. Ethics</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9. Individual and team work </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10. Communication</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11. Project management and finance </a:t>
            </a:r>
          </a:p>
          <a:p>
            <a:pPr marL="12700">
              <a:lnSpc>
                <a:spcPct val="150000"/>
              </a:lnSpc>
              <a:buClr>
                <a:srgbClr val="0AD0D9"/>
              </a:buClr>
              <a:buSzPct val="95000"/>
              <a:tabLst>
                <a:tab pos="285750" algn="l"/>
              </a:tabLst>
            </a:pPr>
            <a:r>
              <a:rPr lang="en-US" sz="2000" dirty="0">
                <a:latin typeface="Times New Roman" pitchFamily="18" charset="0"/>
                <a:cs typeface="Times New Roman" pitchFamily="18" charset="0"/>
              </a:rPr>
              <a:t>12. Life-long learning</a:t>
            </a:r>
          </a:p>
        </p:txBody>
      </p:sp>
      <p:sp>
        <p:nvSpPr>
          <p:cNvPr id="14340" name="Date Placeholder 4"/>
          <p:cNvSpPr>
            <a:spLocks noGrp="1"/>
          </p:cNvSpPr>
          <p:nvPr>
            <p:ph type="dt" sz="quarter" idx="11"/>
          </p:nvPr>
        </p:nvSpPr>
        <p:spPr>
          <a:xfrm>
            <a:off x="-304800" y="6356350"/>
            <a:ext cx="2895600" cy="365125"/>
          </a:xfrm>
          <a:noFill/>
        </p:spPr>
        <p:txBody>
          <a:bodyPr/>
          <a:lstStyle/>
          <a:p>
            <a:pPr>
              <a:buFont typeface="Arial" pitchFamily="34" charset="0"/>
              <a:buNone/>
            </a:pPr>
            <a:fld id="{4919874D-C62A-42E9-B06E-96C4F8CC4239}" type="datetime1">
              <a:rPr lang="en-US" smtClean="0"/>
              <a:t>4/29/2022</a:t>
            </a:fld>
            <a:endParaRPr lang="en-US" dirty="0"/>
          </a:p>
        </p:txBody>
      </p:sp>
      <p:sp>
        <p:nvSpPr>
          <p:cNvPr id="11" name="Title 1"/>
          <p:cNvSpPr txBox="1">
            <a:spLocks/>
          </p:cNvSpPr>
          <p:nvPr/>
        </p:nvSpPr>
        <p:spPr>
          <a:xfrm>
            <a:off x="1371600" y="-50800"/>
            <a:ext cx="7772400" cy="68580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800" dirty="0"/>
              <a:t>Program Outcome</a:t>
            </a:r>
          </a:p>
        </p:txBody>
      </p:sp>
    </p:spTree>
    <p:extLst>
      <p:ext uri="{BB962C8B-B14F-4D97-AF65-F5344CB8AC3E}">
        <p14:creationId xmlns:p14="http://schemas.microsoft.com/office/powerpoint/2010/main" val="3792658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1000"/>
                                        <p:tgtEl>
                                          <p:spTgt spid="3">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ox(in)">
                                      <p:cBhvr>
                                        <p:cTn id="10" dur="1000"/>
                                        <p:tgtEl>
                                          <p:spTgt spid="3">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ox(in)">
                                      <p:cBhvr>
                                        <p:cTn id="13" dur="1000"/>
                                        <p:tgtEl>
                                          <p:spTgt spid="3">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1000"/>
                                        <p:tgtEl>
                                          <p:spTgt spid="3">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ox(in)">
                                      <p:cBhvr>
                                        <p:cTn id="19" dur="1000"/>
                                        <p:tgtEl>
                                          <p:spTgt spid="3">
                                            <p:txEl>
                                              <p:pRg st="4" end="4"/>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1000"/>
                                        <p:tgtEl>
                                          <p:spTgt spid="3">
                                            <p:txEl>
                                              <p:pRg st="5" end="5"/>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box(in)">
                                      <p:cBhvr>
                                        <p:cTn id="25" dur="1000"/>
                                        <p:tgtEl>
                                          <p:spTgt spid="3">
                                            <p:txEl>
                                              <p:pRg st="6" end="6"/>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box(in)">
                                      <p:cBhvr>
                                        <p:cTn id="28" dur="1000"/>
                                        <p:tgtEl>
                                          <p:spTgt spid="3">
                                            <p:txEl>
                                              <p:pRg st="7" end="7"/>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box(in)">
                                      <p:cBhvr>
                                        <p:cTn id="31" dur="1000"/>
                                        <p:tgtEl>
                                          <p:spTgt spid="3">
                                            <p:txEl>
                                              <p:pRg st="8" end="8"/>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box(in)">
                                      <p:cBhvr>
                                        <p:cTn id="34" dur="1000"/>
                                        <p:tgtEl>
                                          <p:spTgt spid="3">
                                            <p:txEl>
                                              <p:pRg st="9" end="9"/>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box(in)">
                                      <p:cBhvr>
                                        <p:cTn id="37" dur="1000"/>
                                        <p:tgtEl>
                                          <p:spTgt spid="3">
                                            <p:txEl>
                                              <p:pRg st="10" end="10"/>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box(in)">
                                      <p:cBhvr>
                                        <p:cTn id="40"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9B7C1BF-42AA-4F3E-93A1-39AD03FF944B}"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0"/>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CO-PO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3" name="Rectangle 2"/>
          <p:cNvSpPr/>
          <p:nvPr/>
        </p:nvSpPr>
        <p:spPr>
          <a:xfrm>
            <a:off x="304800" y="915669"/>
            <a:ext cx="8382000" cy="769441"/>
          </a:xfrm>
          <a:prstGeom prst="rect">
            <a:avLst/>
          </a:prstGeom>
        </p:spPr>
        <p:txBody>
          <a:bodyPr wrap="square">
            <a:spAutoFit/>
          </a:bodyPr>
          <a:lstStyle/>
          <a:p>
            <a:r>
              <a:rPr lang="en-US" sz="2200" dirty="0"/>
              <a:t>The highlighted text shows the mapping of course outcome with PO mapping of this unit</a:t>
            </a:r>
          </a:p>
        </p:txBody>
      </p:sp>
      <p:graphicFrame>
        <p:nvGraphicFramePr>
          <p:cNvPr id="5" name="Table 4">
            <a:extLst>
              <a:ext uri="{FF2B5EF4-FFF2-40B4-BE49-F238E27FC236}">
                <a16:creationId xmlns:a16="http://schemas.microsoft.com/office/drawing/2014/main" id="{92A2E854-38C1-42E3-87DB-0E6B83F78F43}"/>
              </a:ext>
            </a:extLst>
          </p:cNvPr>
          <p:cNvGraphicFramePr>
            <a:graphicFrameLocks noGrp="1"/>
          </p:cNvGraphicFramePr>
          <p:nvPr>
            <p:extLst>
              <p:ext uri="{D42A27DB-BD31-4B8C-83A1-F6EECF244321}">
                <p14:modId xmlns:p14="http://schemas.microsoft.com/office/powerpoint/2010/main" val="3516068411"/>
              </p:ext>
            </p:extLst>
          </p:nvPr>
        </p:nvGraphicFramePr>
        <p:xfrm>
          <a:off x="457200" y="1914980"/>
          <a:ext cx="8229604" cy="3621697"/>
        </p:xfrm>
        <a:graphic>
          <a:graphicData uri="http://schemas.openxmlformats.org/drawingml/2006/table">
            <a:tbl>
              <a:tblPr>
                <a:tableStyleId>{5C22544A-7EE6-4342-B048-85BDC9FD1C3A}</a:tableStyleId>
              </a:tblPr>
              <a:tblGrid>
                <a:gridCol w="824113">
                  <a:extLst>
                    <a:ext uri="{9D8B030D-6E8A-4147-A177-3AD203B41FA5}">
                      <a16:colId xmlns:a16="http://schemas.microsoft.com/office/drawing/2014/main" val="2876465"/>
                    </a:ext>
                  </a:extLst>
                </a:gridCol>
                <a:gridCol w="579596">
                  <a:extLst>
                    <a:ext uri="{9D8B030D-6E8A-4147-A177-3AD203B41FA5}">
                      <a16:colId xmlns:a16="http://schemas.microsoft.com/office/drawing/2014/main" val="3309866898"/>
                    </a:ext>
                  </a:extLst>
                </a:gridCol>
                <a:gridCol w="579596">
                  <a:extLst>
                    <a:ext uri="{9D8B030D-6E8A-4147-A177-3AD203B41FA5}">
                      <a16:colId xmlns:a16="http://schemas.microsoft.com/office/drawing/2014/main" val="604357778"/>
                    </a:ext>
                  </a:extLst>
                </a:gridCol>
                <a:gridCol w="579596">
                  <a:extLst>
                    <a:ext uri="{9D8B030D-6E8A-4147-A177-3AD203B41FA5}">
                      <a16:colId xmlns:a16="http://schemas.microsoft.com/office/drawing/2014/main" val="404532838"/>
                    </a:ext>
                  </a:extLst>
                </a:gridCol>
                <a:gridCol w="579596">
                  <a:extLst>
                    <a:ext uri="{9D8B030D-6E8A-4147-A177-3AD203B41FA5}">
                      <a16:colId xmlns:a16="http://schemas.microsoft.com/office/drawing/2014/main" val="2816727184"/>
                    </a:ext>
                  </a:extLst>
                </a:gridCol>
                <a:gridCol w="579596">
                  <a:extLst>
                    <a:ext uri="{9D8B030D-6E8A-4147-A177-3AD203B41FA5}">
                      <a16:colId xmlns:a16="http://schemas.microsoft.com/office/drawing/2014/main" val="350641593"/>
                    </a:ext>
                  </a:extLst>
                </a:gridCol>
                <a:gridCol w="579596">
                  <a:extLst>
                    <a:ext uri="{9D8B030D-6E8A-4147-A177-3AD203B41FA5}">
                      <a16:colId xmlns:a16="http://schemas.microsoft.com/office/drawing/2014/main" val="820382517"/>
                    </a:ext>
                  </a:extLst>
                </a:gridCol>
                <a:gridCol w="579596">
                  <a:extLst>
                    <a:ext uri="{9D8B030D-6E8A-4147-A177-3AD203B41FA5}">
                      <a16:colId xmlns:a16="http://schemas.microsoft.com/office/drawing/2014/main" val="3001624649"/>
                    </a:ext>
                  </a:extLst>
                </a:gridCol>
                <a:gridCol w="579596">
                  <a:extLst>
                    <a:ext uri="{9D8B030D-6E8A-4147-A177-3AD203B41FA5}">
                      <a16:colId xmlns:a16="http://schemas.microsoft.com/office/drawing/2014/main" val="1212302725"/>
                    </a:ext>
                  </a:extLst>
                </a:gridCol>
                <a:gridCol w="579596">
                  <a:extLst>
                    <a:ext uri="{9D8B030D-6E8A-4147-A177-3AD203B41FA5}">
                      <a16:colId xmlns:a16="http://schemas.microsoft.com/office/drawing/2014/main" val="1447834389"/>
                    </a:ext>
                  </a:extLst>
                </a:gridCol>
                <a:gridCol w="690740">
                  <a:extLst>
                    <a:ext uri="{9D8B030D-6E8A-4147-A177-3AD203B41FA5}">
                      <a16:colId xmlns:a16="http://schemas.microsoft.com/office/drawing/2014/main" val="3072358136"/>
                    </a:ext>
                  </a:extLst>
                </a:gridCol>
                <a:gridCol w="690740">
                  <a:extLst>
                    <a:ext uri="{9D8B030D-6E8A-4147-A177-3AD203B41FA5}">
                      <a16:colId xmlns:a16="http://schemas.microsoft.com/office/drawing/2014/main" val="65430144"/>
                    </a:ext>
                  </a:extLst>
                </a:gridCol>
                <a:gridCol w="807647">
                  <a:extLst>
                    <a:ext uri="{9D8B030D-6E8A-4147-A177-3AD203B41FA5}">
                      <a16:colId xmlns:a16="http://schemas.microsoft.com/office/drawing/2014/main" val="797170723"/>
                    </a:ext>
                  </a:extLst>
                </a:gridCol>
              </a:tblGrid>
              <a:tr h="429893">
                <a:tc gridSpan="9">
                  <a:txBody>
                    <a:bodyPr/>
                    <a:lstStyle/>
                    <a:p>
                      <a:pPr marL="0" marR="0" algn="ctr">
                        <a:lnSpc>
                          <a:spcPct val="115000"/>
                        </a:lnSpc>
                        <a:spcBef>
                          <a:spcPts val="0"/>
                        </a:spcBef>
                        <a:spcAft>
                          <a:spcPts val="1000"/>
                        </a:spcAft>
                      </a:pPr>
                      <a:r>
                        <a:rPr lang="en-US" sz="2000" b="1" dirty="0">
                          <a:effectLst/>
                        </a:rPr>
                        <a:t>                                       </a:t>
                      </a:r>
                      <a:r>
                        <a:rPr lang="en-US" sz="1800" b="1" dirty="0">
                          <a:effectLst/>
                        </a:rPr>
                        <a:t>Computer Networks (KCS-603)</a:t>
                      </a:r>
                      <a:endParaRPr lang="en-US" sz="1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algn="ctr">
                        <a:lnSpc>
                          <a:spcPct val="115000"/>
                        </a:lnSpc>
                        <a:spcBef>
                          <a:spcPts val="0"/>
                        </a:spcBef>
                        <a:spcAft>
                          <a:spcPts val="1000"/>
                        </a:spcAft>
                      </a:pPr>
                      <a:r>
                        <a:rPr lang="en-US" sz="1800" b="1" dirty="0">
                          <a:effectLst/>
                        </a:rPr>
                        <a:t>Year of Study: 2021-22</a:t>
                      </a:r>
                      <a:endParaRPr lang="en-US" sz="1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1222877"/>
                  </a:ext>
                </a:extLst>
              </a:tr>
              <a:tr h="386047">
                <a:tc>
                  <a:txBody>
                    <a:bodyPr/>
                    <a:lstStyle/>
                    <a:p>
                      <a:pPr marL="0" marR="0">
                        <a:lnSpc>
                          <a:spcPct val="115000"/>
                        </a:lnSpc>
                        <a:spcBef>
                          <a:spcPts val="0"/>
                        </a:spcBef>
                        <a:spcAft>
                          <a:spcPts val="1000"/>
                        </a:spcAft>
                      </a:pPr>
                      <a:r>
                        <a:rPr lang="en-US" sz="1800" b="1" dirty="0">
                          <a:effectLst/>
                        </a:rPr>
                        <a:t>CO</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dirty="0">
                          <a:effectLst/>
                        </a:rPr>
                        <a:t>PO1</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dirty="0">
                          <a:effectLst/>
                        </a:rPr>
                        <a:t>PO2</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dirty="0">
                          <a:effectLst/>
                        </a:rPr>
                        <a:t>PO3 </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dirty="0">
                          <a:effectLst/>
                        </a:rPr>
                        <a:t>PO4</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PO5</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PO6</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PO7</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PO8</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PO9</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PO10</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PO11</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PO12</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713021920"/>
                  </a:ext>
                </a:extLst>
              </a:tr>
              <a:tr h="386047">
                <a:tc>
                  <a:txBody>
                    <a:bodyPr/>
                    <a:lstStyle/>
                    <a:p>
                      <a:pPr marL="0" marR="0">
                        <a:lnSpc>
                          <a:spcPct val="115000"/>
                        </a:lnSpc>
                        <a:spcBef>
                          <a:spcPts val="0"/>
                        </a:spcBef>
                        <a:spcAft>
                          <a:spcPts val="1000"/>
                        </a:spcAft>
                      </a:pPr>
                      <a:r>
                        <a:rPr lang="en-US" sz="1800" b="1" dirty="0">
                          <a:solidFill>
                            <a:schemeClr val="tx1"/>
                          </a:solidFill>
                          <a:effectLst/>
                        </a:rPr>
                        <a:t>C603.1</a:t>
                      </a:r>
                      <a:endParaRPr lang="en-US" sz="2800" b="1"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3</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2</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3</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2</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1</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1</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 </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 </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 </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 </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2</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3</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2476319542"/>
                  </a:ext>
                </a:extLst>
              </a:tr>
              <a:tr h="386047">
                <a:tc>
                  <a:txBody>
                    <a:bodyPr/>
                    <a:lstStyle/>
                    <a:p>
                      <a:pPr marL="0" marR="0">
                        <a:lnSpc>
                          <a:spcPct val="115000"/>
                        </a:lnSpc>
                        <a:spcBef>
                          <a:spcPts val="0"/>
                        </a:spcBef>
                        <a:spcAft>
                          <a:spcPts val="1000"/>
                        </a:spcAft>
                      </a:pPr>
                      <a:r>
                        <a:rPr lang="en-US" sz="1800" b="1">
                          <a:effectLst/>
                        </a:rPr>
                        <a:t>C603.2</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3</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2</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2</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2</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 </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1</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1</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1432717834"/>
                  </a:ext>
                </a:extLst>
              </a:tr>
              <a:tr h="386047">
                <a:tc>
                  <a:txBody>
                    <a:bodyPr/>
                    <a:lstStyle/>
                    <a:p>
                      <a:pPr marL="0" marR="0">
                        <a:lnSpc>
                          <a:spcPct val="115000"/>
                        </a:lnSpc>
                        <a:spcBef>
                          <a:spcPts val="0"/>
                        </a:spcBef>
                        <a:spcAft>
                          <a:spcPts val="1000"/>
                        </a:spcAft>
                      </a:pPr>
                      <a:r>
                        <a:rPr lang="en-US" sz="1800" b="1">
                          <a:effectLst/>
                        </a:rPr>
                        <a:t>C603.3</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3</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2</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1</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1</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2</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1</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2</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 </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1</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1474397049"/>
                  </a:ext>
                </a:extLst>
              </a:tr>
              <a:tr h="386047">
                <a:tc>
                  <a:txBody>
                    <a:bodyPr/>
                    <a:lstStyle/>
                    <a:p>
                      <a:pPr marL="0" marR="0">
                        <a:lnSpc>
                          <a:spcPct val="115000"/>
                        </a:lnSpc>
                        <a:spcBef>
                          <a:spcPts val="0"/>
                        </a:spcBef>
                        <a:spcAft>
                          <a:spcPts val="1000"/>
                        </a:spcAft>
                      </a:pPr>
                      <a:r>
                        <a:rPr lang="en-US" sz="1800" b="1">
                          <a:solidFill>
                            <a:srgbClr val="FF0000"/>
                          </a:solidFill>
                          <a:effectLst/>
                        </a:rPr>
                        <a:t>C603.4</a:t>
                      </a:r>
                      <a:endParaRPr lang="en-US" sz="2800" b="1">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2</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2</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1</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 </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1</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 </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 </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1</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1</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 </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solidFill>
                            <a:srgbClr val="FF0000"/>
                          </a:solidFill>
                          <a:effectLst/>
                        </a:rPr>
                        <a:t>1</a:t>
                      </a:r>
                      <a:endParaRPr lang="en-US" sz="2800" b="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solidFill>
                            <a:srgbClr val="FF0000"/>
                          </a:solidFill>
                          <a:effectLst/>
                        </a:rPr>
                        <a:t>3</a:t>
                      </a:r>
                      <a:endParaRPr lang="en-US" sz="2800" b="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2306718333"/>
                  </a:ext>
                </a:extLst>
              </a:tr>
              <a:tr h="386047">
                <a:tc>
                  <a:txBody>
                    <a:bodyPr/>
                    <a:lstStyle/>
                    <a:p>
                      <a:pPr marL="0" marR="0">
                        <a:lnSpc>
                          <a:spcPct val="115000"/>
                        </a:lnSpc>
                        <a:spcBef>
                          <a:spcPts val="0"/>
                        </a:spcBef>
                        <a:spcAft>
                          <a:spcPts val="1000"/>
                        </a:spcAft>
                      </a:pPr>
                      <a:r>
                        <a:rPr lang="en-US" sz="1800" b="1">
                          <a:effectLst/>
                        </a:rPr>
                        <a:t>C603.5</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2</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2</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2</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 </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1</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1</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2539282766"/>
                  </a:ext>
                </a:extLst>
              </a:tr>
              <a:tr h="413623">
                <a:tc>
                  <a:txBody>
                    <a:bodyPr/>
                    <a:lstStyle/>
                    <a:p>
                      <a:pPr marL="0" marR="0">
                        <a:lnSpc>
                          <a:spcPct val="115000"/>
                        </a:lnSpc>
                        <a:spcBef>
                          <a:spcPts val="0"/>
                        </a:spcBef>
                        <a:spcAft>
                          <a:spcPts val="1000"/>
                        </a:spcAft>
                      </a:pPr>
                      <a:r>
                        <a:rPr lang="en-US" sz="1800" b="1">
                          <a:effectLst/>
                        </a:rPr>
                        <a:t>C603.6</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2</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1</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 </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 </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a:effectLst/>
                        </a:rPr>
                        <a:t>3</a:t>
                      </a:r>
                      <a:endParaRPr lang="en-US" sz="28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2</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1</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 </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1</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0" dirty="0">
                          <a:effectLst/>
                        </a:rPr>
                        <a:t>3</a:t>
                      </a:r>
                      <a:endParaRPr lang="en-US" sz="28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2956718796"/>
                  </a:ext>
                </a:extLst>
              </a:tr>
              <a:tr h="413623">
                <a:tc>
                  <a:txBody>
                    <a:bodyPr/>
                    <a:lstStyle/>
                    <a:p>
                      <a:pPr marL="0" marR="0" algn="ctr">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a:effectLst/>
                        </a:rPr>
                        <a:t> </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dirty="0">
                          <a:effectLst/>
                        </a:rPr>
                        <a:t> </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r>
                        <a:rPr lang="en-US" sz="1800" b="1" dirty="0">
                          <a:effectLst/>
                        </a:rPr>
                        <a:t> </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nSpc>
                          <a:spcPct val="115000"/>
                        </a:lnSpc>
                        <a:spcBef>
                          <a:spcPts val="0"/>
                        </a:spcBef>
                        <a:spcAft>
                          <a:spcPts val="1000"/>
                        </a:spcAft>
                      </a:pP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extLst>
                  <a:ext uri="{0D108BD9-81ED-4DB2-BD59-A6C34878D82A}">
                    <a16:rowId xmlns:a16="http://schemas.microsoft.com/office/drawing/2014/main" val="3619982716"/>
                  </a:ext>
                </a:extLst>
              </a:tr>
            </a:tbl>
          </a:graphicData>
        </a:graphic>
      </p:graphicFrame>
    </p:spTree>
    <p:extLst>
      <p:ext uri="{BB962C8B-B14F-4D97-AF65-F5344CB8AC3E}">
        <p14:creationId xmlns:p14="http://schemas.microsoft.com/office/powerpoint/2010/main" val="300800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3"/>
          <p:cNvSpPr>
            <a:spLocks noGrp="1"/>
          </p:cNvSpPr>
          <p:nvPr>
            <p:ph type="dt" sz="quarter" idx="11"/>
          </p:nvPr>
        </p:nvSpPr>
        <p:spPr>
          <a:xfrm>
            <a:off x="-381000" y="6356350"/>
            <a:ext cx="2895600" cy="365125"/>
          </a:xfrm>
          <a:noFill/>
        </p:spPr>
        <p:txBody>
          <a:bodyPr/>
          <a:lstStyle/>
          <a:p>
            <a:pPr>
              <a:buFont typeface="Arial" pitchFamily="34" charset="0"/>
              <a:buNone/>
            </a:pPr>
            <a:fld id="{B571792D-E05C-43EA-BE0B-02268D0BB74B}" type="datetime1">
              <a:rPr lang="en-US" smtClean="0"/>
              <a:t>4/29/2022</a:t>
            </a:fld>
            <a:endParaRPr lang="en-US" dirty="0"/>
          </a:p>
        </p:txBody>
      </p:sp>
      <p:sp>
        <p:nvSpPr>
          <p:cNvPr id="16388" name="Slide Number Placeholder 5"/>
          <p:cNvSpPr>
            <a:spLocks noGrp="1"/>
          </p:cNvSpPr>
          <p:nvPr>
            <p:ph type="sldNum" sz="quarter" idx="4294967295"/>
          </p:nvPr>
        </p:nvSpPr>
        <p:spPr>
          <a:xfrm>
            <a:off x="6477000" y="6324600"/>
            <a:ext cx="2895600" cy="365125"/>
          </a:xfrm>
          <a:prstGeom prst="rect">
            <a:avLst/>
          </a:prstGeom>
          <a:noFill/>
        </p:spPr>
        <p:txBody>
          <a:bodyPr/>
          <a:lstStyle/>
          <a:p>
            <a:pPr algn="ctr">
              <a:buSzPts val="1400"/>
              <a:buFont typeface="Arial" pitchFamily="34" charset="0"/>
              <a:buNone/>
            </a:pPr>
            <a:fld id="{1B2CB8C9-E049-47A2-B4DB-85F386C44A86}" type="slidenum">
              <a:rPr lang="en-US" smtClean="0"/>
              <a:pPr algn="ctr">
                <a:buSzPts val="1400"/>
                <a:buFont typeface="Arial" pitchFamily="34" charset="0"/>
                <a:buNone/>
              </a:pPr>
              <a:t>12</a:t>
            </a:fld>
            <a:endParaRPr lang="en-US" dirty="0"/>
          </a:p>
        </p:txBody>
      </p:sp>
      <p:sp>
        <p:nvSpPr>
          <p:cNvPr id="7" name="Title 1"/>
          <p:cNvSpPr txBox="1">
            <a:spLocks/>
          </p:cNvSpPr>
          <p:nvPr/>
        </p:nvSpPr>
        <p:spPr>
          <a:xfrm>
            <a:off x="1371600" y="-50800"/>
            <a:ext cx="7772400" cy="68580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dirty="0">
                <a:latin typeface="Calibri" panose="020F0502020204030204" pitchFamily="34" charset="0"/>
                <a:ea typeface="Calibri" panose="020F0502020204030204" pitchFamily="34" charset="0"/>
                <a:cs typeface="Mangal" panose="02040503050203030202" pitchFamily="18" charset="0"/>
              </a:rPr>
              <a:t>Program Specific Outcomes</a:t>
            </a:r>
            <a:endParaRPr lang="en-US" sz="3200" dirty="0"/>
          </a:p>
        </p:txBody>
      </p:sp>
      <p:sp>
        <p:nvSpPr>
          <p:cNvPr id="9" name="Content Placeholder 8"/>
          <p:cNvSpPr>
            <a:spLocks noGrp="1"/>
          </p:cNvSpPr>
          <p:nvPr>
            <p:ph idx="1"/>
          </p:nvPr>
        </p:nvSpPr>
        <p:spPr>
          <a:xfrm>
            <a:off x="457200" y="1143000"/>
            <a:ext cx="8229600" cy="4983163"/>
          </a:xfrm>
        </p:spPr>
        <p:txBody>
          <a:bodyPr>
            <a:normAutofit lnSpcReduction="10000"/>
          </a:bodyPr>
          <a:lstStyle/>
          <a:p>
            <a:pPr algn="just">
              <a:lnSpc>
                <a:spcPct val="150000"/>
              </a:lnSpc>
              <a:buFont typeface="Wingdings" pitchFamily="2" charset="2"/>
              <a:buChar char="§"/>
              <a:defRPr/>
            </a:pPr>
            <a:r>
              <a:rPr lang="en-US" sz="2000" b="1" dirty="0"/>
              <a:t>PSO1: </a:t>
            </a:r>
            <a:r>
              <a:rPr lang="en-US" sz="2000" dirty="0"/>
              <a:t>Work as a software developer, database administrator, tester or networking engineer for providing solutions to the real world and industrial problems.</a:t>
            </a:r>
            <a:endParaRPr lang="en-IN" sz="2000" dirty="0"/>
          </a:p>
          <a:p>
            <a:pPr algn="just">
              <a:lnSpc>
                <a:spcPct val="150000"/>
              </a:lnSpc>
              <a:buFont typeface="Wingdings" pitchFamily="2" charset="2"/>
              <a:buChar char="§"/>
              <a:defRPr/>
            </a:pPr>
            <a:r>
              <a:rPr lang="en-US" sz="2000" b="1" dirty="0"/>
              <a:t>PSO2:</a:t>
            </a:r>
            <a:r>
              <a:rPr lang="en-US" sz="2000" dirty="0"/>
              <a:t>Apply core subjects of information technology related to data structure and algorithm, software engineering, web technology, operating system, database and networking to solve complex IT problems.</a:t>
            </a:r>
            <a:endParaRPr lang="en-IN" sz="2000" dirty="0"/>
          </a:p>
          <a:p>
            <a:pPr algn="just">
              <a:lnSpc>
                <a:spcPct val="150000"/>
              </a:lnSpc>
              <a:buFont typeface="Wingdings" pitchFamily="2" charset="2"/>
              <a:buChar char="§"/>
              <a:defRPr/>
            </a:pPr>
            <a:r>
              <a:rPr lang="en-US" sz="2000" b="1" dirty="0"/>
              <a:t>PSO3: </a:t>
            </a:r>
            <a:r>
              <a:rPr lang="en-US" sz="2000" dirty="0"/>
              <a:t>Practice multi-disciplinary and modern computing techniques by lifelong learning to establish innovative career.</a:t>
            </a:r>
            <a:endParaRPr lang="en-IN" sz="2000" dirty="0"/>
          </a:p>
          <a:p>
            <a:pPr algn="just">
              <a:lnSpc>
                <a:spcPct val="150000"/>
              </a:lnSpc>
              <a:buFont typeface="Wingdings" pitchFamily="2" charset="2"/>
              <a:buChar char="§"/>
              <a:defRPr/>
            </a:pPr>
            <a:r>
              <a:rPr lang="en-US" sz="2000" b="1" dirty="0"/>
              <a:t>PSO4:</a:t>
            </a:r>
            <a:r>
              <a:rPr lang="en-US" sz="2000" dirty="0"/>
              <a:t> Work in a team or individual to manage projects with ethical concern to be a successful employee or employer in IT industry. 	</a:t>
            </a:r>
          </a:p>
          <a:p>
            <a:pPr marL="0" indent="0" algn="just">
              <a:buFont typeface="Wingdings" pitchFamily="2" charset="2"/>
              <a:buChar char="§"/>
              <a:defRPr/>
            </a:pPr>
            <a:endParaRPr lang="en-US" dirty="0"/>
          </a:p>
        </p:txBody>
      </p:sp>
    </p:spTree>
    <p:extLst>
      <p:ext uri="{BB962C8B-B14F-4D97-AF65-F5344CB8AC3E}">
        <p14:creationId xmlns:p14="http://schemas.microsoft.com/office/powerpoint/2010/main" val="410776707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9">
                                            <p:txEl>
                                              <p:pRg st="0" end="0"/>
                                            </p:txEl>
                                          </p:spTgt>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9">
                                            <p:txEl>
                                              <p:pRg st="1" end="1"/>
                                            </p:txEl>
                                          </p:spTgt>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9">
                                            <p:txEl>
                                              <p:pRg st="2" end="2"/>
                                            </p:txEl>
                                          </p:spTgt>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9">
                                            <p:txEl>
                                              <p:pRg st="3" end="3"/>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518780-C6EC-4866-9A35-7746DEA641D8}"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CO-PSO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2" name="Rectangle 1"/>
          <p:cNvSpPr/>
          <p:nvPr/>
        </p:nvSpPr>
        <p:spPr>
          <a:xfrm>
            <a:off x="762000" y="1051104"/>
            <a:ext cx="7391400" cy="769441"/>
          </a:xfrm>
          <a:prstGeom prst="rect">
            <a:avLst/>
          </a:prstGeom>
        </p:spPr>
        <p:txBody>
          <a:bodyPr wrap="square">
            <a:spAutoFit/>
          </a:bodyPr>
          <a:lstStyle/>
          <a:p>
            <a:r>
              <a:rPr lang="en-US" sz="2200" dirty="0"/>
              <a:t>The highlighted text shows the mapping of course outcome with PSO mapping of this unit</a:t>
            </a:r>
          </a:p>
        </p:txBody>
      </p:sp>
      <p:graphicFrame>
        <p:nvGraphicFramePr>
          <p:cNvPr id="5" name="Table 4">
            <a:extLst>
              <a:ext uri="{FF2B5EF4-FFF2-40B4-BE49-F238E27FC236}">
                <a16:creationId xmlns:a16="http://schemas.microsoft.com/office/drawing/2014/main" id="{E943DE84-ADE2-484B-BC50-BEDB6FDCAD7B}"/>
              </a:ext>
            </a:extLst>
          </p:cNvPr>
          <p:cNvGraphicFramePr>
            <a:graphicFrameLocks noGrp="1"/>
          </p:cNvGraphicFramePr>
          <p:nvPr>
            <p:extLst>
              <p:ext uri="{D42A27DB-BD31-4B8C-83A1-F6EECF244321}">
                <p14:modId xmlns:p14="http://schemas.microsoft.com/office/powerpoint/2010/main" val="4109022092"/>
              </p:ext>
            </p:extLst>
          </p:nvPr>
        </p:nvGraphicFramePr>
        <p:xfrm>
          <a:off x="1143000" y="2286000"/>
          <a:ext cx="6553201" cy="2935604"/>
        </p:xfrm>
        <a:graphic>
          <a:graphicData uri="http://schemas.openxmlformats.org/drawingml/2006/table">
            <a:tbl>
              <a:tblPr>
                <a:tableStyleId>{5C22544A-7EE6-4342-B048-85BDC9FD1C3A}</a:tableStyleId>
              </a:tblPr>
              <a:tblGrid>
                <a:gridCol w="920777">
                  <a:extLst>
                    <a:ext uri="{9D8B030D-6E8A-4147-A177-3AD203B41FA5}">
                      <a16:colId xmlns:a16="http://schemas.microsoft.com/office/drawing/2014/main" val="267634843"/>
                    </a:ext>
                  </a:extLst>
                </a:gridCol>
                <a:gridCol w="1390715">
                  <a:extLst>
                    <a:ext uri="{9D8B030D-6E8A-4147-A177-3AD203B41FA5}">
                      <a16:colId xmlns:a16="http://schemas.microsoft.com/office/drawing/2014/main" val="2529222846"/>
                    </a:ext>
                  </a:extLst>
                </a:gridCol>
                <a:gridCol w="1413903">
                  <a:extLst>
                    <a:ext uri="{9D8B030D-6E8A-4147-A177-3AD203B41FA5}">
                      <a16:colId xmlns:a16="http://schemas.microsoft.com/office/drawing/2014/main" val="1707190809"/>
                    </a:ext>
                  </a:extLst>
                </a:gridCol>
                <a:gridCol w="1413903">
                  <a:extLst>
                    <a:ext uri="{9D8B030D-6E8A-4147-A177-3AD203B41FA5}">
                      <a16:colId xmlns:a16="http://schemas.microsoft.com/office/drawing/2014/main" val="3972204929"/>
                    </a:ext>
                  </a:extLst>
                </a:gridCol>
                <a:gridCol w="1413903">
                  <a:extLst>
                    <a:ext uri="{9D8B030D-6E8A-4147-A177-3AD203B41FA5}">
                      <a16:colId xmlns:a16="http://schemas.microsoft.com/office/drawing/2014/main" val="2799673150"/>
                    </a:ext>
                  </a:extLst>
                </a:gridCol>
              </a:tblGrid>
              <a:tr h="419372">
                <a:tc>
                  <a:txBody>
                    <a:bodyPr/>
                    <a:lstStyle/>
                    <a:p>
                      <a:pPr marL="0" marR="0" algn="ctr">
                        <a:lnSpc>
                          <a:spcPct val="115000"/>
                        </a:lnSpc>
                        <a:spcBef>
                          <a:spcPts val="0"/>
                        </a:spcBef>
                        <a:spcAft>
                          <a:spcPts val="1000"/>
                        </a:spcAft>
                      </a:pPr>
                      <a:r>
                        <a:rPr lang="en-US" sz="2000" b="1" dirty="0">
                          <a:effectLst/>
                        </a:rPr>
                        <a:t>CO</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2000" b="1">
                          <a:effectLst/>
                        </a:rPr>
                        <a:t>PSO1</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2000" b="1">
                          <a:effectLst/>
                        </a:rPr>
                        <a:t>PSO2</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2000" b="1">
                          <a:effectLst/>
                        </a:rPr>
                        <a:t>PSO3</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2000" b="1">
                          <a:effectLst/>
                        </a:rPr>
                        <a:t>PSO4</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70429222"/>
                  </a:ext>
                </a:extLst>
              </a:tr>
              <a:tr h="419372">
                <a:tc>
                  <a:txBody>
                    <a:bodyPr/>
                    <a:lstStyle/>
                    <a:p>
                      <a:pPr marL="0" marR="0" algn="ctr">
                        <a:lnSpc>
                          <a:spcPct val="115000"/>
                        </a:lnSpc>
                        <a:spcBef>
                          <a:spcPts val="0"/>
                        </a:spcBef>
                        <a:spcAft>
                          <a:spcPts val="1000"/>
                        </a:spcAft>
                      </a:pPr>
                      <a:r>
                        <a:rPr lang="en-US" sz="1800" b="1">
                          <a:solidFill>
                            <a:schemeClr val="tx1"/>
                          </a:solidFill>
                          <a:effectLst/>
                        </a:rPr>
                        <a:t>C603.1</a:t>
                      </a:r>
                      <a:endParaRPr lang="en-US" sz="2800" b="1">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solidFill>
                            <a:schemeClr val="tx1"/>
                          </a:solidFill>
                          <a:effectLst/>
                        </a:rPr>
                        <a:t>3</a:t>
                      </a:r>
                      <a:endParaRPr lang="en-US" sz="24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a:solidFill>
                            <a:schemeClr val="tx1"/>
                          </a:solidFill>
                          <a:effectLst/>
                        </a:rPr>
                        <a:t>3</a:t>
                      </a:r>
                      <a:endParaRPr lang="en-US" sz="24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a:solidFill>
                            <a:schemeClr val="tx1"/>
                          </a:solidFill>
                          <a:effectLst/>
                        </a:rPr>
                        <a:t>2</a:t>
                      </a:r>
                      <a:endParaRPr lang="en-US" sz="2400" b="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1800" b="0" dirty="0">
                          <a:solidFill>
                            <a:schemeClr val="tx1"/>
                          </a:solidFill>
                          <a:effectLst/>
                        </a:rPr>
                        <a:t>1</a:t>
                      </a:r>
                      <a:endParaRPr lang="en-US" sz="2400" b="0" dirty="0">
                        <a:solidFill>
                          <a:schemeClr val="tx1"/>
                        </a:solidFill>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54999902"/>
                  </a:ext>
                </a:extLst>
              </a:tr>
              <a:tr h="419372">
                <a:tc>
                  <a:txBody>
                    <a:bodyPr/>
                    <a:lstStyle/>
                    <a:p>
                      <a:pPr marL="0" marR="0" algn="ctr">
                        <a:lnSpc>
                          <a:spcPct val="115000"/>
                        </a:lnSpc>
                        <a:spcBef>
                          <a:spcPts val="0"/>
                        </a:spcBef>
                        <a:spcAft>
                          <a:spcPts val="1000"/>
                        </a:spcAft>
                      </a:pPr>
                      <a:r>
                        <a:rPr lang="en-US" sz="1800" b="1">
                          <a:effectLst/>
                        </a:rPr>
                        <a:t>C603.2</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2</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29648040"/>
                  </a:ext>
                </a:extLst>
              </a:tr>
              <a:tr h="419372">
                <a:tc>
                  <a:txBody>
                    <a:bodyPr/>
                    <a:lstStyle/>
                    <a:p>
                      <a:pPr marL="0" marR="0" algn="ctr">
                        <a:lnSpc>
                          <a:spcPct val="115000"/>
                        </a:lnSpc>
                        <a:spcBef>
                          <a:spcPts val="0"/>
                        </a:spcBef>
                        <a:spcAft>
                          <a:spcPts val="1000"/>
                        </a:spcAft>
                      </a:pPr>
                      <a:r>
                        <a:rPr lang="en-US" sz="1800" b="1">
                          <a:effectLst/>
                        </a:rPr>
                        <a:t>C603.3</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a:effectLst/>
                        </a:rPr>
                        <a:t>3</a:t>
                      </a:r>
                      <a:endParaRPr lang="en-US" sz="24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2</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758595258"/>
                  </a:ext>
                </a:extLst>
              </a:tr>
              <a:tr h="419372">
                <a:tc>
                  <a:txBody>
                    <a:bodyPr/>
                    <a:lstStyle/>
                    <a:p>
                      <a:pPr marL="0" marR="0" algn="ctr">
                        <a:lnSpc>
                          <a:spcPct val="115000"/>
                        </a:lnSpc>
                        <a:spcBef>
                          <a:spcPts val="0"/>
                        </a:spcBef>
                        <a:spcAft>
                          <a:spcPts val="1000"/>
                        </a:spcAft>
                      </a:pPr>
                      <a:r>
                        <a:rPr lang="en-US" sz="1800" b="1" dirty="0">
                          <a:solidFill>
                            <a:srgbClr val="FF0000"/>
                          </a:solidFill>
                          <a:effectLst/>
                        </a:rPr>
                        <a:t>C603.4</a:t>
                      </a:r>
                      <a:endParaRPr lang="en-US" sz="2800" b="1"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a:effectLst/>
                        </a:rPr>
                        <a:t>1</a:t>
                      </a:r>
                      <a:endParaRPr lang="en-US" sz="2400" b="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682700873"/>
                  </a:ext>
                </a:extLst>
              </a:tr>
              <a:tr h="419372">
                <a:tc>
                  <a:txBody>
                    <a:bodyPr/>
                    <a:lstStyle/>
                    <a:p>
                      <a:pPr marL="0" marR="0" algn="ctr">
                        <a:lnSpc>
                          <a:spcPct val="115000"/>
                        </a:lnSpc>
                        <a:spcBef>
                          <a:spcPts val="0"/>
                        </a:spcBef>
                        <a:spcAft>
                          <a:spcPts val="1000"/>
                        </a:spcAft>
                      </a:pPr>
                      <a:r>
                        <a:rPr lang="en-US" sz="1800" b="1" dirty="0">
                          <a:effectLst/>
                        </a:rPr>
                        <a:t>C603.5</a:t>
                      </a:r>
                      <a:endParaRPr lang="en-US" sz="2800" b="1"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3</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416745750"/>
                  </a:ext>
                </a:extLst>
              </a:tr>
              <a:tr h="419372">
                <a:tc>
                  <a:txBody>
                    <a:bodyPr/>
                    <a:lstStyle/>
                    <a:p>
                      <a:pPr marL="0" marR="0" algn="ctr">
                        <a:lnSpc>
                          <a:spcPct val="115000"/>
                        </a:lnSpc>
                        <a:spcBef>
                          <a:spcPts val="0"/>
                        </a:spcBef>
                        <a:spcAft>
                          <a:spcPts val="1000"/>
                        </a:spcAft>
                      </a:pPr>
                      <a:r>
                        <a:rPr lang="en-US" sz="1800" b="1">
                          <a:effectLst/>
                        </a:rPr>
                        <a:t>C603.6</a:t>
                      </a:r>
                      <a:endParaRPr lang="en-US" sz="2800" b="1">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a:effectLst/>
                        </a:rPr>
                        <a:t>3</a:t>
                      </a:r>
                      <a:endParaRPr lang="en-US" sz="24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a:effectLst/>
                        </a:rPr>
                        <a:t>3</a:t>
                      </a:r>
                      <a:endParaRPr lang="en-US" sz="2400" b="0">
                        <a:effectLst/>
                        <a:latin typeface="Calibri" panose="020F0502020204030204" pitchFamily="34" charset="0"/>
                        <a:ea typeface="Calibri" panose="020F0502020204030204" pitchFamily="34" charset="0"/>
                        <a:cs typeface="Mangal" panose="02040503050203030202" pitchFamily="18" charset="0"/>
                      </a:endParaRPr>
                    </a:p>
                  </a:txBody>
                  <a:tcPr marL="65405"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15000"/>
                        </a:lnSpc>
                        <a:spcBef>
                          <a:spcPts val="0"/>
                        </a:spcBef>
                        <a:spcAft>
                          <a:spcPts val="1000"/>
                        </a:spcAft>
                      </a:pPr>
                      <a:r>
                        <a:rPr lang="en-US" sz="1800" b="0" dirty="0">
                          <a:effectLst/>
                        </a:rPr>
                        <a:t>1</a:t>
                      </a:r>
                      <a:endParaRPr lang="en-US" sz="24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60625230"/>
                  </a:ext>
                </a:extLst>
              </a:tr>
            </a:tbl>
          </a:graphicData>
        </a:graphic>
      </p:graphicFrame>
    </p:spTree>
    <p:extLst>
      <p:ext uri="{BB962C8B-B14F-4D97-AF65-F5344CB8AC3E}">
        <p14:creationId xmlns:p14="http://schemas.microsoft.com/office/powerpoint/2010/main" val="7949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a:spLocks noGrp="1"/>
          </p:cNvSpPr>
          <p:nvPr>
            <p:ph type="dt" sz="quarter" idx="11"/>
          </p:nvPr>
        </p:nvSpPr>
        <p:spPr>
          <a:xfrm>
            <a:off x="-304800" y="6356350"/>
            <a:ext cx="2895600" cy="365125"/>
          </a:xfrm>
          <a:noFill/>
        </p:spPr>
        <p:txBody>
          <a:bodyPr/>
          <a:lstStyle/>
          <a:p>
            <a:pPr>
              <a:buFont typeface="Arial" pitchFamily="34" charset="0"/>
              <a:buNone/>
            </a:pPr>
            <a:fld id="{F16FB802-8620-4A73-9A0B-4E3278B9C66D}" type="datetime1">
              <a:rPr lang="en-US" smtClean="0"/>
              <a:t>4/29/2022</a:t>
            </a:fld>
            <a:endParaRPr lang="en-US" dirty="0"/>
          </a:p>
        </p:txBody>
      </p:sp>
      <p:sp>
        <p:nvSpPr>
          <p:cNvPr id="18436" name="Slide Number Placeholder 5"/>
          <p:cNvSpPr>
            <a:spLocks noGrp="1"/>
          </p:cNvSpPr>
          <p:nvPr>
            <p:ph type="sldNum" sz="quarter" idx="4294967295"/>
          </p:nvPr>
        </p:nvSpPr>
        <p:spPr>
          <a:xfrm>
            <a:off x="7010400" y="6324600"/>
            <a:ext cx="2895600" cy="365125"/>
          </a:xfrm>
          <a:prstGeom prst="rect">
            <a:avLst/>
          </a:prstGeom>
          <a:noFill/>
        </p:spPr>
        <p:txBody>
          <a:bodyPr/>
          <a:lstStyle/>
          <a:p>
            <a:pPr algn="ctr">
              <a:buSzPts val="1400"/>
              <a:buFont typeface="Arial" pitchFamily="34" charset="0"/>
              <a:buNone/>
            </a:pPr>
            <a:fld id="{6F692E7C-C16B-49AB-A058-F00558280870}" type="slidenum">
              <a:rPr lang="en-US" smtClean="0"/>
              <a:pPr algn="ctr">
                <a:buSzPts val="1400"/>
                <a:buFont typeface="Arial" pitchFamily="34" charset="0"/>
                <a:buNone/>
              </a:pPr>
              <a:t>14</a:t>
            </a:fld>
            <a:endParaRPr lang="en-US" dirty="0"/>
          </a:p>
        </p:txBody>
      </p:sp>
      <p:sp>
        <p:nvSpPr>
          <p:cNvPr id="7" name="Title 1"/>
          <p:cNvSpPr txBox="1">
            <a:spLocks/>
          </p:cNvSpPr>
          <p:nvPr/>
        </p:nvSpPr>
        <p:spPr>
          <a:xfrm>
            <a:off x="1371600" y="15082"/>
            <a:ext cx="7772400" cy="68580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800" dirty="0"/>
              <a:t>Program Educational Objectives </a:t>
            </a:r>
          </a:p>
        </p:txBody>
      </p:sp>
      <p:sp>
        <p:nvSpPr>
          <p:cNvPr id="9" name="Content Placeholder 8"/>
          <p:cNvSpPr txBox="1">
            <a:spLocks noGrp="1"/>
          </p:cNvSpPr>
          <p:nvPr>
            <p:ph idx="1"/>
          </p:nvPr>
        </p:nvSpPr>
        <p:spPr>
          <a:xfrm>
            <a:off x="457200" y="1143000"/>
            <a:ext cx="8229600" cy="4983163"/>
          </a:xfrm>
        </p:spPr>
        <p:txBody>
          <a:bodyPr>
            <a:normAutofit/>
          </a:bodyPr>
          <a:lstStyle/>
          <a:p>
            <a:pPr algn="just">
              <a:spcBef>
                <a:spcPts val="363"/>
              </a:spcBef>
              <a:spcAft>
                <a:spcPct val="0"/>
              </a:spcAft>
              <a:buClr>
                <a:srgbClr val="000000"/>
              </a:buClr>
            </a:pPr>
            <a:r>
              <a:rPr lang="en-US" sz="2000" b="1" dirty="0">
                <a:cs typeface="Arial" pitchFamily="34" charset="0"/>
              </a:rPr>
              <a:t>PEO1: </a:t>
            </a:r>
            <a:r>
              <a:rPr lang="en-US" sz="2000" dirty="0">
                <a:cs typeface="Arial" pitchFamily="34" charset="0"/>
              </a:rPr>
              <a:t>able to apply sound knowledge in the field of information technology to fulfill the needs of IT industry.</a:t>
            </a:r>
          </a:p>
          <a:p>
            <a:pPr algn="just">
              <a:spcBef>
                <a:spcPts val="363"/>
              </a:spcBef>
              <a:spcAft>
                <a:spcPct val="0"/>
              </a:spcAft>
              <a:buClr>
                <a:srgbClr val="000000"/>
              </a:buClr>
              <a:buFont typeface="Arial" pitchFamily="34" charset="0"/>
              <a:buNone/>
            </a:pPr>
            <a:endParaRPr lang="en-IN" sz="2000" dirty="0">
              <a:cs typeface="Arial" pitchFamily="34" charset="0"/>
            </a:endParaRPr>
          </a:p>
          <a:p>
            <a:pPr algn="just">
              <a:spcBef>
                <a:spcPts val="363"/>
              </a:spcBef>
              <a:spcAft>
                <a:spcPct val="0"/>
              </a:spcAft>
              <a:buClr>
                <a:srgbClr val="000000"/>
              </a:buClr>
            </a:pPr>
            <a:r>
              <a:rPr lang="en-US" sz="2000" b="1" dirty="0">
                <a:cs typeface="Arial" pitchFamily="34" charset="0"/>
              </a:rPr>
              <a:t>PEO2: </a:t>
            </a:r>
            <a:r>
              <a:rPr lang="en-US" sz="2000" dirty="0">
                <a:cs typeface="Arial" pitchFamily="34" charset="0"/>
              </a:rPr>
              <a:t>able to design innovative and interdisciplinary systems through latest digital      technologies.</a:t>
            </a:r>
          </a:p>
          <a:p>
            <a:pPr algn="just">
              <a:spcBef>
                <a:spcPts val="363"/>
              </a:spcBef>
              <a:spcAft>
                <a:spcPct val="0"/>
              </a:spcAft>
              <a:buClr>
                <a:srgbClr val="000000"/>
              </a:buClr>
              <a:buFont typeface="Arial" pitchFamily="34" charset="0"/>
              <a:buNone/>
            </a:pPr>
            <a:endParaRPr lang="en-IN" sz="2000" dirty="0">
              <a:cs typeface="Arial" pitchFamily="34" charset="0"/>
            </a:endParaRPr>
          </a:p>
          <a:p>
            <a:pPr algn="just">
              <a:spcBef>
                <a:spcPts val="363"/>
              </a:spcBef>
              <a:spcAft>
                <a:spcPct val="0"/>
              </a:spcAft>
              <a:buClr>
                <a:srgbClr val="000000"/>
              </a:buClr>
            </a:pPr>
            <a:r>
              <a:rPr lang="en-US" sz="2000" b="1" dirty="0">
                <a:cs typeface="Arial" pitchFamily="34" charset="0"/>
              </a:rPr>
              <a:t>PEO3: </a:t>
            </a:r>
            <a:r>
              <a:rPr lang="en-US" sz="2000" dirty="0">
                <a:cs typeface="Arial" pitchFamily="34" charset="0"/>
              </a:rPr>
              <a:t>able to inculcate professional and social ethics, team work and leadership for serving the society.</a:t>
            </a:r>
          </a:p>
          <a:p>
            <a:pPr algn="just">
              <a:spcBef>
                <a:spcPts val="363"/>
              </a:spcBef>
              <a:spcAft>
                <a:spcPct val="0"/>
              </a:spcAft>
              <a:buClr>
                <a:srgbClr val="000000"/>
              </a:buClr>
            </a:pPr>
            <a:endParaRPr lang="en-IN" sz="2000" dirty="0">
              <a:cs typeface="Arial" pitchFamily="34" charset="0"/>
            </a:endParaRPr>
          </a:p>
          <a:p>
            <a:pPr algn="just">
              <a:spcBef>
                <a:spcPts val="363"/>
              </a:spcBef>
              <a:spcAft>
                <a:spcPct val="0"/>
              </a:spcAft>
              <a:buClr>
                <a:srgbClr val="000000"/>
              </a:buClr>
            </a:pPr>
            <a:r>
              <a:rPr lang="en-US" sz="2000" b="1" dirty="0">
                <a:cs typeface="Arial" pitchFamily="34" charset="0"/>
              </a:rPr>
              <a:t>PEO4:</a:t>
            </a:r>
            <a:r>
              <a:rPr lang="en-US" sz="2000" dirty="0">
                <a:cs typeface="Arial" pitchFamily="34" charset="0"/>
              </a:rPr>
              <a:t> able to inculcate lifelong learning in the field of computing for successful career in organizations and R&amp;D sectors.</a:t>
            </a:r>
            <a:endParaRPr lang="en-IN" sz="2000" dirty="0">
              <a:cs typeface="Arial" pitchFamily="34" charset="0"/>
            </a:endParaRPr>
          </a:p>
        </p:txBody>
      </p:sp>
    </p:spTree>
    <p:extLst>
      <p:ext uri="{BB962C8B-B14F-4D97-AF65-F5344CB8AC3E}">
        <p14:creationId xmlns:p14="http://schemas.microsoft.com/office/powerpoint/2010/main" val="293918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9">
                                            <p:txEl>
                                              <p:pRg st="0" end="0"/>
                                            </p:txEl>
                                          </p:spTgt>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9">
                                            <p:txEl>
                                              <p:pRg st="2" end="2"/>
                                            </p:txEl>
                                          </p:spTgt>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9">
                                            <p:txEl>
                                              <p:pRg st="4" end="4"/>
                                            </p:txEl>
                                          </p:spTgt>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9">
                                            <p:txEl>
                                              <p:pRg st="6" end="6"/>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3"/>
          <p:cNvSpPr>
            <a:spLocks noGrp="1"/>
          </p:cNvSpPr>
          <p:nvPr>
            <p:ph type="dt" sz="quarter" idx="11"/>
          </p:nvPr>
        </p:nvSpPr>
        <p:spPr>
          <a:xfrm>
            <a:off x="-76200" y="6356350"/>
            <a:ext cx="2895600" cy="365125"/>
          </a:xfrm>
          <a:noFill/>
        </p:spPr>
        <p:txBody>
          <a:bodyPr/>
          <a:lstStyle/>
          <a:p>
            <a:pPr>
              <a:buFont typeface="Arial" pitchFamily="34" charset="0"/>
              <a:buNone/>
            </a:pPr>
            <a:fld id="{3BE09919-5BFB-4CD9-9238-B559C558FEC3}" type="datetime1">
              <a:rPr lang="en-US" smtClean="0"/>
              <a:t>4/29/2022</a:t>
            </a:fld>
            <a:endParaRPr lang="en-US" dirty="0"/>
          </a:p>
        </p:txBody>
      </p:sp>
      <p:sp>
        <p:nvSpPr>
          <p:cNvPr id="19459" name="Slide Number Placeholder 5"/>
          <p:cNvSpPr>
            <a:spLocks noGrp="1"/>
          </p:cNvSpPr>
          <p:nvPr>
            <p:ph type="sldNum" sz="quarter" idx="4294967295"/>
          </p:nvPr>
        </p:nvSpPr>
        <p:spPr>
          <a:xfrm>
            <a:off x="6276975" y="6356350"/>
            <a:ext cx="2895600" cy="365125"/>
          </a:xfrm>
          <a:prstGeom prst="rect">
            <a:avLst/>
          </a:prstGeom>
          <a:noFill/>
        </p:spPr>
        <p:txBody>
          <a:bodyPr/>
          <a:lstStyle/>
          <a:p>
            <a:pPr algn="ctr">
              <a:buSzPts val="1400"/>
              <a:buFont typeface="Arial" pitchFamily="34" charset="0"/>
              <a:buNone/>
            </a:pPr>
            <a:fld id="{8AED6ABA-C854-4A55-9311-B6E6F591AB13}" type="slidenum">
              <a:rPr lang="en-US" smtClean="0"/>
              <a:pPr algn="ctr">
                <a:buSzPts val="1400"/>
                <a:buFont typeface="Arial" pitchFamily="34" charset="0"/>
                <a:buNone/>
              </a:pPr>
              <a:t>15</a:t>
            </a:fld>
            <a:endParaRPr lang="en-US"/>
          </a:p>
        </p:txBody>
      </p:sp>
      <p:sp>
        <p:nvSpPr>
          <p:cNvPr id="7" name="Title 1"/>
          <p:cNvSpPr txBox="1">
            <a:spLocks/>
          </p:cNvSpPr>
          <p:nvPr/>
        </p:nvSpPr>
        <p:spPr>
          <a:xfrm>
            <a:off x="1371600" y="28575"/>
            <a:ext cx="7772400" cy="685801"/>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lstStyle/>
          <a:p>
            <a:pPr algn="ctr">
              <a:defRPr/>
            </a:pPr>
            <a:r>
              <a:rPr lang="en-US" sz="3000" dirty="0"/>
              <a:t>Result Analysis </a:t>
            </a:r>
          </a:p>
          <a:p>
            <a:pPr algn="ctr" eaLnBrk="1" fontAlgn="auto" hangingPunct="1">
              <a:spcAft>
                <a:spcPts val="0"/>
              </a:spcAft>
              <a:defRPr/>
            </a:pPr>
            <a:endParaRPr lang="en-US" sz="2400" dirty="0"/>
          </a:p>
        </p:txBody>
      </p:sp>
      <p:sp>
        <p:nvSpPr>
          <p:cNvPr id="19461" name="Rectangle 1"/>
          <p:cNvSpPr>
            <a:spLocks noChangeArrowheads="1"/>
          </p:cNvSpPr>
          <p:nvPr/>
        </p:nvSpPr>
        <p:spPr bwMode="auto">
          <a:xfrm>
            <a:off x="609600" y="1905000"/>
            <a:ext cx="8001000" cy="1384300"/>
          </a:xfrm>
          <a:prstGeom prst="rect">
            <a:avLst/>
          </a:prstGeom>
          <a:noFill/>
          <a:ln w="9525">
            <a:noFill/>
            <a:miter lim="800000"/>
            <a:headEnd/>
            <a:tailEnd/>
          </a:ln>
        </p:spPr>
        <p:txBody>
          <a:bodyPr anchor="ctr">
            <a:spAutoFit/>
          </a:bodyPr>
          <a:lstStyle/>
          <a:p>
            <a:pPr marL="457200" indent="-457200" eaLnBrk="1" hangingPunct="1">
              <a:buFont typeface="Arial" pitchFamily="34" charset="0"/>
              <a:buChar char="•"/>
            </a:pPr>
            <a:r>
              <a:rPr lang="en-US" sz="2800" dirty="0">
                <a:cs typeface="Times New Roman" pitchFamily="18" charset="0"/>
              </a:rPr>
              <a:t>Computer Networks Result of 2020-21: 96.97%</a:t>
            </a:r>
          </a:p>
          <a:p>
            <a:pPr marL="457200" indent="-457200" eaLnBrk="1" hangingPunct="1"/>
            <a:endParaRPr lang="en-US" sz="2800" dirty="0">
              <a:cs typeface="Times New Roman" pitchFamily="18" charset="0"/>
            </a:endParaRPr>
          </a:p>
          <a:p>
            <a:pPr marL="457200" indent="-457200" eaLnBrk="1" hangingPunct="1">
              <a:buFont typeface="Arial" pitchFamily="34" charset="0"/>
              <a:buChar char="•"/>
            </a:pPr>
            <a:r>
              <a:rPr lang="en-US" sz="2800" dirty="0">
                <a:cs typeface="Times New Roman" pitchFamily="18" charset="0"/>
              </a:rPr>
              <a:t>Average Marks: 54.33 </a:t>
            </a:r>
            <a:endParaRPr lang="en-US" sz="2800" dirty="0">
              <a:solidFill>
                <a:schemeClr val="tx1"/>
              </a:solidFill>
            </a:endParaRPr>
          </a:p>
        </p:txBody>
      </p:sp>
    </p:spTree>
    <p:extLst>
      <p:ext uri="{BB962C8B-B14F-4D97-AF65-F5344CB8AC3E}">
        <p14:creationId xmlns:p14="http://schemas.microsoft.com/office/powerpoint/2010/main" val="3043986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9054E446-9D69-40C4-9FF1-EA675E14DF16}" type="datetime1">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655763" y="0"/>
            <a:ext cx="7259637" cy="930275"/>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63492"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2" name="Content Placeholder 1"/>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OBJECT ORIENTED SYSTEM DESIGN</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63527" name="Slide Number Placeholder 12"/>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6625CA01-AB80-4C90-8780-F5B20760A97F}" type="slidenum">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16</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3528"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6562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0A92B666-83BF-4A5A-A429-19010682D3D0}" type="datetime1">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749425" y="0"/>
            <a:ext cx="7165975" cy="847725"/>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000" dirty="0">
                <a:latin typeface="Times New Roman" pitchFamily="18" charset="0"/>
                <a:cs typeface="Times New Roman" pitchFamily="18" charset="0"/>
                <a:sym typeface="Arial" charset="0"/>
              </a:rPr>
              <a:t>End Semester Question Paper Templates </a:t>
            </a:r>
            <a:endParaRPr lang="en-US" sz="3000" dirty="0">
              <a:latin typeface="Times New Roman" pitchFamily="18" charset="0"/>
              <a:cs typeface="Times New Roman" pitchFamily="18" charset="0"/>
              <a:sym typeface="Arial" charset="0"/>
            </a:endParaRPr>
          </a:p>
        </p:txBody>
      </p:sp>
      <p:sp>
        <p:nvSpPr>
          <p:cNvPr id="64516"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64517" name="Content Placeholder 1"/>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3. Attempt any one part of the following:                          1 x 10 = 10    </a:t>
            </a:r>
            <a:endParaRPr lang="en-IN" sz="2000" b="1" i="1">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nvGraphicFramePr>
        <p:xfrm>
          <a:off x="835025" y="2365375"/>
          <a:ext cx="7839075" cy="182880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930275" y="4949825"/>
          <a:ext cx="7986713"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3">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4573" name="Slide Number Placeholder 11"/>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E6A2E554-3B68-4B18-B719-788ED463D08D}" type="slidenum">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17</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4574"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5864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56B9F413-36A2-4C19-81FA-5A69C1ACBBA4}" type="datetime1">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624013" y="0"/>
            <a:ext cx="7291387" cy="835025"/>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65540"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65541" name="Content Placeholder 1"/>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 6. Attempt any one part of the following:                        1 x 10 = 10    </a:t>
            </a:r>
            <a:endParaRPr lang="en-IN"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773113" y="3059113"/>
          <a:ext cx="7977187" cy="1096980"/>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1">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0" marB="4567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5608" name="Slide Number Placeholder 12"/>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BEE873E6-5358-43BC-AC95-2B669541F710}" type="slidenum">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18</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5610"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581150"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968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Date Placeholder 3"/>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3A19FA65-4325-4437-A53E-5150577DD128}" type="datetime1">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t>4/29/2022</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Title 1"/>
          <p:cNvSpPr txBox="1">
            <a:spLocks/>
          </p:cNvSpPr>
          <p:nvPr/>
        </p:nvSpPr>
        <p:spPr>
          <a:xfrm>
            <a:off x="1371600" y="0"/>
            <a:ext cx="7543800" cy="94615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66564" name="Rectangle 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ClrTx/>
              <a:buFontTx/>
              <a:buNone/>
            </a:pPr>
            <a:br>
              <a:rPr lang="en-US" altLang="en-US"/>
            </a:br>
            <a:endParaRPr lang="en-US" altLang="en-US"/>
          </a:p>
          <a:p>
            <a:pPr eaLnBrk="1" hangingPunct="1">
              <a:buClrTx/>
              <a:buFontTx/>
              <a:buNone/>
            </a:pPr>
            <a:endParaRPr lang="en-US" altLang="en-US"/>
          </a:p>
        </p:txBody>
      </p:sp>
      <p:sp>
        <p:nvSpPr>
          <p:cNvPr id="66565" name="Content Placeholder 1"/>
          <p:cNvSpPr txBox="1">
            <a:spLocks noGrp="1"/>
          </p:cNvSpPr>
          <p:nvPr>
            <p:ph idx="1"/>
          </p:nvPr>
        </p:nvSpPr>
        <p:spPr>
          <a:xfrm>
            <a:off x="457200" y="1225550"/>
            <a:ext cx="8229600" cy="4754563"/>
          </a:xfrm>
        </p:spPr>
        <p:txBody>
          <a:bodyPr/>
          <a:lstStyle/>
          <a:p>
            <a:pPr marL="0" indent="0">
              <a:spcBef>
                <a:spcPts val="363"/>
              </a:spcBef>
              <a:spcAft>
                <a:spcPct val="0"/>
              </a:spcAft>
              <a:buClr>
                <a:srgbClr val="000000"/>
              </a:buClr>
              <a:buFont typeface="Arial" panose="020B0604020202020204" pitchFamily="34" charset="0"/>
              <a:buNone/>
            </a:pPr>
            <a:r>
              <a:rPr lang="en-IN" sz="2000" b="1">
                <a:latin typeface="Arial" panose="020B0604020202020204" pitchFamily="34" charset="0"/>
                <a:cs typeface="Arial" panose="020B0604020202020204" pitchFamily="34" charset="0"/>
              </a:rPr>
              <a:t>7. Attempt any one part of the following:                           1 x 10 = 10</a:t>
            </a: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i="1">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nvGraphicFramePr>
        <p:xfrm>
          <a:off x="850900" y="1985963"/>
          <a:ext cx="7829550" cy="1371600"/>
        </p:xfrm>
        <a:graphic>
          <a:graphicData uri="http://schemas.openxmlformats.org/drawingml/2006/table">
            <a:tbl>
              <a:tblPr firstRow="1" bandRow="1">
                <a:tableStyleId>{5C22544A-7EE6-4342-B048-85BDC9FD1C3A}</a:tableStyleId>
              </a:tblPr>
              <a:tblGrid>
                <a:gridCol w="903410">
                  <a:extLst>
                    <a:ext uri="{9D8B030D-6E8A-4147-A177-3AD203B41FA5}">
                      <a16:colId xmlns:a16="http://schemas.microsoft.com/office/drawing/2014/main" val="20000"/>
                    </a:ext>
                  </a:extLst>
                </a:gridCol>
                <a:gridCol w="5269890">
                  <a:extLst>
                    <a:ext uri="{9D8B030D-6E8A-4147-A177-3AD203B41FA5}">
                      <a16:colId xmlns:a16="http://schemas.microsoft.com/office/drawing/2014/main" val="20001"/>
                    </a:ext>
                  </a:extLst>
                </a:gridCol>
                <a:gridCol w="828125">
                  <a:extLst>
                    <a:ext uri="{9D8B030D-6E8A-4147-A177-3AD203B41FA5}">
                      <a16:colId xmlns:a16="http://schemas.microsoft.com/office/drawing/2014/main" val="20002"/>
                    </a:ext>
                  </a:extLst>
                </a:gridCol>
                <a:gridCol w="828125">
                  <a:extLst>
                    <a:ext uri="{9D8B030D-6E8A-4147-A177-3AD203B41FA5}">
                      <a16:colId xmlns:a16="http://schemas.microsoft.com/office/drawing/2014/main" val="20003"/>
                    </a:ext>
                  </a:extLst>
                </a:gridCol>
              </a:tblGrid>
              <a:tr h="640112">
                <a:tc>
                  <a:txBody>
                    <a:bodyPr/>
                    <a:lstStyle/>
                    <a:p>
                      <a:r>
                        <a:rPr lang="en-IN" sz="1800" dirty="0" err="1">
                          <a:solidFill>
                            <a:schemeClr val="tx1"/>
                          </a:solidFill>
                        </a:rPr>
                        <a:t>Q.No</a:t>
                      </a:r>
                      <a:r>
                        <a:rPr lang="en-IN" sz="1800" dirty="0">
                          <a:solidFill>
                            <a:schemeClr val="tx1"/>
                          </a:solidFill>
                        </a:rPr>
                        <a:t>.</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44">
                <a:tc>
                  <a:txBody>
                    <a:bodyPr/>
                    <a:lstStyle/>
                    <a:p>
                      <a:r>
                        <a:rPr lang="en-IN" sz="1800" dirty="0"/>
                        <a:t>1</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44">
                <a:tc>
                  <a:txBody>
                    <a:bodyPr/>
                    <a:lstStyle/>
                    <a:p>
                      <a:r>
                        <a:rPr lang="en-IN" sz="1800" dirty="0"/>
                        <a:t>2</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6588" name="Slide Number Placeholder 10"/>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buChar char="»"/>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buFont typeface="Arial" panose="020B0604020202020204" pitchFamily="34" charset="0"/>
              <a:buNone/>
            </a:pPr>
            <a:fld id="{CA10AF63-ABA1-4339-839E-459EC0F713B7}" type="slidenum">
              <a:rPr lang="en-US" sz="1200" smtClean="0">
                <a:solidFill>
                  <a:srgbClr val="888888"/>
                </a:solidFill>
                <a:latin typeface="Calibri" panose="020F0502020204030204" pitchFamily="34" charset="0"/>
                <a:cs typeface="Calibri" panose="020F0502020204030204" pitchFamily="34" charset="0"/>
                <a:sym typeface="Calibri" panose="020F0502020204030204" pitchFamily="34" charset="0"/>
              </a:rPr>
              <a:pPr>
                <a:buFont typeface="Arial" panose="020B0604020202020204" pitchFamily="34" charset="0"/>
                <a:buNone/>
              </a:pPr>
              <a:t>19</a:t>
            </a:fld>
            <a:endParaRPr lang="en-US" sz="1200">
              <a:solidFill>
                <a:srgbClr val="888888"/>
              </a:solidFill>
              <a:latin typeface="Calibri" panose="020F0502020204030204" pitchFamily="34" charset="0"/>
              <a:cs typeface="Calibri" panose="020F0502020204030204" pitchFamily="34" charset="0"/>
              <a:sym typeface="Calibri" panose="020F0502020204030204" pitchFamily="34" charset="0"/>
            </a:endParaRPr>
          </a:p>
        </p:txBody>
      </p:sp>
      <p:pic>
        <p:nvPicPr>
          <p:cNvPr id="66590" name="Picture 14" descr="NI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874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3549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dirty="0">
                <a:latin typeface="+mj-lt"/>
              </a:rPr>
              <a:t>The student should have knowledge of</a:t>
            </a:r>
          </a:p>
          <a:p>
            <a:pPr lvl="1"/>
            <a:r>
              <a:rPr lang="en-US" sz="2200" dirty="0">
                <a:latin typeface="+mj-lt"/>
              </a:rPr>
              <a:t>Networking</a:t>
            </a:r>
          </a:p>
          <a:p>
            <a:pPr lvl="1"/>
            <a:r>
              <a:rPr lang="en-US" sz="2200" dirty="0">
                <a:latin typeface="+mj-lt"/>
              </a:rPr>
              <a:t>Layout of computer  </a:t>
            </a:r>
          </a:p>
          <a:p>
            <a:pPr lvl="1"/>
            <a:r>
              <a:rPr lang="en-US" sz="2200" dirty="0">
                <a:latin typeface="+mj-lt"/>
              </a:rPr>
              <a:t>Hardware</a:t>
            </a:r>
          </a:p>
          <a:p>
            <a:r>
              <a:rPr lang="en-US" sz="2200" dirty="0"/>
              <a:t>The basic knowledge of C</a:t>
            </a:r>
          </a:p>
        </p:txBody>
      </p:sp>
      <p:sp>
        <p:nvSpPr>
          <p:cNvPr id="4" name="Date Placeholder 3"/>
          <p:cNvSpPr>
            <a:spLocks noGrp="1"/>
          </p:cNvSpPr>
          <p:nvPr>
            <p:ph type="dt" sz="half" idx="10"/>
          </p:nvPr>
        </p:nvSpPr>
        <p:spPr/>
        <p:txBody>
          <a:bodyPr/>
          <a:lstStyle/>
          <a:p>
            <a:fld id="{87963C7E-CAB0-45E3-B853-A8F06AA753B4}"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371600" y="0"/>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mn-lt"/>
                <a:ea typeface="+mn-ea"/>
                <a:cs typeface="+mn-cs"/>
              </a:rPr>
              <a:t>Prerequisite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val="2565041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Date Placeholder 3"/>
          <p:cNvSpPr>
            <a:spLocks noGrp="1"/>
          </p:cNvSpPr>
          <p:nvPr>
            <p:ph type="dt" sz="quarter" idx="11"/>
          </p:nvPr>
        </p:nvSpPr>
        <p:spPr>
          <a:noFill/>
        </p:spPr>
        <p:txBody>
          <a:bodyPr/>
          <a:lstStyle/>
          <a:p>
            <a:pPr>
              <a:buFont typeface="Arial" pitchFamily="34" charset="0"/>
              <a:buNone/>
            </a:pPr>
            <a:fld id="{DCDD5FFC-39A3-4518-A22D-311B10FAAF4E}" type="datetime1">
              <a:rPr lang="en-US" smtClean="0"/>
              <a:t>4/29/2022</a:t>
            </a:fld>
            <a:endParaRPr lang="en-US"/>
          </a:p>
        </p:txBody>
      </p:sp>
      <p:sp>
        <p:nvSpPr>
          <p:cNvPr id="23556" name="Slide Number Placeholder 5"/>
          <p:cNvSpPr>
            <a:spLocks noGrp="1"/>
          </p:cNvSpPr>
          <p:nvPr>
            <p:ph type="sldNum" sz="quarter" idx="4294967295"/>
          </p:nvPr>
        </p:nvSpPr>
        <p:spPr>
          <a:xfrm>
            <a:off x="6497638" y="6356350"/>
            <a:ext cx="2895600" cy="365125"/>
          </a:xfrm>
          <a:prstGeom prst="rect">
            <a:avLst/>
          </a:prstGeom>
          <a:noFill/>
        </p:spPr>
        <p:txBody>
          <a:bodyPr/>
          <a:lstStyle/>
          <a:p>
            <a:pPr algn="ctr">
              <a:buSzPts val="1400"/>
              <a:buFont typeface="Arial" pitchFamily="34" charset="0"/>
              <a:buNone/>
            </a:pPr>
            <a:fld id="{C9D35AC0-4A6C-4D49-B3C2-AC8A74D5F449}" type="slidenum">
              <a:rPr lang="en-US" smtClean="0"/>
              <a:pPr algn="ctr">
                <a:buSzPts val="1400"/>
                <a:buFont typeface="Arial" pitchFamily="34" charset="0"/>
                <a:buNone/>
              </a:pPr>
              <a:t>21</a:t>
            </a:fld>
            <a:endParaRPr lang="en-US"/>
          </a:p>
        </p:txBody>
      </p:sp>
      <p:sp>
        <p:nvSpPr>
          <p:cNvPr id="7" name="Title 1"/>
          <p:cNvSpPr txBox="1">
            <a:spLocks/>
          </p:cNvSpPr>
          <p:nvPr/>
        </p:nvSpPr>
        <p:spPr>
          <a:xfrm>
            <a:off x="1447800" y="0"/>
            <a:ext cx="7696200" cy="68580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000" dirty="0"/>
              <a:t>Brief Introduction to Subject </a:t>
            </a:r>
          </a:p>
        </p:txBody>
      </p:sp>
      <p:sp>
        <p:nvSpPr>
          <p:cNvPr id="23558" name="Text Placeholder 9"/>
          <p:cNvSpPr txBox="1">
            <a:spLocks noGrp="1"/>
          </p:cNvSpPr>
          <p:nvPr>
            <p:ph type="body" idx="1"/>
          </p:nvPr>
        </p:nvSpPr>
        <p:spPr>
          <a:xfrm>
            <a:off x="473075" y="906463"/>
            <a:ext cx="8229600" cy="5353050"/>
          </a:xfrm>
        </p:spPr>
        <p:txBody>
          <a:bodyPr>
            <a:normAutofit/>
          </a:bodyPr>
          <a:lstStyle/>
          <a:p>
            <a:pPr algn="just">
              <a:spcBef>
                <a:spcPts val="363"/>
              </a:spcBef>
              <a:spcAft>
                <a:spcPct val="0"/>
              </a:spcAft>
              <a:buClr>
                <a:srgbClr val="000000"/>
              </a:buClr>
            </a:pPr>
            <a:r>
              <a:rPr lang="en-US" sz="2000" dirty="0"/>
              <a:t> </a:t>
            </a:r>
            <a:r>
              <a:rPr lang="en-US" sz="2400" dirty="0"/>
              <a:t>Computer network is a group of devices connected with each other through a transmission medium such as wires, cables etc. </a:t>
            </a:r>
          </a:p>
          <a:p>
            <a:pPr algn="just">
              <a:spcBef>
                <a:spcPts val="363"/>
              </a:spcBef>
              <a:spcAft>
                <a:spcPct val="0"/>
              </a:spcAft>
              <a:buClr>
                <a:srgbClr val="000000"/>
              </a:buClr>
            </a:pPr>
            <a:endParaRPr lang="en-US" sz="2400" dirty="0"/>
          </a:p>
          <a:p>
            <a:pPr algn="just">
              <a:spcBef>
                <a:spcPts val="363"/>
              </a:spcBef>
              <a:spcAft>
                <a:spcPct val="0"/>
              </a:spcAft>
              <a:buClr>
                <a:srgbClr val="000000"/>
              </a:buClr>
            </a:pPr>
            <a:r>
              <a:rPr lang="en-US" sz="2400" dirty="0"/>
              <a:t>These devices can be computers, printers, scanners, Fax machines etc. </a:t>
            </a:r>
          </a:p>
          <a:p>
            <a:pPr algn="just">
              <a:spcBef>
                <a:spcPts val="363"/>
              </a:spcBef>
              <a:spcAft>
                <a:spcPct val="0"/>
              </a:spcAft>
              <a:buClr>
                <a:srgbClr val="000000"/>
              </a:buClr>
            </a:pPr>
            <a:endParaRPr lang="en-US" sz="2400" dirty="0"/>
          </a:p>
          <a:p>
            <a:pPr algn="just">
              <a:spcBef>
                <a:spcPts val="363"/>
              </a:spcBef>
              <a:spcAft>
                <a:spcPct val="0"/>
              </a:spcAft>
              <a:buClr>
                <a:srgbClr val="000000"/>
              </a:buClr>
            </a:pPr>
            <a:r>
              <a:rPr lang="en-US" sz="2400" dirty="0"/>
              <a:t>The purpose of having computer network is to send and receive data stored in other devices over the network.</a:t>
            </a:r>
            <a:endParaRPr lang="en-US" sz="2400" u="sng" dirty="0">
              <a:solidFill>
                <a:srgbClr val="0000FF"/>
              </a:solidFill>
              <a:latin typeface="Arial" pitchFamily="34" charset="0"/>
              <a:cs typeface="Arial" pitchFamily="34" charset="0"/>
            </a:endParaRPr>
          </a:p>
        </p:txBody>
      </p:sp>
    </p:spTree>
    <p:extLst>
      <p:ext uri="{BB962C8B-B14F-4D97-AF65-F5344CB8AC3E}">
        <p14:creationId xmlns:p14="http://schemas.microsoft.com/office/powerpoint/2010/main" val="2546135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8899" y="907230"/>
            <a:ext cx="8683779" cy="4842351"/>
          </a:xfrm>
        </p:spPr>
        <p:txBody>
          <a:bodyPr/>
          <a:lstStyle/>
          <a:p>
            <a:pPr marL="342900" indent="-342900">
              <a:buFont typeface="Arial" panose="020B0604020202020204" pitchFamily="34" charset="0"/>
              <a:buChar char="•"/>
            </a:pPr>
            <a:r>
              <a:rPr lang="en-US" dirty="0"/>
              <a:t>To develop an understanding of </a:t>
            </a:r>
          </a:p>
          <a:p>
            <a:pPr marL="342900" indent="-342900">
              <a:buFont typeface="Arial" panose="020B0604020202020204" pitchFamily="34" charset="0"/>
              <a:buChar char="•"/>
            </a:pPr>
            <a:r>
              <a:rPr lang="en-US" dirty="0"/>
              <a:t>computer networking basics, </a:t>
            </a:r>
          </a:p>
          <a:p>
            <a:pPr marL="342900" indent="-342900">
              <a:buFont typeface="Arial" panose="020B0604020202020204" pitchFamily="34" charset="0"/>
              <a:buChar char="•"/>
            </a:pPr>
            <a:r>
              <a:rPr lang="en-US" dirty="0"/>
              <a:t>to understand different components of computer networks, </a:t>
            </a:r>
          </a:p>
          <a:p>
            <a:pPr marL="342900" indent="-342900">
              <a:buFont typeface="Arial" panose="020B0604020202020204" pitchFamily="34" charset="0"/>
              <a:buChar char="•"/>
            </a:pPr>
            <a:r>
              <a:rPr lang="en-US" b="1" dirty="0"/>
              <a:t>various protocols, </a:t>
            </a:r>
          </a:p>
          <a:p>
            <a:pPr marL="342900" indent="-342900">
              <a:buFont typeface="Arial" panose="020B0604020202020204" pitchFamily="34" charset="0"/>
              <a:buChar char="•"/>
            </a:pPr>
            <a:r>
              <a:rPr lang="en-US" b="1" dirty="0"/>
              <a:t>the standard models for the layered approach to communication between autonomous machines in a network, </a:t>
            </a:r>
          </a:p>
          <a:p>
            <a:pPr marL="342900" indent="-342900">
              <a:buFont typeface="Arial" panose="020B0604020202020204" pitchFamily="34" charset="0"/>
              <a:buChar char="•"/>
            </a:pPr>
            <a:r>
              <a:rPr lang="en-US" dirty="0"/>
              <a:t>and the main characteristics of data transmission across various physical link types. </a:t>
            </a:r>
          </a:p>
          <a:p>
            <a:endParaRPr lang="en-US" dirty="0"/>
          </a:p>
          <a:p>
            <a:pPr marL="342900" indent="-342900">
              <a:buFont typeface="Wingdings" panose="05000000000000000000" pitchFamily="2" charset="2"/>
              <a:buChar char="§"/>
            </a:pPr>
            <a:endParaRPr lang="en-US" dirty="0"/>
          </a:p>
          <a:p>
            <a:endParaRPr lang="en-US" dirty="0"/>
          </a:p>
        </p:txBody>
      </p:sp>
      <p:sp>
        <p:nvSpPr>
          <p:cNvPr id="4" name="Date Placeholder 3"/>
          <p:cNvSpPr>
            <a:spLocks noGrp="1"/>
          </p:cNvSpPr>
          <p:nvPr>
            <p:ph type="dt" sz="half" idx="10"/>
          </p:nvPr>
        </p:nvSpPr>
        <p:spPr/>
        <p:txBody>
          <a:bodyPr/>
          <a:lstStyle/>
          <a:p>
            <a:fld id="{2FE9D57F-D3AE-408A-BDC7-1BFD2904F7EB}"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22</a:t>
            </a:fld>
            <a:endParaRPr lang="en-US"/>
          </a:p>
        </p:txBody>
      </p:sp>
      <p:sp>
        <p:nvSpPr>
          <p:cNvPr id="7" name="Title 1"/>
          <p:cNvSpPr>
            <a:spLocks noGrp="1"/>
          </p:cNvSpPr>
          <p:nvPr>
            <p:ph type="title"/>
          </p:nvPr>
        </p:nvSpPr>
        <p:spPr>
          <a:xfrm>
            <a:off x="1370862" y="0"/>
            <a:ext cx="7773138" cy="582700"/>
          </a:xfrm>
        </p:spPr>
        <p:txBody>
          <a:bodyPr/>
          <a:lstStyle/>
          <a:p>
            <a:r>
              <a:rPr lang="en-US" dirty="0"/>
              <a:t>Course Objective / Unit Objective</a:t>
            </a:r>
          </a:p>
        </p:txBody>
      </p:sp>
    </p:spTree>
    <p:extLst>
      <p:ext uri="{BB962C8B-B14F-4D97-AF65-F5344CB8AC3E}">
        <p14:creationId xmlns:p14="http://schemas.microsoft.com/office/powerpoint/2010/main" val="2070187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128" y="984504"/>
            <a:ext cx="8436864" cy="5279136"/>
          </a:xfrm>
          <a:prstGeom prst="rect">
            <a:avLst/>
          </a:prstGeom>
        </p:spPr>
        <p:txBody>
          <a:bodyPr lIns="0" tIns="0" rIns="0" bIns="0">
            <a:noAutofit/>
          </a:bodyPr>
          <a:lstStyle/>
          <a:p>
            <a:pPr algn="just">
              <a:lnSpc>
                <a:spcPts val="3024"/>
              </a:lnSpc>
            </a:pPr>
            <a:r>
              <a:rPr lang="en-US" sz="2200" dirty="0">
                <a:latin typeface="Calibri"/>
              </a:rPr>
              <a:t>Topic Objective</a:t>
            </a:r>
          </a:p>
          <a:p>
            <a:pPr marL="342900" indent="-342900" algn="just">
              <a:lnSpc>
                <a:spcPts val="3024"/>
              </a:lnSpc>
              <a:buFont typeface="Arial" panose="020B0604020202020204" pitchFamily="34" charset="0"/>
              <a:buChar char="•"/>
            </a:pPr>
            <a:r>
              <a:rPr lang="en-US" sz="2200" dirty="0">
                <a:latin typeface="Calibri"/>
              </a:rPr>
              <a:t>The student will be able to understand the basic concept and terms of transport layer</a:t>
            </a:r>
          </a:p>
          <a:p>
            <a:pPr marL="342900" indent="-342900" algn="just">
              <a:lnSpc>
                <a:spcPts val="3024"/>
              </a:lnSpc>
              <a:buFont typeface="Arial" panose="020B0604020202020204" pitchFamily="34" charset="0"/>
              <a:buChar char="•"/>
            </a:pPr>
            <a:r>
              <a:rPr lang="en-US" sz="2200" dirty="0">
                <a:latin typeface="Calibri"/>
              </a:rPr>
              <a:t>Understand the working of various transport layer protocols</a:t>
            </a:r>
          </a:p>
        </p:txBody>
      </p:sp>
      <p:sp>
        <p:nvSpPr>
          <p:cNvPr id="3" name="Date Placeholder 2"/>
          <p:cNvSpPr>
            <a:spLocks noGrp="1"/>
          </p:cNvSpPr>
          <p:nvPr>
            <p:ph type="dt" sz="half" idx="10"/>
          </p:nvPr>
        </p:nvSpPr>
        <p:spPr/>
        <p:txBody>
          <a:bodyPr/>
          <a:lstStyle/>
          <a:p>
            <a:fld id="{EACDC1D6-B578-48B6-BDDB-60353CA3E3D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23</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LAYER(CO1)</a:t>
            </a:r>
            <a:endParaRPr lang="en-US" dirty="0"/>
          </a:p>
        </p:txBody>
      </p:sp>
    </p:spTree>
    <p:extLst>
      <p:ext uri="{BB962C8B-B14F-4D97-AF65-F5344CB8AC3E}">
        <p14:creationId xmlns:p14="http://schemas.microsoft.com/office/powerpoint/2010/main" val="3316593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84504"/>
            <a:ext cx="8436864" cy="5279136"/>
          </a:xfrm>
          <a:prstGeom prst="rect">
            <a:avLst/>
          </a:prstGeom>
        </p:spPr>
        <p:txBody>
          <a:bodyPr lIns="0" tIns="0" rIns="0" bIns="0">
            <a:noAutofit/>
          </a:bodyPr>
          <a:lstStyle/>
          <a:p>
            <a:pPr marL="342900" indent="-342900" algn="just">
              <a:lnSpc>
                <a:spcPts val="3024"/>
              </a:lnSpc>
              <a:buFont typeface="Arial" panose="020B0604020202020204" pitchFamily="34" charset="0"/>
              <a:buChar char="•"/>
            </a:pPr>
            <a:r>
              <a:rPr lang="en-US" sz="2200" dirty="0">
                <a:latin typeface="Calibri"/>
              </a:rPr>
              <a:t>The transport layer is the core of the OSI model. </a:t>
            </a:r>
          </a:p>
          <a:p>
            <a:pPr marL="342900" indent="-342900" algn="just">
              <a:lnSpc>
                <a:spcPts val="3024"/>
              </a:lnSpc>
              <a:buFont typeface="Arial" panose="020B0604020202020204" pitchFamily="34" charset="0"/>
              <a:buChar char="•"/>
            </a:pPr>
            <a:r>
              <a:rPr lang="en-US" sz="2200" dirty="0">
                <a:latin typeface="Calibri"/>
              </a:rPr>
              <a:t>Protocols at this layer oversee the delivery of data from an application program on one device to an application program on another device. </a:t>
            </a:r>
          </a:p>
          <a:p>
            <a:pPr marL="342900" indent="-342900" algn="just">
              <a:lnSpc>
                <a:spcPts val="3024"/>
              </a:lnSpc>
              <a:buFont typeface="Arial" panose="020B0604020202020204" pitchFamily="34" charset="0"/>
              <a:buChar char="•"/>
            </a:pPr>
            <a:r>
              <a:rPr lang="en-US" sz="2200" dirty="0">
                <a:latin typeface="Calibri"/>
              </a:rPr>
              <a:t>They act as a liaison between the upper-layer protocols (session, presentation, and application) and the services provided by the lower layers. </a:t>
            </a:r>
          </a:p>
        </p:txBody>
      </p:sp>
      <p:sp>
        <p:nvSpPr>
          <p:cNvPr id="3" name="Date Placeholder 2"/>
          <p:cNvSpPr>
            <a:spLocks noGrp="1"/>
          </p:cNvSpPr>
          <p:nvPr>
            <p:ph type="dt" sz="half" idx="10"/>
          </p:nvPr>
        </p:nvSpPr>
        <p:spPr/>
        <p:txBody>
          <a:bodyPr/>
          <a:lstStyle/>
          <a:p>
            <a:fld id="{BF18DC55-00C1-4325-A3A4-AE0AC3C62552}"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24</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LAYER(CO1)</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128" y="984504"/>
            <a:ext cx="8436864" cy="5279136"/>
          </a:xfrm>
          <a:prstGeom prst="rect">
            <a:avLst/>
          </a:prstGeom>
        </p:spPr>
        <p:txBody>
          <a:bodyPr lIns="0" tIns="0" rIns="0" bIns="0">
            <a:noAutofit/>
          </a:bodyPr>
          <a:lstStyle/>
          <a:p>
            <a:pPr algn="just">
              <a:lnSpc>
                <a:spcPts val="3024"/>
              </a:lnSpc>
            </a:pPr>
            <a:r>
              <a:rPr lang="en-US" sz="2200" dirty="0">
                <a:latin typeface="Calibri"/>
              </a:rPr>
              <a:t>Duties of the transport layer: </a:t>
            </a:r>
          </a:p>
          <a:p>
            <a:pPr marL="342900" indent="-342900" algn="just">
              <a:lnSpc>
                <a:spcPts val="3024"/>
              </a:lnSpc>
              <a:buFont typeface="Arial" panose="020B0604020202020204" pitchFamily="34" charset="0"/>
              <a:buChar char="•"/>
            </a:pPr>
            <a:r>
              <a:rPr lang="en-US" sz="2200" dirty="0">
                <a:latin typeface="Calibri"/>
              </a:rPr>
              <a:t>The services provided are similar to those of the data link layer. </a:t>
            </a:r>
          </a:p>
          <a:p>
            <a:pPr marL="342900" indent="-342900" algn="just">
              <a:lnSpc>
                <a:spcPts val="3024"/>
              </a:lnSpc>
              <a:buFont typeface="Arial" panose="020B0604020202020204" pitchFamily="34" charset="0"/>
              <a:buChar char="•"/>
            </a:pPr>
            <a:r>
              <a:rPr lang="en-US" sz="2200" dirty="0">
                <a:latin typeface="Calibri"/>
              </a:rPr>
              <a:t>provides services across an internetwork made of many networks. </a:t>
            </a:r>
          </a:p>
          <a:p>
            <a:pPr marL="342900" indent="-342900" algn="just">
              <a:lnSpc>
                <a:spcPts val="3024"/>
              </a:lnSpc>
              <a:buFont typeface="Arial" panose="020B0604020202020204" pitchFamily="34" charset="0"/>
              <a:buChar char="•"/>
            </a:pPr>
            <a:r>
              <a:rPr lang="en-US" sz="2200" dirty="0">
                <a:latin typeface="Calibri"/>
              </a:rPr>
              <a:t>While the transport layer controls all three of the lower layers. </a:t>
            </a:r>
          </a:p>
        </p:txBody>
      </p:sp>
      <p:sp>
        <p:nvSpPr>
          <p:cNvPr id="3" name="Date Placeholder 2"/>
          <p:cNvSpPr>
            <a:spLocks noGrp="1"/>
          </p:cNvSpPr>
          <p:nvPr>
            <p:ph type="dt" sz="half" idx="10"/>
          </p:nvPr>
        </p:nvSpPr>
        <p:spPr/>
        <p:txBody>
          <a:bodyPr/>
          <a:lstStyle/>
          <a:p>
            <a:fld id="{5A294E67-CA50-4C27-BC31-9FEC1B16CDD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25</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extLst>
      <p:ext uri="{BB962C8B-B14F-4D97-AF65-F5344CB8AC3E}">
        <p14:creationId xmlns:p14="http://schemas.microsoft.com/office/powerpoint/2010/main" val="2032239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72312"/>
            <a:ext cx="8196072" cy="4532376"/>
          </a:xfrm>
          <a:prstGeom prst="rect">
            <a:avLst/>
          </a:prstGeom>
        </p:spPr>
        <p:txBody>
          <a:bodyPr lIns="0" tIns="0" rIns="0" bIns="0">
            <a:noAutofit/>
          </a:bodyPr>
          <a:lstStyle/>
          <a:p>
            <a:pPr marL="254000" indent="0">
              <a:lnSpc>
                <a:spcPts val="3024"/>
              </a:lnSpc>
            </a:pPr>
            <a:r>
              <a:rPr lang="en-US" sz="2200" b="1" dirty="0">
                <a:latin typeface="Calibri"/>
              </a:rPr>
              <a:t>Quality of Service</a:t>
            </a:r>
          </a:p>
          <a:p>
            <a:pPr marL="254000" indent="431800" algn="just">
              <a:lnSpc>
                <a:spcPts val="3024"/>
              </a:lnSpc>
              <a:spcAft>
                <a:spcPts val="420"/>
              </a:spcAft>
            </a:pPr>
            <a:r>
              <a:rPr lang="en-US" sz="2200" dirty="0">
                <a:latin typeface="Calibri"/>
              </a:rPr>
              <a:t>The transport protocol improves the </a:t>
            </a:r>
            <a:r>
              <a:rPr lang="en-US" sz="2200" dirty="0" err="1">
                <a:latin typeface="Calibri"/>
              </a:rPr>
              <a:t>QoS</a:t>
            </a:r>
            <a:r>
              <a:rPr lang="en-US" sz="2200" dirty="0">
                <a:latin typeface="Calibri"/>
              </a:rPr>
              <a:t> (Quality of Service) provided by the network layer.</a:t>
            </a:r>
          </a:p>
          <a:p>
            <a:pPr marL="254000" indent="0">
              <a:spcAft>
                <a:spcPts val="1890"/>
              </a:spcAft>
            </a:pPr>
            <a:r>
              <a:rPr lang="en-US" sz="2200" dirty="0">
                <a:latin typeface="Calibri"/>
              </a:rPr>
              <a:t>Following are the </a:t>
            </a:r>
            <a:r>
              <a:rPr lang="en-US" sz="2200" dirty="0" err="1">
                <a:latin typeface="Calibri"/>
              </a:rPr>
              <a:t>QoS</a:t>
            </a:r>
            <a:r>
              <a:rPr lang="en-US" sz="2200" dirty="0">
                <a:latin typeface="Calibri"/>
              </a:rPr>
              <a:t> parameters:</a:t>
            </a:r>
          </a:p>
          <a:p>
            <a:pPr indent="0">
              <a:spcAft>
                <a:spcPts val="1680"/>
              </a:spcAft>
            </a:pPr>
            <a:r>
              <a:rPr lang="en-US" sz="2200" b="1" dirty="0">
                <a:latin typeface="Calibri"/>
              </a:rPr>
              <a:t>• Connection establishment delay:</a:t>
            </a:r>
          </a:p>
          <a:p>
            <a:pPr marL="254000" indent="431800" algn="just">
              <a:lnSpc>
                <a:spcPts val="3024"/>
              </a:lnSpc>
            </a:pPr>
            <a:r>
              <a:rPr lang="en-US" sz="2200" dirty="0">
                <a:latin typeface="Calibri"/>
              </a:rPr>
              <a:t>the amount of time elapsing between a transport connection being requested and the confirmation being received by the user of the transport service. </a:t>
            </a:r>
          </a:p>
          <a:p>
            <a:pPr marL="342900" indent="-342900" algn="just">
              <a:spcAft>
                <a:spcPts val="1680"/>
              </a:spcAft>
              <a:buFont typeface="Arial" panose="020B0604020202020204" pitchFamily="34" charset="0"/>
              <a:buChar char="•"/>
            </a:pPr>
            <a:r>
              <a:rPr lang="en-US" sz="2200" b="1" dirty="0"/>
              <a:t>Connection establishment failure probability:</a:t>
            </a:r>
          </a:p>
          <a:p>
            <a:pPr marL="254000" indent="431800" algn="just">
              <a:lnSpc>
                <a:spcPts val="3024"/>
              </a:lnSpc>
              <a:spcAft>
                <a:spcPts val="840"/>
              </a:spcAft>
            </a:pPr>
            <a:r>
              <a:rPr lang="en-US" sz="2200" dirty="0"/>
              <a:t>the chance of a connection not being established within the maximum establishment delay time.</a:t>
            </a:r>
          </a:p>
          <a:p>
            <a:pPr marL="254000" indent="431800" algn="just">
              <a:lnSpc>
                <a:spcPts val="3024"/>
              </a:lnSpc>
            </a:pPr>
            <a:endParaRPr lang="en-US" sz="2200" dirty="0">
              <a:latin typeface="Calibri"/>
            </a:endParaRPr>
          </a:p>
        </p:txBody>
      </p:sp>
      <p:sp>
        <p:nvSpPr>
          <p:cNvPr id="3" name="Date Placeholder 2"/>
          <p:cNvSpPr>
            <a:spLocks noGrp="1"/>
          </p:cNvSpPr>
          <p:nvPr>
            <p:ph type="dt" sz="half" idx="10"/>
          </p:nvPr>
        </p:nvSpPr>
        <p:spPr/>
        <p:txBody>
          <a:bodyPr/>
          <a:lstStyle/>
          <a:p>
            <a:fld id="{F96DB133-A1F2-4E3E-959E-D61F1D1EB91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26</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87552"/>
            <a:ext cx="8211312" cy="3858768"/>
          </a:xfrm>
          <a:prstGeom prst="rect">
            <a:avLst/>
          </a:prstGeom>
        </p:spPr>
        <p:txBody>
          <a:bodyPr lIns="0" tIns="0" rIns="0" bIns="0">
            <a:noAutofit/>
          </a:bodyPr>
          <a:lstStyle/>
          <a:p>
            <a:pPr indent="0" algn="just">
              <a:spcAft>
                <a:spcPts val="1680"/>
              </a:spcAft>
            </a:pPr>
            <a:r>
              <a:rPr lang="en-US" sz="2200" b="1" dirty="0">
                <a:latin typeface="Calibri"/>
              </a:rPr>
              <a:t>•   Throughput:</a:t>
            </a:r>
          </a:p>
          <a:p>
            <a:pPr marL="254000" indent="431800" algn="just">
              <a:lnSpc>
                <a:spcPts val="3000"/>
              </a:lnSpc>
            </a:pPr>
            <a:r>
              <a:rPr lang="en-US" sz="2200" dirty="0">
                <a:latin typeface="Calibri"/>
              </a:rPr>
              <a:t>measures the number of bytes of user data transferred per second, measured over some time interval. </a:t>
            </a:r>
          </a:p>
          <a:p>
            <a:pPr marL="342900" indent="-342900" algn="just">
              <a:spcAft>
                <a:spcPts val="1680"/>
              </a:spcAft>
              <a:buFont typeface="Arial" panose="020B0604020202020204" pitchFamily="34" charset="0"/>
              <a:buChar char="•"/>
            </a:pPr>
            <a:r>
              <a:rPr lang="en-US" sz="2200" b="1" dirty="0"/>
              <a:t>Transit delay:</a:t>
            </a:r>
          </a:p>
          <a:p>
            <a:pPr marL="241300" indent="457200" algn="just">
              <a:lnSpc>
                <a:spcPts val="3024"/>
              </a:lnSpc>
              <a:spcAft>
                <a:spcPts val="840"/>
              </a:spcAft>
            </a:pPr>
            <a:r>
              <a:rPr lang="en-US" sz="2200" dirty="0"/>
              <a:t>the time between a message being sent by the transport user on the source machine and its being received by the transport user on the destination machine.</a:t>
            </a:r>
          </a:p>
          <a:p>
            <a:pPr indent="0" algn="just">
              <a:spcAft>
                <a:spcPts val="1680"/>
              </a:spcAft>
            </a:pPr>
            <a:r>
              <a:rPr lang="en-US" sz="2200" b="1" dirty="0"/>
              <a:t>•    The Residual error ratio:</a:t>
            </a:r>
          </a:p>
          <a:p>
            <a:pPr marL="241300" indent="457200" algn="just">
              <a:lnSpc>
                <a:spcPts val="3024"/>
              </a:lnSpc>
            </a:pPr>
            <a:r>
              <a:rPr lang="en-US" sz="2200" dirty="0"/>
              <a:t>the number of lost or garbled messages as a fraction of the total sent. </a:t>
            </a:r>
            <a:endParaRPr lang="en-US" sz="2200" dirty="0">
              <a:latin typeface="Calibri"/>
            </a:endParaRPr>
          </a:p>
          <a:p>
            <a:pPr marL="254000" indent="431800" algn="just">
              <a:lnSpc>
                <a:spcPts val="3000"/>
              </a:lnSpc>
            </a:pPr>
            <a:endParaRPr lang="en-US" sz="2200" dirty="0">
              <a:latin typeface="Calibri"/>
            </a:endParaRPr>
          </a:p>
        </p:txBody>
      </p:sp>
      <p:sp>
        <p:nvSpPr>
          <p:cNvPr id="3" name="Date Placeholder 2"/>
          <p:cNvSpPr>
            <a:spLocks noGrp="1"/>
          </p:cNvSpPr>
          <p:nvPr>
            <p:ph type="dt" sz="half" idx="10"/>
          </p:nvPr>
        </p:nvSpPr>
        <p:spPr/>
        <p:txBody>
          <a:bodyPr/>
          <a:lstStyle/>
          <a:p>
            <a:fld id="{F3307E68-026F-4A5D-A50D-A4F82F234BC3}" type="datetime1">
              <a:rPr lang="en-US" smtClean="0"/>
              <a:t>4/29/2022</a:t>
            </a:fld>
            <a:endParaRPr lang="en-US" dirty="0"/>
          </a:p>
        </p:txBody>
      </p:sp>
      <p:sp>
        <p:nvSpPr>
          <p:cNvPr id="5" name="Slide Number Placeholder 4"/>
          <p:cNvSpPr>
            <a:spLocks noGrp="1"/>
          </p:cNvSpPr>
          <p:nvPr>
            <p:ph type="sldNum" sz="quarter" idx="12"/>
          </p:nvPr>
        </p:nvSpPr>
        <p:spPr/>
        <p:txBody>
          <a:bodyPr/>
          <a:lstStyle/>
          <a:p>
            <a:fld id="{A0B67B60-8227-4ECE-9065-6110C6EB035F}" type="slidenum">
              <a:rPr lang="en-US" smtClean="0"/>
              <a:t>27</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LAYER(CO4)</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205216" cy="5394960"/>
          </a:xfrm>
          <a:prstGeom prst="rect">
            <a:avLst/>
          </a:prstGeom>
        </p:spPr>
        <p:txBody>
          <a:bodyPr lIns="0" tIns="0" rIns="0" bIns="0">
            <a:noAutofit/>
          </a:bodyPr>
          <a:lstStyle/>
          <a:p>
            <a:pPr indent="0" algn="just">
              <a:spcAft>
                <a:spcPts val="1680"/>
              </a:spcAft>
            </a:pPr>
            <a:r>
              <a:rPr lang="en-US" sz="2200" b="1" dirty="0">
                <a:latin typeface="Calibri"/>
              </a:rPr>
              <a:t>•    The Protection</a:t>
            </a:r>
          </a:p>
          <a:p>
            <a:pPr marL="241300" indent="444500" algn="just">
              <a:lnSpc>
                <a:spcPts val="3024"/>
              </a:lnSpc>
              <a:spcAft>
                <a:spcPts val="840"/>
              </a:spcAft>
            </a:pPr>
            <a:r>
              <a:rPr lang="en-US" sz="2200" dirty="0">
                <a:latin typeface="Calibri"/>
              </a:rPr>
              <a:t>a way for the transport user to specify interest in having the transport layer provide protection against unauthorized third parties (</a:t>
            </a:r>
            <a:r>
              <a:rPr lang="en-US" sz="2200" dirty="0" err="1">
                <a:latin typeface="Calibri"/>
              </a:rPr>
              <a:t>wiretappers</a:t>
            </a:r>
            <a:r>
              <a:rPr lang="en-US" sz="2200" dirty="0">
                <a:latin typeface="Calibri"/>
              </a:rPr>
              <a:t>) reading or modifying the transmitted data.</a:t>
            </a:r>
          </a:p>
          <a:p>
            <a:pPr indent="0" algn="just">
              <a:spcAft>
                <a:spcPts val="1680"/>
              </a:spcAft>
            </a:pPr>
            <a:r>
              <a:rPr lang="en-US" sz="2200" b="1" dirty="0">
                <a:latin typeface="Calibri"/>
              </a:rPr>
              <a:t>•    The Priority</a:t>
            </a:r>
          </a:p>
          <a:p>
            <a:pPr marL="241300" indent="444500" algn="just">
              <a:lnSpc>
                <a:spcPts val="3024"/>
              </a:lnSpc>
            </a:pPr>
            <a:r>
              <a:rPr lang="en-US" sz="2200" dirty="0">
                <a:latin typeface="Calibri"/>
              </a:rPr>
              <a:t>a way for a transport user to indicate that some of its connections are more important than other ones, and in the event of congestion, to make sure that the high-priority connections get serviced before the low-priority ones. </a:t>
            </a:r>
          </a:p>
        </p:txBody>
      </p:sp>
      <p:sp>
        <p:nvSpPr>
          <p:cNvPr id="3" name="Date Placeholder 2"/>
          <p:cNvSpPr>
            <a:spLocks noGrp="1"/>
          </p:cNvSpPr>
          <p:nvPr>
            <p:ph type="dt" sz="half" idx="10"/>
          </p:nvPr>
        </p:nvSpPr>
        <p:spPr/>
        <p:txBody>
          <a:bodyPr/>
          <a:lstStyle/>
          <a:p>
            <a:fld id="{9844F697-6470-4A23-852B-BE9C8D3914D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28</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LAYER(CO5)</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17281" y="4213016"/>
            <a:ext cx="7367016" cy="2057400"/>
          </a:xfrm>
          <a:prstGeom prst="rect">
            <a:avLst/>
          </a:prstGeom>
        </p:spPr>
      </p:pic>
      <p:sp>
        <p:nvSpPr>
          <p:cNvPr id="3" name="Date Placeholder 2"/>
          <p:cNvSpPr>
            <a:spLocks noGrp="1"/>
          </p:cNvSpPr>
          <p:nvPr>
            <p:ph type="dt" sz="half" idx="10"/>
          </p:nvPr>
        </p:nvSpPr>
        <p:spPr/>
        <p:txBody>
          <a:bodyPr/>
          <a:lstStyle/>
          <a:p>
            <a:fld id="{0162208C-E5B2-44F8-81E3-9F64D793D624}"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29</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LAYER(CO1)</a:t>
            </a:r>
            <a:endParaRPr lang="en-US" dirty="0"/>
          </a:p>
        </p:txBody>
      </p:sp>
      <p:sp>
        <p:nvSpPr>
          <p:cNvPr id="7" name="Rectangle 6"/>
          <p:cNvSpPr/>
          <p:nvPr/>
        </p:nvSpPr>
        <p:spPr>
          <a:xfrm>
            <a:off x="920495" y="956982"/>
            <a:ext cx="7281395" cy="2785378"/>
          </a:xfrm>
          <a:prstGeom prst="rect">
            <a:avLst/>
          </a:prstGeom>
        </p:spPr>
        <p:txBody>
          <a:bodyPr wrap="square">
            <a:spAutoFit/>
          </a:bodyPr>
          <a:lstStyle/>
          <a:p>
            <a:pPr algn="just">
              <a:lnSpc>
                <a:spcPts val="3024"/>
              </a:lnSpc>
            </a:pPr>
            <a:r>
              <a:rPr lang="en-US" sz="2200" dirty="0"/>
              <a:t>The services provided by transport layer protocols can be divided into five broad categories: </a:t>
            </a:r>
          </a:p>
          <a:p>
            <a:pPr marL="342900" indent="-342900" algn="just">
              <a:lnSpc>
                <a:spcPts val="3024"/>
              </a:lnSpc>
              <a:buFont typeface="Arial" panose="020B0604020202020204" pitchFamily="34" charset="0"/>
              <a:buChar char="•"/>
            </a:pPr>
            <a:r>
              <a:rPr lang="en-US" sz="2200" dirty="0"/>
              <a:t>end-to-end deliver, </a:t>
            </a:r>
          </a:p>
          <a:p>
            <a:pPr marL="342900" indent="-342900" algn="just">
              <a:lnSpc>
                <a:spcPts val="3024"/>
              </a:lnSpc>
              <a:buFont typeface="Arial" panose="020B0604020202020204" pitchFamily="34" charset="0"/>
              <a:buChar char="•"/>
            </a:pPr>
            <a:r>
              <a:rPr lang="en-US" sz="2200" dirty="0"/>
              <a:t>addressing, </a:t>
            </a:r>
          </a:p>
          <a:p>
            <a:pPr marL="342900" indent="-342900" algn="just">
              <a:lnSpc>
                <a:spcPts val="3024"/>
              </a:lnSpc>
              <a:buFont typeface="Arial" panose="020B0604020202020204" pitchFamily="34" charset="0"/>
              <a:buChar char="•"/>
            </a:pPr>
            <a:r>
              <a:rPr lang="en-US" sz="2200" dirty="0"/>
              <a:t>reliable delivery, </a:t>
            </a:r>
          </a:p>
          <a:p>
            <a:pPr marL="342900" indent="-342900" algn="just">
              <a:lnSpc>
                <a:spcPts val="3024"/>
              </a:lnSpc>
              <a:buFont typeface="Arial" panose="020B0604020202020204" pitchFamily="34" charset="0"/>
              <a:buChar char="•"/>
            </a:pPr>
            <a:r>
              <a:rPr lang="en-US" sz="2200" dirty="0"/>
              <a:t>flow control, and </a:t>
            </a:r>
          </a:p>
          <a:p>
            <a:pPr marL="342900" indent="-342900" algn="just">
              <a:lnSpc>
                <a:spcPts val="3024"/>
              </a:lnSpc>
              <a:buFont typeface="Arial" panose="020B0604020202020204" pitchFamily="34" charset="0"/>
              <a:buChar char="•"/>
            </a:pPr>
            <a:r>
              <a:rPr lang="en-US" sz="2200" dirty="0"/>
              <a:t>multiplexing.</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5424" y="975360"/>
            <a:ext cx="7982712" cy="3081528"/>
          </a:xfrm>
          <a:prstGeom prst="rect">
            <a:avLst/>
          </a:prstGeom>
        </p:spPr>
        <p:txBody>
          <a:bodyPr lIns="0" tIns="0" rIns="0" bIns="0">
            <a:noAutofit/>
          </a:bodyPr>
          <a:lstStyle/>
          <a:p>
            <a:pPr indent="0" algn="just">
              <a:spcAft>
                <a:spcPts val="840"/>
              </a:spcAft>
            </a:pPr>
            <a:r>
              <a:rPr lang="en-US" sz="2200" b="1">
                <a:latin typeface="Calibri"/>
              </a:rPr>
              <a:t>End -to -end delivery</a:t>
            </a:r>
          </a:p>
          <a:p>
            <a:pPr indent="469900" algn="just">
              <a:lnSpc>
                <a:spcPts val="3000"/>
              </a:lnSpc>
              <a:spcAft>
                <a:spcPts val="420"/>
              </a:spcAft>
            </a:pPr>
            <a:r>
              <a:rPr lang="en-US" sz="2200">
                <a:latin typeface="Calibri"/>
              </a:rPr>
              <a:t>The network layer oversees the end-to-end delivery of individual packets but does not see any relationship between those packets, even those belonging to a single message.</a:t>
            </a:r>
          </a:p>
          <a:p>
            <a:pPr indent="0" algn="just">
              <a:lnSpc>
                <a:spcPts val="3024"/>
              </a:lnSpc>
            </a:pPr>
            <a:r>
              <a:rPr lang="en-US" sz="2200">
                <a:latin typeface="Calibri"/>
              </a:rPr>
              <a:t>It treats each as an independent entity. The transport layer, on the other hand, makes sure that the entire message (not just a single packet) arrives intact. Thus, it oversees the end-to-end (source -to-destination) delivery of an entire message.</a:t>
            </a:r>
          </a:p>
        </p:txBody>
      </p:sp>
      <p:sp>
        <p:nvSpPr>
          <p:cNvPr id="3" name="Date Placeholder 2"/>
          <p:cNvSpPr>
            <a:spLocks noGrp="1"/>
          </p:cNvSpPr>
          <p:nvPr>
            <p:ph type="dt" sz="half" idx="10"/>
          </p:nvPr>
        </p:nvSpPr>
        <p:spPr/>
        <p:txBody>
          <a:bodyPr/>
          <a:lstStyle/>
          <a:p>
            <a:fld id="{8E175805-43BE-4FB7-9159-9BDB2F33059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30</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6280" y="975360"/>
            <a:ext cx="7988808" cy="5288280"/>
          </a:xfrm>
          <a:prstGeom prst="rect">
            <a:avLst/>
          </a:prstGeom>
        </p:spPr>
        <p:txBody>
          <a:bodyPr lIns="0" tIns="0" rIns="0" bIns="0">
            <a:noAutofit/>
          </a:bodyPr>
          <a:lstStyle/>
          <a:p>
            <a:pPr indent="0">
              <a:lnSpc>
                <a:spcPts val="3024"/>
              </a:lnSpc>
            </a:pPr>
            <a:r>
              <a:rPr lang="en-US" sz="2200" b="1" dirty="0">
                <a:latin typeface="Calibri"/>
              </a:rPr>
              <a:t>Addressing</a:t>
            </a:r>
          </a:p>
          <a:p>
            <a:pPr indent="469900" algn="just">
              <a:lnSpc>
                <a:spcPts val="3024"/>
              </a:lnSpc>
            </a:pPr>
            <a:r>
              <a:rPr lang="en-US" sz="2200" dirty="0">
                <a:latin typeface="Calibri"/>
              </a:rPr>
              <a:t>The transport layer interacts with the functions of the session layer. Communication occurs not just from end machine to end machine but from end application to end application. Data generated by an application on one machine must be received not just by the other machine but by the correct application on that other machine. To ensure accurate delivery from service access point to service access point, we need </a:t>
            </a:r>
            <a:r>
              <a:rPr lang="en-US" sz="2200" dirty="0"/>
              <a:t>another level of addressing in addition, the protocol needs to know which upper-layer protocols are communicating.</a:t>
            </a:r>
          </a:p>
          <a:p>
            <a:pPr indent="469900" algn="just">
              <a:lnSpc>
                <a:spcPts val="3024"/>
              </a:lnSpc>
            </a:pPr>
            <a:endParaRPr lang="en-US" sz="2200" dirty="0">
              <a:latin typeface="Calibri"/>
            </a:endParaRPr>
          </a:p>
        </p:txBody>
      </p:sp>
      <p:sp>
        <p:nvSpPr>
          <p:cNvPr id="3" name="Date Placeholder 2"/>
          <p:cNvSpPr>
            <a:spLocks noGrp="1"/>
          </p:cNvSpPr>
          <p:nvPr>
            <p:ph type="dt" sz="half" idx="10"/>
          </p:nvPr>
        </p:nvSpPr>
        <p:spPr/>
        <p:txBody>
          <a:bodyPr/>
          <a:lstStyle/>
          <a:p>
            <a:fld id="{DD2F9296-D58F-4779-8896-21331BCAC27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31</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795251"/>
            <a:ext cx="8205216" cy="4194048"/>
          </a:xfrm>
          <a:prstGeom prst="rect">
            <a:avLst/>
          </a:prstGeom>
        </p:spPr>
        <p:txBody>
          <a:bodyPr lIns="0" tIns="0" rIns="0" bIns="0">
            <a:noAutofit/>
          </a:bodyPr>
          <a:lstStyle/>
          <a:p>
            <a:pPr marL="254000" indent="0" algn="just"/>
            <a:r>
              <a:rPr lang="en-US" sz="2200" b="1" dirty="0">
                <a:latin typeface="Calibri"/>
              </a:rPr>
              <a:t>Reliable Delivery</a:t>
            </a:r>
          </a:p>
          <a:p>
            <a:pPr marL="254000" indent="444500" algn="just">
              <a:spcAft>
                <a:spcPts val="840"/>
              </a:spcAft>
            </a:pPr>
            <a:r>
              <a:rPr lang="en-US" sz="2200" dirty="0">
                <a:latin typeface="Calibri"/>
              </a:rPr>
              <a:t>At the transport layer, reliable delivery has four aspects: error control, sequence control, loss control, and duplication control.</a:t>
            </a:r>
          </a:p>
          <a:p>
            <a:pPr marL="342900" indent="-342900">
              <a:spcAft>
                <a:spcPts val="1680"/>
              </a:spcAft>
              <a:buFont typeface="Arial" panose="020B0604020202020204" pitchFamily="34" charset="0"/>
              <a:buChar char="•"/>
            </a:pPr>
            <a:r>
              <a:rPr lang="en-US" sz="2200" b="1" dirty="0">
                <a:latin typeface="Calibri"/>
              </a:rPr>
              <a:t>Error Control - </a:t>
            </a:r>
            <a:r>
              <a:rPr lang="en-US" sz="2200" dirty="0">
                <a:latin typeface="Calibri"/>
              </a:rPr>
              <a:t>When transferring data, the primary goal of reliability is error control. Node-to-node reliability of DLL does not ensure end-to-end reliability.</a:t>
            </a:r>
          </a:p>
          <a:p>
            <a:pPr marL="342900" indent="-342900">
              <a:spcAft>
                <a:spcPts val="1680"/>
              </a:spcAft>
              <a:buFont typeface="Arial" panose="020B0604020202020204" pitchFamily="34" charset="0"/>
              <a:buChar char="•"/>
            </a:pPr>
            <a:r>
              <a:rPr lang="en-US" sz="2200" b="1" dirty="0"/>
              <a:t>Sequence Control - </a:t>
            </a:r>
            <a:r>
              <a:rPr lang="en-US" sz="2200" dirty="0"/>
              <a:t>for ensuring that the various pieces of a transmission are correctly reassembled.</a:t>
            </a:r>
          </a:p>
          <a:p>
            <a:pPr lvl="1" algn="just"/>
            <a:r>
              <a:rPr lang="en-US" sz="2200" b="1" dirty="0"/>
              <a:t>•  Segmentation and Concatenation - </a:t>
            </a:r>
            <a:r>
              <a:rPr lang="en-US" sz="2200" dirty="0"/>
              <a:t>the transport protocol divides data into smaller, usable blocks. The dividing process is called segmentation. When smaller data then combines them into a single data unit. The combing process is called concatenation.</a:t>
            </a:r>
          </a:p>
          <a:p>
            <a:pPr marL="800100" lvl="1" indent="-342900" algn="just">
              <a:buFont typeface="Arial" panose="020B0604020202020204" pitchFamily="34" charset="0"/>
              <a:buChar char="•"/>
            </a:pPr>
            <a:r>
              <a:rPr lang="en-US" sz="2200" b="1" dirty="0"/>
              <a:t>Sequence Numbers - </a:t>
            </a:r>
            <a:r>
              <a:rPr lang="en-US" sz="2200" dirty="0"/>
              <a:t>each segment carries a field that indicates whether it is the final segment of a transmission or a middle segment with more still to come.</a:t>
            </a:r>
          </a:p>
          <a:p>
            <a:pPr lvl="1" algn="just">
              <a:spcAft>
                <a:spcPts val="1680"/>
              </a:spcAft>
            </a:pPr>
            <a:endParaRPr lang="en-US" sz="2200" dirty="0"/>
          </a:p>
          <a:p>
            <a:pPr marL="254000" indent="444500" algn="just">
              <a:spcAft>
                <a:spcPts val="420"/>
              </a:spcAft>
            </a:pPr>
            <a:endParaRPr lang="en-US" sz="2200" dirty="0">
              <a:latin typeface="Calibri"/>
            </a:endParaRPr>
          </a:p>
        </p:txBody>
      </p:sp>
      <p:sp>
        <p:nvSpPr>
          <p:cNvPr id="3" name="Date Placeholder 2"/>
          <p:cNvSpPr>
            <a:spLocks noGrp="1"/>
          </p:cNvSpPr>
          <p:nvPr>
            <p:ph type="dt" sz="half" idx="10"/>
          </p:nvPr>
        </p:nvSpPr>
        <p:spPr/>
        <p:txBody>
          <a:bodyPr/>
          <a:lstStyle/>
          <a:p>
            <a:fld id="{5F0E3DF6-048A-4825-8FDF-41992679248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32</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202168" cy="5394960"/>
          </a:xfrm>
          <a:prstGeom prst="rect">
            <a:avLst/>
          </a:prstGeom>
        </p:spPr>
        <p:txBody>
          <a:bodyPr lIns="0" tIns="0" rIns="0" bIns="0">
            <a:noAutofit/>
          </a:bodyPr>
          <a:lstStyle/>
          <a:p>
            <a:pPr lvl="1" algn="just">
              <a:spcAft>
                <a:spcPts val="1680"/>
              </a:spcAft>
            </a:pPr>
            <a:r>
              <a:rPr lang="en-US" sz="2200" b="1" dirty="0">
                <a:latin typeface="Calibri"/>
              </a:rPr>
              <a:t>•    Loss Control - </a:t>
            </a:r>
            <a:r>
              <a:rPr lang="en-US" sz="2200" dirty="0">
                <a:latin typeface="Calibri"/>
              </a:rPr>
              <a:t>The transport layer ensures that all pieces of a transmission arrive at the destination, not just some of them. </a:t>
            </a:r>
          </a:p>
          <a:p>
            <a:pPr lvl="1" algn="just">
              <a:spcAft>
                <a:spcPts val="1680"/>
              </a:spcAft>
            </a:pPr>
            <a:r>
              <a:rPr lang="en-US" sz="2200" b="1" dirty="0">
                <a:latin typeface="Calibri"/>
              </a:rPr>
              <a:t>•    Duplication Control - </a:t>
            </a:r>
            <a:r>
              <a:rPr lang="en-US" sz="2200" dirty="0">
                <a:latin typeface="Calibri"/>
              </a:rPr>
              <a:t>guarantee that no pieces of data arrive at the receiving system duplicated. </a:t>
            </a:r>
          </a:p>
        </p:txBody>
      </p:sp>
      <p:sp>
        <p:nvSpPr>
          <p:cNvPr id="3" name="Date Placeholder 2"/>
          <p:cNvSpPr>
            <a:spLocks noGrp="1"/>
          </p:cNvSpPr>
          <p:nvPr>
            <p:ph type="dt" sz="half" idx="10"/>
          </p:nvPr>
        </p:nvSpPr>
        <p:spPr/>
        <p:txBody>
          <a:bodyPr/>
          <a:lstStyle/>
          <a:p>
            <a:fld id="{E2B7A263-88F6-4115-90B9-FB0B854F407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33</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5360"/>
            <a:ext cx="7979664" cy="2209800"/>
          </a:xfrm>
          <a:prstGeom prst="rect">
            <a:avLst/>
          </a:prstGeom>
        </p:spPr>
        <p:txBody>
          <a:bodyPr lIns="0" tIns="0" rIns="0" bIns="0">
            <a:noAutofit/>
          </a:bodyPr>
          <a:lstStyle/>
          <a:p>
            <a:pPr indent="0">
              <a:lnSpc>
                <a:spcPts val="3024"/>
              </a:lnSpc>
            </a:pPr>
            <a:r>
              <a:rPr lang="en-US" sz="2200" b="1">
                <a:latin typeface="Calibri"/>
              </a:rPr>
              <a:t>Flow Control</a:t>
            </a:r>
          </a:p>
          <a:p>
            <a:pPr indent="495300" algn="just">
              <a:lnSpc>
                <a:spcPts val="3024"/>
              </a:lnSpc>
            </a:pPr>
            <a:r>
              <a:rPr lang="en-US" sz="2200">
                <a:latin typeface="Calibri"/>
              </a:rPr>
              <a:t>Like the data link layer, the transport layer is responsible for flow control. However, flow control at this layer is performed end-to-end rather than across a single link. Transport layer flow control also uses a sliding window protocol. However, the window at the transport layer can vary in size to accommodate buffer occupancy.</a:t>
            </a:r>
          </a:p>
        </p:txBody>
      </p:sp>
      <p:sp>
        <p:nvSpPr>
          <p:cNvPr id="3" name="Date Placeholder 2"/>
          <p:cNvSpPr>
            <a:spLocks noGrp="1"/>
          </p:cNvSpPr>
          <p:nvPr>
            <p:ph type="dt" sz="half" idx="10"/>
          </p:nvPr>
        </p:nvSpPr>
        <p:spPr/>
        <p:txBody>
          <a:bodyPr/>
          <a:lstStyle/>
          <a:p>
            <a:fld id="{2E91F1BA-926E-42D1-A4B9-DF2069F6353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34</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5360"/>
            <a:ext cx="7991856" cy="5004816"/>
          </a:xfrm>
          <a:prstGeom prst="rect">
            <a:avLst/>
          </a:prstGeom>
        </p:spPr>
        <p:txBody>
          <a:bodyPr lIns="0" tIns="0" rIns="0" bIns="0">
            <a:noAutofit/>
          </a:bodyPr>
          <a:lstStyle/>
          <a:p>
            <a:pPr indent="0" algn="just">
              <a:lnSpc>
                <a:spcPts val="3024"/>
              </a:lnSpc>
            </a:pPr>
            <a:r>
              <a:rPr lang="en-US" sz="2200" b="1" dirty="0">
                <a:latin typeface="Calibri"/>
              </a:rPr>
              <a:t>Multiplexing</a:t>
            </a:r>
          </a:p>
          <a:p>
            <a:pPr indent="482600" algn="just">
              <a:lnSpc>
                <a:spcPts val="3024"/>
              </a:lnSpc>
              <a:spcAft>
                <a:spcPts val="420"/>
              </a:spcAft>
            </a:pPr>
            <a:r>
              <a:rPr lang="en-US" sz="2200" dirty="0">
                <a:latin typeface="Calibri"/>
              </a:rPr>
              <a:t>occurs two ways: </a:t>
            </a:r>
          </a:p>
          <a:p>
            <a:pPr indent="482600" algn="just">
              <a:lnSpc>
                <a:spcPts val="3024"/>
              </a:lnSpc>
              <a:spcAft>
                <a:spcPts val="420"/>
              </a:spcAft>
            </a:pPr>
            <a:r>
              <a:rPr lang="en-US" sz="2200" dirty="0">
                <a:latin typeface="Calibri"/>
              </a:rPr>
              <a:t>upward, meaning that multiple transport layer connections use the same network connection, or </a:t>
            </a:r>
          </a:p>
          <a:p>
            <a:pPr indent="482600" algn="just">
              <a:lnSpc>
                <a:spcPts val="3024"/>
              </a:lnSpc>
              <a:spcAft>
                <a:spcPts val="420"/>
              </a:spcAft>
            </a:pPr>
            <a:r>
              <a:rPr lang="en-US" sz="2200" dirty="0">
                <a:latin typeface="Calibri"/>
              </a:rPr>
              <a:t>downward, meaning that one transport-layer connection uses multiple network connections.</a:t>
            </a:r>
          </a:p>
          <a:p>
            <a:pPr indent="0" algn="just">
              <a:lnSpc>
                <a:spcPts val="3024"/>
              </a:lnSpc>
            </a:pPr>
            <a:r>
              <a:rPr lang="en-US" sz="2200" dirty="0">
                <a:latin typeface="Calibri"/>
              </a:rPr>
              <a:t>The transport layer uses virtual circuits based on the services of the lower three layers. Normally, the underlying networks charge for each virtual circuit connection. </a:t>
            </a:r>
          </a:p>
          <a:p>
            <a:pPr indent="0" algn="just">
              <a:lnSpc>
                <a:spcPts val="3024"/>
              </a:lnSpc>
            </a:pPr>
            <a:r>
              <a:rPr lang="en-US" sz="2200" dirty="0">
                <a:latin typeface="Calibri"/>
              </a:rPr>
              <a:t>To make more cost effective use of an established circuit, the transport layer can send several transmissions bound for the same destination along the same path by upward multiplexing. </a:t>
            </a:r>
          </a:p>
        </p:txBody>
      </p:sp>
      <p:sp>
        <p:nvSpPr>
          <p:cNvPr id="3" name="Date Placeholder 2"/>
          <p:cNvSpPr>
            <a:spLocks noGrp="1"/>
          </p:cNvSpPr>
          <p:nvPr>
            <p:ph type="dt" sz="half" idx="10"/>
          </p:nvPr>
        </p:nvSpPr>
        <p:spPr/>
        <p:txBody>
          <a:bodyPr/>
          <a:lstStyle/>
          <a:p>
            <a:fld id="{9FB32C0E-9C6D-4FDF-BE7E-35FB9648527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35</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44106" y="844778"/>
            <a:ext cx="8683779" cy="3829253"/>
          </a:xfrm>
        </p:spPr>
        <p:txBody>
          <a:bodyPr/>
          <a:lstStyle/>
          <a:p>
            <a:pPr>
              <a:spcAft>
                <a:spcPts val="1470"/>
              </a:spcAft>
            </a:pPr>
            <a:r>
              <a:rPr lang="en-US" b="1" dirty="0"/>
              <a:t>ARPANET</a:t>
            </a:r>
          </a:p>
          <a:p>
            <a:pPr indent="482600">
              <a:lnSpc>
                <a:spcPts val="3024"/>
              </a:lnSpc>
            </a:pPr>
            <a:r>
              <a:rPr lang="en-US" dirty="0"/>
              <a:t>ARPA established a packet-switching network of computers linked by point-to-point leased lines called Advanced Research Project Agency Network (ARPANET).</a:t>
            </a:r>
          </a:p>
          <a:p>
            <a:pPr indent="482600">
              <a:lnSpc>
                <a:spcPts val="3024"/>
              </a:lnSpc>
            </a:pPr>
            <a:r>
              <a:rPr lang="en-US" dirty="0"/>
              <a:t>The conventions developed by ARPA to specify how individual computers could communicate across that network became TCP/IP. </a:t>
            </a:r>
          </a:p>
          <a:p>
            <a:pPr indent="482600">
              <a:lnSpc>
                <a:spcPts val="3024"/>
              </a:lnSpc>
            </a:pPr>
            <a:r>
              <a:rPr lang="en-US" u="sng" dirty="0"/>
              <a:t>The transport layer is represented in TCP/IP by two protocols:</a:t>
            </a:r>
            <a:r>
              <a:rPr lang="en-US" dirty="0"/>
              <a:t> </a:t>
            </a:r>
          </a:p>
          <a:p>
            <a:pPr indent="482600">
              <a:lnSpc>
                <a:spcPts val="3024"/>
              </a:lnSpc>
            </a:pPr>
            <a:r>
              <a:rPr lang="en-US" b="1" dirty="0"/>
              <a:t>TCP </a:t>
            </a:r>
            <a:r>
              <a:rPr lang="en-US" dirty="0"/>
              <a:t>and </a:t>
            </a:r>
            <a:r>
              <a:rPr lang="en-US" b="1" dirty="0"/>
              <a:t>UDP</a:t>
            </a:r>
            <a:r>
              <a:rPr lang="en-US" dirty="0"/>
              <a:t>. </a:t>
            </a:r>
          </a:p>
        </p:txBody>
      </p:sp>
      <p:sp>
        <p:nvSpPr>
          <p:cNvPr id="4" name="Date Placeholder 3"/>
          <p:cNvSpPr>
            <a:spLocks noGrp="1"/>
          </p:cNvSpPr>
          <p:nvPr>
            <p:ph type="dt" sz="half" idx="10"/>
          </p:nvPr>
        </p:nvSpPr>
        <p:spPr/>
        <p:txBody>
          <a:bodyPr/>
          <a:lstStyle/>
          <a:p>
            <a:fld id="{30FB29FA-7B2E-4BB1-B2E4-7A99DF10BAA1}"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36</a:t>
            </a:fld>
            <a:endParaRPr lang="en-US"/>
          </a:p>
        </p:txBody>
      </p:sp>
      <p:sp>
        <p:nvSpPr>
          <p:cNvPr id="7"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extLst>
      <p:ext uri="{BB962C8B-B14F-4D97-AF65-F5344CB8AC3E}">
        <p14:creationId xmlns:p14="http://schemas.microsoft.com/office/powerpoint/2010/main" val="2146007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69264"/>
            <a:ext cx="8202168" cy="5209032"/>
          </a:xfrm>
          <a:prstGeom prst="rect">
            <a:avLst/>
          </a:prstGeom>
        </p:spPr>
        <p:txBody>
          <a:bodyPr lIns="0" tIns="0" rIns="0" bIns="0">
            <a:noAutofit/>
          </a:bodyPr>
          <a:lstStyle/>
          <a:p>
            <a:pPr marL="254000" indent="0">
              <a:lnSpc>
                <a:spcPts val="3024"/>
              </a:lnSpc>
            </a:pPr>
            <a:r>
              <a:rPr lang="en-US" sz="2200" b="1" dirty="0">
                <a:latin typeface="Calibri"/>
              </a:rPr>
              <a:t>USER DATAGRM PROTOCOL (UDP)</a:t>
            </a:r>
          </a:p>
          <a:p>
            <a:pPr marL="254000" indent="431800" algn="just">
              <a:lnSpc>
                <a:spcPts val="3024"/>
              </a:lnSpc>
              <a:spcAft>
                <a:spcPts val="840"/>
              </a:spcAft>
            </a:pPr>
            <a:r>
              <a:rPr lang="en-US" sz="2200" dirty="0">
                <a:latin typeface="Calibri"/>
              </a:rPr>
              <a:t>simpler of the two standard TCP/IP transport protocols. It is an end-to-end transport level protocol that adds only port addresses, check sum error control, and length information to the data from the upper layer. The packet produced by the UDP is called a user datagram</a:t>
            </a:r>
          </a:p>
          <a:p>
            <a:pPr indent="0" algn="just">
              <a:spcAft>
                <a:spcPts val="1680"/>
              </a:spcAft>
            </a:pPr>
            <a:r>
              <a:rPr lang="en-US" sz="2200" b="1" dirty="0">
                <a:latin typeface="Calibri"/>
              </a:rPr>
              <a:t>•    Source port address</a:t>
            </a:r>
          </a:p>
          <a:p>
            <a:pPr marL="254000" indent="431800" algn="just">
              <a:lnSpc>
                <a:spcPts val="3024"/>
              </a:lnSpc>
              <a:spcAft>
                <a:spcPts val="840"/>
              </a:spcAft>
            </a:pPr>
            <a:r>
              <a:rPr lang="en-US" sz="2200" dirty="0">
                <a:latin typeface="Calibri"/>
              </a:rPr>
              <a:t>The source port address is the address of the application program that has created the message.</a:t>
            </a:r>
          </a:p>
          <a:p>
            <a:pPr indent="0" algn="just">
              <a:spcAft>
                <a:spcPts val="1680"/>
              </a:spcAft>
            </a:pPr>
            <a:r>
              <a:rPr lang="en-US" sz="2200" b="1" dirty="0">
                <a:latin typeface="Calibri"/>
              </a:rPr>
              <a:t>•    Destination port address</a:t>
            </a:r>
          </a:p>
          <a:p>
            <a:pPr marL="254000" indent="431800" algn="just">
              <a:lnSpc>
                <a:spcPts val="3024"/>
              </a:lnSpc>
            </a:pPr>
            <a:r>
              <a:rPr lang="en-US" sz="2200" dirty="0">
                <a:latin typeface="Calibri"/>
              </a:rPr>
              <a:t>The destination port address is the address of the application program that will receive the message.</a:t>
            </a:r>
          </a:p>
        </p:txBody>
      </p:sp>
      <p:sp>
        <p:nvSpPr>
          <p:cNvPr id="3" name="Date Placeholder 2"/>
          <p:cNvSpPr>
            <a:spLocks noGrp="1"/>
          </p:cNvSpPr>
          <p:nvPr>
            <p:ph type="dt" sz="half" idx="10"/>
          </p:nvPr>
        </p:nvSpPr>
        <p:spPr/>
        <p:txBody>
          <a:bodyPr/>
          <a:lstStyle/>
          <a:p>
            <a:fld id="{C2482C19-A5D4-4122-9D97-38433B933C81}"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37</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LAYER(CO3)</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208264" cy="5111496"/>
          </a:xfrm>
          <a:prstGeom prst="rect">
            <a:avLst/>
          </a:prstGeom>
        </p:spPr>
        <p:txBody>
          <a:bodyPr lIns="0" tIns="0" rIns="0" bIns="0">
            <a:noAutofit/>
          </a:bodyPr>
          <a:lstStyle/>
          <a:p>
            <a:pPr indent="0" algn="just">
              <a:spcAft>
                <a:spcPts val="1470"/>
              </a:spcAft>
            </a:pPr>
            <a:r>
              <a:rPr lang="en-US" sz="2200" b="1" dirty="0">
                <a:latin typeface="Calibri"/>
              </a:rPr>
              <a:t>•    Total length</a:t>
            </a:r>
          </a:p>
          <a:p>
            <a:pPr marL="254000" indent="431800">
              <a:lnSpc>
                <a:spcPts val="3024"/>
              </a:lnSpc>
              <a:spcAft>
                <a:spcPts val="840"/>
              </a:spcAft>
            </a:pPr>
            <a:r>
              <a:rPr lang="en-US" sz="2200" dirty="0">
                <a:latin typeface="Calibri"/>
              </a:rPr>
              <a:t>The total length field defines the total length of the user datagram in bytes.</a:t>
            </a:r>
          </a:p>
          <a:p>
            <a:pPr indent="0" algn="just">
              <a:spcAft>
                <a:spcPts val="1470"/>
              </a:spcAft>
            </a:pPr>
            <a:r>
              <a:rPr lang="en-US" sz="2200" b="1" dirty="0">
                <a:latin typeface="Calibri"/>
              </a:rPr>
              <a:t>•    Check sum</a:t>
            </a:r>
          </a:p>
          <a:p>
            <a:pPr marL="254000" indent="431800">
              <a:spcAft>
                <a:spcPts val="1470"/>
              </a:spcAft>
            </a:pPr>
            <a:r>
              <a:rPr lang="en-US" sz="2200" dirty="0">
                <a:latin typeface="Calibri"/>
              </a:rPr>
              <a:t>The check sum is a 16-bit field used in error detection.</a:t>
            </a:r>
          </a:p>
          <a:p>
            <a:pPr marL="254000" indent="0" algn="just">
              <a:lnSpc>
                <a:spcPts val="3024"/>
              </a:lnSpc>
            </a:pPr>
            <a:r>
              <a:rPr lang="en-US" sz="2200" dirty="0">
                <a:latin typeface="Calibri"/>
              </a:rPr>
              <a:t>UDP provides only the basic functions needed for end-to-end delivery of a transmission. </a:t>
            </a:r>
          </a:p>
          <a:p>
            <a:pPr marL="254000" indent="0" algn="just">
              <a:lnSpc>
                <a:spcPts val="3024"/>
              </a:lnSpc>
            </a:pPr>
            <a:r>
              <a:rPr lang="en-US" sz="2200" dirty="0">
                <a:latin typeface="Calibri"/>
              </a:rPr>
              <a:t>It does not provide any sequencing or recording functions and cannot specify the damaged packet when reporting an error (for which it must be paired with ICMP). </a:t>
            </a:r>
            <a:r>
              <a:rPr lang="en-US" sz="2200" dirty="0"/>
              <a:t>UDP contains only a checksum; it does not contain an ID or sequencing number for a particular data segment</a:t>
            </a:r>
            <a:endParaRPr lang="en-US" sz="2200" dirty="0">
              <a:latin typeface="Calibri"/>
            </a:endParaRPr>
          </a:p>
        </p:txBody>
      </p:sp>
      <p:sp>
        <p:nvSpPr>
          <p:cNvPr id="3" name="Date Placeholder 2"/>
          <p:cNvSpPr>
            <a:spLocks noGrp="1"/>
          </p:cNvSpPr>
          <p:nvPr>
            <p:ph type="dt" sz="half" idx="10"/>
          </p:nvPr>
        </p:nvSpPr>
        <p:spPr/>
        <p:txBody>
          <a:bodyPr/>
          <a:lstStyle/>
          <a:p>
            <a:fld id="{3631365D-06AC-4AEC-AD45-11A912824AD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38</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6280" y="969264"/>
            <a:ext cx="7985760" cy="5010912"/>
          </a:xfrm>
          <a:prstGeom prst="rect">
            <a:avLst/>
          </a:prstGeom>
        </p:spPr>
        <p:txBody>
          <a:bodyPr lIns="0" tIns="0" rIns="0" bIns="0">
            <a:noAutofit/>
          </a:bodyPr>
          <a:lstStyle/>
          <a:p>
            <a:pPr indent="0">
              <a:lnSpc>
                <a:spcPts val="3024"/>
              </a:lnSpc>
            </a:pPr>
            <a:r>
              <a:rPr lang="en-US" sz="2200" b="1" dirty="0">
                <a:latin typeface="Calibri"/>
              </a:rPr>
              <a:t>Transmission Control Protocol (TCP)</a:t>
            </a:r>
          </a:p>
          <a:p>
            <a:pPr indent="469900" algn="just">
              <a:lnSpc>
                <a:spcPts val="3024"/>
              </a:lnSpc>
              <a:spcAft>
                <a:spcPts val="420"/>
              </a:spcAft>
            </a:pPr>
            <a:r>
              <a:rPr lang="en-US" sz="2200" dirty="0">
                <a:latin typeface="Calibri"/>
              </a:rPr>
              <a:t>provides full transport layer services to applications. </a:t>
            </a:r>
          </a:p>
          <a:p>
            <a:pPr indent="469900" algn="just">
              <a:lnSpc>
                <a:spcPts val="3024"/>
              </a:lnSpc>
              <a:spcAft>
                <a:spcPts val="420"/>
              </a:spcAft>
            </a:pPr>
            <a:r>
              <a:rPr lang="en-US" sz="2200" dirty="0">
                <a:latin typeface="Calibri"/>
              </a:rPr>
              <a:t>TCP is a reliable stream transport port-to-port protocol, means connection-oriented: </a:t>
            </a:r>
          </a:p>
          <a:p>
            <a:pPr indent="469900" algn="just">
              <a:lnSpc>
                <a:spcPts val="3024"/>
              </a:lnSpc>
              <a:spcAft>
                <a:spcPts val="420"/>
              </a:spcAft>
            </a:pPr>
            <a:r>
              <a:rPr lang="en-US" sz="2200" dirty="0">
                <a:latin typeface="Calibri"/>
              </a:rPr>
              <a:t>By creating this connection, TCP generates a virtual circuit between sender and receiver that is active for the duration of a transmission </a:t>
            </a:r>
          </a:p>
          <a:p>
            <a:pPr indent="469900" algn="just">
              <a:lnSpc>
                <a:spcPts val="3024"/>
              </a:lnSpc>
              <a:spcAft>
                <a:spcPts val="420"/>
              </a:spcAft>
            </a:pPr>
            <a:r>
              <a:rPr lang="en-US" sz="2200" dirty="0">
                <a:latin typeface="Calibri"/>
              </a:rPr>
              <a:t>TCP begins each transmission by altering the receiver that datagrams are on their way (connection establishment) and ends each transmission with a connection termination. In this way, </a:t>
            </a:r>
            <a:r>
              <a:rPr lang="en-US" sz="2200" dirty="0"/>
              <a:t>the as a connection-oriented service, is responsible for the reliable delivery of the entire stream of bits contained in the message originally generated by the sending application. </a:t>
            </a:r>
            <a:endParaRPr lang="en-US" sz="2200" dirty="0">
              <a:latin typeface="Calibri"/>
            </a:endParaRPr>
          </a:p>
        </p:txBody>
      </p:sp>
      <p:sp>
        <p:nvSpPr>
          <p:cNvPr id="3" name="Date Placeholder 2"/>
          <p:cNvSpPr>
            <a:spLocks noGrp="1"/>
          </p:cNvSpPr>
          <p:nvPr>
            <p:ph type="dt" sz="half" idx="10"/>
          </p:nvPr>
        </p:nvSpPr>
        <p:spPr/>
        <p:txBody>
          <a:bodyPr/>
          <a:lstStyle/>
          <a:p>
            <a:fld id="{B7F22C89-BB07-425F-96B5-35FD7247B971}"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39</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LAYER(CO3)</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5360"/>
            <a:ext cx="7991856" cy="5105400"/>
          </a:xfrm>
          <a:prstGeom prst="rect">
            <a:avLst/>
          </a:prstGeom>
        </p:spPr>
        <p:txBody>
          <a:bodyPr lIns="0" tIns="0" rIns="0" bIns="0">
            <a:noAutofit/>
          </a:bodyPr>
          <a:lstStyle/>
          <a:p>
            <a:pPr indent="0" algn="just">
              <a:lnSpc>
                <a:spcPts val="3000"/>
              </a:lnSpc>
              <a:spcAft>
                <a:spcPts val="420"/>
              </a:spcAft>
            </a:pPr>
            <a:r>
              <a:rPr lang="en-US" sz="2200" dirty="0">
                <a:latin typeface="Calibri"/>
              </a:rPr>
              <a:t>Reliability is ensured by provision for error detection and retransmission of damaged frames; </a:t>
            </a:r>
          </a:p>
          <a:p>
            <a:pPr algn="just">
              <a:lnSpc>
                <a:spcPts val="3000"/>
              </a:lnSpc>
              <a:spcAft>
                <a:spcPts val="420"/>
              </a:spcAft>
            </a:pPr>
            <a:r>
              <a:rPr lang="en-US" sz="2200" dirty="0">
                <a:latin typeface="Calibri"/>
              </a:rPr>
              <a:t>all segments must be received and acknowledged before the transmission is considered complete and the virtual circuit is discarded. </a:t>
            </a:r>
          </a:p>
        </p:txBody>
      </p:sp>
      <p:sp>
        <p:nvSpPr>
          <p:cNvPr id="3" name="Date Placeholder 2"/>
          <p:cNvSpPr>
            <a:spLocks noGrp="1"/>
          </p:cNvSpPr>
          <p:nvPr>
            <p:ph type="dt" sz="half" idx="10"/>
          </p:nvPr>
        </p:nvSpPr>
        <p:spPr/>
        <p:txBody>
          <a:bodyPr/>
          <a:lstStyle/>
          <a:p>
            <a:fld id="{C48EB125-C26E-4CBA-9405-7566AEE5C97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40</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75360"/>
            <a:ext cx="8211312" cy="5245608"/>
          </a:xfrm>
          <a:prstGeom prst="rect">
            <a:avLst/>
          </a:prstGeom>
        </p:spPr>
        <p:txBody>
          <a:bodyPr lIns="0" tIns="0" rIns="0" bIns="0">
            <a:noAutofit/>
          </a:bodyPr>
          <a:lstStyle/>
          <a:p>
            <a:pPr indent="0">
              <a:spcAft>
                <a:spcPts val="1680"/>
              </a:spcAft>
            </a:pPr>
            <a:r>
              <a:rPr lang="en-US" sz="2200" b="1" dirty="0">
                <a:latin typeface="Calibri"/>
              </a:rPr>
              <a:t>• The TCP Segment</a:t>
            </a:r>
          </a:p>
          <a:p>
            <a:pPr marL="241300" indent="444500" algn="just">
              <a:lnSpc>
                <a:spcPts val="3024"/>
              </a:lnSpc>
            </a:pPr>
            <a:r>
              <a:rPr lang="en-US" sz="2200" dirty="0">
                <a:latin typeface="Calibri"/>
              </a:rPr>
              <a:t>The scope of the services provided by TCP requires that the segment header be extensive. </a:t>
            </a:r>
          </a:p>
          <a:p>
            <a:pPr marL="241300" indent="0" algn="just">
              <a:lnSpc>
                <a:spcPts val="3024"/>
              </a:lnSpc>
              <a:spcAft>
                <a:spcPts val="840"/>
              </a:spcAft>
            </a:pPr>
            <a:r>
              <a:rPr lang="en-US" sz="2200" dirty="0"/>
              <a:t>A brief description of each field is in order.</a:t>
            </a:r>
          </a:p>
          <a:p>
            <a:pPr indent="0" algn="just">
              <a:spcAft>
                <a:spcPts val="1680"/>
              </a:spcAft>
            </a:pPr>
            <a:r>
              <a:rPr lang="en-US" sz="2200" b="1" dirty="0"/>
              <a:t>•    Source port address</a:t>
            </a:r>
          </a:p>
          <a:p>
            <a:pPr marL="241300" indent="444500">
              <a:lnSpc>
                <a:spcPts val="3024"/>
              </a:lnSpc>
              <a:spcAft>
                <a:spcPts val="840"/>
              </a:spcAft>
            </a:pPr>
            <a:r>
              <a:rPr lang="en-US" sz="2200" dirty="0"/>
              <a:t>The source port address defines the application program in the source computer.</a:t>
            </a:r>
          </a:p>
          <a:p>
            <a:pPr indent="0" algn="just">
              <a:spcAft>
                <a:spcPts val="1680"/>
              </a:spcAft>
            </a:pPr>
            <a:r>
              <a:rPr lang="en-US" sz="2200" b="1" dirty="0"/>
              <a:t>•    Destination port address</a:t>
            </a:r>
          </a:p>
          <a:p>
            <a:pPr marL="241300" indent="444500">
              <a:lnSpc>
                <a:spcPts val="3072"/>
              </a:lnSpc>
            </a:pPr>
            <a:r>
              <a:rPr lang="en-US" sz="2200" dirty="0"/>
              <a:t>The destination port address defines the application program in the destination computer.</a:t>
            </a:r>
          </a:p>
          <a:p>
            <a:pPr marL="241300" indent="444500" algn="just">
              <a:lnSpc>
                <a:spcPts val="3024"/>
              </a:lnSpc>
            </a:pPr>
            <a:endParaRPr lang="en-US" sz="2200" dirty="0">
              <a:latin typeface="Calibri"/>
            </a:endParaRPr>
          </a:p>
        </p:txBody>
      </p:sp>
      <p:sp>
        <p:nvSpPr>
          <p:cNvPr id="3" name="Date Placeholder 2"/>
          <p:cNvSpPr>
            <a:spLocks noGrp="1"/>
          </p:cNvSpPr>
          <p:nvPr>
            <p:ph type="dt" sz="half" idx="10"/>
          </p:nvPr>
        </p:nvSpPr>
        <p:spPr/>
        <p:txBody>
          <a:bodyPr/>
          <a:lstStyle/>
          <a:p>
            <a:fld id="{84F4BE7B-59F4-482D-ACF2-63230115E8B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41</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196072" cy="4242816"/>
          </a:xfrm>
          <a:prstGeom prst="rect">
            <a:avLst/>
          </a:prstGeom>
        </p:spPr>
        <p:txBody>
          <a:bodyPr lIns="0" tIns="0" rIns="0" bIns="0">
            <a:noAutofit/>
          </a:bodyPr>
          <a:lstStyle/>
          <a:p>
            <a:pPr indent="0" algn="just">
              <a:spcAft>
                <a:spcPts val="1680"/>
              </a:spcAft>
            </a:pPr>
            <a:r>
              <a:rPr lang="en-US" sz="2200" b="1" dirty="0">
                <a:latin typeface="Calibri"/>
              </a:rPr>
              <a:t>•    Sequence number</a:t>
            </a:r>
          </a:p>
          <a:p>
            <a:pPr marL="254000" indent="431800" algn="just">
              <a:lnSpc>
                <a:spcPts val="3024"/>
              </a:lnSpc>
              <a:spcAft>
                <a:spcPts val="840"/>
              </a:spcAft>
            </a:pPr>
            <a:r>
              <a:rPr lang="en-US" sz="2200" dirty="0">
                <a:latin typeface="Calibri"/>
              </a:rPr>
              <a:t>A stream of data from the application program may be divided into two or more TCP segments. The sequence number field shows the position of the data in the original data stream.</a:t>
            </a:r>
          </a:p>
          <a:p>
            <a:pPr indent="0" algn="just">
              <a:spcAft>
                <a:spcPts val="1680"/>
              </a:spcAft>
            </a:pPr>
            <a:r>
              <a:rPr lang="en-US" sz="2200" b="1" dirty="0">
                <a:latin typeface="Calibri"/>
              </a:rPr>
              <a:t>•    Acknowledgement number</a:t>
            </a:r>
          </a:p>
          <a:p>
            <a:pPr marL="254000" indent="431800" algn="just">
              <a:lnSpc>
                <a:spcPts val="3024"/>
              </a:lnSpc>
            </a:pPr>
            <a:r>
              <a:rPr lang="en-US" sz="2200" dirty="0">
                <a:latin typeface="Calibri"/>
              </a:rPr>
              <a:t>The 32-bit acknowledgement number is used to acknowledge the receipt of data from the other communicating device. This number is valid only if the ACK bit in the control field is set. </a:t>
            </a:r>
          </a:p>
        </p:txBody>
      </p:sp>
      <p:sp>
        <p:nvSpPr>
          <p:cNvPr id="3" name="Date Placeholder 2"/>
          <p:cNvSpPr>
            <a:spLocks noGrp="1"/>
          </p:cNvSpPr>
          <p:nvPr>
            <p:ph type="dt" sz="half" idx="10"/>
          </p:nvPr>
        </p:nvSpPr>
        <p:spPr/>
        <p:txBody>
          <a:bodyPr/>
          <a:lstStyle/>
          <a:p>
            <a:fld id="{C0A81EA0-F4D5-4F65-967B-E66A36283E4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42</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84504"/>
            <a:ext cx="8211312" cy="3813048"/>
          </a:xfrm>
          <a:prstGeom prst="rect">
            <a:avLst/>
          </a:prstGeom>
        </p:spPr>
        <p:txBody>
          <a:bodyPr lIns="0" tIns="0" rIns="0" bIns="0">
            <a:noAutofit/>
          </a:bodyPr>
          <a:lstStyle/>
          <a:p>
            <a:pPr indent="0" algn="just">
              <a:spcAft>
                <a:spcPts val="1680"/>
              </a:spcAft>
            </a:pPr>
            <a:r>
              <a:rPr lang="en-US" sz="2200" b="1">
                <a:latin typeface="Calibri"/>
              </a:rPr>
              <a:t>•    Header Length (HLEN)</a:t>
            </a:r>
          </a:p>
          <a:p>
            <a:pPr marL="254000" indent="431800" algn="just">
              <a:lnSpc>
                <a:spcPts val="3024"/>
              </a:lnSpc>
              <a:spcAft>
                <a:spcPts val="840"/>
              </a:spcAft>
            </a:pPr>
            <a:r>
              <a:rPr lang="en-US" sz="2200">
                <a:latin typeface="Calibri"/>
              </a:rPr>
              <a:t>The four-bit HLEN field indicates the number of 32-bit (four-byte) words in the TCP header. The four bits can define a number up to 15.This is multiplied by 4 to give the total number of bytes in the header. Therefore, the size of the header can be a maximum of 60 bytes (4x15).Since the minimum required size of the header is 20 bytes, 40 bytes are thus available for the options section.</a:t>
            </a:r>
          </a:p>
          <a:p>
            <a:pPr indent="0" algn="just">
              <a:spcAft>
                <a:spcPts val="1680"/>
              </a:spcAft>
            </a:pPr>
            <a:r>
              <a:rPr lang="en-US" sz="2200" b="1">
                <a:latin typeface="Calibri"/>
              </a:rPr>
              <a:t>•    Reserved</a:t>
            </a:r>
          </a:p>
          <a:p>
            <a:pPr marL="254000" indent="431800" algn="just"/>
            <a:r>
              <a:rPr lang="en-US" sz="2200">
                <a:latin typeface="Calibri"/>
              </a:rPr>
              <a:t>A six-bit field is reserved for future use.</a:t>
            </a:r>
          </a:p>
        </p:txBody>
      </p:sp>
      <p:sp>
        <p:nvSpPr>
          <p:cNvPr id="3" name="Date Placeholder 2"/>
          <p:cNvSpPr>
            <a:spLocks noGrp="1"/>
          </p:cNvSpPr>
          <p:nvPr>
            <p:ph type="dt" sz="half" idx="10"/>
          </p:nvPr>
        </p:nvSpPr>
        <p:spPr/>
        <p:txBody>
          <a:bodyPr/>
          <a:lstStyle/>
          <a:p>
            <a:fld id="{CD3F0826-6D87-434F-BDBD-B22BA2BBC89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43</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1139952" cy="237744"/>
          </a:xfrm>
          <a:prstGeom prst="rect">
            <a:avLst/>
          </a:prstGeom>
        </p:spPr>
        <p:txBody>
          <a:bodyPr wrap="none" lIns="0" tIns="0" rIns="0" bIns="0">
            <a:noAutofit/>
          </a:bodyPr>
          <a:lstStyle/>
          <a:p>
            <a:pPr indent="0"/>
            <a:r>
              <a:rPr lang="en-US" sz="2300" b="1">
                <a:latin typeface="Calibri"/>
              </a:rPr>
              <a:t>• Control</a:t>
            </a:r>
          </a:p>
        </p:txBody>
      </p:sp>
      <p:sp>
        <p:nvSpPr>
          <p:cNvPr id="3" name="Rectangle 2"/>
          <p:cNvSpPr/>
          <p:nvPr/>
        </p:nvSpPr>
        <p:spPr>
          <a:xfrm>
            <a:off x="719328" y="1520952"/>
            <a:ext cx="7982712" cy="4727448"/>
          </a:xfrm>
          <a:prstGeom prst="rect">
            <a:avLst/>
          </a:prstGeom>
        </p:spPr>
        <p:txBody>
          <a:bodyPr lIns="0" tIns="0" rIns="0" bIns="0">
            <a:noAutofit/>
          </a:bodyPr>
          <a:lstStyle/>
          <a:p>
            <a:pPr indent="482600" algn="just">
              <a:lnSpc>
                <a:spcPts val="3024"/>
              </a:lnSpc>
              <a:spcAft>
                <a:spcPts val="420"/>
              </a:spcAft>
            </a:pPr>
            <a:r>
              <a:rPr lang="en-US" sz="2200">
                <a:latin typeface="Calibri"/>
              </a:rPr>
              <a:t>Each bit of the six-bit control field functions individually and independently. A bit can either define the use of a segment or serve as a validity check for other fields. The urgent bit, when set, validates the urgent pointer field. Both this bit and the pointer indicate that the data in the segment are urgent.</a:t>
            </a:r>
          </a:p>
          <a:p>
            <a:pPr indent="482600" algn="just">
              <a:lnSpc>
                <a:spcPts val="3024"/>
              </a:lnSpc>
              <a:spcAft>
                <a:spcPts val="420"/>
              </a:spcAft>
            </a:pPr>
            <a:r>
              <a:rPr lang="en-US" sz="2200">
                <a:latin typeface="Calibri"/>
              </a:rPr>
              <a:t>The </a:t>
            </a:r>
            <a:r>
              <a:rPr lang="en-US" sz="2200" b="1">
                <a:latin typeface="Calibri"/>
              </a:rPr>
              <a:t>ACK bit</a:t>
            </a:r>
            <a:r>
              <a:rPr lang="en-US" sz="2200">
                <a:latin typeface="Calibri"/>
              </a:rPr>
              <a:t>, when set, validates the acknowledgement number field. Both are used together and have different functions, depending on the segment type.</a:t>
            </a:r>
          </a:p>
          <a:p>
            <a:pPr indent="482600" algn="just">
              <a:lnSpc>
                <a:spcPts val="3024"/>
              </a:lnSpc>
            </a:pPr>
            <a:r>
              <a:rPr lang="en-US" sz="2200">
                <a:latin typeface="Calibri"/>
              </a:rPr>
              <a:t>The </a:t>
            </a:r>
            <a:r>
              <a:rPr lang="en-US" sz="2200" b="1">
                <a:latin typeface="Calibri"/>
              </a:rPr>
              <a:t>PSH bit </a:t>
            </a:r>
            <a:r>
              <a:rPr lang="en-US" sz="2200">
                <a:latin typeface="Calibri"/>
              </a:rPr>
              <a:t>is used to inform the sender that a higher throughput is needed. If possible, data must be pushed through paths with higher throughput. The reset bit is used to reset the connection when there is confusion in the sequence numbers.</a:t>
            </a:r>
          </a:p>
        </p:txBody>
      </p:sp>
      <p:sp>
        <p:nvSpPr>
          <p:cNvPr id="4" name="Date Placeholder 3"/>
          <p:cNvSpPr>
            <a:spLocks noGrp="1"/>
          </p:cNvSpPr>
          <p:nvPr>
            <p:ph type="dt" sz="half" idx="10"/>
          </p:nvPr>
        </p:nvSpPr>
        <p:spPr/>
        <p:txBody>
          <a:bodyPr/>
          <a:lstStyle/>
          <a:p>
            <a:fld id="{48637A59-7197-4402-B96E-E30B4FB39330}"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44</a:t>
            </a:fld>
            <a:endParaRPr lang="en-US"/>
          </a:p>
        </p:txBody>
      </p:sp>
      <p:sp>
        <p:nvSpPr>
          <p:cNvPr id="7"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72312"/>
            <a:ext cx="8208264" cy="4532376"/>
          </a:xfrm>
          <a:prstGeom prst="rect">
            <a:avLst/>
          </a:prstGeom>
        </p:spPr>
        <p:txBody>
          <a:bodyPr lIns="0" tIns="0" rIns="0" bIns="0">
            <a:noAutofit/>
          </a:bodyPr>
          <a:lstStyle/>
          <a:p>
            <a:pPr marL="241300" indent="444500" algn="just">
              <a:lnSpc>
                <a:spcPts val="3024"/>
              </a:lnSpc>
              <a:spcAft>
                <a:spcPts val="420"/>
              </a:spcAft>
            </a:pPr>
            <a:r>
              <a:rPr lang="en-US" sz="2200">
                <a:latin typeface="Calibri"/>
              </a:rPr>
              <a:t>The </a:t>
            </a:r>
            <a:r>
              <a:rPr lang="en-US" sz="2200" b="1">
                <a:latin typeface="Calibri"/>
              </a:rPr>
              <a:t>SYN bit </a:t>
            </a:r>
            <a:r>
              <a:rPr lang="en-US" sz="2200">
                <a:latin typeface="Calibri"/>
              </a:rPr>
              <a:t>is used for sequence number synchronization in three types of segments: connection request, connection confirmation (with the ACK bit set), and confirmation acknowledgement (with the ACK bit set).</a:t>
            </a:r>
          </a:p>
          <a:p>
            <a:pPr marL="241300" indent="444500" algn="just">
              <a:lnSpc>
                <a:spcPts val="3024"/>
              </a:lnSpc>
              <a:spcAft>
                <a:spcPts val="840"/>
              </a:spcAft>
            </a:pPr>
            <a:r>
              <a:rPr lang="en-US" sz="2200">
                <a:latin typeface="Calibri"/>
              </a:rPr>
              <a:t>The </a:t>
            </a:r>
            <a:r>
              <a:rPr lang="en-US" sz="2200" b="1">
                <a:latin typeface="Calibri"/>
              </a:rPr>
              <a:t>FIN bit </a:t>
            </a:r>
            <a:r>
              <a:rPr lang="en-US" sz="2200">
                <a:latin typeface="Calibri"/>
              </a:rPr>
              <a:t>is used in connection termination in three types of segments: termination request, termination confirmation (with the ACK bit set), and acknowledgement of termination confirmation (with the ACK bit set).</a:t>
            </a:r>
          </a:p>
          <a:p>
            <a:pPr indent="0">
              <a:spcAft>
                <a:spcPts val="1680"/>
              </a:spcAft>
            </a:pPr>
            <a:r>
              <a:rPr lang="en-US" sz="2200" b="1">
                <a:latin typeface="Calibri"/>
              </a:rPr>
              <a:t>• Window size</a:t>
            </a:r>
          </a:p>
          <a:p>
            <a:pPr marL="241300" indent="444500" algn="just">
              <a:lnSpc>
                <a:spcPts val="3000"/>
              </a:lnSpc>
            </a:pPr>
            <a:r>
              <a:rPr lang="en-US" sz="2200">
                <a:latin typeface="Calibri"/>
              </a:rPr>
              <a:t>The window is a 16-bit field that defines the size of the sliding window.</a:t>
            </a:r>
          </a:p>
        </p:txBody>
      </p:sp>
      <p:sp>
        <p:nvSpPr>
          <p:cNvPr id="3" name="Date Placeholder 2"/>
          <p:cNvSpPr>
            <a:spLocks noGrp="1"/>
          </p:cNvSpPr>
          <p:nvPr>
            <p:ph type="dt" sz="half" idx="10"/>
          </p:nvPr>
        </p:nvSpPr>
        <p:spPr/>
        <p:txBody>
          <a:bodyPr/>
          <a:lstStyle/>
          <a:p>
            <a:fld id="{241B2FF6-17E5-4BA8-9FD7-1521A345CE6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45</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205216" cy="5355336"/>
          </a:xfrm>
          <a:prstGeom prst="rect">
            <a:avLst/>
          </a:prstGeom>
        </p:spPr>
        <p:txBody>
          <a:bodyPr lIns="0" tIns="0" rIns="0" bIns="0">
            <a:noAutofit/>
          </a:bodyPr>
          <a:lstStyle/>
          <a:p>
            <a:pPr indent="0" algn="just">
              <a:spcAft>
                <a:spcPts val="1680"/>
              </a:spcAft>
            </a:pPr>
            <a:r>
              <a:rPr lang="en-US" sz="2200" b="1">
                <a:latin typeface="Calibri"/>
              </a:rPr>
              <a:t>•    Checksum</a:t>
            </a:r>
          </a:p>
          <a:p>
            <a:pPr marL="241300" indent="444500" algn="just">
              <a:spcAft>
                <a:spcPts val="1680"/>
              </a:spcAft>
            </a:pPr>
            <a:r>
              <a:rPr lang="en-US" sz="2200">
                <a:latin typeface="Calibri"/>
              </a:rPr>
              <a:t>The checksum is a 16-bit field used in error detection.</a:t>
            </a:r>
          </a:p>
          <a:p>
            <a:pPr indent="0" algn="just">
              <a:spcAft>
                <a:spcPts val="1680"/>
              </a:spcAft>
            </a:pPr>
            <a:r>
              <a:rPr lang="en-US" sz="2200" b="1">
                <a:latin typeface="Calibri"/>
              </a:rPr>
              <a:t>•    Urgent pointer</a:t>
            </a:r>
          </a:p>
          <a:p>
            <a:pPr marL="241300" indent="444500" algn="just">
              <a:lnSpc>
                <a:spcPts val="3024"/>
              </a:lnSpc>
              <a:spcAft>
                <a:spcPts val="840"/>
              </a:spcAft>
            </a:pPr>
            <a:r>
              <a:rPr lang="en-US" sz="2200">
                <a:latin typeface="Calibri"/>
              </a:rPr>
              <a:t>This is the last required field in the header. Its value is valid only if the URG bit in the control field is set. In this case, the sender is informing the receiver that there are urgent data in the data portion of the segment. This pointer defines the end of urgent data and the start of normal data.</a:t>
            </a:r>
          </a:p>
          <a:p>
            <a:pPr indent="0" algn="just">
              <a:spcAft>
                <a:spcPts val="1680"/>
              </a:spcAft>
            </a:pPr>
            <a:r>
              <a:rPr lang="en-US" sz="2200" b="1">
                <a:latin typeface="Calibri"/>
              </a:rPr>
              <a:t>•    Options and padding</a:t>
            </a:r>
          </a:p>
          <a:p>
            <a:pPr marL="241300" indent="444500" algn="just">
              <a:lnSpc>
                <a:spcPts val="3024"/>
              </a:lnSpc>
            </a:pPr>
            <a:r>
              <a:rPr lang="en-US" sz="2200">
                <a:latin typeface="Calibri"/>
              </a:rPr>
              <a:t>The remainder of the TCP header defines the optional fields. They are used to convey additional information to the receiver or for alignment purposes.</a:t>
            </a:r>
          </a:p>
        </p:txBody>
      </p:sp>
      <p:sp>
        <p:nvSpPr>
          <p:cNvPr id="3" name="Date Placeholder 2"/>
          <p:cNvSpPr>
            <a:spLocks noGrp="1"/>
          </p:cNvSpPr>
          <p:nvPr>
            <p:ph type="dt" sz="half" idx="10"/>
          </p:nvPr>
        </p:nvSpPr>
        <p:spPr/>
        <p:txBody>
          <a:bodyPr/>
          <a:lstStyle/>
          <a:p>
            <a:fld id="{81AF29EA-B181-4E33-93B3-0C1BB24F5ADB}"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46</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75360"/>
            <a:ext cx="8205216" cy="4733544"/>
          </a:xfrm>
          <a:prstGeom prst="rect">
            <a:avLst/>
          </a:prstGeom>
        </p:spPr>
        <p:txBody>
          <a:bodyPr lIns="0" tIns="0" rIns="0" bIns="0">
            <a:noAutofit/>
          </a:bodyPr>
          <a:lstStyle/>
          <a:p>
            <a:pPr marL="241300" indent="0">
              <a:spcAft>
                <a:spcPts val="1050"/>
              </a:spcAft>
            </a:pPr>
            <a:r>
              <a:rPr lang="en-US" sz="2200" dirty="0">
                <a:solidFill>
                  <a:srgbClr val="252525"/>
                </a:solidFill>
                <a:latin typeface="Calibri"/>
              </a:rPr>
              <a:t>TCP protocol operations may be divided into three phases.</a:t>
            </a:r>
          </a:p>
          <a:p>
            <a:pPr marL="241300" indent="469900" algn="just">
              <a:lnSpc>
                <a:spcPts val="2808"/>
              </a:lnSpc>
              <a:spcAft>
                <a:spcPts val="210"/>
              </a:spcAft>
            </a:pPr>
            <a:r>
              <a:rPr lang="en-US" sz="2200" dirty="0">
                <a:solidFill>
                  <a:srgbClr val="252525"/>
                </a:solidFill>
                <a:latin typeface="Calibri"/>
              </a:rPr>
              <a:t>Connections must be properly established in a multi-step handshake process </a:t>
            </a:r>
            <a:r>
              <a:rPr lang="en-US" sz="2200" i="1" dirty="0">
                <a:solidFill>
                  <a:srgbClr val="252525"/>
                </a:solidFill>
                <a:latin typeface="Calibri"/>
              </a:rPr>
              <a:t>(</a:t>
            </a:r>
            <a:r>
              <a:rPr lang="en-US" sz="2200" b="1" i="1" dirty="0">
                <a:solidFill>
                  <a:srgbClr val="252525"/>
                </a:solidFill>
                <a:latin typeface="Calibri"/>
              </a:rPr>
              <a:t>connection establishment</a:t>
            </a:r>
            <a:r>
              <a:rPr lang="en-US" sz="2200" i="1" dirty="0">
                <a:solidFill>
                  <a:srgbClr val="252525"/>
                </a:solidFill>
                <a:latin typeface="Calibri"/>
              </a:rPr>
              <a:t>)</a:t>
            </a:r>
            <a:r>
              <a:rPr lang="en-US" sz="2200" dirty="0">
                <a:solidFill>
                  <a:srgbClr val="252525"/>
                </a:solidFill>
                <a:latin typeface="Calibri"/>
              </a:rPr>
              <a:t> before entering the </a:t>
            </a:r>
            <a:r>
              <a:rPr lang="en-US" sz="2200" b="1" i="1" dirty="0">
                <a:solidFill>
                  <a:srgbClr val="252525"/>
                </a:solidFill>
                <a:latin typeface="Calibri"/>
              </a:rPr>
              <a:t>data transfer</a:t>
            </a:r>
            <a:r>
              <a:rPr lang="en-US" sz="2200" dirty="0">
                <a:solidFill>
                  <a:srgbClr val="252525"/>
                </a:solidFill>
                <a:latin typeface="Calibri"/>
              </a:rPr>
              <a:t> phase. After data transmission is completed, the </a:t>
            </a:r>
            <a:r>
              <a:rPr lang="en-US" sz="2200" b="1" i="1" dirty="0">
                <a:solidFill>
                  <a:srgbClr val="252525"/>
                </a:solidFill>
                <a:latin typeface="Calibri"/>
              </a:rPr>
              <a:t>connection termination</a:t>
            </a:r>
            <a:r>
              <a:rPr lang="en-US" sz="2200" dirty="0">
                <a:solidFill>
                  <a:srgbClr val="252525"/>
                </a:solidFill>
                <a:latin typeface="Calibri"/>
              </a:rPr>
              <a:t> closes established virtual circuits and releases all allocated resources.</a:t>
            </a:r>
          </a:p>
          <a:p>
            <a:pPr marL="241300" indent="469900" algn="just">
              <a:lnSpc>
                <a:spcPts val="2808"/>
              </a:lnSpc>
              <a:spcAft>
                <a:spcPts val="1050"/>
              </a:spcAft>
            </a:pPr>
            <a:r>
              <a:rPr lang="en-US" sz="2200" dirty="0">
                <a:solidFill>
                  <a:srgbClr val="252525"/>
                </a:solidFill>
                <a:latin typeface="Calibri"/>
              </a:rPr>
              <a:t>A TCP connection is managed by an operating system through a programming interface that represents the local end-point for communications, the</a:t>
            </a:r>
            <a:r>
              <a:rPr lang="en-US" sz="2200" dirty="0">
                <a:solidFill>
                  <a:srgbClr val="252525"/>
                </a:solidFill>
                <a:latin typeface="Calibri"/>
                <a:hlinkClick r:id="rId2"/>
              </a:rPr>
              <a:t> </a:t>
            </a:r>
            <a:r>
              <a:rPr lang="en-US" sz="2200" b="1" i="1" u="sng" dirty="0">
                <a:latin typeface="Calibri"/>
              </a:rPr>
              <a:t>Internet socket.</a:t>
            </a:r>
            <a:endParaRPr lang="en-US" sz="2200" b="1" i="1" u="sng" dirty="0">
              <a:latin typeface="Calibri"/>
              <a:hlinkClick r:id="rId2"/>
            </a:endParaRPr>
          </a:p>
          <a:p>
            <a:pPr indent="0">
              <a:spcAft>
                <a:spcPts val="1680"/>
              </a:spcAft>
            </a:pPr>
            <a:r>
              <a:rPr lang="en-US" sz="2200" i="1" dirty="0">
                <a:latin typeface="Calibri"/>
              </a:rPr>
              <a:t>•</a:t>
            </a:r>
            <a:r>
              <a:rPr lang="en-US" sz="2200" dirty="0">
                <a:latin typeface="Calibri"/>
              </a:rPr>
              <a:t> </a:t>
            </a:r>
            <a:r>
              <a:rPr lang="en-US" sz="2200" b="1" dirty="0">
                <a:latin typeface="Calibri"/>
              </a:rPr>
              <a:t>TCP connection states</a:t>
            </a:r>
          </a:p>
          <a:p>
            <a:pPr marL="241300" indent="469900" algn="just">
              <a:lnSpc>
                <a:spcPts val="2808"/>
              </a:lnSpc>
            </a:pPr>
            <a:r>
              <a:rPr lang="en-US" sz="2200" dirty="0">
                <a:solidFill>
                  <a:srgbClr val="252525"/>
                </a:solidFill>
                <a:latin typeface="Calibri"/>
              </a:rPr>
              <a:t>During the lifetime of a TCP connection the local end-point undergoes a series of</a:t>
            </a:r>
            <a:r>
              <a:rPr lang="en-US" sz="2200" dirty="0">
                <a:solidFill>
                  <a:srgbClr val="252525"/>
                </a:solidFill>
                <a:latin typeface="Calibri"/>
                <a:hlinkClick r:id="rId3"/>
              </a:rPr>
              <a:t> </a:t>
            </a:r>
            <a:r>
              <a:rPr lang="en-US" sz="2200" dirty="0">
                <a:latin typeface="Calibri"/>
              </a:rPr>
              <a:t>state</a:t>
            </a:r>
            <a:r>
              <a:rPr lang="en-US" sz="2200" dirty="0">
                <a:latin typeface="Calibri"/>
                <a:hlinkClick r:id="rId3"/>
              </a:rPr>
              <a:t> </a:t>
            </a:r>
            <a:r>
              <a:rPr lang="en-US" sz="2200" dirty="0">
                <a:solidFill>
                  <a:srgbClr val="252525"/>
                </a:solidFill>
                <a:latin typeface="Calibri"/>
              </a:rPr>
              <a:t>changes:</a:t>
            </a:r>
          </a:p>
        </p:txBody>
      </p:sp>
      <p:sp>
        <p:nvSpPr>
          <p:cNvPr id="3" name="Date Placeholder 2"/>
          <p:cNvSpPr>
            <a:spLocks noGrp="1"/>
          </p:cNvSpPr>
          <p:nvPr>
            <p:ph type="dt" sz="half" idx="10"/>
          </p:nvPr>
        </p:nvSpPr>
        <p:spPr/>
        <p:txBody>
          <a:bodyPr/>
          <a:lstStyle/>
          <a:p>
            <a:fld id="{3E2FFF50-BC98-4438-8593-B00EA83DA66B}"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47</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963168" y="984504"/>
            <a:ext cx="7738872" cy="213360"/>
          </a:xfrm>
          <a:prstGeom prst="rect">
            <a:avLst/>
          </a:prstGeom>
        </p:spPr>
        <p:txBody>
          <a:bodyPr wrap="none" lIns="0" tIns="0" rIns="0" bIns="0">
            <a:noAutofit/>
          </a:bodyPr>
          <a:lstStyle/>
          <a:p>
            <a:pPr indent="0"/>
            <a:r>
              <a:rPr lang="en-US" sz="2200">
                <a:latin typeface="Calibri"/>
              </a:rPr>
              <a:t>o </a:t>
            </a:r>
            <a:r>
              <a:rPr lang="en-US" sz="2300" b="1" spc="-50">
                <a:latin typeface="Calibri"/>
              </a:rPr>
              <a:t>LISTEN</a:t>
            </a:r>
          </a:p>
        </p:txBody>
      </p:sp>
      <p:sp>
        <p:nvSpPr>
          <p:cNvPr id="3" name="Rectangle 2"/>
          <p:cNvSpPr/>
          <p:nvPr/>
        </p:nvSpPr>
        <p:spPr>
          <a:xfrm>
            <a:off x="963168" y="1374648"/>
            <a:ext cx="7738872" cy="4712208"/>
          </a:xfrm>
          <a:prstGeom prst="rect">
            <a:avLst/>
          </a:prstGeom>
        </p:spPr>
        <p:txBody>
          <a:bodyPr lIns="0" tIns="0" rIns="0" bIns="0">
            <a:noAutofit/>
          </a:bodyPr>
          <a:lstStyle/>
          <a:p>
            <a:pPr indent="228600">
              <a:lnSpc>
                <a:spcPts val="2880"/>
              </a:lnSpc>
            </a:pPr>
            <a:r>
              <a:rPr lang="en-US" sz="2200" dirty="0">
                <a:solidFill>
                  <a:srgbClr val="252525"/>
                </a:solidFill>
                <a:latin typeface="Calibri"/>
              </a:rPr>
              <a:t>(server) represents waiting for a connection request from any remote TCP and port. </a:t>
            </a:r>
          </a:p>
          <a:p>
            <a:pPr indent="228600">
              <a:lnSpc>
                <a:spcPts val="2880"/>
              </a:lnSpc>
            </a:pPr>
            <a:r>
              <a:rPr lang="en-US" sz="2200" b="1" dirty="0">
                <a:latin typeface="Calibri"/>
              </a:rPr>
              <a:t>o SYN-SENT</a:t>
            </a:r>
          </a:p>
          <a:p>
            <a:pPr indent="228600">
              <a:lnSpc>
                <a:spcPts val="2904"/>
              </a:lnSpc>
            </a:pPr>
            <a:r>
              <a:rPr lang="en-US" sz="2200" dirty="0">
                <a:solidFill>
                  <a:srgbClr val="252525"/>
                </a:solidFill>
                <a:latin typeface="Calibri"/>
              </a:rPr>
              <a:t>(client) represents waiting for a matching connection request after having sent a connection request. </a:t>
            </a:r>
          </a:p>
          <a:p>
            <a:pPr indent="228600">
              <a:lnSpc>
                <a:spcPts val="2904"/>
              </a:lnSpc>
            </a:pPr>
            <a:r>
              <a:rPr lang="en-US" sz="2200" b="1" dirty="0">
                <a:latin typeface="Calibri"/>
              </a:rPr>
              <a:t>o SYN-RECEIVED</a:t>
            </a:r>
          </a:p>
          <a:p>
            <a:pPr indent="228600">
              <a:lnSpc>
                <a:spcPts val="2856"/>
              </a:lnSpc>
            </a:pPr>
            <a:r>
              <a:rPr lang="en-US" sz="2200" dirty="0">
                <a:solidFill>
                  <a:srgbClr val="252525"/>
                </a:solidFill>
                <a:latin typeface="Calibri"/>
              </a:rPr>
              <a:t>(server) represents waiting for a confirming connection request acknowledgment after having both received and sent a connection request. </a:t>
            </a:r>
          </a:p>
          <a:p>
            <a:pPr indent="228600">
              <a:lnSpc>
                <a:spcPts val="2856"/>
              </a:lnSpc>
            </a:pPr>
            <a:r>
              <a:rPr lang="en-US" sz="2200" b="1" dirty="0">
                <a:latin typeface="Calibri"/>
              </a:rPr>
              <a:t>o ESTABLISHED</a:t>
            </a:r>
          </a:p>
          <a:p>
            <a:pPr marL="244856" indent="0" algn="just">
              <a:lnSpc>
                <a:spcPts val="2808"/>
              </a:lnSpc>
            </a:pPr>
            <a:r>
              <a:rPr lang="en-US" sz="2200" dirty="0">
                <a:solidFill>
                  <a:srgbClr val="252525"/>
                </a:solidFill>
                <a:latin typeface="Calibri"/>
              </a:rPr>
              <a:t>(both server and client) represents an open connection, data received can be delivered to the user. The normal state for the data transfer phase of the connection.</a:t>
            </a:r>
          </a:p>
        </p:txBody>
      </p:sp>
      <p:sp>
        <p:nvSpPr>
          <p:cNvPr id="4" name="Date Placeholder 3"/>
          <p:cNvSpPr>
            <a:spLocks noGrp="1"/>
          </p:cNvSpPr>
          <p:nvPr>
            <p:ph type="dt" sz="half" idx="10"/>
          </p:nvPr>
        </p:nvSpPr>
        <p:spPr/>
        <p:txBody>
          <a:bodyPr/>
          <a:lstStyle/>
          <a:p>
            <a:fld id="{1716128C-8F86-4A62-9699-68C7703AAE1B}"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48</a:t>
            </a:fld>
            <a:endParaRPr lang="en-US"/>
          </a:p>
        </p:txBody>
      </p:sp>
      <p:sp>
        <p:nvSpPr>
          <p:cNvPr id="7"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963168" y="987552"/>
            <a:ext cx="7732776" cy="5099304"/>
          </a:xfrm>
          <a:prstGeom prst="rect">
            <a:avLst/>
          </a:prstGeom>
        </p:spPr>
        <p:txBody>
          <a:bodyPr lIns="0" tIns="0" rIns="0" bIns="0">
            <a:noAutofit/>
          </a:bodyPr>
          <a:lstStyle/>
          <a:p>
            <a:pPr indent="0">
              <a:spcAft>
                <a:spcPts val="840"/>
              </a:spcAft>
            </a:pPr>
            <a:r>
              <a:rPr lang="en-US" sz="2200" dirty="0">
                <a:latin typeface="Calibri"/>
              </a:rPr>
              <a:t>o </a:t>
            </a:r>
            <a:r>
              <a:rPr lang="en-US" sz="2200" b="1" dirty="0">
                <a:latin typeface="Calibri"/>
              </a:rPr>
              <a:t>FIN-WAIT-1</a:t>
            </a:r>
          </a:p>
          <a:p>
            <a:pPr indent="228600">
              <a:lnSpc>
                <a:spcPts val="2832"/>
              </a:lnSpc>
            </a:pPr>
            <a:r>
              <a:rPr lang="en-US" sz="2200" dirty="0">
                <a:solidFill>
                  <a:srgbClr val="252525"/>
                </a:solidFill>
                <a:latin typeface="Calibri"/>
              </a:rPr>
              <a:t>(both server and client) represents waiting for a connection termination request from the remote TCP, or an acknowledgment of the connection termination request previously sent. </a:t>
            </a:r>
          </a:p>
          <a:p>
            <a:pPr indent="228600">
              <a:lnSpc>
                <a:spcPts val="2832"/>
              </a:lnSpc>
            </a:pPr>
            <a:r>
              <a:rPr lang="en-US" sz="2200" dirty="0">
                <a:solidFill>
                  <a:srgbClr val="252525"/>
                </a:solidFill>
                <a:latin typeface="Calibri"/>
              </a:rPr>
              <a:t>o </a:t>
            </a:r>
            <a:r>
              <a:rPr lang="en-US" sz="2200" b="1" dirty="0">
                <a:solidFill>
                  <a:srgbClr val="252525"/>
                </a:solidFill>
                <a:latin typeface="Calibri"/>
              </a:rPr>
              <a:t>FIN-</a:t>
            </a:r>
            <a:r>
              <a:rPr lang="en-US" sz="2200" b="1" dirty="0">
                <a:latin typeface="Calibri"/>
              </a:rPr>
              <a:t>WAIT</a:t>
            </a:r>
            <a:r>
              <a:rPr lang="en-US" sz="2200" b="1" dirty="0">
                <a:solidFill>
                  <a:srgbClr val="252525"/>
                </a:solidFill>
                <a:latin typeface="Calibri"/>
              </a:rPr>
              <a:t>-2</a:t>
            </a:r>
          </a:p>
          <a:p>
            <a:pPr indent="228600">
              <a:lnSpc>
                <a:spcPts val="2904"/>
              </a:lnSpc>
            </a:pPr>
            <a:r>
              <a:rPr lang="en-US" sz="2200" dirty="0">
                <a:solidFill>
                  <a:srgbClr val="252525"/>
                </a:solidFill>
                <a:latin typeface="Calibri"/>
              </a:rPr>
              <a:t>(both server and client) represents waiting for a connection termination request from the remote TCP. </a:t>
            </a:r>
          </a:p>
          <a:p>
            <a:pPr indent="228600">
              <a:lnSpc>
                <a:spcPts val="2904"/>
              </a:lnSpc>
            </a:pPr>
            <a:r>
              <a:rPr lang="en-US" sz="2200" b="1" dirty="0">
                <a:latin typeface="Calibri"/>
              </a:rPr>
              <a:t>o CLOSE-WAIT</a:t>
            </a:r>
          </a:p>
          <a:p>
            <a:pPr indent="228600">
              <a:lnSpc>
                <a:spcPts val="2904"/>
              </a:lnSpc>
            </a:pPr>
            <a:r>
              <a:rPr lang="en-US" sz="2200" dirty="0">
                <a:solidFill>
                  <a:srgbClr val="252525"/>
                </a:solidFill>
                <a:latin typeface="Calibri"/>
              </a:rPr>
              <a:t>(both server and client) represents waiting for a connection termination request from the local user. </a:t>
            </a:r>
          </a:p>
          <a:p>
            <a:pPr indent="228600">
              <a:lnSpc>
                <a:spcPts val="2904"/>
              </a:lnSpc>
            </a:pPr>
            <a:r>
              <a:rPr lang="en-US" sz="2200" b="1" dirty="0">
                <a:latin typeface="Calibri"/>
              </a:rPr>
              <a:t>o CLOSING</a:t>
            </a:r>
          </a:p>
          <a:p>
            <a:pPr marL="244856" indent="0" algn="just">
              <a:lnSpc>
                <a:spcPts val="2784"/>
              </a:lnSpc>
            </a:pPr>
            <a:r>
              <a:rPr lang="en-US" sz="2200" dirty="0">
                <a:solidFill>
                  <a:srgbClr val="252525"/>
                </a:solidFill>
                <a:latin typeface="Calibri"/>
              </a:rPr>
              <a:t>(both server and client) represents waiting for a connection termination request acknowledgment from the remote TCP.</a:t>
            </a:r>
          </a:p>
        </p:txBody>
      </p:sp>
      <p:sp>
        <p:nvSpPr>
          <p:cNvPr id="3" name="Date Placeholder 2"/>
          <p:cNvSpPr>
            <a:spLocks noGrp="1"/>
          </p:cNvSpPr>
          <p:nvPr>
            <p:ph type="dt" sz="half" idx="10"/>
          </p:nvPr>
        </p:nvSpPr>
        <p:spPr/>
        <p:txBody>
          <a:bodyPr/>
          <a:lstStyle/>
          <a:p>
            <a:fld id="{FD1D0FC9-9A61-49D0-920F-878C4770FE57}"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49</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963168" y="984504"/>
            <a:ext cx="7732776" cy="213360"/>
          </a:xfrm>
          <a:prstGeom prst="rect">
            <a:avLst/>
          </a:prstGeom>
        </p:spPr>
        <p:txBody>
          <a:bodyPr wrap="none" lIns="0" tIns="0" rIns="0" bIns="0">
            <a:noAutofit/>
          </a:bodyPr>
          <a:lstStyle/>
          <a:p>
            <a:pPr indent="0"/>
            <a:r>
              <a:rPr lang="en-US" sz="2200">
                <a:latin typeface="Calibri"/>
              </a:rPr>
              <a:t>o </a:t>
            </a:r>
            <a:r>
              <a:rPr lang="en-US" sz="2300" b="1" spc="-50">
                <a:latin typeface="Calibri"/>
              </a:rPr>
              <a:t>LAST-ACK</a:t>
            </a:r>
          </a:p>
        </p:txBody>
      </p:sp>
      <p:sp>
        <p:nvSpPr>
          <p:cNvPr id="3" name="Rectangle 2"/>
          <p:cNvSpPr/>
          <p:nvPr/>
        </p:nvSpPr>
        <p:spPr>
          <a:xfrm>
            <a:off x="963168" y="1374648"/>
            <a:ext cx="7732776" cy="3590544"/>
          </a:xfrm>
          <a:prstGeom prst="rect">
            <a:avLst/>
          </a:prstGeom>
        </p:spPr>
        <p:txBody>
          <a:bodyPr lIns="0" tIns="0" rIns="0" bIns="0">
            <a:noAutofit/>
          </a:bodyPr>
          <a:lstStyle/>
          <a:p>
            <a:pPr indent="228600">
              <a:lnSpc>
                <a:spcPts val="2832"/>
              </a:lnSpc>
            </a:pPr>
            <a:r>
              <a:rPr lang="en-US" sz="2200" dirty="0">
                <a:solidFill>
                  <a:srgbClr val="252525"/>
                </a:solidFill>
                <a:latin typeface="Calibri"/>
              </a:rPr>
              <a:t>(both server and client) represents waiting for an acknowledgment of the connection termination request previously sent to the remote TCP (which includes an acknowledgment of its connection termination request). </a:t>
            </a:r>
          </a:p>
          <a:p>
            <a:pPr indent="228600">
              <a:lnSpc>
                <a:spcPts val="2832"/>
              </a:lnSpc>
            </a:pPr>
            <a:r>
              <a:rPr lang="en-US" sz="2200" b="1" dirty="0">
                <a:latin typeface="Calibri"/>
              </a:rPr>
              <a:t>o TIME-WAIT</a:t>
            </a:r>
          </a:p>
          <a:p>
            <a:pPr indent="228600">
              <a:lnSpc>
                <a:spcPts val="2880"/>
              </a:lnSpc>
            </a:pPr>
            <a:r>
              <a:rPr lang="en-US" sz="2200" dirty="0">
                <a:solidFill>
                  <a:srgbClr val="252525"/>
                </a:solidFill>
                <a:latin typeface="Calibri"/>
              </a:rPr>
              <a:t>(either server or client) represents waiting for enough time to pass to be sure the remote TCP received the acknowledgment of its connection termination request. </a:t>
            </a:r>
          </a:p>
          <a:p>
            <a:pPr indent="228600">
              <a:lnSpc>
                <a:spcPts val="2880"/>
              </a:lnSpc>
            </a:pPr>
            <a:r>
              <a:rPr lang="en-US" sz="2200" b="1" dirty="0">
                <a:latin typeface="Calibri"/>
              </a:rPr>
              <a:t>o CLOSED</a:t>
            </a:r>
          </a:p>
          <a:p>
            <a:pPr indent="228600"/>
            <a:r>
              <a:rPr lang="en-US" sz="2200" dirty="0">
                <a:solidFill>
                  <a:srgbClr val="252525"/>
                </a:solidFill>
                <a:latin typeface="Calibri"/>
              </a:rPr>
              <a:t>(both server and client) represents no connection state at all.</a:t>
            </a:r>
          </a:p>
        </p:txBody>
      </p:sp>
      <p:sp>
        <p:nvSpPr>
          <p:cNvPr id="4" name="Date Placeholder 3"/>
          <p:cNvSpPr>
            <a:spLocks noGrp="1"/>
          </p:cNvSpPr>
          <p:nvPr>
            <p:ph type="dt" sz="half" idx="10"/>
          </p:nvPr>
        </p:nvSpPr>
        <p:spPr/>
        <p:txBody>
          <a:bodyPr/>
          <a:lstStyle/>
          <a:p>
            <a:fld id="{F6381BCF-0C08-4DE1-B08A-E0D7FD4C4121}"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50</a:t>
            </a:fld>
            <a:endParaRPr lang="en-US"/>
          </a:p>
        </p:txBody>
      </p:sp>
      <p:sp>
        <p:nvSpPr>
          <p:cNvPr id="7"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3419856" cy="237744"/>
          </a:xfrm>
          <a:prstGeom prst="rect">
            <a:avLst/>
          </a:prstGeom>
        </p:spPr>
        <p:txBody>
          <a:bodyPr wrap="none" lIns="0" tIns="0" rIns="0" bIns="0">
            <a:noAutofit/>
          </a:bodyPr>
          <a:lstStyle/>
          <a:p>
            <a:pPr indent="0"/>
            <a:r>
              <a:rPr lang="en-US" sz="2300" b="1" spc="-50">
                <a:latin typeface="Calibri"/>
              </a:rPr>
              <a:t>• Connection establishment</a:t>
            </a:r>
          </a:p>
        </p:txBody>
      </p:sp>
      <p:sp>
        <p:nvSpPr>
          <p:cNvPr id="3" name="Rectangle 2"/>
          <p:cNvSpPr/>
          <p:nvPr/>
        </p:nvSpPr>
        <p:spPr>
          <a:xfrm>
            <a:off x="719328" y="1527048"/>
            <a:ext cx="7982712" cy="4757928"/>
          </a:xfrm>
          <a:prstGeom prst="rect">
            <a:avLst/>
          </a:prstGeom>
        </p:spPr>
        <p:txBody>
          <a:bodyPr lIns="0" tIns="0" rIns="0" bIns="0">
            <a:noAutofit/>
          </a:bodyPr>
          <a:lstStyle/>
          <a:p>
            <a:pPr indent="279400" algn="just">
              <a:lnSpc>
                <a:spcPts val="2808"/>
              </a:lnSpc>
              <a:spcAft>
                <a:spcPts val="840"/>
              </a:spcAft>
            </a:pPr>
            <a:r>
              <a:rPr lang="en-US" sz="2200" dirty="0">
                <a:solidFill>
                  <a:srgbClr val="252525"/>
                </a:solidFill>
                <a:latin typeface="Calibri"/>
              </a:rPr>
              <a:t>To establish a connection, TCP uses a three-way </a:t>
            </a:r>
            <a:r>
              <a:rPr lang="en-US" sz="2200" dirty="0">
                <a:latin typeface="Calibri"/>
              </a:rPr>
              <a:t>handshake</a:t>
            </a:r>
            <a:r>
              <a:rPr lang="en-US" sz="2200" dirty="0">
                <a:solidFill>
                  <a:srgbClr val="252525"/>
                </a:solidFill>
                <a:latin typeface="Calibri"/>
              </a:rPr>
              <a:t>. Before a client attempts to connect with a server, the server must first bind to and listen at a port to open it up for connections: this is called a passive open. Once the passive open is established, a client may initiate an active open. To establish a connection, the </a:t>
            </a:r>
            <a:r>
              <a:rPr lang="en-US" sz="2200" dirty="0" err="1">
                <a:solidFill>
                  <a:srgbClr val="252525"/>
                </a:solidFill>
                <a:latin typeface="Calibri"/>
              </a:rPr>
              <a:t>threeway</a:t>
            </a:r>
            <a:r>
              <a:rPr lang="en-US" sz="2200" dirty="0">
                <a:solidFill>
                  <a:srgbClr val="252525"/>
                </a:solidFill>
                <a:latin typeface="Calibri"/>
              </a:rPr>
              <a:t> (or 3-step) handshake occurs:</a:t>
            </a:r>
          </a:p>
          <a:p>
            <a:pPr marL="508000" indent="-228600" algn="just">
              <a:lnSpc>
                <a:spcPts val="2808"/>
              </a:lnSpc>
            </a:pPr>
            <a:r>
              <a:rPr lang="en-US" sz="2200" b="1" dirty="0">
                <a:solidFill>
                  <a:srgbClr val="252525"/>
                </a:solidFill>
                <a:latin typeface="Calibri"/>
              </a:rPr>
              <a:t>1.SYN: </a:t>
            </a:r>
            <a:r>
              <a:rPr lang="en-US" sz="2200" dirty="0">
                <a:solidFill>
                  <a:srgbClr val="252525"/>
                </a:solidFill>
                <a:latin typeface="Calibri"/>
              </a:rPr>
              <a:t>The active open is performed by the client sending a SYN to the server. The client sets the segment's sequence number to a random value A.</a:t>
            </a:r>
          </a:p>
          <a:p>
            <a:pPr marL="508000" indent="-228600" algn="just">
              <a:lnSpc>
                <a:spcPts val="2808"/>
              </a:lnSpc>
            </a:pPr>
            <a:r>
              <a:rPr lang="en-US" sz="2200" b="1" dirty="0">
                <a:solidFill>
                  <a:srgbClr val="252525"/>
                </a:solidFill>
                <a:latin typeface="Calibri"/>
              </a:rPr>
              <a:t>2.SYN-ACK: </a:t>
            </a:r>
            <a:r>
              <a:rPr lang="en-US" sz="2200" dirty="0">
                <a:solidFill>
                  <a:srgbClr val="252525"/>
                </a:solidFill>
                <a:latin typeface="Calibri"/>
              </a:rPr>
              <a:t>In response, the server replies with a SYN-ACK. The acknowledgment number is set to one more than the received sequence number i.e. A+1, and the sequence number that the server chooses for the packet is another random number, B.</a:t>
            </a:r>
          </a:p>
        </p:txBody>
      </p:sp>
      <p:sp>
        <p:nvSpPr>
          <p:cNvPr id="4" name="Date Placeholder 3"/>
          <p:cNvSpPr>
            <a:spLocks noGrp="1"/>
          </p:cNvSpPr>
          <p:nvPr>
            <p:ph type="dt" sz="half" idx="10"/>
          </p:nvPr>
        </p:nvSpPr>
        <p:spPr/>
        <p:txBody>
          <a:bodyPr/>
          <a:lstStyle/>
          <a:p>
            <a:fld id="{02181F9E-59F2-4CEA-8EF0-CD91E82A7E7F}"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51</a:t>
            </a:fld>
            <a:endParaRPr lang="en-US"/>
          </a:p>
        </p:txBody>
      </p:sp>
      <p:sp>
        <p:nvSpPr>
          <p:cNvPr id="7"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5360"/>
            <a:ext cx="7982712" cy="3572256"/>
          </a:xfrm>
          <a:prstGeom prst="rect">
            <a:avLst/>
          </a:prstGeom>
        </p:spPr>
        <p:txBody>
          <a:bodyPr lIns="0" tIns="0" rIns="0" bIns="0">
            <a:noAutofit/>
          </a:bodyPr>
          <a:lstStyle/>
          <a:p>
            <a:pPr marL="520700" indent="-228600" algn="just">
              <a:lnSpc>
                <a:spcPts val="2784"/>
              </a:lnSpc>
              <a:spcAft>
                <a:spcPts val="210"/>
              </a:spcAft>
            </a:pPr>
            <a:r>
              <a:rPr lang="en-US" sz="2200" b="1" dirty="0">
                <a:solidFill>
                  <a:srgbClr val="252525"/>
                </a:solidFill>
                <a:latin typeface="Calibri"/>
              </a:rPr>
              <a:t>3.ACK: </a:t>
            </a:r>
            <a:r>
              <a:rPr lang="en-US" sz="2200" dirty="0">
                <a:solidFill>
                  <a:srgbClr val="252525"/>
                </a:solidFill>
                <a:latin typeface="Calibri"/>
              </a:rPr>
              <a:t>Finally, the client sends an ACK back to the server. The sequence number is set to the received acknowledgement value i.e. A+1, and the acknowledgement number is set to one more than the received sequence number i.e. B+1.</a:t>
            </a:r>
          </a:p>
          <a:p>
            <a:pPr marL="520700" indent="-228600" algn="just">
              <a:lnSpc>
                <a:spcPts val="2784"/>
              </a:lnSpc>
              <a:spcAft>
                <a:spcPts val="210"/>
              </a:spcAft>
            </a:pPr>
            <a:endParaRPr lang="en-US" sz="2200" dirty="0">
              <a:solidFill>
                <a:srgbClr val="252525"/>
              </a:solidFill>
              <a:latin typeface="Calibri"/>
            </a:endParaRPr>
          </a:p>
          <a:p>
            <a:pPr indent="0" algn="just">
              <a:lnSpc>
                <a:spcPts val="2808"/>
              </a:lnSpc>
            </a:pPr>
            <a:r>
              <a:rPr lang="en-US" sz="2200" dirty="0">
                <a:solidFill>
                  <a:srgbClr val="252525"/>
                </a:solidFill>
                <a:latin typeface="Calibri"/>
              </a:rPr>
              <a:t>At this point, both the client and server have received an acknowledgment of the connection. The steps 1, 2 establish the connection parameter (sequence number) for one direction and it is acknowledged. The steps 2, 3 establish the connection parameter (sequence number) for the other direction and it is acknowledged. With these, a full-duplex communication is established.</a:t>
            </a:r>
          </a:p>
        </p:txBody>
      </p:sp>
      <p:sp>
        <p:nvSpPr>
          <p:cNvPr id="3" name="Date Placeholder 2"/>
          <p:cNvSpPr>
            <a:spLocks noGrp="1"/>
          </p:cNvSpPr>
          <p:nvPr>
            <p:ph type="dt" sz="half" idx="10"/>
          </p:nvPr>
        </p:nvSpPr>
        <p:spPr/>
        <p:txBody>
          <a:bodyPr/>
          <a:lstStyle/>
          <a:p>
            <a:fld id="{7532062C-ADA1-4E40-A125-9FB92A22F314}"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52</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496824" y="996696"/>
            <a:ext cx="3136392" cy="231648"/>
          </a:xfrm>
          <a:prstGeom prst="rect">
            <a:avLst/>
          </a:prstGeom>
        </p:spPr>
        <p:txBody>
          <a:bodyPr wrap="none" lIns="0" tIns="0" rIns="0" bIns="0">
            <a:noAutofit/>
          </a:bodyPr>
          <a:lstStyle/>
          <a:p>
            <a:pPr indent="0"/>
            <a:r>
              <a:rPr lang="en-US" sz="2300" b="1" spc="-50">
                <a:latin typeface="Calibri"/>
              </a:rPr>
              <a:t>• Connection termination</a:t>
            </a:r>
          </a:p>
        </p:txBody>
      </p:sp>
      <p:sp>
        <p:nvSpPr>
          <p:cNvPr id="5" name="Rectangle 4"/>
          <p:cNvSpPr/>
          <p:nvPr/>
        </p:nvSpPr>
        <p:spPr>
          <a:xfrm>
            <a:off x="713232" y="1562100"/>
            <a:ext cx="7541768" cy="2895600"/>
          </a:xfrm>
          <a:prstGeom prst="rect">
            <a:avLst/>
          </a:prstGeom>
        </p:spPr>
        <p:txBody>
          <a:bodyPr lIns="0" tIns="0" rIns="0" bIns="0">
            <a:noAutofit/>
          </a:bodyPr>
          <a:lstStyle/>
          <a:p>
            <a:pPr indent="482600" algn="just">
              <a:lnSpc>
                <a:spcPts val="2784"/>
              </a:lnSpc>
              <a:spcBef>
                <a:spcPts val="3570"/>
              </a:spcBef>
            </a:pPr>
            <a:r>
              <a:rPr lang="en-US" sz="2200" dirty="0">
                <a:solidFill>
                  <a:srgbClr val="252525"/>
                </a:solidFill>
                <a:latin typeface="Calibri"/>
              </a:rPr>
              <a:t>The connection termination phase uses a four-way handshake, with each side of the connection terminating independently. When an endpoint wishes to stop its half of the connection, it transmits a FIN packet, which the other end acknowledges with an ACK. Therefore, a typical tear-down requires a pair of FIN and </a:t>
            </a:r>
            <a:r>
              <a:rPr lang="en-US" sz="2200" dirty="0">
                <a:solidFill>
                  <a:srgbClr val="252525"/>
                </a:solidFill>
              </a:rPr>
              <a:t>ACK segments from each TCP endpoint. After the side that sent the first FIN has responded with the final ACK, it waits for a timeout before finally closing the connection, during which time the local port is unavailable for new connections; this prevents confusion due to delayed packets being delivered during subsequent connections.</a:t>
            </a:r>
          </a:p>
          <a:p>
            <a:pPr indent="482600" algn="just">
              <a:lnSpc>
                <a:spcPts val="2784"/>
              </a:lnSpc>
              <a:spcBef>
                <a:spcPts val="3570"/>
              </a:spcBef>
            </a:pPr>
            <a:endParaRPr lang="en-US" sz="2200" dirty="0">
              <a:solidFill>
                <a:srgbClr val="252525"/>
              </a:solidFill>
              <a:latin typeface="Calibri"/>
            </a:endParaRPr>
          </a:p>
        </p:txBody>
      </p:sp>
      <p:sp>
        <p:nvSpPr>
          <p:cNvPr id="6" name="Date Placeholder 5"/>
          <p:cNvSpPr>
            <a:spLocks noGrp="1"/>
          </p:cNvSpPr>
          <p:nvPr>
            <p:ph type="dt" sz="half" idx="10"/>
          </p:nvPr>
        </p:nvSpPr>
        <p:spPr/>
        <p:txBody>
          <a:bodyPr/>
          <a:lstStyle/>
          <a:p>
            <a:fld id="{08D7AD9A-9C7C-4AEC-BE5C-FF876DBF1BB9}"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53</a:t>
            </a:fld>
            <a:endParaRPr lang="en-US"/>
          </a:p>
        </p:txBody>
      </p:sp>
      <p:sp>
        <p:nvSpPr>
          <p:cNvPr id="9"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08A70A0-2701-4076-84D7-6E3F23AB216A}"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54</a:t>
            </a:fld>
            <a:endParaRPr lang="en-US"/>
          </a:p>
        </p:txBody>
      </p:sp>
      <p:pic>
        <p:nvPicPr>
          <p:cNvPr id="7" name="Picture 6"/>
          <p:cNvPicPr>
            <a:picLocks noChangeAspect="1"/>
          </p:cNvPicPr>
          <p:nvPr/>
        </p:nvPicPr>
        <p:blipFill>
          <a:blip r:embed="rId2"/>
          <a:stretch>
            <a:fillRect/>
          </a:stretch>
        </p:blipFill>
        <p:spPr>
          <a:xfrm>
            <a:off x="838200" y="1017474"/>
            <a:ext cx="6399727" cy="5128788"/>
          </a:xfrm>
          <a:prstGeom prst="rect">
            <a:avLst/>
          </a:prstGeom>
        </p:spPr>
      </p:pic>
      <p:sp>
        <p:nvSpPr>
          <p:cNvPr id="8" name="Title 1"/>
          <p:cNvSpPr>
            <a:spLocks noGrp="1"/>
          </p:cNvSpPr>
          <p:nvPr>
            <p:ph type="title"/>
          </p:nvPr>
        </p:nvSpPr>
        <p:spPr>
          <a:xfrm>
            <a:off x="1370862" y="0"/>
            <a:ext cx="7773138" cy="512618"/>
          </a:xfrm>
        </p:spPr>
        <p:txBody>
          <a:bodyPr>
            <a:normAutofit/>
          </a:bodyPr>
          <a:lstStyle/>
          <a:p>
            <a:r>
              <a:rPr lang="en-US" b="1" dirty="0"/>
              <a:t>TRANSPORT LAYER</a:t>
            </a:r>
            <a:endParaRPr lang="en-US" dirty="0"/>
          </a:p>
        </p:txBody>
      </p:sp>
    </p:spTree>
    <p:extLst>
      <p:ext uri="{BB962C8B-B14F-4D97-AF65-F5344CB8AC3E}">
        <p14:creationId xmlns:p14="http://schemas.microsoft.com/office/powerpoint/2010/main" val="1407978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128" y="984504"/>
            <a:ext cx="8436864" cy="5279136"/>
          </a:xfrm>
          <a:prstGeom prst="rect">
            <a:avLst/>
          </a:prstGeom>
        </p:spPr>
        <p:txBody>
          <a:bodyPr lIns="0" tIns="0" rIns="0" bIns="0">
            <a:noAutofit/>
          </a:bodyPr>
          <a:lstStyle/>
          <a:p>
            <a:pPr algn="just">
              <a:lnSpc>
                <a:spcPts val="3024"/>
              </a:lnSpc>
            </a:pPr>
            <a:r>
              <a:rPr lang="en-US" sz="2200" dirty="0">
                <a:latin typeface="Calibri"/>
              </a:rPr>
              <a:t>Topic Objective</a:t>
            </a:r>
          </a:p>
          <a:p>
            <a:pPr marL="342900" indent="-342900" algn="just">
              <a:lnSpc>
                <a:spcPts val="3024"/>
              </a:lnSpc>
              <a:buFont typeface="Arial" panose="020B0604020202020204" pitchFamily="34" charset="0"/>
              <a:buChar char="•"/>
            </a:pPr>
            <a:r>
              <a:rPr lang="en-US" sz="2200" dirty="0">
                <a:latin typeface="Calibri"/>
              </a:rPr>
              <a:t>The student will be able to understand the design issue and Functions of Session layer</a:t>
            </a:r>
          </a:p>
          <a:p>
            <a:pPr marL="342900" indent="-342900" algn="just">
              <a:lnSpc>
                <a:spcPts val="3024"/>
              </a:lnSpc>
              <a:buFont typeface="Arial" panose="020B0604020202020204" pitchFamily="34" charset="0"/>
              <a:buChar char="•"/>
            </a:pPr>
            <a:r>
              <a:rPr lang="en-US" sz="2200" dirty="0">
                <a:latin typeface="Calibri"/>
              </a:rPr>
              <a:t>Understand the working of RPC</a:t>
            </a:r>
          </a:p>
          <a:p>
            <a:pPr marL="342900" indent="-342900" algn="just">
              <a:lnSpc>
                <a:spcPts val="3024"/>
              </a:lnSpc>
              <a:buFont typeface="Arial" panose="020B0604020202020204" pitchFamily="34" charset="0"/>
              <a:buChar char="•"/>
            </a:pPr>
            <a:endParaRPr lang="en-US" sz="2200" dirty="0">
              <a:latin typeface="Calibri"/>
            </a:endParaRPr>
          </a:p>
          <a:p>
            <a:pPr algn="just">
              <a:lnSpc>
                <a:spcPts val="3024"/>
              </a:lnSpc>
            </a:pPr>
            <a:r>
              <a:rPr lang="en-US" sz="2200" dirty="0">
                <a:latin typeface="Calibri"/>
              </a:rPr>
              <a:t>Recap of Previous topic</a:t>
            </a:r>
          </a:p>
          <a:p>
            <a:pPr marL="342900" indent="-342900" algn="just">
              <a:lnSpc>
                <a:spcPts val="3024"/>
              </a:lnSpc>
              <a:buFont typeface="Arial" panose="020B0604020202020204" pitchFamily="34" charset="0"/>
              <a:buChar char="•"/>
            </a:pPr>
            <a:r>
              <a:rPr lang="en-US" sz="2200" dirty="0">
                <a:latin typeface="Calibri"/>
              </a:rPr>
              <a:t>Transport layer being the fourth layer of OSI model</a:t>
            </a:r>
          </a:p>
          <a:p>
            <a:pPr marL="342900" indent="-342900" algn="just">
              <a:lnSpc>
                <a:spcPts val="3024"/>
              </a:lnSpc>
              <a:buFont typeface="Arial" panose="020B0604020202020204" pitchFamily="34" charset="0"/>
              <a:buChar char="•"/>
            </a:pPr>
            <a:r>
              <a:rPr lang="en-US" sz="2200" dirty="0">
                <a:latin typeface="Calibri"/>
              </a:rPr>
              <a:t>Supports reliability in the transmission</a:t>
            </a:r>
          </a:p>
          <a:p>
            <a:pPr marL="342900" indent="-342900" algn="just">
              <a:lnSpc>
                <a:spcPts val="3024"/>
              </a:lnSpc>
              <a:buFont typeface="Arial" panose="020B0604020202020204" pitchFamily="34" charset="0"/>
              <a:buChar char="•"/>
            </a:pPr>
            <a:r>
              <a:rPr lang="en-US" sz="2200" dirty="0">
                <a:latin typeface="Calibri"/>
              </a:rPr>
              <a:t>TCP and UDP being important protocols of the Transport Layer </a:t>
            </a:r>
          </a:p>
        </p:txBody>
      </p:sp>
      <p:sp>
        <p:nvSpPr>
          <p:cNvPr id="3" name="Date Placeholder 2"/>
          <p:cNvSpPr>
            <a:spLocks noGrp="1"/>
          </p:cNvSpPr>
          <p:nvPr>
            <p:ph type="dt" sz="half" idx="10"/>
          </p:nvPr>
        </p:nvSpPr>
        <p:spPr/>
        <p:txBody>
          <a:bodyPr/>
          <a:lstStyle/>
          <a:p>
            <a:fld id="{479424F5-F3A6-4B98-B4D6-82B978C3AFA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55</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Session LAYER(CO1)</a:t>
            </a:r>
            <a:endParaRPr lang="en-US" dirty="0"/>
          </a:p>
        </p:txBody>
      </p:sp>
    </p:spTree>
    <p:extLst>
      <p:ext uri="{BB962C8B-B14F-4D97-AF65-F5344CB8AC3E}">
        <p14:creationId xmlns:p14="http://schemas.microsoft.com/office/powerpoint/2010/main" val="2195102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81456"/>
            <a:ext cx="8507476" cy="5190744"/>
          </a:xfrm>
          <a:prstGeom prst="rect">
            <a:avLst/>
          </a:prstGeom>
        </p:spPr>
        <p:txBody>
          <a:bodyPr lIns="0" tIns="0" rIns="0" bIns="0">
            <a:noAutofit/>
          </a:bodyPr>
          <a:lstStyle/>
          <a:p>
            <a:pPr marL="342900" indent="-342900" algn="just">
              <a:lnSpc>
                <a:spcPts val="3000"/>
              </a:lnSpc>
              <a:spcAft>
                <a:spcPts val="600"/>
              </a:spcAft>
              <a:buFont typeface="Arial" panose="020B0604020202020204" pitchFamily="34" charset="0"/>
              <a:buChar char="•"/>
            </a:pPr>
            <a:r>
              <a:rPr lang="en-US" sz="2200" dirty="0">
                <a:latin typeface="Calibri"/>
              </a:rPr>
              <a:t>The session layer is level five of the seven layer of OSI model. </a:t>
            </a:r>
          </a:p>
          <a:p>
            <a:pPr marL="342900" indent="-342900" algn="just">
              <a:lnSpc>
                <a:spcPts val="3000"/>
              </a:lnSpc>
              <a:spcAft>
                <a:spcPts val="600"/>
              </a:spcAft>
              <a:buFont typeface="Arial" panose="020B0604020202020204" pitchFamily="34" charset="0"/>
              <a:buChar char="•"/>
            </a:pPr>
            <a:r>
              <a:rPr lang="en-US" sz="2200" dirty="0">
                <a:latin typeface="Calibri"/>
              </a:rPr>
              <a:t>It responds to service requests from the presentation layer and issues service requests to the transport layer.</a:t>
            </a:r>
          </a:p>
          <a:p>
            <a:pPr marL="342900" indent="-342900" algn="just">
              <a:lnSpc>
                <a:spcPts val="2784"/>
              </a:lnSpc>
              <a:spcAft>
                <a:spcPts val="600"/>
              </a:spcAft>
              <a:buFont typeface="Arial" panose="020B0604020202020204" pitchFamily="34" charset="0"/>
              <a:buChar char="•"/>
            </a:pPr>
            <a:r>
              <a:rPr lang="en-US" sz="2200" dirty="0">
                <a:latin typeface="Calibri"/>
              </a:rPr>
              <a:t>The Session Layer allows users on different machines to establish active communication sessions between them.</a:t>
            </a:r>
          </a:p>
          <a:p>
            <a:pPr marL="342900" indent="-342900" algn="just">
              <a:lnSpc>
                <a:spcPts val="3024"/>
              </a:lnSpc>
              <a:buFont typeface="Arial" panose="020B0604020202020204" pitchFamily="34" charset="0"/>
              <a:buChar char="•"/>
            </a:pPr>
            <a:r>
              <a:rPr lang="en-US" sz="2200" dirty="0">
                <a:latin typeface="Calibri"/>
              </a:rPr>
              <a:t>It's main aim is to establish, maintain and synchronize the interaction between communicating systems. </a:t>
            </a:r>
          </a:p>
          <a:p>
            <a:pPr marL="342900" indent="-342900" algn="just">
              <a:lnSpc>
                <a:spcPts val="3024"/>
              </a:lnSpc>
              <a:buFont typeface="Arial" panose="020B0604020202020204" pitchFamily="34" charset="0"/>
              <a:buChar char="•"/>
            </a:pPr>
            <a:r>
              <a:rPr lang="en-US" sz="2200" dirty="0">
                <a:latin typeface="Calibri"/>
              </a:rPr>
              <a:t>Session layer manages and synchronize the conversation between two different applications. </a:t>
            </a:r>
          </a:p>
          <a:p>
            <a:pPr marL="342900" indent="-342900" algn="just">
              <a:lnSpc>
                <a:spcPts val="3024"/>
              </a:lnSpc>
              <a:buFont typeface="Arial" panose="020B0604020202020204" pitchFamily="34" charset="0"/>
              <a:buChar char="•"/>
            </a:pPr>
            <a:r>
              <a:rPr lang="en-US" sz="2200" dirty="0">
                <a:latin typeface="Calibri"/>
              </a:rPr>
              <a:t>streams of data are marked and are resynchronized properly, so that the ends of the messages are not cut prematurely and data loss is avoided. The session layer provides the mechanism for opening, closing and managing a session between end-user </a:t>
            </a:r>
            <a:r>
              <a:rPr lang="en-US" sz="2200" dirty="0"/>
              <a:t>application processes, </a:t>
            </a:r>
          </a:p>
          <a:p>
            <a:pPr indent="469900" algn="just">
              <a:lnSpc>
                <a:spcPts val="3024"/>
              </a:lnSpc>
            </a:pPr>
            <a:endParaRPr lang="en-US" sz="2200" dirty="0">
              <a:latin typeface="Calibri"/>
            </a:endParaRPr>
          </a:p>
        </p:txBody>
      </p:sp>
      <p:sp>
        <p:nvSpPr>
          <p:cNvPr id="3" name="Date Placeholder 2"/>
          <p:cNvSpPr>
            <a:spLocks noGrp="1"/>
          </p:cNvSpPr>
          <p:nvPr>
            <p:ph type="dt" sz="half" idx="10"/>
          </p:nvPr>
        </p:nvSpPr>
        <p:spPr/>
        <p:txBody>
          <a:bodyPr/>
          <a:lstStyle/>
          <a:p>
            <a:fld id="{60DD6AFC-4670-4730-842B-C7AE0571192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56</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LAYER(CO1)</a:t>
            </a:r>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8224" y="975360"/>
            <a:ext cx="8430768" cy="4154424"/>
          </a:xfrm>
          <a:prstGeom prst="rect">
            <a:avLst/>
          </a:prstGeom>
        </p:spPr>
        <p:txBody>
          <a:bodyPr lIns="0" tIns="0" rIns="0" bIns="0">
            <a:noAutofit/>
          </a:bodyPr>
          <a:lstStyle/>
          <a:p>
            <a:pPr marL="342900" indent="-342900" algn="just">
              <a:lnSpc>
                <a:spcPts val="3000"/>
              </a:lnSpc>
              <a:spcAft>
                <a:spcPts val="420"/>
              </a:spcAft>
              <a:buFont typeface="Arial" panose="020B0604020202020204" pitchFamily="34" charset="0"/>
              <a:buChar char="•"/>
            </a:pPr>
            <a:r>
              <a:rPr lang="en-US" sz="2200" dirty="0">
                <a:latin typeface="Calibri"/>
              </a:rPr>
              <a:t>Session layers are commonly used in application environments that make use of remote procedure calls (RPCs).</a:t>
            </a:r>
          </a:p>
          <a:p>
            <a:pPr marL="342900" indent="-342900" algn="just">
              <a:spcAft>
                <a:spcPts val="1470"/>
              </a:spcAft>
              <a:buFont typeface="Arial" panose="020B0604020202020204" pitchFamily="34" charset="0"/>
              <a:buChar char="•"/>
            </a:pPr>
            <a:r>
              <a:rPr lang="en-US" sz="2200" dirty="0">
                <a:latin typeface="Calibri"/>
              </a:rPr>
              <a:t>An example of a session layer protocol X.225 or ISO 8327.</a:t>
            </a:r>
          </a:p>
          <a:p>
            <a:pPr marL="342900" indent="-342900" algn="just">
              <a:lnSpc>
                <a:spcPts val="3024"/>
              </a:lnSpc>
              <a:spcAft>
                <a:spcPts val="420"/>
              </a:spcAft>
              <a:buFont typeface="Arial" panose="020B0604020202020204" pitchFamily="34" charset="0"/>
              <a:buChar char="•"/>
            </a:pPr>
            <a:r>
              <a:rPr lang="en-US" sz="2200" dirty="0">
                <a:latin typeface="Calibri"/>
              </a:rPr>
              <a:t>In case of a connection loss this protocol may try to recover the connection. If a connection is not used for a long period, the session layer protocol may close it and re-open it.</a:t>
            </a:r>
          </a:p>
          <a:p>
            <a:pPr marL="342900" indent="-342900" algn="just">
              <a:lnSpc>
                <a:spcPts val="3024"/>
              </a:lnSpc>
              <a:buFont typeface="Arial" panose="020B0604020202020204" pitchFamily="34" charset="0"/>
              <a:buChar char="•"/>
            </a:pPr>
            <a:r>
              <a:rPr lang="en-US" sz="2200" dirty="0">
                <a:latin typeface="Calibri"/>
              </a:rPr>
              <a:t>It provides for either full duplex or half-duplex operation and provides synchronization points in the stream of exchanged messages.</a:t>
            </a:r>
          </a:p>
        </p:txBody>
      </p:sp>
      <p:sp>
        <p:nvSpPr>
          <p:cNvPr id="3" name="Date Placeholder 2"/>
          <p:cNvSpPr>
            <a:spLocks noGrp="1"/>
          </p:cNvSpPr>
          <p:nvPr>
            <p:ph type="dt" sz="half" idx="10"/>
          </p:nvPr>
        </p:nvSpPr>
        <p:spPr/>
        <p:txBody>
          <a:bodyPr/>
          <a:lstStyle/>
          <a:p>
            <a:fld id="{444CCD25-E9DA-48CE-8D2C-07636224F85B}"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57</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4568" y="972312"/>
            <a:ext cx="7967472" cy="274320"/>
          </a:xfrm>
          <a:prstGeom prst="rect">
            <a:avLst/>
          </a:prstGeom>
        </p:spPr>
        <p:txBody>
          <a:bodyPr wrap="none" lIns="0" tIns="0" rIns="0" bIns="0">
            <a:noAutofit/>
          </a:bodyPr>
          <a:lstStyle/>
          <a:p>
            <a:pPr indent="0"/>
            <a:r>
              <a:rPr lang="en-US" sz="2300" b="1" spc="-50">
                <a:latin typeface="Calibri"/>
              </a:rPr>
              <a:t>Functions of Session Layer</a:t>
            </a:r>
          </a:p>
        </p:txBody>
      </p:sp>
      <p:sp>
        <p:nvSpPr>
          <p:cNvPr id="3" name="Rectangle 2"/>
          <p:cNvSpPr/>
          <p:nvPr/>
        </p:nvSpPr>
        <p:spPr>
          <a:xfrm>
            <a:off x="734568" y="1557528"/>
            <a:ext cx="7967472" cy="3834384"/>
          </a:xfrm>
          <a:prstGeom prst="rect">
            <a:avLst/>
          </a:prstGeom>
        </p:spPr>
        <p:txBody>
          <a:bodyPr lIns="0" tIns="0" rIns="0" bIns="0">
            <a:noAutofit/>
          </a:bodyPr>
          <a:lstStyle/>
          <a:p>
            <a:pPr marL="247904" indent="-228600" algn="just">
              <a:lnSpc>
                <a:spcPts val="2784"/>
              </a:lnSpc>
              <a:spcAft>
                <a:spcPts val="600"/>
              </a:spcAft>
            </a:pPr>
            <a:r>
              <a:rPr lang="en-US" sz="2200" dirty="0">
                <a:latin typeface="Calibri"/>
              </a:rPr>
              <a:t>1. Dialog Control: This layer allows two systems to start communication with each other in half-duplex or full-duplex.</a:t>
            </a:r>
          </a:p>
          <a:p>
            <a:pPr marL="247904" indent="-228600" algn="just">
              <a:lnSpc>
                <a:spcPts val="2784"/>
              </a:lnSpc>
              <a:spcAft>
                <a:spcPts val="600"/>
              </a:spcAft>
            </a:pPr>
            <a:r>
              <a:rPr lang="en-US" sz="2200" dirty="0">
                <a:latin typeface="Calibri"/>
              </a:rPr>
              <a:t>2. Token Management: This layer prevents two parties from attempting the same critical operation at the same time.</a:t>
            </a:r>
          </a:p>
          <a:p>
            <a:pPr marL="247904" indent="-228600" algn="just">
              <a:lnSpc>
                <a:spcPts val="2784"/>
              </a:lnSpc>
              <a:spcAft>
                <a:spcPts val="600"/>
              </a:spcAft>
            </a:pPr>
            <a:r>
              <a:rPr lang="en-US" sz="2200" dirty="0">
                <a:latin typeface="Calibri"/>
              </a:rPr>
              <a:t>3.  Synchronization: This layer allows a process to add checkpoints which are considered as synchronization points into stream of data. </a:t>
            </a:r>
          </a:p>
        </p:txBody>
      </p:sp>
      <p:sp>
        <p:nvSpPr>
          <p:cNvPr id="4" name="Date Placeholder 3"/>
          <p:cNvSpPr>
            <a:spLocks noGrp="1"/>
          </p:cNvSpPr>
          <p:nvPr>
            <p:ph type="dt" sz="half" idx="10"/>
          </p:nvPr>
        </p:nvSpPr>
        <p:spPr/>
        <p:txBody>
          <a:bodyPr/>
          <a:lstStyle/>
          <a:p>
            <a:fld id="{AF2FE3B1-986F-433F-B05B-20AB9559A941}"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58</a:t>
            </a:fld>
            <a:endParaRPr lang="en-US"/>
          </a:p>
        </p:txBody>
      </p:sp>
      <p:sp>
        <p:nvSpPr>
          <p:cNvPr id="7"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6280" y="975360"/>
            <a:ext cx="7976616" cy="271272"/>
          </a:xfrm>
          <a:prstGeom prst="rect">
            <a:avLst/>
          </a:prstGeom>
        </p:spPr>
        <p:txBody>
          <a:bodyPr wrap="none" lIns="0" tIns="0" rIns="0" bIns="0">
            <a:noAutofit/>
          </a:bodyPr>
          <a:lstStyle/>
          <a:p>
            <a:pPr indent="0"/>
            <a:r>
              <a:rPr lang="en-US" sz="2300" b="1" spc="-50">
                <a:latin typeface="Calibri"/>
              </a:rPr>
              <a:t>Design Issues with Session Layer</a:t>
            </a:r>
          </a:p>
        </p:txBody>
      </p:sp>
      <p:sp>
        <p:nvSpPr>
          <p:cNvPr id="3" name="Rectangle 2"/>
          <p:cNvSpPr/>
          <p:nvPr/>
        </p:nvSpPr>
        <p:spPr>
          <a:xfrm>
            <a:off x="716280" y="1557528"/>
            <a:ext cx="7976616" cy="4806696"/>
          </a:xfrm>
          <a:prstGeom prst="rect">
            <a:avLst/>
          </a:prstGeom>
        </p:spPr>
        <p:txBody>
          <a:bodyPr lIns="0" tIns="0" rIns="0" bIns="0">
            <a:noAutofit/>
          </a:bodyPr>
          <a:lstStyle/>
          <a:p>
            <a:pPr marL="266192" indent="-241300">
              <a:lnSpc>
                <a:spcPts val="2808"/>
              </a:lnSpc>
            </a:pPr>
            <a:r>
              <a:rPr lang="en-US" sz="2200" dirty="0">
                <a:latin typeface="Calibri"/>
              </a:rPr>
              <a:t>. To allow machines to establish sessions between them in a seamless fashion.</a:t>
            </a:r>
          </a:p>
          <a:p>
            <a:pPr indent="0" algn="just">
              <a:lnSpc>
                <a:spcPts val="2808"/>
              </a:lnSpc>
            </a:pPr>
            <a:r>
              <a:rPr lang="en-US" sz="2200" dirty="0">
                <a:latin typeface="Calibri"/>
              </a:rPr>
              <a:t>. Provide enhanced services to the user.</a:t>
            </a:r>
          </a:p>
          <a:p>
            <a:pPr indent="0" algn="just">
              <a:lnSpc>
                <a:spcPts val="2808"/>
              </a:lnSpc>
            </a:pPr>
            <a:r>
              <a:rPr lang="en-US" sz="2200" dirty="0">
                <a:latin typeface="Calibri"/>
              </a:rPr>
              <a:t>. To manage dialog control.</a:t>
            </a:r>
          </a:p>
          <a:p>
            <a:pPr marL="266192" indent="-241300">
              <a:lnSpc>
                <a:spcPts val="2808"/>
              </a:lnSpc>
            </a:pPr>
            <a:r>
              <a:rPr lang="en-US" sz="2200" dirty="0">
                <a:latin typeface="Calibri"/>
              </a:rPr>
              <a:t>. To provide services such as Token management and Synchronization.</a:t>
            </a:r>
          </a:p>
          <a:p>
            <a:pPr indent="0">
              <a:lnSpc>
                <a:spcPts val="2808"/>
              </a:lnSpc>
            </a:pPr>
            <a:r>
              <a:rPr lang="en-US" sz="2200" dirty="0">
                <a:latin typeface="Calibri"/>
              </a:rPr>
              <a:t>. </a:t>
            </a:r>
            <a:r>
              <a:rPr lang="en-US" sz="2200" dirty="0">
                <a:solidFill>
                  <a:srgbClr val="252525"/>
                </a:solidFill>
                <a:latin typeface="Calibri"/>
              </a:rPr>
              <a:t>Authentication </a:t>
            </a:r>
            <a:r>
              <a:rPr lang="en-US" sz="2200" dirty="0">
                <a:latin typeface="Calibri"/>
              </a:rPr>
              <a:t>. Permissions</a:t>
            </a:r>
          </a:p>
          <a:p>
            <a:pPr indent="0" algn="just">
              <a:lnSpc>
                <a:spcPts val="2808"/>
              </a:lnSpc>
              <a:spcAft>
                <a:spcPts val="840"/>
              </a:spcAft>
            </a:pPr>
            <a:r>
              <a:rPr lang="en-US" sz="2200" dirty="0">
                <a:latin typeface="Calibri"/>
              </a:rPr>
              <a:t>. Session restoration (</a:t>
            </a:r>
            <a:r>
              <a:rPr lang="en-US" sz="2200" dirty="0" err="1">
                <a:latin typeface="Calibri"/>
              </a:rPr>
              <a:t>checkpointing</a:t>
            </a:r>
            <a:r>
              <a:rPr lang="en-US" sz="2200" dirty="0">
                <a:latin typeface="Calibri"/>
              </a:rPr>
              <a:t> and recovery)</a:t>
            </a:r>
          </a:p>
          <a:p>
            <a:pPr indent="0" algn="just">
              <a:lnSpc>
                <a:spcPts val="3024"/>
              </a:lnSpc>
            </a:pPr>
            <a:endParaRPr lang="en-US" sz="2200" dirty="0">
              <a:solidFill>
                <a:srgbClr val="252525"/>
              </a:solidFill>
              <a:latin typeface="Calibri"/>
            </a:endParaRPr>
          </a:p>
        </p:txBody>
      </p:sp>
      <p:sp>
        <p:nvSpPr>
          <p:cNvPr id="4" name="Date Placeholder 3"/>
          <p:cNvSpPr>
            <a:spLocks noGrp="1"/>
          </p:cNvSpPr>
          <p:nvPr>
            <p:ph type="dt" sz="half" idx="10"/>
          </p:nvPr>
        </p:nvSpPr>
        <p:spPr/>
        <p:txBody>
          <a:bodyPr/>
          <a:lstStyle/>
          <a:p>
            <a:fld id="{A7AA568F-38C0-4BE3-BC26-0887970262E8}"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59</a:t>
            </a:fld>
            <a:endParaRPr lang="en-US"/>
          </a:p>
        </p:txBody>
      </p:sp>
      <p:sp>
        <p:nvSpPr>
          <p:cNvPr id="7"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44106" y="844778"/>
            <a:ext cx="8683779" cy="6868547"/>
          </a:xfrm>
        </p:spPr>
        <p:txBody>
          <a:bodyPr/>
          <a:lstStyle/>
          <a:p>
            <a:pPr>
              <a:lnSpc>
                <a:spcPts val="3024"/>
              </a:lnSpc>
            </a:pPr>
            <a:r>
              <a:rPr lang="en-US" b="1" dirty="0">
                <a:solidFill>
                  <a:srgbClr val="252525"/>
                </a:solidFill>
              </a:rPr>
              <a:t>Authentication</a:t>
            </a:r>
          </a:p>
          <a:p>
            <a:pPr>
              <a:lnSpc>
                <a:spcPts val="3024"/>
              </a:lnSpc>
            </a:pPr>
            <a:r>
              <a:rPr lang="en-US" dirty="0">
                <a:solidFill>
                  <a:srgbClr val="252525"/>
                </a:solidFill>
              </a:rPr>
              <a:t>	is the act of establishing or confirming something (or someone) as </a:t>
            </a:r>
            <a:r>
              <a:rPr lang="en-US" i="1" dirty="0">
                <a:solidFill>
                  <a:srgbClr val="252525"/>
                </a:solidFill>
              </a:rPr>
              <a:t>authentic,</a:t>
            </a:r>
            <a:r>
              <a:rPr lang="en-US" dirty="0">
                <a:solidFill>
                  <a:srgbClr val="252525"/>
                </a:solidFill>
              </a:rPr>
              <a:t> that is, that claims made by or about the thing are true. This might involve confirming the identity of a person, the origins of an artifact, or assuring that a computer program is a trusted one.</a:t>
            </a:r>
          </a:p>
          <a:p>
            <a:pPr>
              <a:lnSpc>
                <a:spcPts val="3024"/>
              </a:lnSpc>
            </a:pPr>
            <a:r>
              <a:rPr lang="en-US" b="1" dirty="0">
                <a:solidFill>
                  <a:srgbClr val="252525"/>
                </a:solidFill>
              </a:rPr>
              <a:t>Permissions or Access control</a:t>
            </a:r>
          </a:p>
          <a:p>
            <a:pPr>
              <a:lnSpc>
                <a:spcPts val="3024"/>
              </a:lnSpc>
              <a:spcAft>
                <a:spcPts val="3150"/>
              </a:spcAft>
            </a:pPr>
            <a:r>
              <a:rPr lang="en-US" dirty="0">
                <a:solidFill>
                  <a:srgbClr val="252525"/>
                </a:solidFill>
              </a:rPr>
              <a:t>	One familiar use of authentication and authorization is access control. A computer system supposed to be used only by those authorized must attempt to detect and exclude the unauthorized. Access to it is therefore usually controlled by insisting on an authentication procedure to establish with some established degree of confidence the identity of the user, thence granting those privileges as may be authorized to that identity.</a:t>
            </a:r>
          </a:p>
          <a:p>
            <a:pPr>
              <a:lnSpc>
                <a:spcPts val="3024"/>
              </a:lnSpc>
            </a:pPr>
            <a:endParaRPr lang="en-US" dirty="0">
              <a:solidFill>
                <a:srgbClr val="252525"/>
              </a:solidFill>
            </a:endParaRPr>
          </a:p>
          <a:p>
            <a:endParaRPr lang="en-US" dirty="0"/>
          </a:p>
        </p:txBody>
      </p:sp>
      <p:sp>
        <p:nvSpPr>
          <p:cNvPr id="4" name="Date Placeholder 3"/>
          <p:cNvSpPr>
            <a:spLocks noGrp="1"/>
          </p:cNvSpPr>
          <p:nvPr>
            <p:ph type="dt" sz="half" idx="10"/>
          </p:nvPr>
        </p:nvSpPr>
        <p:spPr/>
        <p:txBody>
          <a:bodyPr/>
          <a:lstStyle/>
          <a:p>
            <a:fld id="{235FBB4C-C27D-42BA-95D6-3B28FCE06EC8}"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60</a:t>
            </a:fld>
            <a:endParaRPr lang="en-US"/>
          </a:p>
        </p:txBody>
      </p:sp>
      <p:sp>
        <p:nvSpPr>
          <p:cNvPr id="7" name="Title 1"/>
          <p:cNvSpPr>
            <a:spLocks noGrp="1"/>
          </p:cNvSpPr>
          <p:nvPr>
            <p:ph type="title"/>
          </p:nvPr>
        </p:nvSpPr>
        <p:spPr/>
        <p:txBody>
          <a:bodyPr>
            <a:normAutofit/>
          </a:bodyPr>
          <a:lstStyle/>
          <a:p>
            <a:r>
              <a:rPr lang="en-US" dirty="0"/>
              <a:t>Session LAYER(CO5)</a:t>
            </a:r>
          </a:p>
        </p:txBody>
      </p:sp>
    </p:spTree>
    <p:extLst>
      <p:ext uri="{BB962C8B-B14F-4D97-AF65-F5344CB8AC3E}">
        <p14:creationId xmlns:p14="http://schemas.microsoft.com/office/powerpoint/2010/main" val="203354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2312"/>
            <a:ext cx="7979664" cy="3852672"/>
          </a:xfrm>
          <a:prstGeom prst="rect">
            <a:avLst/>
          </a:prstGeom>
        </p:spPr>
        <p:txBody>
          <a:bodyPr lIns="0" tIns="0" rIns="0" bIns="0">
            <a:noAutofit/>
          </a:bodyPr>
          <a:lstStyle/>
          <a:p>
            <a:pPr algn="just">
              <a:lnSpc>
                <a:spcPts val="3024"/>
              </a:lnSpc>
            </a:pPr>
            <a:endParaRPr lang="en-US" sz="2200" dirty="0">
              <a:solidFill>
                <a:srgbClr val="252525"/>
              </a:solidFill>
              <a:latin typeface="Calibri"/>
            </a:endParaRPr>
          </a:p>
        </p:txBody>
      </p:sp>
      <p:sp>
        <p:nvSpPr>
          <p:cNvPr id="3" name="Rectangle 2"/>
          <p:cNvSpPr/>
          <p:nvPr/>
        </p:nvSpPr>
        <p:spPr>
          <a:xfrm>
            <a:off x="417332" y="884554"/>
            <a:ext cx="8281659" cy="2341245"/>
          </a:xfrm>
          <a:prstGeom prst="rect">
            <a:avLst/>
          </a:prstGeom>
        </p:spPr>
        <p:txBody>
          <a:bodyPr lIns="0" tIns="0" rIns="0" bIns="0">
            <a:noAutofit/>
          </a:bodyPr>
          <a:lstStyle/>
          <a:p>
            <a:pPr algn="just">
              <a:lnSpc>
                <a:spcPts val="3048"/>
              </a:lnSpc>
              <a:spcBef>
                <a:spcPts val="3150"/>
              </a:spcBef>
            </a:pPr>
            <a:r>
              <a:rPr lang="en-US" sz="2200" dirty="0">
                <a:solidFill>
                  <a:srgbClr val="252525"/>
                </a:solidFill>
                <a:latin typeface="Calibri"/>
              </a:rPr>
              <a:t>	In some cases, ease of access is balanced against the strictness of access checks. For example, the credit card network does </a:t>
            </a:r>
            <a:r>
              <a:rPr lang="en-US" sz="2200" dirty="0">
                <a:solidFill>
                  <a:srgbClr val="252525"/>
                </a:solidFill>
              </a:rPr>
              <a:t>not require a personal identification number, and small transactions usually do not even require a signature. The security of the system is maintained by limiting distribution of credit card numbers, and by the threat of punishment for fraud.</a:t>
            </a:r>
          </a:p>
          <a:p>
            <a:pPr algn="just">
              <a:lnSpc>
                <a:spcPts val="3024"/>
              </a:lnSpc>
              <a:spcBef>
                <a:spcPts val="3150"/>
              </a:spcBef>
            </a:pPr>
            <a:r>
              <a:rPr lang="en-US" sz="2200" b="1" dirty="0">
                <a:solidFill>
                  <a:srgbClr val="252525"/>
                </a:solidFill>
              </a:rPr>
              <a:t>Checkpoints</a:t>
            </a:r>
          </a:p>
          <a:p>
            <a:pPr indent="0" algn="just">
              <a:lnSpc>
                <a:spcPts val="3024"/>
              </a:lnSpc>
            </a:pPr>
            <a:r>
              <a:rPr lang="en-US" sz="2200" dirty="0">
                <a:solidFill>
                  <a:srgbClr val="252525"/>
                </a:solidFill>
              </a:rPr>
              <a:t>Session layer is responsible for creating several checkpoints, checkpoints are also treated as recovery points i.e. in case of failure the system rollback to its previous checkpoint configuration or action.</a:t>
            </a:r>
          </a:p>
          <a:p>
            <a:pPr algn="just">
              <a:lnSpc>
                <a:spcPts val="3048"/>
              </a:lnSpc>
              <a:spcBef>
                <a:spcPts val="3150"/>
              </a:spcBef>
            </a:pPr>
            <a:endParaRPr lang="en-US" sz="2200" dirty="0">
              <a:solidFill>
                <a:srgbClr val="252525"/>
              </a:solidFill>
            </a:endParaRPr>
          </a:p>
          <a:p>
            <a:pPr indent="0" algn="just">
              <a:lnSpc>
                <a:spcPts val="3048"/>
              </a:lnSpc>
              <a:spcBef>
                <a:spcPts val="3150"/>
              </a:spcBef>
            </a:pPr>
            <a:endParaRPr lang="en-US" sz="2200" dirty="0">
              <a:solidFill>
                <a:srgbClr val="252525"/>
              </a:solidFill>
              <a:latin typeface="Calibri"/>
            </a:endParaRPr>
          </a:p>
        </p:txBody>
      </p:sp>
      <p:sp>
        <p:nvSpPr>
          <p:cNvPr id="4" name="Date Placeholder 3"/>
          <p:cNvSpPr>
            <a:spLocks noGrp="1"/>
          </p:cNvSpPr>
          <p:nvPr>
            <p:ph type="dt" sz="half" idx="10"/>
          </p:nvPr>
        </p:nvSpPr>
        <p:spPr/>
        <p:txBody>
          <a:bodyPr/>
          <a:lstStyle/>
          <a:p>
            <a:fld id="{4879AC6C-E75F-4EBB-A57A-B6349FD42CBA}"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61</a:t>
            </a:fld>
            <a:endParaRPr lang="en-US"/>
          </a:p>
        </p:txBody>
      </p:sp>
      <p:sp>
        <p:nvSpPr>
          <p:cNvPr id="7"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69264"/>
            <a:ext cx="7979664" cy="4727448"/>
          </a:xfrm>
          <a:prstGeom prst="rect">
            <a:avLst/>
          </a:prstGeom>
        </p:spPr>
        <p:txBody>
          <a:bodyPr lIns="0" tIns="0" rIns="0" bIns="0">
            <a:noAutofit/>
          </a:bodyPr>
          <a:lstStyle/>
          <a:p>
            <a:pPr indent="0" algn="just">
              <a:spcAft>
                <a:spcPts val="840"/>
              </a:spcAft>
            </a:pPr>
            <a:r>
              <a:rPr lang="en-US" sz="2200" b="1" dirty="0">
                <a:latin typeface="Calibri"/>
              </a:rPr>
              <a:t>Remote Procedure Call (RPC)</a:t>
            </a:r>
          </a:p>
          <a:p>
            <a:pPr indent="469900" algn="just">
              <a:lnSpc>
                <a:spcPts val="3024"/>
              </a:lnSpc>
              <a:spcAft>
                <a:spcPts val="420"/>
              </a:spcAft>
            </a:pPr>
            <a:r>
              <a:rPr lang="en-US" sz="2200" dirty="0">
                <a:latin typeface="Calibri"/>
              </a:rPr>
              <a:t>Remote Procedure Call (RPC) provides a different paradigm for accessing network services. Instead of accessing remote services by sending and receiving messages, a client invokes services by making a local procedure call. The local procedure hides the details of the network communication. When making a remote procedure call:</a:t>
            </a:r>
          </a:p>
          <a:p>
            <a:pPr indent="469900" algn="just">
              <a:lnSpc>
                <a:spcPts val="3024"/>
              </a:lnSpc>
              <a:spcAft>
                <a:spcPts val="420"/>
              </a:spcAft>
            </a:pPr>
            <a:endParaRPr lang="en-US" sz="2200" dirty="0">
              <a:latin typeface="Calibri"/>
            </a:endParaRPr>
          </a:p>
          <a:p>
            <a:pPr marL="457200" indent="-457200" algn="just">
              <a:lnSpc>
                <a:spcPts val="3024"/>
              </a:lnSpc>
              <a:spcAft>
                <a:spcPts val="420"/>
              </a:spcAft>
              <a:buAutoNum type="arabicPeriod"/>
            </a:pPr>
            <a:r>
              <a:rPr lang="en-US" sz="2200" dirty="0">
                <a:latin typeface="Calibri"/>
              </a:rPr>
              <a:t>The calling environment is suspended, procedure parameters are transferred across the network to the environment where the procedure is to execute, and the procedure is executed there.</a:t>
            </a:r>
          </a:p>
          <a:p>
            <a:pPr marL="457200" indent="-457200" algn="just">
              <a:lnSpc>
                <a:spcPts val="3024"/>
              </a:lnSpc>
              <a:spcAft>
                <a:spcPts val="420"/>
              </a:spcAft>
              <a:buAutoNum type="arabicPeriod"/>
            </a:pPr>
            <a:endParaRPr lang="en-US" sz="2200" dirty="0">
              <a:latin typeface="Calibri"/>
            </a:endParaRPr>
          </a:p>
          <a:p>
            <a:pPr indent="0" algn="just">
              <a:lnSpc>
                <a:spcPts val="3000"/>
              </a:lnSpc>
            </a:pPr>
            <a:endParaRPr lang="en-US" sz="2200" dirty="0">
              <a:latin typeface="Calibri"/>
            </a:endParaRPr>
          </a:p>
        </p:txBody>
      </p:sp>
      <p:sp>
        <p:nvSpPr>
          <p:cNvPr id="3" name="Date Placeholder 2"/>
          <p:cNvSpPr>
            <a:spLocks noGrp="1"/>
          </p:cNvSpPr>
          <p:nvPr>
            <p:ph type="dt" sz="half" idx="10"/>
          </p:nvPr>
        </p:nvSpPr>
        <p:spPr/>
        <p:txBody>
          <a:bodyPr/>
          <a:lstStyle/>
          <a:p>
            <a:fld id="{3B50C280-8DCE-4BBB-8C76-0373191CE08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62</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2312"/>
            <a:ext cx="7982712" cy="4724400"/>
          </a:xfrm>
          <a:prstGeom prst="rect">
            <a:avLst/>
          </a:prstGeom>
        </p:spPr>
        <p:txBody>
          <a:bodyPr lIns="0" tIns="0" rIns="0" bIns="0">
            <a:noAutofit/>
          </a:bodyPr>
          <a:lstStyle/>
          <a:p>
            <a:pPr algn="just">
              <a:lnSpc>
                <a:spcPts val="3024"/>
              </a:lnSpc>
              <a:spcAft>
                <a:spcPts val="420"/>
              </a:spcAft>
            </a:pPr>
            <a:r>
              <a:rPr lang="en-US" sz="2200" dirty="0"/>
              <a:t>2.  When the procedure finishes and produces its results, its results are transferred back to the calling environment, where execution resumes as if returning from a regular procedure call. The main goal</a:t>
            </a:r>
          </a:p>
          <a:p>
            <a:pPr indent="0" algn="just">
              <a:lnSpc>
                <a:spcPts val="3024"/>
              </a:lnSpc>
              <a:spcAft>
                <a:spcPts val="420"/>
              </a:spcAft>
            </a:pPr>
            <a:r>
              <a:rPr lang="en-US" sz="2200" dirty="0">
                <a:latin typeface="Calibri"/>
              </a:rPr>
              <a:t>of RPC is to hide the existence of the network from a program. As a result, RPC doesn't quite fit into the OSI model:</a:t>
            </a:r>
          </a:p>
          <a:p>
            <a:pPr indent="0" algn="just">
              <a:lnSpc>
                <a:spcPts val="3024"/>
              </a:lnSpc>
              <a:spcAft>
                <a:spcPts val="420"/>
              </a:spcAft>
            </a:pPr>
            <a:r>
              <a:rPr lang="en-US" sz="2200" dirty="0">
                <a:latin typeface="Calibri"/>
              </a:rPr>
              <a:t>	The message-passing nature of network communication is hidden from the user. The user doesn't first open a connection, read and write data, and then close the connection. Indeed, a client often does not even know they are using the network!</a:t>
            </a:r>
          </a:p>
          <a:p>
            <a:pPr indent="0" algn="just">
              <a:lnSpc>
                <a:spcPts val="3024"/>
              </a:lnSpc>
              <a:spcAft>
                <a:spcPts val="420"/>
              </a:spcAft>
            </a:pPr>
            <a:endParaRPr lang="en-US" sz="2200" dirty="0">
              <a:latin typeface="Calibri"/>
            </a:endParaRPr>
          </a:p>
        </p:txBody>
      </p:sp>
      <p:sp>
        <p:nvSpPr>
          <p:cNvPr id="3" name="Date Placeholder 2"/>
          <p:cNvSpPr>
            <a:spLocks noGrp="1"/>
          </p:cNvSpPr>
          <p:nvPr>
            <p:ph type="dt" sz="half" idx="10"/>
          </p:nvPr>
        </p:nvSpPr>
        <p:spPr/>
        <p:txBody>
          <a:bodyPr/>
          <a:lstStyle/>
          <a:p>
            <a:fld id="{9B366D97-2495-4E49-9B46-E5E543E07DE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63</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2312"/>
            <a:ext cx="7967472" cy="673608"/>
          </a:xfrm>
          <a:prstGeom prst="rect">
            <a:avLst/>
          </a:prstGeom>
        </p:spPr>
        <p:txBody>
          <a:bodyPr lIns="0" tIns="0" rIns="0" bIns="0">
            <a:noAutofit/>
          </a:bodyPr>
          <a:lstStyle/>
          <a:p>
            <a:pPr indent="0" algn="just">
              <a:lnSpc>
                <a:spcPts val="3024"/>
              </a:lnSpc>
            </a:pPr>
            <a:r>
              <a:rPr lang="en-US" sz="2200" dirty="0"/>
              <a:t>3. RPC often omits many of the protocol layers to improve performance. Even a small performance improvement is important because a program may invoke RPCs often. RPC is especially well suited for client-server (e.g., query-response) interaction in which the flow of control alternates between the caller and </a:t>
            </a:r>
            <a:r>
              <a:rPr lang="en-US" sz="2200" dirty="0" err="1"/>
              <a:t>callee</a:t>
            </a:r>
            <a:r>
              <a:rPr lang="en-US" sz="2200" dirty="0"/>
              <a:t>. Conceptually, the client and server do not both execute at the </a:t>
            </a:r>
            <a:r>
              <a:rPr lang="en-US" sz="2200" dirty="0" err="1"/>
              <a:t>sametime</a:t>
            </a:r>
            <a:r>
              <a:rPr lang="en-US" sz="2200" dirty="0"/>
              <a:t>. Instead, the thread of execution jumps from the caller to the </a:t>
            </a:r>
            <a:r>
              <a:rPr lang="en-US" sz="2200" dirty="0" err="1"/>
              <a:t>callee</a:t>
            </a:r>
            <a:r>
              <a:rPr lang="en-US" sz="2200" dirty="0"/>
              <a:t> and then back again.</a:t>
            </a:r>
          </a:p>
        </p:txBody>
      </p:sp>
      <p:sp>
        <p:nvSpPr>
          <p:cNvPr id="3" name="Date Placeholder 2"/>
          <p:cNvSpPr>
            <a:spLocks noGrp="1"/>
          </p:cNvSpPr>
          <p:nvPr>
            <p:ph type="dt" sz="half" idx="10"/>
          </p:nvPr>
        </p:nvSpPr>
        <p:spPr/>
        <p:txBody>
          <a:bodyPr/>
          <a:lstStyle/>
          <a:p>
            <a:fld id="{093C0468-45ED-46CF-88B3-2F959000677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64</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202168" cy="4538472"/>
          </a:xfrm>
          <a:prstGeom prst="rect">
            <a:avLst/>
          </a:prstGeom>
        </p:spPr>
        <p:txBody>
          <a:bodyPr lIns="0" tIns="0" rIns="0" bIns="0">
            <a:noAutofit/>
          </a:bodyPr>
          <a:lstStyle/>
          <a:p>
            <a:pPr indent="0">
              <a:spcAft>
                <a:spcPts val="1470"/>
              </a:spcAft>
            </a:pPr>
            <a:r>
              <a:rPr lang="en-US" sz="2200" dirty="0">
                <a:latin typeface="Calibri"/>
              </a:rPr>
              <a:t>• </a:t>
            </a:r>
            <a:r>
              <a:rPr lang="en-US" sz="2200" b="1" dirty="0">
                <a:latin typeface="Calibri"/>
              </a:rPr>
              <a:t>Steps involved during RPC:</a:t>
            </a:r>
          </a:p>
          <a:p>
            <a:pPr marL="685800" indent="0">
              <a:spcAft>
                <a:spcPts val="1470"/>
              </a:spcAft>
            </a:pPr>
            <a:r>
              <a:rPr lang="en-US" sz="2200" dirty="0">
                <a:latin typeface="Calibri"/>
              </a:rPr>
              <a:t>The following steps take place during an RPC:</a:t>
            </a:r>
          </a:p>
          <a:p>
            <a:pPr marL="254000" indent="0" algn="just">
              <a:lnSpc>
                <a:spcPts val="3024"/>
              </a:lnSpc>
              <a:spcAft>
                <a:spcPts val="420"/>
              </a:spcAft>
            </a:pPr>
            <a:r>
              <a:rPr lang="en-US" sz="2200" dirty="0">
                <a:latin typeface="Calibri"/>
              </a:rPr>
              <a:t>1. A client invokes a client stub procedure, passing parameters in the usual way. The client stub resides within the client's own address space.</a:t>
            </a:r>
          </a:p>
          <a:p>
            <a:pPr marL="254000" indent="0" algn="just">
              <a:lnSpc>
                <a:spcPts val="3024"/>
              </a:lnSpc>
              <a:spcAft>
                <a:spcPts val="420"/>
              </a:spcAft>
            </a:pPr>
            <a:r>
              <a:rPr lang="en-US" sz="2200" dirty="0">
                <a:latin typeface="Calibri"/>
              </a:rPr>
              <a:t>2. The client stub </a:t>
            </a:r>
            <a:r>
              <a:rPr lang="en-US" sz="2200" dirty="0" err="1">
                <a:latin typeface="Calibri"/>
              </a:rPr>
              <a:t>marshalls</a:t>
            </a:r>
            <a:r>
              <a:rPr lang="en-US" sz="2200" dirty="0">
                <a:latin typeface="Calibri"/>
              </a:rPr>
              <a:t> the parameters into a message. Marshalling includes converting the representation of the parameters into a standard format, and copying each parameter into the message.</a:t>
            </a:r>
          </a:p>
          <a:p>
            <a:pPr marL="254000" indent="0" algn="just">
              <a:lnSpc>
                <a:spcPts val="3048"/>
              </a:lnSpc>
            </a:pPr>
            <a:r>
              <a:rPr lang="en-US" sz="2200" dirty="0">
                <a:latin typeface="Calibri"/>
              </a:rPr>
              <a:t>3. The client stub passes the message to the transport layer, which sends it to the remote server machine.</a:t>
            </a:r>
          </a:p>
        </p:txBody>
      </p:sp>
      <p:sp>
        <p:nvSpPr>
          <p:cNvPr id="3" name="Date Placeholder 2"/>
          <p:cNvSpPr>
            <a:spLocks noGrp="1"/>
          </p:cNvSpPr>
          <p:nvPr>
            <p:ph type="dt" sz="half" idx="10"/>
          </p:nvPr>
        </p:nvSpPr>
        <p:spPr/>
        <p:txBody>
          <a:bodyPr/>
          <a:lstStyle/>
          <a:p>
            <a:fld id="{A36079D0-FAA5-4B77-B278-F1687459EEDF}"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65</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5360"/>
            <a:ext cx="7982712" cy="4389120"/>
          </a:xfrm>
          <a:prstGeom prst="rect">
            <a:avLst/>
          </a:prstGeom>
        </p:spPr>
        <p:txBody>
          <a:bodyPr lIns="0" tIns="0" rIns="0" bIns="0">
            <a:noAutofit/>
          </a:bodyPr>
          <a:lstStyle/>
          <a:p>
            <a:pPr indent="0" algn="just">
              <a:lnSpc>
                <a:spcPts val="3024"/>
              </a:lnSpc>
              <a:spcAft>
                <a:spcPts val="420"/>
              </a:spcAft>
            </a:pPr>
            <a:r>
              <a:rPr lang="en-US" sz="2200" dirty="0">
                <a:latin typeface="Calibri"/>
              </a:rPr>
              <a:t>4. On the server, the transport layer passes the message to a server stub, which </a:t>
            </a:r>
            <a:r>
              <a:rPr lang="en-US" sz="2200" dirty="0" err="1">
                <a:latin typeface="Calibri"/>
              </a:rPr>
              <a:t>demarshalls</a:t>
            </a:r>
            <a:r>
              <a:rPr lang="en-US" sz="2200" dirty="0">
                <a:latin typeface="Calibri"/>
              </a:rPr>
              <a:t> the parameters and calls the desired server routine using the regular procedure call mechanism.</a:t>
            </a:r>
          </a:p>
          <a:p>
            <a:pPr indent="0" algn="just">
              <a:lnSpc>
                <a:spcPts val="3024"/>
              </a:lnSpc>
              <a:spcAft>
                <a:spcPts val="420"/>
              </a:spcAft>
            </a:pPr>
            <a:r>
              <a:rPr lang="en-US" sz="2200" dirty="0">
                <a:latin typeface="Calibri"/>
              </a:rPr>
              <a:t>5.  When the server procedure completes, it returns to the server stub (e.g., via a normal procedure call return), which </a:t>
            </a:r>
            <a:r>
              <a:rPr lang="en-US" sz="2200" dirty="0" err="1">
                <a:latin typeface="Calibri"/>
              </a:rPr>
              <a:t>marshalls</a:t>
            </a:r>
            <a:r>
              <a:rPr lang="en-US" sz="2200" dirty="0">
                <a:latin typeface="Calibri"/>
              </a:rPr>
              <a:t> the return values into a message. The server stub then hands the message to the transport layer.</a:t>
            </a:r>
          </a:p>
          <a:p>
            <a:pPr indent="0" algn="just">
              <a:lnSpc>
                <a:spcPts val="3024"/>
              </a:lnSpc>
              <a:spcAft>
                <a:spcPts val="420"/>
              </a:spcAft>
            </a:pPr>
            <a:r>
              <a:rPr lang="en-US" sz="2200" dirty="0">
                <a:latin typeface="Calibri"/>
              </a:rPr>
              <a:t>6. The transport layer sends the result message back to the client transport layer, which hands the message back to the client stub.</a:t>
            </a:r>
          </a:p>
          <a:p>
            <a:pPr indent="0" algn="just">
              <a:lnSpc>
                <a:spcPts val="3000"/>
              </a:lnSpc>
            </a:pPr>
            <a:r>
              <a:rPr lang="en-US" sz="2200" dirty="0">
                <a:latin typeface="Calibri"/>
              </a:rPr>
              <a:t>7.  The client stub de-</a:t>
            </a:r>
            <a:r>
              <a:rPr lang="en-US" sz="2200" dirty="0" err="1">
                <a:latin typeface="Calibri"/>
              </a:rPr>
              <a:t>marshalls</a:t>
            </a:r>
            <a:r>
              <a:rPr lang="en-US" sz="2200" dirty="0">
                <a:latin typeface="Calibri"/>
              </a:rPr>
              <a:t> the return parameters and execution returns to the caller.</a:t>
            </a:r>
          </a:p>
        </p:txBody>
      </p:sp>
      <p:sp>
        <p:nvSpPr>
          <p:cNvPr id="3" name="Date Placeholder 2"/>
          <p:cNvSpPr>
            <a:spLocks noGrp="1"/>
          </p:cNvSpPr>
          <p:nvPr>
            <p:ph type="dt" sz="half" idx="10"/>
          </p:nvPr>
        </p:nvSpPr>
        <p:spPr/>
        <p:txBody>
          <a:bodyPr/>
          <a:lstStyle/>
          <a:p>
            <a:fld id="{45B9BDD7-5632-4108-B448-8EAD5FB80B0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66</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6824" y="990600"/>
            <a:ext cx="8205216" cy="4303776"/>
          </a:xfrm>
          <a:prstGeom prst="rect">
            <a:avLst/>
          </a:prstGeom>
        </p:spPr>
        <p:txBody>
          <a:bodyPr lIns="0" tIns="0" rIns="0" bIns="0">
            <a:noAutofit/>
          </a:bodyPr>
          <a:lstStyle/>
          <a:p>
            <a:pPr indent="0">
              <a:spcAft>
                <a:spcPts val="1680"/>
              </a:spcAft>
            </a:pPr>
            <a:r>
              <a:rPr lang="en-US" sz="2200" b="1" dirty="0">
                <a:latin typeface="Calibri"/>
              </a:rPr>
              <a:t>• RPC Issues that must be addressed:</a:t>
            </a:r>
          </a:p>
          <a:p>
            <a:pPr marL="254000" indent="0" algn="just">
              <a:lnSpc>
                <a:spcPts val="3000"/>
              </a:lnSpc>
              <a:spcAft>
                <a:spcPts val="420"/>
              </a:spcAft>
            </a:pPr>
            <a:r>
              <a:rPr lang="en-US" sz="2200" b="1" dirty="0">
                <a:latin typeface="Calibri"/>
              </a:rPr>
              <a:t>Marshalling: </a:t>
            </a:r>
            <a:r>
              <a:rPr lang="en-US" sz="2200" dirty="0">
                <a:latin typeface="Calibri"/>
              </a:rPr>
              <a:t>Parameters must be marshalled into a standard representation.</a:t>
            </a:r>
          </a:p>
          <a:p>
            <a:pPr marL="254000" indent="0" algn="just">
              <a:lnSpc>
                <a:spcPts val="3000"/>
              </a:lnSpc>
              <a:spcAft>
                <a:spcPts val="420"/>
              </a:spcAft>
            </a:pPr>
            <a:endParaRPr lang="en-US" sz="2200" dirty="0">
              <a:latin typeface="Calibri"/>
            </a:endParaRPr>
          </a:p>
          <a:p>
            <a:pPr marL="254000" indent="0" algn="just">
              <a:lnSpc>
                <a:spcPts val="3024"/>
              </a:lnSpc>
              <a:spcAft>
                <a:spcPts val="420"/>
              </a:spcAft>
            </a:pPr>
            <a:r>
              <a:rPr lang="en-US" sz="2200" b="1" dirty="0">
                <a:latin typeface="Calibri"/>
              </a:rPr>
              <a:t>Semantics: </a:t>
            </a:r>
            <a:r>
              <a:rPr lang="en-US" sz="2200" dirty="0">
                <a:latin typeface="Calibri"/>
              </a:rPr>
              <a:t>Call-by-reference not possible: the client and server don't share an address space. That is, addresses referenced by the server correspond to data residing in the client's address space.</a:t>
            </a:r>
          </a:p>
          <a:p>
            <a:pPr marL="254000" indent="0" algn="just">
              <a:lnSpc>
                <a:spcPts val="3024"/>
              </a:lnSpc>
              <a:spcAft>
                <a:spcPts val="420"/>
              </a:spcAft>
            </a:pPr>
            <a:endParaRPr lang="en-US" sz="2200" dirty="0">
              <a:latin typeface="Calibri"/>
            </a:endParaRPr>
          </a:p>
          <a:p>
            <a:pPr marL="254000" indent="0" algn="just">
              <a:lnSpc>
                <a:spcPts val="3024"/>
              </a:lnSpc>
              <a:spcAft>
                <a:spcPts val="420"/>
              </a:spcAft>
            </a:pPr>
            <a:r>
              <a:rPr lang="en-US" sz="2200" b="1" dirty="0">
                <a:latin typeface="Calibri"/>
              </a:rPr>
              <a:t>Binding: </a:t>
            </a:r>
            <a:r>
              <a:rPr lang="en-US" sz="2200" dirty="0">
                <a:latin typeface="Calibri"/>
              </a:rPr>
              <a:t>How does the client know who to call, and where the service resides?</a:t>
            </a:r>
          </a:p>
          <a:p>
            <a:pPr marL="254000" indent="0">
              <a:lnSpc>
                <a:spcPts val="3816"/>
              </a:lnSpc>
            </a:pPr>
            <a:r>
              <a:rPr lang="en-US" sz="2200" b="1" dirty="0">
                <a:latin typeface="Calibri"/>
              </a:rPr>
              <a:t>Transport protocol: </a:t>
            </a:r>
            <a:r>
              <a:rPr lang="en-US" sz="2200" dirty="0">
                <a:latin typeface="Calibri"/>
              </a:rPr>
              <a:t>What transport protocol should be used? Exception handling: How are errors handled?</a:t>
            </a:r>
          </a:p>
        </p:txBody>
      </p:sp>
      <p:sp>
        <p:nvSpPr>
          <p:cNvPr id="3" name="Date Placeholder 2"/>
          <p:cNvSpPr>
            <a:spLocks noGrp="1"/>
          </p:cNvSpPr>
          <p:nvPr>
            <p:ph type="dt" sz="half" idx="10"/>
          </p:nvPr>
        </p:nvSpPr>
        <p:spPr/>
        <p:txBody>
          <a:bodyPr/>
          <a:lstStyle/>
          <a:p>
            <a:fld id="{73A868B1-6C8D-46D9-B7A5-E57EA87DA54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67</a:t>
            </a:fld>
            <a:endParaRPr lang="en-US"/>
          </a:p>
        </p:txBody>
      </p:sp>
      <p:sp>
        <p:nvSpPr>
          <p:cNvPr id="6" name="Title 1"/>
          <p:cNvSpPr>
            <a:spLocks noGrp="1"/>
          </p:cNvSpPr>
          <p:nvPr>
            <p:ph type="title"/>
          </p:nvPr>
        </p:nvSpPr>
        <p:spPr>
          <a:xfrm>
            <a:off x="1370862" y="0"/>
            <a:ext cx="7773138" cy="457200"/>
          </a:xfrm>
        </p:spPr>
        <p:txBody>
          <a:bodyPr>
            <a:normAutofit fontScale="90000"/>
          </a:bodyPr>
          <a:lstStyle/>
          <a:p>
            <a:r>
              <a:rPr lang="en-US" dirty="0"/>
              <a:t>Session LAYER</a:t>
            </a:r>
          </a:p>
        </p:txBody>
      </p:sp>
    </p:spTree>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128" y="984504"/>
            <a:ext cx="8436864" cy="5279136"/>
          </a:xfrm>
          <a:prstGeom prst="rect">
            <a:avLst/>
          </a:prstGeom>
        </p:spPr>
        <p:txBody>
          <a:bodyPr lIns="0" tIns="0" rIns="0" bIns="0">
            <a:noAutofit/>
          </a:bodyPr>
          <a:lstStyle/>
          <a:p>
            <a:pPr algn="just">
              <a:lnSpc>
                <a:spcPts val="3024"/>
              </a:lnSpc>
            </a:pPr>
            <a:r>
              <a:rPr lang="en-US" sz="2200" dirty="0">
                <a:latin typeface="Calibri"/>
              </a:rPr>
              <a:t>Topic Objective</a:t>
            </a:r>
          </a:p>
          <a:p>
            <a:pPr marL="342900" indent="-342900" algn="just">
              <a:lnSpc>
                <a:spcPts val="3024"/>
              </a:lnSpc>
              <a:buFont typeface="Arial" panose="020B0604020202020204" pitchFamily="34" charset="0"/>
              <a:buChar char="•"/>
            </a:pPr>
            <a:r>
              <a:rPr lang="en-US" sz="2200" dirty="0">
                <a:latin typeface="Calibri"/>
              </a:rPr>
              <a:t>The student will be able to understand the design issue and Functions of Presentation layer</a:t>
            </a:r>
          </a:p>
          <a:p>
            <a:pPr marL="342900" indent="-342900" algn="just">
              <a:lnSpc>
                <a:spcPts val="3024"/>
              </a:lnSpc>
              <a:buFont typeface="Arial" panose="020B0604020202020204" pitchFamily="34" charset="0"/>
              <a:buChar char="•"/>
            </a:pPr>
            <a:r>
              <a:rPr lang="en-US" sz="2200" dirty="0">
                <a:latin typeface="Calibri"/>
              </a:rPr>
              <a:t>Understand the various data compression techniques</a:t>
            </a:r>
          </a:p>
          <a:p>
            <a:pPr marL="342900" indent="-342900" algn="just">
              <a:lnSpc>
                <a:spcPts val="3024"/>
              </a:lnSpc>
              <a:buFont typeface="Arial" panose="020B0604020202020204" pitchFamily="34" charset="0"/>
              <a:buChar char="•"/>
            </a:pPr>
            <a:endParaRPr lang="en-US" sz="2200" dirty="0">
              <a:latin typeface="Calibri"/>
            </a:endParaRPr>
          </a:p>
          <a:p>
            <a:pPr algn="just">
              <a:lnSpc>
                <a:spcPts val="3024"/>
              </a:lnSpc>
            </a:pPr>
            <a:r>
              <a:rPr lang="en-US" sz="2200" dirty="0">
                <a:latin typeface="Calibri"/>
              </a:rPr>
              <a:t>Recap of Previous topic</a:t>
            </a:r>
          </a:p>
          <a:p>
            <a:pPr marL="342900" indent="-342900" algn="just">
              <a:lnSpc>
                <a:spcPts val="3024"/>
              </a:lnSpc>
              <a:buFont typeface="Arial" panose="020B0604020202020204" pitchFamily="34" charset="0"/>
              <a:buChar char="•"/>
            </a:pPr>
            <a:r>
              <a:rPr lang="en-US" sz="2200" dirty="0">
                <a:latin typeface="Calibri"/>
              </a:rPr>
              <a:t>Session layer being the fifth layer of OSI model</a:t>
            </a:r>
          </a:p>
          <a:p>
            <a:pPr marL="342900" indent="-342900" algn="just">
              <a:lnSpc>
                <a:spcPts val="3024"/>
              </a:lnSpc>
              <a:buFont typeface="Arial" panose="020B0604020202020204" pitchFamily="34" charset="0"/>
              <a:buChar char="•"/>
            </a:pPr>
            <a:r>
              <a:rPr lang="en-US" sz="2200" dirty="0">
                <a:latin typeface="Calibri"/>
              </a:rPr>
              <a:t>Supports the access management and communication</a:t>
            </a:r>
          </a:p>
          <a:p>
            <a:pPr marL="342900" indent="-342900" algn="just">
              <a:lnSpc>
                <a:spcPts val="3024"/>
              </a:lnSpc>
              <a:buFont typeface="Arial" panose="020B0604020202020204" pitchFamily="34" charset="0"/>
              <a:buChar char="•"/>
            </a:pPr>
            <a:r>
              <a:rPr lang="en-US" sz="2200" dirty="0">
                <a:latin typeface="Calibri"/>
              </a:rPr>
              <a:t>RPC being one of the ways to maintain remote location access</a:t>
            </a:r>
          </a:p>
        </p:txBody>
      </p:sp>
      <p:sp>
        <p:nvSpPr>
          <p:cNvPr id="3" name="Date Placeholder 2"/>
          <p:cNvSpPr>
            <a:spLocks noGrp="1"/>
          </p:cNvSpPr>
          <p:nvPr>
            <p:ph type="dt" sz="half" idx="10"/>
          </p:nvPr>
        </p:nvSpPr>
        <p:spPr/>
        <p:txBody>
          <a:bodyPr/>
          <a:lstStyle/>
          <a:p>
            <a:fld id="{83303AFB-774C-438A-B00D-C63B1C4DEBD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68</a:t>
            </a:fld>
            <a:endParaRPr lang="en-US"/>
          </a:p>
        </p:txBody>
      </p:sp>
      <p:sp>
        <p:nvSpPr>
          <p:cNvPr id="6" name="Title 1"/>
          <p:cNvSpPr>
            <a:spLocks noGrp="1"/>
          </p:cNvSpPr>
          <p:nvPr>
            <p:ph type="title"/>
          </p:nvPr>
        </p:nvSpPr>
        <p:spPr>
          <a:xfrm>
            <a:off x="1370862" y="0"/>
            <a:ext cx="7773138" cy="512618"/>
          </a:xfrm>
        </p:spPr>
        <p:txBody>
          <a:bodyPr>
            <a:normAutofit/>
          </a:bodyPr>
          <a:lstStyle/>
          <a:p>
            <a:r>
              <a:rPr lang="en-US" b="1" dirty="0"/>
              <a:t>Presentation LAYER(CO1)</a:t>
            </a:r>
            <a:endParaRPr lang="en-US" dirty="0"/>
          </a:p>
        </p:txBody>
      </p:sp>
    </p:spTree>
    <p:extLst>
      <p:ext uri="{BB962C8B-B14F-4D97-AF65-F5344CB8AC3E}">
        <p14:creationId xmlns:p14="http://schemas.microsoft.com/office/powerpoint/2010/main" val="10190191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99744"/>
            <a:ext cx="8442960" cy="271272"/>
          </a:xfrm>
          <a:prstGeom prst="rect">
            <a:avLst/>
          </a:prstGeom>
        </p:spPr>
        <p:txBody>
          <a:bodyPr wrap="none" lIns="0" tIns="0" rIns="0" bIns="0">
            <a:noAutofit/>
          </a:bodyPr>
          <a:lstStyle/>
          <a:p>
            <a:pPr marL="495300" indent="0"/>
            <a:endParaRPr lang="en-US" sz="2300" b="1" spc="-50" dirty="0">
              <a:latin typeface="Calibri"/>
            </a:endParaRPr>
          </a:p>
        </p:txBody>
      </p:sp>
      <p:sp>
        <p:nvSpPr>
          <p:cNvPr id="3" name="Rectangle 2"/>
          <p:cNvSpPr/>
          <p:nvPr/>
        </p:nvSpPr>
        <p:spPr>
          <a:xfrm>
            <a:off x="262128" y="1417320"/>
            <a:ext cx="8442960" cy="4288536"/>
          </a:xfrm>
          <a:prstGeom prst="rect">
            <a:avLst/>
          </a:prstGeom>
        </p:spPr>
        <p:txBody>
          <a:bodyPr lIns="0" tIns="0" rIns="0" bIns="0">
            <a:noAutofit/>
          </a:bodyPr>
          <a:lstStyle/>
          <a:p>
            <a:pPr indent="469900" algn="just">
              <a:lnSpc>
                <a:spcPts val="2784"/>
              </a:lnSpc>
              <a:spcAft>
                <a:spcPts val="420"/>
              </a:spcAft>
            </a:pPr>
            <a:r>
              <a:rPr lang="en-US" sz="2200" dirty="0">
                <a:latin typeface="Calibri"/>
              </a:rPr>
              <a:t>The primary goal of this layer is to take care of the syntax and semantics of the information exchanged between two communicating systems. </a:t>
            </a:r>
          </a:p>
          <a:p>
            <a:pPr indent="469900" algn="just">
              <a:lnSpc>
                <a:spcPts val="2784"/>
              </a:lnSpc>
              <a:spcAft>
                <a:spcPts val="420"/>
              </a:spcAft>
            </a:pPr>
            <a:r>
              <a:rPr lang="en-US" sz="2200" dirty="0">
                <a:latin typeface="Calibri"/>
              </a:rPr>
              <a:t>Presentation layer takes care that the data is sent in such a way that the receiver will understand the information(data) and will be able to use the data. </a:t>
            </a:r>
          </a:p>
          <a:p>
            <a:pPr indent="469900" algn="just">
              <a:lnSpc>
                <a:spcPts val="2784"/>
              </a:lnSpc>
              <a:spcAft>
                <a:spcPts val="420"/>
              </a:spcAft>
            </a:pPr>
            <a:r>
              <a:rPr lang="en-US" sz="2200" dirty="0">
                <a:latin typeface="Calibri"/>
              </a:rPr>
              <a:t>Languages (syntax) can be different of the two communicating systems. Under this condition presentation layer plays a role translator.</a:t>
            </a:r>
          </a:p>
          <a:p>
            <a:pPr indent="469900" algn="just">
              <a:lnSpc>
                <a:spcPts val="2784"/>
              </a:lnSpc>
              <a:spcAft>
                <a:spcPts val="420"/>
              </a:spcAft>
            </a:pPr>
            <a:endParaRPr lang="en-US" sz="2200" dirty="0">
              <a:latin typeface="Calibri"/>
            </a:endParaRPr>
          </a:p>
        </p:txBody>
      </p:sp>
      <p:sp>
        <p:nvSpPr>
          <p:cNvPr id="4" name="Date Placeholder 3"/>
          <p:cNvSpPr>
            <a:spLocks noGrp="1"/>
          </p:cNvSpPr>
          <p:nvPr>
            <p:ph type="dt" sz="half" idx="10"/>
          </p:nvPr>
        </p:nvSpPr>
        <p:spPr/>
        <p:txBody>
          <a:bodyPr/>
          <a:lstStyle/>
          <a:p>
            <a:fld id="{A3C7EF25-51F6-4662-BCC4-992BB1840058}"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69</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Model(CO1)</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4568" y="972312"/>
            <a:ext cx="7973568" cy="274320"/>
          </a:xfrm>
          <a:prstGeom prst="rect">
            <a:avLst/>
          </a:prstGeom>
        </p:spPr>
        <p:txBody>
          <a:bodyPr wrap="none" lIns="0" tIns="0" rIns="0" bIns="0">
            <a:noAutofit/>
          </a:bodyPr>
          <a:lstStyle/>
          <a:p>
            <a:pPr indent="0"/>
            <a:r>
              <a:rPr lang="en-US" sz="2300" b="1" spc="-50">
                <a:latin typeface="Calibri"/>
              </a:rPr>
              <a:t>Functions of Presentation Layer</a:t>
            </a:r>
          </a:p>
        </p:txBody>
      </p:sp>
      <p:sp>
        <p:nvSpPr>
          <p:cNvPr id="3" name="Rectangle 2"/>
          <p:cNvSpPr/>
          <p:nvPr/>
        </p:nvSpPr>
        <p:spPr>
          <a:xfrm>
            <a:off x="734568" y="1527048"/>
            <a:ext cx="7973568" cy="4806696"/>
          </a:xfrm>
          <a:prstGeom prst="rect">
            <a:avLst/>
          </a:prstGeom>
        </p:spPr>
        <p:txBody>
          <a:bodyPr lIns="0" tIns="0" rIns="0" bIns="0">
            <a:noAutofit/>
          </a:bodyPr>
          <a:lstStyle/>
          <a:p>
            <a:pPr marL="254508" indent="-228600" algn="just">
              <a:lnSpc>
                <a:spcPts val="2808"/>
              </a:lnSpc>
              <a:spcAft>
                <a:spcPts val="630"/>
              </a:spcAft>
            </a:pPr>
            <a:r>
              <a:rPr lang="en-US" sz="2200" dirty="0">
                <a:latin typeface="Calibri"/>
              </a:rPr>
              <a:t>1. </a:t>
            </a:r>
            <a:r>
              <a:rPr lang="en-US" sz="2200" b="1" dirty="0">
                <a:latin typeface="Calibri"/>
              </a:rPr>
              <a:t>Translation: </a:t>
            </a:r>
            <a:r>
              <a:rPr lang="en-US" sz="2200" dirty="0">
                <a:latin typeface="Calibri"/>
              </a:rPr>
              <a:t>Before being transmitted, information in the form of characters and numbers should be changed to bit streams. The presentation layer is responsible for interoperability between encoding methods as different computers use different encoding methods. It translates data between the formats the network requires and the format the computer.</a:t>
            </a:r>
          </a:p>
          <a:p>
            <a:pPr marL="254508" indent="-228600" algn="just">
              <a:lnSpc>
                <a:spcPts val="2832"/>
              </a:lnSpc>
              <a:spcAft>
                <a:spcPts val="630"/>
              </a:spcAft>
            </a:pPr>
            <a:r>
              <a:rPr lang="en-US" sz="2200" dirty="0">
                <a:latin typeface="Calibri"/>
              </a:rPr>
              <a:t>2. </a:t>
            </a:r>
            <a:r>
              <a:rPr lang="en-US" sz="2200" b="1" dirty="0">
                <a:latin typeface="Calibri"/>
              </a:rPr>
              <a:t>Encryption: </a:t>
            </a:r>
            <a:r>
              <a:rPr lang="en-US" sz="2200" dirty="0">
                <a:latin typeface="Calibri"/>
              </a:rPr>
              <a:t>It carries out encryption at the transmitter and decryption at the receiver.</a:t>
            </a:r>
          </a:p>
          <a:p>
            <a:pPr marL="254508" indent="-228600" algn="just">
              <a:lnSpc>
                <a:spcPts val="2808"/>
              </a:lnSpc>
            </a:pPr>
            <a:r>
              <a:rPr lang="en-US" sz="2200" dirty="0">
                <a:latin typeface="Calibri"/>
              </a:rPr>
              <a:t>3. </a:t>
            </a:r>
            <a:r>
              <a:rPr lang="en-US" sz="2200" b="1" dirty="0">
                <a:latin typeface="Calibri"/>
              </a:rPr>
              <a:t>Compression: </a:t>
            </a:r>
            <a:r>
              <a:rPr lang="en-US" sz="2200" dirty="0">
                <a:latin typeface="Calibri"/>
              </a:rPr>
              <a:t>It carries out data compression to reduce the bandwidth of the data to be transmitted. The primary role of Data compression is to reduce the number of bits to be transmitted. It is important in transmitting multimedia such as audio, video, text etc.</a:t>
            </a:r>
          </a:p>
        </p:txBody>
      </p:sp>
      <p:sp>
        <p:nvSpPr>
          <p:cNvPr id="4" name="Date Placeholder 3"/>
          <p:cNvSpPr>
            <a:spLocks noGrp="1"/>
          </p:cNvSpPr>
          <p:nvPr>
            <p:ph type="dt" sz="half" idx="10"/>
          </p:nvPr>
        </p:nvSpPr>
        <p:spPr/>
        <p:txBody>
          <a:bodyPr/>
          <a:lstStyle/>
          <a:p>
            <a:fld id="{C7E6BEB9-5A8E-4273-9C1F-E772B4E6BF58}"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70</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8472" y="975360"/>
            <a:ext cx="7964424" cy="271272"/>
          </a:xfrm>
          <a:prstGeom prst="rect">
            <a:avLst/>
          </a:prstGeom>
        </p:spPr>
        <p:txBody>
          <a:bodyPr wrap="none" lIns="0" tIns="0" rIns="0" bIns="0">
            <a:noAutofit/>
          </a:bodyPr>
          <a:lstStyle/>
          <a:p>
            <a:pPr indent="0"/>
            <a:r>
              <a:rPr lang="en-US" sz="2300" b="1" spc="-50">
                <a:latin typeface="Calibri"/>
              </a:rPr>
              <a:t>Design Issues with Presentation Layer</a:t>
            </a:r>
          </a:p>
        </p:txBody>
      </p:sp>
      <p:sp>
        <p:nvSpPr>
          <p:cNvPr id="3" name="Rectangle 2"/>
          <p:cNvSpPr/>
          <p:nvPr/>
        </p:nvSpPr>
        <p:spPr>
          <a:xfrm>
            <a:off x="728472" y="1551432"/>
            <a:ext cx="7964424" cy="1700784"/>
          </a:xfrm>
          <a:prstGeom prst="rect">
            <a:avLst/>
          </a:prstGeom>
        </p:spPr>
        <p:txBody>
          <a:bodyPr lIns="0" tIns="0" rIns="0" bIns="0">
            <a:noAutofit/>
          </a:bodyPr>
          <a:lstStyle/>
          <a:p>
            <a:pPr marL="260604" indent="-241300">
              <a:lnSpc>
                <a:spcPts val="2808"/>
              </a:lnSpc>
            </a:pPr>
            <a:r>
              <a:rPr lang="en-US" sz="2200">
                <a:latin typeface="Calibri"/>
              </a:rPr>
              <a:t>. To manage and maintain the Syntax and Semantics of the information transmitted.</a:t>
            </a:r>
          </a:p>
          <a:p>
            <a:pPr marL="260604" indent="-241300">
              <a:lnSpc>
                <a:spcPts val="2808"/>
              </a:lnSpc>
            </a:pPr>
            <a:r>
              <a:rPr lang="en-US" sz="2200">
                <a:latin typeface="Calibri"/>
              </a:rPr>
              <a:t>. Encoding data in a standard agreed upon way. Eg: String, double, date, etc.</a:t>
            </a:r>
          </a:p>
          <a:p>
            <a:pPr marL="260604" indent="-241300">
              <a:lnSpc>
                <a:spcPts val="2808"/>
              </a:lnSpc>
            </a:pPr>
            <a:r>
              <a:rPr lang="en-US" sz="2200">
                <a:latin typeface="Calibri"/>
              </a:rPr>
              <a:t>. Perform Standard Encoding on wire.</a:t>
            </a:r>
          </a:p>
        </p:txBody>
      </p:sp>
      <p:sp>
        <p:nvSpPr>
          <p:cNvPr id="4" name="Date Placeholder 3"/>
          <p:cNvSpPr>
            <a:spLocks noGrp="1"/>
          </p:cNvSpPr>
          <p:nvPr>
            <p:ph type="dt" sz="half" idx="10"/>
          </p:nvPr>
        </p:nvSpPr>
        <p:spPr/>
        <p:txBody>
          <a:bodyPr/>
          <a:lstStyle/>
          <a:p>
            <a:fld id="{F1C16DD7-C3C1-4DD7-9F50-F8EF2648FB8F}"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71</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8472" y="1013460"/>
            <a:ext cx="7315200" cy="1642872"/>
          </a:xfrm>
          <a:prstGeom prst="rect">
            <a:avLst/>
          </a:prstGeom>
        </p:spPr>
        <p:txBody>
          <a:bodyPr lIns="0" tIns="0" rIns="0" bIns="0">
            <a:noAutofit/>
          </a:bodyPr>
          <a:lstStyle/>
          <a:p>
            <a:pPr indent="0" algn="just">
              <a:spcAft>
                <a:spcPts val="840"/>
              </a:spcAft>
            </a:pPr>
            <a:r>
              <a:rPr lang="en-US" sz="2200" b="1" dirty="0">
                <a:latin typeface="Calibri"/>
              </a:rPr>
              <a:t>Data compression techniques</a:t>
            </a:r>
          </a:p>
          <a:p>
            <a:pPr indent="0" algn="just">
              <a:lnSpc>
                <a:spcPts val="3840"/>
              </a:lnSpc>
            </a:pPr>
            <a:r>
              <a:rPr lang="en-US" sz="2200" dirty="0">
                <a:latin typeface="Calibri"/>
              </a:rPr>
              <a:t>Compression - to reduce the volume of data to be exchanged</a:t>
            </a:r>
          </a:p>
          <a:p>
            <a:pPr indent="0" algn="just">
              <a:lnSpc>
                <a:spcPts val="3840"/>
              </a:lnSpc>
            </a:pPr>
            <a:r>
              <a:rPr lang="en-US" sz="2200" dirty="0">
                <a:latin typeface="Calibri"/>
              </a:rPr>
              <a:t>1- </a:t>
            </a:r>
            <a:r>
              <a:rPr lang="en-US" sz="2200" b="1" dirty="0">
                <a:latin typeface="Calibri"/>
              </a:rPr>
              <a:t>Lossless</a:t>
            </a:r>
          </a:p>
          <a:p>
            <a:pPr indent="0" algn="just">
              <a:lnSpc>
                <a:spcPts val="3840"/>
              </a:lnSpc>
            </a:pPr>
            <a:r>
              <a:rPr lang="en-US" sz="2200" dirty="0">
                <a:latin typeface="Calibri"/>
              </a:rPr>
              <a:t>2- </a:t>
            </a:r>
            <a:r>
              <a:rPr lang="en-US" sz="2200" b="1" dirty="0" err="1">
                <a:latin typeface="Calibri"/>
              </a:rPr>
              <a:t>Lossy</a:t>
            </a:r>
            <a:endParaRPr lang="en-US" sz="2200" b="1" dirty="0">
              <a:latin typeface="Calibri"/>
            </a:endParaRPr>
          </a:p>
        </p:txBody>
      </p:sp>
      <p:sp>
        <p:nvSpPr>
          <p:cNvPr id="3" name="Date Placeholder 2"/>
          <p:cNvSpPr>
            <a:spLocks noGrp="1"/>
          </p:cNvSpPr>
          <p:nvPr>
            <p:ph type="dt" sz="half" idx="10"/>
          </p:nvPr>
        </p:nvSpPr>
        <p:spPr/>
        <p:txBody>
          <a:bodyPr/>
          <a:lstStyle/>
          <a:p>
            <a:fld id="{08C54086-2CAA-4415-A7E5-BBD1B5A238D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72</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Model(CO5)</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5176" y="990600"/>
            <a:ext cx="8430768" cy="4337304"/>
          </a:xfrm>
          <a:prstGeom prst="rect">
            <a:avLst/>
          </a:prstGeom>
        </p:spPr>
        <p:txBody>
          <a:bodyPr lIns="0" tIns="0" rIns="0" bIns="0">
            <a:noAutofit/>
          </a:bodyPr>
          <a:lstStyle/>
          <a:p>
            <a:pPr marL="254000" indent="0">
              <a:spcAft>
                <a:spcPts val="1680"/>
              </a:spcAft>
            </a:pPr>
            <a:r>
              <a:rPr lang="en-US" sz="2200" dirty="0">
                <a:latin typeface="Calibri"/>
              </a:rPr>
              <a:t>• </a:t>
            </a:r>
            <a:r>
              <a:rPr lang="en-US" sz="2200" b="1" dirty="0">
                <a:latin typeface="Calibri"/>
              </a:rPr>
              <a:t>Lossless compression</a:t>
            </a:r>
          </a:p>
          <a:p>
            <a:pPr marL="469900" indent="0" algn="just">
              <a:lnSpc>
                <a:spcPts val="3048"/>
              </a:lnSpc>
              <a:spcAft>
                <a:spcPts val="210"/>
              </a:spcAft>
            </a:pPr>
            <a:r>
              <a:rPr lang="en-US" sz="2200" dirty="0">
                <a:latin typeface="Calibri"/>
              </a:rPr>
              <a:t>The integrity of the data is preserved as the compression and decompression algorithms are exact inverses of each other, no part of data is lost in the process. The different techniques are:</a:t>
            </a:r>
          </a:p>
          <a:p>
            <a:pPr marL="469900" indent="0" algn="just">
              <a:lnSpc>
                <a:spcPts val="3048"/>
              </a:lnSpc>
              <a:spcAft>
                <a:spcPts val="210"/>
              </a:spcAft>
            </a:pPr>
            <a:endParaRPr lang="en-US" sz="2200" dirty="0">
              <a:latin typeface="Calibri"/>
            </a:endParaRPr>
          </a:p>
          <a:p>
            <a:pPr indent="0" algn="just">
              <a:lnSpc>
                <a:spcPts val="3024"/>
              </a:lnSpc>
            </a:pPr>
            <a:r>
              <a:rPr lang="en-US" sz="2200" b="1" dirty="0">
                <a:latin typeface="Calibri"/>
              </a:rPr>
              <a:t>a) </a:t>
            </a:r>
            <a:r>
              <a:rPr lang="en-US" sz="2200" b="1" u="sng" dirty="0">
                <a:latin typeface="Calibri"/>
              </a:rPr>
              <a:t>Run-Length coding</a:t>
            </a:r>
          </a:p>
          <a:p>
            <a:pPr marL="254000" indent="0">
              <a:lnSpc>
                <a:spcPts val="3024"/>
              </a:lnSpc>
            </a:pPr>
            <a:r>
              <a:rPr lang="en-US" sz="2200" dirty="0">
                <a:latin typeface="Calibri"/>
              </a:rPr>
              <a:t>RLE simplest method to remove redundancy. Replaces a repeated sequence, run, of the same symbol with two entities : a count and the symbol itself. </a:t>
            </a:r>
          </a:p>
        </p:txBody>
      </p:sp>
      <p:sp>
        <p:nvSpPr>
          <p:cNvPr id="3" name="Date Placeholder 2"/>
          <p:cNvSpPr>
            <a:spLocks noGrp="1"/>
          </p:cNvSpPr>
          <p:nvPr>
            <p:ph type="dt" sz="half" idx="10"/>
          </p:nvPr>
        </p:nvSpPr>
        <p:spPr/>
        <p:txBody>
          <a:bodyPr/>
          <a:lstStyle/>
          <a:p>
            <a:fld id="{63208ED8-3E81-4F8E-9E67-A047286C72A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73</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2920" y="1353312"/>
            <a:ext cx="8199120" cy="2987040"/>
          </a:xfrm>
          <a:prstGeom prst="rect">
            <a:avLst/>
          </a:prstGeom>
        </p:spPr>
        <p:txBody>
          <a:bodyPr lIns="0" tIns="0" rIns="0" bIns="0">
            <a:noAutofit/>
          </a:bodyPr>
          <a:lstStyle/>
          <a:p>
            <a:pPr indent="0" algn="just">
              <a:lnSpc>
                <a:spcPts val="3024"/>
              </a:lnSpc>
            </a:pPr>
            <a:r>
              <a:rPr lang="en-US" sz="2200" b="1" dirty="0">
                <a:latin typeface="Calibri"/>
              </a:rPr>
              <a:t>b) Dictionary coding</a:t>
            </a:r>
          </a:p>
          <a:p>
            <a:pPr marL="241300" indent="0" algn="just">
              <a:lnSpc>
                <a:spcPts val="3024"/>
              </a:lnSpc>
            </a:pPr>
            <a:r>
              <a:rPr lang="en-US" sz="2200" dirty="0">
                <a:latin typeface="Calibri"/>
              </a:rPr>
              <a:t>LZW (Lempel-Ziv-Welch) encoding Based on creation of a dictionary of strings in the text. It encodes common sequence of characters instead of encoding each character separately. The dictionary is created as the message is scanned, and if a sequence of characters that is an entry in the dictionary is found in the message, the code of that entry is sent instead of the sequence. The creation of the dictionary is dynamic.</a:t>
            </a:r>
          </a:p>
        </p:txBody>
      </p:sp>
      <p:sp>
        <p:nvSpPr>
          <p:cNvPr id="3" name="Date Placeholder 2"/>
          <p:cNvSpPr>
            <a:spLocks noGrp="1"/>
          </p:cNvSpPr>
          <p:nvPr>
            <p:ph type="dt" sz="half" idx="10"/>
          </p:nvPr>
        </p:nvSpPr>
        <p:spPr/>
        <p:txBody>
          <a:bodyPr/>
          <a:lstStyle/>
          <a:p>
            <a:fld id="{CF2B3F23-FA50-4B0B-AA29-CA83F515B9A7}"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74</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5360"/>
            <a:ext cx="4355592" cy="3685032"/>
          </a:xfrm>
          <a:prstGeom prst="rect">
            <a:avLst/>
          </a:prstGeom>
        </p:spPr>
        <p:txBody>
          <a:bodyPr lIns="0" tIns="0" rIns="0" bIns="0">
            <a:noAutofit/>
          </a:bodyPr>
          <a:lstStyle/>
          <a:p>
            <a:pPr indent="0">
              <a:spcAft>
                <a:spcPts val="1260"/>
              </a:spcAft>
            </a:pPr>
            <a:r>
              <a:rPr lang="en-US" sz="2200" u="sng">
                <a:latin typeface="Calibri"/>
              </a:rPr>
              <a:t>Algorithm</a:t>
            </a:r>
          </a:p>
          <a:p>
            <a:pPr indent="0">
              <a:spcAft>
                <a:spcPts val="1260"/>
              </a:spcAft>
            </a:pPr>
            <a:r>
              <a:rPr lang="en-US" sz="2200">
                <a:latin typeface="Calibri"/>
              </a:rPr>
              <a:t>LZWEncoding(message)</a:t>
            </a:r>
          </a:p>
          <a:p>
            <a:pPr indent="0">
              <a:spcAft>
                <a:spcPts val="1260"/>
              </a:spcAft>
            </a:pPr>
            <a:r>
              <a:rPr lang="en-US" sz="2200">
                <a:latin typeface="Calibri"/>
              </a:rPr>
              <a:t>{</a:t>
            </a:r>
          </a:p>
          <a:p>
            <a:pPr marL="228092" indent="0">
              <a:lnSpc>
                <a:spcPts val="3840"/>
              </a:lnSpc>
            </a:pPr>
            <a:r>
              <a:rPr lang="en-US" sz="2200">
                <a:latin typeface="Calibri"/>
              </a:rPr>
              <a:t>Initialize(Dictionary)</a:t>
            </a:r>
          </a:p>
          <a:p>
            <a:pPr marL="228092" indent="0">
              <a:lnSpc>
                <a:spcPts val="3840"/>
              </a:lnSpc>
            </a:pPr>
            <a:r>
              <a:rPr lang="en-US" sz="2200">
                <a:latin typeface="Calibri"/>
              </a:rPr>
              <a:t>Char = Input(first character)</a:t>
            </a:r>
          </a:p>
          <a:p>
            <a:pPr marL="228092" indent="0">
              <a:lnSpc>
                <a:spcPts val="3840"/>
              </a:lnSpc>
            </a:pPr>
            <a:r>
              <a:rPr lang="en-US" sz="2200">
                <a:latin typeface="Calibri"/>
              </a:rPr>
              <a:t>S = Char</a:t>
            </a:r>
          </a:p>
          <a:p>
            <a:pPr marL="228092" indent="0">
              <a:lnSpc>
                <a:spcPts val="4176"/>
              </a:lnSpc>
            </a:pPr>
            <a:r>
              <a:rPr lang="en-US" sz="2200">
                <a:latin typeface="Calibri"/>
              </a:rPr>
              <a:t>while(more characters in message) {</a:t>
            </a:r>
          </a:p>
        </p:txBody>
      </p:sp>
      <p:sp>
        <p:nvSpPr>
          <p:cNvPr id="3" name="Rectangle 2"/>
          <p:cNvSpPr/>
          <p:nvPr/>
        </p:nvSpPr>
        <p:spPr>
          <a:xfrm>
            <a:off x="1191768" y="4858512"/>
            <a:ext cx="3435096" cy="1261872"/>
          </a:xfrm>
          <a:prstGeom prst="rect">
            <a:avLst/>
          </a:prstGeom>
        </p:spPr>
        <p:txBody>
          <a:bodyPr lIns="0" tIns="0" rIns="0" bIns="0">
            <a:noAutofit/>
          </a:bodyPr>
          <a:lstStyle/>
          <a:p>
            <a:pPr indent="0">
              <a:lnSpc>
                <a:spcPts val="3840"/>
              </a:lnSpc>
            </a:pPr>
            <a:r>
              <a:rPr lang="en-US" sz="2200">
                <a:latin typeface="Calibri"/>
              </a:rPr>
              <a:t>Char = Input(next character); If((S +char)is in Dictionary)</a:t>
            </a:r>
          </a:p>
          <a:p>
            <a:pPr indent="0"/>
            <a:r>
              <a:rPr lang="en-US" sz="2200">
                <a:latin typeface="Calibri"/>
              </a:rPr>
              <a:t>{</a:t>
            </a:r>
          </a:p>
        </p:txBody>
      </p:sp>
      <p:sp>
        <p:nvSpPr>
          <p:cNvPr id="4" name="Date Placeholder 3"/>
          <p:cNvSpPr>
            <a:spLocks noGrp="1"/>
          </p:cNvSpPr>
          <p:nvPr>
            <p:ph type="dt" sz="half" idx="10"/>
          </p:nvPr>
        </p:nvSpPr>
        <p:spPr/>
        <p:txBody>
          <a:bodyPr/>
          <a:lstStyle/>
          <a:p>
            <a:fld id="{0478D461-BEB7-43E6-9D0D-189EB168AA18}"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75</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645920" y="975360"/>
            <a:ext cx="1298448" cy="274320"/>
          </a:xfrm>
          <a:prstGeom prst="rect">
            <a:avLst/>
          </a:prstGeom>
        </p:spPr>
        <p:txBody>
          <a:bodyPr wrap="none" lIns="0" tIns="0" rIns="0" bIns="0">
            <a:noAutofit/>
          </a:bodyPr>
          <a:lstStyle/>
          <a:p>
            <a:pPr indent="0">
              <a:spcAft>
                <a:spcPts val="1260"/>
              </a:spcAft>
            </a:pPr>
            <a:r>
              <a:rPr lang="en-US" sz="2200">
                <a:latin typeface="Calibri"/>
              </a:rPr>
              <a:t>S = S+char;</a:t>
            </a:r>
          </a:p>
        </p:txBody>
      </p:sp>
      <p:sp>
        <p:nvSpPr>
          <p:cNvPr id="3" name="Rectangle 2"/>
          <p:cNvSpPr/>
          <p:nvPr/>
        </p:nvSpPr>
        <p:spPr>
          <a:xfrm>
            <a:off x="1292352" y="1414272"/>
            <a:ext cx="536448" cy="768096"/>
          </a:xfrm>
          <a:prstGeom prst="rect">
            <a:avLst/>
          </a:prstGeom>
        </p:spPr>
        <p:txBody>
          <a:bodyPr lIns="0" tIns="0" rIns="0" bIns="0">
            <a:noAutofit/>
          </a:bodyPr>
          <a:lstStyle/>
          <a:p>
            <a:pPr indent="0">
              <a:spcBef>
                <a:spcPts val="1260"/>
              </a:spcBef>
              <a:spcAft>
                <a:spcPts val="1260"/>
              </a:spcAft>
            </a:pPr>
            <a:r>
              <a:rPr lang="en-US" sz="2200">
                <a:latin typeface="Calibri"/>
              </a:rPr>
              <a:t>}</a:t>
            </a:r>
          </a:p>
          <a:p>
            <a:pPr indent="0">
              <a:spcAft>
                <a:spcPts val="1260"/>
              </a:spcAft>
            </a:pPr>
            <a:r>
              <a:rPr lang="en-US" sz="2200">
                <a:latin typeface="Calibri"/>
              </a:rPr>
              <a:t>Else</a:t>
            </a:r>
          </a:p>
        </p:txBody>
      </p:sp>
      <p:sp>
        <p:nvSpPr>
          <p:cNvPr id="4" name="Rectangle 3"/>
          <p:cNvSpPr/>
          <p:nvPr/>
        </p:nvSpPr>
        <p:spPr>
          <a:xfrm>
            <a:off x="1292352" y="2389632"/>
            <a:ext cx="164592" cy="316992"/>
          </a:xfrm>
          <a:prstGeom prst="rect">
            <a:avLst/>
          </a:prstGeom>
        </p:spPr>
        <p:txBody>
          <a:bodyPr wrap="none" lIns="0" tIns="0" rIns="0" bIns="0">
            <a:noAutofit/>
          </a:bodyPr>
          <a:lstStyle/>
          <a:p>
            <a:pPr indent="0">
              <a:spcBef>
                <a:spcPts val="1260"/>
              </a:spcBef>
              <a:spcAft>
                <a:spcPts val="1260"/>
              </a:spcAft>
            </a:pPr>
            <a:r>
              <a:rPr lang="en-US" sz="2200">
                <a:latin typeface="Calibri"/>
              </a:rPr>
              <a:t>{</a:t>
            </a:r>
          </a:p>
        </p:txBody>
      </p:sp>
      <p:sp>
        <p:nvSpPr>
          <p:cNvPr id="5" name="Rectangle 4"/>
          <p:cNvSpPr/>
          <p:nvPr/>
        </p:nvSpPr>
        <p:spPr>
          <a:xfrm>
            <a:off x="1621536" y="2871216"/>
            <a:ext cx="3078480" cy="329184"/>
          </a:xfrm>
          <a:prstGeom prst="rect">
            <a:avLst/>
          </a:prstGeom>
        </p:spPr>
        <p:txBody>
          <a:bodyPr wrap="none" lIns="0" tIns="0" rIns="0" bIns="0">
            <a:noAutofit/>
          </a:bodyPr>
          <a:lstStyle/>
          <a:p>
            <a:pPr marL="75184" indent="0">
              <a:spcBef>
                <a:spcPts val="1260"/>
              </a:spcBef>
              <a:spcAft>
                <a:spcPts val="1260"/>
              </a:spcAft>
            </a:pPr>
            <a:r>
              <a:rPr lang="en-US" sz="2200">
                <a:latin typeface="Calibri"/>
              </a:rPr>
              <a:t>addToDictionary(S+char);</a:t>
            </a:r>
          </a:p>
        </p:txBody>
      </p:sp>
      <p:sp>
        <p:nvSpPr>
          <p:cNvPr id="6" name="Rectangle 5"/>
          <p:cNvSpPr/>
          <p:nvPr/>
        </p:nvSpPr>
        <p:spPr>
          <a:xfrm>
            <a:off x="1822704" y="3358896"/>
            <a:ext cx="3889248" cy="804672"/>
          </a:xfrm>
          <a:prstGeom prst="rect">
            <a:avLst/>
          </a:prstGeom>
        </p:spPr>
        <p:txBody>
          <a:bodyPr lIns="0" tIns="0" rIns="0" bIns="0">
            <a:noAutofit/>
          </a:bodyPr>
          <a:lstStyle/>
          <a:p>
            <a:pPr marL="77216" indent="0">
              <a:lnSpc>
                <a:spcPts val="3816"/>
              </a:lnSpc>
              <a:spcBef>
                <a:spcPts val="1260"/>
              </a:spcBef>
            </a:pPr>
            <a:r>
              <a:rPr lang="en-US" sz="2200">
                <a:latin typeface="Calibri"/>
              </a:rPr>
              <a:t>Output(index of S in Dictioanry); S = char;</a:t>
            </a:r>
          </a:p>
        </p:txBody>
      </p:sp>
      <p:sp>
        <p:nvSpPr>
          <p:cNvPr id="7" name="Rectangle 6"/>
          <p:cNvSpPr/>
          <p:nvPr/>
        </p:nvSpPr>
        <p:spPr>
          <a:xfrm>
            <a:off x="1688592" y="4334256"/>
            <a:ext cx="170688" cy="323088"/>
          </a:xfrm>
          <a:prstGeom prst="rect">
            <a:avLst/>
          </a:prstGeom>
        </p:spPr>
        <p:txBody>
          <a:bodyPr wrap="none" lIns="0" tIns="0" rIns="0" bIns="0">
            <a:noAutofit/>
          </a:bodyPr>
          <a:lstStyle/>
          <a:p>
            <a:pPr indent="0">
              <a:spcAft>
                <a:spcPts val="1260"/>
              </a:spcAft>
            </a:pPr>
            <a:r>
              <a:rPr lang="en-US" sz="2200">
                <a:latin typeface="Calibri"/>
              </a:rPr>
              <a:t>}</a:t>
            </a:r>
          </a:p>
        </p:txBody>
      </p:sp>
      <p:sp>
        <p:nvSpPr>
          <p:cNvPr id="8" name="Rectangle 7"/>
          <p:cNvSpPr/>
          <p:nvPr/>
        </p:nvSpPr>
        <p:spPr>
          <a:xfrm>
            <a:off x="1097280" y="4821936"/>
            <a:ext cx="170688" cy="316992"/>
          </a:xfrm>
          <a:prstGeom prst="rect">
            <a:avLst/>
          </a:prstGeom>
        </p:spPr>
        <p:txBody>
          <a:bodyPr wrap="none" lIns="0" tIns="0" rIns="0" bIns="0">
            <a:noAutofit/>
          </a:bodyPr>
          <a:lstStyle/>
          <a:p>
            <a:pPr indent="0">
              <a:spcBef>
                <a:spcPts val="1260"/>
              </a:spcBef>
              <a:spcAft>
                <a:spcPts val="1260"/>
              </a:spcAft>
            </a:pPr>
            <a:r>
              <a:rPr lang="en-US" sz="2200">
                <a:latin typeface="Calibri"/>
              </a:rPr>
              <a:t>}</a:t>
            </a:r>
          </a:p>
        </p:txBody>
      </p:sp>
      <p:sp>
        <p:nvSpPr>
          <p:cNvPr id="9" name="Rectangle 8"/>
          <p:cNvSpPr/>
          <p:nvPr/>
        </p:nvSpPr>
        <p:spPr>
          <a:xfrm>
            <a:off x="701040" y="5303520"/>
            <a:ext cx="3889248" cy="329184"/>
          </a:xfrm>
          <a:prstGeom prst="rect">
            <a:avLst/>
          </a:prstGeom>
        </p:spPr>
        <p:txBody>
          <a:bodyPr wrap="none" lIns="0" tIns="0" rIns="0" bIns="0">
            <a:noAutofit/>
          </a:bodyPr>
          <a:lstStyle/>
          <a:p>
            <a:pPr marL="81280" indent="0">
              <a:spcBef>
                <a:spcPts val="1260"/>
              </a:spcBef>
              <a:spcAft>
                <a:spcPts val="1260"/>
              </a:spcAft>
            </a:pPr>
            <a:r>
              <a:rPr lang="en-US" sz="2200">
                <a:latin typeface="Calibri"/>
              </a:rPr>
              <a:t>Output(index of S in Dictionary);</a:t>
            </a:r>
          </a:p>
        </p:txBody>
      </p:sp>
      <p:sp>
        <p:nvSpPr>
          <p:cNvPr id="10" name="Rectangle 9"/>
          <p:cNvSpPr/>
          <p:nvPr/>
        </p:nvSpPr>
        <p:spPr>
          <a:xfrm>
            <a:off x="768096" y="5797296"/>
            <a:ext cx="170688" cy="316992"/>
          </a:xfrm>
          <a:prstGeom prst="rect">
            <a:avLst/>
          </a:prstGeom>
        </p:spPr>
        <p:txBody>
          <a:bodyPr wrap="none" lIns="0" tIns="0" rIns="0" bIns="0">
            <a:noAutofit/>
          </a:bodyPr>
          <a:lstStyle/>
          <a:p>
            <a:pPr indent="0">
              <a:spcBef>
                <a:spcPts val="1260"/>
              </a:spcBef>
            </a:pPr>
            <a:r>
              <a:rPr lang="en-US" sz="2200">
                <a:latin typeface="Calibri"/>
              </a:rPr>
              <a:t>}</a:t>
            </a:r>
          </a:p>
        </p:txBody>
      </p:sp>
      <p:sp>
        <p:nvSpPr>
          <p:cNvPr id="11" name="Date Placeholder 10"/>
          <p:cNvSpPr>
            <a:spLocks noGrp="1"/>
          </p:cNvSpPr>
          <p:nvPr>
            <p:ph type="dt" sz="half" idx="10"/>
          </p:nvPr>
        </p:nvSpPr>
        <p:spPr/>
        <p:txBody>
          <a:bodyPr/>
          <a:lstStyle/>
          <a:p>
            <a:fld id="{69A5C974-6905-4D85-888C-3495435F9C33}" type="datetime1">
              <a:rPr lang="en-US" smtClean="0"/>
              <a:t>4/29/2022</a:t>
            </a:fld>
            <a:endParaRPr lang="en-US"/>
          </a:p>
        </p:txBody>
      </p:sp>
      <p:sp>
        <p:nvSpPr>
          <p:cNvPr id="13" name="Slide Number Placeholder 12"/>
          <p:cNvSpPr>
            <a:spLocks noGrp="1"/>
          </p:cNvSpPr>
          <p:nvPr>
            <p:ph type="sldNum" sz="quarter" idx="12"/>
          </p:nvPr>
        </p:nvSpPr>
        <p:spPr/>
        <p:txBody>
          <a:bodyPr/>
          <a:lstStyle/>
          <a:p>
            <a:fld id="{A0B67B60-8227-4ECE-9065-6110C6EB035F}" type="slidenum">
              <a:rPr lang="en-US" smtClean="0"/>
              <a:t>76</a:t>
            </a:fld>
            <a:endParaRPr lang="en-US"/>
          </a:p>
        </p:txBody>
      </p:sp>
      <p:sp>
        <p:nvSpPr>
          <p:cNvPr id="14"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73608" y="972312"/>
            <a:ext cx="8019288" cy="1780032"/>
          </a:xfrm>
          <a:prstGeom prst="rect">
            <a:avLst/>
          </a:prstGeom>
        </p:spPr>
        <p:txBody>
          <a:bodyPr lIns="0" tIns="0" rIns="0" bIns="0">
            <a:noAutofit/>
          </a:bodyPr>
          <a:lstStyle/>
          <a:p>
            <a:pPr marL="241300" indent="-241300" algn="just">
              <a:lnSpc>
                <a:spcPts val="3024"/>
              </a:lnSpc>
            </a:pPr>
            <a:endParaRPr lang="en-US" sz="2200" dirty="0">
              <a:latin typeface="Calibri"/>
            </a:endParaRPr>
          </a:p>
        </p:txBody>
      </p:sp>
      <p:sp>
        <p:nvSpPr>
          <p:cNvPr id="3" name="Rectangle 2"/>
          <p:cNvSpPr/>
          <p:nvPr/>
        </p:nvSpPr>
        <p:spPr>
          <a:xfrm>
            <a:off x="996419" y="1344459"/>
            <a:ext cx="4501896" cy="3203448"/>
          </a:xfrm>
          <a:prstGeom prst="rect">
            <a:avLst/>
          </a:prstGeom>
        </p:spPr>
        <p:txBody>
          <a:bodyPr lIns="0" tIns="0" rIns="0" bIns="0">
            <a:noAutofit/>
          </a:bodyPr>
          <a:lstStyle/>
          <a:p>
            <a:pPr indent="0">
              <a:spcBef>
                <a:spcPts val="420"/>
              </a:spcBef>
              <a:spcAft>
                <a:spcPts val="1260"/>
              </a:spcAft>
            </a:pPr>
            <a:r>
              <a:rPr lang="en-US" sz="2200" dirty="0">
                <a:latin typeface="Calibri"/>
              </a:rPr>
              <a:t>Algorithm</a:t>
            </a:r>
          </a:p>
          <a:p>
            <a:pPr marL="220980" indent="0">
              <a:spcAft>
                <a:spcPts val="1260"/>
              </a:spcAft>
            </a:pPr>
            <a:r>
              <a:rPr lang="en-US" sz="2200" dirty="0" err="1">
                <a:latin typeface="Calibri"/>
              </a:rPr>
              <a:t>LZWDecoding</a:t>
            </a:r>
            <a:r>
              <a:rPr lang="en-US" sz="2200" dirty="0">
                <a:latin typeface="Calibri"/>
              </a:rPr>
              <a:t>(code)</a:t>
            </a:r>
          </a:p>
          <a:p>
            <a:pPr marL="220980" indent="0">
              <a:spcAft>
                <a:spcPts val="1260"/>
              </a:spcAft>
            </a:pPr>
            <a:r>
              <a:rPr lang="en-US" sz="2200" dirty="0">
                <a:latin typeface="Calibri"/>
              </a:rPr>
              <a:t>{</a:t>
            </a:r>
          </a:p>
          <a:p>
            <a:pPr marL="640080" indent="0">
              <a:lnSpc>
                <a:spcPts val="3840"/>
              </a:lnSpc>
            </a:pPr>
            <a:r>
              <a:rPr lang="en-US" sz="2200" dirty="0">
                <a:latin typeface="Calibri"/>
              </a:rPr>
              <a:t>Initialize(Dictionary);</a:t>
            </a:r>
          </a:p>
          <a:p>
            <a:pPr marL="640080" indent="0">
              <a:lnSpc>
                <a:spcPts val="3840"/>
              </a:lnSpc>
            </a:pPr>
            <a:r>
              <a:rPr lang="en-US" sz="2200" dirty="0">
                <a:latin typeface="Calibri"/>
              </a:rPr>
              <a:t>C = Input(first </a:t>
            </a:r>
            <a:r>
              <a:rPr lang="en-US" sz="2200" dirty="0" err="1">
                <a:latin typeface="Calibri"/>
              </a:rPr>
              <a:t>codeword</a:t>
            </a:r>
            <a:r>
              <a:rPr lang="en-US" sz="2200" dirty="0">
                <a:latin typeface="Calibri"/>
              </a:rPr>
              <a:t>); Output(Dictionary[C]);</a:t>
            </a:r>
          </a:p>
          <a:p>
            <a:pPr marL="640080" indent="0">
              <a:lnSpc>
                <a:spcPts val="3840"/>
              </a:lnSpc>
            </a:pPr>
            <a:r>
              <a:rPr lang="en-US" sz="2200" dirty="0">
                <a:latin typeface="Calibri"/>
              </a:rPr>
              <a:t>While( more </a:t>
            </a:r>
            <a:r>
              <a:rPr lang="en-US" sz="2200" dirty="0" err="1">
                <a:latin typeface="Calibri"/>
              </a:rPr>
              <a:t>codewords</a:t>
            </a:r>
            <a:r>
              <a:rPr lang="en-US" sz="2200" dirty="0">
                <a:latin typeface="Calibri"/>
              </a:rPr>
              <a:t> in code)</a:t>
            </a:r>
          </a:p>
        </p:txBody>
      </p:sp>
      <p:sp>
        <p:nvSpPr>
          <p:cNvPr id="4" name="Date Placeholder 3"/>
          <p:cNvSpPr>
            <a:spLocks noGrp="1"/>
          </p:cNvSpPr>
          <p:nvPr>
            <p:ph type="dt" sz="half" idx="10"/>
          </p:nvPr>
        </p:nvSpPr>
        <p:spPr/>
        <p:txBody>
          <a:bodyPr/>
          <a:lstStyle/>
          <a:p>
            <a:fld id="{6ADBC6D1-9B10-42BD-8F76-920BC28200B7}"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77</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82040" y="1048512"/>
            <a:ext cx="106680" cy="283464"/>
          </a:xfrm>
          <a:prstGeom prst="rect">
            <a:avLst/>
          </a:prstGeom>
        </p:spPr>
        <p:txBody>
          <a:bodyPr wrap="none" lIns="0" tIns="0" rIns="0" bIns="0">
            <a:noAutofit/>
          </a:bodyPr>
          <a:lstStyle/>
          <a:p>
            <a:pPr indent="0"/>
            <a:r>
              <a:rPr lang="en-US" sz="2200" dirty="0">
                <a:latin typeface="Calibri"/>
              </a:rPr>
              <a:t>{</a:t>
            </a:r>
          </a:p>
        </p:txBody>
      </p:sp>
      <p:sp>
        <p:nvSpPr>
          <p:cNvPr id="3" name="Rectangle 2"/>
          <p:cNvSpPr/>
          <p:nvPr/>
        </p:nvSpPr>
        <p:spPr>
          <a:xfrm>
            <a:off x="6395928" y="3336544"/>
            <a:ext cx="1709928" cy="292608"/>
          </a:xfrm>
          <a:prstGeom prst="rect">
            <a:avLst/>
          </a:prstGeom>
        </p:spPr>
        <p:txBody>
          <a:bodyPr wrap="none" lIns="0" tIns="0" rIns="0" bIns="0">
            <a:noAutofit/>
          </a:bodyPr>
          <a:lstStyle/>
          <a:p>
            <a:pPr indent="0"/>
            <a:endParaRPr lang="en-US" sz="2200" dirty="0">
              <a:latin typeface="Calibri"/>
            </a:endParaRPr>
          </a:p>
        </p:txBody>
      </p:sp>
      <p:sp>
        <p:nvSpPr>
          <p:cNvPr id="4" name="Rectangle 3"/>
          <p:cNvSpPr/>
          <p:nvPr/>
        </p:nvSpPr>
        <p:spPr>
          <a:xfrm>
            <a:off x="1370862" y="1344249"/>
            <a:ext cx="6947638" cy="4559808"/>
          </a:xfrm>
          <a:prstGeom prst="rect">
            <a:avLst/>
          </a:prstGeom>
        </p:spPr>
        <p:txBody>
          <a:bodyPr lIns="0" tIns="0" rIns="0" bIns="0">
            <a:noAutofit/>
          </a:bodyPr>
          <a:lstStyle/>
          <a:p>
            <a:pPr indent="0">
              <a:lnSpc>
                <a:spcPts val="3816"/>
              </a:lnSpc>
            </a:pPr>
            <a:r>
              <a:rPr lang="en-US" sz="2200" dirty="0">
                <a:latin typeface="Calibri"/>
              </a:rPr>
              <a:t>S = Dictionary[C];</a:t>
            </a:r>
          </a:p>
          <a:p>
            <a:pPr indent="0">
              <a:lnSpc>
                <a:spcPts val="3816"/>
              </a:lnSpc>
            </a:pPr>
            <a:r>
              <a:rPr lang="en-US" sz="2200" dirty="0">
                <a:latin typeface="Calibri"/>
              </a:rPr>
              <a:t>C = Input(next </a:t>
            </a:r>
            <a:r>
              <a:rPr lang="en-US" sz="2200" dirty="0" err="1">
                <a:latin typeface="Calibri"/>
              </a:rPr>
              <a:t>codeword</a:t>
            </a:r>
            <a:r>
              <a:rPr lang="en-US" sz="2200" dirty="0">
                <a:latin typeface="Calibri"/>
              </a:rPr>
              <a:t>); If( C is in Dictionary)</a:t>
            </a:r>
          </a:p>
          <a:p>
            <a:pPr indent="0">
              <a:spcAft>
                <a:spcPts val="1260"/>
              </a:spcAft>
            </a:pPr>
            <a:r>
              <a:rPr lang="en-US" sz="2200" dirty="0">
                <a:latin typeface="Calibri"/>
              </a:rPr>
              <a:t>{</a:t>
            </a:r>
            <a:r>
              <a:rPr lang="en-US" sz="2200" dirty="0"/>
              <a:t>	</a:t>
            </a:r>
            <a:r>
              <a:rPr lang="en-US" sz="2200" dirty="0" err="1"/>
              <a:t>addToDictionary</a:t>
            </a:r>
            <a:r>
              <a:rPr lang="en-US" sz="2200" dirty="0"/>
              <a:t>(</a:t>
            </a:r>
            <a:r>
              <a:rPr lang="en-US" sz="2200" dirty="0" err="1"/>
              <a:t>S+firstSymbolOf</a:t>
            </a:r>
            <a:r>
              <a:rPr lang="en-US" sz="2200" dirty="0"/>
              <a:t> Dictionary[C]);</a:t>
            </a:r>
          </a:p>
          <a:p>
            <a:pPr indent="0">
              <a:spcAft>
                <a:spcPts val="1260"/>
              </a:spcAft>
            </a:pPr>
            <a:r>
              <a:rPr lang="en-US" sz="2200" dirty="0">
                <a:latin typeface="Calibri"/>
              </a:rPr>
              <a:t>		Output(Dictionary[C]);}</a:t>
            </a:r>
          </a:p>
          <a:p>
            <a:pPr marL="266700" indent="0">
              <a:spcAft>
                <a:spcPts val="1260"/>
              </a:spcAft>
            </a:pPr>
            <a:r>
              <a:rPr lang="en-US" sz="2200" dirty="0">
                <a:latin typeface="Calibri"/>
              </a:rPr>
              <a:t>Else</a:t>
            </a:r>
          </a:p>
          <a:p>
            <a:pPr marL="838200" indent="0" algn="just">
              <a:lnSpc>
                <a:spcPts val="3792"/>
              </a:lnSpc>
            </a:pPr>
            <a:r>
              <a:rPr lang="en-US" sz="2200" dirty="0"/>
              <a:t>{</a:t>
            </a:r>
            <a:r>
              <a:rPr lang="en-US" sz="2200" dirty="0" err="1"/>
              <a:t>firstSymbolOfDictionary</a:t>
            </a:r>
            <a:r>
              <a:rPr lang="en-US" sz="2200" dirty="0"/>
              <a:t>[C]); </a:t>
            </a:r>
            <a:r>
              <a:rPr lang="en-US" sz="2200" dirty="0" err="1"/>
              <a:t>addToDictionary</a:t>
            </a:r>
            <a:r>
              <a:rPr lang="en-US" sz="2200" dirty="0"/>
              <a:t>(</a:t>
            </a:r>
            <a:r>
              <a:rPr lang="en-US" sz="2200" dirty="0" err="1"/>
              <a:t>S+firstSymbolOf</a:t>
            </a:r>
            <a:r>
              <a:rPr lang="en-US" sz="2200" dirty="0"/>
              <a:t>(S)); Output(</a:t>
            </a:r>
            <a:r>
              <a:rPr lang="en-US" sz="2200" dirty="0" err="1"/>
              <a:t>S+firstSymbolOf</a:t>
            </a:r>
            <a:r>
              <a:rPr lang="en-US" sz="2200" dirty="0"/>
              <a:t> (S));</a:t>
            </a:r>
          </a:p>
          <a:p>
            <a:pPr marL="685800" indent="0"/>
            <a:r>
              <a:rPr lang="en-US" sz="2200" dirty="0"/>
              <a:t>	}</a:t>
            </a:r>
          </a:p>
          <a:p>
            <a:pPr marL="685800" indent="0"/>
            <a:r>
              <a:rPr lang="en-US" sz="2200" dirty="0"/>
              <a:t>}</a:t>
            </a:r>
          </a:p>
          <a:p>
            <a:pPr indent="0"/>
            <a:r>
              <a:rPr lang="en-US" sz="2200" dirty="0"/>
              <a:t>}</a:t>
            </a:r>
          </a:p>
          <a:p>
            <a:endParaRPr lang="en-US" sz="2200" dirty="0"/>
          </a:p>
          <a:p>
            <a:pPr indent="0"/>
            <a:endParaRPr lang="en-US" sz="2200" dirty="0"/>
          </a:p>
          <a:p>
            <a:pPr marL="266700" indent="0"/>
            <a:endParaRPr lang="en-US" sz="2200" dirty="0">
              <a:latin typeface="Calibri"/>
            </a:endParaRPr>
          </a:p>
        </p:txBody>
      </p:sp>
      <p:sp>
        <p:nvSpPr>
          <p:cNvPr id="5" name="Rectangle 4"/>
          <p:cNvSpPr/>
          <p:nvPr/>
        </p:nvSpPr>
        <p:spPr>
          <a:xfrm>
            <a:off x="4737816" y="3334593"/>
            <a:ext cx="1658112" cy="289560"/>
          </a:xfrm>
          <a:prstGeom prst="rect">
            <a:avLst/>
          </a:prstGeom>
        </p:spPr>
        <p:txBody>
          <a:bodyPr wrap="none" lIns="0" tIns="0" rIns="0" bIns="0">
            <a:noAutofit/>
          </a:bodyPr>
          <a:lstStyle/>
          <a:p>
            <a:pPr indent="0"/>
            <a:endParaRPr lang="en-US" sz="2200" dirty="0">
              <a:latin typeface="Calibri"/>
            </a:endParaRPr>
          </a:p>
        </p:txBody>
      </p:sp>
      <p:sp>
        <p:nvSpPr>
          <p:cNvPr id="6" name="Date Placeholder 5"/>
          <p:cNvSpPr>
            <a:spLocks noGrp="1"/>
          </p:cNvSpPr>
          <p:nvPr>
            <p:ph type="dt" sz="half" idx="10"/>
          </p:nvPr>
        </p:nvSpPr>
        <p:spPr/>
        <p:txBody>
          <a:bodyPr/>
          <a:lstStyle/>
          <a:p>
            <a:fld id="{6109B9E6-905B-4A64-9CF2-76FEF3B72BBF}"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78</a:t>
            </a:fld>
            <a:endParaRPr lang="en-US"/>
          </a:p>
        </p:txBody>
      </p:sp>
      <p:sp>
        <p:nvSpPr>
          <p:cNvPr id="9"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5300" y="969264"/>
            <a:ext cx="8203692" cy="5294376"/>
          </a:xfrm>
          <a:prstGeom prst="rect">
            <a:avLst/>
          </a:prstGeom>
        </p:spPr>
        <p:txBody>
          <a:bodyPr lIns="0" tIns="0" rIns="0" bIns="0">
            <a:noAutofit/>
          </a:bodyPr>
          <a:lstStyle/>
          <a:p>
            <a:pPr indent="0" algn="just">
              <a:lnSpc>
                <a:spcPts val="3024"/>
              </a:lnSpc>
            </a:pPr>
            <a:r>
              <a:rPr lang="en-US" sz="2200" b="1" dirty="0">
                <a:latin typeface="Calibri"/>
              </a:rPr>
              <a:t>c) Huffman coding</a:t>
            </a:r>
          </a:p>
          <a:p>
            <a:pPr marL="254000" indent="0" algn="just">
              <a:lnSpc>
                <a:spcPts val="3024"/>
              </a:lnSpc>
            </a:pPr>
            <a:r>
              <a:rPr lang="en-US" sz="2200" dirty="0">
                <a:latin typeface="Calibri"/>
              </a:rPr>
              <a:t>	It assigns shorter code to symbols that occur more frequently and longer codes to those that occur less frequently.</a:t>
            </a:r>
          </a:p>
          <a:p>
            <a:pPr marL="254000" indent="0" algn="just">
              <a:lnSpc>
                <a:spcPts val="3024"/>
              </a:lnSpc>
            </a:pPr>
            <a:r>
              <a:rPr lang="en-US" sz="2200" dirty="0">
                <a:latin typeface="Calibri"/>
              </a:rPr>
              <a:t>	For Huffman coding first create a Huffman tree. The Huffman tree is a tree in which the leaves of the tree are the symbols. It is made so that the most frequent symbol is the closest to the root of the tree and the least frequent symbol is the farthest from the root.</a:t>
            </a:r>
          </a:p>
          <a:p>
            <a:pPr marL="254000" indent="0" algn="just">
              <a:lnSpc>
                <a:spcPts val="3024"/>
              </a:lnSpc>
            </a:pPr>
            <a:endParaRPr lang="en-US" sz="2200" dirty="0">
              <a:latin typeface="Calibri"/>
            </a:endParaRPr>
          </a:p>
          <a:p>
            <a:pPr marL="254000" indent="0" algn="just">
              <a:lnSpc>
                <a:spcPts val="3024"/>
              </a:lnSpc>
            </a:pPr>
            <a:r>
              <a:rPr lang="en-US" sz="2200" b="1" dirty="0">
                <a:latin typeface="Calibri"/>
              </a:rPr>
              <a:t>Huffman tree</a:t>
            </a:r>
          </a:p>
          <a:p>
            <a:pPr marL="254000" indent="0" algn="just">
              <a:lnSpc>
                <a:spcPts val="3024"/>
              </a:lnSpc>
            </a:pPr>
            <a:r>
              <a:rPr lang="en-US" sz="2200" dirty="0">
                <a:latin typeface="Calibri"/>
              </a:rPr>
              <a:t>1.    We put the entire character set in a row. Each character is now a node at the lowest level of the tree.</a:t>
            </a:r>
          </a:p>
          <a:p>
            <a:pPr marL="254000" indent="0" algn="just">
              <a:lnSpc>
                <a:spcPts val="3024"/>
              </a:lnSpc>
            </a:pPr>
            <a:r>
              <a:rPr lang="en-US" sz="2200" dirty="0">
                <a:latin typeface="Calibri"/>
              </a:rPr>
              <a:t>2.    We select the two nodes with the smallest frequencies and join them to form a new node, resulting in a simple two-level tree. The frequency of the new node is the combined</a:t>
            </a:r>
          </a:p>
        </p:txBody>
      </p:sp>
      <p:sp>
        <p:nvSpPr>
          <p:cNvPr id="3" name="Date Placeholder 2"/>
          <p:cNvSpPr>
            <a:spLocks noGrp="1"/>
          </p:cNvSpPr>
          <p:nvPr>
            <p:ph type="dt" sz="half" idx="10"/>
          </p:nvPr>
        </p:nvSpPr>
        <p:spPr/>
        <p:txBody>
          <a:bodyPr/>
          <a:lstStyle/>
          <a:p>
            <a:fld id="{30EBAADC-8342-4708-9109-3AD1DBEB945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79</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176528" y="972312"/>
            <a:ext cx="7522464" cy="5242560"/>
          </a:xfrm>
          <a:prstGeom prst="rect">
            <a:avLst/>
          </a:prstGeom>
        </p:spPr>
        <p:txBody>
          <a:bodyPr lIns="0" tIns="0" rIns="0" bIns="0">
            <a:noAutofit/>
          </a:bodyPr>
          <a:lstStyle/>
          <a:p>
            <a:pPr indent="0" algn="just">
              <a:lnSpc>
                <a:spcPts val="3024"/>
              </a:lnSpc>
            </a:pPr>
            <a:r>
              <a:rPr lang="en-US" sz="2200" dirty="0">
                <a:latin typeface="Calibri"/>
              </a:rPr>
              <a:t>frequencies of the original two nodes. This node, one level up from the leaves, is eligible for combination with the other nodes.</a:t>
            </a:r>
          </a:p>
          <a:p>
            <a:pPr indent="0" algn="just">
              <a:lnSpc>
                <a:spcPts val="3024"/>
              </a:lnSpc>
            </a:pPr>
            <a:r>
              <a:rPr lang="en-US" sz="2200" dirty="0">
                <a:latin typeface="Calibri"/>
              </a:rPr>
              <a:t>3.    We repeat step 2 until all of the nodes, on every level, are combined into a single tree.</a:t>
            </a:r>
          </a:p>
          <a:p>
            <a:pPr indent="0" algn="just">
              <a:lnSpc>
                <a:spcPts val="3024"/>
              </a:lnSpc>
              <a:spcAft>
                <a:spcPts val="1890"/>
              </a:spcAft>
            </a:pPr>
            <a:r>
              <a:rPr lang="en-US" sz="2200" dirty="0">
                <a:latin typeface="Calibri"/>
              </a:rPr>
              <a:t>4.    After the tree is made, we assign bit values to each branch. Since the Huffman tree is a binary tree, each node has a maximum of two children.</a:t>
            </a:r>
          </a:p>
          <a:p>
            <a:pPr indent="0" algn="just">
              <a:lnSpc>
                <a:spcPts val="3024"/>
              </a:lnSpc>
            </a:pPr>
            <a:r>
              <a:rPr lang="en-US" sz="2200" b="1" dirty="0">
                <a:latin typeface="Calibri"/>
              </a:rPr>
              <a:t>Coding table</a:t>
            </a:r>
          </a:p>
          <a:p>
            <a:pPr indent="0" algn="just">
              <a:lnSpc>
                <a:spcPts val="3024"/>
              </a:lnSpc>
            </a:pPr>
            <a:r>
              <a:rPr lang="en-US" sz="2200" dirty="0">
                <a:latin typeface="Calibri"/>
              </a:rPr>
              <a:t>After the tree has been made, a coding table is created to encode and decode the data. The code for each character can be found by starting at the root and following the branches that lead to that character. The code itself is the bit value of each</a:t>
            </a:r>
          </a:p>
        </p:txBody>
      </p:sp>
      <p:sp>
        <p:nvSpPr>
          <p:cNvPr id="3" name="Date Placeholder 2"/>
          <p:cNvSpPr>
            <a:spLocks noGrp="1"/>
          </p:cNvSpPr>
          <p:nvPr>
            <p:ph type="dt" sz="half" idx="10"/>
          </p:nvPr>
        </p:nvSpPr>
        <p:spPr/>
        <p:txBody>
          <a:bodyPr/>
          <a:lstStyle/>
          <a:p>
            <a:fld id="{9EB78878-D3D7-4CD8-959A-79FB3A4330DA}"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80</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182624" y="975360"/>
            <a:ext cx="7510272" cy="2593848"/>
          </a:xfrm>
          <a:prstGeom prst="rect">
            <a:avLst/>
          </a:prstGeom>
        </p:spPr>
        <p:txBody>
          <a:bodyPr lIns="0" tIns="0" rIns="0" bIns="0">
            <a:noAutofit/>
          </a:bodyPr>
          <a:lstStyle/>
          <a:p>
            <a:pPr indent="0" algn="just">
              <a:lnSpc>
                <a:spcPts val="3000"/>
              </a:lnSpc>
              <a:spcAft>
                <a:spcPts val="1890"/>
              </a:spcAft>
            </a:pPr>
            <a:r>
              <a:rPr lang="en-US" sz="2200">
                <a:latin typeface="Calibri"/>
              </a:rPr>
              <a:t>branch on the path, taken in sequence. Note that, The characters with high frequencies have shorter code than the characters with lower frequencies. And in this coding system no code is a prefix of another code.</a:t>
            </a:r>
          </a:p>
          <a:p>
            <a:pPr indent="0" algn="just">
              <a:lnSpc>
                <a:spcPts val="3048"/>
              </a:lnSpc>
            </a:pPr>
            <a:r>
              <a:rPr lang="en-US" sz="2200">
                <a:latin typeface="Calibri"/>
              </a:rPr>
              <a:t>One drawback of Huffman coding is that both encoder and decoder need to use the same encoding table.</a:t>
            </a:r>
          </a:p>
        </p:txBody>
      </p:sp>
      <p:sp>
        <p:nvSpPr>
          <p:cNvPr id="3" name="Date Placeholder 2"/>
          <p:cNvSpPr>
            <a:spLocks noGrp="1"/>
          </p:cNvSpPr>
          <p:nvPr>
            <p:ph type="dt" sz="half" idx="10"/>
          </p:nvPr>
        </p:nvSpPr>
        <p:spPr/>
        <p:txBody>
          <a:bodyPr/>
          <a:lstStyle/>
          <a:p>
            <a:fld id="{45390890-1178-444B-B11C-A415DCAF2D92}"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81</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26136" y="969264"/>
            <a:ext cx="8382000" cy="2599944"/>
          </a:xfrm>
          <a:prstGeom prst="rect">
            <a:avLst/>
          </a:prstGeom>
        </p:spPr>
        <p:txBody>
          <a:bodyPr lIns="0" tIns="0" rIns="0" bIns="0">
            <a:noAutofit/>
          </a:bodyPr>
          <a:lstStyle/>
          <a:p>
            <a:pPr indent="0" algn="just">
              <a:lnSpc>
                <a:spcPts val="3024"/>
              </a:lnSpc>
            </a:pPr>
            <a:r>
              <a:rPr lang="en-US" sz="2200" b="1" dirty="0">
                <a:latin typeface="Calibri"/>
              </a:rPr>
              <a:t>d) Arithmetic coding</a:t>
            </a:r>
          </a:p>
          <a:p>
            <a:pPr marL="241300" indent="419100" algn="just">
              <a:lnSpc>
                <a:spcPts val="3024"/>
              </a:lnSpc>
            </a:pPr>
            <a:r>
              <a:rPr lang="en-US" sz="2200" dirty="0">
                <a:latin typeface="Calibri"/>
              </a:rPr>
              <a:t>Introduced by </a:t>
            </a:r>
            <a:r>
              <a:rPr lang="en-US" sz="2200" dirty="0" err="1">
                <a:latin typeface="Calibri"/>
              </a:rPr>
              <a:t>Rissanen</a:t>
            </a:r>
            <a:r>
              <a:rPr lang="en-US" sz="2200" dirty="0">
                <a:latin typeface="Calibri"/>
              </a:rPr>
              <a:t> and Langdon in 1981, the entire message is mapped to a small interval inside [0,1). The small interval is then encoded as a binary pattern. Arithmetic coding is based on the fact that we can have an infinite number of small intervals inside the </a:t>
            </a:r>
            <a:r>
              <a:rPr lang="en-US" sz="2200" dirty="0" err="1">
                <a:latin typeface="Calibri"/>
              </a:rPr>
              <a:t>halfopen</a:t>
            </a:r>
            <a:r>
              <a:rPr lang="en-US" sz="2200" dirty="0">
                <a:latin typeface="Calibri"/>
              </a:rPr>
              <a:t> interval [0,1). Each of these small intervals can represent one of the possible messages we can make using a finite set of symbols.</a:t>
            </a:r>
          </a:p>
        </p:txBody>
      </p:sp>
      <p:sp>
        <p:nvSpPr>
          <p:cNvPr id="3" name="Date Placeholder 2"/>
          <p:cNvSpPr>
            <a:spLocks noGrp="1"/>
          </p:cNvSpPr>
          <p:nvPr>
            <p:ph type="dt" sz="half" idx="10"/>
          </p:nvPr>
        </p:nvSpPr>
        <p:spPr/>
        <p:txBody>
          <a:bodyPr/>
          <a:lstStyle/>
          <a:p>
            <a:fld id="{5968A0A2-5117-4B9B-B63C-EE46E15F0368}"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82</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75360"/>
            <a:ext cx="6147816" cy="4998720"/>
          </a:xfrm>
          <a:prstGeom prst="rect">
            <a:avLst/>
          </a:prstGeom>
        </p:spPr>
        <p:txBody>
          <a:bodyPr lIns="0" tIns="0" rIns="0" bIns="0">
            <a:noAutofit/>
          </a:bodyPr>
          <a:lstStyle/>
          <a:p>
            <a:pPr indent="0">
              <a:spcAft>
                <a:spcPts val="1260"/>
              </a:spcAft>
            </a:pPr>
            <a:r>
              <a:rPr lang="en-US" sz="2200">
                <a:latin typeface="Calibri"/>
              </a:rPr>
              <a:t>Algorithm</a:t>
            </a:r>
          </a:p>
          <a:p>
            <a:pPr marL="939800" indent="0">
              <a:spcAft>
                <a:spcPts val="840"/>
              </a:spcAft>
            </a:pPr>
            <a:r>
              <a:rPr lang="en-US" sz="2200">
                <a:latin typeface="Calibri"/>
              </a:rPr>
              <a:t>ArithmeticEncoding(message)</a:t>
            </a:r>
          </a:p>
          <a:p>
            <a:pPr marL="939800" indent="0">
              <a:spcAft>
                <a:spcPts val="630"/>
              </a:spcAft>
            </a:pPr>
            <a:r>
              <a:rPr lang="en-US" sz="2200">
                <a:latin typeface="Calibri"/>
              </a:rPr>
              <a:t>{</a:t>
            </a:r>
          </a:p>
          <a:p>
            <a:pPr marL="1193800" indent="0">
              <a:spcAft>
                <a:spcPts val="840"/>
              </a:spcAft>
            </a:pPr>
            <a:r>
              <a:rPr lang="en-US" sz="2200">
                <a:latin typeface="Calibri"/>
              </a:rPr>
              <a:t>CurrentInterval=[0,1);</a:t>
            </a:r>
          </a:p>
          <a:p>
            <a:pPr marL="1193800" indent="0">
              <a:spcAft>
                <a:spcPts val="840"/>
              </a:spcAft>
            </a:pPr>
            <a:r>
              <a:rPr lang="en-US" sz="2200">
                <a:latin typeface="Calibri"/>
              </a:rPr>
              <a:t>While(more symbols in the message)</a:t>
            </a:r>
          </a:p>
          <a:p>
            <a:pPr marL="1193800" indent="0">
              <a:spcAft>
                <a:spcPts val="630"/>
              </a:spcAft>
            </a:pPr>
            <a:r>
              <a:rPr lang="en-US" sz="2200">
                <a:latin typeface="Calibri"/>
              </a:rPr>
              <a:t>{</a:t>
            </a:r>
          </a:p>
          <a:p>
            <a:pPr marL="1371600" indent="0">
              <a:lnSpc>
                <a:spcPts val="3000"/>
              </a:lnSpc>
            </a:pPr>
            <a:r>
              <a:rPr lang="en-US" sz="2200">
                <a:latin typeface="Calibri"/>
              </a:rPr>
              <a:t>S=Input(next symbol);</a:t>
            </a:r>
          </a:p>
          <a:p>
            <a:pPr marL="1371600" marR="130556" indent="0">
              <a:lnSpc>
                <a:spcPts val="3000"/>
              </a:lnSpc>
              <a:spcAft>
                <a:spcPts val="210"/>
              </a:spcAft>
            </a:pPr>
            <a:r>
              <a:rPr lang="en-US" sz="2200">
                <a:latin typeface="Calibri"/>
              </a:rPr>
              <a:t>Divide current interval into subintervals subInt=subinterval related to s; currentInterval = subInt;</a:t>
            </a:r>
          </a:p>
          <a:p>
            <a:pPr marL="1193800" indent="0">
              <a:spcAft>
                <a:spcPts val="630"/>
              </a:spcAft>
            </a:pPr>
            <a:r>
              <a:rPr lang="en-US" sz="2200">
                <a:latin typeface="Calibri"/>
              </a:rPr>
              <a:t>}</a:t>
            </a:r>
          </a:p>
          <a:p>
            <a:pPr marL="1079500" indent="0">
              <a:spcAft>
                <a:spcPts val="840"/>
              </a:spcAft>
            </a:pPr>
            <a:r>
              <a:rPr lang="en-US" sz="2200">
                <a:latin typeface="Calibri"/>
              </a:rPr>
              <a:t>Output(bits related to the currentInterval);</a:t>
            </a:r>
          </a:p>
          <a:p>
            <a:pPr marL="939800" indent="0"/>
            <a:r>
              <a:rPr lang="en-US" sz="2200">
                <a:latin typeface="Calibri"/>
              </a:rPr>
              <a:t>}</a:t>
            </a:r>
          </a:p>
        </p:txBody>
      </p:sp>
      <p:sp>
        <p:nvSpPr>
          <p:cNvPr id="3" name="Date Placeholder 2"/>
          <p:cNvSpPr>
            <a:spLocks noGrp="1"/>
          </p:cNvSpPr>
          <p:nvPr>
            <p:ph type="dt" sz="half" idx="10"/>
          </p:nvPr>
        </p:nvSpPr>
        <p:spPr/>
        <p:txBody>
          <a:bodyPr/>
          <a:lstStyle/>
          <a:p>
            <a:fld id="{5C5623A7-D0F7-41C2-85B7-72EAD67A097E}"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83</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176528" y="969264"/>
            <a:ext cx="5590032" cy="277368"/>
          </a:xfrm>
          <a:prstGeom prst="rect">
            <a:avLst/>
          </a:prstGeom>
        </p:spPr>
        <p:txBody>
          <a:bodyPr wrap="none" lIns="0" tIns="0" rIns="0" bIns="0">
            <a:noAutofit/>
          </a:bodyPr>
          <a:lstStyle/>
          <a:p>
            <a:pPr indent="0"/>
            <a:r>
              <a:rPr lang="en-US" sz="2300">
                <a:latin typeface="Calibri"/>
              </a:rPr>
              <a:t>ArithmeticDecoding(code)</a:t>
            </a:r>
          </a:p>
        </p:txBody>
      </p:sp>
      <p:sp>
        <p:nvSpPr>
          <p:cNvPr id="3" name="Rectangle 2"/>
          <p:cNvSpPr/>
          <p:nvPr/>
        </p:nvSpPr>
        <p:spPr>
          <a:xfrm>
            <a:off x="1176528" y="1374648"/>
            <a:ext cx="5590032" cy="4882896"/>
          </a:xfrm>
          <a:prstGeom prst="rect">
            <a:avLst/>
          </a:prstGeom>
        </p:spPr>
        <p:txBody>
          <a:bodyPr lIns="0" tIns="0" rIns="0" bIns="0">
            <a:noAutofit/>
          </a:bodyPr>
          <a:lstStyle/>
          <a:p>
            <a:pPr indent="0">
              <a:spcAft>
                <a:spcPts val="630"/>
              </a:spcAft>
            </a:pPr>
            <a:r>
              <a:rPr lang="en-US" sz="2200">
                <a:latin typeface="Calibri"/>
              </a:rPr>
              <a:t>{</a:t>
            </a:r>
          </a:p>
          <a:p>
            <a:pPr marL="254000" indent="0">
              <a:lnSpc>
                <a:spcPts val="3024"/>
              </a:lnSpc>
            </a:pPr>
            <a:r>
              <a:rPr lang="en-US" sz="2200">
                <a:latin typeface="Calibri"/>
              </a:rPr>
              <a:t>C=Input(code)</a:t>
            </a:r>
          </a:p>
          <a:p>
            <a:pPr marL="254000" indent="0">
              <a:lnSpc>
                <a:spcPts val="3024"/>
              </a:lnSpc>
            </a:pPr>
            <a:r>
              <a:rPr lang="en-US" sz="2200">
                <a:latin typeface="Calibri"/>
              </a:rPr>
              <a:t>Num=find real number related to code</a:t>
            </a:r>
          </a:p>
          <a:p>
            <a:pPr marL="254000" indent="0">
              <a:lnSpc>
                <a:spcPts val="3024"/>
              </a:lnSpc>
            </a:pPr>
            <a:r>
              <a:rPr lang="en-US" sz="2200">
                <a:latin typeface="Calibri"/>
              </a:rPr>
              <a:t>currentInterval=[0,1);</a:t>
            </a:r>
          </a:p>
          <a:p>
            <a:pPr marL="254000" indent="0">
              <a:lnSpc>
                <a:spcPts val="3024"/>
              </a:lnSpc>
            </a:pPr>
            <a:r>
              <a:rPr lang="en-US" sz="2200">
                <a:latin typeface="Calibri"/>
              </a:rPr>
              <a:t>while(true)</a:t>
            </a:r>
          </a:p>
          <a:p>
            <a:pPr marL="254000" indent="0">
              <a:spcAft>
                <a:spcPts val="630"/>
              </a:spcAft>
            </a:pPr>
            <a:r>
              <a:rPr lang="en-US" sz="2200">
                <a:latin typeface="Calibri"/>
              </a:rPr>
              <a:t>{</a:t>
            </a:r>
          </a:p>
          <a:p>
            <a:pPr marL="495300" indent="0">
              <a:lnSpc>
                <a:spcPts val="3024"/>
              </a:lnSpc>
            </a:pPr>
            <a:r>
              <a:rPr lang="en-US" sz="2200">
                <a:latin typeface="Calibri"/>
              </a:rPr>
              <a:t>Divide the currentInterval into subintervals subInt=subinterval related to num; Output(symbol related to subint);</a:t>
            </a:r>
          </a:p>
          <a:p>
            <a:pPr marL="495300" indent="0">
              <a:lnSpc>
                <a:spcPts val="3024"/>
              </a:lnSpc>
            </a:pPr>
            <a:r>
              <a:rPr lang="en-US" sz="2200">
                <a:latin typeface="Calibri"/>
              </a:rPr>
              <a:t>If(symbol is the terminating symbol) currentInterval=subInt;</a:t>
            </a:r>
          </a:p>
          <a:p>
            <a:pPr marL="254000" indent="0">
              <a:spcAft>
                <a:spcPts val="630"/>
              </a:spcAft>
            </a:pPr>
            <a:r>
              <a:rPr lang="en-US" sz="2200">
                <a:latin typeface="Calibri"/>
              </a:rPr>
              <a:t>}</a:t>
            </a:r>
          </a:p>
          <a:p>
            <a:pPr indent="0"/>
            <a:r>
              <a:rPr lang="en-US" sz="2200">
                <a:latin typeface="Calibri"/>
              </a:rPr>
              <a:t>}</a:t>
            </a:r>
          </a:p>
        </p:txBody>
      </p:sp>
      <p:sp>
        <p:nvSpPr>
          <p:cNvPr id="4" name="Date Placeholder 3"/>
          <p:cNvSpPr>
            <a:spLocks noGrp="1"/>
          </p:cNvSpPr>
          <p:nvPr>
            <p:ph type="dt" sz="half" idx="10"/>
          </p:nvPr>
        </p:nvSpPr>
        <p:spPr/>
        <p:txBody>
          <a:bodyPr/>
          <a:lstStyle/>
          <a:p>
            <a:fld id="{D2CD25AE-D606-4200-A9F9-FA0C49CCE966}"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84</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62128" y="996696"/>
            <a:ext cx="8433816" cy="4864608"/>
          </a:xfrm>
          <a:prstGeom prst="rect">
            <a:avLst/>
          </a:prstGeom>
        </p:spPr>
        <p:txBody>
          <a:bodyPr lIns="0" tIns="0" rIns="0" bIns="0">
            <a:noAutofit/>
          </a:bodyPr>
          <a:lstStyle/>
          <a:p>
            <a:pPr marL="254000" indent="0">
              <a:spcAft>
                <a:spcPts val="1470"/>
              </a:spcAft>
            </a:pPr>
            <a:r>
              <a:rPr lang="en-US" sz="2200" b="1" dirty="0">
                <a:latin typeface="Calibri"/>
              </a:rPr>
              <a:t>• </a:t>
            </a:r>
            <a:r>
              <a:rPr lang="en-US" sz="2200" b="1" dirty="0" err="1">
                <a:latin typeface="Calibri"/>
              </a:rPr>
              <a:t>Lossy</a:t>
            </a:r>
            <a:r>
              <a:rPr lang="en-US" sz="2200" b="1" dirty="0">
                <a:latin typeface="Calibri"/>
              </a:rPr>
              <a:t> Compression</a:t>
            </a:r>
          </a:p>
          <a:p>
            <a:pPr indent="0" algn="just">
              <a:lnSpc>
                <a:spcPts val="3024"/>
              </a:lnSpc>
              <a:spcAft>
                <a:spcPts val="420"/>
              </a:spcAft>
            </a:pPr>
            <a:r>
              <a:rPr lang="en-US" sz="2200" dirty="0">
                <a:latin typeface="Calibri"/>
              </a:rPr>
              <a:t>	Lossless compression has limits on the amount of compression. Increasing the compression rate accuracy will be decreased. Text can't be compressed but images, video and audio can be.</a:t>
            </a:r>
          </a:p>
          <a:p>
            <a:pPr indent="0" algn="just">
              <a:lnSpc>
                <a:spcPts val="3024"/>
              </a:lnSpc>
              <a:spcAft>
                <a:spcPts val="420"/>
              </a:spcAft>
            </a:pPr>
            <a:endParaRPr lang="en-US" sz="2200" b="1" dirty="0">
              <a:latin typeface="Calibri"/>
            </a:endParaRPr>
          </a:p>
          <a:p>
            <a:pPr indent="0" algn="just">
              <a:spcAft>
                <a:spcPts val="1470"/>
              </a:spcAft>
            </a:pPr>
            <a:r>
              <a:rPr lang="en-US" sz="2200" b="1" dirty="0">
                <a:latin typeface="Calibri"/>
              </a:rPr>
              <a:t>1-Predictive Coding</a:t>
            </a:r>
          </a:p>
          <a:p>
            <a:pPr indent="495300" algn="just">
              <a:lnSpc>
                <a:spcPts val="3024"/>
              </a:lnSpc>
            </a:pPr>
            <a:r>
              <a:rPr lang="en-US" sz="2200" dirty="0">
                <a:latin typeface="Calibri"/>
              </a:rPr>
              <a:t>Is used when an analog signal is digitized. When an analog signal is converted to digital using sampling, after sampling each sample needs to be quantized to create binary values. Compression can be achieved in the quantization step by using predictive coding. This technique is Pulse code modulation, where samples are quantized separately. The neighboring quantized samples however, are closely related and have similar values. In predictive coding, instead of quantizing each sample</a:t>
            </a:r>
          </a:p>
        </p:txBody>
      </p:sp>
      <p:sp>
        <p:nvSpPr>
          <p:cNvPr id="3" name="Date Placeholder 2"/>
          <p:cNvSpPr>
            <a:spLocks noGrp="1"/>
          </p:cNvSpPr>
          <p:nvPr>
            <p:ph type="dt" sz="half" idx="10"/>
          </p:nvPr>
        </p:nvSpPr>
        <p:spPr/>
        <p:txBody>
          <a:bodyPr/>
          <a:lstStyle/>
          <a:p>
            <a:fld id="{3A87E0C0-A0E4-4C2D-87B7-1EFF06FE7D2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85</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6032" y="972312"/>
            <a:ext cx="8506968" cy="5096256"/>
          </a:xfrm>
          <a:prstGeom prst="rect">
            <a:avLst/>
          </a:prstGeom>
        </p:spPr>
        <p:txBody>
          <a:bodyPr lIns="0" tIns="0" rIns="0" bIns="0">
            <a:noAutofit/>
          </a:bodyPr>
          <a:lstStyle/>
          <a:p>
            <a:pPr indent="0" algn="just"/>
            <a:r>
              <a:rPr lang="en-US" sz="2200" dirty="0">
                <a:latin typeface="Calibri"/>
              </a:rPr>
              <a:t>separately, the differences are quantized. The differences are smaller than the actual samples and thus require fewer bits.</a:t>
            </a:r>
          </a:p>
          <a:p>
            <a:pPr indent="0" algn="just"/>
            <a:endParaRPr lang="en-US" sz="2200" dirty="0">
              <a:latin typeface="Calibri"/>
            </a:endParaRPr>
          </a:p>
          <a:p>
            <a:pPr indent="0" algn="just"/>
            <a:r>
              <a:rPr lang="en-US" sz="2200" b="1" dirty="0">
                <a:latin typeface="Calibri"/>
              </a:rPr>
              <a:t>2-Delta modulation</a:t>
            </a:r>
          </a:p>
          <a:p>
            <a:pPr indent="482600" algn="just"/>
            <a:r>
              <a:rPr lang="en-US" sz="2200" dirty="0">
                <a:latin typeface="Calibri"/>
              </a:rPr>
              <a:t>This is the simplest method. Let </a:t>
            </a:r>
            <a:r>
              <a:rPr lang="en-US" sz="2200" dirty="0" err="1">
                <a:latin typeface="Calibri"/>
              </a:rPr>
              <a:t>xn</a:t>
            </a:r>
            <a:r>
              <a:rPr lang="en-US" sz="2200" dirty="0">
                <a:latin typeface="Calibri"/>
              </a:rPr>
              <a:t> be the value of the original function at sampling interval n, </a:t>
            </a:r>
            <a:r>
              <a:rPr lang="en-US" sz="2200" dirty="0" err="1">
                <a:latin typeface="Calibri"/>
              </a:rPr>
              <a:t>yn</a:t>
            </a:r>
            <a:r>
              <a:rPr lang="en-US" sz="2200" dirty="0">
                <a:latin typeface="Calibri"/>
              </a:rPr>
              <a:t> be the reconstructed value. The sender quantizes </a:t>
            </a:r>
            <a:r>
              <a:rPr lang="en-US" sz="2200" dirty="0" err="1">
                <a:latin typeface="Calibri"/>
              </a:rPr>
              <a:t>en</a:t>
            </a:r>
            <a:r>
              <a:rPr lang="en-US" sz="2200" dirty="0">
                <a:latin typeface="Calibri"/>
              </a:rPr>
              <a:t>, the difference between each sample (</a:t>
            </a:r>
            <a:r>
              <a:rPr lang="en-US" sz="2200" dirty="0" err="1">
                <a:latin typeface="Calibri"/>
              </a:rPr>
              <a:t>xn</a:t>
            </a:r>
            <a:r>
              <a:rPr lang="en-US" sz="2200" dirty="0">
                <a:latin typeface="Calibri"/>
              </a:rPr>
              <a:t>) and the preceding reconstructed value (yn-1).</a:t>
            </a:r>
          </a:p>
          <a:p>
            <a:pPr indent="0" algn="just"/>
            <a:r>
              <a:rPr lang="en-US" sz="2200" dirty="0">
                <a:latin typeface="Calibri"/>
              </a:rPr>
              <a:t>	The sender then transmits Cn. The receiver reconstructs </a:t>
            </a:r>
            <a:r>
              <a:rPr lang="en-US" sz="2200" dirty="0" err="1">
                <a:latin typeface="Calibri"/>
              </a:rPr>
              <a:t>sampe</a:t>
            </a:r>
            <a:r>
              <a:rPr lang="en-US" sz="2200" dirty="0">
                <a:latin typeface="Calibri"/>
              </a:rPr>
              <a:t> </a:t>
            </a:r>
            <a:r>
              <a:rPr lang="en-US" sz="2200" dirty="0" err="1">
                <a:latin typeface="Calibri"/>
              </a:rPr>
              <a:t>yn</a:t>
            </a:r>
            <a:r>
              <a:rPr lang="en-US" sz="2200" dirty="0">
                <a:latin typeface="Calibri"/>
              </a:rPr>
              <a:t> from the received Cn.</a:t>
            </a:r>
          </a:p>
          <a:p>
            <a:pPr indent="0" algn="just"/>
            <a:r>
              <a:rPr lang="en-US" sz="2200" dirty="0">
                <a:latin typeface="Calibri"/>
              </a:rPr>
              <a:t>	Other include Differential PCM, Adaptive DM etc.</a:t>
            </a:r>
          </a:p>
          <a:p>
            <a:pPr indent="0" algn="just"/>
            <a:r>
              <a:rPr lang="en-US" sz="2200" dirty="0">
                <a:latin typeface="Calibri"/>
              </a:rPr>
              <a:t>	Other multimedia is compressed by using various techniques like images are compressed as JPEG, GIF. And videos as MPEG4, Audio as MP3 etc.</a:t>
            </a:r>
          </a:p>
        </p:txBody>
      </p:sp>
      <p:sp>
        <p:nvSpPr>
          <p:cNvPr id="3" name="Date Placeholder 2"/>
          <p:cNvSpPr>
            <a:spLocks noGrp="1"/>
          </p:cNvSpPr>
          <p:nvPr>
            <p:ph type="dt" sz="half" idx="10"/>
          </p:nvPr>
        </p:nvSpPr>
        <p:spPr/>
        <p:txBody>
          <a:bodyPr/>
          <a:lstStyle/>
          <a:p>
            <a:fld id="{87886681-20CF-4CBB-AF74-71AE7F430F9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86</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5424" y="975360"/>
            <a:ext cx="7979664" cy="3343656"/>
          </a:xfrm>
          <a:prstGeom prst="rect">
            <a:avLst/>
          </a:prstGeom>
        </p:spPr>
        <p:txBody>
          <a:bodyPr lIns="0" tIns="0" rIns="0" bIns="0">
            <a:noAutofit/>
          </a:bodyPr>
          <a:lstStyle/>
          <a:p>
            <a:pPr marL="79756" indent="0" algn="just">
              <a:spcAft>
                <a:spcPts val="1890"/>
              </a:spcAft>
            </a:pPr>
            <a:r>
              <a:rPr lang="en-US" sz="2200" b="1" dirty="0">
                <a:latin typeface="Calibri"/>
              </a:rPr>
              <a:t>Cryptography</a:t>
            </a:r>
          </a:p>
          <a:p>
            <a:pPr marL="79756" indent="381000">
              <a:lnSpc>
                <a:spcPts val="2784"/>
              </a:lnSpc>
              <a:spcAft>
                <a:spcPts val="840"/>
              </a:spcAft>
            </a:pPr>
            <a:r>
              <a:rPr lang="en-US" sz="2200" dirty="0">
                <a:solidFill>
                  <a:srgbClr val="3B3049"/>
                </a:solidFill>
                <a:latin typeface="Calibri"/>
              </a:rPr>
              <a:t>The Three Security Goals are Confidentiality, Integrity, and Availability</a:t>
            </a:r>
          </a:p>
          <a:p>
            <a:pPr marL="79756" indent="0" algn="just">
              <a:lnSpc>
                <a:spcPts val="2808"/>
              </a:lnSpc>
              <a:spcAft>
                <a:spcPts val="840"/>
              </a:spcAft>
            </a:pPr>
            <a:r>
              <a:rPr lang="en-US" sz="2200" dirty="0">
                <a:solidFill>
                  <a:srgbClr val="3B3049"/>
                </a:solidFill>
                <a:latin typeface="Calibri"/>
              </a:rPr>
              <a:t>	All information security measures try to address at least one of three goals:</a:t>
            </a:r>
          </a:p>
          <a:p>
            <a:pPr marL="79756" indent="0" algn="just">
              <a:lnSpc>
                <a:spcPts val="2808"/>
              </a:lnSpc>
              <a:spcAft>
                <a:spcPts val="840"/>
              </a:spcAft>
            </a:pPr>
            <a:endParaRPr lang="en-US" sz="2200" dirty="0">
              <a:solidFill>
                <a:srgbClr val="3B3049"/>
              </a:solidFill>
              <a:latin typeface="Calibri"/>
            </a:endParaRPr>
          </a:p>
          <a:p>
            <a:pPr marL="79756" indent="0" algn="just">
              <a:lnSpc>
                <a:spcPts val="2784"/>
              </a:lnSpc>
            </a:pPr>
            <a:r>
              <a:rPr lang="en-US" sz="2200" dirty="0">
                <a:solidFill>
                  <a:srgbClr val="3B3049"/>
                </a:solidFill>
                <a:latin typeface="Calibri"/>
              </a:rPr>
              <a:t>. Protect the confidentiality of data</a:t>
            </a:r>
          </a:p>
          <a:p>
            <a:pPr marL="79756" indent="0" algn="just">
              <a:lnSpc>
                <a:spcPts val="2784"/>
              </a:lnSpc>
            </a:pPr>
            <a:r>
              <a:rPr lang="en-US" sz="2200" dirty="0">
                <a:solidFill>
                  <a:srgbClr val="3B3049"/>
                </a:solidFill>
                <a:latin typeface="Calibri"/>
              </a:rPr>
              <a:t>. Preserve the integrity of data</a:t>
            </a:r>
          </a:p>
          <a:p>
            <a:pPr marL="79756" indent="0" algn="just">
              <a:lnSpc>
                <a:spcPts val="2784"/>
              </a:lnSpc>
            </a:pPr>
            <a:r>
              <a:rPr lang="en-US" sz="2200" dirty="0">
                <a:solidFill>
                  <a:srgbClr val="3B3049"/>
                </a:solidFill>
                <a:latin typeface="Calibri"/>
              </a:rPr>
              <a:t>. Promote the availability of data for authorized use</a:t>
            </a:r>
          </a:p>
        </p:txBody>
      </p:sp>
      <p:sp>
        <p:nvSpPr>
          <p:cNvPr id="3" name="Date Placeholder 2"/>
          <p:cNvSpPr>
            <a:spLocks noGrp="1"/>
          </p:cNvSpPr>
          <p:nvPr>
            <p:ph type="dt" sz="half" idx="10"/>
          </p:nvPr>
        </p:nvSpPr>
        <p:spPr/>
        <p:txBody>
          <a:bodyPr/>
          <a:lstStyle/>
          <a:p>
            <a:fld id="{92613723-23C8-43BE-B66F-AD47EEC30ED1}"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87</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Model(CO5)</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89432" y="1026160"/>
            <a:ext cx="999744" cy="237744"/>
          </a:xfrm>
          <a:prstGeom prst="rect">
            <a:avLst/>
          </a:prstGeom>
        </p:spPr>
        <p:txBody>
          <a:bodyPr wrap="none" lIns="0" tIns="0" rIns="0" bIns="0">
            <a:noAutofit/>
          </a:bodyPr>
          <a:lstStyle/>
          <a:p>
            <a:pPr marL="257048" indent="-228600">
              <a:spcAft>
                <a:spcPts val="1680"/>
              </a:spcAft>
            </a:pPr>
            <a:r>
              <a:rPr lang="en-US" sz="2200" b="1" dirty="0">
                <a:solidFill>
                  <a:srgbClr val="3B3049"/>
                </a:solidFill>
                <a:latin typeface="Calibri"/>
              </a:rPr>
              <a:t>Attacks:</a:t>
            </a:r>
          </a:p>
        </p:txBody>
      </p:sp>
      <p:sp>
        <p:nvSpPr>
          <p:cNvPr id="3" name="Rectangle 2"/>
          <p:cNvSpPr/>
          <p:nvPr/>
        </p:nvSpPr>
        <p:spPr>
          <a:xfrm>
            <a:off x="789432" y="1508760"/>
            <a:ext cx="7912608" cy="2377440"/>
          </a:xfrm>
          <a:prstGeom prst="rect">
            <a:avLst/>
          </a:prstGeom>
        </p:spPr>
        <p:txBody>
          <a:bodyPr lIns="0" tIns="0" rIns="0" bIns="0">
            <a:noAutofit/>
          </a:bodyPr>
          <a:lstStyle/>
          <a:p>
            <a:pPr indent="0" algn="just">
              <a:lnSpc>
                <a:spcPts val="2856"/>
              </a:lnSpc>
              <a:spcBef>
                <a:spcPts val="1680"/>
              </a:spcBef>
              <a:spcAft>
                <a:spcPts val="840"/>
              </a:spcAft>
            </a:pPr>
            <a:r>
              <a:rPr lang="en-US" sz="2200" dirty="0">
                <a:solidFill>
                  <a:srgbClr val="3B3049"/>
                </a:solidFill>
                <a:latin typeface="Calibri"/>
              </a:rPr>
              <a:t>One of the three security goals can be threatened by security attacks</a:t>
            </a:r>
          </a:p>
          <a:p>
            <a:pPr indent="0" algn="just">
              <a:lnSpc>
                <a:spcPts val="2856"/>
              </a:lnSpc>
              <a:spcBef>
                <a:spcPts val="1680"/>
              </a:spcBef>
              <a:spcAft>
                <a:spcPts val="840"/>
              </a:spcAft>
            </a:pPr>
            <a:endParaRPr lang="en-US" sz="2200" dirty="0">
              <a:solidFill>
                <a:srgbClr val="3B3049"/>
              </a:solidFill>
              <a:latin typeface="Calibri"/>
            </a:endParaRPr>
          </a:p>
          <a:p>
            <a:pPr marL="257048" indent="-228600">
              <a:spcAft>
                <a:spcPts val="1680"/>
              </a:spcAft>
            </a:pPr>
            <a:r>
              <a:rPr lang="en-US" sz="2200" b="1" dirty="0">
                <a:solidFill>
                  <a:srgbClr val="3B3049"/>
                </a:solidFill>
                <a:latin typeface="Calibri"/>
              </a:rPr>
              <a:t>Threat to confidentiality</a:t>
            </a:r>
          </a:p>
          <a:p>
            <a:pPr marL="257048" indent="-228600">
              <a:lnSpc>
                <a:spcPts val="2808"/>
              </a:lnSpc>
            </a:pPr>
            <a:r>
              <a:rPr lang="en-US" sz="2200" dirty="0">
                <a:solidFill>
                  <a:srgbClr val="3B3049"/>
                </a:solidFill>
                <a:latin typeface="Calibri"/>
              </a:rPr>
              <a:t>1.</a:t>
            </a:r>
            <a:r>
              <a:rPr lang="en-US" sz="2200" b="1" dirty="0">
                <a:solidFill>
                  <a:srgbClr val="3B3049"/>
                </a:solidFill>
                <a:latin typeface="Calibri"/>
              </a:rPr>
              <a:t>Snooping </a:t>
            </a:r>
            <a:r>
              <a:rPr lang="en-US" sz="2200" dirty="0">
                <a:solidFill>
                  <a:srgbClr val="3B3049"/>
                </a:solidFill>
                <a:latin typeface="Calibri"/>
              </a:rPr>
              <a:t>- unauthorized access to or interception of data</a:t>
            </a:r>
          </a:p>
          <a:p>
            <a:pPr marL="257048" indent="-228600">
              <a:lnSpc>
                <a:spcPts val="2808"/>
              </a:lnSpc>
            </a:pPr>
            <a:r>
              <a:rPr lang="en-US" sz="2200" b="1" dirty="0">
                <a:solidFill>
                  <a:srgbClr val="3B3049"/>
                </a:solidFill>
                <a:latin typeface="Calibri"/>
              </a:rPr>
              <a:t>2.Traffic Analysis </a:t>
            </a:r>
            <a:r>
              <a:rPr lang="en-US" sz="2200" dirty="0">
                <a:solidFill>
                  <a:srgbClr val="3B3049"/>
                </a:solidFill>
                <a:latin typeface="Calibri"/>
              </a:rPr>
              <a:t>- by monitoring online traffic some other data can be accessed</a:t>
            </a:r>
          </a:p>
        </p:txBody>
      </p:sp>
      <p:sp>
        <p:nvSpPr>
          <p:cNvPr id="4" name="Date Placeholder 3"/>
          <p:cNvSpPr>
            <a:spLocks noGrp="1"/>
          </p:cNvSpPr>
          <p:nvPr>
            <p:ph type="dt" sz="half" idx="10"/>
          </p:nvPr>
        </p:nvSpPr>
        <p:spPr/>
        <p:txBody>
          <a:bodyPr/>
          <a:lstStyle/>
          <a:p>
            <a:fld id="{625FD2DA-6A1F-4DDB-8740-58AE6231C84F}"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88</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71932" y="1089660"/>
            <a:ext cx="8468868" cy="4828540"/>
          </a:xfrm>
          <a:prstGeom prst="rect">
            <a:avLst/>
          </a:prstGeom>
        </p:spPr>
        <p:txBody>
          <a:bodyPr lIns="0" tIns="0" rIns="0" bIns="0">
            <a:noAutofit/>
          </a:bodyPr>
          <a:lstStyle/>
          <a:p>
            <a:pPr marL="257048" indent="-228600">
              <a:spcAft>
                <a:spcPts val="1680"/>
              </a:spcAft>
            </a:pPr>
            <a:r>
              <a:rPr lang="en-US" sz="2200" b="1" dirty="0">
                <a:solidFill>
                  <a:srgbClr val="3B3049"/>
                </a:solidFill>
                <a:latin typeface="Calibri"/>
              </a:rPr>
              <a:t>Threat to integrity</a:t>
            </a:r>
          </a:p>
          <a:p>
            <a:pPr marL="485648" indent="-457200">
              <a:lnSpc>
                <a:spcPts val="2784"/>
              </a:lnSpc>
              <a:buAutoNum type="arabicPeriod"/>
            </a:pPr>
            <a:r>
              <a:rPr lang="en-US" sz="2200" b="1" dirty="0">
                <a:solidFill>
                  <a:srgbClr val="3B3049"/>
                </a:solidFill>
                <a:latin typeface="Calibri"/>
              </a:rPr>
              <a:t>Modification</a:t>
            </a:r>
            <a:r>
              <a:rPr lang="en-US" sz="2200" dirty="0">
                <a:solidFill>
                  <a:srgbClr val="3B3049"/>
                </a:solidFill>
                <a:latin typeface="Calibri"/>
              </a:rPr>
              <a:t> - the attacker modifies the information to make it beneficial to </a:t>
            </a:r>
            <a:r>
              <a:rPr lang="en-US" sz="2200" dirty="0" err="1">
                <a:solidFill>
                  <a:srgbClr val="3B3049"/>
                </a:solidFill>
                <a:latin typeface="Calibri"/>
              </a:rPr>
              <a:t>ownself</a:t>
            </a:r>
            <a:r>
              <a:rPr lang="en-US" sz="2200" dirty="0">
                <a:solidFill>
                  <a:srgbClr val="3B3049"/>
                </a:solidFill>
                <a:latin typeface="Calibri"/>
              </a:rPr>
              <a:t>.</a:t>
            </a:r>
          </a:p>
          <a:p>
            <a:pPr marL="485648" indent="-457200">
              <a:lnSpc>
                <a:spcPts val="2784"/>
              </a:lnSpc>
              <a:buAutoNum type="arabicPeriod"/>
            </a:pPr>
            <a:endParaRPr lang="en-US" sz="2200" dirty="0">
              <a:solidFill>
                <a:srgbClr val="3B3049"/>
              </a:solidFill>
              <a:latin typeface="Calibri"/>
            </a:endParaRPr>
          </a:p>
          <a:p>
            <a:pPr marL="457200" indent="-457200">
              <a:lnSpc>
                <a:spcPts val="2784"/>
              </a:lnSpc>
            </a:pPr>
            <a:r>
              <a:rPr lang="en-US" sz="2200" dirty="0">
                <a:solidFill>
                  <a:srgbClr val="3B3049"/>
                </a:solidFill>
                <a:latin typeface="Calibri"/>
              </a:rPr>
              <a:t>2.</a:t>
            </a:r>
            <a:r>
              <a:rPr lang="en-US" sz="2200" dirty="0">
                <a:latin typeface="Calibri"/>
              </a:rPr>
              <a:t>	</a:t>
            </a:r>
            <a:r>
              <a:rPr lang="en-US" sz="2200" b="1" dirty="0">
                <a:solidFill>
                  <a:srgbClr val="3B3049"/>
                </a:solidFill>
                <a:latin typeface="Calibri"/>
              </a:rPr>
              <a:t>Masquerading</a:t>
            </a:r>
            <a:r>
              <a:rPr lang="en-US" sz="2200" dirty="0">
                <a:solidFill>
                  <a:srgbClr val="3B3049"/>
                </a:solidFill>
                <a:latin typeface="Calibri"/>
              </a:rPr>
              <a:t> - spoofing when the attacker impersonates somebody else</a:t>
            </a:r>
          </a:p>
          <a:p>
            <a:pPr marL="257048" indent="-228600">
              <a:lnSpc>
                <a:spcPts val="2784"/>
              </a:lnSpc>
            </a:pPr>
            <a:endParaRPr lang="en-US" sz="2200" dirty="0">
              <a:solidFill>
                <a:srgbClr val="3B3049"/>
              </a:solidFill>
              <a:latin typeface="Calibri"/>
            </a:endParaRPr>
          </a:p>
          <a:p>
            <a:pPr marL="257048" indent="-228600">
              <a:lnSpc>
                <a:spcPts val="2784"/>
              </a:lnSpc>
            </a:pPr>
            <a:r>
              <a:rPr lang="en-US" sz="2200" dirty="0">
                <a:solidFill>
                  <a:srgbClr val="3B3049"/>
                </a:solidFill>
                <a:latin typeface="Calibri"/>
              </a:rPr>
              <a:t>3.		</a:t>
            </a:r>
            <a:r>
              <a:rPr lang="en-US" sz="2200" b="1" dirty="0">
                <a:solidFill>
                  <a:srgbClr val="3B3049"/>
                </a:solidFill>
                <a:latin typeface="Calibri"/>
              </a:rPr>
              <a:t>Replaying</a:t>
            </a:r>
            <a:r>
              <a:rPr lang="en-US" sz="2200" dirty="0">
                <a:solidFill>
                  <a:srgbClr val="3B3049"/>
                </a:solidFill>
                <a:latin typeface="Calibri"/>
              </a:rPr>
              <a:t> - attacker attains the copy of the message and replays it.</a:t>
            </a:r>
          </a:p>
          <a:p>
            <a:pPr marL="257048" indent="-228600">
              <a:lnSpc>
                <a:spcPts val="2784"/>
              </a:lnSpc>
            </a:pPr>
            <a:endParaRPr lang="en-US" sz="2200" dirty="0">
              <a:solidFill>
                <a:srgbClr val="3B3049"/>
              </a:solidFill>
              <a:latin typeface="Calibri"/>
            </a:endParaRPr>
          </a:p>
          <a:p>
            <a:pPr marL="257048" indent="-228600">
              <a:lnSpc>
                <a:spcPts val="2784"/>
              </a:lnSpc>
            </a:pPr>
            <a:r>
              <a:rPr lang="en-US" sz="2200" dirty="0">
                <a:solidFill>
                  <a:srgbClr val="3B3049"/>
                </a:solidFill>
                <a:latin typeface="Calibri"/>
              </a:rPr>
              <a:t>4.</a:t>
            </a:r>
            <a:r>
              <a:rPr lang="en-US" sz="2200" dirty="0">
                <a:latin typeface="Calibri"/>
              </a:rPr>
              <a:t>		</a:t>
            </a:r>
            <a:r>
              <a:rPr lang="en-US" sz="2200" b="1" dirty="0">
                <a:solidFill>
                  <a:srgbClr val="3B3049"/>
                </a:solidFill>
                <a:latin typeface="Calibri"/>
              </a:rPr>
              <a:t>Repudiation</a:t>
            </a:r>
            <a:r>
              <a:rPr lang="en-US" sz="2200" dirty="0">
                <a:solidFill>
                  <a:srgbClr val="3B3049"/>
                </a:solidFill>
                <a:latin typeface="Calibri"/>
              </a:rPr>
              <a:t> - performed by one of the party in the communication</a:t>
            </a:r>
          </a:p>
        </p:txBody>
      </p:sp>
      <p:sp>
        <p:nvSpPr>
          <p:cNvPr id="3" name="Date Placeholder 2"/>
          <p:cNvSpPr>
            <a:spLocks noGrp="1"/>
          </p:cNvSpPr>
          <p:nvPr>
            <p:ph type="dt" sz="half" idx="10"/>
          </p:nvPr>
        </p:nvSpPr>
        <p:spPr/>
        <p:txBody>
          <a:bodyPr/>
          <a:lstStyle/>
          <a:p>
            <a:fld id="{9578B65E-8991-417A-9CB2-9215975E47A2}"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89</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89432" y="975360"/>
            <a:ext cx="7912608" cy="4386072"/>
          </a:xfrm>
          <a:prstGeom prst="rect">
            <a:avLst/>
          </a:prstGeom>
        </p:spPr>
        <p:txBody>
          <a:bodyPr lIns="0" tIns="0" rIns="0" bIns="0">
            <a:noAutofit/>
          </a:bodyPr>
          <a:lstStyle/>
          <a:p>
            <a:pPr indent="0" algn="just">
              <a:lnSpc>
                <a:spcPts val="4200"/>
              </a:lnSpc>
            </a:pPr>
            <a:r>
              <a:rPr lang="en-US" sz="2200" b="1" dirty="0">
                <a:solidFill>
                  <a:srgbClr val="3B3049"/>
                </a:solidFill>
                <a:latin typeface="Calibri"/>
              </a:rPr>
              <a:t>Threat to availability</a:t>
            </a:r>
          </a:p>
          <a:p>
            <a:pPr marR="5419852" indent="0">
              <a:lnSpc>
                <a:spcPts val="4200"/>
              </a:lnSpc>
            </a:pPr>
            <a:r>
              <a:rPr lang="en-US" sz="2200" b="1" dirty="0" err="1">
                <a:solidFill>
                  <a:srgbClr val="3B3049"/>
                </a:solidFill>
                <a:latin typeface="Calibri"/>
              </a:rPr>
              <a:t>l.Denial</a:t>
            </a:r>
            <a:r>
              <a:rPr lang="en-US" sz="2200" b="1" dirty="0">
                <a:solidFill>
                  <a:srgbClr val="3B3049"/>
                </a:solidFill>
                <a:latin typeface="Calibri"/>
              </a:rPr>
              <a:t> of service -Techniques</a:t>
            </a:r>
          </a:p>
          <a:p>
            <a:pPr indent="0" algn="just">
              <a:lnSpc>
                <a:spcPts val="2832"/>
              </a:lnSpc>
              <a:spcAft>
                <a:spcPts val="840"/>
              </a:spcAft>
            </a:pPr>
            <a:r>
              <a:rPr lang="en-US" sz="2200" dirty="0">
                <a:solidFill>
                  <a:srgbClr val="3B3049"/>
                </a:solidFill>
                <a:latin typeface="Calibri"/>
              </a:rPr>
              <a:t>There are some security services to achieve security goals and prevent attacks. The techniques are</a:t>
            </a:r>
          </a:p>
          <a:p>
            <a:pPr indent="0" algn="just">
              <a:lnSpc>
                <a:spcPts val="2808"/>
              </a:lnSpc>
              <a:spcAft>
                <a:spcPts val="840"/>
              </a:spcAft>
            </a:pPr>
            <a:r>
              <a:rPr lang="en-US" sz="2200" u="sng" dirty="0">
                <a:solidFill>
                  <a:srgbClr val="3B3049"/>
                </a:solidFill>
                <a:latin typeface="Calibri"/>
              </a:rPr>
              <a:t>Cryptography</a:t>
            </a:r>
            <a:r>
              <a:rPr lang="en-US" sz="2200" dirty="0">
                <a:solidFill>
                  <a:srgbClr val="3B3049"/>
                </a:solidFill>
                <a:latin typeface="Calibri"/>
              </a:rPr>
              <a:t> - secret writing. Transform messages to make them secure and immune to attacks. It includes - symmetric key </a:t>
            </a:r>
            <a:r>
              <a:rPr lang="en-US" sz="2200" dirty="0" err="1">
                <a:solidFill>
                  <a:srgbClr val="3B3049"/>
                </a:solidFill>
                <a:latin typeface="Calibri"/>
              </a:rPr>
              <a:t>encipherment</a:t>
            </a:r>
            <a:r>
              <a:rPr lang="en-US" sz="2200" dirty="0">
                <a:solidFill>
                  <a:srgbClr val="3B3049"/>
                </a:solidFill>
                <a:latin typeface="Calibri"/>
              </a:rPr>
              <a:t>, </a:t>
            </a:r>
            <a:r>
              <a:rPr lang="en-US" sz="2200" dirty="0" err="1">
                <a:solidFill>
                  <a:srgbClr val="3B3049"/>
                </a:solidFill>
                <a:latin typeface="Calibri"/>
              </a:rPr>
              <a:t>assymetric</a:t>
            </a:r>
            <a:r>
              <a:rPr lang="en-US" sz="2200" dirty="0">
                <a:solidFill>
                  <a:srgbClr val="3B3049"/>
                </a:solidFill>
                <a:latin typeface="Calibri"/>
              </a:rPr>
              <a:t> key </a:t>
            </a:r>
            <a:r>
              <a:rPr lang="en-US" sz="2200" dirty="0" err="1">
                <a:solidFill>
                  <a:srgbClr val="3B3049"/>
                </a:solidFill>
                <a:latin typeface="Calibri"/>
              </a:rPr>
              <a:t>encipherment</a:t>
            </a:r>
            <a:r>
              <a:rPr lang="en-US" sz="2200" dirty="0">
                <a:solidFill>
                  <a:srgbClr val="3B3049"/>
                </a:solidFill>
                <a:latin typeface="Calibri"/>
              </a:rPr>
              <a:t> and hashing.</a:t>
            </a:r>
          </a:p>
          <a:p>
            <a:pPr indent="0" algn="just">
              <a:lnSpc>
                <a:spcPts val="2808"/>
              </a:lnSpc>
            </a:pPr>
            <a:r>
              <a:rPr lang="en-US" sz="2200" u="sng" dirty="0">
                <a:solidFill>
                  <a:srgbClr val="3B3049"/>
                </a:solidFill>
                <a:latin typeface="Calibri"/>
              </a:rPr>
              <a:t>Steganography</a:t>
            </a:r>
            <a:r>
              <a:rPr lang="en-US" sz="2200" dirty="0">
                <a:solidFill>
                  <a:srgbClr val="3B3049"/>
                </a:solidFill>
                <a:latin typeface="Calibri"/>
              </a:rPr>
              <a:t> - covered writing. Concealing the message itself by covering it with something else.</a:t>
            </a:r>
          </a:p>
        </p:txBody>
      </p:sp>
      <p:sp>
        <p:nvSpPr>
          <p:cNvPr id="3" name="Date Placeholder 2"/>
          <p:cNvSpPr>
            <a:spLocks noGrp="1"/>
          </p:cNvSpPr>
          <p:nvPr>
            <p:ph type="dt" sz="half" idx="10"/>
          </p:nvPr>
        </p:nvSpPr>
        <p:spPr/>
        <p:txBody>
          <a:bodyPr/>
          <a:lstStyle/>
          <a:p>
            <a:fld id="{A9C270EE-7799-4F48-9244-FED5E27CA54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90</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5424" y="975360"/>
            <a:ext cx="7970520" cy="5041392"/>
          </a:xfrm>
          <a:prstGeom prst="rect">
            <a:avLst/>
          </a:prstGeom>
        </p:spPr>
        <p:txBody>
          <a:bodyPr lIns="0" tIns="0" rIns="0" bIns="0">
            <a:noAutofit/>
          </a:bodyPr>
          <a:lstStyle/>
          <a:p>
            <a:pPr marR="5070856" indent="0">
              <a:lnSpc>
                <a:spcPts val="4224"/>
              </a:lnSpc>
            </a:pPr>
            <a:r>
              <a:rPr lang="en-US" sz="2200" u="sng" dirty="0">
                <a:solidFill>
                  <a:srgbClr val="3B3049"/>
                </a:solidFill>
                <a:latin typeface="Calibri"/>
              </a:rPr>
              <a:t>Cryptography Symmetric-</a:t>
            </a:r>
            <a:r>
              <a:rPr lang="en-US" sz="2200" b="1" dirty="0">
                <a:solidFill>
                  <a:srgbClr val="3B3049"/>
                </a:solidFill>
                <a:latin typeface="Calibri"/>
              </a:rPr>
              <a:t>key ciphers:</a:t>
            </a:r>
          </a:p>
          <a:p>
            <a:pPr indent="774700">
              <a:lnSpc>
                <a:spcPts val="2808"/>
              </a:lnSpc>
              <a:spcAft>
                <a:spcPts val="840"/>
              </a:spcAft>
            </a:pPr>
            <a:r>
              <a:rPr lang="en-US" sz="2200" dirty="0">
                <a:solidFill>
                  <a:srgbClr val="3B3049"/>
                </a:solidFill>
                <a:latin typeface="Calibri"/>
              </a:rPr>
              <a:t>Uses the same key for both encryption and decryption and key can be used for bi-directional communication.</a:t>
            </a:r>
          </a:p>
          <a:p>
            <a:pPr indent="0" algn="just">
              <a:lnSpc>
                <a:spcPts val="3024"/>
              </a:lnSpc>
              <a:spcAft>
                <a:spcPts val="420"/>
              </a:spcAft>
            </a:pPr>
            <a:r>
              <a:rPr lang="en-US" sz="2200" dirty="0">
                <a:latin typeface="Calibri"/>
              </a:rPr>
              <a:t>Original message is plaintext and message sent is </a:t>
            </a:r>
            <a:r>
              <a:rPr lang="en-US" sz="2200" dirty="0" err="1">
                <a:latin typeface="Calibri"/>
              </a:rPr>
              <a:t>ciphertext</a:t>
            </a:r>
            <a:r>
              <a:rPr lang="en-US" sz="2200" dirty="0">
                <a:latin typeface="Calibri"/>
              </a:rPr>
              <a:t> using encryption algorithm and a shared key. And at receiver end </a:t>
            </a:r>
            <a:r>
              <a:rPr lang="en-US" sz="2200" dirty="0" err="1">
                <a:latin typeface="Calibri"/>
              </a:rPr>
              <a:t>ciphertext</a:t>
            </a:r>
            <a:r>
              <a:rPr lang="en-US" sz="2200" dirty="0">
                <a:latin typeface="Calibri"/>
              </a:rPr>
              <a:t> converted to plaintext by decryption algorithm and shared key.</a:t>
            </a:r>
          </a:p>
          <a:p>
            <a:pPr indent="0" algn="just">
              <a:lnSpc>
                <a:spcPts val="3024"/>
              </a:lnSpc>
              <a:spcAft>
                <a:spcPts val="420"/>
              </a:spcAft>
            </a:pPr>
            <a:r>
              <a:rPr lang="en-US" sz="2200" dirty="0">
                <a:latin typeface="Calibri"/>
              </a:rPr>
              <a:t>1.	</a:t>
            </a:r>
            <a:r>
              <a:rPr lang="en-US" sz="2200" b="1" dirty="0">
                <a:latin typeface="Calibri"/>
              </a:rPr>
              <a:t>Substitution ciphers </a:t>
            </a:r>
            <a:r>
              <a:rPr lang="en-US" sz="2200" dirty="0">
                <a:latin typeface="Calibri"/>
              </a:rPr>
              <a:t>- replaces one symbol with another.</a:t>
            </a:r>
          </a:p>
          <a:p>
            <a:pPr marL="241300" indent="-241300" algn="just">
              <a:lnSpc>
                <a:spcPts val="3024"/>
              </a:lnSpc>
            </a:pPr>
            <a:r>
              <a:rPr lang="en-US" sz="2200" dirty="0">
                <a:latin typeface="Calibri"/>
              </a:rPr>
              <a:t>a. 	</a:t>
            </a:r>
            <a:r>
              <a:rPr lang="en-US" sz="2200" b="1" dirty="0" err="1">
                <a:latin typeface="Calibri"/>
              </a:rPr>
              <a:t>Monoalphabetic</a:t>
            </a:r>
            <a:r>
              <a:rPr lang="en-US" sz="2200" b="1" dirty="0">
                <a:latin typeface="Calibri"/>
              </a:rPr>
              <a:t> ciphers </a:t>
            </a:r>
            <a:r>
              <a:rPr lang="en-US" sz="2200" dirty="0">
                <a:latin typeface="Calibri"/>
              </a:rPr>
              <a:t>- a character in the plaintext is always changed to the same character in the </a:t>
            </a:r>
            <a:r>
              <a:rPr lang="en-US" sz="2200" dirty="0" err="1">
                <a:latin typeface="Calibri"/>
              </a:rPr>
              <a:t>ciphertext</a:t>
            </a:r>
            <a:r>
              <a:rPr lang="en-US" sz="2200" dirty="0">
                <a:latin typeface="Calibri"/>
              </a:rPr>
              <a:t> regardless of its position in the text.</a:t>
            </a:r>
          </a:p>
        </p:txBody>
      </p:sp>
      <p:sp>
        <p:nvSpPr>
          <p:cNvPr id="3" name="Date Placeholder 2"/>
          <p:cNvSpPr>
            <a:spLocks noGrp="1"/>
          </p:cNvSpPr>
          <p:nvPr>
            <p:ph type="dt" sz="half" idx="10"/>
          </p:nvPr>
        </p:nvSpPr>
        <p:spPr/>
        <p:txBody>
          <a:bodyPr/>
          <a:lstStyle/>
          <a:p>
            <a:fld id="{BE724160-C2EA-4133-BD39-BE40A820DFC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91</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
        <p:nvSpPr>
          <p:cNvPr id="7" name="Title 1"/>
          <p:cNvSpPr txBox="1">
            <a:spLocks/>
          </p:cNvSpPr>
          <p:nvPr/>
        </p:nvSpPr>
        <p:spPr>
          <a:xfrm>
            <a:off x="1523262" y="152400"/>
            <a:ext cx="7773138" cy="498764"/>
          </a:xfrm>
          <a:prstGeom prst="rect">
            <a:avLst/>
          </a:prstGeom>
          <a:solidFill>
            <a:srgbClr val="B7EEFF"/>
          </a:solidFill>
        </p:spPr>
        <p:txBody>
          <a:bodyPr vert="horz" wrap="square" lIns="91440" tIns="45720" rIns="91440" bIns="45720" rtlCol="0" anchor="b">
            <a:normAutofit fontScale="97500"/>
          </a:bodyPr>
          <a:lstStyle>
            <a:lvl1pPr algn="ctr" defTabSz="914400" rtl="0" eaLnBrk="1" latinLnBrk="0" hangingPunct="1">
              <a:lnSpc>
                <a:spcPct val="90000"/>
              </a:lnSpc>
              <a:spcBef>
                <a:spcPct val="0"/>
              </a:spcBef>
              <a:buNone/>
              <a:defRPr sz="3000" kern="1200">
                <a:solidFill>
                  <a:schemeClr val="tx1"/>
                </a:solidFill>
                <a:latin typeface="+mj-lt"/>
                <a:ea typeface="+mj-ea"/>
                <a:cs typeface="+mj-cs"/>
              </a:defRPr>
            </a:lvl1pPr>
          </a:lstStyle>
          <a:p>
            <a:r>
              <a:rPr lang="en-US" b="1" spc="-5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950976" y="972312"/>
            <a:ext cx="7754112" cy="5291328"/>
          </a:xfrm>
          <a:prstGeom prst="rect">
            <a:avLst/>
          </a:prstGeom>
        </p:spPr>
        <p:txBody>
          <a:bodyPr lIns="0" tIns="0" rIns="0" bIns="0">
            <a:noAutofit/>
          </a:bodyPr>
          <a:lstStyle/>
          <a:p>
            <a:pPr marL="228600" indent="-228600">
              <a:lnSpc>
                <a:spcPts val="3024"/>
              </a:lnSpc>
            </a:pPr>
            <a:r>
              <a:rPr lang="en-US" sz="2200" b="1" dirty="0" err="1">
                <a:latin typeface="Calibri"/>
              </a:rPr>
              <a:t>b.Polyalphabetic</a:t>
            </a:r>
            <a:r>
              <a:rPr lang="en-US" sz="2200" b="1" dirty="0">
                <a:latin typeface="Calibri"/>
              </a:rPr>
              <a:t> ciphers </a:t>
            </a:r>
            <a:r>
              <a:rPr lang="en-US" sz="2200" dirty="0">
                <a:latin typeface="Calibri"/>
              </a:rPr>
              <a:t>- each occurrence of a character may have a different substitute.</a:t>
            </a:r>
          </a:p>
          <a:p>
            <a:pPr marL="257556" indent="-228600" algn="just">
              <a:lnSpc>
                <a:spcPts val="3024"/>
              </a:lnSpc>
            </a:pPr>
            <a:r>
              <a:rPr lang="en-US" sz="2200" b="1" dirty="0">
                <a:latin typeface="Calibri"/>
              </a:rPr>
              <a:t>2.Transposition ciphers </a:t>
            </a:r>
            <a:r>
              <a:rPr lang="en-US" sz="2200" dirty="0">
                <a:latin typeface="Calibri"/>
              </a:rPr>
              <a:t>- reorders symbols</a:t>
            </a:r>
          </a:p>
          <a:p>
            <a:pPr marL="257556" indent="-228600" algn="just">
              <a:lnSpc>
                <a:spcPts val="3024"/>
              </a:lnSpc>
            </a:pPr>
            <a:r>
              <a:rPr lang="en-US" sz="2200" b="1" dirty="0">
                <a:latin typeface="Calibri"/>
              </a:rPr>
              <a:t>3.Stream and block ciphers</a:t>
            </a:r>
          </a:p>
          <a:p>
            <a:pPr marL="486156" indent="0" algn="just">
              <a:lnSpc>
                <a:spcPts val="3024"/>
              </a:lnSpc>
            </a:pPr>
            <a:r>
              <a:rPr lang="en-US" sz="2200" dirty="0">
                <a:latin typeface="Calibri"/>
              </a:rPr>
              <a:t>a.    Stream ciphers</a:t>
            </a:r>
          </a:p>
          <a:p>
            <a:pPr marL="486156" indent="0" algn="just">
              <a:lnSpc>
                <a:spcPts val="3024"/>
              </a:lnSpc>
            </a:pPr>
            <a:r>
              <a:rPr lang="en-US" sz="2200" dirty="0">
                <a:latin typeface="Calibri"/>
              </a:rPr>
              <a:t>b. 	Block ciphers</a:t>
            </a:r>
          </a:p>
          <a:p>
            <a:pPr marL="486156" indent="0" algn="just">
              <a:lnSpc>
                <a:spcPts val="3024"/>
              </a:lnSpc>
            </a:pPr>
            <a:r>
              <a:rPr lang="en-US" sz="2200" dirty="0">
                <a:latin typeface="Calibri"/>
              </a:rPr>
              <a:t>c.    Combination</a:t>
            </a:r>
          </a:p>
          <a:p>
            <a:pPr marL="257556" indent="-228600" algn="just">
              <a:lnSpc>
                <a:spcPts val="3024"/>
              </a:lnSpc>
            </a:pPr>
            <a:r>
              <a:rPr lang="en-US" sz="2200" b="1" dirty="0">
                <a:latin typeface="Calibri"/>
              </a:rPr>
              <a:t>4.Modern block ciphers </a:t>
            </a:r>
            <a:r>
              <a:rPr lang="en-US" sz="2200" dirty="0">
                <a:latin typeface="Calibri"/>
              </a:rPr>
              <a:t>- encrypts an n-bit block of plaintext or decrypts an n-bit block of </a:t>
            </a:r>
            <a:r>
              <a:rPr lang="en-US" sz="2200" dirty="0" err="1">
                <a:latin typeface="Calibri"/>
              </a:rPr>
              <a:t>ciphertext</a:t>
            </a:r>
            <a:r>
              <a:rPr lang="en-US" sz="2200" dirty="0">
                <a:latin typeface="Calibri"/>
              </a:rPr>
              <a:t>. The algorithm uses a k-bit key. A modern block cipher is made of a combination of transposition units, substitution units and XOR operations, as well as shifting elements, swapping elements, splitting elements, and combining elements.</a:t>
            </a:r>
          </a:p>
        </p:txBody>
      </p:sp>
      <p:sp>
        <p:nvSpPr>
          <p:cNvPr id="3" name="Date Placeholder 2"/>
          <p:cNvSpPr>
            <a:spLocks noGrp="1"/>
          </p:cNvSpPr>
          <p:nvPr>
            <p:ph type="dt" sz="half" idx="10"/>
          </p:nvPr>
        </p:nvSpPr>
        <p:spPr/>
        <p:txBody>
          <a:bodyPr/>
          <a:lstStyle/>
          <a:p>
            <a:fld id="{9A112809-54F7-4586-87FA-546E8D82F08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92</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08000" y="969264"/>
            <a:ext cx="8197088" cy="2788920"/>
          </a:xfrm>
          <a:prstGeom prst="rect">
            <a:avLst/>
          </a:prstGeom>
        </p:spPr>
        <p:txBody>
          <a:bodyPr lIns="0" tIns="0" rIns="0" bIns="0">
            <a:noAutofit/>
          </a:bodyPr>
          <a:lstStyle/>
          <a:p>
            <a:pPr marL="520700" indent="-457200" algn="just">
              <a:lnSpc>
                <a:spcPts val="3024"/>
              </a:lnSpc>
              <a:buAutoNum type="alphaLcPeriod"/>
            </a:pPr>
            <a:r>
              <a:rPr lang="en-US" sz="2200" b="1" dirty="0"/>
              <a:t>Data Encryption standard – DES</a:t>
            </a:r>
          </a:p>
          <a:p>
            <a:pPr marL="520700" indent="-457200" algn="just">
              <a:lnSpc>
                <a:spcPts val="3024"/>
              </a:lnSpc>
              <a:buAutoNum type="alphaLcPeriod"/>
            </a:pPr>
            <a:endParaRPr lang="en-US" sz="2200" dirty="0"/>
          </a:p>
          <a:p>
            <a:pPr indent="0" algn="just">
              <a:lnSpc>
                <a:spcPts val="2784"/>
              </a:lnSpc>
            </a:pPr>
            <a:r>
              <a:rPr lang="en-US" sz="2200" dirty="0">
                <a:latin typeface="Calibri"/>
              </a:rPr>
              <a:t>	Data encryption standard (DES) has been found vulnerable against very powerful attacks and therefore, the popularity of DES has been found slightly on decline.</a:t>
            </a:r>
          </a:p>
          <a:p>
            <a:pPr indent="0" algn="just">
              <a:lnSpc>
                <a:spcPts val="2784"/>
              </a:lnSpc>
            </a:pPr>
            <a:endParaRPr lang="en-US" sz="2200" dirty="0">
              <a:latin typeface="Calibri"/>
            </a:endParaRPr>
          </a:p>
          <a:p>
            <a:pPr indent="0" algn="just">
              <a:lnSpc>
                <a:spcPts val="2784"/>
              </a:lnSpc>
            </a:pPr>
            <a:r>
              <a:rPr lang="en-US" sz="2200" dirty="0">
                <a:latin typeface="Calibri"/>
              </a:rPr>
              <a:t>	DES is a block cipher, and encrypts data in blocks of size of 64 bit each, means 64 bits of plain text goes as the input to DES, which produces 64 bits of cipher text. The same algorithm and key are used for encryption and decryption, with minor differences. The key length is 56 bits. The basic idea is</a:t>
            </a:r>
          </a:p>
        </p:txBody>
      </p:sp>
      <p:sp>
        <p:nvSpPr>
          <p:cNvPr id="3" name="Date Placeholder 2"/>
          <p:cNvSpPr>
            <a:spLocks noGrp="1"/>
          </p:cNvSpPr>
          <p:nvPr>
            <p:ph type="dt" sz="half" idx="10"/>
          </p:nvPr>
        </p:nvSpPr>
        <p:spPr/>
        <p:txBody>
          <a:bodyPr/>
          <a:lstStyle/>
          <a:p>
            <a:fld id="{8FB0AAB3-8BE6-4E12-A033-CF98CFBBB9F0}"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93</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88720" y="914400"/>
            <a:ext cx="5952744" cy="2877312"/>
          </a:xfrm>
          <a:prstGeom prst="rect">
            <a:avLst/>
          </a:prstGeom>
        </p:spPr>
      </p:pic>
      <p:sp>
        <p:nvSpPr>
          <p:cNvPr id="3" name="Rectangle 2"/>
          <p:cNvSpPr/>
          <p:nvPr/>
        </p:nvSpPr>
        <p:spPr>
          <a:xfrm>
            <a:off x="722376" y="4431792"/>
            <a:ext cx="7979664" cy="1441704"/>
          </a:xfrm>
          <a:prstGeom prst="rect">
            <a:avLst/>
          </a:prstGeom>
        </p:spPr>
        <p:txBody>
          <a:bodyPr lIns="0" tIns="0" rIns="0" bIns="0">
            <a:noAutofit/>
          </a:bodyPr>
          <a:lstStyle/>
          <a:p>
            <a:pPr indent="0" algn="just">
              <a:lnSpc>
                <a:spcPts val="3024"/>
              </a:lnSpc>
              <a:spcBef>
                <a:spcPts val="3570"/>
              </a:spcBef>
            </a:pPr>
            <a:r>
              <a:rPr lang="en-US" sz="2200" dirty="0">
                <a:latin typeface="Calibri"/>
              </a:rPr>
              <a:t>	We have mention that DES uses a 56 bit key. Actually, the initial key consists of 64 bits. However, before the DES process even starts, every 8th bit of the key is discarded to produce a 56 bit key. That is bit position 8, 16, 24, 32, 40, 48, 56 and 64 are discarded.</a:t>
            </a:r>
          </a:p>
        </p:txBody>
      </p:sp>
      <p:sp>
        <p:nvSpPr>
          <p:cNvPr id="4" name="Date Placeholder 3"/>
          <p:cNvSpPr>
            <a:spLocks noGrp="1"/>
          </p:cNvSpPr>
          <p:nvPr>
            <p:ph type="dt" sz="half" idx="10"/>
          </p:nvPr>
        </p:nvSpPr>
        <p:spPr/>
        <p:txBody>
          <a:bodyPr/>
          <a:lstStyle/>
          <a:p>
            <a:fld id="{DEEFD77B-653E-4B28-A4A0-270A769B7BA2}"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94</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2312"/>
            <a:ext cx="7985760" cy="4757928"/>
          </a:xfrm>
          <a:prstGeom prst="rect">
            <a:avLst/>
          </a:prstGeom>
        </p:spPr>
        <p:txBody>
          <a:bodyPr lIns="0" tIns="0" rIns="0" bIns="0">
            <a:noAutofit/>
          </a:bodyPr>
          <a:lstStyle/>
          <a:p>
            <a:pPr indent="0" algn="just">
              <a:lnSpc>
                <a:spcPts val="2808"/>
              </a:lnSpc>
              <a:spcAft>
                <a:spcPts val="420"/>
              </a:spcAft>
            </a:pPr>
            <a:r>
              <a:rPr lang="en-US" sz="2200" dirty="0">
                <a:latin typeface="Calibri"/>
              </a:rPr>
              <a:t>	Thus, the discarding of every 8th bit of the key produces a 56-bit key from the original 64-bit key.</a:t>
            </a:r>
          </a:p>
          <a:p>
            <a:pPr indent="0" algn="just">
              <a:lnSpc>
                <a:spcPts val="2808"/>
              </a:lnSpc>
              <a:spcAft>
                <a:spcPts val="420"/>
              </a:spcAft>
            </a:pPr>
            <a:r>
              <a:rPr lang="en-US" sz="2200" dirty="0">
                <a:latin typeface="Calibri"/>
              </a:rPr>
              <a:t>	DES is based on the two fundamental attributes of cryptography: substitution (also called as confusion) and transposition (also called as diffusion). DES consists of 16 steps, each of which is called as a round. Each round performs the steps of substitution and transposition. Let us now discuss the broad-level steps in DES.</a:t>
            </a:r>
          </a:p>
          <a:p>
            <a:pPr marL="381000" indent="-228600" algn="just">
              <a:lnSpc>
                <a:spcPts val="2808"/>
              </a:lnSpc>
            </a:pPr>
            <a:r>
              <a:rPr lang="en-US" sz="2200" dirty="0">
                <a:latin typeface="Calibri"/>
              </a:rPr>
              <a:t>1.In the first step, the 64 bit plain text block is handed over to an initial Permutation (</a:t>
            </a:r>
            <a:r>
              <a:rPr lang="en-US" sz="2200" b="1" dirty="0">
                <a:latin typeface="Calibri"/>
              </a:rPr>
              <a:t>IP</a:t>
            </a:r>
            <a:r>
              <a:rPr lang="en-US" sz="2200" dirty="0">
                <a:latin typeface="Calibri"/>
              </a:rPr>
              <a:t>) function.</a:t>
            </a:r>
          </a:p>
          <a:p>
            <a:pPr marL="381000" indent="-228600" algn="just">
              <a:lnSpc>
                <a:spcPts val="2808"/>
              </a:lnSpc>
            </a:pPr>
            <a:r>
              <a:rPr lang="en-US" sz="2200" dirty="0">
                <a:latin typeface="Calibri"/>
              </a:rPr>
              <a:t>2. The initial permutation performed on plain text.</a:t>
            </a:r>
          </a:p>
          <a:p>
            <a:pPr marL="381000" indent="-228600" algn="just">
              <a:lnSpc>
                <a:spcPts val="2808"/>
              </a:lnSpc>
            </a:pPr>
            <a:r>
              <a:rPr lang="en-US" sz="2200" dirty="0">
                <a:latin typeface="Calibri"/>
              </a:rPr>
              <a:t>3. Next the initial permutation (IP) produces two halves of the permuted block; says Left Plain Text (</a:t>
            </a:r>
            <a:r>
              <a:rPr lang="en-US" sz="2200" b="1" dirty="0">
                <a:latin typeface="Calibri"/>
              </a:rPr>
              <a:t>LPT</a:t>
            </a:r>
            <a:r>
              <a:rPr lang="en-US" sz="2200" dirty="0">
                <a:latin typeface="Calibri"/>
              </a:rPr>
              <a:t>) and Right Plain Text (</a:t>
            </a:r>
            <a:r>
              <a:rPr lang="en-US" sz="2200" b="1" dirty="0">
                <a:latin typeface="Calibri"/>
              </a:rPr>
              <a:t>RPT</a:t>
            </a:r>
            <a:r>
              <a:rPr lang="en-US" sz="2200" dirty="0">
                <a:latin typeface="Calibri"/>
              </a:rPr>
              <a:t>).</a:t>
            </a:r>
          </a:p>
        </p:txBody>
      </p:sp>
      <p:sp>
        <p:nvSpPr>
          <p:cNvPr id="3" name="Date Placeholder 2"/>
          <p:cNvSpPr>
            <a:spLocks noGrp="1"/>
          </p:cNvSpPr>
          <p:nvPr>
            <p:ph type="dt" sz="half" idx="10"/>
          </p:nvPr>
        </p:nvSpPr>
        <p:spPr/>
        <p:txBody>
          <a:bodyPr/>
          <a:lstStyle/>
          <a:p>
            <a:fld id="{EA0C6F4D-19EC-41E5-94C4-05D96ECC62E5}"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95</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838200" y="972312"/>
            <a:ext cx="7848600" cy="1716024"/>
          </a:xfrm>
          <a:prstGeom prst="rect">
            <a:avLst/>
          </a:prstGeom>
        </p:spPr>
        <p:txBody>
          <a:bodyPr lIns="0" tIns="0" rIns="0" bIns="0">
            <a:noAutofit/>
          </a:bodyPr>
          <a:lstStyle/>
          <a:p>
            <a:pPr marL="254000" indent="-254000">
              <a:lnSpc>
                <a:spcPts val="2808"/>
              </a:lnSpc>
            </a:pPr>
            <a:r>
              <a:rPr lang="en-US" sz="2200" dirty="0">
                <a:latin typeface="Calibri"/>
              </a:rPr>
              <a:t>4.Now each LPT and RPT to go through 16 rounds of encryption process.</a:t>
            </a:r>
          </a:p>
          <a:p>
            <a:pPr indent="0">
              <a:lnSpc>
                <a:spcPts val="2808"/>
              </a:lnSpc>
            </a:pPr>
            <a:r>
              <a:rPr lang="en-US" sz="2200" dirty="0">
                <a:latin typeface="Calibri"/>
              </a:rPr>
              <a:t>5.In the end, LPT and RPT are rejoined and a Final Permutation (</a:t>
            </a:r>
            <a:r>
              <a:rPr lang="en-US" sz="2200" b="1" dirty="0">
                <a:latin typeface="Calibri"/>
              </a:rPr>
              <a:t>FP</a:t>
            </a:r>
            <a:r>
              <a:rPr lang="en-US" sz="2200" dirty="0">
                <a:latin typeface="Calibri"/>
              </a:rPr>
              <a:t>) is performed on the combined block 6.The result of this process produces 64 bit cipher text.</a:t>
            </a:r>
          </a:p>
        </p:txBody>
      </p:sp>
      <p:sp>
        <p:nvSpPr>
          <p:cNvPr id="3" name="Date Placeholder 2"/>
          <p:cNvSpPr>
            <a:spLocks noGrp="1"/>
          </p:cNvSpPr>
          <p:nvPr>
            <p:ph type="dt" sz="half" idx="10"/>
          </p:nvPr>
        </p:nvSpPr>
        <p:spPr/>
        <p:txBody>
          <a:bodyPr/>
          <a:lstStyle/>
          <a:p>
            <a:fld id="{A1960586-8BBF-4360-855E-11C141DA9D66}"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96</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35936" y="1619914"/>
            <a:ext cx="3249168" cy="3843528"/>
          </a:xfrm>
          <a:prstGeom prst="rect">
            <a:avLst/>
          </a:prstGeom>
        </p:spPr>
      </p:pic>
      <p:sp>
        <p:nvSpPr>
          <p:cNvPr id="3" name="Rectangle 2"/>
          <p:cNvSpPr/>
          <p:nvPr/>
        </p:nvSpPr>
        <p:spPr>
          <a:xfrm>
            <a:off x="2569464" y="1152144"/>
            <a:ext cx="381000" cy="152400"/>
          </a:xfrm>
          <a:prstGeom prst="rect">
            <a:avLst/>
          </a:prstGeom>
        </p:spPr>
        <p:txBody>
          <a:bodyPr wrap="none" lIns="0" tIns="0" rIns="0" bIns="0">
            <a:noAutofit/>
          </a:bodyPr>
          <a:lstStyle/>
          <a:p>
            <a:pPr indent="0"/>
            <a:r>
              <a:rPr lang="en-US" sz="1000" b="1">
                <a:solidFill>
                  <a:srgbClr val="252525"/>
                </a:solidFill>
                <a:latin typeface="Calibri"/>
              </a:rPr>
              <a:t>Step 1</a:t>
            </a:r>
          </a:p>
        </p:txBody>
      </p:sp>
      <p:sp>
        <p:nvSpPr>
          <p:cNvPr id="4" name="Rectangle 3"/>
          <p:cNvSpPr/>
          <p:nvPr/>
        </p:nvSpPr>
        <p:spPr>
          <a:xfrm>
            <a:off x="4160520" y="1008888"/>
            <a:ext cx="618744" cy="295656"/>
          </a:xfrm>
          <a:prstGeom prst="rect">
            <a:avLst/>
          </a:prstGeom>
          <a:solidFill>
            <a:srgbClr val="01CC00"/>
          </a:solidFill>
        </p:spPr>
        <p:txBody>
          <a:bodyPr lIns="0" tIns="0" rIns="0" bIns="0">
            <a:noAutofit/>
          </a:bodyPr>
          <a:lstStyle/>
          <a:p>
            <a:pPr indent="0" algn="ctr">
              <a:lnSpc>
                <a:spcPts val="1200"/>
              </a:lnSpc>
            </a:pPr>
            <a:r>
              <a:rPr lang="en-US" sz="1100" b="1" dirty="0">
                <a:solidFill>
                  <a:srgbClr val="FFFFFF"/>
                </a:solidFill>
                <a:latin typeface="Calibri"/>
              </a:rPr>
              <a:t>64 bit Plain text</a:t>
            </a:r>
          </a:p>
        </p:txBody>
      </p:sp>
      <p:sp>
        <p:nvSpPr>
          <p:cNvPr id="5" name="Rectangle 4"/>
          <p:cNvSpPr/>
          <p:nvPr/>
        </p:nvSpPr>
        <p:spPr>
          <a:xfrm>
            <a:off x="4019042" y="5857876"/>
            <a:ext cx="901700" cy="365125"/>
          </a:xfrm>
          <a:prstGeom prst="rect">
            <a:avLst/>
          </a:prstGeom>
          <a:solidFill>
            <a:srgbClr val="01CC00"/>
          </a:solidFill>
        </p:spPr>
        <p:txBody>
          <a:bodyPr lIns="0" tIns="0" rIns="0" bIns="0">
            <a:noAutofit/>
          </a:bodyPr>
          <a:lstStyle/>
          <a:p>
            <a:pPr indent="0" algn="ctr">
              <a:lnSpc>
                <a:spcPts val="1200"/>
              </a:lnSpc>
            </a:pPr>
            <a:r>
              <a:rPr lang="en-US" sz="1100" b="1" dirty="0">
                <a:solidFill>
                  <a:srgbClr val="FFFFFF"/>
                </a:solidFill>
                <a:latin typeface="Calibri"/>
              </a:rPr>
              <a:t>64 bit Plain text</a:t>
            </a:r>
          </a:p>
        </p:txBody>
      </p:sp>
      <p:sp>
        <p:nvSpPr>
          <p:cNvPr id="6" name="Date Placeholder 5"/>
          <p:cNvSpPr>
            <a:spLocks noGrp="1"/>
          </p:cNvSpPr>
          <p:nvPr>
            <p:ph type="dt" sz="half" idx="10"/>
          </p:nvPr>
        </p:nvSpPr>
        <p:spPr/>
        <p:txBody>
          <a:bodyPr/>
          <a:lstStyle/>
          <a:p>
            <a:fld id="{F7E22F17-C368-4F02-83CC-718CE5A62329}"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97</a:t>
            </a:fld>
            <a:endParaRPr lang="en-US"/>
          </a:p>
        </p:txBody>
      </p:sp>
      <p:sp>
        <p:nvSpPr>
          <p:cNvPr id="9"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69264"/>
            <a:ext cx="7979664" cy="2740152"/>
          </a:xfrm>
          <a:prstGeom prst="rect">
            <a:avLst/>
          </a:prstGeom>
        </p:spPr>
        <p:txBody>
          <a:bodyPr lIns="0" tIns="0" rIns="0" bIns="0">
            <a:noAutofit/>
          </a:bodyPr>
          <a:lstStyle/>
          <a:p>
            <a:pPr indent="0" algn="just">
              <a:lnSpc>
                <a:spcPts val="2784"/>
              </a:lnSpc>
            </a:pPr>
            <a:r>
              <a:rPr lang="en-US" sz="2200" b="1" dirty="0">
                <a:latin typeface="Calibri"/>
              </a:rPr>
              <a:t>Initial Permutation (IP) </a:t>
            </a:r>
            <a:r>
              <a:rPr lang="en-US" sz="2200" dirty="0">
                <a:latin typeface="Calibri"/>
              </a:rPr>
              <a:t>-</a:t>
            </a:r>
          </a:p>
          <a:p>
            <a:pPr indent="482600" algn="just">
              <a:lnSpc>
                <a:spcPts val="2784"/>
              </a:lnSpc>
            </a:pPr>
            <a:r>
              <a:rPr lang="en-US" sz="2200" dirty="0">
                <a:latin typeface="Calibri"/>
              </a:rPr>
              <a:t>As we have noted, the Initial permutation (IP) happens only once and it happens before the first round. It suggests how the transposition in IP should proceed, as show in figure.</a:t>
            </a:r>
          </a:p>
          <a:p>
            <a:pPr indent="0" algn="just">
              <a:lnSpc>
                <a:spcPts val="2784"/>
              </a:lnSpc>
            </a:pPr>
            <a:r>
              <a:rPr lang="en-US" sz="2200" dirty="0">
                <a:latin typeface="Calibri"/>
              </a:rPr>
              <a:t>For example, it says that the IP replaces the first bit of the original plain text block with the 58th bit of the original plain text, the second bit with the 50th bit of the original plain text block and so on.</a:t>
            </a:r>
          </a:p>
        </p:txBody>
      </p:sp>
      <p:sp>
        <p:nvSpPr>
          <p:cNvPr id="3" name="Date Placeholder 2"/>
          <p:cNvSpPr>
            <a:spLocks noGrp="1"/>
          </p:cNvSpPr>
          <p:nvPr>
            <p:ph type="dt" sz="half" idx="10"/>
          </p:nvPr>
        </p:nvSpPr>
        <p:spPr/>
        <p:txBody>
          <a:bodyPr/>
          <a:lstStyle/>
          <a:p>
            <a:fld id="{A3A347DD-E670-4797-8589-A71A771A38F1}"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98</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2312"/>
            <a:ext cx="7979664" cy="1002792"/>
          </a:xfrm>
          <a:prstGeom prst="rect">
            <a:avLst/>
          </a:prstGeom>
        </p:spPr>
        <p:txBody>
          <a:bodyPr lIns="0" tIns="0" rIns="0" bIns="0">
            <a:noAutofit/>
          </a:bodyPr>
          <a:lstStyle/>
          <a:p>
            <a:pPr indent="0" algn="just">
              <a:lnSpc>
                <a:spcPts val="2808"/>
              </a:lnSpc>
              <a:spcAft>
                <a:spcPts val="4410"/>
              </a:spcAft>
            </a:pPr>
            <a:r>
              <a:rPr lang="en-US" sz="2200" dirty="0">
                <a:latin typeface="Calibri"/>
              </a:rPr>
              <a:t>	This is nothing but jugglery of bit positions of the original plain text block. the same rule applies for all the other bit positions which shows in the figure.</a:t>
            </a:r>
          </a:p>
        </p:txBody>
      </p:sp>
      <p:graphicFrame>
        <p:nvGraphicFramePr>
          <p:cNvPr id="3" name="Table 2"/>
          <p:cNvGraphicFramePr>
            <a:graphicFrameLocks noGrp="1"/>
          </p:cNvGraphicFramePr>
          <p:nvPr/>
        </p:nvGraphicFramePr>
        <p:xfrm>
          <a:off x="963168" y="2761488"/>
          <a:ext cx="7778496" cy="1036320"/>
        </p:xfrm>
        <a:graphic>
          <a:graphicData uri="http://schemas.openxmlformats.org/drawingml/2006/table">
            <a:tbl>
              <a:tblPr/>
              <a:tblGrid>
                <a:gridCol w="542544">
                  <a:extLst>
                    <a:ext uri="{9D8B030D-6E8A-4147-A177-3AD203B41FA5}">
                      <a16:colId xmlns:a16="http://schemas.microsoft.com/office/drawing/2014/main" val="20000"/>
                    </a:ext>
                  </a:extLst>
                </a:gridCol>
                <a:gridCol w="448056">
                  <a:extLst>
                    <a:ext uri="{9D8B030D-6E8A-4147-A177-3AD203B41FA5}">
                      <a16:colId xmlns:a16="http://schemas.microsoft.com/office/drawing/2014/main" val="20001"/>
                    </a:ext>
                  </a:extLst>
                </a:gridCol>
                <a:gridCol w="448056">
                  <a:extLst>
                    <a:ext uri="{9D8B030D-6E8A-4147-A177-3AD203B41FA5}">
                      <a16:colId xmlns:a16="http://schemas.microsoft.com/office/drawing/2014/main" val="20002"/>
                    </a:ext>
                  </a:extLst>
                </a:gridCol>
                <a:gridCol w="496824">
                  <a:extLst>
                    <a:ext uri="{9D8B030D-6E8A-4147-A177-3AD203B41FA5}">
                      <a16:colId xmlns:a16="http://schemas.microsoft.com/office/drawing/2014/main" val="20003"/>
                    </a:ext>
                  </a:extLst>
                </a:gridCol>
                <a:gridCol w="539496">
                  <a:extLst>
                    <a:ext uri="{9D8B030D-6E8A-4147-A177-3AD203B41FA5}">
                      <a16:colId xmlns:a16="http://schemas.microsoft.com/office/drawing/2014/main" val="20004"/>
                    </a:ext>
                  </a:extLst>
                </a:gridCol>
                <a:gridCol w="496824">
                  <a:extLst>
                    <a:ext uri="{9D8B030D-6E8A-4147-A177-3AD203B41FA5}">
                      <a16:colId xmlns:a16="http://schemas.microsoft.com/office/drawing/2014/main" val="20005"/>
                    </a:ext>
                  </a:extLst>
                </a:gridCol>
                <a:gridCol w="448056">
                  <a:extLst>
                    <a:ext uri="{9D8B030D-6E8A-4147-A177-3AD203B41FA5}">
                      <a16:colId xmlns:a16="http://schemas.microsoft.com/office/drawing/2014/main" val="20006"/>
                    </a:ext>
                  </a:extLst>
                </a:gridCol>
                <a:gridCol w="460248">
                  <a:extLst>
                    <a:ext uri="{9D8B030D-6E8A-4147-A177-3AD203B41FA5}">
                      <a16:colId xmlns:a16="http://schemas.microsoft.com/office/drawing/2014/main" val="20007"/>
                    </a:ext>
                  </a:extLst>
                </a:gridCol>
                <a:gridCol w="423672">
                  <a:extLst>
                    <a:ext uri="{9D8B030D-6E8A-4147-A177-3AD203B41FA5}">
                      <a16:colId xmlns:a16="http://schemas.microsoft.com/office/drawing/2014/main" val="20008"/>
                    </a:ext>
                  </a:extLst>
                </a:gridCol>
                <a:gridCol w="524256">
                  <a:extLst>
                    <a:ext uri="{9D8B030D-6E8A-4147-A177-3AD203B41FA5}">
                      <a16:colId xmlns:a16="http://schemas.microsoft.com/office/drawing/2014/main" val="20009"/>
                    </a:ext>
                  </a:extLst>
                </a:gridCol>
                <a:gridCol w="512064">
                  <a:extLst>
                    <a:ext uri="{9D8B030D-6E8A-4147-A177-3AD203B41FA5}">
                      <a16:colId xmlns:a16="http://schemas.microsoft.com/office/drawing/2014/main" val="20010"/>
                    </a:ext>
                  </a:extLst>
                </a:gridCol>
                <a:gridCol w="460248">
                  <a:extLst>
                    <a:ext uri="{9D8B030D-6E8A-4147-A177-3AD203B41FA5}">
                      <a16:colId xmlns:a16="http://schemas.microsoft.com/office/drawing/2014/main" val="20011"/>
                    </a:ext>
                  </a:extLst>
                </a:gridCol>
                <a:gridCol w="512064">
                  <a:extLst>
                    <a:ext uri="{9D8B030D-6E8A-4147-A177-3AD203B41FA5}">
                      <a16:colId xmlns:a16="http://schemas.microsoft.com/office/drawing/2014/main" val="20012"/>
                    </a:ext>
                  </a:extLst>
                </a:gridCol>
                <a:gridCol w="484632">
                  <a:extLst>
                    <a:ext uri="{9D8B030D-6E8A-4147-A177-3AD203B41FA5}">
                      <a16:colId xmlns:a16="http://schemas.microsoft.com/office/drawing/2014/main" val="20013"/>
                    </a:ext>
                  </a:extLst>
                </a:gridCol>
                <a:gridCol w="527304">
                  <a:extLst>
                    <a:ext uri="{9D8B030D-6E8A-4147-A177-3AD203B41FA5}">
                      <a16:colId xmlns:a16="http://schemas.microsoft.com/office/drawing/2014/main" val="20014"/>
                    </a:ext>
                  </a:extLst>
                </a:gridCol>
                <a:gridCol w="454152">
                  <a:extLst>
                    <a:ext uri="{9D8B030D-6E8A-4147-A177-3AD203B41FA5}">
                      <a16:colId xmlns:a16="http://schemas.microsoft.com/office/drawing/2014/main" val="20015"/>
                    </a:ext>
                  </a:extLst>
                </a:gridCol>
              </a:tblGrid>
              <a:tr h="262128">
                <a:tc>
                  <a:txBody>
                    <a:bodyPr/>
                    <a:lstStyle/>
                    <a:p>
                      <a:pPr indent="0"/>
                      <a:r>
                        <a:rPr lang="en-US" sz="1300">
                          <a:solidFill>
                            <a:srgbClr val="252525"/>
                          </a:solidFill>
                          <a:latin typeface="Calibri"/>
                        </a:rPr>
                        <a:t>58</a:t>
                      </a:r>
                    </a:p>
                  </a:txBody>
                  <a:tcPr marL="0" marR="0" marT="0" marB="0" anchor="ctr"/>
                </a:tc>
                <a:tc>
                  <a:txBody>
                    <a:bodyPr/>
                    <a:lstStyle/>
                    <a:p>
                      <a:pPr indent="0"/>
                      <a:r>
                        <a:rPr lang="en-US" sz="1300">
                          <a:solidFill>
                            <a:srgbClr val="222543"/>
                          </a:solidFill>
                          <a:latin typeface="Calibri"/>
                        </a:rPr>
                        <a:t>50</a:t>
                      </a:r>
                    </a:p>
                  </a:txBody>
                  <a:tcPr marL="0" marR="0" marT="0" marB="0" anchor="ctr"/>
                </a:tc>
                <a:tc>
                  <a:txBody>
                    <a:bodyPr/>
                    <a:lstStyle/>
                    <a:p>
                      <a:pPr indent="0"/>
                      <a:r>
                        <a:rPr lang="en-US" sz="1300">
                          <a:solidFill>
                            <a:srgbClr val="31101F"/>
                          </a:solidFill>
                          <a:latin typeface="Calibri"/>
                        </a:rPr>
                        <a:t>42</a:t>
                      </a:r>
                    </a:p>
                  </a:txBody>
                  <a:tcPr marL="0" marR="0" marT="0" marB="0" anchor="ctr"/>
                </a:tc>
                <a:tc>
                  <a:txBody>
                    <a:bodyPr/>
                    <a:lstStyle/>
                    <a:p>
                      <a:pPr indent="0"/>
                      <a:r>
                        <a:rPr lang="en-US" sz="1300">
                          <a:solidFill>
                            <a:srgbClr val="222543"/>
                          </a:solidFill>
                          <a:latin typeface="Calibri"/>
                        </a:rPr>
                        <a:t>34</a:t>
                      </a:r>
                    </a:p>
                  </a:txBody>
                  <a:tcPr marL="0" marR="0" marT="0" marB="0" anchor="ctr"/>
                </a:tc>
                <a:tc>
                  <a:txBody>
                    <a:bodyPr/>
                    <a:lstStyle/>
                    <a:p>
                      <a:pPr indent="0"/>
                      <a:r>
                        <a:rPr lang="en-US" sz="1300">
                          <a:solidFill>
                            <a:srgbClr val="252525"/>
                          </a:solidFill>
                          <a:latin typeface="Calibri"/>
                        </a:rPr>
                        <a:t>26</a:t>
                      </a:r>
                    </a:p>
                  </a:txBody>
                  <a:tcPr marL="0" marR="0" marT="0" marB="0" anchor="b"/>
                </a:tc>
                <a:tc>
                  <a:txBody>
                    <a:bodyPr/>
                    <a:lstStyle/>
                    <a:p>
                      <a:pPr indent="0"/>
                      <a:r>
                        <a:rPr lang="en-US" sz="1300">
                          <a:solidFill>
                            <a:srgbClr val="31101F"/>
                          </a:solidFill>
                          <a:latin typeface="Calibri"/>
                        </a:rPr>
                        <a:t>18</a:t>
                      </a:r>
                    </a:p>
                  </a:txBody>
                  <a:tcPr marL="0" marR="0" marT="0" marB="0" anchor="b"/>
                </a:tc>
                <a:tc>
                  <a:txBody>
                    <a:bodyPr/>
                    <a:lstStyle/>
                    <a:p>
                      <a:pPr indent="0"/>
                      <a:r>
                        <a:rPr lang="en-US" sz="1300">
                          <a:solidFill>
                            <a:srgbClr val="222543"/>
                          </a:solidFill>
                          <a:latin typeface="Calibri"/>
                        </a:rPr>
                        <a:t>10</a:t>
                      </a:r>
                    </a:p>
                  </a:txBody>
                  <a:tcPr marL="0" marR="0" marT="0" marB="0" anchor="b"/>
                </a:tc>
                <a:tc>
                  <a:txBody>
                    <a:bodyPr/>
                    <a:lstStyle/>
                    <a:p>
                      <a:pPr indent="0"/>
                      <a:r>
                        <a:rPr lang="en-US" sz="1300">
                          <a:solidFill>
                            <a:srgbClr val="252525"/>
                          </a:solidFill>
                          <a:latin typeface="Calibri"/>
                        </a:rPr>
                        <a:t>2</a:t>
                      </a:r>
                    </a:p>
                  </a:txBody>
                  <a:tcPr marL="0" marR="0" marT="0" marB="0" anchor="b"/>
                </a:tc>
                <a:tc>
                  <a:txBody>
                    <a:bodyPr/>
                    <a:lstStyle/>
                    <a:p>
                      <a:pPr indent="0"/>
                      <a:r>
                        <a:rPr lang="en-US" sz="1300">
                          <a:solidFill>
                            <a:srgbClr val="222543"/>
                          </a:solidFill>
                          <a:latin typeface="Calibri"/>
                        </a:rPr>
                        <a:t>60</a:t>
                      </a:r>
                    </a:p>
                  </a:txBody>
                  <a:tcPr marL="0" marR="0" marT="0" marB="0" anchor="b"/>
                </a:tc>
                <a:tc>
                  <a:txBody>
                    <a:bodyPr/>
                    <a:lstStyle/>
                    <a:p>
                      <a:pPr indent="0"/>
                      <a:r>
                        <a:rPr lang="en-US" sz="1300">
                          <a:solidFill>
                            <a:srgbClr val="252525"/>
                          </a:solidFill>
                          <a:latin typeface="Calibri"/>
                        </a:rPr>
                        <a:t>52</a:t>
                      </a:r>
                    </a:p>
                  </a:txBody>
                  <a:tcPr marL="0" marR="0" marT="0" marB="0" anchor="ctr"/>
                </a:tc>
                <a:tc>
                  <a:txBody>
                    <a:bodyPr/>
                    <a:lstStyle/>
                    <a:p>
                      <a:pPr indent="0"/>
                      <a:r>
                        <a:rPr lang="en-US" sz="1300">
                          <a:solidFill>
                            <a:srgbClr val="222543"/>
                          </a:solidFill>
                          <a:latin typeface="Calibri"/>
                        </a:rPr>
                        <a:t>44</a:t>
                      </a:r>
                    </a:p>
                  </a:txBody>
                  <a:tcPr marL="0" marR="0" marT="0" marB="0" anchor="ctr"/>
                </a:tc>
                <a:tc>
                  <a:txBody>
                    <a:bodyPr/>
                    <a:lstStyle/>
                    <a:p>
                      <a:pPr indent="0"/>
                      <a:r>
                        <a:rPr lang="en-US" sz="1300">
                          <a:solidFill>
                            <a:srgbClr val="222543"/>
                          </a:solidFill>
                          <a:latin typeface="Calibri"/>
                        </a:rPr>
                        <a:t>36</a:t>
                      </a:r>
                    </a:p>
                  </a:txBody>
                  <a:tcPr marL="0" marR="0" marT="0" marB="0" anchor="ctr"/>
                </a:tc>
                <a:tc>
                  <a:txBody>
                    <a:bodyPr/>
                    <a:lstStyle/>
                    <a:p>
                      <a:pPr indent="0"/>
                      <a:r>
                        <a:rPr lang="en-US" sz="1300">
                          <a:solidFill>
                            <a:srgbClr val="252525"/>
                          </a:solidFill>
                          <a:latin typeface="Calibri"/>
                        </a:rPr>
                        <a:t>28</a:t>
                      </a:r>
                    </a:p>
                  </a:txBody>
                  <a:tcPr marL="0" marR="0" marT="0" marB="0" anchor="b"/>
                </a:tc>
                <a:tc>
                  <a:txBody>
                    <a:bodyPr/>
                    <a:lstStyle/>
                    <a:p>
                      <a:pPr indent="0"/>
                      <a:r>
                        <a:rPr lang="en-US" sz="1300">
                          <a:solidFill>
                            <a:srgbClr val="222543"/>
                          </a:solidFill>
                          <a:latin typeface="Calibri"/>
                        </a:rPr>
                        <a:t>20</a:t>
                      </a:r>
                    </a:p>
                  </a:txBody>
                  <a:tcPr marL="0" marR="0" marT="0" marB="0" anchor="b"/>
                </a:tc>
                <a:tc>
                  <a:txBody>
                    <a:bodyPr/>
                    <a:lstStyle/>
                    <a:p>
                      <a:pPr indent="0"/>
                      <a:r>
                        <a:rPr lang="en-US" sz="1300">
                          <a:solidFill>
                            <a:srgbClr val="31101F"/>
                          </a:solidFill>
                          <a:latin typeface="Calibri"/>
                        </a:rPr>
                        <a:t>12</a:t>
                      </a:r>
                    </a:p>
                  </a:txBody>
                  <a:tcPr marL="0" marR="0" marT="0" marB="0" anchor="b"/>
                </a:tc>
                <a:tc>
                  <a:txBody>
                    <a:bodyPr/>
                    <a:lstStyle/>
                    <a:p>
                      <a:pPr indent="0"/>
                      <a:r>
                        <a:rPr lang="en-US" sz="1300">
                          <a:solidFill>
                            <a:srgbClr val="31101F"/>
                          </a:solidFill>
                          <a:latin typeface="Calibri"/>
                        </a:rPr>
                        <a:t>4</a:t>
                      </a:r>
                    </a:p>
                  </a:txBody>
                  <a:tcPr marL="0" marR="0" marT="0" marB="0" anchor="ctr"/>
                </a:tc>
                <a:extLst>
                  <a:ext uri="{0D108BD9-81ED-4DB2-BD59-A6C34878D82A}">
                    <a16:rowId xmlns:a16="http://schemas.microsoft.com/office/drawing/2014/main" val="10000"/>
                  </a:ext>
                </a:extLst>
              </a:tr>
              <a:tr h="256032">
                <a:tc>
                  <a:txBody>
                    <a:bodyPr/>
                    <a:lstStyle/>
                    <a:p>
                      <a:pPr indent="0"/>
                      <a:r>
                        <a:rPr lang="en-US" sz="1300">
                          <a:solidFill>
                            <a:srgbClr val="222543"/>
                          </a:solidFill>
                          <a:latin typeface="Calibri"/>
                        </a:rPr>
                        <a:t>62</a:t>
                      </a:r>
                    </a:p>
                  </a:txBody>
                  <a:tcPr marL="0" marR="0" marT="0" marB="0" anchor="ctr"/>
                </a:tc>
                <a:tc>
                  <a:txBody>
                    <a:bodyPr/>
                    <a:lstStyle/>
                    <a:p>
                      <a:pPr indent="0"/>
                      <a:r>
                        <a:rPr lang="en-US" sz="1300">
                          <a:solidFill>
                            <a:srgbClr val="222543"/>
                          </a:solidFill>
                          <a:latin typeface="Calibri"/>
                        </a:rPr>
                        <a:t>54</a:t>
                      </a:r>
                    </a:p>
                  </a:txBody>
                  <a:tcPr marL="0" marR="0" marT="0" marB="0" anchor="ctr"/>
                </a:tc>
                <a:tc>
                  <a:txBody>
                    <a:bodyPr/>
                    <a:lstStyle/>
                    <a:p>
                      <a:pPr indent="0"/>
                      <a:r>
                        <a:rPr lang="en-US" sz="1300">
                          <a:solidFill>
                            <a:srgbClr val="252525"/>
                          </a:solidFill>
                          <a:latin typeface="Calibri"/>
                        </a:rPr>
                        <a:t>46</a:t>
                      </a:r>
                    </a:p>
                  </a:txBody>
                  <a:tcPr marL="0" marR="0" marT="0" marB="0" anchor="ctr"/>
                </a:tc>
                <a:tc>
                  <a:txBody>
                    <a:bodyPr/>
                    <a:lstStyle/>
                    <a:p>
                      <a:pPr indent="0"/>
                      <a:r>
                        <a:rPr lang="en-US" sz="1300">
                          <a:solidFill>
                            <a:srgbClr val="252525"/>
                          </a:solidFill>
                          <a:latin typeface="Calibri"/>
                        </a:rPr>
                        <a:t>38</a:t>
                      </a:r>
                    </a:p>
                  </a:txBody>
                  <a:tcPr marL="0" marR="0" marT="0" marB="0" anchor="ctr"/>
                </a:tc>
                <a:tc>
                  <a:txBody>
                    <a:bodyPr/>
                    <a:lstStyle/>
                    <a:p>
                      <a:pPr indent="0"/>
                      <a:r>
                        <a:rPr lang="en-US" sz="1300">
                          <a:solidFill>
                            <a:srgbClr val="222543"/>
                          </a:solidFill>
                          <a:latin typeface="Calibri"/>
                        </a:rPr>
                        <a:t>30</a:t>
                      </a:r>
                    </a:p>
                  </a:txBody>
                  <a:tcPr marL="0" marR="0" marT="0" marB="0" anchor="ctr"/>
                </a:tc>
                <a:tc>
                  <a:txBody>
                    <a:bodyPr/>
                    <a:lstStyle/>
                    <a:p>
                      <a:pPr indent="0"/>
                      <a:r>
                        <a:rPr lang="en-US" sz="1300">
                          <a:solidFill>
                            <a:srgbClr val="252525"/>
                          </a:solidFill>
                          <a:latin typeface="Calibri"/>
                        </a:rPr>
                        <a:t>22</a:t>
                      </a:r>
                    </a:p>
                  </a:txBody>
                  <a:tcPr marL="0" marR="0" marT="0" marB="0" anchor="ctr"/>
                </a:tc>
                <a:tc>
                  <a:txBody>
                    <a:bodyPr/>
                    <a:lstStyle/>
                    <a:p>
                      <a:pPr indent="0"/>
                      <a:r>
                        <a:rPr lang="en-US" sz="1300">
                          <a:solidFill>
                            <a:srgbClr val="222543"/>
                          </a:solidFill>
                          <a:latin typeface="Calibri"/>
                        </a:rPr>
                        <a:t>14</a:t>
                      </a:r>
                    </a:p>
                  </a:txBody>
                  <a:tcPr marL="0" marR="0" marT="0" marB="0" anchor="ctr"/>
                </a:tc>
                <a:tc>
                  <a:txBody>
                    <a:bodyPr/>
                    <a:lstStyle/>
                    <a:p>
                      <a:pPr indent="0"/>
                      <a:r>
                        <a:rPr lang="en-US" sz="1300">
                          <a:solidFill>
                            <a:srgbClr val="222543"/>
                          </a:solidFill>
                          <a:latin typeface="Calibri"/>
                        </a:rPr>
                        <a:t>6</a:t>
                      </a:r>
                    </a:p>
                  </a:txBody>
                  <a:tcPr marL="0" marR="0" marT="0" marB="0" anchor="ctr"/>
                </a:tc>
                <a:tc>
                  <a:txBody>
                    <a:bodyPr/>
                    <a:lstStyle/>
                    <a:p>
                      <a:pPr indent="0"/>
                      <a:r>
                        <a:rPr lang="en-US" sz="1300">
                          <a:solidFill>
                            <a:srgbClr val="222543"/>
                          </a:solidFill>
                          <a:latin typeface="Calibri"/>
                        </a:rPr>
                        <a:t>64</a:t>
                      </a:r>
                    </a:p>
                  </a:txBody>
                  <a:tcPr marL="0" marR="0" marT="0" marB="0" anchor="ctr"/>
                </a:tc>
                <a:tc>
                  <a:txBody>
                    <a:bodyPr/>
                    <a:lstStyle/>
                    <a:p>
                      <a:pPr indent="0"/>
                      <a:r>
                        <a:rPr lang="en-US" sz="1300">
                          <a:solidFill>
                            <a:srgbClr val="252525"/>
                          </a:solidFill>
                          <a:latin typeface="Calibri"/>
                        </a:rPr>
                        <a:t>56</a:t>
                      </a:r>
                    </a:p>
                  </a:txBody>
                  <a:tcPr marL="0" marR="0" marT="0" marB="0" anchor="ctr"/>
                </a:tc>
                <a:tc>
                  <a:txBody>
                    <a:bodyPr/>
                    <a:lstStyle/>
                    <a:p>
                      <a:pPr indent="0"/>
                      <a:r>
                        <a:rPr lang="en-US" sz="1300">
                          <a:solidFill>
                            <a:srgbClr val="31101F"/>
                          </a:solidFill>
                          <a:latin typeface="Calibri"/>
                        </a:rPr>
                        <a:t>48</a:t>
                      </a:r>
                    </a:p>
                  </a:txBody>
                  <a:tcPr marL="0" marR="0" marT="0" marB="0" anchor="ctr"/>
                </a:tc>
                <a:tc>
                  <a:txBody>
                    <a:bodyPr/>
                    <a:lstStyle/>
                    <a:p>
                      <a:pPr indent="0"/>
                      <a:r>
                        <a:rPr lang="en-US" sz="1300">
                          <a:solidFill>
                            <a:srgbClr val="222543"/>
                          </a:solidFill>
                          <a:latin typeface="Calibri"/>
                        </a:rPr>
                        <a:t>40</a:t>
                      </a:r>
                    </a:p>
                  </a:txBody>
                  <a:tcPr marL="0" marR="0" marT="0" marB="0" anchor="ctr"/>
                </a:tc>
                <a:tc>
                  <a:txBody>
                    <a:bodyPr/>
                    <a:lstStyle/>
                    <a:p>
                      <a:pPr indent="0"/>
                      <a:r>
                        <a:rPr lang="en-US" sz="1300">
                          <a:solidFill>
                            <a:srgbClr val="252525"/>
                          </a:solidFill>
                          <a:latin typeface="Calibri"/>
                        </a:rPr>
                        <a:t>32</a:t>
                      </a:r>
                    </a:p>
                  </a:txBody>
                  <a:tcPr marL="0" marR="0" marT="0" marB="0" anchor="ctr"/>
                </a:tc>
                <a:tc>
                  <a:txBody>
                    <a:bodyPr/>
                    <a:lstStyle/>
                    <a:p>
                      <a:pPr indent="0"/>
                      <a:r>
                        <a:rPr lang="en-US" sz="1300">
                          <a:solidFill>
                            <a:srgbClr val="222543"/>
                          </a:solidFill>
                          <a:latin typeface="Calibri"/>
                        </a:rPr>
                        <a:t>24</a:t>
                      </a:r>
                    </a:p>
                  </a:txBody>
                  <a:tcPr marL="0" marR="0" marT="0" marB="0" anchor="ctr"/>
                </a:tc>
                <a:tc>
                  <a:txBody>
                    <a:bodyPr/>
                    <a:lstStyle/>
                    <a:p>
                      <a:pPr indent="0"/>
                      <a:r>
                        <a:rPr lang="en-US" sz="1300">
                          <a:solidFill>
                            <a:srgbClr val="31101F"/>
                          </a:solidFill>
                          <a:latin typeface="Calibri"/>
                        </a:rPr>
                        <a:t>16</a:t>
                      </a:r>
                    </a:p>
                  </a:txBody>
                  <a:tcPr marL="0" marR="0" marT="0" marB="0" anchor="ctr"/>
                </a:tc>
                <a:tc>
                  <a:txBody>
                    <a:bodyPr/>
                    <a:lstStyle/>
                    <a:p>
                      <a:pPr indent="0"/>
                      <a:r>
                        <a:rPr lang="en-US" sz="1300">
                          <a:solidFill>
                            <a:srgbClr val="222543"/>
                          </a:solidFill>
                          <a:latin typeface="Calibri"/>
                        </a:rPr>
                        <a:t>8</a:t>
                      </a:r>
                    </a:p>
                  </a:txBody>
                  <a:tcPr marL="0" marR="0" marT="0" marB="0" anchor="ctr"/>
                </a:tc>
                <a:extLst>
                  <a:ext uri="{0D108BD9-81ED-4DB2-BD59-A6C34878D82A}">
                    <a16:rowId xmlns:a16="http://schemas.microsoft.com/office/drawing/2014/main" val="10001"/>
                  </a:ext>
                </a:extLst>
              </a:tr>
              <a:tr h="256032">
                <a:tc>
                  <a:txBody>
                    <a:bodyPr/>
                    <a:lstStyle/>
                    <a:p>
                      <a:pPr indent="0"/>
                      <a:r>
                        <a:rPr lang="en-US" sz="1300">
                          <a:solidFill>
                            <a:srgbClr val="252525"/>
                          </a:solidFill>
                          <a:latin typeface="Calibri"/>
                        </a:rPr>
                        <a:t>57</a:t>
                      </a:r>
                    </a:p>
                  </a:txBody>
                  <a:tcPr marL="0" marR="0" marT="0" marB="0"/>
                </a:tc>
                <a:tc>
                  <a:txBody>
                    <a:bodyPr/>
                    <a:lstStyle/>
                    <a:p>
                      <a:pPr indent="0"/>
                      <a:r>
                        <a:rPr lang="en-US" sz="1300">
                          <a:solidFill>
                            <a:srgbClr val="252525"/>
                          </a:solidFill>
                          <a:latin typeface="Calibri"/>
                        </a:rPr>
                        <a:t>49</a:t>
                      </a:r>
                    </a:p>
                  </a:txBody>
                  <a:tcPr marL="0" marR="0" marT="0" marB="0"/>
                </a:tc>
                <a:tc>
                  <a:txBody>
                    <a:bodyPr/>
                    <a:lstStyle/>
                    <a:p>
                      <a:pPr indent="0"/>
                      <a:r>
                        <a:rPr lang="en-US" sz="1300">
                          <a:solidFill>
                            <a:srgbClr val="222543"/>
                          </a:solidFill>
                          <a:latin typeface="Calibri"/>
                        </a:rPr>
                        <a:t>41</a:t>
                      </a:r>
                    </a:p>
                  </a:txBody>
                  <a:tcPr marL="0" marR="0" marT="0" marB="0"/>
                </a:tc>
                <a:tc>
                  <a:txBody>
                    <a:bodyPr/>
                    <a:lstStyle/>
                    <a:p>
                      <a:pPr indent="0"/>
                      <a:r>
                        <a:rPr lang="en-US" sz="1300">
                          <a:solidFill>
                            <a:srgbClr val="252525"/>
                          </a:solidFill>
                          <a:latin typeface="Calibri"/>
                        </a:rPr>
                        <a:t>33</a:t>
                      </a:r>
                    </a:p>
                  </a:txBody>
                  <a:tcPr marL="0" marR="0" marT="0" marB="0"/>
                </a:tc>
                <a:tc>
                  <a:txBody>
                    <a:bodyPr/>
                    <a:lstStyle/>
                    <a:p>
                      <a:pPr indent="0"/>
                      <a:r>
                        <a:rPr lang="en-US" sz="1300">
                          <a:solidFill>
                            <a:srgbClr val="31101F"/>
                          </a:solidFill>
                          <a:latin typeface="Calibri"/>
                        </a:rPr>
                        <a:t>25</a:t>
                      </a:r>
                    </a:p>
                  </a:txBody>
                  <a:tcPr marL="0" marR="0" marT="0" marB="0"/>
                </a:tc>
                <a:tc>
                  <a:txBody>
                    <a:bodyPr/>
                    <a:lstStyle/>
                    <a:p>
                      <a:pPr indent="0"/>
                      <a:r>
                        <a:rPr lang="en-US" sz="1300">
                          <a:solidFill>
                            <a:srgbClr val="31101F"/>
                          </a:solidFill>
                          <a:latin typeface="Calibri"/>
                        </a:rPr>
                        <a:t>17</a:t>
                      </a:r>
                    </a:p>
                  </a:txBody>
                  <a:tcPr marL="0" marR="0" marT="0" marB="0"/>
                </a:tc>
                <a:tc>
                  <a:txBody>
                    <a:bodyPr/>
                    <a:lstStyle/>
                    <a:p>
                      <a:pPr indent="0"/>
                      <a:r>
                        <a:rPr lang="en-US" sz="1300">
                          <a:solidFill>
                            <a:srgbClr val="222543"/>
                          </a:solidFill>
                          <a:latin typeface="Calibri"/>
                        </a:rPr>
                        <a:t>9</a:t>
                      </a:r>
                    </a:p>
                  </a:txBody>
                  <a:tcPr marL="0" marR="0" marT="0" marB="0"/>
                </a:tc>
                <a:tc>
                  <a:txBody>
                    <a:bodyPr/>
                    <a:lstStyle/>
                    <a:p>
                      <a:pPr indent="0"/>
                      <a:r>
                        <a:rPr lang="en-US" sz="1300">
                          <a:solidFill>
                            <a:srgbClr val="31101F"/>
                          </a:solidFill>
                          <a:latin typeface="Calibri"/>
                        </a:rPr>
                        <a:t>1</a:t>
                      </a:r>
                    </a:p>
                  </a:txBody>
                  <a:tcPr marL="0" marR="0" marT="0" marB="0" anchor="b"/>
                </a:tc>
                <a:tc>
                  <a:txBody>
                    <a:bodyPr/>
                    <a:lstStyle/>
                    <a:p>
                      <a:pPr indent="0"/>
                      <a:r>
                        <a:rPr lang="en-US" sz="1300">
                          <a:solidFill>
                            <a:srgbClr val="222543"/>
                          </a:solidFill>
                          <a:latin typeface="Calibri"/>
                        </a:rPr>
                        <a:t>59</a:t>
                      </a:r>
                    </a:p>
                  </a:txBody>
                  <a:tcPr marL="0" marR="0" marT="0" marB="0"/>
                </a:tc>
                <a:tc>
                  <a:txBody>
                    <a:bodyPr/>
                    <a:lstStyle/>
                    <a:p>
                      <a:pPr indent="0"/>
                      <a:r>
                        <a:rPr lang="en-US" sz="1300">
                          <a:solidFill>
                            <a:srgbClr val="222543"/>
                          </a:solidFill>
                          <a:latin typeface="Calibri"/>
                        </a:rPr>
                        <a:t>51</a:t>
                      </a:r>
                    </a:p>
                  </a:txBody>
                  <a:tcPr marL="0" marR="0" marT="0" marB="0"/>
                </a:tc>
                <a:tc>
                  <a:txBody>
                    <a:bodyPr/>
                    <a:lstStyle/>
                    <a:p>
                      <a:pPr indent="0"/>
                      <a:r>
                        <a:rPr lang="en-US" sz="1300">
                          <a:solidFill>
                            <a:srgbClr val="31101F"/>
                          </a:solidFill>
                          <a:latin typeface="Calibri"/>
                        </a:rPr>
                        <a:t>43</a:t>
                      </a:r>
                    </a:p>
                  </a:txBody>
                  <a:tcPr marL="0" marR="0" marT="0" marB="0"/>
                </a:tc>
                <a:tc>
                  <a:txBody>
                    <a:bodyPr/>
                    <a:lstStyle/>
                    <a:p>
                      <a:pPr indent="0"/>
                      <a:r>
                        <a:rPr lang="en-US" sz="1300">
                          <a:solidFill>
                            <a:srgbClr val="252525"/>
                          </a:solidFill>
                          <a:latin typeface="Calibri"/>
                        </a:rPr>
                        <a:t>35</a:t>
                      </a:r>
                    </a:p>
                  </a:txBody>
                  <a:tcPr marL="0" marR="0" marT="0" marB="0"/>
                </a:tc>
                <a:tc>
                  <a:txBody>
                    <a:bodyPr/>
                    <a:lstStyle/>
                    <a:p>
                      <a:pPr indent="0"/>
                      <a:r>
                        <a:rPr lang="en-US" sz="1300">
                          <a:solidFill>
                            <a:srgbClr val="252525"/>
                          </a:solidFill>
                          <a:latin typeface="Calibri"/>
                        </a:rPr>
                        <a:t>27</a:t>
                      </a:r>
                    </a:p>
                  </a:txBody>
                  <a:tcPr marL="0" marR="0" marT="0" marB="0"/>
                </a:tc>
                <a:tc>
                  <a:txBody>
                    <a:bodyPr/>
                    <a:lstStyle/>
                    <a:p>
                      <a:pPr indent="0"/>
                      <a:r>
                        <a:rPr lang="en-US" sz="1300">
                          <a:solidFill>
                            <a:srgbClr val="252525"/>
                          </a:solidFill>
                          <a:latin typeface="Calibri"/>
                        </a:rPr>
                        <a:t>19</a:t>
                      </a:r>
                    </a:p>
                  </a:txBody>
                  <a:tcPr marL="0" marR="0" marT="0" marB="0"/>
                </a:tc>
                <a:tc>
                  <a:txBody>
                    <a:bodyPr/>
                    <a:lstStyle/>
                    <a:p>
                      <a:pPr indent="0"/>
                      <a:r>
                        <a:rPr lang="en-US" sz="1300">
                          <a:solidFill>
                            <a:srgbClr val="222543"/>
                          </a:solidFill>
                          <a:latin typeface="Calibri"/>
                        </a:rPr>
                        <a:t>11</a:t>
                      </a:r>
                    </a:p>
                  </a:txBody>
                  <a:tcPr marL="0" marR="0" marT="0" marB="0" anchor="b"/>
                </a:tc>
                <a:tc>
                  <a:txBody>
                    <a:bodyPr/>
                    <a:lstStyle/>
                    <a:p>
                      <a:pPr indent="0"/>
                      <a:r>
                        <a:rPr lang="en-US" sz="1300">
                          <a:solidFill>
                            <a:srgbClr val="3B3049"/>
                          </a:solidFill>
                          <a:latin typeface="Calibri"/>
                        </a:rPr>
                        <a:t>3</a:t>
                      </a:r>
                    </a:p>
                  </a:txBody>
                  <a:tcPr marL="0" marR="0" marT="0" marB="0"/>
                </a:tc>
                <a:extLst>
                  <a:ext uri="{0D108BD9-81ED-4DB2-BD59-A6C34878D82A}">
                    <a16:rowId xmlns:a16="http://schemas.microsoft.com/office/drawing/2014/main" val="10002"/>
                  </a:ext>
                </a:extLst>
              </a:tr>
              <a:tr h="262128">
                <a:tc>
                  <a:txBody>
                    <a:bodyPr/>
                    <a:lstStyle/>
                    <a:p>
                      <a:pPr indent="0"/>
                      <a:r>
                        <a:rPr lang="en-US" sz="1300">
                          <a:solidFill>
                            <a:srgbClr val="222543"/>
                          </a:solidFill>
                          <a:latin typeface="Calibri"/>
                        </a:rPr>
                        <a:t>61</a:t>
                      </a:r>
                    </a:p>
                  </a:txBody>
                  <a:tcPr marL="0" marR="0" marT="0" marB="0" anchor="ctr"/>
                </a:tc>
                <a:tc>
                  <a:txBody>
                    <a:bodyPr/>
                    <a:lstStyle/>
                    <a:p>
                      <a:pPr indent="0"/>
                      <a:r>
                        <a:rPr lang="en-US" sz="1300">
                          <a:solidFill>
                            <a:srgbClr val="222543"/>
                          </a:solidFill>
                          <a:latin typeface="Calibri"/>
                        </a:rPr>
                        <a:t>33</a:t>
                      </a:r>
                    </a:p>
                  </a:txBody>
                  <a:tcPr marL="0" marR="0" marT="0" marB="0"/>
                </a:tc>
                <a:tc>
                  <a:txBody>
                    <a:bodyPr/>
                    <a:lstStyle/>
                    <a:p>
                      <a:pPr indent="0"/>
                      <a:r>
                        <a:rPr lang="en-US" sz="1300">
                          <a:solidFill>
                            <a:srgbClr val="31101F"/>
                          </a:solidFill>
                          <a:latin typeface="Calibri"/>
                        </a:rPr>
                        <a:t>45</a:t>
                      </a:r>
                    </a:p>
                  </a:txBody>
                  <a:tcPr marL="0" marR="0" marT="0" marB="0"/>
                </a:tc>
                <a:tc>
                  <a:txBody>
                    <a:bodyPr/>
                    <a:lstStyle/>
                    <a:p>
                      <a:pPr indent="0"/>
                      <a:r>
                        <a:rPr lang="en-US" sz="1300">
                          <a:solidFill>
                            <a:srgbClr val="222543"/>
                          </a:solidFill>
                          <a:latin typeface="Calibri"/>
                        </a:rPr>
                        <a:t>37</a:t>
                      </a:r>
                    </a:p>
                  </a:txBody>
                  <a:tcPr marL="0" marR="0" marT="0" marB="0"/>
                </a:tc>
                <a:tc>
                  <a:txBody>
                    <a:bodyPr/>
                    <a:lstStyle/>
                    <a:p>
                      <a:pPr indent="0"/>
                      <a:r>
                        <a:rPr lang="en-US" sz="1300">
                          <a:solidFill>
                            <a:srgbClr val="222543"/>
                          </a:solidFill>
                          <a:latin typeface="Calibri"/>
                        </a:rPr>
                        <a:t>29</a:t>
                      </a:r>
                    </a:p>
                  </a:txBody>
                  <a:tcPr marL="0" marR="0" marT="0" marB="0"/>
                </a:tc>
                <a:tc>
                  <a:txBody>
                    <a:bodyPr/>
                    <a:lstStyle/>
                    <a:p>
                      <a:pPr indent="0"/>
                      <a:r>
                        <a:rPr lang="en-US" sz="1300">
                          <a:solidFill>
                            <a:srgbClr val="222543"/>
                          </a:solidFill>
                          <a:latin typeface="Calibri"/>
                        </a:rPr>
                        <a:t>21</a:t>
                      </a:r>
                    </a:p>
                  </a:txBody>
                  <a:tcPr marL="0" marR="0" marT="0" marB="0" anchor="ctr"/>
                </a:tc>
                <a:tc>
                  <a:txBody>
                    <a:bodyPr/>
                    <a:lstStyle/>
                    <a:p>
                      <a:pPr indent="0"/>
                      <a:r>
                        <a:rPr lang="en-US" sz="1300">
                          <a:solidFill>
                            <a:srgbClr val="31101F"/>
                          </a:solidFill>
                          <a:latin typeface="Calibri"/>
                        </a:rPr>
                        <a:t>13</a:t>
                      </a:r>
                    </a:p>
                  </a:txBody>
                  <a:tcPr marL="0" marR="0" marT="0" marB="0"/>
                </a:tc>
                <a:tc>
                  <a:txBody>
                    <a:bodyPr/>
                    <a:lstStyle/>
                    <a:p>
                      <a:pPr indent="0"/>
                      <a:r>
                        <a:rPr lang="en-US" sz="1300">
                          <a:solidFill>
                            <a:srgbClr val="252525"/>
                          </a:solidFill>
                          <a:latin typeface="Calibri"/>
                        </a:rPr>
                        <a:t>5</a:t>
                      </a:r>
                    </a:p>
                  </a:txBody>
                  <a:tcPr marL="0" marR="0" marT="0" marB="0"/>
                </a:tc>
                <a:tc>
                  <a:txBody>
                    <a:bodyPr/>
                    <a:lstStyle/>
                    <a:p>
                      <a:pPr indent="0"/>
                      <a:r>
                        <a:rPr lang="en-US" sz="1300">
                          <a:solidFill>
                            <a:srgbClr val="252525"/>
                          </a:solidFill>
                          <a:latin typeface="Calibri"/>
                        </a:rPr>
                        <a:t>63</a:t>
                      </a:r>
                    </a:p>
                  </a:txBody>
                  <a:tcPr marL="0" marR="0" marT="0" marB="0"/>
                </a:tc>
                <a:tc>
                  <a:txBody>
                    <a:bodyPr/>
                    <a:lstStyle/>
                    <a:p>
                      <a:pPr indent="0"/>
                      <a:r>
                        <a:rPr lang="en-US" sz="1300">
                          <a:solidFill>
                            <a:srgbClr val="252525"/>
                          </a:solidFill>
                          <a:latin typeface="Calibri"/>
                        </a:rPr>
                        <a:t>55</a:t>
                      </a:r>
                    </a:p>
                  </a:txBody>
                  <a:tcPr marL="0" marR="0" marT="0" marB="0"/>
                </a:tc>
                <a:tc>
                  <a:txBody>
                    <a:bodyPr/>
                    <a:lstStyle/>
                    <a:p>
                      <a:pPr indent="0"/>
                      <a:r>
                        <a:rPr lang="en-US" sz="1300">
                          <a:solidFill>
                            <a:srgbClr val="31101F"/>
                          </a:solidFill>
                          <a:latin typeface="Calibri"/>
                        </a:rPr>
                        <a:t>47</a:t>
                      </a:r>
                    </a:p>
                  </a:txBody>
                  <a:tcPr marL="0" marR="0" marT="0" marB="0"/>
                </a:tc>
                <a:tc>
                  <a:txBody>
                    <a:bodyPr/>
                    <a:lstStyle/>
                    <a:p>
                      <a:pPr indent="0"/>
                      <a:r>
                        <a:rPr lang="en-US" sz="1300">
                          <a:solidFill>
                            <a:srgbClr val="222543"/>
                          </a:solidFill>
                          <a:latin typeface="Calibri"/>
                        </a:rPr>
                        <a:t>39</a:t>
                      </a:r>
                    </a:p>
                  </a:txBody>
                  <a:tcPr marL="0" marR="0" marT="0" marB="0"/>
                </a:tc>
                <a:tc>
                  <a:txBody>
                    <a:bodyPr/>
                    <a:lstStyle/>
                    <a:p>
                      <a:pPr indent="0"/>
                      <a:r>
                        <a:rPr lang="en-US" sz="1300">
                          <a:solidFill>
                            <a:srgbClr val="222543"/>
                          </a:solidFill>
                          <a:latin typeface="Calibri"/>
                        </a:rPr>
                        <a:t>31</a:t>
                      </a:r>
                    </a:p>
                  </a:txBody>
                  <a:tcPr marL="0" marR="0" marT="0" marB="0"/>
                </a:tc>
                <a:tc>
                  <a:txBody>
                    <a:bodyPr/>
                    <a:lstStyle/>
                    <a:p>
                      <a:pPr indent="0"/>
                      <a:r>
                        <a:rPr lang="en-US" sz="1300">
                          <a:solidFill>
                            <a:srgbClr val="252525"/>
                          </a:solidFill>
                          <a:latin typeface="Calibri"/>
                        </a:rPr>
                        <a:t>23</a:t>
                      </a:r>
                    </a:p>
                  </a:txBody>
                  <a:tcPr marL="0" marR="0" marT="0" marB="0"/>
                </a:tc>
                <a:tc>
                  <a:txBody>
                    <a:bodyPr/>
                    <a:lstStyle/>
                    <a:p>
                      <a:pPr indent="0"/>
                      <a:r>
                        <a:rPr lang="en-US" sz="1300">
                          <a:solidFill>
                            <a:srgbClr val="31101F"/>
                          </a:solidFill>
                          <a:latin typeface="Calibri"/>
                        </a:rPr>
                        <a:t>15</a:t>
                      </a:r>
                    </a:p>
                  </a:txBody>
                  <a:tcPr marL="0" marR="0" marT="0" marB="0"/>
                </a:tc>
                <a:tc>
                  <a:txBody>
                    <a:bodyPr/>
                    <a:lstStyle/>
                    <a:p>
                      <a:pPr indent="0"/>
                      <a:r>
                        <a:rPr lang="en-US" sz="1300">
                          <a:solidFill>
                            <a:srgbClr val="252525"/>
                          </a:solidFill>
                          <a:latin typeface="Calibri"/>
                        </a:rPr>
                        <a:t>7</a:t>
                      </a:r>
                    </a:p>
                  </a:txBody>
                  <a:tcPr marL="0" marR="0" marT="0" marB="0"/>
                </a:tc>
                <a:extLst>
                  <a:ext uri="{0D108BD9-81ED-4DB2-BD59-A6C34878D82A}">
                    <a16:rowId xmlns:a16="http://schemas.microsoft.com/office/drawing/2014/main" val="10003"/>
                  </a:ext>
                </a:extLst>
              </a:tr>
            </a:tbl>
          </a:graphicData>
        </a:graphic>
      </p:graphicFrame>
      <p:sp>
        <p:nvSpPr>
          <p:cNvPr id="4" name="Rectangle 3"/>
          <p:cNvSpPr/>
          <p:nvPr/>
        </p:nvSpPr>
        <p:spPr>
          <a:xfrm>
            <a:off x="3605784" y="3855720"/>
            <a:ext cx="2478024" cy="204216"/>
          </a:xfrm>
          <a:prstGeom prst="rect">
            <a:avLst/>
          </a:prstGeom>
        </p:spPr>
        <p:txBody>
          <a:bodyPr wrap="none" lIns="0" tIns="0" rIns="0" bIns="0">
            <a:noAutofit/>
          </a:bodyPr>
          <a:lstStyle/>
          <a:p>
            <a:pPr indent="0"/>
            <a:r>
              <a:rPr lang="en-US" sz="1300">
                <a:latin typeface="Segoe UI"/>
              </a:rPr>
              <a:t>Figure ■ </a:t>
            </a:r>
            <a:r>
              <a:rPr lang="en-US" sz="1300">
                <a:solidFill>
                  <a:srgbClr val="3B3049"/>
                </a:solidFill>
                <a:latin typeface="Segoe UI"/>
              </a:rPr>
              <a:t>Initial permutation table</a:t>
            </a:r>
          </a:p>
        </p:txBody>
      </p:sp>
      <p:sp>
        <p:nvSpPr>
          <p:cNvPr id="5" name="Rectangle 4"/>
          <p:cNvSpPr/>
          <p:nvPr/>
        </p:nvSpPr>
        <p:spPr>
          <a:xfrm>
            <a:off x="719328" y="4852416"/>
            <a:ext cx="7979664" cy="1356360"/>
          </a:xfrm>
          <a:prstGeom prst="rect">
            <a:avLst/>
          </a:prstGeom>
        </p:spPr>
        <p:txBody>
          <a:bodyPr lIns="0" tIns="0" rIns="0" bIns="0">
            <a:noAutofit/>
          </a:bodyPr>
          <a:lstStyle/>
          <a:p>
            <a:pPr indent="0" algn="just">
              <a:lnSpc>
                <a:spcPts val="2784"/>
              </a:lnSpc>
              <a:spcBef>
                <a:spcPts val="4410"/>
              </a:spcBef>
            </a:pPr>
            <a:r>
              <a:rPr lang="en-US" sz="2200" dirty="0">
                <a:latin typeface="Calibri"/>
              </a:rPr>
              <a:t>	As we have noted after IP done, the resulting 64-bit permuted text block is divided into two half blocks. Each half block consists of 32 bits, and each of the 16 rounds, in turn, consists of the broad level steps outlined in figure.</a:t>
            </a:r>
          </a:p>
        </p:txBody>
      </p:sp>
      <p:sp>
        <p:nvSpPr>
          <p:cNvPr id="6" name="Date Placeholder 5"/>
          <p:cNvSpPr>
            <a:spLocks noGrp="1"/>
          </p:cNvSpPr>
          <p:nvPr>
            <p:ph type="dt" sz="half" idx="10"/>
          </p:nvPr>
        </p:nvSpPr>
        <p:spPr/>
        <p:txBody>
          <a:bodyPr/>
          <a:lstStyle/>
          <a:p>
            <a:fld id="{101B7EE3-CE26-4B24-9EB2-44F3779C1E66}"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99</a:t>
            </a:fld>
            <a:endParaRPr lang="en-US"/>
          </a:p>
        </p:txBody>
      </p:sp>
      <p:sp>
        <p:nvSpPr>
          <p:cNvPr id="9"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39312" y="914400"/>
            <a:ext cx="1350264" cy="5132832"/>
          </a:xfrm>
          <a:prstGeom prst="rect">
            <a:avLst/>
          </a:prstGeom>
        </p:spPr>
      </p:pic>
      <p:sp>
        <p:nvSpPr>
          <p:cNvPr id="3" name="Date Placeholder 2"/>
          <p:cNvSpPr>
            <a:spLocks noGrp="1"/>
          </p:cNvSpPr>
          <p:nvPr>
            <p:ph type="dt" sz="half" idx="10"/>
          </p:nvPr>
        </p:nvSpPr>
        <p:spPr/>
        <p:txBody>
          <a:bodyPr/>
          <a:lstStyle/>
          <a:p>
            <a:fld id="{C5B04C5E-5079-43F9-9DF6-7EE03C93B3FF}"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100</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1456944"/>
            <a:ext cx="7985760" cy="3084576"/>
          </a:xfrm>
          <a:prstGeom prst="rect">
            <a:avLst/>
          </a:prstGeom>
        </p:spPr>
        <p:txBody>
          <a:bodyPr lIns="0" tIns="0" rIns="0" bIns="0">
            <a:noAutofit/>
          </a:bodyPr>
          <a:lstStyle/>
          <a:p>
            <a:pPr indent="0">
              <a:spcAft>
                <a:spcPts val="1470"/>
              </a:spcAft>
            </a:pPr>
            <a:r>
              <a:rPr lang="en-US" sz="2200" b="1" dirty="0">
                <a:latin typeface="Calibri"/>
              </a:rPr>
              <a:t>Step-1: Key transformation -</a:t>
            </a:r>
          </a:p>
          <a:p>
            <a:pPr indent="482600" algn="just">
              <a:lnSpc>
                <a:spcPts val="3024"/>
              </a:lnSpc>
            </a:pPr>
            <a:r>
              <a:rPr lang="en-US" sz="2200" dirty="0">
                <a:latin typeface="Calibri"/>
              </a:rPr>
              <a:t>We have noted initial 64-bit key is transformed into a 56-bit key by discarding every 8th bit of the initial key. Thus, for each a 56-bit key is available. From this 56-bit key, a different 48-bit Sub Key is generated during each round using a process called as key transformation. For this the 56 bit key is divided into two halves, each of 28 bits. These halves are circularly shifted left by one or two positions, depending on the round.</a:t>
            </a:r>
          </a:p>
        </p:txBody>
      </p:sp>
      <p:sp>
        <p:nvSpPr>
          <p:cNvPr id="3" name="Date Placeholder 2"/>
          <p:cNvSpPr>
            <a:spLocks noGrp="1"/>
          </p:cNvSpPr>
          <p:nvPr>
            <p:ph type="dt" sz="half" idx="10"/>
          </p:nvPr>
        </p:nvSpPr>
        <p:spPr/>
        <p:txBody>
          <a:bodyPr/>
          <a:lstStyle/>
          <a:p>
            <a:fld id="{8A54FDBB-2FAF-4AE7-A5E1-67D95EFB0239}"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101</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5424" y="972312"/>
            <a:ext cx="7970520" cy="1002792"/>
          </a:xfrm>
          <a:prstGeom prst="rect">
            <a:avLst/>
          </a:prstGeom>
        </p:spPr>
        <p:txBody>
          <a:bodyPr lIns="0" tIns="0" rIns="0" bIns="0">
            <a:noAutofit/>
          </a:bodyPr>
          <a:lstStyle/>
          <a:p>
            <a:pPr indent="0" algn="just">
              <a:lnSpc>
                <a:spcPts val="2808"/>
              </a:lnSpc>
              <a:spcAft>
                <a:spcPts val="1680"/>
              </a:spcAft>
            </a:pPr>
            <a:r>
              <a:rPr lang="en-US" sz="2200">
                <a:latin typeface="Calibri"/>
              </a:rPr>
              <a:t>For example, if the round number 1, 2, 9 or 16 the shift is done by only position for other rounds, the circular shift is done by two positions. The number of key bits shifted per round is show in figure.</a:t>
            </a:r>
          </a:p>
        </p:txBody>
      </p:sp>
      <p:graphicFrame>
        <p:nvGraphicFramePr>
          <p:cNvPr id="3" name="Table 2"/>
          <p:cNvGraphicFramePr>
            <a:graphicFrameLocks noGrp="1"/>
          </p:cNvGraphicFramePr>
          <p:nvPr/>
        </p:nvGraphicFramePr>
        <p:xfrm>
          <a:off x="868680" y="2243328"/>
          <a:ext cx="7534656" cy="746760"/>
        </p:xfrm>
        <a:graphic>
          <a:graphicData uri="http://schemas.openxmlformats.org/drawingml/2006/table">
            <a:tbl>
              <a:tblPr/>
              <a:tblGrid>
                <a:gridCol w="780288">
                  <a:extLst>
                    <a:ext uri="{9D8B030D-6E8A-4147-A177-3AD203B41FA5}">
                      <a16:colId xmlns:a16="http://schemas.microsoft.com/office/drawing/2014/main" val="20000"/>
                    </a:ext>
                  </a:extLst>
                </a:gridCol>
                <a:gridCol w="374904">
                  <a:extLst>
                    <a:ext uri="{9D8B030D-6E8A-4147-A177-3AD203B41FA5}">
                      <a16:colId xmlns:a16="http://schemas.microsoft.com/office/drawing/2014/main" val="20001"/>
                    </a:ext>
                  </a:extLst>
                </a:gridCol>
                <a:gridCol w="374904">
                  <a:extLst>
                    <a:ext uri="{9D8B030D-6E8A-4147-A177-3AD203B41FA5}">
                      <a16:colId xmlns:a16="http://schemas.microsoft.com/office/drawing/2014/main" val="20002"/>
                    </a:ext>
                  </a:extLst>
                </a:gridCol>
                <a:gridCol w="338328">
                  <a:extLst>
                    <a:ext uri="{9D8B030D-6E8A-4147-A177-3AD203B41FA5}">
                      <a16:colId xmlns:a16="http://schemas.microsoft.com/office/drawing/2014/main" val="20003"/>
                    </a:ext>
                  </a:extLst>
                </a:gridCol>
                <a:gridCol w="387096">
                  <a:extLst>
                    <a:ext uri="{9D8B030D-6E8A-4147-A177-3AD203B41FA5}">
                      <a16:colId xmlns:a16="http://schemas.microsoft.com/office/drawing/2014/main" val="20004"/>
                    </a:ext>
                  </a:extLst>
                </a:gridCol>
                <a:gridCol w="438912">
                  <a:extLst>
                    <a:ext uri="{9D8B030D-6E8A-4147-A177-3AD203B41FA5}">
                      <a16:colId xmlns:a16="http://schemas.microsoft.com/office/drawing/2014/main" val="20005"/>
                    </a:ext>
                  </a:extLst>
                </a:gridCol>
                <a:gridCol w="448056">
                  <a:extLst>
                    <a:ext uri="{9D8B030D-6E8A-4147-A177-3AD203B41FA5}">
                      <a16:colId xmlns:a16="http://schemas.microsoft.com/office/drawing/2014/main" val="20006"/>
                    </a:ext>
                  </a:extLst>
                </a:gridCol>
                <a:gridCol w="399288">
                  <a:extLst>
                    <a:ext uri="{9D8B030D-6E8A-4147-A177-3AD203B41FA5}">
                      <a16:colId xmlns:a16="http://schemas.microsoft.com/office/drawing/2014/main" val="20007"/>
                    </a:ext>
                  </a:extLst>
                </a:gridCol>
                <a:gridCol w="414528">
                  <a:extLst>
                    <a:ext uri="{9D8B030D-6E8A-4147-A177-3AD203B41FA5}">
                      <a16:colId xmlns:a16="http://schemas.microsoft.com/office/drawing/2014/main" val="20008"/>
                    </a:ext>
                  </a:extLst>
                </a:gridCol>
                <a:gridCol w="374904">
                  <a:extLst>
                    <a:ext uri="{9D8B030D-6E8A-4147-A177-3AD203B41FA5}">
                      <a16:colId xmlns:a16="http://schemas.microsoft.com/office/drawing/2014/main" val="20009"/>
                    </a:ext>
                  </a:extLst>
                </a:gridCol>
                <a:gridCol w="472440">
                  <a:extLst>
                    <a:ext uri="{9D8B030D-6E8A-4147-A177-3AD203B41FA5}">
                      <a16:colId xmlns:a16="http://schemas.microsoft.com/office/drawing/2014/main" val="20010"/>
                    </a:ext>
                  </a:extLst>
                </a:gridCol>
                <a:gridCol w="463296">
                  <a:extLst>
                    <a:ext uri="{9D8B030D-6E8A-4147-A177-3AD203B41FA5}">
                      <a16:colId xmlns:a16="http://schemas.microsoft.com/office/drawing/2014/main" val="20011"/>
                    </a:ext>
                  </a:extLst>
                </a:gridCol>
                <a:gridCol w="411480">
                  <a:extLst>
                    <a:ext uri="{9D8B030D-6E8A-4147-A177-3AD203B41FA5}">
                      <a16:colId xmlns:a16="http://schemas.microsoft.com/office/drawing/2014/main" val="20012"/>
                    </a:ext>
                  </a:extLst>
                </a:gridCol>
                <a:gridCol w="463296">
                  <a:extLst>
                    <a:ext uri="{9D8B030D-6E8A-4147-A177-3AD203B41FA5}">
                      <a16:colId xmlns:a16="http://schemas.microsoft.com/office/drawing/2014/main" val="20013"/>
                    </a:ext>
                  </a:extLst>
                </a:gridCol>
                <a:gridCol w="438912">
                  <a:extLst>
                    <a:ext uri="{9D8B030D-6E8A-4147-A177-3AD203B41FA5}">
                      <a16:colId xmlns:a16="http://schemas.microsoft.com/office/drawing/2014/main" val="20014"/>
                    </a:ext>
                  </a:extLst>
                </a:gridCol>
                <a:gridCol w="460248">
                  <a:extLst>
                    <a:ext uri="{9D8B030D-6E8A-4147-A177-3AD203B41FA5}">
                      <a16:colId xmlns:a16="http://schemas.microsoft.com/office/drawing/2014/main" val="20015"/>
                    </a:ext>
                  </a:extLst>
                </a:gridCol>
                <a:gridCol w="493776">
                  <a:extLst>
                    <a:ext uri="{9D8B030D-6E8A-4147-A177-3AD203B41FA5}">
                      <a16:colId xmlns:a16="http://schemas.microsoft.com/office/drawing/2014/main" val="20016"/>
                    </a:ext>
                  </a:extLst>
                </a:gridCol>
              </a:tblGrid>
              <a:tr h="256032">
                <a:tc>
                  <a:txBody>
                    <a:bodyPr/>
                    <a:lstStyle/>
                    <a:p>
                      <a:pPr indent="0" algn="just"/>
                      <a:r>
                        <a:rPr lang="en-US" sz="1100" b="1">
                          <a:solidFill>
                            <a:srgbClr val="222543"/>
                          </a:solidFill>
                          <a:latin typeface="Cambria"/>
                        </a:rPr>
                        <a:t>Round</a:t>
                      </a:r>
                    </a:p>
                  </a:txBody>
                  <a:tcPr marL="0" marR="0" marT="0" marB="0" anchor="ctr"/>
                </a:tc>
                <a:tc>
                  <a:txBody>
                    <a:bodyPr/>
                    <a:lstStyle/>
                    <a:p>
                      <a:pPr indent="0"/>
                      <a:r>
                        <a:rPr lang="en-US" sz="1100" b="1">
                          <a:solidFill>
                            <a:srgbClr val="31101F"/>
                          </a:solidFill>
                          <a:latin typeface="Cambria"/>
                        </a:rPr>
                        <a:t>l</a:t>
                      </a:r>
                    </a:p>
                  </a:txBody>
                  <a:tcPr marL="0" marR="0" marT="0" marB="0" anchor="ctr"/>
                </a:tc>
                <a:tc>
                  <a:txBody>
                    <a:bodyPr/>
                    <a:lstStyle/>
                    <a:p>
                      <a:pPr indent="0"/>
                      <a:r>
                        <a:rPr lang="en-US" sz="1100" b="1">
                          <a:solidFill>
                            <a:srgbClr val="252525"/>
                          </a:solidFill>
                          <a:latin typeface="Cambria"/>
                        </a:rPr>
                        <a:t>2</a:t>
                      </a:r>
                    </a:p>
                  </a:txBody>
                  <a:tcPr marL="0" marR="0" marT="0" marB="0" anchor="b"/>
                </a:tc>
                <a:tc>
                  <a:txBody>
                    <a:bodyPr/>
                    <a:lstStyle/>
                    <a:p>
                      <a:pPr indent="0"/>
                      <a:r>
                        <a:rPr lang="en-US" sz="1100" b="1">
                          <a:solidFill>
                            <a:srgbClr val="222543"/>
                          </a:solidFill>
                          <a:latin typeface="Cambria"/>
                        </a:rPr>
                        <a:t>3</a:t>
                      </a:r>
                    </a:p>
                  </a:txBody>
                  <a:tcPr marL="0" marR="0" marT="0" marB="0" anchor="ctr"/>
                </a:tc>
                <a:tc>
                  <a:txBody>
                    <a:bodyPr/>
                    <a:lstStyle/>
                    <a:p>
                      <a:pPr indent="0"/>
                      <a:r>
                        <a:rPr lang="en-US" sz="1100" b="1">
                          <a:solidFill>
                            <a:srgbClr val="31101F"/>
                          </a:solidFill>
                          <a:latin typeface="Cambria"/>
                        </a:rPr>
                        <a:t>4</a:t>
                      </a:r>
                    </a:p>
                  </a:txBody>
                  <a:tcPr marL="0" marR="0" marT="0" marB="0" anchor="ctr"/>
                </a:tc>
                <a:tc>
                  <a:txBody>
                    <a:bodyPr/>
                    <a:lstStyle/>
                    <a:p>
                      <a:pPr indent="0"/>
                      <a:r>
                        <a:rPr lang="en-US" sz="1100" b="1">
                          <a:solidFill>
                            <a:srgbClr val="252525"/>
                          </a:solidFill>
                          <a:latin typeface="Cambria"/>
                        </a:rPr>
                        <a:t>5</a:t>
                      </a:r>
                    </a:p>
                  </a:txBody>
                  <a:tcPr marL="0" marR="0" marT="0" marB="0" anchor="ctr"/>
                </a:tc>
                <a:tc>
                  <a:txBody>
                    <a:bodyPr/>
                    <a:lstStyle/>
                    <a:p>
                      <a:pPr indent="0"/>
                      <a:r>
                        <a:rPr lang="en-US" sz="1100" b="1">
                          <a:solidFill>
                            <a:srgbClr val="222543"/>
                          </a:solidFill>
                          <a:latin typeface="Cambria"/>
                        </a:rPr>
                        <a:t>6</a:t>
                      </a:r>
                    </a:p>
                  </a:txBody>
                  <a:tcPr marL="0" marR="0" marT="0" marB="0" anchor="b"/>
                </a:tc>
                <a:tc>
                  <a:txBody>
                    <a:bodyPr/>
                    <a:lstStyle/>
                    <a:p>
                      <a:pPr indent="0"/>
                      <a:r>
                        <a:rPr lang="en-US" sz="1100" b="1">
                          <a:solidFill>
                            <a:srgbClr val="252525"/>
                          </a:solidFill>
                          <a:latin typeface="Cambria"/>
                        </a:rPr>
                        <a:t>7</a:t>
                      </a:r>
                    </a:p>
                  </a:txBody>
                  <a:tcPr marL="0" marR="0" marT="0" marB="0" anchor="ctr"/>
                </a:tc>
                <a:tc>
                  <a:txBody>
                    <a:bodyPr/>
                    <a:lstStyle/>
                    <a:p>
                      <a:pPr indent="0"/>
                      <a:r>
                        <a:rPr lang="en-US" sz="1100" b="1">
                          <a:solidFill>
                            <a:srgbClr val="222543"/>
                          </a:solidFill>
                          <a:latin typeface="Cambria"/>
                        </a:rPr>
                        <a:t>S</a:t>
                      </a:r>
                    </a:p>
                  </a:txBody>
                  <a:tcPr marL="0" marR="0" marT="0" marB="0" anchor="ctr"/>
                </a:tc>
                <a:tc>
                  <a:txBody>
                    <a:bodyPr/>
                    <a:lstStyle/>
                    <a:p>
                      <a:pPr indent="0"/>
                      <a:r>
                        <a:rPr lang="en-US" sz="1100" b="1">
                          <a:solidFill>
                            <a:srgbClr val="222543"/>
                          </a:solidFill>
                          <a:latin typeface="Cambria"/>
                        </a:rPr>
                        <a:t>9</a:t>
                      </a:r>
                    </a:p>
                  </a:txBody>
                  <a:tcPr marL="0" marR="0" marT="0" marB="0" anchor="ctr"/>
                </a:tc>
                <a:tc>
                  <a:txBody>
                    <a:bodyPr/>
                    <a:lstStyle/>
                    <a:p>
                      <a:pPr indent="0"/>
                      <a:r>
                        <a:rPr lang="en-US" sz="1100" b="1">
                          <a:solidFill>
                            <a:srgbClr val="222543"/>
                          </a:solidFill>
                          <a:latin typeface="Cambria"/>
                        </a:rPr>
                        <a:t>10</a:t>
                      </a:r>
                    </a:p>
                  </a:txBody>
                  <a:tcPr marL="0" marR="0" marT="0" marB="0" anchor="b"/>
                </a:tc>
                <a:tc>
                  <a:txBody>
                    <a:bodyPr/>
                    <a:lstStyle/>
                    <a:p>
                      <a:pPr indent="0"/>
                      <a:r>
                        <a:rPr lang="en-US" sz="1100" b="1">
                          <a:solidFill>
                            <a:srgbClr val="222543"/>
                          </a:solidFill>
                          <a:latin typeface="Cambria"/>
                        </a:rPr>
                        <a:t>11</a:t>
                      </a:r>
                    </a:p>
                  </a:txBody>
                  <a:tcPr marL="0" marR="0" marT="0" marB="0" anchor="b"/>
                </a:tc>
                <a:tc>
                  <a:txBody>
                    <a:bodyPr/>
                    <a:lstStyle/>
                    <a:p>
                      <a:pPr indent="0"/>
                      <a:r>
                        <a:rPr lang="en-US" sz="1100" b="1">
                          <a:solidFill>
                            <a:srgbClr val="31101F"/>
                          </a:solidFill>
                          <a:latin typeface="Cambria"/>
                        </a:rPr>
                        <a:t>12</a:t>
                      </a:r>
                    </a:p>
                  </a:txBody>
                  <a:tcPr marL="0" marR="0" marT="0" marB="0" anchor="b"/>
                </a:tc>
                <a:tc>
                  <a:txBody>
                    <a:bodyPr/>
                    <a:lstStyle/>
                    <a:p>
                      <a:pPr indent="0"/>
                      <a:r>
                        <a:rPr lang="en-US" sz="1100" b="1">
                          <a:solidFill>
                            <a:srgbClr val="31101F"/>
                          </a:solidFill>
                          <a:latin typeface="Cambria"/>
                        </a:rPr>
                        <a:t>13</a:t>
                      </a:r>
                    </a:p>
                  </a:txBody>
                  <a:tcPr marL="0" marR="0" marT="0" marB="0" anchor="ctr"/>
                </a:tc>
                <a:tc>
                  <a:txBody>
                    <a:bodyPr/>
                    <a:lstStyle/>
                    <a:p>
                      <a:pPr indent="0"/>
                      <a:r>
                        <a:rPr lang="en-US" sz="1100" b="1">
                          <a:solidFill>
                            <a:srgbClr val="222543"/>
                          </a:solidFill>
                          <a:latin typeface="Cambria"/>
                        </a:rPr>
                        <a:t>14</a:t>
                      </a:r>
                    </a:p>
                  </a:txBody>
                  <a:tcPr marL="0" marR="0" marT="0" marB="0" anchor="ctr"/>
                </a:tc>
                <a:tc>
                  <a:txBody>
                    <a:bodyPr/>
                    <a:lstStyle/>
                    <a:p>
                      <a:pPr indent="0"/>
                      <a:r>
                        <a:rPr lang="en-US" sz="1100" b="1">
                          <a:solidFill>
                            <a:srgbClr val="31101F"/>
                          </a:solidFill>
                          <a:latin typeface="Cambria"/>
                        </a:rPr>
                        <a:t>15</a:t>
                      </a:r>
                    </a:p>
                  </a:txBody>
                  <a:tcPr marL="0" marR="0" marT="0" marB="0" anchor="ctr"/>
                </a:tc>
                <a:tc>
                  <a:txBody>
                    <a:bodyPr/>
                    <a:lstStyle/>
                    <a:p>
                      <a:pPr indent="0"/>
                      <a:r>
                        <a:rPr lang="en-US" sz="1100" b="1">
                          <a:solidFill>
                            <a:srgbClr val="31101F"/>
                          </a:solidFill>
                          <a:latin typeface="Cambria"/>
                        </a:rPr>
                        <a:t>16</a:t>
                      </a:r>
                    </a:p>
                  </a:txBody>
                  <a:tcPr marL="0" marR="0" marT="0" marB="0" anchor="b"/>
                </a:tc>
                <a:extLst>
                  <a:ext uri="{0D108BD9-81ED-4DB2-BD59-A6C34878D82A}">
                    <a16:rowId xmlns:a16="http://schemas.microsoft.com/office/drawing/2014/main" val="10000"/>
                  </a:ext>
                </a:extLst>
              </a:tr>
              <a:tr h="490728">
                <a:tc>
                  <a:txBody>
                    <a:bodyPr/>
                    <a:lstStyle/>
                    <a:p>
                      <a:pPr indent="0" algn="just">
                        <a:lnSpc>
                          <a:spcPts val="1872"/>
                        </a:lnSpc>
                      </a:pPr>
                      <a:r>
                        <a:rPr lang="en-US" sz="1100" b="1">
                          <a:solidFill>
                            <a:srgbClr val="11B365"/>
                          </a:solidFill>
                          <a:latin typeface="Cambria"/>
                        </a:rPr>
                        <a:t>#key bits shifted</a:t>
                      </a:r>
                    </a:p>
                  </a:txBody>
                  <a:tcPr marL="0" marR="0" marT="0" marB="0" anchor="ctr"/>
                </a:tc>
                <a:tc>
                  <a:txBody>
                    <a:bodyPr/>
                    <a:lstStyle/>
                    <a:p>
                      <a:pPr indent="0"/>
                      <a:r>
                        <a:rPr lang="en-US" sz="1100" b="1">
                          <a:solidFill>
                            <a:srgbClr val="31101F"/>
                          </a:solidFill>
                          <a:latin typeface="Cambria"/>
                        </a:rPr>
                        <a:t>l</a:t>
                      </a:r>
                    </a:p>
                  </a:txBody>
                  <a:tcPr marL="0" marR="0" marT="0" marB="0"/>
                </a:tc>
                <a:tc>
                  <a:txBody>
                    <a:bodyPr/>
                    <a:lstStyle/>
                    <a:p>
                      <a:pPr indent="0"/>
                      <a:r>
                        <a:rPr lang="en-US" sz="1100" b="1">
                          <a:solidFill>
                            <a:srgbClr val="31101F"/>
                          </a:solidFill>
                          <a:latin typeface="Cambria"/>
                        </a:rPr>
                        <a:t>1</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31101F"/>
                          </a:solidFill>
                          <a:latin typeface="Cambria"/>
                        </a:rPr>
                        <a:t>1</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252525"/>
                          </a:solidFill>
                          <a:latin typeface="Cambria"/>
                        </a:rPr>
                        <a:t>2</a:t>
                      </a:r>
                    </a:p>
                  </a:txBody>
                  <a:tcPr marL="0" marR="0" marT="0" marB="0" anchor="ctr"/>
                </a:tc>
                <a:tc>
                  <a:txBody>
                    <a:bodyPr/>
                    <a:lstStyle/>
                    <a:p>
                      <a:pPr indent="0"/>
                      <a:r>
                        <a:rPr lang="en-US" sz="1100" b="1">
                          <a:solidFill>
                            <a:srgbClr val="31101F"/>
                          </a:solidFill>
                          <a:latin typeface="Cambria"/>
                        </a:rPr>
                        <a:t>1</a:t>
                      </a:r>
                    </a:p>
                  </a:txBody>
                  <a:tcPr marL="0" marR="0" marT="0" marB="0" anchor="ctr"/>
                </a:tc>
                <a:extLst>
                  <a:ext uri="{0D108BD9-81ED-4DB2-BD59-A6C34878D82A}">
                    <a16:rowId xmlns:a16="http://schemas.microsoft.com/office/drawing/2014/main" val="10001"/>
                  </a:ext>
                </a:extLst>
              </a:tr>
            </a:tbl>
          </a:graphicData>
        </a:graphic>
      </p:graphicFrame>
      <p:sp>
        <p:nvSpPr>
          <p:cNvPr id="4" name="Rectangle 3"/>
          <p:cNvSpPr/>
          <p:nvPr/>
        </p:nvSpPr>
        <p:spPr>
          <a:xfrm>
            <a:off x="2999232" y="3048000"/>
            <a:ext cx="3322320" cy="198120"/>
          </a:xfrm>
          <a:prstGeom prst="rect">
            <a:avLst/>
          </a:prstGeom>
        </p:spPr>
        <p:txBody>
          <a:bodyPr wrap="none" lIns="0" tIns="0" rIns="0" bIns="0">
            <a:noAutofit/>
          </a:bodyPr>
          <a:lstStyle/>
          <a:p>
            <a:pPr indent="0"/>
            <a:r>
              <a:rPr lang="en-US" sz="1300">
                <a:latin typeface="Segoe UI"/>
              </a:rPr>
              <a:t>Fig </a:t>
            </a:r>
            <a:r>
              <a:rPr lang="en-US" sz="1400" b="1" spc="-50">
                <a:latin typeface="Calibri"/>
              </a:rPr>
              <a:t>Lire </a:t>
            </a:r>
            <a:r>
              <a:rPr lang="en-US" sz="1300">
                <a:latin typeface="Segoe UI"/>
              </a:rPr>
              <a:t>- </a:t>
            </a:r>
            <a:r>
              <a:rPr lang="en-US" sz="1300">
                <a:solidFill>
                  <a:srgbClr val="3B3049"/>
                </a:solidFill>
                <a:latin typeface="Segoe UI"/>
              </a:rPr>
              <a:t>number of key bits, shifted per round</a:t>
            </a:r>
          </a:p>
        </p:txBody>
      </p:sp>
      <p:sp>
        <p:nvSpPr>
          <p:cNvPr id="5" name="Rectangle 4"/>
          <p:cNvSpPr/>
          <p:nvPr/>
        </p:nvSpPr>
        <p:spPr>
          <a:xfrm>
            <a:off x="719328" y="3596640"/>
            <a:ext cx="7979664" cy="2782824"/>
          </a:xfrm>
          <a:prstGeom prst="rect">
            <a:avLst/>
          </a:prstGeom>
        </p:spPr>
        <p:txBody>
          <a:bodyPr lIns="0" tIns="0" rIns="0" bIns="0">
            <a:noAutofit/>
          </a:bodyPr>
          <a:lstStyle/>
          <a:p>
            <a:pPr indent="0" algn="just">
              <a:lnSpc>
                <a:spcPts val="2784"/>
              </a:lnSpc>
              <a:spcBef>
                <a:spcPts val="1680"/>
              </a:spcBef>
            </a:pPr>
            <a:r>
              <a:rPr lang="en-US" sz="2200">
                <a:latin typeface="Calibri"/>
              </a:rPr>
              <a:t>After an appropriate shift, 48 of the 56 bit are selected. for selecting 48 of the 56 bits the table show in figure given below. For instance, after the shift, bit number 14 moves on the first position, bit number 17 moves on the second position and so on. If we observe the table carefully, we will realize that it contains only 48 bit positions. Bit number 18 is discarded (we will not find it in the table), like 7 others, to reduce a 56-bit key to a 48-bit key. Since the key transformation process involves permutation as well as</a:t>
            </a:r>
          </a:p>
        </p:txBody>
      </p:sp>
      <p:sp>
        <p:nvSpPr>
          <p:cNvPr id="6" name="Date Placeholder 5"/>
          <p:cNvSpPr>
            <a:spLocks noGrp="1"/>
          </p:cNvSpPr>
          <p:nvPr>
            <p:ph type="dt" sz="half" idx="10"/>
          </p:nvPr>
        </p:nvSpPr>
        <p:spPr/>
        <p:txBody>
          <a:bodyPr/>
          <a:lstStyle/>
          <a:p>
            <a:fld id="{EB1EC5F3-C3AB-4555-BB09-B996881C53AC}"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102</a:t>
            </a:fld>
            <a:endParaRPr lang="en-US"/>
          </a:p>
        </p:txBody>
      </p:sp>
      <p:sp>
        <p:nvSpPr>
          <p:cNvPr id="9"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25424" y="972312"/>
            <a:ext cx="7961376" cy="646176"/>
          </a:xfrm>
          <a:prstGeom prst="rect">
            <a:avLst/>
          </a:prstGeom>
        </p:spPr>
        <p:txBody>
          <a:bodyPr lIns="0" tIns="0" rIns="0" bIns="0">
            <a:noAutofit/>
          </a:bodyPr>
          <a:lstStyle/>
          <a:p>
            <a:pPr indent="0" algn="just">
              <a:lnSpc>
                <a:spcPts val="2808"/>
              </a:lnSpc>
              <a:spcAft>
                <a:spcPts val="3360"/>
              </a:spcAft>
            </a:pPr>
            <a:r>
              <a:rPr lang="en-US" sz="2200">
                <a:latin typeface="Calibri"/>
              </a:rPr>
              <a:t>selection of a 48-bit sub set of the original 56-bit key it is called Compression Permutation.</a:t>
            </a:r>
          </a:p>
        </p:txBody>
      </p:sp>
      <p:graphicFrame>
        <p:nvGraphicFramePr>
          <p:cNvPr id="3" name="Table 2"/>
          <p:cNvGraphicFramePr>
            <a:graphicFrameLocks noGrp="1"/>
          </p:cNvGraphicFramePr>
          <p:nvPr/>
        </p:nvGraphicFramePr>
        <p:xfrm>
          <a:off x="996696" y="2188464"/>
          <a:ext cx="7543800" cy="1344168"/>
        </p:xfrm>
        <a:graphic>
          <a:graphicData uri="http://schemas.openxmlformats.org/drawingml/2006/table">
            <a:tbl>
              <a:tblPr/>
              <a:tblGrid>
                <a:gridCol w="707136">
                  <a:extLst>
                    <a:ext uri="{9D8B030D-6E8A-4147-A177-3AD203B41FA5}">
                      <a16:colId xmlns:a16="http://schemas.microsoft.com/office/drawing/2014/main" val="20000"/>
                    </a:ext>
                  </a:extLst>
                </a:gridCol>
                <a:gridCol w="579120">
                  <a:extLst>
                    <a:ext uri="{9D8B030D-6E8A-4147-A177-3AD203B41FA5}">
                      <a16:colId xmlns:a16="http://schemas.microsoft.com/office/drawing/2014/main" val="20001"/>
                    </a:ext>
                  </a:extLst>
                </a:gridCol>
                <a:gridCol w="582168">
                  <a:extLst>
                    <a:ext uri="{9D8B030D-6E8A-4147-A177-3AD203B41FA5}">
                      <a16:colId xmlns:a16="http://schemas.microsoft.com/office/drawing/2014/main" val="20002"/>
                    </a:ext>
                  </a:extLst>
                </a:gridCol>
                <a:gridCol w="649224">
                  <a:extLst>
                    <a:ext uri="{9D8B030D-6E8A-4147-A177-3AD203B41FA5}">
                      <a16:colId xmlns:a16="http://schemas.microsoft.com/office/drawing/2014/main" val="20003"/>
                    </a:ext>
                  </a:extLst>
                </a:gridCol>
                <a:gridCol w="697992">
                  <a:extLst>
                    <a:ext uri="{9D8B030D-6E8A-4147-A177-3AD203B41FA5}">
                      <a16:colId xmlns:a16="http://schemas.microsoft.com/office/drawing/2014/main" val="20004"/>
                    </a:ext>
                  </a:extLst>
                </a:gridCol>
                <a:gridCol w="649224">
                  <a:extLst>
                    <a:ext uri="{9D8B030D-6E8A-4147-A177-3AD203B41FA5}">
                      <a16:colId xmlns:a16="http://schemas.microsoft.com/office/drawing/2014/main" val="20005"/>
                    </a:ext>
                  </a:extLst>
                </a:gridCol>
                <a:gridCol w="579120">
                  <a:extLst>
                    <a:ext uri="{9D8B030D-6E8A-4147-A177-3AD203B41FA5}">
                      <a16:colId xmlns:a16="http://schemas.microsoft.com/office/drawing/2014/main" val="20006"/>
                    </a:ext>
                  </a:extLst>
                </a:gridCol>
                <a:gridCol w="600456">
                  <a:extLst>
                    <a:ext uri="{9D8B030D-6E8A-4147-A177-3AD203B41FA5}">
                      <a16:colId xmlns:a16="http://schemas.microsoft.com/office/drawing/2014/main" val="20007"/>
                    </a:ext>
                  </a:extLst>
                </a:gridCol>
                <a:gridCol w="548640">
                  <a:extLst>
                    <a:ext uri="{9D8B030D-6E8A-4147-A177-3AD203B41FA5}">
                      <a16:colId xmlns:a16="http://schemas.microsoft.com/office/drawing/2014/main" val="20008"/>
                    </a:ext>
                  </a:extLst>
                </a:gridCol>
                <a:gridCol w="679704">
                  <a:extLst>
                    <a:ext uri="{9D8B030D-6E8A-4147-A177-3AD203B41FA5}">
                      <a16:colId xmlns:a16="http://schemas.microsoft.com/office/drawing/2014/main" val="20009"/>
                    </a:ext>
                  </a:extLst>
                </a:gridCol>
                <a:gridCol w="664464">
                  <a:extLst>
                    <a:ext uri="{9D8B030D-6E8A-4147-A177-3AD203B41FA5}">
                      <a16:colId xmlns:a16="http://schemas.microsoft.com/office/drawing/2014/main" val="20010"/>
                    </a:ext>
                  </a:extLst>
                </a:gridCol>
                <a:gridCol w="606552">
                  <a:extLst>
                    <a:ext uri="{9D8B030D-6E8A-4147-A177-3AD203B41FA5}">
                      <a16:colId xmlns:a16="http://schemas.microsoft.com/office/drawing/2014/main" val="20011"/>
                    </a:ext>
                  </a:extLst>
                </a:gridCol>
              </a:tblGrid>
              <a:tr h="338328">
                <a:tc>
                  <a:txBody>
                    <a:bodyPr/>
                    <a:lstStyle/>
                    <a:p>
                      <a:pPr indent="0"/>
                      <a:r>
                        <a:rPr lang="en-US" sz="1700">
                          <a:solidFill>
                            <a:srgbClr val="222543"/>
                          </a:solidFill>
                          <a:latin typeface="Calibri"/>
                        </a:rPr>
                        <a:t>14</a:t>
                      </a:r>
                    </a:p>
                  </a:txBody>
                  <a:tcPr marL="0" marR="0" marT="0" marB="0" anchor="ctr"/>
                </a:tc>
                <a:tc>
                  <a:txBody>
                    <a:bodyPr/>
                    <a:lstStyle/>
                    <a:p>
                      <a:pPr indent="0"/>
                      <a:r>
                        <a:rPr lang="en-US" sz="1700">
                          <a:solidFill>
                            <a:srgbClr val="31101F"/>
                          </a:solidFill>
                          <a:latin typeface="Calibri"/>
                        </a:rPr>
                        <a:t>17</a:t>
                      </a:r>
                    </a:p>
                  </a:txBody>
                  <a:tcPr marL="0" marR="0" marT="0" marB="0" anchor="ctr"/>
                </a:tc>
                <a:tc>
                  <a:txBody>
                    <a:bodyPr/>
                    <a:lstStyle/>
                    <a:p>
                      <a:pPr marL="88900" indent="0"/>
                      <a:r>
                        <a:rPr lang="en-US" sz="1700">
                          <a:solidFill>
                            <a:srgbClr val="222543"/>
                          </a:solidFill>
                          <a:latin typeface="Calibri"/>
                        </a:rPr>
                        <a:t>11</a:t>
                      </a:r>
                    </a:p>
                  </a:txBody>
                  <a:tcPr marL="0" marR="0" marT="0" marB="0" anchor="b"/>
                </a:tc>
                <a:tc>
                  <a:txBody>
                    <a:bodyPr/>
                    <a:lstStyle/>
                    <a:p>
                      <a:pPr indent="0"/>
                      <a:r>
                        <a:rPr lang="en-US" sz="1700">
                          <a:solidFill>
                            <a:srgbClr val="222543"/>
                          </a:solidFill>
                          <a:latin typeface="Calibri"/>
                        </a:rPr>
                        <a:t>24</a:t>
                      </a:r>
                    </a:p>
                  </a:txBody>
                  <a:tcPr marL="0" marR="0" marT="0" marB="0" anchor="ctr"/>
                </a:tc>
                <a:tc>
                  <a:txBody>
                    <a:bodyPr/>
                    <a:lstStyle/>
                    <a:p>
                      <a:pPr indent="0"/>
                      <a:r>
                        <a:rPr lang="en-US" sz="1700">
                          <a:solidFill>
                            <a:srgbClr val="31101F"/>
                          </a:solidFill>
                          <a:latin typeface="Calibri"/>
                        </a:rPr>
                        <a:t>1</a:t>
                      </a:r>
                    </a:p>
                  </a:txBody>
                  <a:tcPr marL="0" marR="0" marT="0" marB="0" anchor="b"/>
                </a:tc>
                <a:tc>
                  <a:txBody>
                    <a:bodyPr/>
                    <a:lstStyle/>
                    <a:p>
                      <a:pPr indent="0"/>
                      <a:r>
                        <a:rPr lang="en-US" sz="1700">
                          <a:solidFill>
                            <a:srgbClr val="252525"/>
                          </a:solidFill>
                          <a:latin typeface="Calibri"/>
                        </a:rPr>
                        <a:t>5</a:t>
                      </a:r>
                    </a:p>
                  </a:txBody>
                  <a:tcPr marL="0" marR="0" marT="0" marB="0" anchor="ctr"/>
                </a:tc>
                <a:tc>
                  <a:txBody>
                    <a:bodyPr/>
                    <a:lstStyle/>
                    <a:p>
                      <a:pPr indent="0"/>
                      <a:r>
                        <a:rPr lang="en-US" sz="1700">
                          <a:solidFill>
                            <a:srgbClr val="252525"/>
                          </a:solidFill>
                          <a:latin typeface="Calibri"/>
                        </a:rPr>
                        <a:t>3</a:t>
                      </a:r>
                    </a:p>
                  </a:txBody>
                  <a:tcPr marL="0" marR="0" marT="0" marB="0" anchor="ctr"/>
                </a:tc>
                <a:tc>
                  <a:txBody>
                    <a:bodyPr/>
                    <a:lstStyle/>
                    <a:p>
                      <a:pPr indent="0"/>
                      <a:r>
                        <a:rPr lang="en-US" sz="1700">
                          <a:solidFill>
                            <a:srgbClr val="252525"/>
                          </a:solidFill>
                          <a:latin typeface="Calibri"/>
                        </a:rPr>
                        <a:t>28</a:t>
                      </a:r>
                    </a:p>
                  </a:txBody>
                  <a:tcPr marL="0" marR="0" marT="0" marB="0" anchor="b"/>
                </a:tc>
                <a:tc>
                  <a:txBody>
                    <a:bodyPr/>
                    <a:lstStyle/>
                    <a:p>
                      <a:pPr indent="0"/>
                      <a:r>
                        <a:rPr lang="en-US" sz="1700">
                          <a:solidFill>
                            <a:srgbClr val="31101F"/>
                          </a:solidFill>
                          <a:latin typeface="Calibri"/>
                        </a:rPr>
                        <a:t>15</a:t>
                      </a:r>
                    </a:p>
                  </a:txBody>
                  <a:tcPr marL="0" marR="0" marT="0" marB="0" anchor="ctr"/>
                </a:tc>
                <a:tc>
                  <a:txBody>
                    <a:bodyPr/>
                    <a:lstStyle/>
                    <a:p>
                      <a:pPr indent="0"/>
                      <a:r>
                        <a:rPr lang="en-US" sz="1700">
                          <a:solidFill>
                            <a:srgbClr val="222543"/>
                          </a:solidFill>
                          <a:latin typeface="Calibri"/>
                        </a:rPr>
                        <a:t>6</a:t>
                      </a:r>
                    </a:p>
                  </a:txBody>
                  <a:tcPr marL="0" marR="0" marT="0" marB="0" anchor="b"/>
                </a:tc>
                <a:tc>
                  <a:txBody>
                    <a:bodyPr/>
                    <a:lstStyle/>
                    <a:p>
                      <a:pPr indent="0"/>
                      <a:r>
                        <a:rPr lang="en-US" sz="1700">
                          <a:solidFill>
                            <a:srgbClr val="222543"/>
                          </a:solidFill>
                          <a:latin typeface="Calibri"/>
                        </a:rPr>
                        <a:t>21</a:t>
                      </a:r>
                    </a:p>
                  </a:txBody>
                  <a:tcPr marL="0" marR="0" marT="0" marB="0" anchor="b"/>
                </a:tc>
                <a:tc>
                  <a:txBody>
                    <a:bodyPr/>
                    <a:lstStyle/>
                    <a:p>
                      <a:pPr indent="0"/>
                      <a:r>
                        <a:rPr lang="en-US" sz="1700">
                          <a:solidFill>
                            <a:srgbClr val="222543"/>
                          </a:solidFill>
                          <a:latin typeface="Calibri"/>
                        </a:rPr>
                        <a:t>10</a:t>
                      </a:r>
                    </a:p>
                  </a:txBody>
                  <a:tcPr marL="0" marR="0" marT="0" marB="0" anchor="b"/>
                </a:tc>
                <a:extLst>
                  <a:ext uri="{0D108BD9-81ED-4DB2-BD59-A6C34878D82A}">
                    <a16:rowId xmlns:a16="http://schemas.microsoft.com/office/drawing/2014/main" val="10000"/>
                  </a:ext>
                </a:extLst>
              </a:tr>
              <a:tr h="332232">
                <a:tc>
                  <a:txBody>
                    <a:bodyPr/>
                    <a:lstStyle/>
                    <a:p>
                      <a:pPr indent="0"/>
                      <a:r>
                        <a:rPr lang="en-US" sz="1700">
                          <a:solidFill>
                            <a:srgbClr val="252525"/>
                          </a:solidFill>
                          <a:latin typeface="Calibri"/>
                        </a:rPr>
                        <a:t>23</a:t>
                      </a:r>
                    </a:p>
                  </a:txBody>
                  <a:tcPr marL="0" marR="0" marT="0" marB="0" anchor="ctr"/>
                </a:tc>
                <a:tc>
                  <a:txBody>
                    <a:bodyPr/>
                    <a:lstStyle/>
                    <a:p>
                      <a:pPr indent="0"/>
                      <a:r>
                        <a:rPr lang="en-US" sz="1700">
                          <a:solidFill>
                            <a:srgbClr val="252525"/>
                          </a:solidFill>
                          <a:latin typeface="Calibri"/>
                        </a:rPr>
                        <a:t>19</a:t>
                      </a:r>
                    </a:p>
                  </a:txBody>
                  <a:tcPr marL="0" marR="0" marT="0" marB="0" anchor="ctr"/>
                </a:tc>
                <a:tc>
                  <a:txBody>
                    <a:bodyPr/>
                    <a:lstStyle/>
                    <a:p>
                      <a:pPr marL="88900" indent="0"/>
                      <a:r>
                        <a:rPr lang="en-US" sz="1700">
                          <a:solidFill>
                            <a:srgbClr val="31101F"/>
                          </a:solidFill>
                          <a:latin typeface="Calibri"/>
                        </a:rPr>
                        <a:t>12</a:t>
                      </a:r>
                    </a:p>
                  </a:txBody>
                  <a:tcPr marL="0" marR="0" marT="0" marB="0" anchor="b"/>
                </a:tc>
                <a:tc>
                  <a:txBody>
                    <a:bodyPr/>
                    <a:lstStyle/>
                    <a:p>
                      <a:pPr indent="0"/>
                      <a:r>
                        <a:rPr lang="en-US" sz="1700">
                          <a:solidFill>
                            <a:srgbClr val="31101F"/>
                          </a:solidFill>
                          <a:latin typeface="Calibri"/>
                        </a:rPr>
                        <a:t>4</a:t>
                      </a:r>
                    </a:p>
                  </a:txBody>
                  <a:tcPr marL="0" marR="0" marT="0" marB="0" anchor="ctr"/>
                </a:tc>
                <a:tc>
                  <a:txBody>
                    <a:bodyPr/>
                    <a:lstStyle/>
                    <a:p>
                      <a:pPr indent="0"/>
                      <a:r>
                        <a:rPr lang="en-US" sz="1700">
                          <a:solidFill>
                            <a:srgbClr val="252525"/>
                          </a:solidFill>
                          <a:latin typeface="Calibri"/>
                        </a:rPr>
                        <a:t>26</a:t>
                      </a:r>
                    </a:p>
                  </a:txBody>
                  <a:tcPr marL="0" marR="0" marT="0" marB="0" anchor="b"/>
                </a:tc>
                <a:tc>
                  <a:txBody>
                    <a:bodyPr/>
                    <a:lstStyle/>
                    <a:p>
                      <a:pPr indent="0"/>
                      <a:r>
                        <a:rPr lang="en-US" sz="1700">
                          <a:solidFill>
                            <a:srgbClr val="222543"/>
                          </a:solidFill>
                          <a:latin typeface="Calibri"/>
                        </a:rPr>
                        <a:t>S</a:t>
                      </a:r>
                    </a:p>
                  </a:txBody>
                  <a:tcPr marL="0" marR="0" marT="0" marB="0" anchor="ctr"/>
                </a:tc>
                <a:tc>
                  <a:txBody>
                    <a:bodyPr/>
                    <a:lstStyle/>
                    <a:p>
                      <a:pPr indent="0"/>
                      <a:r>
                        <a:rPr lang="en-US" sz="1700">
                          <a:solidFill>
                            <a:srgbClr val="252525"/>
                          </a:solidFill>
                          <a:latin typeface="Calibri"/>
                        </a:rPr>
                        <a:t>16</a:t>
                      </a:r>
                    </a:p>
                  </a:txBody>
                  <a:tcPr marL="0" marR="0" marT="0" marB="0" anchor="b"/>
                </a:tc>
                <a:tc>
                  <a:txBody>
                    <a:bodyPr/>
                    <a:lstStyle/>
                    <a:p>
                      <a:pPr indent="0"/>
                      <a:r>
                        <a:rPr lang="en-US" sz="1700">
                          <a:solidFill>
                            <a:srgbClr val="222543"/>
                          </a:solidFill>
                          <a:latin typeface="Calibri"/>
                        </a:rPr>
                        <a:t>7</a:t>
                      </a:r>
                    </a:p>
                  </a:txBody>
                  <a:tcPr marL="0" marR="0" marT="0" marB="0" anchor="ctr"/>
                </a:tc>
                <a:tc>
                  <a:txBody>
                    <a:bodyPr/>
                    <a:lstStyle/>
                    <a:p>
                      <a:pPr indent="0"/>
                      <a:r>
                        <a:rPr lang="en-US" sz="1700">
                          <a:solidFill>
                            <a:srgbClr val="252525"/>
                          </a:solidFill>
                          <a:latin typeface="Calibri"/>
                        </a:rPr>
                        <a:t>27</a:t>
                      </a:r>
                    </a:p>
                  </a:txBody>
                  <a:tcPr marL="0" marR="0" marT="0" marB="0" anchor="ctr"/>
                </a:tc>
                <a:tc>
                  <a:txBody>
                    <a:bodyPr/>
                    <a:lstStyle/>
                    <a:p>
                      <a:pPr indent="0"/>
                      <a:r>
                        <a:rPr lang="en-US" sz="1700">
                          <a:solidFill>
                            <a:srgbClr val="222543"/>
                          </a:solidFill>
                          <a:latin typeface="Calibri"/>
                        </a:rPr>
                        <a:t>20</a:t>
                      </a:r>
                    </a:p>
                  </a:txBody>
                  <a:tcPr marL="0" marR="0" marT="0" marB="0" anchor="b"/>
                </a:tc>
                <a:tc>
                  <a:txBody>
                    <a:bodyPr/>
                    <a:lstStyle/>
                    <a:p>
                      <a:pPr indent="0"/>
                      <a:r>
                        <a:rPr lang="en-US" sz="1700">
                          <a:solidFill>
                            <a:srgbClr val="31101F"/>
                          </a:solidFill>
                          <a:latin typeface="Calibri"/>
                        </a:rPr>
                        <a:t>13</a:t>
                      </a:r>
                    </a:p>
                  </a:txBody>
                  <a:tcPr marL="0" marR="0" marT="0" marB="0" anchor="ctr"/>
                </a:tc>
                <a:tc>
                  <a:txBody>
                    <a:bodyPr/>
                    <a:lstStyle/>
                    <a:p>
                      <a:pPr indent="0"/>
                      <a:r>
                        <a:rPr lang="en-US" sz="1700">
                          <a:solidFill>
                            <a:srgbClr val="252525"/>
                          </a:solidFill>
                          <a:latin typeface="Calibri"/>
                        </a:rPr>
                        <a:t>2</a:t>
                      </a:r>
                    </a:p>
                  </a:txBody>
                  <a:tcPr marL="0" marR="0" marT="0" marB="0" anchor="b"/>
                </a:tc>
                <a:extLst>
                  <a:ext uri="{0D108BD9-81ED-4DB2-BD59-A6C34878D82A}">
                    <a16:rowId xmlns:a16="http://schemas.microsoft.com/office/drawing/2014/main" val="10001"/>
                  </a:ext>
                </a:extLst>
              </a:tr>
              <a:tr h="332232">
                <a:tc>
                  <a:txBody>
                    <a:bodyPr/>
                    <a:lstStyle/>
                    <a:p>
                      <a:pPr indent="0"/>
                      <a:r>
                        <a:rPr lang="en-US" sz="1700">
                          <a:solidFill>
                            <a:srgbClr val="222543"/>
                          </a:solidFill>
                          <a:latin typeface="Calibri"/>
                        </a:rPr>
                        <a:t>41</a:t>
                      </a:r>
                    </a:p>
                  </a:txBody>
                  <a:tcPr marL="0" marR="0" marT="0" marB="0" anchor="b"/>
                </a:tc>
                <a:tc>
                  <a:txBody>
                    <a:bodyPr/>
                    <a:lstStyle/>
                    <a:p>
                      <a:pPr indent="0"/>
                      <a:r>
                        <a:rPr lang="en-US" sz="1700">
                          <a:solidFill>
                            <a:srgbClr val="222543"/>
                          </a:solidFill>
                          <a:latin typeface="Calibri"/>
                        </a:rPr>
                        <a:t>52</a:t>
                      </a:r>
                    </a:p>
                  </a:txBody>
                  <a:tcPr marL="0" marR="0" marT="0" marB="0" anchor="b"/>
                </a:tc>
                <a:tc>
                  <a:txBody>
                    <a:bodyPr/>
                    <a:lstStyle/>
                    <a:p>
                      <a:pPr marL="88900" indent="0"/>
                      <a:r>
                        <a:rPr lang="en-US" sz="1700">
                          <a:solidFill>
                            <a:srgbClr val="222543"/>
                          </a:solidFill>
                          <a:latin typeface="Calibri"/>
                        </a:rPr>
                        <a:t>31</a:t>
                      </a:r>
                    </a:p>
                  </a:txBody>
                  <a:tcPr marL="0" marR="0" marT="0" marB="0" anchor="b"/>
                </a:tc>
                <a:tc>
                  <a:txBody>
                    <a:bodyPr/>
                    <a:lstStyle/>
                    <a:p>
                      <a:pPr indent="0"/>
                      <a:r>
                        <a:rPr lang="en-US" sz="1700">
                          <a:solidFill>
                            <a:srgbClr val="252525"/>
                          </a:solidFill>
                          <a:latin typeface="Calibri"/>
                        </a:rPr>
                        <a:t>37</a:t>
                      </a:r>
                    </a:p>
                  </a:txBody>
                  <a:tcPr marL="0" marR="0" marT="0" marB="0" anchor="b"/>
                </a:tc>
                <a:tc>
                  <a:txBody>
                    <a:bodyPr/>
                    <a:lstStyle/>
                    <a:p>
                      <a:pPr indent="0"/>
                      <a:r>
                        <a:rPr lang="en-US" sz="1700">
                          <a:solidFill>
                            <a:srgbClr val="31101F"/>
                          </a:solidFill>
                          <a:latin typeface="Calibri"/>
                        </a:rPr>
                        <a:t>47</a:t>
                      </a:r>
                    </a:p>
                  </a:txBody>
                  <a:tcPr marL="0" marR="0" marT="0" marB="0" anchor="b"/>
                </a:tc>
                <a:tc>
                  <a:txBody>
                    <a:bodyPr/>
                    <a:lstStyle/>
                    <a:p>
                      <a:pPr indent="0"/>
                      <a:r>
                        <a:rPr lang="en-US" sz="1700">
                          <a:solidFill>
                            <a:srgbClr val="252525"/>
                          </a:solidFill>
                          <a:latin typeface="Calibri"/>
                        </a:rPr>
                        <a:t>55</a:t>
                      </a:r>
                    </a:p>
                  </a:txBody>
                  <a:tcPr marL="0" marR="0" marT="0" marB="0" anchor="b"/>
                </a:tc>
                <a:tc>
                  <a:txBody>
                    <a:bodyPr/>
                    <a:lstStyle/>
                    <a:p>
                      <a:pPr indent="0"/>
                      <a:r>
                        <a:rPr lang="en-US" sz="1700">
                          <a:solidFill>
                            <a:srgbClr val="222543"/>
                          </a:solidFill>
                          <a:latin typeface="Calibri"/>
                        </a:rPr>
                        <a:t>30</a:t>
                      </a:r>
                    </a:p>
                  </a:txBody>
                  <a:tcPr marL="0" marR="0" marT="0" marB="0" anchor="b"/>
                </a:tc>
                <a:tc>
                  <a:txBody>
                    <a:bodyPr/>
                    <a:lstStyle/>
                    <a:p>
                      <a:pPr indent="0"/>
                      <a:r>
                        <a:rPr lang="en-US" sz="1700">
                          <a:solidFill>
                            <a:srgbClr val="222543"/>
                          </a:solidFill>
                          <a:latin typeface="Calibri"/>
                        </a:rPr>
                        <a:t>40</a:t>
                      </a:r>
                    </a:p>
                  </a:txBody>
                  <a:tcPr marL="0" marR="0" marT="0" marB="0" anchor="b"/>
                </a:tc>
                <a:tc>
                  <a:txBody>
                    <a:bodyPr/>
                    <a:lstStyle/>
                    <a:p>
                      <a:pPr indent="0"/>
                      <a:r>
                        <a:rPr lang="en-US" sz="1700">
                          <a:solidFill>
                            <a:srgbClr val="222543"/>
                          </a:solidFill>
                          <a:latin typeface="Calibri"/>
                        </a:rPr>
                        <a:t>51</a:t>
                      </a:r>
                    </a:p>
                  </a:txBody>
                  <a:tcPr marL="0" marR="0" marT="0" marB="0" anchor="b"/>
                </a:tc>
                <a:tc>
                  <a:txBody>
                    <a:bodyPr/>
                    <a:lstStyle/>
                    <a:p>
                      <a:pPr indent="0"/>
                      <a:r>
                        <a:rPr lang="en-US" sz="1700">
                          <a:solidFill>
                            <a:srgbClr val="31101F"/>
                          </a:solidFill>
                          <a:latin typeface="Calibri"/>
                        </a:rPr>
                        <a:t>45</a:t>
                      </a:r>
                    </a:p>
                  </a:txBody>
                  <a:tcPr marL="0" marR="0" marT="0" marB="0" anchor="b"/>
                </a:tc>
                <a:tc>
                  <a:txBody>
                    <a:bodyPr/>
                    <a:lstStyle/>
                    <a:p>
                      <a:pPr indent="0"/>
                      <a:r>
                        <a:rPr lang="en-US" sz="1700">
                          <a:solidFill>
                            <a:srgbClr val="252525"/>
                          </a:solidFill>
                          <a:latin typeface="Calibri"/>
                        </a:rPr>
                        <a:t>33</a:t>
                      </a:r>
                    </a:p>
                  </a:txBody>
                  <a:tcPr marL="0" marR="0" marT="0" marB="0" anchor="b"/>
                </a:tc>
                <a:tc>
                  <a:txBody>
                    <a:bodyPr/>
                    <a:lstStyle/>
                    <a:p>
                      <a:pPr indent="0"/>
                      <a:r>
                        <a:rPr lang="en-US" sz="1700">
                          <a:solidFill>
                            <a:srgbClr val="31101F"/>
                          </a:solidFill>
                          <a:latin typeface="Calibri"/>
                        </a:rPr>
                        <a:t>48</a:t>
                      </a:r>
                    </a:p>
                  </a:txBody>
                  <a:tcPr marL="0" marR="0" marT="0" marB="0" anchor="b"/>
                </a:tc>
                <a:extLst>
                  <a:ext uri="{0D108BD9-81ED-4DB2-BD59-A6C34878D82A}">
                    <a16:rowId xmlns:a16="http://schemas.microsoft.com/office/drawing/2014/main" val="10002"/>
                  </a:ext>
                </a:extLst>
              </a:tr>
              <a:tr h="341376">
                <a:tc>
                  <a:txBody>
                    <a:bodyPr/>
                    <a:lstStyle/>
                    <a:p>
                      <a:pPr indent="0"/>
                      <a:r>
                        <a:rPr lang="en-US" sz="1700">
                          <a:solidFill>
                            <a:srgbClr val="222543"/>
                          </a:solidFill>
                          <a:latin typeface="Calibri"/>
                        </a:rPr>
                        <a:t>44</a:t>
                      </a:r>
                    </a:p>
                  </a:txBody>
                  <a:tcPr marL="0" marR="0" marT="0" marB="0"/>
                </a:tc>
                <a:tc>
                  <a:txBody>
                    <a:bodyPr/>
                    <a:lstStyle/>
                    <a:p>
                      <a:pPr indent="0"/>
                      <a:r>
                        <a:rPr lang="en-US" sz="1700">
                          <a:solidFill>
                            <a:srgbClr val="252525"/>
                          </a:solidFill>
                          <a:latin typeface="Calibri"/>
                        </a:rPr>
                        <a:t>49</a:t>
                      </a:r>
                    </a:p>
                  </a:txBody>
                  <a:tcPr marL="0" marR="0" marT="0" marB="0"/>
                </a:tc>
                <a:tc>
                  <a:txBody>
                    <a:bodyPr/>
                    <a:lstStyle/>
                    <a:p>
                      <a:pPr marL="88900" indent="0"/>
                      <a:r>
                        <a:rPr lang="en-US" sz="1700">
                          <a:solidFill>
                            <a:srgbClr val="222543"/>
                          </a:solidFill>
                          <a:latin typeface="Calibri"/>
                        </a:rPr>
                        <a:t>39</a:t>
                      </a:r>
                    </a:p>
                  </a:txBody>
                  <a:tcPr marL="0" marR="0" marT="0" marB="0"/>
                </a:tc>
                <a:tc>
                  <a:txBody>
                    <a:bodyPr/>
                    <a:lstStyle/>
                    <a:p>
                      <a:pPr indent="0"/>
                      <a:r>
                        <a:rPr lang="en-US" sz="1700">
                          <a:solidFill>
                            <a:srgbClr val="252525"/>
                          </a:solidFill>
                          <a:latin typeface="Calibri"/>
                        </a:rPr>
                        <a:t>56</a:t>
                      </a:r>
                    </a:p>
                  </a:txBody>
                  <a:tcPr marL="0" marR="0" marT="0" marB="0"/>
                </a:tc>
                <a:tc>
                  <a:txBody>
                    <a:bodyPr/>
                    <a:lstStyle/>
                    <a:p>
                      <a:pPr indent="0"/>
                      <a:r>
                        <a:rPr lang="en-US" sz="1700">
                          <a:solidFill>
                            <a:srgbClr val="222543"/>
                          </a:solidFill>
                          <a:latin typeface="Calibri"/>
                        </a:rPr>
                        <a:t>34</a:t>
                      </a:r>
                    </a:p>
                  </a:txBody>
                  <a:tcPr marL="0" marR="0" marT="0" marB="0"/>
                </a:tc>
                <a:tc>
                  <a:txBody>
                    <a:bodyPr/>
                    <a:lstStyle/>
                    <a:p>
                      <a:pPr indent="0"/>
                      <a:r>
                        <a:rPr lang="en-US" sz="1700">
                          <a:solidFill>
                            <a:srgbClr val="252525"/>
                          </a:solidFill>
                          <a:latin typeface="Calibri"/>
                        </a:rPr>
                        <a:t>53</a:t>
                      </a:r>
                    </a:p>
                  </a:txBody>
                  <a:tcPr marL="0" marR="0" marT="0" marB="0"/>
                </a:tc>
                <a:tc>
                  <a:txBody>
                    <a:bodyPr/>
                    <a:lstStyle/>
                    <a:p>
                      <a:pPr indent="0"/>
                      <a:r>
                        <a:rPr lang="en-US" sz="1700">
                          <a:solidFill>
                            <a:srgbClr val="252525"/>
                          </a:solidFill>
                          <a:latin typeface="Calibri"/>
                        </a:rPr>
                        <a:t>46</a:t>
                      </a:r>
                    </a:p>
                  </a:txBody>
                  <a:tcPr marL="0" marR="0" marT="0" marB="0"/>
                </a:tc>
                <a:tc>
                  <a:txBody>
                    <a:bodyPr/>
                    <a:lstStyle/>
                    <a:p>
                      <a:pPr indent="0"/>
                      <a:r>
                        <a:rPr lang="en-US" sz="1700">
                          <a:solidFill>
                            <a:srgbClr val="252525"/>
                          </a:solidFill>
                          <a:latin typeface="Calibri"/>
                        </a:rPr>
                        <a:t>42</a:t>
                      </a:r>
                    </a:p>
                  </a:txBody>
                  <a:tcPr marL="0" marR="0" marT="0" marB="0"/>
                </a:tc>
                <a:tc>
                  <a:txBody>
                    <a:bodyPr/>
                    <a:lstStyle/>
                    <a:p>
                      <a:pPr indent="0"/>
                      <a:r>
                        <a:rPr lang="en-US" sz="1700">
                          <a:solidFill>
                            <a:srgbClr val="222543"/>
                          </a:solidFill>
                          <a:latin typeface="Calibri"/>
                        </a:rPr>
                        <a:t>50</a:t>
                      </a:r>
                    </a:p>
                  </a:txBody>
                  <a:tcPr marL="0" marR="0" marT="0" marB="0"/>
                </a:tc>
                <a:tc>
                  <a:txBody>
                    <a:bodyPr/>
                    <a:lstStyle/>
                    <a:p>
                      <a:pPr indent="0"/>
                      <a:r>
                        <a:rPr lang="en-US" sz="1700">
                          <a:solidFill>
                            <a:srgbClr val="222543"/>
                          </a:solidFill>
                          <a:latin typeface="Calibri"/>
                        </a:rPr>
                        <a:t>36</a:t>
                      </a:r>
                    </a:p>
                  </a:txBody>
                  <a:tcPr marL="0" marR="0" marT="0" marB="0"/>
                </a:tc>
                <a:tc>
                  <a:txBody>
                    <a:bodyPr/>
                    <a:lstStyle/>
                    <a:p>
                      <a:pPr indent="0"/>
                      <a:r>
                        <a:rPr lang="en-US" sz="1700">
                          <a:solidFill>
                            <a:srgbClr val="252525"/>
                          </a:solidFill>
                          <a:latin typeface="Calibri"/>
                        </a:rPr>
                        <a:t>29</a:t>
                      </a:r>
                    </a:p>
                  </a:txBody>
                  <a:tcPr marL="0" marR="0" marT="0" marB="0"/>
                </a:tc>
                <a:tc>
                  <a:txBody>
                    <a:bodyPr/>
                    <a:lstStyle/>
                    <a:p>
                      <a:pPr indent="0"/>
                      <a:r>
                        <a:rPr lang="en-US" sz="1700">
                          <a:solidFill>
                            <a:srgbClr val="222543"/>
                          </a:solidFill>
                          <a:latin typeface="Calibri"/>
                        </a:rPr>
                        <a:t>32</a:t>
                      </a:r>
                    </a:p>
                  </a:txBody>
                  <a:tcPr marL="0" marR="0" marT="0" marB="0"/>
                </a:tc>
                <a:extLst>
                  <a:ext uri="{0D108BD9-81ED-4DB2-BD59-A6C34878D82A}">
                    <a16:rowId xmlns:a16="http://schemas.microsoft.com/office/drawing/2014/main" val="10003"/>
                  </a:ext>
                </a:extLst>
              </a:tr>
            </a:tbl>
          </a:graphicData>
        </a:graphic>
      </p:graphicFrame>
      <p:sp>
        <p:nvSpPr>
          <p:cNvPr id="4" name="Rectangle 3"/>
          <p:cNvSpPr/>
          <p:nvPr/>
        </p:nvSpPr>
        <p:spPr>
          <a:xfrm>
            <a:off x="3057144" y="3614928"/>
            <a:ext cx="3358896" cy="252984"/>
          </a:xfrm>
          <a:prstGeom prst="rect">
            <a:avLst/>
          </a:prstGeom>
        </p:spPr>
        <p:txBody>
          <a:bodyPr wrap="none" lIns="0" tIns="0" rIns="0" bIns="0">
            <a:noAutofit/>
          </a:bodyPr>
          <a:lstStyle/>
          <a:p>
            <a:pPr indent="0"/>
            <a:r>
              <a:rPr lang="en-US" sz="1600">
                <a:latin typeface="Tahoma"/>
              </a:rPr>
              <a:t>Figure </a:t>
            </a:r>
            <a:r>
              <a:rPr lang="en-US" sz="1900">
                <a:latin typeface="Calibri"/>
              </a:rPr>
              <a:t>■ </a:t>
            </a:r>
            <a:r>
              <a:rPr lang="en-US" sz="1900">
                <a:solidFill>
                  <a:srgbClr val="3B3049"/>
                </a:solidFill>
                <a:latin typeface="Calibri"/>
              </a:rPr>
              <a:t>compression permutation</a:t>
            </a:r>
          </a:p>
        </p:txBody>
      </p:sp>
      <p:sp>
        <p:nvSpPr>
          <p:cNvPr id="5" name="Rectangle 4"/>
          <p:cNvSpPr/>
          <p:nvPr/>
        </p:nvSpPr>
        <p:spPr>
          <a:xfrm>
            <a:off x="719328" y="5105400"/>
            <a:ext cx="7976616" cy="954024"/>
          </a:xfrm>
          <a:prstGeom prst="rect">
            <a:avLst/>
          </a:prstGeom>
        </p:spPr>
        <p:txBody>
          <a:bodyPr lIns="0" tIns="0" rIns="0" bIns="0">
            <a:noAutofit/>
          </a:bodyPr>
          <a:lstStyle/>
          <a:p>
            <a:pPr indent="0" algn="just">
              <a:lnSpc>
                <a:spcPts val="2808"/>
              </a:lnSpc>
              <a:spcBef>
                <a:spcPts val="6720"/>
              </a:spcBef>
            </a:pPr>
            <a:r>
              <a:rPr lang="en-US" sz="2200" dirty="0">
                <a:latin typeface="Calibri"/>
              </a:rPr>
              <a:t>	Because of this compression permutation technique, a different subset of key bits is used in each round. That's make DES not easy to crack.</a:t>
            </a:r>
          </a:p>
        </p:txBody>
      </p:sp>
      <p:sp>
        <p:nvSpPr>
          <p:cNvPr id="6" name="Date Placeholder 5"/>
          <p:cNvSpPr>
            <a:spLocks noGrp="1"/>
          </p:cNvSpPr>
          <p:nvPr>
            <p:ph type="dt" sz="half" idx="10"/>
          </p:nvPr>
        </p:nvSpPr>
        <p:spPr/>
        <p:txBody>
          <a:bodyPr/>
          <a:lstStyle/>
          <a:p>
            <a:fld id="{04CA7076-3A49-4B34-A58D-41328D183DE3}"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103</a:t>
            </a:fld>
            <a:endParaRPr lang="en-US"/>
          </a:p>
        </p:txBody>
      </p:sp>
      <p:sp>
        <p:nvSpPr>
          <p:cNvPr id="9"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81456"/>
            <a:ext cx="7967472" cy="3133344"/>
          </a:xfrm>
          <a:prstGeom prst="rect">
            <a:avLst/>
          </a:prstGeom>
        </p:spPr>
        <p:txBody>
          <a:bodyPr lIns="0" tIns="0" rIns="0" bIns="0">
            <a:noAutofit/>
          </a:bodyPr>
          <a:lstStyle/>
          <a:p>
            <a:pPr indent="0">
              <a:lnSpc>
                <a:spcPts val="2784"/>
              </a:lnSpc>
            </a:pPr>
            <a:r>
              <a:rPr lang="en-US" sz="2200" b="1" dirty="0">
                <a:latin typeface="Calibri"/>
              </a:rPr>
              <a:t>Step-2: Expansion Permutation -</a:t>
            </a:r>
          </a:p>
          <a:p>
            <a:pPr indent="495300" algn="just">
              <a:lnSpc>
                <a:spcPts val="2784"/>
              </a:lnSpc>
            </a:pPr>
            <a:endParaRPr lang="en-US" sz="2200" dirty="0">
              <a:latin typeface="Calibri"/>
            </a:endParaRPr>
          </a:p>
          <a:p>
            <a:pPr indent="495300" algn="just">
              <a:lnSpc>
                <a:spcPts val="2784"/>
              </a:lnSpc>
            </a:pPr>
            <a:r>
              <a:rPr lang="en-US" sz="2200" dirty="0">
                <a:latin typeface="Calibri"/>
              </a:rPr>
              <a:t>Recall that after initial permutation, we had two 32-bit plain text areas called as Left Plain Text(LPT) and Right Plain Text(RPT). During the expansion permutation, the RPT is expanded from 32 bits to 48 bits. Bits are permuted as well hence called as expansion permutation. This happens as the 32 bit RPT is divided into 8 blocks, with each block consisting of 4 bits. Then, each 4 bit block of the previous step is then expanded to a corresponding 6 bit block, i.e., per 4 bit block, 2 more bits are added.</a:t>
            </a:r>
          </a:p>
        </p:txBody>
      </p:sp>
      <p:sp>
        <p:nvSpPr>
          <p:cNvPr id="3" name="Date Placeholder 2"/>
          <p:cNvSpPr>
            <a:spLocks noGrp="1"/>
          </p:cNvSpPr>
          <p:nvPr>
            <p:ph type="dt" sz="half" idx="10"/>
          </p:nvPr>
        </p:nvSpPr>
        <p:spPr/>
        <p:txBody>
          <a:bodyPr/>
          <a:lstStyle/>
          <a:p>
            <a:fld id="{3EE36370-F4F0-466E-88DF-A94AC70661E1}"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104</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01496" y="914400"/>
            <a:ext cx="6669024" cy="3544824"/>
          </a:xfrm>
          <a:prstGeom prst="rect">
            <a:avLst/>
          </a:prstGeom>
        </p:spPr>
      </p:pic>
      <p:sp>
        <p:nvSpPr>
          <p:cNvPr id="3" name="Rectangle 2"/>
          <p:cNvSpPr/>
          <p:nvPr/>
        </p:nvSpPr>
        <p:spPr>
          <a:xfrm>
            <a:off x="713232" y="4611624"/>
            <a:ext cx="7982712" cy="1359408"/>
          </a:xfrm>
          <a:prstGeom prst="rect">
            <a:avLst/>
          </a:prstGeom>
        </p:spPr>
        <p:txBody>
          <a:bodyPr lIns="0" tIns="0" rIns="0" bIns="0">
            <a:noAutofit/>
          </a:bodyPr>
          <a:lstStyle/>
          <a:p>
            <a:pPr indent="0" algn="just">
              <a:lnSpc>
                <a:spcPts val="2808"/>
              </a:lnSpc>
              <a:spcBef>
                <a:spcPts val="840"/>
              </a:spcBef>
            </a:pPr>
            <a:r>
              <a:rPr lang="en-US" sz="2200" dirty="0">
                <a:latin typeface="Calibri"/>
              </a:rPr>
              <a:t>	This process results into expansion as well as permutation of the input bit while creating output. Key transformation process compresses the 56-bit key to 48 bits. Then the expansion permutation process expands the 32-bit RPT to 48-bits. </a:t>
            </a:r>
          </a:p>
        </p:txBody>
      </p:sp>
      <p:sp>
        <p:nvSpPr>
          <p:cNvPr id="4" name="Date Placeholder 3"/>
          <p:cNvSpPr>
            <a:spLocks noGrp="1"/>
          </p:cNvSpPr>
          <p:nvPr>
            <p:ph type="dt" sz="half" idx="10"/>
          </p:nvPr>
        </p:nvSpPr>
        <p:spPr/>
        <p:txBody>
          <a:bodyPr/>
          <a:lstStyle/>
          <a:p>
            <a:fld id="{EE82CE32-82CA-4621-A86E-EB2BCE9E534C}" type="datetime1">
              <a:rPr lang="en-US" smtClean="0"/>
              <a:t>4/29/2022</a:t>
            </a:fld>
            <a:endParaRPr lang="en-US"/>
          </a:p>
        </p:txBody>
      </p:sp>
      <p:sp>
        <p:nvSpPr>
          <p:cNvPr id="6" name="Slide Number Placeholder 5"/>
          <p:cNvSpPr>
            <a:spLocks noGrp="1"/>
          </p:cNvSpPr>
          <p:nvPr>
            <p:ph type="sldNum" sz="quarter" idx="12"/>
          </p:nvPr>
        </p:nvSpPr>
        <p:spPr/>
        <p:txBody>
          <a:bodyPr/>
          <a:lstStyle/>
          <a:p>
            <a:fld id="{A0B67B60-8227-4ECE-9065-6110C6EB035F}" type="slidenum">
              <a:rPr lang="en-US" smtClean="0"/>
              <a:t>105</a:t>
            </a:fld>
            <a:endParaRPr lang="en-US"/>
          </a:p>
        </p:txBody>
      </p:sp>
      <p:sp>
        <p:nvSpPr>
          <p:cNvPr id="7"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4568" y="975360"/>
            <a:ext cx="7955280" cy="643128"/>
          </a:xfrm>
          <a:prstGeom prst="rect">
            <a:avLst/>
          </a:prstGeom>
        </p:spPr>
        <p:txBody>
          <a:bodyPr lIns="0" tIns="0" rIns="0" bIns="0">
            <a:noAutofit/>
          </a:bodyPr>
          <a:lstStyle/>
          <a:p>
            <a:pPr algn="just">
              <a:lnSpc>
                <a:spcPts val="2784"/>
              </a:lnSpc>
            </a:pPr>
            <a:r>
              <a:rPr lang="en-US" sz="2200" dirty="0"/>
              <a:t>Now the 48- bit key is XOR with 48-bit RPT </a:t>
            </a:r>
            <a:r>
              <a:rPr lang="en-US" sz="2200" dirty="0">
                <a:latin typeface="Calibri"/>
              </a:rPr>
              <a:t>and resulting output is given to the next step, which is the S-Box substitution.</a:t>
            </a:r>
          </a:p>
        </p:txBody>
      </p:sp>
      <p:sp>
        <p:nvSpPr>
          <p:cNvPr id="3" name="Date Placeholder 2"/>
          <p:cNvSpPr>
            <a:spLocks noGrp="1"/>
          </p:cNvSpPr>
          <p:nvPr>
            <p:ph type="dt" sz="half" idx="10"/>
          </p:nvPr>
        </p:nvSpPr>
        <p:spPr/>
        <p:txBody>
          <a:bodyPr/>
          <a:lstStyle/>
          <a:p>
            <a:fld id="{502A4B74-C2B9-43DF-A6E8-6865E50091F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106</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59080" y="975360"/>
            <a:ext cx="8449056" cy="5105400"/>
          </a:xfrm>
          <a:prstGeom prst="rect">
            <a:avLst/>
          </a:prstGeom>
        </p:spPr>
        <p:txBody>
          <a:bodyPr lIns="0" tIns="0" rIns="0" bIns="0">
            <a:noAutofit/>
          </a:bodyPr>
          <a:lstStyle/>
          <a:p>
            <a:pPr marL="254000" indent="-254000" algn="just">
              <a:spcAft>
                <a:spcPts val="1470"/>
              </a:spcAft>
            </a:pPr>
            <a:r>
              <a:rPr lang="en-US" sz="2200" b="1" u="sng" dirty="0">
                <a:latin typeface="Calibri"/>
              </a:rPr>
              <a:t>Asymmetric-Key Ciphers</a:t>
            </a:r>
          </a:p>
          <a:p>
            <a:pPr marL="482600" indent="0" algn="just">
              <a:lnSpc>
                <a:spcPts val="3024"/>
              </a:lnSpc>
              <a:spcAft>
                <a:spcPts val="420"/>
              </a:spcAft>
            </a:pPr>
            <a:r>
              <a:rPr lang="en-US" sz="2200" dirty="0">
                <a:latin typeface="Calibri"/>
              </a:rPr>
              <a:t>Based on personal secrecy and based on applying mathematical function to numbers. It uses two separate keys : one private and one public.</a:t>
            </a:r>
          </a:p>
          <a:p>
            <a:pPr marL="254000" indent="-254000" algn="just">
              <a:lnSpc>
                <a:spcPts val="3024"/>
              </a:lnSpc>
              <a:buFont typeface="+mj-lt"/>
              <a:buAutoNum type="arabicPeriod"/>
            </a:pPr>
            <a:r>
              <a:rPr lang="en-US" sz="2200" dirty="0">
                <a:solidFill>
                  <a:srgbClr val="252525"/>
                </a:solidFill>
                <a:latin typeface="Calibri"/>
              </a:rPr>
              <a:t>	</a:t>
            </a:r>
            <a:r>
              <a:rPr lang="en-US" sz="2200" b="1" dirty="0">
                <a:solidFill>
                  <a:srgbClr val="252525"/>
                </a:solidFill>
              </a:rPr>
              <a:t>RSA (</a:t>
            </a:r>
            <a:r>
              <a:rPr lang="en-US" sz="2200" b="1" dirty="0" err="1">
                <a:solidFill>
                  <a:srgbClr val="252525"/>
                </a:solidFill>
              </a:rPr>
              <a:t>Rivest</a:t>
            </a:r>
            <a:r>
              <a:rPr lang="en-US" sz="2200" b="1" dirty="0">
                <a:solidFill>
                  <a:srgbClr val="252525"/>
                </a:solidFill>
              </a:rPr>
              <a:t>-Shamir-</a:t>
            </a:r>
            <a:r>
              <a:rPr lang="en-US" sz="2200" b="1" dirty="0" err="1">
                <a:solidFill>
                  <a:srgbClr val="252525"/>
                </a:solidFill>
              </a:rPr>
              <a:t>Adleman</a:t>
            </a:r>
            <a:r>
              <a:rPr lang="en-US" sz="2200" b="1" dirty="0">
                <a:solidFill>
                  <a:srgbClr val="252525"/>
                </a:solidFill>
              </a:rPr>
              <a:t>) </a:t>
            </a:r>
            <a:r>
              <a:rPr lang="en-US" sz="2200" dirty="0">
                <a:solidFill>
                  <a:srgbClr val="252525"/>
                </a:solidFill>
              </a:rPr>
              <a:t>is an algorithm used by modern computers to encrypt and decrypt messages. It is an asymmetric cryptographic algorithm. Asymmetric means that there are two different keys. This is also called public key cryptography, because one of the keys can be given to anyone. The other key must be kept private. The algorithm is based on the fact that finding the factors of a large composite number is difficult: when the integers are prime numbers, the problem is called prime factorization. It is also a key pair (public and private key) generator.</a:t>
            </a:r>
            <a:endParaRPr lang="en-US" sz="2200" dirty="0">
              <a:solidFill>
                <a:srgbClr val="252525"/>
              </a:solidFill>
              <a:latin typeface="Calibri"/>
            </a:endParaRPr>
          </a:p>
        </p:txBody>
      </p:sp>
      <p:sp>
        <p:nvSpPr>
          <p:cNvPr id="3" name="Date Placeholder 2"/>
          <p:cNvSpPr>
            <a:spLocks noGrp="1"/>
          </p:cNvSpPr>
          <p:nvPr>
            <p:ph type="dt" sz="half" idx="10"/>
          </p:nvPr>
        </p:nvSpPr>
        <p:spPr/>
        <p:txBody>
          <a:bodyPr/>
          <a:lstStyle/>
          <a:p>
            <a:fld id="{7104015E-FABD-4E76-A209-4A7AB61FD0F7}"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107</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75360"/>
            <a:ext cx="7973568" cy="5202936"/>
          </a:xfrm>
          <a:prstGeom prst="rect">
            <a:avLst/>
          </a:prstGeom>
        </p:spPr>
        <p:txBody>
          <a:bodyPr lIns="0" tIns="0" rIns="0" bIns="0">
            <a:noAutofit/>
          </a:bodyPr>
          <a:lstStyle/>
          <a:p>
            <a:pPr indent="228600" algn="just">
              <a:lnSpc>
                <a:spcPts val="2784"/>
              </a:lnSpc>
              <a:spcAft>
                <a:spcPts val="840"/>
              </a:spcAft>
            </a:pPr>
            <a:r>
              <a:rPr lang="en-US" sz="2200" dirty="0">
                <a:solidFill>
                  <a:srgbClr val="252525"/>
                </a:solidFill>
                <a:latin typeface="Calibri"/>
              </a:rPr>
              <a:t>RSA involves a public </a:t>
            </a:r>
            <a:r>
              <a:rPr lang="en-US" sz="2200" dirty="0">
                <a:latin typeface="Calibri"/>
              </a:rPr>
              <a:t>key </a:t>
            </a:r>
            <a:r>
              <a:rPr lang="en-US" sz="2200" dirty="0">
                <a:solidFill>
                  <a:srgbClr val="252525"/>
                </a:solidFill>
                <a:latin typeface="Calibri"/>
              </a:rPr>
              <a:t>and private key. The public key can be known to everyone; it is used to encrypt messages. Messages encrypted using the public key can only be decrypted with the private key. The keys for the RSA algorithm are generated the following way:</a:t>
            </a:r>
          </a:p>
          <a:p>
            <a:pPr marL="720852" indent="0" algn="just">
              <a:spcAft>
                <a:spcPts val="1050"/>
              </a:spcAft>
            </a:pPr>
            <a:r>
              <a:rPr lang="en-US" sz="2200" dirty="0">
                <a:solidFill>
                  <a:srgbClr val="252525"/>
                </a:solidFill>
                <a:latin typeface="Calibri"/>
              </a:rPr>
              <a:t>a.    Choose two different large random </a:t>
            </a:r>
            <a:r>
              <a:rPr lang="en-US" sz="2200" dirty="0">
                <a:latin typeface="Calibri"/>
              </a:rPr>
              <a:t>prime numbers </a:t>
            </a:r>
            <a:r>
              <a:rPr lang="en-US" sz="2200" dirty="0">
                <a:solidFill>
                  <a:srgbClr val="252525"/>
                </a:solidFill>
                <a:latin typeface="Calibri"/>
              </a:rPr>
              <a:t>p and</a:t>
            </a:r>
          </a:p>
          <a:p>
            <a:pPr marL="936752" indent="0">
              <a:spcAft>
                <a:spcPts val="630"/>
              </a:spcAft>
            </a:pPr>
            <a:r>
              <a:rPr lang="en-US" sz="2200" dirty="0">
                <a:solidFill>
                  <a:srgbClr val="252525"/>
                </a:solidFill>
                <a:latin typeface="Calibri"/>
              </a:rPr>
              <a:t>q</a:t>
            </a:r>
          </a:p>
          <a:p>
            <a:pPr marL="720852" indent="0" algn="just">
              <a:lnSpc>
                <a:spcPts val="2904"/>
              </a:lnSpc>
            </a:pPr>
            <a:r>
              <a:rPr lang="en-US" sz="2200" dirty="0">
                <a:solidFill>
                  <a:srgbClr val="252525"/>
                </a:solidFill>
                <a:latin typeface="Calibri"/>
              </a:rPr>
              <a:t>b.</a:t>
            </a:r>
            <a:r>
              <a:rPr lang="en-US" sz="2200" dirty="0">
                <a:latin typeface="Calibri"/>
              </a:rPr>
              <a:t> </a:t>
            </a:r>
            <a:r>
              <a:rPr lang="en-US" sz="2200" dirty="0">
                <a:solidFill>
                  <a:srgbClr val="252525"/>
                </a:solidFill>
                <a:latin typeface="Calibri"/>
              </a:rPr>
              <a:t>Calculate n = </a:t>
            </a:r>
            <a:r>
              <a:rPr lang="en-US" sz="2200" dirty="0" err="1">
                <a:solidFill>
                  <a:srgbClr val="252525"/>
                </a:solidFill>
                <a:latin typeface="Calibri"/>
              </a:rPr>
              <a:t>pq</a:t>
            </a:r>
            <a:endParaRPr lang="en-US" sz="2200" dirty="0">
              <a:solidFill>
                <a:srgbClr val="252525"/>
              </a:solidFill>
              <a:latin typeface="Calibri"/>
            </a:endParaRPr>
          </a:p>
          <a:p>
            <a:pPr indent="0" algn="r">
              <a:lnSpc>
                <a:spcPts val="2904"/>
              </a:lnSpc>
            </a:pPr>
            <a:r>
              <a:rPr lang="en-US" sz="2200" dirty="0" err="1">
                <a:solidFill>
                  <a:srgbClr val="252525"/>
                </a:solidFill>
                <a:latin typeface="Calibri"/>
              </a:rPr>
              <a:t>i</a:t>
            </a:r>
            <a:r>
              <a:rPr lang="en-US" sz="2200" dirty="0">
                <a:solidFill>
                  <a:srgbClr val="252525"/>
                </a:solidFill>
                <a:latin typeface="Calibri"/>
              </a:rPr>
              <a:t>. n is the modulus for the public key and the private keys</a:t>
            </a:r>
          </a:p>
          <a:p>
            <a:pPr marL="720852" indent="0" algn="just">
              <a:lnSpc>
                <a:spcPts val="2904"/>
              </a:lnSpc>
            </a:pPr>
            <a:r>
              <a:rPr lang="en-US" sz="2200" dirty="0">
                <a:latin typeface="Calibri"/>
              </a:rPr>
              <a:t>c.    </a:t>
            </a:r>
            <a:r>
              <a:rPr lang="en-US" sz="2200" dirty="0">
                <a:solidFill>
                  <a:srgbClr val="252525"/>
                </a:solidFill>
                <a:latin typeface="Calibri"/>
              </a:rPr>
              <a:t>Calculate </a:t>
            </a:r>
            <a:r>
              <a:rPr lang="en-US" sz="2200" dirty="0">
                <a:latin typeface="Calibri"/>
              </a:rPr>
              <a:t>the totient: *(n) =(p-1)(q-1).</a:t>
            </a:r>
          </a:p>
          <a:p>
            <a:pPr marL="936752" indent="-215900">
              <a:lnSpc>
                <a:spcPts val="2784"/>
              </a:lnSpc>
            </a:pPr>
            <a:r>
              <a:rPr lang="en-US" sz="2200" dirty="0">
                <a:latin typeface="Calibri"/>
              </a:rPr>
              <a:t>d. Choose an integer e such that 1 &lt; e &lt; *(n), and e is co-prime to *(n) </a:t>
            </a:r>
            <a:r>
              <a:rPr lang="en-US" sz="2200" dirty="0" err="1">
                <a:latin typeface="Calibri"/>
              </a:rPr>
              <a:t>ie</a:t>
            </a:r>
            <a:r>
              <a:rPr lang="en-US" sz="2200" dirty="0">
                <a:latin typeface="Calibri"/>
              </a:rPr>
              <a:t>: e and *(n) share no factors other than 1; gcd(e,</a:t>
            </a:r>
          </a:p>
          <a:p>
            <a:pPr marL="936752" indent="0">
              <a:spcAft>
                <a:spcPts val="630"/>
              </a:spcAft>
            </a:pPr>
            <a:r>
              <a:rPr lang="en-US" sz="2200" dirty="0">
                <a:latin typeface="Calibri"/>
              </a:rPr>
              <a:t>*(n)) = 1.</a:t>
            </a:r>
          </a:p>
          <a:p>
            <a:pPr indent="0" algn="ctr"/>
            <a:r>
              <a:rPr lang="en-US" sz="2200" dirty="0" err="1">
                <a:latin typeface="Calibri"/>
              </a:rPr>
              <a:t>i</a:t>
            </a:r>
            <a:r>
              <a:rPr lang="en-US" sz="2200" dirty="0">
                <a:latin typeface="Calibri"/>
              </a:rPr>
              <a:t>. e is released as the public key exponent</a:t>
            </a:r>
          </a:p>
        </p:txBody>
      </p:sp>
      <p:sp>
        <p:nvSpPr>
          <p:cNvPr id="3" name="Date Placeholder 2"/>
          <p:cNvSpPr>
            <a:spLocks noGrp="1"/>
          </p:cNvSpPr>
          <p:nvPr>
            <p:ph type="dt" sz="half" idx="10"/>
          </p:nvPr>
        </p:nvSpPr>
        <p:spPr/>
        <p:txBody>
          <a:bodyPr/>
          <a:lstStyle/>
          <a:p>
            <a:fld id="{29813111-012C-4294-84CF-4D9F9901B16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108</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 (CO5)</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2312"/>
            <a:ext cx="7988808" cy="5282184"/>
          </a:xfrm>
          <a:prstGeom prst="rect">
            <a:avLst/>
          </a:prstGeom>
        </p:spPr>
        <p:txBody>
          <a:bodyPr lIns="0" tIns="0" rIns="0" bIns="0">
            <a:noAutofit/>
          </a:bodyPr>
          <a:lstStyle/>
          <a:p>
            <a:pPr marL="955548" indent="-241300" algn="just">
              <a:lnSpc>
                <a:spcPts val="2832"/>
              </a:lnSpc>
            </a:pPr>
            <a:r>
              <a:rPr lang="en-US" sz="2200">
                <a:solidFill>
                  <a:srgbClr val="252525"/>
                </a:solidFill>
                <a:latin typeface="Calibri"/>
              </a:rPr>
              <a:t>e.</a:t>
            </a:r>
            <a:r>
              <a:rPr lang="en-US" sz="2200">
                <a:latin typeface="Calibri"/>
              </a:rPr>
              <a:t>Compute </a:t>
            </a:r>
            <a:r>
              <a:rPr lang="en-US" sz="2200" dirty="0">
                <a:latin typeface="Calibri"/>
              </a:rPr>
              <a:t>d to satisfy the congruence relation </a:t>
            </a:r>
            <a:r>
              <a:rPr lang="en-US" sz="2200" dirty="0">
                <a:solidFill>
                  <a:srgbClr val="252525"/>
                </a:solidFill>
                <a:latin typeface="Calibri"/>
              </a:rPr>
              <a:t>de </a:t>
            </a:r>
            <a:r>
              <a:rPr lang="en-US" sz="2200" i="1" dirty="0">
                <a:solidFill>
                  <a:srgbClr val="252525"/>
                </a:solidFill>
                <a:latin typeface="Calibri"/>
              </a:rPr>
              <a:t>=.1. </a:t>
            </a:r>
            <a:r>
              <a:rPr lang="en-US" sz="2200" dirty="0">
                <a:solidFill>
                  <a:srgbClr val="252525"/>
                </a:solidFill>
                <a:latin typeface="Calibri"/>
              </a:rPr>
              <a:t>Mod(*(n)) </a:t>
            </a:r>
            <a:r>
              <a:rPr lang="en-US" sz="2200" dirty="0" err="1">
                <a:solidFill>
                  <a:srgbClr val="252525"/>
                </a:solidFill>
                <a:latin typeface="Calibri"/>
              </a:rPr>
              <a:t>ie</a:t>
            </a:r>
            <a:r>
              <a:rPr lang="en-US" sz="2200" dirty="0">
                <a:solidFill>
                  <a:srgbClr val="252525"/>
                </a:solidFill>
                <a:latin typeface="Calibri"/>
              </a:rPr>
              <a:t>: de = 1+k*(n) for some integer k. (Simply to say : Calculate d= (1+k(*(n))/e)</a:t>
            </a:r>
          </a:p>
          <a:p>
            <a:pPr marL="1158748" indent="0" algn="just">
              <a:lnSpc>
                <a:spcPts val="2832"/>
              </a:lnSpc>
              <a:spcAft>
                <a:spcPts val="210"/>
              </a:spcAft>
            </a:pPr>
            <a:r>
              <a:rPr lang="en-US" sz="2200" dirty="0" err="1">
                <a:solidFill>
                  <a:srgbClr val="252525"/>
                </a:solidFill>
                <a:latin typeface="Calibri"/>
              </a:rPr>
              <a:t>i</a:t>
            </a:r>
            <a:r>
              <a:rPr lang="en-US" sz="2200" dirty="0">
                <a:solidFill>
                  <a:srgbClr val="252525"/>
                </a:solidFill>
                <a:latin typeface="Calibri"/>
              </a:rPr>
              <a:t>.</a:t>
            </a:r>
            <a:r>
              <a:rPr lang="en-US" sz="2200" dirty="0">
                <a:latin typeface="Calibri"/>
              </a:rPr>
              <a:t> </a:t>
            </a:r>
            <a:r>
              <a:rPr lang="en-US" sz="2200" dirty="0">
                <a:solidFill>
                  <a:srgbClr val="252525"/>
                </a:solidFill>
                <a:latin typeface="Calibri"/>
              </a:rPr>
              <a:t>d is kept as the private key exponent</a:t>
            </a:r>
          </a:p>
          <a:p>
            <a:pPr indent="0" algn="just">
              <a:lnSpc>
                <a:spcPts val="2856"/>
              </a:lnSpc>
            </a:pPr>
            <a:r>
              <a:rPr lang="en-US" sz="2200" dirty="0">
                <a:solidFill>
                  <a:srgbClr val="252525"/>
                </a:solidFill>
                <a:latin typeface="Calibri"/>
              </a:rPr>
              <a:t>The public key is made of the modulus n and the public (or encryption)    exponent e .</a:t>
            </a:r>
          </a:p>
          <a:p>
            <a:pPr indent="0" algn="just">
              <a:lnSpc>
                <a:spcPts val="2856"/>
              </a:lnSpc>
              <a:spcAft>
                <a:spcPts val="840"/>
              </a:spcAft>
            </a:pPr>
            <a:r>
              <a:rPr lang="en-US" sz="2200" dirty="0">
                <a:solidFill>
                  <a:srgbClr val="252525"/>
                </a:solidFill>
                <a:latin typeface="Calibri"/>
              </a:rPr>
              <a:t>The private key is made of the modulus n and the private (or decryption) exponent d which must be kept secret.</a:t>
            </a:r>
          </a:p>
          <a:p>
            <a:pPr marL="282448" indent="-254000">
              <a:lnSpc>
                <a:spcPts val="2928"/>
              </a:lnSpc>
            </a:pPr>
            <a:r>
              <a:rPr lang="en-US" sz="2200" dirty="0">
                <a:solidFill>
                  <a:srgbClr val="252525"/>
                </a:solidFill>
                <a:latin typeface="Calibri"/>
              </a:rPr>
              <a:t>. For efficiency a different form of the private key can be stored: o p and q: the primes from the key generation, o d mod(p-1) and d mod(q-1): often called </a:t>
            </a:r>
            <a:r>
              <a:rPr lang="en-US" sz="2200" i="1" dirty="0" err="1">
                <a:solidFill>
                  <a:srgbClr val="252525"/>
                </a:solidFill>
                <a:latin typeface="Calibri"/>
              </a:rPr>
              <a:t>dmpl</a:t>
            </a:r>
            <a:r>
              <a:rPr lang="en-US" sz="2200" dirty="0">
                <a:solidFill>
                  <a:srgbClr val="252525"/>
                </a:solidFill>
                <a:latin typeface="Calibri"/>
              </a:rPr>
              <a:t> and </a:t>
            </a:r>
            <a:r>
              <a:rPr lang="en-US" sz="2200" i="1" dirty="0" err="1">
                <a:solidFill>
                  <a:srgbClr val="252525"/>
                </a:solidFill>
                <a:latin typeface="Calibri"/>
              </a:rPr>
              <a:t>dmql</a:t>
            </a:r>
            <a:r>
              <a:rPr lang="en-US" sz="2200" i="1" dirty="0">
                <a:solidFill>
                  <a:srgbClr val="252525"/>
                </a:solidFill>
                <a:latin typeface="Calibri"/>
              </a:rPr>
              <a:t>. o</a:t>
            </a:r>
            <a:r>
              <a:rPr lang="en-US" sz="2200" dirty="0">
                <a:solidFill>
                  <a:srgbClr val="252525"/>
                </a:solidFill>
                <a:latin typeface="Calibri"/>
              </a:rPr>
              <a:t> q</a:t>
            </a:r>
            <a:r>
              <a:rPr lang="en-US" sz="2200" baseline="30000" dirty="0">
                <a:solidFill>
                  <a:srgbClr val="252525"/>
                </a:solidFill>
                <a:latin typeface="Calibri"/>
              </a:rPr>
              <a:t>-1</a:t>
            </a:r>
            <a:r>
              <a:rPr lang="en-US" sz="2200" dirty="0">
                <a:solidFill>
                  <a:srgbClr val="252525"/>
                </a:solidFill>
                <a:latin typeface="Calibri"/>
              </a:rPr>
              <a:t> mod(p): often called </a:t>
            </a:r>
            <a:r>
              <a:rPr lang="en-US" sz="2200" i="1" dirty="0" err="1">
                <a:solidFill>
                  <a:srgbClr val="252525"/>
                </a:solidFill>
                <a:latin typeface="Calibri"/>
              </a:rPr>
              <a:t>iqmp</a:t>
            </a:r>
            <a:endParaRPr lang="en-US" sz="2200" i="1" dirty="0">
              <a:solidFill>
                <a:srgbClr val="252525"/>
              </a:solidFill>
              <a:latin typeface="Calibri"/>
            </a:endParaRPr>
          </a:p>
          <a:p>
            <a:pPr marL="282448" indent="-254000">
              <a:lnSpc>
                <a:spcPts val="2808"/>
              </a:lnSpc>
            </a:pPr>
            <a:r>
              <a:rPr lang="en-US" sz="2200" i="1" dirty="0">
                <a:solidFill>
                  <a:srgbClr val="252525"/>
                </a:solidFill>
                <a:latin typeface="Calibri"/>
              </a:rPr>
              <a:t>.</a:t>
            </a:r>
            <a:r>
              <a:rPr lang="en-US" sz="2200" dirty="0">
                <a:solidFill>
                  <a:srgbClr val="252525"/>
                </a:solidFill>
                <a:latin typeface="Calibri"/>
              </a:rPr>
              <a:t> All parts of the private key must be kept secret in this form. p and q are sensitive since they are the factors of n, and</a:t>
            </a:r>
          </a:p>
        </p:txBody>
      </p:sp>
      <p:sp>
        <p:nvSpPr>
          <p:cNvPr id="3" name="Date Placeholder 2"/>
          <p:cNvSpPr>
            <a:spLocks noGrp="1"/>
          </p:cNvSpPr>
          <p:nvPr>
            <p:ph type="dt" sz="half" idx="10"/>
          </p:nvPr>
        </p:nvSpPr>
        <p:spPr/>
        <p:txBody>
          <a:bodyPr/>
          <a:lstStyle/>
          <a:p>
            <a:fld id="{04D9BD4A-8759-4E3D-B78B-F92D21B612D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109</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4568" y="972312"/>
            <a:ext cx="7964424" cy="3870960"/>
          </a:xfrm>
          <a:prstGeom prst="rect">
            <a:avLst/>
          </a:prstGeom>
        </p:spPr>
        <p:txBody>
          <a:bodyPr lIns="0" tIns="0" rIns="0" bIns="0">
            <a:noAutofit/>
          </a:bodyPr>
          <a:lstStyle/>
          <a:p>
            <a:pPr marL="248412" indent="0" algn="just">
              <a:lnSpc>
                <a:spcPts val="2808"/>
              </a:lnSpc>
            </a:pPr>
            <a:r>
              <a:rPr lang="en-US" sz="2200" dirty="0">
                <a:solidFill>
                  <a:srgbClr val="252525"/>
                </a:solidFill>
                <a:latin typeface="Calibri"/>
              </a:rPr>
              <a:t>allow computation of d given e. If p and q are not stored in this form of the private key then they are securely deleted along with other intermediate values from key generation.</a:t>
            </a:r>
          </a:p>
          <a:p>
            <a:pPr marL="248412" indent="0" algn="just">
              <a:lnSpc>
                <a:spcPts val="2808"/>
              </a:lnSpc>
            </a:pPr>
            <a:endParaRPr lang="en-US" sz="2200" dirty="0">
              <a:solidFill>
                <a:srgbClr val="252525"/>
              </a:solidFill>
              <a:latin typeface="Calibri"/>
            </a:endParaRPr>
          </a:p>
          <a:p>
            <a:pPr marL="248412" indent="-228600" algn="just">
              <a:lnSpc>
                <a:spcPts val="2808"/>
              </a:lnSpc>
            </a:pPr>
            <a:r>
              <a:rPr lang="en-US" sz="2200" dirty="0">
                <a:latin typeface="Calibri"/>
              </a:rPr>
              <a:t>. Although this form allows faster decryption and signing by using the Chinese Remainder Theorem (CRT) it is considerably less secure since it enables side channel attacks (</a:t>
            </a:r>
            <a:r>
              <a:rPr lang="en-US" sz="2200" dirty="0" err="1">
                <a:latin typeface="Calibri"/>
              </a:rPr>
              <a:t>en</a:t>
            </a:r>
            <a:r>
              <a:rPr lang="en-US" sz="2200" dirty="0">
                <a:latin typeface="Calibri"/>
              </a:rPr>
              <a:t>) . This is a particular problem if implemented on smart cards, which benefit most from the improved efficiency. (Start with y = </a:t>
            </a:r>
            <a:r>
              <a:rPr lang="en-US" sz="2200" dirty="0" err="1">
                <a:latin typeface="Calibri"/>
              </a:rPr>
              <a:t>x</a:t>
            </a:r>
            <a:r>
              <a:rPr lang="en-US" sz="2200" baseline="30000" dirty="0" err="1">
                <a:latin typeface="Calibri"/>
              </a:rPr>
              <a:t>e</a:t>
            </a:r>
            <a:r>
              <a:rPr lang="en-US" sz="2200" dirty="0">
                <a:latin typeface="Calibri"/>
              </a:rPr>
              <a:t> mod(n) and let the card decrypt that. So it computes </a:t>
            </a:r>
            <a:r>
              <a:rPr lang="en-US" sz="2200" dirty="0" err="1">
                <a:latin typeface="Calibri"/>
              </a:rPr>
              <a:t>y</a:t>
            </a:r>
            <a:r>
              <a:rPr lang="en-US" sz="2200" baseline="30000" dirty="0" err="1">
                <a:latin typeface="Calibri"/>
              </a:rPr>
              <a:t>d</a:t>
            </a:r>
            <a:r>
              <a:rPr lang="en-US" sz="2200" dirty="0">
                <a:latin typeface="Calibri"/>
              </a:rPr>
              <a:t> mod(p) or </a:t>
            </a:r>
            <a:r>
              <a:rPr lang="en-US" sz="2200" dirty="0" err="1">
                <a:latin typeface="Calibri"/>
              </a:rPr>
              <a:t>y</a:t>
            </a:r>
            <a:r>
              <a:rPr lang="en-US" sz="2200" baseline="30000" dirty="0" err="1">
                <a:latin typeface="Calibri"/>
              </a:rPr>
              <a:t>d</a:t>
            </a:r>
            <a:r>
              <a:rPr lang="en-US" sz="2200" baseline="30000" dirty="0">
                <a:latin typeface="Calibri"/>
              </a:rPr>
              <a:t> </a:t>
            </a:r>
            <a:r>
              <a:rPr lang="en-US" sz="2200" dirty="0">
                <a:latin typeface="Calibri"/>
              </a:rPr>
              <a:t>mod(q) whose results give some value z. Now, induce an error in one of the computations. Then gcd(z-</a:t>
            </a:r>
            <a:r>
              <a:rPr lang="en-US" sz="2200" dirty="0" err="1">
                <a:latin typeface="Calibri"/>
              </a:rPr>
              <a:t>x,n</a:t>
            </a:r>
            <a:r>
              <a:rPr lang="en-US" sz="2200" dirty="0">
                <a:latin typeface="Calibri"/>
              </a:rPr>
              <a:t>) will reveal p or q.)</a:t>
            </a:r>
          </a:p>
        </p:txBody>
      </p:sp>
      <p:sp>
        <p:nvSpPr>
          <p:cNvPr id="3" name="Date Placeholder 2"/>
          <p:cNvSpPr>
            <a:spLocks noGrp="1"/>
          </p:cNvSpPr>
          <p:nvPr>
            <p:ph type="dt" sz="half" idx="10"/>
          </p:nvPr>
        </p:nvSpPr>
        <p:spPr/>
        <p:txBody>
          <a:bodyPr/>
          <a:lstStyle/>
          <a:p>
            <a:fld id="{53661FE9-0179-44E6-B27F-A63176781C23}"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110</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52856" y="981456"/>
            <a:ext cx="7949184" cy="265176"/>
          </a:xfrm>
          <a:prstGeom prst="rect">
            <a:avLst/>
          </a:prstGeom>
        </p:spPr>
        <p:txBody>
          <a:bodyPr wrap="none" lIns="0" tIns="0" rIns="0" bIns="0">
            <a:noAutofit/>
          </a:bodyPr>
          <a:lstStyle/>
          <a:p>
            <a:pPr indent="0"/>
            <a:r>
              <a:rPr lang="en-US" sz="2300" b="1">
                <a:latin typeface="Calibri"/>
              </a:rPr>
              <a:t>Encrypting message</a:t>
            </a:r>
          </a:p>
        </p:txBody>
      </p:sp>
      <p:sp>
        <p:nvSpPr>
          <p:cNvPr id="3" name="Rectangle 2"/>
          <p:cNvSpPr/>
          <p:nvPr/>
        </p:nvSpPr>
        <p:spPr>
          <a:xfrm>
            <a:off x="752856" y="1417320"/>
            <a:ext cx="7949184" cy="2209800"/>
          </a:xfrm>
          <a:prstGeom prst="rect">
            <a:avLst/>
          </a:prstGeom>
        </p:spPr>
        <p:txBody>
          <a:bodyPr lIns="0" tIns="0" rIns="0" bIns="0">
            <a:noAutofit/>
          </a:bodyPr>
          <a:lstStyle/>
          <a:p>
            <a:pPr marL="217424" indent="0" algn="just">
              <a:lnSpc>
                <a:spcPts val="2808"/>
              </a:lnSpc>
              <a:spcAft>
                <a:spcPts val="210"/>
              </a:spcAft>
            </a:pPr>
            <a:r>
              <a:rPr lang="en-US" sz="2200" dirty="0">
                <a:latin typeface="Calibri"/>
              </a:rPr>
              <a:t>Alice gives her public key (n &amp; e) to Bob and keeps her private key secret. Bob wants to send message M to Alice.</a:t>
            </a:r>
          </a:p>
          <a:p>
            <a:pPr marL="217424" indent="0" algn="just">
              <a:lnSpc>
                <a:spcPts val="2808"/>
              </a:lnSpc>
              <a:spcAft>
                <a:spcPts val="210"/>
              </a:spcAft>
            </a:pPr>
            <a:r>
              <a:rPr lang="en-US" sz="2200" dirty="0">
                <a:latin typeface="Calibri"/>
              </a:rPr>
              <a:t>First he turns M into a number m smaller than n by using an agreed-upon reversible protocol known as a padding scheme. He then computes the </a:t>
            </a:r>
            <a:r>
              <a:rPr lang="en-US" sz="2200" dirty="0" err="1">
                <a:latin typeface="Calibri"/>
              </a:rPr>
              <a:t>ciphertext</a:t>
            </a:r>
            <a:r>
              <a:rPr lang="en-US" sz="2200" dirty="0">
                <a:latin typeface="Calibri"/>
              </a:rPr>
              <a:t> c corresponding to:</a:t>
            </a:r>
          </a:p>
          <a:p>
            <a:pPr marL="217424" indent="0" algn="just">
              <a:lnSpc>
                <a:spcPts val="2808"/>
              </a:lnSpc>
              <a:spcAft>
                <a:spcPts val="210"/>
              </a:spcAft>
            </a:pPr>
            <a:endParaRPr lang="en-US" sz="2200" dirty="0">
              <a:latin typeface="Calibri"/>
            </a:endParaRPr>
          </a:p>
          <a:p>
            <a:pPr marL="446024" indent="0">
              <a:spcAft>
                <a:spcPts val="3570"/>
              </a:spcAft>
            </a:pPr>
            <a:r>
              <a:rPr lang="en-US" sz="2200" dirty="0">
                <a:latin typeface="Calibri"/>
              </a:rPr>
              <a:t>C=m</a:t>
            </a:r>
            <a:r>
              <a:rPr lang="en-US" sz="2200" baseline="30000" dirty="0">
                <a:latin typeface="Calibri"/>
              </a:rPr>
              <a:t>e</a:t>
            </a:r>
            <a:r>
              <a:rPr lang="en-US" sz="2200" dirty="0">
                <a:latin typeface="Calibri"/>
              </a:rPr>
              <a:t> mod(n)</a:t>
            </a:r>
          </a:p>
        </p:txBody>
      </p:sp>
      <p:sp>
        <p:nvSpPr>
          <p:cNvPr id="4" name="Rectangle 3"/>
          <p:cNvSpPr/>
          <p:nvPr/>
        </p:nvSpPr>
        <p:spPr>
          <a:xfrm>
            <a:off x="941832" y="4233672"/>
            <a:ext cx="7760208" cy="646176"/>
          </a:xfrm>
          <a:prstGeom prst="rect">
            <a:avLst/>
          </a:prstGeom>
        </p:spPr>
        <p:txBody>
          <a:bodyPr lIns="0" tIns="0" rIns="0" bIns="0">
            <a:noAutofit/>
          </a:bodyPr>
          <a:lstStyle/>
          <a:p>
            <a:pPr indent="0" algn="just">
              <a:lnSpc>
                <a:spcPts val="2832"/>
              </a:lnSpc>
              <a:spcBef>
                <a:spcPts val="3570"/>
              </a:spcBef>
            </a:pPr>
            <a:r>
              <a:rPr lang="en-US" sz="2200" dirty="0">
                <a:latin typeface="Calibri"/>
              </a:rPr>
              <a:t>This can be done quickly using the method of exponentiation by squaring. Bob then sends c to Alice.</a:t>
            </a:r>
          </a:p>
        </p:txBody>
      </p:sp>
      <p:sp>
        <p:nvSpPr>
          <p:cNvPr id="5" name="Date Placeholder 4"/>
          <p:cNvSpPr>
            <a:spLocks noGrp="1"/>
          </p:cNvSpPr>
          <p:nvPr>
            <p:ph type="dt" sz="half" idx="10"/>
          </p:nvPr>
        </p:nvSpPr>
        <p:spPr/>
        <p:txBody>
          <a:bodyPr/>
          <a:lstStyle/>
          <a:p>
            <a:fld id="{048C5DFC-A01B-47AD-BF0A-D05769FC36B3}"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111</a:t>
            </a:fld>
            <a:endParaRPr lang="en-US"/>
          </a:p>
        </p:txBody>
      </p:sp>
      <p:sp>
        <p:nvSpPr>
          <p:cNvPr id="8"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9328" y="981456"/>
            <a:ext cx="7970520" cy="265176"/>
          </a:xfrm>
          <a:prstGeom prst="rect">
            <a:avLst/>
          </a:prstGeom>
        </p:spPr>
        <p:txBody>
          <a:bodyPr wrap="none" lIns="0" tIns="0" rIns="0" bIns="0">
            <a:noAutofit/>
          </a:bodyPr>
          <a:lstStyle/>
          <a:p>
            <a:pPr indent="0"/>
            <a:r>
              <a:rPr lang="en-US" sz="2300" b="1">
                <a:solidFill>
                  <a:srgbClr val="252525"/>
                </a:solidFill>
                <a:latin typeface="Calibri"/>
              </a:rPr>
              <a:t>Decrypting message</a:t>
            </a:r>
          </a:p>
        </p:txBody>
      </p:sp>
      <p:sp>
        <p:nvSpPr>
          <p:cNvPr id="3" name="Rectangle 2"/>
          <p:cNvSpPr/>
          <p:nvPr/>
        </p:nvSpPr>
        <p:spPr>
          <a:xfrm>
            <a:off x="719328" y="1423416"/>
            <a:ext cx="7970520" cy="627888"/>
          </a:xfrm>
          <a:prstGeom prst="rect">
            <a:avLst/>
          </a:prstGeom>
        </p:spPr>
        <p:txBody>
          <a:bodyPr lIns="0" tIns="0" rIns="0" bIns="0">
            <a:noAutofit/>
          </a:bodyPr>
          <a:lstStyle/>
          <a:p>
            <a:pPr indent="0" algn="just">
              <a:lnSpc>
                <a:spcPts val="2808"/>
              </a:lnSpc>
              <a:spcAft>
                <a:spcPts val="2730"/>
              </a:spcAft>
            </a:pPr>
            <a:r>
              <a:rPr lang="en-US" sz="2200">
                <a:solidFill>
                  <a:srgbClr val="252525"/>
                </a:solidFill>
                <a:latin typeface="Calibri"/>
              </a:rPr>
              <a:t>Alice can recover m from c by using her private key d in the following procedure:</a:t>
            </a:r>
          </a:p>
        </p:txBody>
      </p:sp>
      <p:sp>
        <p:nvSpPr>
          <p:cNvPr id="4" name="Rectangle 3"/>
          <p:cNvSpPr/>
          <p:nvPr/>
        </p:nvSpPr>
        <p:spPr>
          <a:xfrm>
            <a:off x="969264" y="2657856"/>
            <a:ext cx="7723632" cy="2724912"/>
          </a:xfrm>
          <a:prstGeom prst="rect">
            <a:avLst/>
          </a:prstGeom>
        </p:spPr>
        <p:txBody>
          <a:bodyPr lIns="0" tIns="0" rIns="0" bIns="0">
            <a:noAutofit/>
          </a:bodyPr>
          <a:lstStyle/>
          <a:p>
            <a:pPr indent="0" algn="just">
              <a:lnSpc>
                <a:spcPts val="2784"/>
              </a:lnSpc>
              <a:spcBef>
                <a:spcPts val="2730"/>
              </a:spcBef>
              <a:spcAft>
                <a:spcPts val="210"/>
              </a:spcAft>
            </a:pPr>
            <a:r>
              <a:rPr lang="en-US" sz="2200" dirty="0">
                <a:latin typeface="Calibri"/>
              </a:rPr>
              <a:t>Given m, she can recover the original distinct prime numbers, applying the Chinese remainder theorem to these two </a:t>
            </a:r>
            <a:r>
              <a:rPr lang="en-US" sz="2200" dirty="0" err="1">
                <a:latin typeface="Calibri"/>
              </a:rPr>
              <a:t>congruences</a:t>
            </a:r>
            <a:r>
              <a:rPr lang="en-US" sz="2200" dirty="0">
                <a:latin typeface="Calibri"/>
              </a:rPr>
              <a:t> yields</a:t>
            </a:r>
          </a:p>
          <a:p>
            <a:pPr marL="242316" indent="0">
              <a:spcAft>
                <a:spcPts val="1260"/>
              </a:spcAft>
            </a:pPr>
            <a:r>
              <a:rPr lang="en-US" sz="2200" dirty="0">
                <a:solidFill>
                  <a:srgbClr val="252525"/>
                </a:solidFill>
                <a:latin typeface="Calibri"/>
              </a:rPr>
              <a:t>m</a:t>
            </a:r>
            <a:r>
              <a:rPr lang="en-US" sz="2200" baseline="30000" dirty="0">
                <a:solidFill>
                  <a:srgbClr val="252525"/>
                </a:solidFill>
                <a:latin typeface="Calibri"/>
              </a:rPr>
              <a:t>ed</a:t>
            </a:r>
            <a:r>
              <a:rPr lang="en-US" sz="2200" dirty="0">
                <a:solidFill>
                  <a:srgbClr val="252525"/>
                </a:solidFill>
                <a:latin typeface="Calibri"/>
              </a:rPr>
              <a:t> = m mod(</a:t>
            </a:r>
            <a:r>
              <a:rPr lang="en-US" sz="2200" dirty="0" err="1">
                <a:solidFill>
                  <a:srgbClr val="252525"/>
                </a:solidFill>
                <a:latin typeface="Calibri"/>
              </a:rPr>
              <a:t>pq</a:t>
            </a:r>
            <a:r>
              <a:rPr lang="en-US" sz="2200" dirty="0">
                <a:solidFill>
                  <a:srgbClr val="252525"/>
                </a:solidFill>
                <a:latin typeface="Calibri"/>
              </a:rPr>
              <a:t>).</a:t>
            </a:r>
          </a:p>
          <a:p>
            <a:pPr marL="242316" indent="0">
              <a:spcAft>
                <a:spcPts val="840"/>
              </a:spcAft>
            </a:pPr>
            <a:r>
              <a:rPr lang="en-US" sz="2200" dirty="0">
                <a:solidFill>
                  <a:srgbClr val="252525"/>
                </a:solidFill>
                <a:latin typeface="Calibri"/>
              </a:rPr>
              <a:t>Thus,</a:t>
            </a:r>
          </a:p>
          <a:p>
            <a:pPr marL="242316" indent="0">
              <a:spcAft>
                <a:spcPts val="840"/>
              </a:spcAft>
            </a:pPr>
            <a:r>
              <a:rPr lang="en-US" sz="2200" dirty="0">
                <a:solidFill>
                  <a:srgbClr val="252525"/>
                </a:solidFill>
                <a:latin typeface="Calibri"/>
              </a:rPr>
              <a:t>c</a:t>
            </a:r>
            <a:r>
              <a:rPr lang="en-US" sz="2200" baseline="30000" dirty="0">
                <a:solidFill>
                  <a:srgbClr val="252525"/>
                </a:solidFill>
                <a:latin typeface="Calibri"/>
              </a:rPr>
              <a:t>d</a:t>
            </a:r>
            <a:r>
              <a:rPr lang="en-US" sz="2200" dirty="0">
                <a:solidFill>
                  <a:srgbClr val="252525"/>
                </a:solidFill>
                <a:latin typeface="Calibri"/>
              </a:rPr>
              <a:t> = m mod n.</a:t>
            </a:r>
          </a:p>
          <a:p>
            <a:pPr marL="242316" indent="0"/>
            <a:r>
              <a:rPr lang="en-US" sz="2200" dirty="0">
                <a:solidFill>
                  <a:srgbClr val="252525"/>
                </a:solidFill>
                <a:latin typeface="Calibri"/>
              </a:rPr>
              <a:t>An Example of RSA</a:t>
            </a:r>
          </a:p>
        </p:txBody>
      </p:sp>
      <p:sp>
        <p:nvSpPr>
          <p:cNvPr id="5" name="Date Placeholder 4"/>
          <p:cNvSpPr>
            <a:spLocks noGrp="1"/>
          </p:cNvSpPr>
          <p:nvPr>
            <p:ph type="dt" sz="half" idx="10"/>
          </p:nvPr>
        </p:nvSpPr>
        <p:spPr/>
        <p:txBody>
          <a:bodyPr/>
          <a:lstStyle/>
          <a:p>
            <a:fld id="{9E54A5B0-50D5-47DE-B823-CEEDEFF5C14E}" type="datetime1">
              <a:rPr lang="en-US" smtClean="0"/>
              <a:t>4/29/2022</a:t>
            </a:fld>
            <a:endParaRPr lang="en-US"/>
          </a:p>
        </p:txBody>
      </p:sp>
      <p:sp>
        <p:nvSpPr>
          <p:cNvPr id="7" name="Slide Number Placeholder 6"/>
          <p:cNvSpPr>
            <a:spLocks noGrp="1"/>
          </p:cNvSpPr>
          <p:nvPr>
            <p:ph type="sldNum" sz="quarter" idx="12"/>
          </p:nvPr>
        </p:nvSpPr>
        <p:spPr/>
        <p:txBody>
          <a:bodyPr/>
          <a:lstStyle/>
          <a:p>
            <a:fld id="{A0B67B60-8227-4ECE-9065-6110C6EB035F}" type="slidenum">
              <a:rPr lang="en-US" smtClean="0"/>
              <a:t>112</a:t>
            </a:fld>
            <a:endParaRPr lang="en-US"/>
          </a:p>
        </p:txBody>
      </p:sp>
      <p:sp>
        <p:nvSpPr>
          <p:cNvPr id="8"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13232" y="975360"/>
            <a:ext cx="7979664" cy="5163312"/>
          </a:xfrm>
          <a:prstGeom prst="rect">
            <a:avLst/>
          </a:prstGeom>
        </p:spPr>
        <p:txBody>
          <a:bodyPr lIns="0" tIns="0" rIns="0" bIns="0">
            <a:noAutofit/>
          </a:bodyPr>
          <a:lstStyle/>
          <a:p>
            <a:pPr marL="295148" indent="0" algn="just">
              <a:lnSpc>
                <a:spcPts val="2904"/>
              </a:lnSpc>
            </a:pPr>
            <a:r>
              <a:rPr lang="en-US" sz="2200">
                <a:solidFill>
                  <a:srgbClr val="252525"/>
                </a:solidFill>
                <a:latin typeface="Calibri"/>
              </a:rPr>
              <a:t>1.</a:t>
            </a:r>
            <a:r>
              <a:rPr lang="en-US" sz="2200">
                <a:latin typeface="Calibri"/>
              </a:rPr>
              <a:t> </a:t>
            </a:r>
            <a:r>
              <a:rPr lang="en-US" sz="2200">
                <a:solidFill>
                  <a:srgbClr val="252525"/>
                </a:solidFill>
                <a:latin typeface="Calibri"/>
              </a:rPr>
              <a:t>Choose two random prime numbers.</a:t>
            </a:r>
          </a:p>
          <a:p>
            <a:pPr marL="295148" indent="0" algn="just">
              <a:lnSpc>
                <a:spcPts val="2904"/>
              </a:lnSpc>
            </a:pPr>
            <a:r>
              <a:rPr lang="en-US" sz="2200">
                <a:solidFill>
                  <a:srgbClr val="252525"/>
                </a:solidFill>
                <a:latin typeface="Calibri"/>
              </a:rPr>
              <a:t>2.    :p = 61 and q = 53 Compute n = pq</a:t>
            </a:r>
          </a:p>
          <a:p>
            <a:pPr marL="295148" indent="0" algn="just">
              <a:lnSpc>
                <a:spcPts val="2904"/>
              </a:lnSpc>
            </a:pPr>
            <a:r>
              <a:rPr lang="en-US" sz="2200">
                <a:solidFill>
                  <a:srgbClr val="252525"/>
                </a:solidFill>
                <a:latin typeface="Calibri"/>
              </a:rPr>
              <a:t>3.    :n = 61*53 = 3233</a:t>
            </a:r>
          </a:p>
          <a:p>
            <a:pPr marL="295148" indent="0" algn="just">
              <a:lnSpc>
                <a:spcPts val="2904"/>
              </a:lnSpc>
            </a:pPr>
            <a:r>
              <a:rPr lang="en-US" sz="2200">
                <a:solidFill>
                  <a:srgbClr val="252525"/>
                </a:solidFill>
                <a:latin typeface="Calibri"/>
              </a:rPr>
              <a:t>4.</a:t>
            </a:r>
            <a:r>
              <a:rPr lang="en-US" sz="2200">
                <a:latin typeface="Calibri"/>
              </a:rPr>
              <a:t> </a:t>
            </a:r>
            <a:r>
              <a:rPr lang="en-US" sz="2200">
                <a:solidFill>
                  <a:srgbClr val="252525"/>
                </a:solidFill>
                <a:latin typeface="Calibri"/>
              </a:rPr>
              <a:t>Compute the totient : *(n) =(p-1)(q-1).</a:t>
            </a:r>
          </a:p>
          <a:p>
            <a:pPr marL="295148" indent="0" algn="just">
              <a:lnSpc>
                <a:spcPts val="2904"/>
              </a:lnSpc>
            </a:pPr>
            <a:r>
              <a:rPr lang="en-US" sz="2200">
                <a:solidFill>
                  <a:srgbClr val="252525"/>
                </a:solidFill>
                <a:latin typeface="Calibri"/>
              </a:rPr>
              <a:t>5.</a:t>
            </a:r>
            <a:r>
              <a:rPr lang="en-US" sz="2200">
                <a:latin typeface="Calibri"/>
              </a:rPr>
              <a:t> </a:t>
            </a:r>
            <a:r>
              <a:rPr lang="en-US" sz="2200">
                <a:solidFill>
                  <a:srgbClr val="252525"/>
                </a:solidFill>
                <a:latin typeface="Calibri"/>
              </a:rPr>
              <a:t>+(n) = (61-1)(53-1) = 3120</a:t>
            </a:r>
          </a:p>
          <a:p>
            <a:pPr marL="295148" indent="0" algn="just">
              <a:lnSpc>
                <a:spcPts val="2904"/>
              </a:lnSpc>
            </a:pPr>
            <a:r>
              <a:rPr lang="en-US" sz="2200">
                <a:solidFill>
                  <a:srgbClr val="252525"/>
                </a:solidFill>
                <a:latin typeface="Calibri"/>
              </a:rPr>
              <a:t>6.</a:t>
            </a:r>
            <a:r>
              <a:rPr lang="en-US" sz="2200">
                <a:latin typeface="Calibri"/>
              </a:rPr>
              <a:t> </a:t>
            </a:r>
            <a:r>
              <a:rPr lang="en-US" sz="2200">
                <a:solidFill>
                  <a:srgbClr val="252525"/>
                </a:solidFill>
                <a:latin typeface="Calibri"/>
              </a:rPr>
              <a:t>Choose e&gt;1 coprime to 3120</a:t>
            </a:r>
          </a:p>
          <a:p>
            <a:pPr marL="295148" indent="0" algn="just">
              <a:lnSpc>
                <a:spcPts val="2904"/>
              </a:lnSpc>
            </a:pPr>
            <a:r>
              <a:rPr lang="en-US" sz="2200">
                <a:solidFill>
                  <a:srgbClr val="252525"/>
                </a:solidFill>
                <a:latin typeface="Calibri"/>
              </a:rPr>
              <a:t>7.    :e=17</a:t>
            </a:r>
          </a:p>
          <a:p>
            <a:pPr marL="295148" indent="0" algn="just">
              <a:lnSpc>
                <a:spcPts val="2904"/>
              </a:lnSpc>
            </a:pPr>
            <a:r>
              <a:rPr lang="en-US" sz="2200">
                <a:solidFill>
                  <a:srgbClr val="252525"/>
                </a:solidFill>
                <a:latin typeface="Calibri"/>
              </a:rPr>
              <a:t>8.</a:t>
            </a:r>
            <a:r>
              <a:rPr lang="en-US" sz="2200">
                <a:latin typeface="Calibri"/>
              </a:rPr>
              <a:t> </a:t>
            </a:r>
            <a:r>
              <a:rPr lang="en-US" sz="2200">
                <a:solidFill>
                  <a:srgbClr val="252525"/>
                </a:solidFill>
                <a:latin typeface="Calibri"/>
              </a:rPr>
              <a:t>Choose d to satisfy de E1. Mod(*(n))</a:t>
            </a:r>
          </a:p>
          <a:p>
            <a:pPr marL="295148" indent="0" algn="just">
              <a:lnSpc>
                <a:spcPts val="2904"/>
              </a:lnSpc>
            </a:pPr>
            <a:r>
              <a:rPr lang="en-US" sz="2200">
                <a:solidFill>
                  <a:srgbClr val="252525"/>
                </a:solidFill>
                <a:latin typeface="Calibri"/>
              </a:rPr>
              <a:t>9.    :d=2753</a:t>
            </a:r>
          </a:p>
          <a:p>
            <a:pPr marL="295148" indent="0" algn="just">
              <a:lnSpc>
                <a:spcPts val="2904"/>
              </a:lnSpc>
              <a:spcAft>
                <a:spcPts val="2100"/>
              </a:spcAft>
            </a:pPr>
            <a:r>
              <a:rPr lang="en-US" sz="2200">
                <a:solidFill>
                  <a:srgbClr val="252525"/>
                </a:solidFill>
                <a:latin typeface="Calibri"/>
              </a:rPr>
              <a:t>10.    :17*2753 = 46801= 1+15*3120.</a:t>
            </a:r>
          </a:p>
          <a:p>
            <a:pPr indent="0" algn="just">
              <a:lnSpc>
                <a:spcPts val="2808"/>
              </a:lnSpc>
              <a:spcAft>
                <a:spcPts val="210"/>
              </a:spcAft>
            </a:pPr>
            <a:r>
              <a:rPr lang="en-US" sz="2200">
                <a:solidFill>
                  <a:srgbClr val="252525"/>
                </a:solidFill>
                <a:latin typeface="Calibri"/>
              </a:rPr>
              <a:t>The public key is (n=3233, e=17). For a padded message m the encryption function c=m</a:t>
            </a:r>
            <a:r>
              <a:rPr lang="en-US" sz="2200" baseline="30000">
                <a:solidFill>
                  <a:srgbClr val="252525"/>
                </a:solidFill>
                <a:latin typeface="Calibri"/>
              </a:rPr>
              <a:t>e</a:t>
            </a:r>
            <a:r>
              <a:rPr lang="en-US" sz="2200">
                <a:solidFill>
                  <a:srgbClr val="252525"/>
                </a:solidFill>
                <a:latin typeface="Calibri"/>
              </a:rPr>
              <a:t> mod n becomes:</a:t>
            </a:r>
          </a:p>
          <a:p>
            <a:pPr marL="485648" indent="0"/>
            <a:r>
              <a:rPr lang="en-US" sz="2200">
                <a:solidFill>
                  <a:srgbClr val="252525"/>
                </a:solidFill>
                <a:latin typeface="Calibri"/>
              </a:rPr>
              <a:t>c= m</a:t>
            </a:r>
            <a:r>
              <a:rPr lang="en-US" sz="2200" baseline="30000">
                <a:solidFill>
                  <a:srgbClr val="252525"/>
                </a:solidFill>
                <a:latin typeface="Calibri"/>
              </a:rPr>
              <a:t>17</a:t>
            </a:r>
            <a:r>
              <a:rPr lang="en-US" sz="2200">
                <a:solidFill>
                  <a:srgbClr val="252525"/>
                </a:solidFill>
                <a:latin typeface="Calibri"/>
              </a:rPr>
              <a:t> mod 3233</a:t>
            </a:r>
          </a:p>
        </p:txBody>
      </p:sp>
      <p:sp>
        <p:nvSpPr>
          <p:cNvPr id="3" name="Date Placeholder 2"/>
          <p:cNvSpPr>
            <a:spLocks noGrp="1"/>
          </p:cNvSpPr>
          <p:nvPr>
            <p:ph type="dt" sz="half" idx="10"/>
          </p:nvPr>
        </p:nvSpPr>
        <p:spPr/>
        <p:txBody>
          <a:bodyPr/>
          <a:lstStyle/>
          <a:p>
            <a:fld id="{1849B898-45C3-4E41-A7C3-5739D0E65C3D}"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113</a:t>
            </a:fld>
            <a:endParaRPr lang="en-US"/>
          </a:p>
        </p:txBody>
      </p:sp>
      <p:sp>
        <p:nvSpPr>
          <p:cNvPr id="6"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957072" y="969264"/>
            <a:ext cx="6007608" cy="1033272"/>
          </a:xfrm>
          <a:prstGeom prst="rect">
            <a:avLst/>
          </a:prstGeom>
        </p:spPr>
        <p:txBody>
          <a:bodyPr lIns="0" tIns="0" rIns="0" bIns="0">
            <a:noAutofit/>
          </a:bodyPr>
          <a:lstStyle/>
          <a:p>
            <a:pPr>
              <a:lnSpc>
                <a:spcPts val="2784"/>
              </a:lnSpc>
              <a:spcAft>
                <a:spcPts val="210"/>
              </a:spcAft>
            </a:pPr>
            <a:endParaRPr lang="en-US" sz="2000" dirty="0">
              <a:solidFill>
                <a:srgbClr val="252525"/>
              </a:solidFill>
            </a:endParaRPr>
          </a:p>
          <a:p>
            <a:pPr indent="0">
              <a:lnSpc>
                <a:spcPts val="2784"/>
              </a:lnSpc>
              <a:spcAft>
                <a:spcPts val="210"/>
              </a:spcAft>
            </a:pPr>
            <a:endParaRPr lang="en-US" sz="2200" dirty="0">
              <a:solidFill>
                <a:srgbClr val="252525"/>
              </a:solidFill>
              <a:latin typeface="Calibri"/>
            </a:endParaRPr>
          </a:p>
          <a:p>
            <a:pPr indent="0">
              <a:lnSpc>
                <a:spcPts val="2784"/>
              </a:lnSpc>
              <a:spcAft>
                <a:spcPts val="210"/>
              </a:spcAft>
            </a:pPr>
            <a:r>
              <a:rPr lang="en-US" sz="2200" dirty="0">
                <a:solidFill>
                  <a:srgbClr val="252525"/>
                </a:solidFill>
                <a:latin typeface="Calibri"/>
              </a:rPr>
              <a:t>The private key is (n=3233, d=2753). The </a:t>
            </a:r>
            <a:r>
              <a:rPr lang="en-US" sz="2400" dirty="0">
                <a:solidFill>
                  <a:srgbClr val="252525"/>
                </a:solidFill>
              </a:rPr>
              <a:t>decryption </a:t>
            </a:r>
            <a:r>
              <a:rPr lang="en-US" sz="2200" dirty="0">
                <a:solidFill>
                  <a:srgbClr val="252525"/>
                </a:solidFill>
                <a:latin typeface="Calibri"/>
              </a:rPr>
              <a:t>function m=c</a:t>
            </a:r>
            <a:r>
              <a:rPr lang="en-US" sz="2200" baseline="30000" dirty="0">
                <a:solidFill>
                  <a:srgbClr val="252525"/>
                </a:solidFill>
                <a:latin typeface="Calibri"/>
              </a:rPr>
              <a:t>d</a:t>
            </a:r>
            <a:r>
              <a:rPr lang="en-US" sz="2200" dirty="0">
                <a:solidFill>
                  <a:srgbClr val="252525"/>
                </a:solidFill>
                <a:latin typeface="Calibri"/>
              </a:rPr>
              <a:t> mod n becomes:</a:t>
            </a:r>
          </a:p>
          <a:p>
            <a:pPr indent="0">
              <a:lnSpc>
                <a:spcPts val="2784"/>
              </a:lnSpc>
              <a:spcAft>
                <a:spcPts val="210"/>
              </a:spcAft>
            </a:pPr>
            <a:endParaRPr lang="en-US" sz="2200" dirty="0">
              <a:solidFill>
                <a:srgbClr val="252525"/>
              </a:solidFill>
              <a:latin typeface="Calibri"/>
            </a:endParaRPr>
          </a:p>
          <a:p>
            <a:pPr marL="267208" indent="0">
              <a:spcAft>
                <a:spcPts val="3150"/>
              </a:spcAft>
            </a:pPr>
            <a:r>
              <a:rPr lang="en-US" sz="2200" dirty="0">
                <a:solidFill>
                  <a:srgbClr val="252525"/>
                </a:solidFill>
                <a:latin typeface="Calibri"/>
              </a:rPr>
              <a:t>m = c</a:t>
            </a:r>
            <a:r>
              <a:rPr lang="en-US" sz="2200" baseline="30000" dirty="0">
                <a:solidFill>
                  <a:srgbClr val="252525"/>
                </a:solidFill>
                <a:latin typeface="Calibri"/>
              </a:rPr>
              <a:t>2753</a:t>
            </a:r>
            <a:r>
              <a:rPr lang="en-US" sz="2200" dirty="0">
                <a:solidFill>
                  <a:srgbClr val="252525"/>
                </a:solidFill>
                <a:latin typeface="Calibri"/>
              </a:rPr>
              <a:t> mod 3233</a:t>
            </a:r>
          </a:p>
        </p:txBody>
      </p:sp>
      <p:sp>
        <p:nvSpPr>
          <p:cNvPr id="3" name="Rectangle 2"/>
          <p:cNvSpPr/>
          <p:nvPr/>
        </p:nvSpPr>
        <p:spPr>
          <a:xfrm>
            <a:off x="1024715" y="3220465"/>
            <a:ext cx="6407404" cy="1152144"/>
          </a:xfrm>
          <a:prstGeom prst="rect">
            <a:avLst/>
          </a:prstGeom>
        </p:spPr>
        <p:txBody>
          <a:bodyPr lIns="0" tIns="0" rIns="0" bIns="0">
            <a:noAutofit/>
          </a:bodyPr>
          <a:lstStyle/>
          <a:p>
            <a:pPr indent="0">
              <a:lnSpc>
                <a:spcPts val="3408"/>
              </a:lnSpc>
              <a:spcBef>
                <a:spcPts val="3150"/>
              </a:spcBef>
              <a:spcAft>
                <a:spcPts val="1890"/>
              </a:spcAft>
            </a:pPr>
            <a:r>
              <a:rPr lang="en-US" sz="2200" dirty="0">
                <a:solidFill>
                  <a:srgbClr val="252525"/>
                </a:solidFill>
                <a:latin typeface="Calibri"/>
              </a:rPr>
              <a:t>For example, to encrypt m = 123, we calculate c = 123</a:t>
            </a:r>
            <a:r>
              <a:rPr lang="en-US" sz="2200" baseline="30000" dirty="0">
                <a:solidFill>
                  <a:srgbClr val="252525"/>
                </a:solidFill>
                <a:latin typeface="Calibri"/>
              </a:rPr>
              <a:t>17</a:t>
            </a:r>
            <a:r>
              <a:rPr lang="en-US" sz="2200" dirty="0">
                <a:solidFill>
                  <a:srgbClr val="252525"/>
                </a:solidFill>
                <a:latin typeface="Calibri"/>
              </a:rPr>
              <a:t> mod 3233 = 855 To decrypt c =855, we calculate</a:t>
            </a:r>
          </a:p>
        </p:txBody>
      </p:sp>
      <p:sp>
        <p:nvSpPr>
          <p:cNvPr id="4" name="Rectangle 3"/>
          <p:cNvSpPr/>
          <p:nvPr/>
        </p:nvSpPr>
        <p:spPr>
          <a:xfrm>
            <a:off x="7403592" y="975360"/>
            <a:ext cx="1283208" cy="286512"/>
          </a:xfrm>
          <a:prstGeom prst="rect">
            <a:avLst/>
          </a:prstGeom>
        </p:spPr>
        <p:txBody>
          <a:bodyPr wrap="none" lIns="0" tIns="0" rIns="0" bIns="0">
            <a:noAutofit/>
          </a:bodyPr>
          <a:lstStyle/>
          <a:p>
            <a:pPr indent="0"/>
            <a:endParaRPr lang="en-US" sz="2300" dirty="0">
              <a:solidFill>
                <a:srgbClr val="252525"/>
              </a:solidFill>
              <a:latin typeface="Calibri"/>
            </a:endParaRPr>
          </a:p>
        </p:txBody>
      </p:sp>
      <p:sp>
        <p:nvSpPr>
          <p:cNvPr id="5" name="Rectangle 4"/>
          <p:cNvSpPr/>
          <p:nvPr/>
        </p:nvSpPr>
        <p:spPr>
          <a:xfrm>
            <a:off x="2163651" y="4657344"/>
            <a:ext cx="3273552" cy="262128"/>
          </a:xfrm>
          <a:prstGeom prst="rect">
            <a:avLst/>
          </a:prstGeom>
        </p:spPr>
        <p:txBody>
          <a:bodyPr wrap="none" lIns="0" tIns="0" rIns="0" bIns="0">
            <a:noAutofit/>
          </a:bodyPr>
          <a:lstStyle/>
          <a:p>
            <a:pPr indent="0">
              <a:spcBef>
                <a:spcPts val="1890"/>
              </a:spcBef>
            </a:pPr>
            <a:r>
              <a:rPr lang="en-US" sz="2200" dirty="0">
                <a:solidFill>
                  <a:srgbClr val="252525"/>
                </a:solidFill>
                <a:latin typeface="Calibri"/>
              </a:rPr>
              <a:t>M =85 5</a:t>
            </a:r>
            <a:r>
              <a:rPr lang="en-US" sz="2200" baseline="30000" dirty="0">
                <a:solidFill>
                  <a:srgbClr val="252525"/>
                </a:solidFill>
                <a:latin typeface="Calibri"/>
              </a:rPr>
              <a:t>2753</a:t>
            </a:r>
            <a:r>
              <a:rPr lang="en-US" sz="2200" dirty="0">
                <a:solidFill>
                  <a:srgbClr val="252525"/>
                </a:solidFill>
                <a:latin typeface="Calibri"/>
              </a:rPr>
              <a:t> mod 3233 = 123</a:t>
            </a:r>
          </a:p>
        </p:txBody>
      </p:sp>
      <p:sp>
        <p:nvSpPr>
          <p:cNvPr id="6" name="Date Placeholder 5"/>
          <p:cNvSpPr>
            <a:spLocks noGrp="1"/>
          </p:cNvSpPr>
          <p:nvPr>
            <p:ph type="dt" sz="half" idx="10"/>
          </p:nvPr>
        </p:nvSpPr>
        <p:spPr/>
        <p:txBody>
          <a:bodyPr/>
          <a:lstStyle/>
          <a:p>
            <a:fld id="{E5EB1761-C2ED-45CC-B809-71B5CA772300}" type="datetime1">
              <a:rPr lang="en-US" smtClean="0"/>
              <a:t>4/29/2022</a:t>
            </a:fld>
            <a:endParaRPr lang="en-US"/>
          </a:p>
        </p:txBody>
      </p:sp>
      <p:sp>
        <p:nvSpPr>
          <p:cNvPr id="8" name="Slide Number Placeholder 7"/>
          <p:cNvSpPr>
            <a:spLocks noGrp="1"/>
          </p:cNvSpPr>
          <p:nvPr>
            <p:ph type="sldNum" sz="quarter" idx="12"/>
          </p:nvPr>
        </p:nvSpPr>
        <p:spPr/>
        <p:txBody>
          <a:bodyPr/>
          <a:lstStyle/>
          <a:p>
            <a:fld id="{A0B67B60-8227-4ECE-9065-6110C6EB035F}" type="slidenum">
              <a:rPr lang="en-US" smtClean="0"/>
              <a:t>114</a:t>
            </a:fld>
            <a:endParaRPr lang="en-US"/>
          </a:p>
        </p:txBody>
      </p:sp>
      <p:sp>
        <p:nvSpPr>
          <p:cNvPr id="9" name="Title 1"/>
          <p:cNvSpPr>
            <a:spLocks noGrp="1"/>
          </p:cNvSpPr>
          <p:nvPr>
            <p:ph type="title"/>
          </p:nvPr>
        </p:nvSpPr>
        <p:spPr>
          <a:xfrm>
            <a:off x="1370862" y="0"/>
            <a:ext cx="7773138" cy="498764"/>
          </a:xfrm>
        </p:spPr>
        <p:txBody>
          <a:bodyPr>
            <a:normAutofit fontScale="90000"/>
          </a:bodyPr>
          <a:lstStyle/>
          <a:p>
            <a:r>
              <a:rPr lang="en-US" b="1" spc="-50" dirty="0"/>
              <a:t>Presentation Layer - OSI Model</a:t>
            </a:r>
            <a:endParaRPr lang="en-US" dirty="0"/>
          </a:p>
        </p:txBody>
      </p:sp>
    </p:spTree>
  </p:cSld>
  <p:clrMapOvr>
    <a:overrideClrMapping bg1="lt1" tx1="dk1" bg2="lt2" tx2="dk2" accent1="accent1" accent2="accent2" accent3="accent3" accent4="accent4" accent5="accent5" accent6="accent6" hlink="hlink" folHlink="folHlink"/>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2128" y="984504"/>
            <a:ext cx="8436864" cy="5279136"/>
          </a:xfrm>
          <a:prstGeom prst="rect">
            <a:avLst/>
          </a:prstGeom>
        </p:spPr>
        <p:txBody>
          <a:bodyPr lIns="0" tIns="0" rIns="0" bIns="0">
            <a:noAutofit/>
          </a:bodyPr>
          <a:lstStyle/>
          <a:p>
            <a:pPr marL="342900" indent="-342900" algn="just">
              <a:lnSpc>
                <a:spcPts val="3024"/>
              </a:lnSpc>
              <a:buFont typeface="Arial" panose="020B0604020202020204" pitchFamily="34" charset="0"/>
              <a:buChar char="•"/>
            </a:pPr>
            <a:endParaRPr lang="en-US" sz="2200" dirty="0">
              <a:latin typeface="Calibri"/>
            </a:endParaRPr>
          </a:p>
          <a:p>
            <a:pPr algn="just">
              <a:lnSpc>
                <a:spcPts val="3024"/>
              </a:lnSpc>
            </a:pPr>
            <a:r>
              <a:rPr lang="en-US" sz="2200" dirty="0">
                <a:latin typeface="Calibri"/>
              </a:rPr>
              <a:t>Recap of Previous topic</a:t>
            </a:r>
          </a:p>
          <a:p>
            <a:pPr marL="342900" indent="-342900" algn="just">
              <a:lnSpc>
                <a:spcPts val="3024"/>
              </a:lnSpc>
              <a:buFont typeface="Arial" panose="020B0604020202020204" pitchFamily="34" charset="0"/>
              <a:buChar char="•"/>
            </a:pPr>
            <a:r>
              <a:rPr lang="en-US" sz="2200" dirty="0">
                <a:latin typeface="Calibri"/>
              </a:rPr>
              <a:t>Presentation layer being the sixth layer of OSI model</a:t>
            </a:r>
          </a:p>
          <a:p>
            <a:pPr marL="342900" indent="-342900" algn="just">
              <a:lnSpc>
                <a:spcPts val="3024"/>
              </a:lnSpc>
              <a:buFont typeface="Arial" panose="020B0604020202020204" pitchFamily="34" charset="0"/>
              <a:buChar char="•"/>
            </a:pPr>
            <a:r>
              <a:rPr lang="en-US" sz="2200" dirty="0">
                <a:latin typeface="Calibri"/>
              </a:rPr>
              <a:t>Supports the encryption and decryption of data</a:t>
            </a:r>
          </a:p>
          <a:p>
            <a:pPr marL="342900" indent="-342900" algn="just">
              <a:lnSpc>
                <a:spcPts val="3024"/>
              </a:lnSpc>
              <a:buFont typeface="Arial" panose="020B0604020202020204" pitchFamily="34" charset="0"/>
              <a:buChar char="•"/>
            </a:pPr>
            <a:r>
              <a:rPr lang="en-US" sz="2200" dirty="0">
                <a:latin typeface="Calibri"/>
              </a:rPr>
              <a:t>Data compression techniques used to transfer data securely and compactly</a:t>
            </a:r>
          </a:p>
          <a:p>
            <a:pPr marL="342900" indent="-342900" algn="just">
              <a:lnSpc>
                <a:spcPts val="3024"/>
              </a:lnSpc>
              <a:buFont typeface="Arial" panose="020B0604020202020204" pitchFamily="34" charset="0"/>
              <a:buChar char="•"/>
            </a:pPr>
            <a:endParaRPr lang="en-US" sz="2200" dirty="0">
              <a:latin typeface="Calibri"/>
            </a:endParaRPr>
          </a:p>
        </p:txBody>
      </p:sp>
      <p:sp>
        <p:nvSpPr>
          <p:cNvPr id="3" name="Date Placeholder 2"/>
          <p:cNvSpPr>
            <a:spLocks noGrp="1"/>
          </p:cNvSpPr>
          <p:nvPr>
            <p:ph type="dt" sz="half" idx="10"/>
          </p:nvPr>
        </p:nvSpPr>
        <p:spPr/>
        <p:txBody>
          <a:bodyPr/>
          <a:lstStyle/>
          <a:p>
            <a:fld id="{50E96BE5-B785-40A5-8950-F5AD7FAB056C}" type="datetime1">
              <a:rPr lang="en-US" smtClean="0"/>
              <a:t>4/29/2022</a:t>
            </a:fld>
            <a:endParaRPr lang="en-US"/>
          </a:p>
        </p:txBody>
      </p:sp>
      <p:sp>
        <p:nvSpPr>
          <p:cNvPr id="5" name="Slide Number Placeholder 4"/>
          <p:cNvSpPr>
            <a:spLocks noGrp="1"/>
          </p:cNvSpPr>
          <p:nvPr>
            <p:ph type="sldNum" sz="quarter" idx="12"/>
          </p:nvPr>
        </p:nvSpPr>
        <p:spPr/>
        <p:txBody>
          <a:bodyPr/>
          <a:lstStyle/>
          <a:p>
            <a:fld id="{A0B67B60-8227-4ECE-9065-6110C6EB035F}" type="slidenum">
              <a:rPr lang="en-US" smtClean="0"/>
              <a:t>115</a:t>
            </a:fld>
            <a:endParaRPr lang="en-US"/>
          </a:p>
        </p:txBody>
      </p:sp>
      <p:sp>
        <p:nvSpPr>
          <p:cNvPr id="6" name="Title 1"/>
          <p:cNvSpPr>
            <a:spLocks noGrp="1"/>
          </p:cNvSpPr>
          <p:nvPr>
            <p:ph type="title"/>
          </p:nvPr>
        </p:nvSpPr>
        <p:spPr>
          <a:xfrm>
            <a:off x="1370862" y="-1"/>
            <a:ext cx="7773138" cy="614149"/>
          </a:xfrm>
        </p:spPr>
        <p:txBody>
          <a:bodyPr>
            <a:normAutofit/>
          </a:bodyPr>
          <a:lstStyle/>
          <a:p>
            <a:r>
              <a:rPr lang="en-US" dirty="0"/>
              <a:t>Presentation Layer (CO1)</a:t>
            </a:r>
          </a:p>
        </p:txBody>
      </p:sp>
    </p:spTree>
    <p:extLst>
      <p:ext uri="{BB962C8B-B14F-4D97-AF65-F5344CB8AC3E}">
        <p14:creationId xmlns:p14="http://schemas.microsoft.com/office/powerpoint/2010/main" val="33763148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497212"/>
            <a:ext cx="8229600" cy="2267287"/>
          </a:xfrm>
        </p:spPr>
        <p:txBody>
          <a:bodyPr/>
          <a:lstStyle/>
          <a:p>
            <a:endParaRPr lang="en-US" sz="2000" dirty="0"/>
          </a:p>
          <a:p>
            <a:pPr marL="0" indent="0">
              <a:buNone/>
            </a:pPr>
            <a:r>
              <a:rPr lang="en-US" sz="2200" b="1" dirty="0" err="1"/>
              <a:t>Youtube</a:t>
            </a:r>
            <a:r>
              <a:rPr lang="en-US" sz="2200" b="1" dirty="0"/>
              <a:t>/other  Video Links</a:t>
            </a:r>
          </a:p>
          <a:p>
            <a:pPr marL="0" indent="0">
              <a:buNone/>
            </a:pPr>
            <a:r>
              <a:rPr lang="en-US" sz="2400" dirty="0">
                <a:hlinkClick r:id="rId2"/>
              </a:rPr>
              <a:t>https://www.youtube.com/watch?v=qdlYJ-Wa8i8</a:t>
            </a:r>
            <a:endParaRPr lang="en-US" sz="2400" dirty="0"/>
          </a:p>
          <a:p>
            <a:pPr marL="0" indent="0">
              <a:buNone/>
            </a:pPr>
            <a:r>
              <a:rPr lang="en-US" sz="2000" dirty="0">
                <a:hlinkClick r:id="rId3"/>
              </a:rPr>
              <a:t>https://www.youtube.com/watch?v=4AroYuhsjL4</a:t>
            </a:r>
            <a:endParaRPr lang="en-US" sz="2000" dirty="0"/>
          </a:p>
          <a:p>
            <a:pPr marL="0" indent="0">
              <a:buNone/>
            </a:pPr>
            <a:r>
              <a:rPr lang="en-US" sz="2000" dirty="0">
                <a:hlinkClick r:id="rId4"/>
              </a:rPr>
              <a:t>https://www.youtube.com/watch?v=qYM4xkeLunY</a:t>
            </a:r>
            <a:endParaRPr lang="en-US" sz="2000" dirty="0"/>
          </a:p>
        </p:txBody>
      </p:sp>
      <p:sp>
        <p:nvSpPr>
          <p:cNvPr id="4" name="Date Placeholder 3"/>
          <p:cNvSpPr>
            <a:spLocks noGrp="1"/>
          </p:cNvSpPr>
          <p:nvPr>
            <p:ph type="dt" sz="half" idx="10"/>
          </p:nvPr>
        </p:nvSpPr>
        <p:spPr/>
        <p:txBody>
          <a:bodyPr/>
          <a:lstStyle/>
          <a:p>
            <a:fld id="{1EA40DD2-FEEA-473E-8613-8231FB4BFF86}"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pic>
        <p:nvPicPr>
          <p:cNvPr id="8" name="Picture 2" descr="E:\NIET\Project\xLogo11.png.pagespeed.ic.pydHLuCQEZ.png"/>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0" name="Title 1"/>
          <p:cNvSpPr>
            <a:spLocks noGrp="1"/>
          </p:cNvSpPr>
          <p:nvPr>
            <p:ph type="title"/>
          </p:nvPr>
        </p:nvSpPr>
        <p:spPr>
          <a:xfrm>
            <a:off x="1370862" y="-1"/>
            <a:ext cx="7773138" cy="817163"/>
          </a:xfrm>
        </p:spPr>
        <p:txBody>
          <a:bodyPr>
            <a:normAutofit fontScale="90000"/>
          </a:bodyPr>
          <a:lstStyle/>
          <a:p>
            <a:pPr lvl="0">
              <a:lnSpc>
                <a:spcPct val="100000"/>
              </a:lnSpc>
              <a:defRPr/>
            </a:pPr>
            <a:r>
              <a:rPr lang="en-US" sz="2800" dirty="0">
                <a:solidFill>
                  <a:schemeClr val="dk1"/>
                </a:solidFill>
              </a:rPr>
              <a:t>Faculty Video Links, </a:t>
            </a:r>
            <a:r>
              <a:rPr lang="en-US" sz="2800" dirty="0" err="1">
                <a:solidFill>
                  <a:schemeClr val="dk1"/>
                </a:solidFill>
              </a:rPr>
              <a:t>Youtube</a:t>
            </a:r>
            <a:r>
              <a:rPr lang="en-US" sz="2800" dirty="0">
                <a:solidFill>
                  <a:schemeClr val="dk1"/>
                </a:solidFill>
              </a:rPr>
              <a:t> &amp; NPTEL Video Links and Online Courses Details  </a:t>
            </a:r>
          </a:p>
        </p:txBody>
      </p:sp>
    </p:spTree>
    <p:extLst>
      <p:ext uri="{BB962C8B-B14F-4D97-AF65-F5344CB8AC3E}">
        <p14:creationId xmlns:p14="http://schemas.microsoft.com/office/powerpoint/2010/main" val="160720438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81986"/>
          </a:xfrm>
        </p:spPr>
        <p:txBody>
          <a:bodyPr>
            <a:normAutofit/>
          </a:bodyPr>
          <a:lstStyle/>
          <a:p>
            <a:pPr marL="711200" indent="-457200">
              <a:lnSpc>
                <a:spcPts val="3024"/>
              </a:lnSpc>
              <a:spcAft>
                <a:spcPts val="420"/>
              </a:spcAft>
              <a:buFont typeface="+mj-lt"/>
              <a:buAutoNum type="arabicPeriod"/>
            </a:pPr>
            <a:r>
              <a:rPr lang="en-US" dirty="0"/>
              <a:t>The transport protocol improves the ____________provided by the network layer.</a:t>
            </a:r>
          </a:p>
          <a:p>
            <a:pPr marL="711200" indent="-457200">
              <a:lnSpc>
                <a:spcPts val="3024"/>
              </a:lnSpc>
              <a:spcAft>
                <a:spcPts val="420"/>
              </a:spcAft>
              <a:buFont typeface="+mj-lt"/>
              <a:buAutoNum type="arabicPeriod"/>
            </a:pPr>
            <a:r>
              <a:rPr lang="en-US" dirty="0">
                <a:solidFill>
                  <a:srgbClr val="3B3049"/>
                </a:solidFill>
              </a:rPr>
              <a:t>_________ is  unauthorized access to or interception of data</a:t>
            </a:r>
          </a:p>
          <a:p>
            <a:pPr marL="711200" indent="-457200">
              <a:lnSpc>
                <a:spcPts val="3024"/>
              </a:lnSpc>
              <a:spcAft>
                <a:spcPts val="420"/>
              </a:spcAft>
              <a:buFont typeface="+mj-lt"/>
              <a:buAutoNum type="arabicPeriod"/>
            </a:pPr>
            <a:r>
              <a:rPr lang="en-US" sz="2200" dirty="0"/>
              <a:t>The Full form of RSA is </a:t>
            </a:r>
            <a:r>
              <a:rPr lang="en-US" sz="2200" b="1" dirty="0"/>
              <a:t>__________.</a:t>
            </a:r>
          </a:p>
          <a:p>
            <a:pPr marL="711200" indent="-457200">
              <a:lnSpc>
                <a:spcPts val="3024"/>
              </a:lnSpc>
              <a:spcAft>
                <a:spcPts val="420"/>
              </a:spcAft>
              <a:buFont typeface="+mj-lt"/>
              <a:buAutoNum type="arabicPeriod"/>
            </a:pPr>
            <a:r>
              <a:rPr lang="en-US" dirty="0"/>
              <a:t>________responds to service requests from the presentation layer and issues service requests to the transport layer.</a:t>
            </a:r>
          </a:p>
          <a:p>
            <a:pPr marL="711200" indent="-457200">
              <a:lnSpc>
                <a:spcPts val="3024"/>
              </a:lnSpc>
              <a:spcAft>
                <a:spcPts val="420"/>
              </a:spcAft>
              <a:buFont typeface="+mj-lt"/>
              <a:buAutoNum type="arabicPeriod"/>
            </a:pPr>
            <a:r>
              <a:rPr lang="en-US" dirty="0"/>
              <a:t>The ____________address is the address of the application program that has created the message.</a:t>
            </a:r>
          </a:p>
          <a:p>
            <a:pPr marL="711200" indent="-457200">
              <a:lnSpc>
                <a:spcPts val="3024"/>
              </a:lnSpc>
              <a:spcAft>
                <a:spcPts val="420"/>
              </a:spcAft>
              <a:buFont typeface="+mj-lt"/>
              <a:buAutoNum type="arabicPeriod"/>
            </a:pPr>
            <a:r>
              <a:rPr lang="en-US" dirty="0"/>
              <a:t>When transferring data, the primary goal of reliability is _________</a:t>
            </a:r>
          </a:p>
          <a:p>
            <a:pPr indent="0">
              <a:buNone/>
            </a:pPr>
            <a:endParaRPr lang="en-US" sz="2400" dirty="0"/>
          </a:p>
          <a:p>
            <a:pPr marL="457200">
              <a:buFont typeface="+mj-lt"/>
              <a:buAutoNum type="arabicPeriod"/>
            </a:pPr>
            <a:endParaRPr lang="en-US" altLang="en-US" sz="2400" dirty="0"/>
          </a:p>
          <a:p>
            <a:pPr marL="457200">
              <a:buFont typeface="+mj-lt"/>
              <a:buAutoNum type="arabicPeriod"/>
            </a:pPr>
            <a:endParaRPr lang="en-US" altLang="en-US" sz="2400" dirty="0"/>
          </a:p>
          <a:p>
            <a:pPr marL="457200">
              <a:buFont typeface="+mj-lt"/>
              <a:buAutoNum type="arabicPeriod"/>
            </a:pPr>
            <a:endParaRPr lang="en-US" sz="2400" dirty="0"/>
          </a:p>
          <a:p>
            <a:pPr marL="457200">
              <a:buFont typeface="+mj-lt"/>
              <a:buAutoNum type="arabicPeriod"/>
            </a:pPr>
            <a:endParaRPr lang="en-US" sz="2200" dirty="0"/>
          </a:p>
        </p:txBody>
      </p:sp>
      <p:sp>
        <p:nvSpPr>
          <p:cNvPr id="4" name="Date Placeholder 3"/>
          <p:cNvSpPr>
            <a:spLocks noGrp="1"/>
          </p:cNvSpPr>
          <p:nvPr>
            <p:ph type="dt" sz="half" idx="10"/>
          </p:nvPr>
        </p:nvSpPr>
        <p:spPr/>
        <p:txBody>
          <a:bodyPr/>
          <a:lstStyle/>
          <a:p>
            <a:fld id="{1C7F40A1-8DA1-4C1E-AA4A-4B9995B32283}"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1"/>
            <a:ext cx="7773138" cy="627797"/>
          </a:xfrm>
        </p:spPr>
        <p:txBody>
          <a:bodyPr>
            <a:normAutofit/>
          </a:bodyPr>
          <a:lstStyle/>
          <a:p>
            <a:r>
              <a:rPr lang="en-US" spc="-50" dirty="0"/>
              <a:t>Glossary questions</a:t>
            </a:r>
            <a:endParaRPr lang="en-US" dirty="0"/>
          </a:p>
        </p:txBody>
      </p:sp>
    </p:spTree>
    <p:extLst>
      <p:ext uri="{BB962C8B-B14F-4D97-AF65-F5344CB8AC3E}">
        <p14:creationId xmlns:p14="http://schemas.microsoft.com/office/powerpoint/2010/main" val="3465605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endParaRPr lang="en-US" dirty="0">
              <a:hlinkClick r:id="rId2"/>
            </a:endParaRPr>
          </a:p>
          <a:p>
            <a:endParaRPr lang="en-US" dirty="0">
              <a:hlinkClick r:id="rId2"/>
            </a:endParaRPr>
          </a:p>
          <a:p>
            <a:endParaRPr lang="en-US" dirty="0"/>
          </a:p>
        </p:txBody>
      </p:sp>
      <p:sp>
        <p:nvSpPr>
          <p:cNvPr id="4" name="Date Placeholder 3"/>
          <p:cNvSpPr>
            <a:spLocks noGrp="1"/>
          </p:cNvSpPr>
          <p:nvPr>
            <p:ph type="dt" sz="half" idx="10"/>
          </p:nvPr>
        </p:nvSpPr>
        <p:spPr/>
        <p:txBody>
          <a:bodyPr/>
          <a:lstStyle/>
          <a:p>
            <a:fld id="{659D1211-C257-474D-9F8E-5393A3B616AE}"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pic>
        <p:nvPicPr>
          <p:cNvPr id="8"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5" name="Rectangle 4"/>
          <p:cNvSpPr/>
          <p:nvPr/>
        </p:nvSpPr>
        <p:spPr>
          <a:xfrm>
            <a:off x="685800" y="1143000"/>
            <a:ext cx="8077200" cy="4832092"/>
          </a:xfrm>
          <a:prstGeom prst="rect">
            <a:avLst/>
          </a:prstGeom>
        </p:spPr>
        <p:txBody>
          <a:bodyPr wrap="square">
            <a:spAutoFit/>
          </a:bodyPr>
          <a:lstStyle/>
          <a:p>
            <a:pPr marL="342900" lvl="0" indent="-342900">
              <a:buFont typeface="+mj-lt"/>
              <a:buAutoNum type="arabicPeriod"/>
            </a:pPr>
            <a:r>
              <a:rPr lang="en-US" sz="2200" dirty="0"/>
              <a:t>Demonstrate the scope of the services provided by the TCP	CO4</a:t>
            </a:r>
          </a:p>
          <a:p>
            <a:pPr marL="342900" lvl="0" indent="-342900">
              <a:buFont typeface="+mj-lt"/>
              <a:buAutoNum type="arabicPeriod"/>
            </a:pPr>
            <a:r>
              <a:rPr lang="en-US" sz="2200" dirty="0"/>
              <a:t>Explain the connection establishment management in TCP.      CO4</a:t>
            </a:r>
          </a:p>
          <a:p>
            <a:pPr marL="342900" lvl="0" indent="-342900">
              <a:buFont typeface="+mj-lt"/>
              <a:buAutoNum type="arabicPeriod"/>
            </a:pPr>
            <a:r>
              <a:rPr lang="en-US" sz="2200" dirty="0"/>
              <a:t>Analyze the various technologies used to access remote locations		      	 														CO4</a:t>
            </a:r>
          </a:p>
          <a:p>
            <a:pPr marL="342900" lvl="0" indent="-342900">
              <a:buFont typeface="+mj-lt"/>
              <a:buAutoNum type="arabicPeriod"/>
            </a:pPr>
            <a:r>
              <a:rPr lang="en-US" sz="2200" dirty="0"/>
              <a:t>What is the difference between network layer delivery and the transport layer delivery? 										CO4</a:t>
            </a:r>
          </a:p>
          <a:p>
            <a:pPr marL="342900" lvl="0" indent="-342900">
              <a:buFont typeface="+mj-lt"/>
              <a:buAutoNum type="arabicPeriod"/>
            </a:pPr>
            <a:r>
              <a:rPr lang="en-US" sz="2200" dirty="0"/>
              <a:t>How does transport layer perform duplication control?      	CO4</a:t>
            </a:r>
          </a:p>
          <a:p>
            <a:pPr marL="342900" lvl="0" indent="-342900">
              <a:buFont typeface="+mj-lt"/>
              <a:buAutoNum type="arabicPeriod"/>
            </a:pPr>
            <a:r>
              <a:rPr lang="en-US" sz="2200" dirty="0"/>
              <a:t>Enumerate on TCP header and working of TCP and differentiate TCP and UDP with frame format.      						       CO4</a:t>
            </a:r>
          </a:p>
          <a:p>
            <a:pPr marL="342900" lvl="0" indent="-342900">
              <a:buFont typeface="+mj-lt"/>
              <a:buAutoNum type="arabicPeriod"/>
            </a:pPr>
            <a:r>
              <a:rPr lang="en-US" sz="2200" dirty="0"/>
              <a:t>Explain the three way handshaking protocol to establish the transport level connection  									CO4        </a:t>
            </a:r>
          </a:p>
          <a:p>
            <a:pPr marL="342900" lvl="0" indent="-342900">
              <a:buFont typeface="+mj-lt"/>
              <a:buAutoNum type="arabicPeriod"/>
            </a:pPr>
            <a:r>
              <a:rPr lang="en-US" sz="2200" dirty="0"/>
              <a:t>Enumerate how the transport layer unsure that the complete message arrives at the destination and in the proper order.     CO4       </a:t>
            </a:r>
          </a:p>
          <a:p>
            <a:pPr marL="342900" lvl="0" indent="-342900">
              <a:buFont typeface="+mj-lt"/>
              <a:buAutoNum type="arabicPeriod"/>
            </a:pPr>
            <a:endParaRPr lang="en-US" sz="2200" dirty="0"/>
          </a:p>
        </p:txBody>
      </p:sp>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Weekly Assignment</a:t>
            </a:r>
          </a:p>
        </p:txBody>
      </p:sp>
    </p:spTree>
    <p:extLst>
      <p:ext uri="{BB962C8B-B14F-4D97-AF65-F5344CB8AC3E}">
        <p14:creationId xmlns:p14="http://schemas.microsoft.com/office/powerpoint/2010/main" val="4491909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381D5C-207A-4877-B09C-F4F4A530FDFE}"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MCQ</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84886936"/>
              </p:ext>
            </p:extLst>
          </p:nvPr>
        </p:nvGraphicFramePr>
        <p:xfrm>
          <a:off x="955964" y="1171575"/>
          <a:ext cx="7384471" cy="3556000"/>
        </p:xfrm>
        <a:graphic>
          <a:graphicData uri="http://schemas.openxmlformats.org/drawingml/2006/table">
            <a:tbl>
              <a:tblPr firstRow="1" firstCol="1" bandRow="1">
                <a:tableStyleId>{2D5ABB26-0587-4C30-8999-92F81FD0307C}</a:tableStyleId>
              </a:tblPr>
              <a:tblGrid>
                <a:gridCol w="7384471">
                  <a:extLst>
                    <a:ext uri="{9D8B030D-6E8A-4147-A177-3AD203B41FA5}">
                      <a16:colId xmlns:a16="http://schemas.microsoft.com/office/drawing/2014/main" val="3163662691"/>
                    </a:ext>
                  </a:extLst>
                </a:gridCol>
              </a:tblGrid>
              <a:tr h="914400">
                <a:tc>
                  <a:txBody>
                    <a:bodyPr/>
                    <a:lstStyle/>
                    <a:p>
                      <a:pPr marL="342900" marR="0" lvl="0" indent="-342900">
                        <a:spcBef>
                          <a:spcPts val="0"/>
                        </a:spcBef>
                        <a:spcAft>
                          <a:spcPts val="0"/>
                        </a:spcAft>
                        <a:buFont typeface="+mj-lt"/>
                        <a:buAutoNum type="arabicPeriod"/>
                      </a:pPr>
                      <a:r>
                        <a:rPr lang="en-US" sz="2200" dirty="0">
                          <a:ln>
                            <a:noFill/>
                          </a:ln>
                          <a:effectLst/>
                        </a:rPr>
                        <a:t>UDP is a connectionless protocol as</a:t>
                      </a:r>
                    </a:p>
                    <a:p>
                      <a:pPr marL="342900" marR="0" lvl="0" indent="-342900">
                        <a:spcBef>
                          <a:spcPts val="0"/>
                        </a:spcBef>
                        <a:spcAft>
                          <a:spcPts val="0"/>
                        </a:spcAft>
                        <a:buFont typeface="+mj-lt"/>
                        <a:buAutoNum type="alphaUcPeriod"/>
                      </a:pPr>
                      <a:r>
                        <a:rPr lang="en-US" sz="2200" dirty="0">
                          <a:ln>
                            <a:noFill/>
                          </a:ln>
                          <a:effectLst/>
                        </a:rPr>
                        <a:t>It sends data as a stream of related packets</a:t>
                      </a:r>
                    </a:p>
                    <a:p>
                      <a:pPr marL="342900" marR="0" lvl="0" indent="-342900">
                        <a:spcBef>
                          <a:spcPts val="0"/>
                        </a:spcBef>
                        <a:spcAft>
                          <a:spcPts val="0"/>
                        </a:spcAft>
                        <a:buFont typeface="+mj-lt"/>
                        <a:buAutoNum type="alphaUcPeriod"/>
                      </a:pPr>
                      <a:r>
                        <a:rPr lang="en-US" sz="2200" dirty="0">
                          <a:ln>
                            <a:noFill/>
                          </a:ln>
                          <a:effectLst/>
                        </a:rPr>
                        <a:t>All UDP packets are treated independently by Transport layer</a:t>
                      </a:r>
                    </a:p>
                    <a:p>
                      <a:pPr marL="342900" marR="0" lvl="0" indent="-342900">
                        <a:spcBef>
                          <a:spcPts val="0"/>
                        </a:spcBef>
                        <a:spcAft>
                          <a:spcPts val="0"/>
                        </a:spcAft>
                        <a:buFont typeface="+mj-lt"/>
                        <a:buAutoNum type="alphaUcPeriod"/>
                      </a:pPr>
                      <a:r>
                        <a:rPr lang="en-US" sz="2200" dirty="0">
                          <a:ln>
                            <a:noFill/>
                          </a:ln>
                          <a:effectLst/>
                        </a:rPr>
                        <a:t>It is received in the same order as sent order</a:t>
                      </a:r>
                    </a:p>
                    <a:p>
                      <a:pPr marL="342900" marR="0" lvl="0" indent="-342900">
                        <a:spcBef>
                          <a:spcPts val="0"/>
                        </a:spcBef>
                        <a:spcAft>
                          <a:spcPts val="0"/>
                        </a:spcAft>
                        <a:buFont typeface="+mj-lt"/>
                        <a:buAutoNum type="alphaUcPeriod"/>
                      </a:pPr>
                      <a:r>
                        <a:rPr lang="en-US" sz="2200" dirty="0">
                          <a:ln>
                            <a:noFill/>
                          </a:ln>
                          <a:effectLst/>
                        </a:rPr>
                        <a:t>It sends data very quickly </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1971289229"/>
                  </a:ext>
                </a:extLst>
              </a:tr>
              <a:tr h="914400">
                <a:tc>
                  <a:txBody>
                    <a:bodyPr/>
                    <a:lstStyle/>
                    <a:p>
                      <a:pPr marL="0" marR="0" lvl="0" indent="0">
                        <a:spcBef>
                          <a:spcPts val="0"/>
                        </a:spcBef>
                        <a:spcAft>
                          <a:spcPts val="0"/>
                        </a:spcAft>
                        <a:buFont typeface="+mj-lt"/>
                        <a:buNone/>
                      </a:pPr>
                      <a:r>
                        <a:rPr lang="en-US" sz="2200" dirty="0">
                          <a:ln>
                            <a:noFill/>
                          </a:ln>
                          <a:effectLst/>
                        </a:rPr>
                        <a:t>2.  A _____ is a TCP name for a transport service access point</a:t>
                      </a:r>
                    </a:p>
                    <a:p>
                      <a:pPr marL="342900" marR="0" lvl="0" indent="-342900">
                        <a:spcBef>
                          <a:spcPts val="0"/>
                        </a:spcBef>
                        <a:spcAft>
                          <a:spcPts val="0"/>
                        </a:spcAft>
                        <a:buFont typeface="+mj-lt"/>
                        <a:buAutoNum type="alphaUcPeriod"/>
                      </a:pPr>
                      <a:r>
                        <a:rPr lang="en-US" sz="2200" dirty="0">
                          <a:ln>
                            <a:noFill/>
                          </a:ln>
                          <a:effectLst/>
                        </a:rPr>
                        <a:t>Pipe</a:t>
                      </a:r>
                    </a:p>
                    <a:p>
                      <a:pPr marL="342900" marR="0" lvl="0" indent="-342900">
                        <a:spcBef>
                          <a:spcPts val="0"/>
                        </a:spcBef>
                        <a:spcAft>
                          <a:spcPts val="0"/>
                        </a:spcAft>
                        <a:buFont typeface="+mj-lt"/>
                        <a:buAutoNum type="alphaUcPeriod"/>
                      </a:pPr>
                      <a:r>
                        <a:rPr lang="en-US" sz="2200" dirty="0">
                          <a:ln>
                            <a:noFill/>
                          </a:ln>
                          <a:effectLst/>
                        </a:rPr>
                        <a:t>Port</a:t>
                      </a:r>
                    </a:p>
                    <a:p>
                      <a:pPr marL="342900" marR="0" lvl="0" indent="-342900">
                        <a:spcBef>
                          <a:spcPts val="0"/>
                        </a:spcBef>
                        <a:spcAft>
                          <a:spcPts val="0"/>
                        </a:spcAft>
                        <a:buFont typeface="+mj-lt"/>
                        <a:buAutoNum type="alphaUcPeriod"/>
                      </a:pPr>
                      <a:r>
                        <a:rPr lang="en-US" sz="2200" dirty="0">
                          <a:ln>
                            <a:noFill/>
                          </a:ln>
                          <a:effectLst/>
                        </a:rPr>
                        <a:t>Node</a:t>
                      </a:r>
                    </a:p>
                    <a:p>
                      <a:pPr marL="342900" marR="0" lvl="0" indent="-342900">
                        <a:spcBef>
                          <a:spcPts val="0"/>
                        </a:spcBef>
                        <a:spcAft>
                          <a:spcPts val="0"/>
                        </a:spcAft>
                        <a:buFont typeface="+mj-lt"/>
                        <a:buAutoNum type="alphaUcPeriod"/>
                      </a:pPr>
                      <a:r>
                        <a:rPr lang="en-US" sz="2200" dirty="0">
                          <a:ln>
                            <a:noFill/>
                          </a:ln>
                          <a:effectLst/>
                        </a:rPr>
                        <a:t>protocol</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4206799139"/>
                  </a:ext>
                </a:extLst>
              </a:tr>
            </a:tbl>
          </a:graphicData>
        </a:graphic>
      </p:graphicFrame>
    </p:spTree>
    <p:extLst>
      <p:ext uri="{BB962C8B-B14F-4D97-AF65-F5344CB8AC3E}">
        <p14:creationId xmlns:p14="http://schemas.microsoft.com/office/powerpoint/2010/main" val="315337339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B2F809-180E-4D4F-8278-5A4C2B742D12}"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2"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MCQ</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13744153"/>
              </p:ext>
            </p:extLst>
          </p:nvPr>
        </p:nvGraphicFramePr>
        <p:xfrm>
          <a:off x="1149927" y="1171575"/>
          <a:ext cx="7135091" cy="3556000"/>
        </p:xfrm>
        <a:graphic>
          <a:graphicData uri="http://schemas.openxmlformats.org/drawingml/2006/table">
            <a:tbl>
              <a:tblPr firstRow="1" firstCol="1" bandRow="1">
                <a:tableStyleId>{2D5ABB26-0587-4C30-8999-92F81FD0307C}</a:tableStyleId>
              </a:tblPr>
              <a:tblGrid>
                <a:gridCol w="7135091">
                  <a:extLst>
                    <a:ext uri="{9D8B030D-6E8A-4147-A177-3AD203B41FA5}">
                      <a16:colId xmlns:a16="http://schemas.microsoft.com/office/drawing/2014/main" val="3227053709"/>
                    </a:ext>
                  </a:extLst>
                </a:gridCol>
              </a:tblGrid>
              <a:tr h="914400">
                <a:tc>
                  <a:txBody>
                    <a:bodyPr/>
                    <a:lstStyle/>
                    <a:p>
                      <a:pPr marL="0" marR="0" lvl="0" indent="0">
                        <a:spcBef>
                          <a:spcPts val="0"/>
                        </a:spcBef>
                        <a:spcAft>
                          <a:spcPts val="0"/>
                        </a:spcAft>
                        <a:buFont typeface="+mj-lt"/>
                        <a:buNone/>
                      </a:pPr>
                      <a:r>
                        <a:rPr lang="en-US" sz="2200" dirty="0">
                          <a:ln>
                            <a:noFill/>
                          </a:ln>
                          <a:effectLst/>
                        </a:rPr>
                        <a:t>3.  The data in the transport layer is in the form of</a:t>
                      </a:r>
                    </a:p>
                    <a:p>
                      <a:pPr marL="342900" marR="0" lvl="0" indent="-342900">
                        <a:spcBef>
                          <a:spcPts val="0"/>
                        </a:spcBef>
                        <a:spcAft>
                          <a:spcPts val="0"/>
                        </a:spcAft>
                        <a:buFont typeface="+mj-lt"/>
                        <a:buAutoNum type="alphaUcPeriod"/>
                      </a:pPr>
                      <a:r>
                        <a:rPr lang="en-US" sz="2200" dirty="0">
                          <a:ln>
                            <a:noFill/>
                          </a:ln>
                          <a:effectLst/>
                        </a:rPr>
                        <a:t>Frames</a:t>
                      </a:r>
                    </a:p>
                    <a:p>
                      <a:pPr marL="342900" marR="0" lvl="0" indent="-342900">
                        <a:spcBef>
                          <a:spcPts val="0"/>
                        </a:spcBef>
                        <a:spcAft>
                          <a:spcPts val="0"/>
                        </a:spcAft>
                        <a:buFont typeface="+mj-lt"/>
                        <a:buAutoNum type="alphaUcPeriod"/>
                      </a:pPr>
                      <a:r>
                        <a:rPr lang="en-US" sz="2200" dirty="0">
                          <a:ln>
                            <a:noFill/>
                          </a:ln>
                          <a:effectLst/>
                        </a:rPr>
                        <a:t>Datagrams</a:t>
                      </a:r>
                    </a:p>
                    <a:p>
                      <a:pPr marL="342900" marR="0" lvl="0" indent="-342900">
                        <a:spcBef>
                          <a:spcPts val="0"/>
                        </a:spcBef>
                        <a:spcAft>
                          <a:spcPts val="0"/>
                        </a:spcAft>
                        <a:buFont typeface="+mj-lt"/>
                        <a:buAutoNum type="alphaUcPeriod"/>
                      </a:pPr>
                      <a:r>
                        <a:rPr lang="en-US" sz="2200" dirty="0">
                          <a:ln>
                            <a:noFill/>
                          </a:ln>
                          <a:effectLst/>
                        </a:rPr>
                        <a:t>Packets</a:t>
                      </a:r>
                    </a:p>
                    <a:p>
                      <a:pPr marL="342900" marR="0" lvl="0" indent="-342900">
                        <a:spcBef>
                          <a:spcPts val="0"/>
                        </a:spcBef>
                        <a:spcAft>
                          <a:spcPts val="0"/>
                        </a:spcAft>
                        <a:buFont typeface="+mj-lt"/>
                        <a:buAutoNum type="alphaUcPeriod"/>
                      </a:pPr>
                      <a:r>
                        <a:rPr lang="en-US" sz="2200" dirty="0">
                          <a:ln>
                            <a:noFill/>
                          </a:ln>
                          <a:effectLst/>
                        </a:rPr>
                        <a:t>All of the above</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1117127456"/>
                  </a:ext>
                </a:extLst>
              </a:tr>
              <a:tr h="914400">
                <a:tc>
                  <a:txBody>
                    <a:bodyPr/>
                    <a:lstStyle/>
                    <a:p>
                      <a:pPr marL="0" marR="0" lvl="0" indent="0">
                        <a:spcBef>
                          <a:spcPts val="0"/>
                        </a:spcBef>
                        <a:spcAft>
                          <a:spcPts val="0"/>
                        </a:spcAft>
                        <a:buFont typeface="+mj-lt"/>
                        <a:buNone/>
                      </a:pPr>
                      <a:r>
                        <a:rPr lang="en-US" sz="2200" dirty="0">
                          <a:ln>
                            <a:noFill/>
                          </a:ln>
                          <a:effectLst/>
                        </a:rPr>
                        <a:t>4.  Transport layer protocols work as a</a:t>
                      </a:r>
                    </a:p>
                    <a:p>
                      <a:pPr marL="342900" marR="0" lvl="0" indent="-342900">
                        <a:spcBef>
                          <a:spcPts val="0"/>
                        </a:spcBef>
                        <a:spcAft>
                          <a:spcPts val="0"/>
                        </a:spcAft>
                        <a:buFont typeface="+mj-lt"/>
                        <a:buAutoNum type="alphaUcPeriod"/>
                      </a:pPr>
                      <a:r>
                        <a:rPr lang="en-US" sz="2200" dirty="0">
                          <a:ln>
                            <a:noFill/>
                          </a:ln>
                          <a:effectLst/>
                        </a:rPr>
                        <a:t>Application to application communication</a:t>
                      </a:r>
                    </a:p>
                    <a:p>
                      <a:pPr marL="342900" marR="0" lvl="0" indent="-342900">
                        <a:spcBef>
                          <a:spcPts val="0"/>
                        </a:spcBef>
                        <a:spcAft>
                          <a:spcPts val="0"/>
                        </a:spcAft>
                        <a:buFont typeface="+mj-lt"/>
                        <a:buAutoNum type="alphaUcPeriod"/>
                      </a:pPr>
                      <a:r>
                        <a:rPr lang="en-US" sz="2200" dirty="0">
                          <a:ln>
                            <a:noFill/>
                          </a:ln>
                          <a:effectLst/>
                        </a:rPr>
                        <a:t>Process to process communication </a:t>
                      </a:r>
                    </a:p>
                    <a:p>
                      <a:pPr marL="342900" marR="0" lvl="0" indent="-342900">
                        <a:spcBef>
                          <a:spcPts val="0"/>
                        </a:spcBef>
                        <a:spcAft>
                          <a:spcPts val="0"/>
                        </a:spcAft>
                        <a:buFont typeface="+mj-lt"/>
                        <a:buAutoNum type="alphaUcPeriod"/>
                      </a:pPr>
                      <a:r>
                        <a:rPr lang="en-US" sz="2200" dirty="0">
                          <a:ln>
                            <a:noFill/>
                          </a:ln>
                          <a:effectLst/>
                        </a:rPr>
                        <a:t>Node to node communication</a:t>
                      </a:r>
                    </a:p>
                    <a:p>
                      <a:pPr marL="342900" marR="0" lvl="0" indent="-342900">
                        <a:spcBef>
                          <a:spcPts val="0"/>
                        </a:spcBef>
                        <a:spcAft>
                          <a:spcPts val="0"/>
                        </a:spcAft>
                        <a:buFont typeface="+mj-lt"/>
                        <a:buAutoNum type="alphaUcPeriod"/>
                      </a:pPr>
                      <a:r>
                        <a:rPr lang="en-US" sz="2200" dirty="0">
                          <a:ln>
                            <a:noFill/>
                          </a:ln>
                          <a:effectLst/>
                        </a:rPr>
                        <a:t>Man to man communication</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2851609086"/>
                  </a:ext>
                </a:extLst>
              </a:tr>
            </a:tbl>
          </a:graphicData>
        </a:graphic>
      </p:graphicFrame>
    </p:spTree>
    <p:extLst>
      <p:ext uri="{BB962C8B-B14F-4D97-AF65-F5344CB8AC3E}">
        <p14:creationId xmlns:p14="http://schemas.microsoft.com/office/powerpoint/2010/main" val="156661678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D228E14-2471-4742-B075-E103F2CCD0D5}"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MCQ</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541300403"/>
              </p:ext>
            </p:extLst>
          </p:nvPr>
        </p:nvGraphicFramePr>
        <p:xfrm>
          <a:off x="872836" y="1384525"/>
          <a:ext cx="7467600" cy="4226560"/>
        </p:xfrm>
        <a:graphic>
          <a:graphicData uri="http://schemas.openxmlformats.org/drawingml/2006/table">
            <a:tbl>
              <a:tblPr firstRow="1" firstCol="1" bandRow="1">
                <a:tableStyleId>{2D5ABB26-0587-4C30-8999-92F81FD0307C}</a:tableStyleId>
              </a:tblPr>
              <a:tblGrid>
                <a:gridCol w="7467600">
                  <a:extLst>
                    <a:ext uri="{9D8B030D-6E8A-4147-A177-3AD203B41FA5}">
                      <a16:colId xmlns:a16="http://schemas.microsoft.com/office/drawing/2014/main" val="1510590043"/>
                    </a:ext>
                  </a:extLst>
                </a:gridCol>
              </a:tblGrid>
              <a:tr h="303357">
                <a:tc>
                  <a:txBody>
                    <a:bodyPr/>
                    <a:lstStyle/>
                    <a:p>
                      <a:pPr marL="0" marR="0" lvl="0" indent="0">
                        <a:spcBef>
                          <a:spcPts val="0"/>
                        </a:spcBef>
                        <a:spcAft>
                          <a:spcPts val="0"/>
                        </a:spcAft>
                        <a:buFont typeface="+mj-lt"/>
                        <a:buNone/>
                      </a:pPr>
                      <a:r>
                        <a:rPr lang="en-US" sz="2200" dirty="0">
                          <a:ln>
                            <a:noFill/>
                          </a:ln>
                          <a:effectLst/>
                        </a:rPr>
                        <a:t>5.  The ________layer is responsible for source to destination delivery of the entire message</a:t>
                      </a:r>
                    </a:p>
                    <a:p>
                      <a:pPr marL="342900" marR="0" lvl="0" indent="-342900">
                        <a:spcBef>
                          <a:spcPts val="0"/>
                        </a:spcBef>
                        <a:spcAft>
                          <a:spcPts val="0"/>
                        </a:spcAft>
                        <a:buFont typeface="+mj-lt"/>
                        <a:buAutoNum type="alphaUcPeriod"/>
                      </a:pPr>
                      <a:r>
                        <a:rPr lang="en-US" sz="2200" dirty="0">
                          <a:ln>
                            <a:noFill/>
                          </a:ln>
                          <a:effectLst/>
                        </a:rPr>
                        <a:t>Transport</a:t>
                      </a:r>
                    </a:p>
                    <a:p>
                      <a:pPr marL="342900" marR="0" lvl="0" indent="-342900">
                        <a:spcBef>
                          <a:spcPts val="0"/>
                        </a:spcBef>
                        <a:spcAft>
                          <a:spcPts val="0"/>
                        </a:spcAft>
                        <a:buFont typeface="+mj-lt"/>
                        <a:buAutoNum type="alphaUcPeriod"/>
                      </a:pPr>
                      <a:r>
                        <a:rPr lang="en-US" sz="2200" dirty="0">
                          <a:ln>
                            <a:noFill/>
                          </a:ln>
                          <a:effectLst/>
                        </a:rPr>
                        <a:t>Network</a:t>
                      </a:r>
                    </a:p>
                    <a:p>
                      <a:pPr marL="342900" marR="0" lvl="0" indent="-342900">
                        <a:spcBef>
                          <a:spcPts val="0"/>
                        </a:spcBef>
                        <a:spcAft>
                          <a:spcPts val="0"/>
                        </a:spcAft>
                        <a:buFont typeface="+mj-lt"/>
                        <a:buAutoNum type="alphaUcPeriod"/>
                      </a:pPr>
                      <a:r>
                        <a:rPr lang="en-US" sz="2200" dirty="0">
                          <a:ln>
                            <a:noFill/>
                          </a:ln>
                          <a:effectLst/>
                        </a:rPr>
                        <a:t>Data link </a:t>
                      </a:r>
                    </a:p>
                    <a:p>
                      <a:pPr marL="342900" marR="0" lvl="0" indent="-342900">
                        <a:spcBef>
                          <a:spcPts val="0"/>
                        </a:spcBef>
                        <a:spcAft>
                          <a:spcPts val="0"/>
                        </a:spcAft>
                        <a:buFont typeface="+mj-lt"/>
                        <a:buAutoNum type="alphaUcPeriod"/>
                      </a:pPr>
                      <a:r>
                        <a:rPr lang="en-US" sz="2200" dirty="0">
                          <a:ln>
                            <a:noFill/>
                          </a:ln>
                          <a:effectLst/>
                        </a:rPr>
                        <a:t>Physical</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436230409"/>
                  </a:ext>
                </a:extLst>
              </a:tr>
              <a:tr h="914400">
                <a:tc>
                  <a:txBody>
                    <a:bodyPr/>
                    <a:lstStyle/>
                    <a:p>
                      <a:pPr marL="0" marR="0" lvl="0" indent="0">
                        <a:spcBef>
                          <a:spcPts val="0"/>
                        </a:spcBef>
                        <a:spcAft>
                          <a:spcPts val="0"/>
                        </a:spcAft>
                        <a:buFont typeface="+mj-lt"/>
                        <a:buNone/>
                      </a:pPr>
                      <a:r>
                        <a:rPr lang="en-US" sz="2200" dirty="0">
                          <a:ln>
                            <a:noFill/>
                          </a:ln>
                          <a:effectLst/>
                        </a:rPr>
                        <a:t>6. The header added by the transport layer to the packet coming from the upper layer includes the ____ address</a:t>
                      </a:r>
                    </a:p>
                    <a:p>
                      <a:pPr marL="342900" marR="0" lvl="0" indent="-342900">
                        <a:spcBef>
                          <a:spcPts val="0"/>
                        </a:spcBef>
                        <a:spcAft>
                          <a:spcPts val="0"/>
                        </a:spcAft>
                        <a:buFont typeface="+mj-lt"/>
                        <a:buAutoNum type="alphaUcPeriod"/>
                      </a:pPr>
                      <a:r>
                        <a:rPr lang="en-US" sz="2200" dirty="0">
                          <a:ln>
                            <a:noFill/>
                          </a:ln>
                          <a:effectLst/>
                        </a:rPr>
                        <a:t>Logical</a:t>
                      </a:r>
                    </a:p>
                    <a:p>
                      <a:pPr marL="342900" marR="0" lvl="0" indent="-342900">
                        <a:spcBef>
                          <a:spcPts val="0"/>
                        </a:spcBef>
                        <a:spcAft>
                          <a:spcPts val="0"/>
                        </a:spcAft>
                        <a:buFont typeface="+mj-lt"/>
                        <a:buAutoNum type="alphaUcPeriod"/>
                      </a:pPr>
                      <a:r>
                        <a:rPr lang="en-US" sz="2200" dirty="0">
                          <a:ln>
                            <a:noFill/>
                          </a:ln>
                          <a:effectLst/>
                        </a:rPr>
                        <a:t>Physical</a:t>
                      </a:r>
                    </a:p>
                    <a:p>
                      <a:pPr marL="342900" marR="0" lvl="0" indent="-342900">
                        <a:spcBef>
                          <a:spcPts val="0"/>
                        </a:spcBef>
                        <a:spcAft>
                          <a:spcPts val="0"/>
                        </a:spcAft>
                        <a:buFont typeface="+mj-lt"/>
                        <a:buAutoNum type="alphaUcPeriod"/>
                      </a:pPr>
                      <a:r>
                        <a:rPr lang="en-US" sz="2200" dirty="0">
                          <a:ln>
                            <a:noFill/>
                          </a:ln>
                          <a:effectLst/>
                        </a:rPr>
                        <a:t>Service-point</a:t>
                      </a:r>
                    </a:p>
                    <a:p>
                      <a:pPr marL="342900" marR="0" lvl="0" indent="-342900">
                        <a:spcBef>
                          <a:spcPts val="0"/>
                        </a:spcBef>
                        <a:spcAft>
                          <a:spcPts val="0"/>
                        </a:spcAft>
                        <a:buFont typeface="+mj-lt"/>
                        <a:buAutoNum type="alphaUcPeriod"/>
                      </a:pPr>
                      <a:r>
                        <a:rPr lang="en-US" sz="2200" dirty="0">
                          <a:ln>
                            <a:noFill/>
                          </a:ln>
                          <a:effectLst/>
                        </a:rPr>
                        <a:t>Network</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1056112069"/>
                  </a:ext>
                </a:extLst>
              </a:tr>
            </a:tbl>
          </a:graphicData>
        </a:graphic>
      </p:graphicFrame>
    </p:spTree>
    <p:extLst>
      <p:ext uri="{BB962C8B-B14F-4D97-AF65-F5344CB8AC3E}">
        <p14:creationId xmlns:p14="http://schemas.microsoft.com/office/powerpoint/2010/main" val="168132161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C92F8FA-FE80-4FC2-A14B-B980061395ED}"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MCQ</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0161028"/>
              </p:ext>
            </p:extLst>
          </p:nvPr>
        </p:nvGraphicFramePr>
        <p:xfrm>
          <a:off x="831273" y="1171575"/>
          <a:ext cx="7329054" cy="4226560"/>
        </p:xfrm>
        <a:graphic>
          <a:graphicData uri="http://schemas.openxmlformats.org/drawingml/2006/table">
            <a:tbl>
              <a:tblPr firstRow="1" firstCol="1" bandRow="1">
                <a:tableStyleId>{2D5ABB26-0587-4C30-8999-92F81FD0307C}</a:tableStyleId>
              </a:tblPr>
              <a:tblGrid>
                <a:gridCol w="7329054">
                  <a:extLst>
                    <a:ext uri="{9D8B030D-6E8A-4147-A177-3AD203B41FA5}">
                      <a16:colId xmlns:a16="http://schemas.microsoft.com/office/drawing/2014/main" val="1781139984"/>
                    </a:ext>
                  </a:extLst>
                </a:gridCol>
              </a:tblGrid>
              <a:tr h="914400">
                <a:tc>
                  <a:txBody>
                    <a:bodyPr/>
                    <a:lstStyle/>
                    <a:p>
                      <a:pPr marL="0" marR="0" lvl="0" indent="0">
                        <a:spcBef>
                          <a:spcPts val="0"/>
                        </a:spcBef>
                        <a:spcAft>
                          <a:spcPts val="0"/>
                        </a:spcAft>
                        <a:buFont typeface="+mj-lt"/>
                        <a:buNone/>
                      </a:pPr>
                      <a:r>
                        <a:rPr lang="en-US" sz="2200" dirty="0">
                          <a:ln>
                            <a:noFill/>
                          </a:ln>
                          <a:effectLst/>
                        </a:rPr>
                        <a:t>7. The division of message into packets is the function of the _____ layer</a:t>
                      </a:r>
                    </a:p>
                    <a:p>
                      <a:pPr marL="342900" marR="0" lvl="0" indent="-342900">
                        <a:spcBef>
                          <a:spcPts val="0"/>
                        </a:spcBef>
                        <a:spcAft>
                          <a:spcPts val="0"/>
                        </a:spcAft>
                        <a:buFont typeface="+mj-lt"/>
                        <a:buAutoNum type="alphaUcPeriod"/>
                      </a:pPr>
                      <a:r>
                        <a:rPr lang="en-US" sz="2200" dirty="0">
                          <a:ln>
                            <a:noFill/>
                          </a:ln>
                          <a:effectLst/>
                        </a:rPr>
                        <a:t>Application</a:t>
                      </a:r>
                    </a:p>
                    <a:p>
                      <a:pPr marL="342900" marR="0" lvl="0" indent="-342900">
                        <a:spcBef>
                          <a:spcPts val="0"/>
                        </a:spcBef>
                        <a:spcAft>
                          <a:spcPts val="0"/>
                        </a:spcAft>
                        <a:buFont typeface="+mj-lt"/>
                        <a:buAutoNum type="alphaUcPeriod"/>
                      </a:pPr>
                      <a:r>
                        <a:rPr lang="en-US" sz="2200" dirty="0">
                          <a:ln>
                            <a:noFill/>
                          </a:ln>
                          <a:effectLst/>
                        </a:rPr>
                        <a:t>Transport </a:t>
                      </a:r>
                    </a:p>
                    <a:p>
                      <a:pPr marL="342900" marR="0" lvl="0" indent="-342900">
                        <a:spcBef>
                          <a:spcPts val="0"/>
                        </a:spcBef>
                        <a:spcAft>
                          <a:spcPts val="0"/>
                        </a:spcAft>
                        <a:buFont typeface="+mj-lt"/>
                        <a:buAutoNum type="alphaUcPeriod"/>
                      </a:pPr>
                      <a:r>
                        <a:rPr lang="en-US" sz="2200" dirty="0">
                          <a:ln>
                            <a:noFill/>
                          </a:ln>
                          <a:effectLst/>
                        </a:rPr>
                        <a:t>Network</a:t>
                      </a:r>
                    </a:p>
                    <a:p>
                      <a:pPr marL="342900" marR="0" lvl="0" indent="-342900">
                        <a:spcBef>
                          <a:spcPts val="0"/>
                        </a:spcBef>
                        <a:spcAft>
                          <a:spcPts val="0"/>
                        </a:spcAft>
                        <a:buFont typeface="+mj-lt"/>
                        <a:buAutoNum type="alphaUcPeriod"/>
                      </a:pPr>
                      <a:r>
                        <a:rPr lang="en-US" sz="2200" dirty="0">
                          <a:ln>
                            <a:noFill/>
                          </a:ln>
                          <a:effectLst/>
                        </a:rPr>
                        <a:t>Data link </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2593354515"/>
                  </a:ext>
                </a:extLst>
              </a:tr>
              <a:tr h="914400">
                <a:tc>
                  <a:txBody>
                    <a:bodyPr/>
                    <a:lstStyle/>
                    <a:p>
                      <a:pPr marL="0" marR="0" lvl="0" indent="0">
                        <a:spcBef>
                          <a:spcPts val="0"/>
                        </a:spcBef>
                        <a:spcAft>
                          <a:spcPts val="0"/>
                        </a:spcAft>
                        <a:buFont typeface="+mj-lt"/>
                        <a:buNone/>
                      </a:pPr>
                      <a:r>
                        <a:rPr lang="en-US" sz="2200" dirty="0">
                          <a:ln>
                            <a:noFill/>
                          </a:ln>
                          <a:effectLst/>
                        </a:rPr>
                        <a:t>8. _____ provides a connection-oriented reliable service for sending messages</a:t>
                      </a:r>
                    </a:p>
                    <a:p>
                      <a:pPr marL="342900" marR="0" lvl="0" indent="-342900">
                        <a:spcBef>
                          <a:spcPts val="0"/>
                        </a:spcBef>
                        <a:spcAft>
                          <a:spcPts val="0"/>
                        </a:spcAft>
                        <a:buFont typeface="+mj-lt"/>
                        <a:buAutoNum type="alphaUcPeriod"/>
                      </a:pPr>
                      <a:r>
                        <a:rPr lang="en-US" sz="2200" dirty="0">
                          <a:ln>
                            <a:noFill/>
                          </a:ln>
                          <a:effectLst/>
                        </a:rPr>
                        <a:t>TCP</a:t>
                      </a:r>
                    </a:p>
                    <a:p>
                      <a:pPr marL="342900" marR="0" lvl="0" indent="-342900">
                        <a:spcBef>
                          <a:spcPts val="0"/>
                        </a:spcBef>
                        <a:spcAft>
                          <a:spcPts val="0"/>
                        </a:spcAft>
                        <a:buFont typeface="+mj-lt"/>
                        <a:buAutoNum type="alphaUcPeriod"/>
                      </a:pPr>
                      <a:r>
                        <a:rPr lang="en-US" sz="2200" dirty="0">
                          <a:ln>
                            <a:noFill/>
                          </a:ln>
                          <a:effectLst/>
                        </a:rPr>
                        <a:t>IP</a:t>
                      </a:r>
                    </a:p>
                    <a:p>
                      <a:pPr marL="342900" marR="0" lvl="0" indent="-342900">
                        <a:spcBef>
                          <a:spcPts val="0"/>
                        </a:spcBef>
                        <a:spcAft>
                          <a:spcPts val="0"/>
                        </a:spcAft>
                        <a:buFont typeface="+mj-lt"/>
                        <a:buAutoNum type="alphaUcPeriod"/>
                      </a:pPr>
                      <a:r>
                        <a:rPr lang="en-US" sz="2200" dirty="0">
                          <a:ln>
                            <a:noFill/>
                          </a:ln>
                          <a:effectLst/>
                        </a:rPr>
                        <a:t>UDP</a:t>
                      </a:r>
                    </a:p>
                    <a:p>
                      <a:pPr marL="342900" marR="0" lvl="0" indent="-342900">
                        <a:spcBef>
                          <a:spcPts val="0"/>
                        </a:spcBef>
                        <a:spcAft>
                          <a:spcPts val="0"/>
                        </a:spcAft>
                        <a:buFont typeface="+mj-lt"/>
                        <a:buAutoNum type="alphaUcPeriod"/>
                      </a:pPr>
                      <a:r>
                        <a:rPr lang="en-US" sz="2200" dirty="0">
                          <a:ln>
                            <a:noFill/>
                          </a:ln>
                          <a:effectLst/>
                        </a:rPr>
                        <a:t>All of the above</a:t>
                      </a:r>
                      <a:endParaRPr lang="en-US" sz="2200" dirty="0">
                        <a:ln>
                          <a:noFill/>
                        </a:ln>
                        <a:solidFill>
                          <a:srgbClr val="000000"/>
                        </a:solidFill>
                        <a:effectLst/>
                        <a:latin typeface="Helvetica Neue"/>
                        <a:ea typeface="Arial Unicode MS"/>
                        <a:cs typeface="Arial Unicode MS"/>
                      </a:endParaRPr>
                    </a:p>
                  </a:txBody>
                  <a:tcPr marL="50800" marR="50800" marT="50800" marB="50800"/>
                </a:tc>
                <a:extLst>
                  <a:ext uri="{0D108BD9-81ED-4DB2-BD59-A6C34878D82A}">
                    <a16:rowId xmlns:a16="http://schemas.microsoft.com/office/drawing/2014/main" val="4191195568"/>
                  </a:ext>
                </a:extLst>
              </a:tr>
            </a:tbl>
          </a:graphicData>
        </a:graphic>
      </p:graphicFrame>
    </p:spTree>
    <p:extLst>
      <p:ext uri="{BB962C8B-B14F-4D97-AF65-F5344CB8AC3E}">
        <p14:creationId xmlns:p14="http://schemas.microsoft.com/office/powerpoint/2010/main" val="28913063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382000" cy="5081987"/>
          </a:xfrm>
        </p:spPr>
        <p:txBody>
          <a:bodyPr>
            <a:normAutofit fontScale="55000" lnSpcReduction="20000"/>
          </a:bodyPr>
          <a:lstStyle/>
          <a:p>
            <a:r>
              <a:rPr lang="en-US" sz="3500" dirty="0"/>
              <a:t>18-19</a:t>
            </a:r>
          </a:p>
          <a:p>
            <a:r>
              <a:rPr lang="en-US" sz="3500" dirty="0">
                <a:hlinkClick r:id="rId2"/>
              </a:rPr>
              <a:t>https://drive.google.com/open?id=17OUMNnX0kFDc9UB8tx8qd8zyEj7lCD5P</a:t>
            </a:r>
            <a:endParaRPr lang="en-US" sz="3500" dirty="0"/>
          </a:p>
          <a:p>
            <a:r>
              <a:rPr lang="en-US" sz="3500" dirty="0"/>
              <a:t>17-18</a:t>
            </a:r>
          </a:p>
          <a:p>
            <a:r>
              <a:rPr lang="en-US" sz="3500" dirty="0">
                <a:hlinkClick r:id="rId3"/>
              </a:rPr>
              <a:t>https://drive.google.com/open?id=1oFmw__qC7wdUP85gUkKbkohZvd9Vopm_</a:t>
            </a:r>
            <a:endParaRPr lang="en-US" sz="3500" dirty="0"/>
          </a:p>
          <a:p>
            <a:r>
              <a:rPr lang="en-US" sz="3500" dirty="0"/>
              <a:t>16-17</a:t>
            </a:r>
          </a:p>
          <a:p>
            <a:r>
              <a:rPr lang="en-US" sz="3500" dirty="0">
                <a:hlinkClick r:id="rId4"/>
              </a:rPr>
              <a:t>https://drive.google.com/open?id=1eDrOkj2wVsxdTZPb7-A78YuYn16HC1ob</a:t>
            </a:r>
            <a:endParaRPr lang="en-US" sz="3500" dirty="0"/>
          </a:p>
          <a:p>
            <a:r>
              <a:rPr lang="en-US" sz="3500" dirty="0"/>
              <a:t>15-16</a:t>
            </a:r>
          </a:p>
          <a:p>
            <a:r>
              <a:rPr lang="en-US" sz="3500" dirty="0">
                <a:hlinkClick r:id="rId5"/>
              </a:rPr>
              <a:t>https://drive.google.com/open?id=1ljNxmZP1_pl10rbxJvK6xB1ybG7AMuqU</a:t>
            </a:r>
            <a:endParaRPr lang="en-US" sz="3500" dirty="0"/>
          </a:p>
          <a:p>
            <a:r>
              <a:rPr lang="en-US" sz="3500" dirty="0"/>
              <a:t>14-15</a:t>
            </a:r>
          </a:p>
          <a:p>
            <a:r>
              <a:rPr lang="en-US" sz="3500" dirty="0">
                <a:hlinkClick r:id="rId6"/>
              </a:rPr>
              <a:t>https://drive.google.com/open?id=1tjERKPwEA9icWcQTBZQnKUq_ttqBDeo5</a:t>
            </a:r>
            <a:endParaRPr lang="en-US" sz="3500" dirty="0"/>
          </a:p>
          <a:p>
            <a:endParaRPr lang="en-US" dirty="0"/>
          </a:p>
        </p:txBody>
      </p:sp>
      <p:sp>
        <p:nvSpPr>
          <p:cNvPr id="4" name="Date Placeholder 3"/>
          <p:cNvSpPr>
            <a:spLocks noGrp="1"/>
          </p:cNvSpPr>
          <p:nvPr>
            <p:ph type="dt" sz="half" idx="10"/>
          </p:nvPr>
        </p:nvSpPr>
        <p:spPr/>
        <p:txBody>
          <a:bodyPr/>
          <a:lstStyle/>
          <a:p>
            <a:fld id="{B6250786-18B2-453E-A390-8B62B0BFB5E8}"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pic>
        <p:nvPicPr>
          <p:cNvPr id="8" name="Picture 2" descr="E:\NIET\Project\xLogo11.png.pagespeed.ic.pydHLuCQEZ.png"/>
          <p:cNvPicPr>
            <a:picLocks noChangeAspect="1" noChangeArrowheads="1"/>
          </p:cNvPicPr>
          <p:nvPr/>
        </p:nvPicPr>
        <p:blipFill>
          <a:blip r:embed="rId7"/>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16703"/>
            <a:ext cx="7773138" cy="665018"/>
          </a:xfrm>
        </p:spPr>
        <p:txBody>
          <a:bodyPr>
            <a:normAutofit/>
          </a:bodyPr>
          <a:lstStyle/>
          <a:p>
            <a:pPr lvl="0">
              <a:lnSpc>
                <a:spcPct val="100000"/>
              </a:lnSpc>
              <a:defRPr/>
            </a:pPr>
            <a:r>
              <a:rPr lang="en-US" sz="2800" dirty="0">
                <a:solidFill>
                  <a:schemeClr val="dk1"/>
                </a:solidFill>
              </a:rPr>
              <a:t>Old Question papers</a:t>
            </a:r>
          </a:p>
        </p:txBody>
      </p:sp>
    </p:spTree>
    <p:extLst>
      <p:ext uri="{BB962C8B-B14F-4D97-AF65-F5344CB8AC3E}">
        <p14:creationId xmlns:p14="http://schemas.microsoft.com/office/powerpoint/2010/main" val="416312083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lvl="0"/>
            <a:r>
              <a:rPr lang="en-US" dirty="0"/>
              <a:t>Explain the three way handshaking protocol to establish the transport level connection </a:t>
            </a:r>
          </a:p>
          <a:p>
            <a:r>
              <a:rPr lang="en-US" dirty="0"/>
              <a:t>Explain the TCP header and the working of TCP protocol.</a:t>
            </a:r>
          </a:p>
          <a:p>
            <a:r>
              <a:rPr lang="en-US" dirty="0"/>
              <a:t>Differentiate TCP and UDP with frame format</a:t>
            </a:r>
          </a:p>
          <a:p>
            <a:r>
              <a:rPr lang="en-US" dirty="0"/>
              <a:t>Define cryptography with the help of block diagram of Asymmetric and Symmetric Cryptography</a:t>
            </a:r>
          </a:p>
          <a:p>
            <a:r>
              <a:rPr lang="en-US" dirty="0"/>
              <a:t>Differentiate between block cipher and transpose cipher.</a:t>
            </a:r>
          </a:p>
        </p:txBody>
      </p:sp>
      <p:sp>
        <p:nvSpPr>
          <p:cNvPr id="4" name="Date Placeholder 3"/>
          <p:cNvSpPr>
            <a:spLocks noGrp="1"/>
          </p:cNvSpPr>
          <p:nvPr>
            <p:ph type="dt" sz="half" idx="10"/>
          </p:nvPr>
        </p:nvSpPr>
        <p:spPr/>
        <p:txBody>
          <a:bodyPr/>
          <a:lstStyle/>
          <a:p>
            <a:fld id="{5E5B384D-8EEA-4645-949C-18F5DD30FDD1}"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124</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Expected Question in University exams</a:t>
            </a:r>
          </a:p>
        </p:txBody>
      </p:sp>
    </p:spTree>
    <p:extLst>
      <p:ext uri="{BB962C8B-B14F-4D97-AF65-F5344CB8AC3E}">
        <p14:creationId xmlns:p14="http://schemas.microsoft.com/office/powerpoint/2010/main" val="385381328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					</a:t>
            </a:r>
          </a:p>
        </p:txBody>
      </p:sp>
      <p:sp>
        <p:nvSpPr>
          <p:cNvPr id="4" name="Date Placeholder 3"/>
          <p:cNvSpPr>
            <a:spLocks noGrp="1"/>
          </p:cNvSpPr>
          <p:nvPr>
            <p:ph type="dt" sz="half" idx="10"/>
          </p:nvPr>
        </p:nvSpPr>
        <p:spPr/>
        <p:txBody>
          <a:bodyPr/>
          <a:lstStyle/>
          <a:p>
            <a:fld id="{E96B1612-0611-4489-96EA-B5DD36566558}"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125</a:t>
            </a:fld>
            <a:endParaRPr lang="en-US"/>
          </a:p>
        </p:txBody>
      </p:sp>
      <p:sp>
        <p:nvSpPr>
          <p:cNvPr id="7" name="Title 1"/>
          <p:cNvSpPr txBox="1">
            <a:spLocks/>
          </p:cNvSpPr>
          <p:nvPr/>
        </p:nvSpPr>
        <p:spPr>
          <a:xfrm>
            <a:off x="1371600" y="1"/>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Question paper of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2" name="Picture 1"/>
          <p:cNvPicPr>
            <a:picLocks noChangeAspect="1"/>
          </p:cNvPicPr>
          <p:nvPr/>
        </p:nvPicPr>
        <p:blipFill rotWithShape="1">
          <a:blip r:embed="rId3"/>
          <a:srcRect l="25988" t="19792" r="26574" b="17708"/>
          <a:stretch/>
        </p:blipFill>
        <p:spPr>
          <a:xfrm>
            <a:off x="1447800" y="1219199"/>
            <a:ext cx="6629400" cy="4910667"/>
          </a:xfrm>
          <a:prstGeom prst="rect">
            <a:avLst/>
          </a:prstGeom>
        </p:spPr>
      </p:pic>
    </p:spTree>
    <p:extLst>
      <p:ext uri="{BB962C8B-B14F-4D97-AF65-F5344CB8AC3E}">
        <p14:creationId xmlns:p14="http://schemas.microsoft.com/office/powerpoint/2010/main" val="77664959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					</a:t>
            </a:r>
          </a:p>
        </p:txBody>
      </p:sp>
      <p:sp>
        <p:nvSpPr>
          <p:cNvPr id="4" name="Date Placeholder 3"/>
          <p:cNvSpPr>
            <a:spLocks noGrp="1"/>
          </p:cNvSpPr>
          <p:nvPr>
            <p:ph type="dt" sz="half" idx="10"/>
          </p:nvPr>
        </p:nvSpPr>
        <p:spPr/>
        <p:txBody>
          <a:bodyPr/>
          <a:lstStyle/>
          <a:p>
            <a:fld id="{090142EC-AF0D-43E8-830E-B90B5F142D96}"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126</a:t>
            </a:fld>
            <a:endParaRPr lang="en-US"/>
          </a:p>
        </p:txBody>
      </p:sp>
      <p:sp>
        <p:nvSpPr>
          <p:cNvPr id="7" name="Title 1"/>
          <p:cNvSpPr txBox="1">
            <a:spLocks/>
          </p:cNvSpPr>
          <p:nvPr/>
        </p:nvSpPr>
        <p:spPr>
          <a:xfrm>
            <a:off x="1371600" y="1"/>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Question paper of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5" name="Picture 4"/>
          <p:cNvPicPr>
            <a:picLocks noChangeAspect="1"/>
          </p:cNvPicPr>
          <p:nvPr/>
        </p:nvPicPr>
        <p:blipFill rotWithShape="1">
          <a:blip r:embed="rId3"/>
          <a:srcRect l="25403" t="22917" r="26574" b="10417"/>
          <a:stretch/>
        </p:blipFill>
        <p:spPr>
          <a:xfrm>
            <a:off x="1371600" y="1135857"/>
            <a:ext cx="6248400" cy="4876800"/>
          </a:xfrm>
          <a:prstGeom prst="rect">
            <a:avLst/>
          </a:prstGeom>
        </p:spPr>
      </p:pic>
    </p:spTree>
    <p:extLst>
      <p:ext uri="{BB962C8B-B14F-4D97-AF65-F5344CB8AC3E}">
        <p14:creationId xmlns:p14="http://schemas.microsoft.com/office/powerpoint/2010/main" val="391672323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					</a:t>
            </a:r>
          </a:p>
        </p:txBody>
      </p:sp>
      <p:sp>
        <p:nvSpPr>
          <p:cNvPr id="4" name="Date Placeholder 3"/>
          <p:cNvSpPr>
            <a:spLocks noGrp="1"/>
          </p:cNvSpPr>
          <p:nvPr>
            <p:ph type="dt" sz="half" idx="10"/>
          </p:nvPr>
        </p:nvSpPr>
        <p:spPr/>
        <p:txBody>
          <a:bodyPr/>
          <a:lstStyle/>
          <a:p>
            <a:fld id="{B4EAF68E-753D-42A6-8F92-AD80476D9D5C}"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7" name="Title 1"/>
          <p:cNvSpPr txBox="1">
            <a:spLocks/>
          </p:cNvSpPr>
          <p:nvPr/>
        </p:nvSpPr>
        <p:spPr>
          <a:xfrm>
            <a:off x="1371600" y="1"/>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Question paper of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2" name="Picture 1"/>
          <p:cNvPicPr>
            <a:picLocks noChangeAspect="1"/>
          </p:cNvPicPr>
          <p:nvPr/>
        </p:nvPicPr>
        <p:blipFill rotWithShape="1">
          <a:blip r:embed="rId3"/>
          <a:srcRect l="23159" t="22917" r="25988" b="25245"/>
          <a:stretch/>
        </p:blipFill>
        <p:spPr>
          <a:xfrm>
            <a:off x="1371600" y="1145146"/>
            <a:ext cx="7393172" cy="4237209"/>
          </a:xfrm>
          <a:prstGeom prst="rect">
            <a:avLst/>
          </a:prstGeom>
        </p:spPr>
      </p:pic>
    </p:spTree>
    <p:extLst>
      <p:ext uri="{BB962C8B-B14F-4D97-AF65-F5344CB8AC3E}">
        <p14:creationId xmlns:p14="http://schemas.microsoft.com/office/powerpoint/2010/main" val="299164797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					</a:t>
            </a:r>
          </a:p>
        </p:txBody>
      </p:sp>
      <p:sp>
        <p:nvSpPr>
          <p:cNvPr id="4" name="Date Placeholder 3"/>
          <p:cNvSpPr>
            <a:spLocks noGrp="1"/>
          </p:cNvSpPr>
          <p:nvPr>
            <p:ph type="dt" sz="half" idx="10"/>
          </p:nvPr>
        </p:nvSpPr>
        <p:spPr/>
        <p:txBody>
          <a:bodyPr/>
          <a:lstStyle/>
          <a:p>
            <a:fld id="{A2B5A59A-EA84-46CE-94EF-2BFCE1DFF0FA}"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128</a:t>
            </a:fld>
            <a:endParaRPr lang="en-US"/>
          </a:p>
        </p:txBody>
      </p:sp>
      <p:sp>
        <p:nvSpPr>
          <p:cNvPr id="7" name="Title 1"/>
          <p:cNvSpPr txBox="1">
            <a:spLocks/>
          </p:cNvSpPr>
          <p:nvPr/>
        </p:nvSpPr>
        <p:spPr>
          <a:xfrm>
            <a:off x="1371600" y="1"/>
            <a:ext cx="7772400" cy="685799"/>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Question paper of University Exam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pic>
        <p:nvPicPr>
          <p:cNvPr id="5" name="Picture 4"/>
          <p:cNvPicPr>
            <a:picLocks noChangeAspect="1"/>
          </p:cNvPicPr>
          <p:nvPr/>
        </p:nvPicPr>
        <p:blipFill rotWithShape="1">
          <a:blip r:embed="rId3"/>
          <a:srcRect l="24231" t="40625" r="25988" b="27083"/>
          <a:stretch/>
        </p:blipFill>
        <p:spPr>
          <a:xfrm>
            <a:off x="1143000" y="1752600"/>
            <a:ext cx="6477000" cy="2895600"/>
          </a:xfrm>
          <a:prstGeom prst="rect">
            <a:avLst/>
          </a:prstGeom>
        </p:spPr>
      </p:pic>
    </p:spTree>
    <p:extLst>
      <p:ext uri="{BB962C8B-B14F-4D97-AF65-F5344CB8AC3E}">
        <p14:creationId xmlns:p14="http://schemas.microsoft.com/office/powerpoint/2010/main" val="373228328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rmAutofit/>
          </a:bodyPr>
          <a:lstStyle/>
          <a:p>
            <a:pPr marL="0" marR="0">
              <a:lnSpc>
                <a:spcPct val="115000"/>
              </a:lnSpc>
              <a:spcBef>
                <a:spcPts val="0"/>
              </a:spcBef>
              <a:spcAft>
                <a:spcPts val="0"/>
              </a:spcAft>
            </a:pPr>
            <a:r>
              <a:rPr lang="en-US" dirty="0"/>
              <a:t>Transport Layer and the Design issues covered,</a:t>
            </a:r>
          </a:p>
          <a:p>
            <a:pPr marL="0" marR="0">
              <a:lnSpc>
                <a:spcPct val="115000"/>
              </a:lnSpc>
              <a:spcBef>
                <a:spcPts val="0"/>
              </a:spcBef>
              <a:spcAft>
                <a:spcPts val="0"/>
              </a:spcAft>
            </a:pPr>
            <a:r>
              <a:rPr lang="en-US" dirty="0"/>
              <a:t>Functions of Transport layer were done in detail</a:t>
            </a:r>
          </a:p>
          <a:p>
            <a:pPr marL="0" marR="0">
              <a:lnSpc>
                <a:spcPct val="115000"/>
              </a:lnSpc>
              <a:spcBef>
                <a:spcPts val="0"/>
              </a:spcBef>
              <a:spcAft>
                <a:spcPts val="0"/>
              </a:spcAft>
            </a:pPr>
            <a:r>
              <a:rPr lang="en-US" dirty="0"/>
              <a:t>How TCP does connection management elaborated</a:t>
            </a:r>
          </a:p>
          <a:p>
            <a:pPr marL="0" marR="0">
              <a:lnSpc>
                <a:spcPct val="115000"/>
              </a:lnSpc>
              <a:spcBef>
                <a:spcPts val="0"/>
              </a:spcBef>
              <a:spcAft>
                <a:spcPts val="0"/>
              </a:spcAft>
            </a:pPr>
            <a:r>
              <a:rPr lang="en-US" dirty="0"/>
              <a:t>Session Layer - Design issues, </a:t>
            </a:r>
          </a:p>
          <a:p>
            <a:pPr marL="0" marR="0">
              <a:lnSpc>
                <a:spcPct val="115000"/>
              </a:lnSpc>
              <a:spcBef>
                <a:spcPts val="0"/>
              </a:spcBef>
              <a:spcAft>
                <a:spcPts val="0"/>
              </a:spcAft>
            </a:pPr>
            <a:r>
              <a:rPr lang="en-US" dirty="0"/>
              <a:t>Overview of remote procedure call. </a:t>
            </a:r>
          </a:p>
          <a:p>
            <a:pPr marL="0" marR="0">
              <a:lnSpc>
                <a:spcPct val="115000"/>
              </a:lnSpc>
              <a:spcBef>
                <a:spcPts val="0"/>
              </a:spcBef>
              <a:spcAft>
                <a:spcPts val="0"/>
              </a:spcAft>
            </a:pPr>
            <a:r>
              <a:rPr lang="en-US" dirty="0"/>
              <a:t>Presentation Layer-Design issues, </a:t>
            </a:r>
          </a:p>
          <a:p>
            <a:pPr marL="0" marR="0">
              <a:lnSpc>
                <a:spcPct val="115000"/>
              </a:lnSpc>
              <a:spcBef>
                <a:spcPts val="0"/>
              </a:spcBef>
              <a:spcAft>
                <a:spcPts val="0"/>
              </a:spcAft>
            </a:pPr>
            <a:r>
              <a:rPr lang="en-US" dirty="0"/>
              <a:t>Various Data compression techniques including Lossless and </a:t>
            </a:r>
            <a:r>
              <a:rPr lang="en-US" dirty="0" err="1"/>
              <a:t>Lossy</a:t>
            </a:r>
            <a:endParaRPr lang="en-US" dirty="0"/>
          </a:p>
          <a:p>
            <a:pPr marL="0" marR="0">
              <a:lnSpc>
                <a:spcPct val="115000"/>
              </a:lnSpc>
              <a:spcBef>
                <a:spcPts val="0"/>
              </a:spcBef>
              <a:spcAft>
                <a:spcPts val="0"/>
              </a:spcAft>
            </a:pPr>
            <a:r>
              <a:rPr lang="en-US" dirty="0"/>
              <a:t>Cryptography were discussed</a:t>
            </a:r>
          </a:p>
        </p:txBody>
      </p:sp>
      <p:sp>
        <p:nvSpPr>
          <p:cNvPr id="4" name="Date Placeholder 3"/>
          <p:cNvSpPr>
            <a:spLocks noGrp="1"/>
          </p:cNvSpPr>
          <p:nvPr>
            <p:ph type="dt" sz="half" idx="10"/>
          </p:nvPr>
        </p:nvSpPr>
        <p:spPr/>
        <p:txBody>
          <a:bodyPr/>
          <a:lstStyle/>
          <a:p>
            <a:fld id="{A2936398-B37D-4274-835D-C0AF59F5DE13}"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129</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Summary</a:t>
            </a:r>
          </a:p>
        </p:txBody>
      </p:sp>
    </p:spTree>
    <p:extLst>
      <p:ext uri="{BB962C8B-B14F-4D97-AF65-F5344CB8AC3E}">
        <p14:creationId xmlns:p14="http://schemas.microsoft.com/office/powerpoint/2010/main" val="414192539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1"/>
          </p:nvPr>
        </p:nvSpPr>
        <p:spPr>
          <a:xfrm>
            <a:off x="-304800" y="6356350"/>
            <a:ext cx="2895600" cy="365125"/>
          </a:xfrm>
          <a:noFill/>
        </p:spPr>
        <p:txBody>
          <a:bodyPr/>
          <a:lstStyle/>
          <a:p>
            <a:pPr>
              <a:buFont typeface="Arial" pitchFamily="34" charset="0"/>
              <a:buNone/>
            </a:pPr>
            <a:fld id="{2D50F461-8C66-4A69-9D65-40DECD3E32B6}" type="datetime1">
              <a:rPr lang="en-US" smtClean="0"/>
              <a:t>4/29/2022</a:t>
            </a:fld>
            <a:endParaRPr lang="en-US" dirty="0"/>
          </a:p>
        </p:txBody>
      </p:sp>
      <p:sp>
        <p:nvSpPr>
          <p:cNvPr id="10244" name="Slide Number Placeholder 5"/>
          <p:cNvSpPr>
            <a:spLocks noGrp="1"/>
          </p:cNvSpPr>
          <p:nvPr>
            <p:ph type="sldNum" sz="quarter" idx="4294967295"/>
          </p:nvPr>
        </p:nvSpPr>
        <p:spPr>
          <a:xfrm>
            <a:off x="6223000" y="6356350"/>
            <a:ext cx="2895600" cy="365125"/>
          </a:xfrm>
          <a:prstGeom prst="rect">
            <a:avLst/>
          </a:prstGeom>
          <a:noFill/>
        </p:spPr>
        <p:txBody>
          <a:bodyPr/>
          <a:lstStyle/>
          <a:p>
            <a:pPr algn="ctr">
              <a:buSzPts val="1400"/>
              <a:buFont typeface="Arial" pitchFamily="34" charset="0"/>
              <a:buNone/>
            </a:pPr>
            <a:fld id="{C37AE07E-7BC9-49E1-822A-83DAB9ECD80E}" type="slidenum">
              <a:rPr lang="en-US" smtClean="0"/>
              <a:pPr algn="ctr">
                <a:buSzPts val="1400"/>
                <a:buFont typeface="Arial" pitchFamily="34" charset="0"/>
                <a:buNone/>
              </a:pPr>
              <a:t>130</a:t>
            </a:fld>
            <a:endParaRPr lang="en-US"/>
          </a:p>
        </p:txBody>
      </p:sp>
      <p:sp>
        <p:nvSpPr>
          <p:cNvPr id="7" name="Title 1"/>
          <p:cNvSpPr txBox="1">
            <a:spLocks/>
          </p:cNvSpPr>
          <p:nvPr/>
        </p:nvSpPr>
        <p:spPr>
          <a:xfrm>
            <a:off x="1524000" y="0"/>
            <a:ext cx="7620000" cy="685800"/>
          </a:xfrm>
          <a:prstGeom prst="rect">
            <a:avLst/>
          </a:prstGeom>
          <a:solidFill>
            <a:srgbClr val="B7EEFF"/>
          </a:solidFill>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000" dirty="0">
                <a:sym typeface="Arial" charset="0"/>
              </a:rPr>
              <a:t>Text Books</a:t>
            </a:r>
          </a:p>
        </p:txBody>
      </p:sp>
      <p:sp>
        <p:nvSpPr>
          <p:cNvPr id="10246" name="TextBox 7"/>
          <p:cNvSpPr txBox="1">
            <a:spLocks noChangeArrowheads="1"/>
          </p:cNvSpPr>
          <p:nvPr/>
        </p:nvSpPr>
        <p:spPr bwMode="auto">
          <a:xfrm>
            <a:off x="457200" y="1066800"/>
            <a:ext cx="8250238" cy="2246769"/>
          </a:xfrm>
          <a:prstGeom prst="rect">
            <a:avLst/>
          </a:prstGeom>
          <a:noFill/>
          <a:ln w="9525">
            <a:noFill/>
            <a:miter lim="800000"/>
            <a:headEnd/>
            <a:tailEnd/>
          </a:ln>
        </p:spPr>
        <p:txBody>
          <a:bodyPr wrap="square">
            <a:spAutoFit/>
          </a:bodyPr>
          <a:lstStyle/>
          <a:p>
            <a:endParaRPr lang="en-US" sz="2000" b="1" dirty="0">
              <a:latin typeface="Times New Roman" pitchFamily="18" charset="0"/>
              <a:cs typeface="Times New Roman" pitchFamily="18" charset="0"/>
            </a:endParaRPr>
          </a:p>
          <a:p>
            <a:pPr marL="342900" indent="-342900">
              <a:buAutoNum type="arabicPeriod"/>
            </a:pPr>
            <a:r>
              <a:rPr lang="en-US" sz="2000" dirty="0" err="1">
                <a:latin typeface="Times New Roman" pitchFamily="18" charset="0"/>
                <a:cs typeface="Times New Roman" pitchFamily="18" charset="0"/>
              </a:rPr>
              <a:t>Behrouz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Forouzan</a:t>
            </a:r>
            <a:r>
              <a:rPr lang="en-US" sz="2000" dirty="0">
                <a:latin typeface="Times New Roman" pitchFamily="18" charset="0"/>
                <a:cs typeface="Times New Roman" pitchFamily="18" charset="0"/>
              </a:rPr>
              <a:t>, “Data Communication and Networking”, McGraw Hill</a:t>
            </a:r>
          </a:p>
          <a:p>
            <a:pPr marL="342900" indent="-342900"/>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2.  Andrew </a:t>
            </a:r>
            <a:r>
              <a:rPr lang="en-US" sz="2000" dirty="0" err="1">
                <a:latin typeface="Times New Roman" pitchFamily="18" charset="0"/>
                <a:cs typeface="Times New Roman" pitchFamily="18" charset="0"/>
              </a:rPr>
              <a:t>Tanenbaum</a:t>
            </a:r>
            <a:r>
              <a:rPr lang="en-US" sz="2000" dirty="0">
                <a:latin typeface="Times New Roman" pitchFamily="18" charset="0"/>
                <a:cs typeface="Times New Roman" pitchFamily="18" charset="0"/>
              </a:rPr>
              <a:t> “Computer Networks”, Prentice Hall.</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3. William Stallings, “Data and Computer Communication”, Pearson.</a:t>
            </a:r>
          </a:p>
          <a:p>
            <a:endParaRPr lang="en-US" sz="2000" dirty="0"/>
          </a:p>
        </p:txBody>
      </p:sp>
    </p:spTree>
    <p:extLst>
      <p:ext uri="{BB962C8B-B14F-4D97-AF65-F5344CB8AC3E}">
        <p14:creationId xmlns:p14="http://schemas.microsoft.com/office/powerpoint/2010/main" val="427224032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CD7721-3FFD-4934-B91B-AAA5E8B01DB1}"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131</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Content Placeholder 2"/>
          <p:cNvSpPr>
            <a:spLocks noGrp="1"/>
          </p:cNvSpPr>
          <p:nvPr>
            <p:ph idx="1"/>
          </p:nvPr>
        </p:nvSpPr>
        <p:spPr>
          <a:xfrm>
            <a:off x="533400" y="1143000"/>
            <a:ext cx="8229600" cy="4525963"/>
          </a:xfrm>
        </p:spPr>
        <p:txBody>
          <a:bodyPr>
            <a:normAutofit lnSpcReduction="10000"/>
          </a:bodyPr>
          <a:lstStyle/>
          <a:p>
            <a:pPr marL="0" indent="0">
              <a:buNone/>
            </a:pPr>
            <a:r>
              <a:rPr lang="en-US" dirty="0"/>
              <a:t>1.  </a:t>
            </a:r>
            <a:r>
              <a:rPr lang="en-US" dirty="0" err="1"/>
              <a:t>Forouzen</a:t>
            </a:r>
            <a:r>
              <a:rPr lang="en-US" dirty="0"/>
              <a:t>, "Data Communication and Networking", TMH  </a:t>
            </a:r>
          </a:p>
          <a:p>
            <a:pPr marL="0" indent="0">
              <a:buNone/>
            </a:pPr>
            <a:r>
              <a:rPr lang="en-US" dirty="0"/>
              <a:t>2. A.S. Tanenbaum, Computer Networks, Pearson Education  </a:t>
            </a:r>
          </a:p>
          <a:p>
            <a:pPr marL="0" indent="0">
              <a:buNone/>
            </a:pPr>
            <a:r>
              <a:rPr lang="en-US" dirty="0"/>
              <a:t>3. W. Stallings, Data and Computer Communication, Macmillan Press </a:t>
            </a:r>
          </a:p>
          <a:p>
            <a:pPr marL="0" indent="0">
              <a:buNone/>
            </a:pPr>
            <a:r>
              <a:rPr lang="en-US" dirty="0"/>
              <a:t>4. Gary </a:t>
            </a:r>
            <a:r>
              <a:rPr lang="en-US" dirty="0" err="1"/>
              <a:t>R.Wright,W.Richard</a:t>
            </a:r>
            <a:r>
              <a:rPr lang="en-US" dirty="0"/>
              <a:t> Stevens "TCP/IP Illustrated,Volume2 The Implementation" Addison-Wesley  </a:t>
            </a:r>
          </a:p>
          <a:p>
            <a:pPr marL="0" indent="0">
              <a:buNone/>
            </a:pPr>
            <a:r>
              <a:rPr lang="en-US" dirty="0"/>
              <a:t>5. Michael A. Gallo and William M. Hancock "Computer </a:t>
            </a:r>
            <a:r>
              <a:rPr lang="en-US" dirty="0" err="1"/>
              <a:t>communucation</a:t>
            </a:r>
            <a:r>
              <a:rPr lang="en-US" dirty="0"/>
              <a:t> and Networking Technology" Cengage Learning </a:t>
            </a:r>
          </a:p>
          <a:p>
            <a:pPr marL="0" indent="0">
              <a:buNone/>
            </a:pPr>
            <a:r>
              <a:rPr lang="en-US" dirty="0"/>
              <a:t> 6. </a:t>
            </a:r>
            <a:r>
              <a:rPr lang="en-US" dirty="0" err="1"/>
              <a:t>Bhavneet</a:t>
            </a:r>
            <a:r>
              <a:rPr lang="en-US" dirty="0"/>
              <a:t> Sidhu, An Integrated approach to Computer Networks, Khanna Publishing House </a:t>
            </a:r>
          </a:p>
          <a:p>
            <a:pPr marL="0" indent="0">
              <a:buNone/>
            </a:pPr>
            <a:r>
              <a:rPr lang="en-US" dirty="0"/>
              <a:t>7. </a:t>
            </a:r>
            <a:r>
              <a:rPr lang="en-US" dirty="0" err="1"/>
              <a:t>Anuranjan</a:t>
            </a:r>
            <a:r>
              <a:rPr lang="en-US" dirty="0"/>
              <a:t> </a:t>
            </a:r>
            <a:r>
              <a:rPr lang="en-US" dirty="0" err="1"/>
              <a:t>Misra</a:t>
            </a:r>
            <a:r>
              <a:rPr lang="en-US" dirty="0"/>
              <a:t>, “Computer Networks”, Acme Learning  </a:t>
            </a:r>
          </a:p>
          <a:p>
            <a:pPr marL="0" indent="0">
              <a:buNone/>
            </a:pPr>
            <a:r>
              <a:rPr lang="en-US" dirty="0"/>
              <a:t>8.  G. </a:t>
            </a:r>
            <a:r>
              <a:rPr lang="en-US" dirty="0" err="1"/>
              <a:t>Shanmugarathinam</a:t>
            </a:r>
            <a:r>
              <a:rPr lang="en-US" dirty="0"/>
              <a:t>, ”Essential of TCP/ IP”, Firewall Media</a:t>
            </a:r>
          </a:p>
        </p:txBody>
      </p:sp>
      <p:sp>
        <p:nvSpPr>
          <p:cNvPr id="9" name="Title 1"/>
          <p:cNvSpPr>
            <a:spLocks noGrp="1"/>
          </p:cNvSpPr>
          <p:nvPr>
            <p:ph type="title"/>
          </p:nvPr>
        </p:nvSpPr>
        <p:spPr>
          <a:xfrm>
            <a:off x="1370862" y="0"/>
            <a:ext cx="7773138" cy="665018"/>
          </a:xfrm>
        </p:spPr>
        <p:txBody>
          <a:bodyPr>
            <a:normAutofit/>
          </a:bodyPr>
          <a:lstStyle/>
          <a:p>
            <a:pPr lvl="0">
              <a:lnSpc>
                <a:spcPct val="100000"/>
              </a:lnSpc>
              <a:defRPr/>
            </a:pPr>
            <a:r>
              <a:rPr lang="en-US" sz="2800" dirty="0">
                <a:solidFill>
                  <a:schemeClr val="dk1"/>
                </a:solidFill>
              </a:rPr>
              <a:t>References</a:t>
            </a:r>
          </a:p>
        </p:txBody>
      </p:sp>
    </p:spTree>
    <p:extLst>
      <p:ext uri="{BB962C8B-B14F-4D97-AF65-F5344CB8AC3E}">
        <p14:creationId xmlns:p14="http://schemas.microsoft.com/office/powerpoint/2010/main" val="12458371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150E18A-853C-4076-BD38-893A8D3E323E}" type="datetime1">
              <a:rPr lang="en-US" smtClean="0"/>
              <a:t>4/29/2022</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132</a:t>
            </a:fld>
            <a:endParaRPr lang="en-US"/>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2745692" y="1143000"/>
            <a:ext cx="3805016" cy="2326791"/>
          </a:xfrm>
          <a:prstGeom prst="rect">
            <a:avLst/>
          </a:prstGeom>
          <a:noFill/>
        </p:spPr>
        <p:txBody>
          <a:bodyPr wrap="none" lIns="91440" tIns="45720" rIns="91440" bIns="45720">
            <a:spAutoFit/>
          </a:bodyPr>
          <a:lstStyle/>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Title 1"/>
          <p:cNvSpPr>
            <a:spLocks noGrp="1"/>
          </p:cNvSpPr>
          <p:nvPr>
            <p:ph type="title"/>
          </p:nvPr>
        </p:nvSpPr>
        <p:spPr>
          <a:xfrm>
            <a:off x="1370862" y="0"/>
            <a:ext cx="7773138" cy="665018"/>
          </a:xfrm>
        </p:spPr>
        <p:txBody>
          <a:bodyPr>
            <a:normAutofit fontScale="90000"/>
          </a:bodyPr>
          <a:lstStyle/>
          <a:p>
            <a:pPr lvl="0">
              <a:lnSpc>
                <a:spcPct val="100000"/>
              </a:lnSpc>
              <a:defRPr/>
            </a:pPr>
            <a:r>
              <a:rPr lang="en-US" sz="2800" dirty="0">
                <a:solidFill>
                  <a:schemeClr val="dk1"/>
                </a:solidFill>
              </a:rPr>
              <a:t>Noida Institute of Engineering and Technology, Greater Noida</a:t>
            </a:r>
          </a:p>
        </p:txBody>
      </p:sp>
    </p:spTree>
    <p:extLst>
      <p:ext uri="{BB962C8B-B14F-4D97-AF65-F5344CB8AC3E}">
        <p14:creationId xmlns:p14="http://schemas.microsoft.com/office/powerpoint/2010/main" val="519809864"/>
      </p:ext>
    </p:extLst>
  </p:cSld>
  <p:clrMapOvr>
    <a:masterClrMapping/>
  </p:clrMapOvr>
</p:sld>
</file>

<file path=ppt/theme/theme1.xml><?xml version="1.0" encoding="utf-8"?>
<a:theme xmlns:a="http://schemas.openxmlformats.org/drawingml/2006/main" name="NIET_final1">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E1570708-0B14-418E-9DD8-ACF06451CED9}" vid="{E4716187-01C1-4287-AA48-082CB3765A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NIET_final</Template>
  <TotalTime>784</TotalTime>
  <Words>10951</Words>
  <Application>Microsoft Office PowerPoint</Application>
  <PresentationFormat>On-screen Show (4:3)</PresentationFormat>
  <Paragraphs>1495</Paragraphs>
  <Slides>132</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132</vt:i4>
      </vt:variant>
    </vt:vector>
  </HeadingPairs>
  <TitlesOfParts>
    <vt:vector size="141" baseType="lpstr">
      <vt:lpstr>Arial</vt:lpstr>
      <vt:lpstr>Calibri</vt:lpstr>
      <vt:lpstr>Cambria</vt:lpstr>
      <vt:lpstr>Helvetica Neue</vt:lpstr>
      <vt:lpstr>Segoe UI</vt:lpstr>
      <vt:lpstr>Tahoma</vt:lpstr>
      <vt:lpstr>Times New Roman</vt:lpstr>
      <vt:lpstr>Wingdings</vt:lpstr>
      <vt:lpstr>NIET_final1</vt:lpstr>
      <vt:lpstr>PowerPoint Presentation</vt:lpstr>
      <vt:lpstr>Contents</vt:lpstr>
      <vt:lpstr>Contents</vt:lpstr>
      <vt:lpstr>Contents</vt:lpstr>
      <vt:lpstr>Evaluation Scheme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Course Objective / Unit Objective</vt:lpstr>
      <vt:lpstr>TRANSPORT LAYER(CO1)</vt:lpstr>
      <vt:lpstr>TRANSPORT LAYER(CO1)</vt:lpstr>
      <vt:lpstr>TRANSPORT LAYER</vt:lpstr>
      <vt:lpstr>TRANSPORT LAYER</vt:lpstr>
      <vt:lpstr>TRANSPORT LAYER(CO4)</vt:lpstr>
      <vt:lpstr>TRANSPORT LAYER(CO5)</vt:lpstr>
      <vt:lpstr>TRANSPORT LAYER(CO1)</vt:lpstr>
      <vt:lpstr>TRANSPORT LAYER</vt:lpstr>
      <vt:lpstr>TRANSPORT LAYER</vt:lpstr>
      <vt:lpstr>TRANSPORT LAYER</vt:lpstr>
      <vt:lpstr>TRANSPORT LAYER</vt:lpstr>
      <vt:lpstr>TRANSPORT LAYER</vt:lpstr>
      <vt:lpstr>TRANSPORT LAYER</vt:lpstr>
      <vt:lpstr>TRANSPORT LAYER</vt:lpstr>
      <vt:lpstr>TRANSPORT LAYER(CO3)</vt:lpstr>
      <vt:lpstr>TRANSPORT LAYER</vt:lpstr>
      <vt:lpstr>TRANSPORT LAYER(CO3)</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Session LAYER(CO1)</vt:lpstr>
      <vt:lpstr>Session LAYER(CO1)</vt:lpstr>
      <vt:lpstr>Session LAYER</vt:lpstr>
      <vt:lpstr>Session LAYER</vt:lpstr>
      <vt:lpstr>Session LAYER</vt:lpstr>
      <vt:lpstr>Session LAYER(CO5)</vt:lpstr>
      <vt:lpstr>Session LAYER</vt:lpstr>
      <vt:lpstr>Session LAYER</vt:lpstr>
      <vt:lpstr>Session LAYER</vt:lpstr>
      <vt:lpstr>Session LAYER</vt:lpstr>
      <vt:lpstr>Session LAYER</vt:lpstr>
      <vt:lpstr>Session LAYER</vt:lpstr>
      <vt:lpstr>Session LAYER</vt:lpstr>
      <vt:lpstr>Presentation LAYER(CO1)</vt:lpstr>
      <vt:lpstr>Presentation Layer - OSI Model(CO1)</vt:lpstr>
      <vt:lpstr>Presentation Layer - OSI Model</vt:lpstr>
      <vt:lpstr>Presentation Layer - OSI Model</vt:lpstr>
      <vt:lpstr>Presentation Layer - OSI Model(CO5)</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Model(CO5)</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 OSI Model (CO5)</vt:lpstr>
      <vt:lpstr>Presentation Layer - OSI Model</vt:lpstr>
      <vt:lpstr>Presentation Layer - OSI Model</vt:lpstr>
      <vt:lpstr>Presentation Layer - OSI Model</vt:lpstr>
      <vt:lpstr>Presentation Layer - OSI Model</vt:lpstr>
      <vt:lpstr>Presentation Layer - OSI Model</vt:lpstr>
      <vt:lpstr>Presentation Layer - OSI Model</vt:lpstr>
      <vt:lpstr>Presentation Layer (CO1)</vt:lpstr>
      <vt:lpstr>Faculty Video Links, Youtube &amp; NPTEL Video Links and Online Courses Details  </vt:lpstr>
      <vt:lpstr>Glossary questions</vt:lpstr>
      <vt:lpstr>Weekly Assignment</vt:lpstr>
      <vt:lpstr>MCQ</vt:lpstr>
      <vt:lpstr>MCQ</vt:lpstr>
      <vt:lpstr>MCQ</vt:lpstr>
      <vt:lpstr>MCQ</vt:lpstr>
      <vt:lpstr>Old Question papers</vt:lpstr>
      <vt:lpstr>Expected Question in University exams</vt:lpstr>
      <vt:lpstr>PowerPoint Presentation</vt:lpstr>
      <vt:lpstr>PowerPoint Presentation</vt:lpstr>
      <vt:lpstr>PowerPoint Presentation</vt:lpstr>
      <vt:lpstr>PowerPoint Presentation</vt:lpstr>
      <vt:lpstr>Summary</vt:lpstr>
      <vt:lpstr>PowerPoint Presentation</vt:lpstr>
      <vt:lpstr>References</vt:lpstr>
      <vt:lpstr>Noida Institute of Engineering and Technology, Greater Noida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Dr Kumud Saxena</dc:creator>
  <cp:keywords/>
  <cp:lastModifiedBy>Tamanna</cp:lastModifiedBy>
  <cp:revision>50</cp:revision>
  <dcterms:modified xsi:type="dcterms:W3CDTF">2022-04-29T15:56:23Z</dcterms:modified>
</cp:coreProperties>
</file>