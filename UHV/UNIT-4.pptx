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66"/>
  </p:notesMasterIdLst>
  <p:handoutMasterIdLst>
    <p:handoutMasterId r:id="rId67"/>
  </p:handoutMasterIdLst>
  <p:sldIdLst>
    <p:sldId id="256" r:id="rId2"/>
    <p:sldId id="1563" r:id="rId3"/>
    <p:sldId id="1562" r:id="rId4"/>
    <p:sldId id="268" r:id="rId5"/>
    <p:sldId id="1614" r:id="rId6"/>
    <p:sldId id="335" r:id="rId7"/>
    <p:sldId id="515" r:id="rId8"/>
    <p:sldId id="1615" r:id="rId9"/>
    <p:sldId id="501" r:id="rId10"/>
    <p:sldId id="502" r:id="rId11"/>
    <p:sldId id="447" r:id="rId12"/>
    <p:sldId id="448" r:id="rId13"/>
    <p:sldId id="503" r:id="rId14"/>
    <p:sldId id="1568" r:id="rId15"/>
    <p:sldId id="521" r:id="rId16"/>
    <p:sldId id="516" r:id="rId17"/>
    <p:sldId id="1616" r:id="rId18"/>
    <p:sldId id="504" r:id="rId19"/>
    <p:sldId id="505" r:id="rId20"/>
    <p:sldId id="454" r:id="rId21"/>
    <p:sldId id="1609" r:id="rId22"/>
    <p:sldId id="525" r:id="rId23"/>
    <p:sldId id="518" r:id="rId24"/>
    <p:sldId id="1617" r:id="rId25"/>
    <p:sldId id="486" r:id="rId26"/>
    <p:sldId id="458" r:id="rId27"/>
    <p:sldId id="459" r:id="rId28"/>
    <p:sldId id="460" r:id="rId29"/>
    <p:sldId id="487" r:id="rId30"/>
    <p:sldId id="1622" r:id="rId31"/>
    <p:sldId id="523" r:id="rId32"/>
    <p:sldId id="517" r:id="rId33"/>
    <p:sldId id="1618" r:id="rId34"/>
    <p:sldId id="488" r:id="rId35"/>
    <p:sldId id="464" r:id="rId36"/>
    <p:sldId id="489" r:id="rId37"/>
    <p:sldId id="490" r:id="rId38"/>
    <p:sldId id="491" r:id="rId39"/>
    <p:sldId id="492" r:id="rId40"/>
    <p:sldId id="493" r:id="rId41"/>
    <p:sldId id="513" r:id="rId42"/>
    <p:sldId id="527" r:id="rId43"/>
    <p:sldId id="519" r:id="rId44"/>
    <p:sldId id="1619" r:id="rId45"/>
    <p:sldId id="494" r:id="rId46"/>
    <p:sldId id="506" r:id="rId47"/>
    <p:sldId id="507" r:id="rId48"/>
    <p:sldId id="500" r:id="rId49"/>
    <p:sldId id="508" r:id="rId50"/>
    <p:sldId id="509" r:id="rId51"/>
    <p:sldId id="510" r:id="rId52"/>
    <p:sldId id="482" r:id="rId53"/>
    <p:sldId id="530" r:id="rId54"/>
    <p:sldId id="514" r:id="rId55"/>
    <p:sldId id="529" r:id="rId56"/>
    <p:sldId id="275" r:id="rId57"/>
    <p:sldId id="273" r:id="rId58"/>
    <p:sldId id="264" r:id="rId59"/>
    <p:sldId id="369" r:id="rId60"/>
    <p:sldId id="274" r:id="rId61"/>
    <p:sldId id="267" r:id="rId62"/>
    <p:sldId id="265" r:id="rId63"/>
    <p:sldId id="443" r:id="rId64"/>
    <p:sldId id="283"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250" autoAdjust="0"/>
    <p:restoredTop sz="92115" autoAdjust="0"/>
  </p:normalViewPr>
  <p:slideViewPr>
    <p:cSldViewPr>
      <p:cViewPr varScale="1">
        <p:scale>
          <a:sx n="67" d="100"/>
          <a:sy n="67" d="100"/>
        </p:scale>
        <p:origin x="-1650" y="-102"/>
      </p:cViewPr>
      <p:guideLst>
        <p:guide orient="horz" pos="2160"/>
        <p:guide pos="2880"/>
      </p:guideLst>
    </p:cSldViewPr>
  </p:slideViewPr>
  <p:outlineViewPr>
    <p:cViewPr>
      <p:scale>
        <a:sx n="33" d="100"/>
        <a:sy n="33" d="100"/>
      </p:scale>
      <p:origin x="0" y="15864"/>
    </p:cViewPr>
  </p:outlineViewPr>
  <p:notesTextViewPr>
    <p:cViewPr>
      <p:scale>
        <a:sx n="100" d="100"/>
        <a:sy n="100" d="100"/>
      </p:scale>
      <p:origin x="0" y="0"/>
    </p:cViewPr>
  </p:notesTextViewPr>
  <p:sorterViewPr>
    <p:cViewPr>
      <p:scale>
        <a:sx n="66" d="100"/>
        <a:sy n="66" d="100"/>
      </p:scale>
      <p:origin x="0" y="3744"/>
    </p:cViewPr>
  </p:sorterViewPr>
  <p:notesViewPr>
    <p:cSldViewPr>
      <p:cViewPr varScale="1">
        <p:scale>
          <a:sx n="55" d="100"/>
          <a:sy n="55" d="100"/>
        </p:scale>
        <p:origin x="-2886"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06/25/21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xmlns=""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06/25/21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35F52E-BA8C-4FAB-BCFA-C67A14D9CE2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8922486-292C-42C7-8C4D-92FEAA169F7D}" type="datetime1">
              <a:rPr lang="en-US" smtClean="0"/>
              <a:pPr/>
              <a:t>06/25/21</a:t>
            </a:fld>
            <a:endParaRPr lang="en-US"/>
          </a:p>
        </p:txBody>
      </p:sp>
      <p:sp>
        <p:nvSpPr>
          <p:cNvPr id="5" name="Footer Placeholder 4"/>
          <p:cNvSpPr>
            <a:spLocks noGrp="1"/>
          </p:cNvSpPr>
          <p:nvPr>
            <p:ph type="ftr" sz="quarter" idx="11"/>
          </p:nvPr>
        </p:nvSpPr>
        <p:spPr/>
        <p:txBody>
          <a:bodyPr/>
          <a:lstStyle/>
          <a:p>
            <a:r>
              <a:rPr lang="fi-FI"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65BB07-BFC2-4F27-ACEB-689E14AC7673}" type="datetime1">
              <a:rPr lang="en-US" smtClean="0"/>
              <a:pPr/>
              <a:t>06/25/21</a:t>
            </a:fld>
            <a:endParaRPr lang="en-US"/>
          </a:p>
        </p:txBody>
      </p:sp>
      <p:sp>
        <p:nvSpPr>
          <p:cNvPr id="5" name="Footer Placeholder 4"/>
          <p:cNvSpPr>
            <a:spLocks noGrp="1"/>
          </p:cNvSpPr>
          <p:nvPr>
            <p:ph type="ftr" sz="quarter" idx="11"/>
          </p:nvPr>
        </p:nvSpPr>
        <p:spPr/>
        <p:txBody>
          <a:bodyPr/>
          <a:lstStyle/>
          <a:p>
            <a:r>
              <a:rPr lang="fi-FI"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5ED5CA-AD9F-46C6-A666-D3DD37351B9C}" type="datetime1">
              <a:rPr lang="en-US" smtClean="0"/>
              <a:pPr/>
              <a:t>06/25/21</a:t>
            </a:fld>
            <a:endParaRPr lang="en-US"/>
          </a:p>
        </p:txBody>
      </p:sp>
      <p:sp>
        <p:nvSpPr>
          <p:cNvPr id="5" name="Footer Placeholder 4"/>
          <p:cNvSpPr>
            <a:spLocks noGrp="1"/>
          </p:cNvSpPr>
          <p:nvPr>
            <p:ph type="ftr" sz="quarter" idx="11"/>
          </p:nvPr>
        </p:nvSpPr>
        <p:spPr/>
        <p:txBody>
          <a:bodyPr/>
          <a:lstStyle/>
          <a:p>
            <a:r>
              <a:rPr lang="fi-FI"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1F46932-F8E4-4185-B590-7F51D79DDBBF}" type="datetime1">
              <a:rPr lang="en-US" smtClean="0"/>
              <a:pPr/>
              <a:t>06/25/21</a:t>
            </a:fld>
            <a:endParaRPr lang="en-US"/>
          </a:p>
        </p:txBody>
      </p:sp>
      <p:sp>
        <p:nvSpPr>
          <p:cNvPr id="6" name="Footer Placeholder 5"/>
          <p:cNvSpPr>
            <a:spLocks noGrp="1"/>
          </p:cNvSpPr>
          <p:nvPr>
            <p:ph type="ftr" sz="quarter" idx="11"/>
          </p:nvPr>
        </p:nvSpPr>
        <p:spPr/>
        <p:txBody>
          <a:bodyPr/>
          <a:lstStyle/>
          <a:p>
            <a:r>
              <a:rPr lang="fi-FI" smtClean="0"/>
              <a:t>SHYAM  LAL SHARMA             KOE069 UHV-2               Unit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BC5B674-9694-4E6D-AD3E-2208B8A0D114}" type="datetime1">
              <a:rPr lang="en-US" smtClean="0"/>
              <a:pPr/>
              <a:t>06/25/21</a:t>
            </a:fld>
            <a:endParaRPr lang="en-US"/>
          </a:p>
        </p:txBody>
      </p:sp>
      <p:sp>
        <p:nvSpPr>
          <p:cNvPr id="8" name="Footer Placeholder 7"/>
          <p:cNvSpPr>
            <a:spLocks noGrp="1"/>
          </p:cNvSpPr>
          <p:nvPr>
            <p:ph type="ftr" sz="quarter" idx="11"/>
          </p:nvPr>
        </p:nvSpPr>
        <p:spPr/>
        <p:txBody>
          <a:bodyPr/>
          <a:lstStyle/>
          <a:p>
            <a:r>
              <a:rPr lang="fi-FI" smtClean="0"/>
              <a:t>SHYAM  LAL SHARMA             KOE069 UHV-2               Unit -4</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8CFF69-74B9-4680-B940-F946ECFCEFA8}" type="datetime1">
              <a:rPr lang="en-US" smtClean="0"/>
              <a:pPr/>
              <a:t>06/25/21</a:t>
            </a:fld>
            <a:endParaRPr lang="en-US"/>
          </a:p>
        </p:txBody>
      </p:sp>
      <p:sp>
        <p:nvSpPr>
          <p:cNvPr id="4" name="Footer Placeholder 3"/>
          <p:cNvSpPr>
            <a:spLocks noGrp="1"/>
          </p:cNvSpPr>
          <p:nvPr>
            <p:ph type="ftr" sz="quarter" idx="11"/>
          </p:nvPr>
        </p:nvSpPr>
        <p:spPr/>
        <p:txBody>
          <a:bodyPr/>
          <a:lstStyle/>
          <a:p>
            <a:r>
              <a:rPr lang="fi-FI" smtClean="0"/>
              <a:t>SHYAM  LAL SHARMA             KOE069 UHV-2               Unit -4</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7061DF-E081-4C52-964F-89C6484BD69D}" type="datetime1">
              <a:rPr lang="en-US" smtClean="0"/>
              <a:pPr/>
              <a:t>06/25/21</a:t>
            </a:fld>
            <a:endParaRPr lang="en-US"/>
          </a:p>
        </p:txBody>
      </p:sp>
      <p:sp>
        <p:nvSpPr>
          <p:cNvPr id="3" name="Footer Placeholder 2"/>
          <p:cNvSpPr>
            <a:spLocks noGrp="1"/>
          </p:cNvSpPr>
          <p:nvPr>
            <p:ph type="ftr" sz="quarter" idx="11"/>
          </p:nvPr>
        </p:nvSpPr>
        <p:spPr/>
        <p:txBody>
          <a:bodyPr/>
          <a:lstStyle/>
          <a:p>
            <a:r>
              <a:rPr lang="fi-FI" smtClean="0"/>
              <a:t>SHYAM  LAL SHARMA             KOE069 UHV-2               Unit -4</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B813B4-23A3-4AB0-A5E8-000F3CDAFA1C}" type="datetime1">
              <a:rPr lang="en-US" smtClean="0"/>
              <a:pPr/>
              <a:t>06/25/21</a:t>
            </a:fld>
            <a:endParaRPr lang="en-US"/>
          </a:p>
        </p:txBody>
      </p:sp>
      <p:sp>
        <p:nvSpPr>
          <p:cNvPr id="6" name="Footer Placeholder 5"/>
          <p:cNvSpPr>
            <a:spLocks noGrp="1"/>
          </p:cNvSpPr>
          <p:nvPr>
            <p:ph type="ftr" sz="quarter" idx="11"/>
          </p:nvPr>
        </p:nvSpPr>
        <p:spPr/>
        <p:txBody>
          <a:bodyPr/>
          <a:lstStyle/>
          <a:p>
            <a:r>
              <a:rPr lang="fi-FI" smtClean="0"/>
              <a:t>SHYAM  LAL SHARMA             KOE069 UHV-2               Unit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9ACD721-C633-4377-AC82-7146ED6A45CC}" type="datetime1">
              <a:rPr lang="en-US" smtClean="0"/>
              <a:pPr/>
              <a:t>06/25/21</a:t>
            </a:fld>
            <a:endParaRPr lang="en-US"/>
          </a:p>
        </p:txBody>
      </p:sp>
      <p:sp>
        <p:nvSpPr>
          <p:cNvPr id="6" name="Footer Placeholder 5"/>
          <p:cNvSpPr>
            <a:spLocks noGrp="1"/>
          </p:cNvSpPr>
          <p:nvPr>
            <p:ph type="ftr" sz="quarter" idx="11"/>
          </p:nvPr>
        </p:nvSpPr>
        <p:spPr/>
        <p:txBody>
          <a:bodyPr/>
          <a:lstStyle/>
          <a:p>
            <a:r>
              <a:rPr lang="fi-FI" smtClean="0"/>
              <a:t>SHYAM  LAL SHARMA             KOE069 UHV-2               Unit -4</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AF2458-6C0B-412D-9A54-FD0F1EFDCFB6}" type="datetime1">
              <a:rPr lang="en-US" smtClean="0"/>
              <a:pPr/>
              <a:t>06/25/21</a:t>
            </a:fld>
            <a:endParaRPr lang="en-US"/>
          </a:p>
        </p:txBody>
      </p:sp>
      <p:sp>
        <p:nvSpPr>
          <p:cNvPr id="5" name="Footer Placeholder 4"/>
          <p:cNvSpPr>
            <a:spLocks noGrp="1"/>
          </p:cNvSpPr>
          <p:nvPr>
            <p:ph type="ftr" sz="quarter" idx="11"/>
          </p:nvPr>
        </p:nvSpPr>
        <p:spPr/>
        <p:txBody>
          <a:bodyPr/>
          <a:lstStyle/>
          <a:p>
            <a:r>
              <a:rPr lang="fi-FI"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1B119-75FF-4242-AE6A-5DE43DAE9D98}" type="datetime1">
              <a:rPr lang="en-US" smtClean="0"/>
              <a:pPr/>
              <a:t>06/25/21</a:t>
            </a:fld>
            <a:endParaRPr lang="en-US"/>
          </a:p>
        </p:txBody>
      </p:sp>
      <p:sp>
        <p:nvSpPr>
          <p:cNvPr id="5" name="Footer Placeholder 4"/>
          <p:cNvSpPr>
            <a:spLocks noGrp="1"/>
          </p:cNvSpPr>
          <p:nvPr>
            <p:ph type="ftr" sz="quarter" idx="11"/>
          </p:nvPr>
        </p:nvSpPr>
        <p:spPr/>
        <p:txBody>
          <a:bodyPr/>
          <a:lstStyle/>
          <a:p>
            <a:r>
              <a:rPr lang="fi-FI"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2F21F7-36DD-4B0D-A9CE-91CAABFFB039}" type="datetime1">
              <a:rPr lang="en-US" smtClean="0"/>
              <a:pPr/>
              <a:t>06/25/21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SHYAM  LAL SHARMA             KOE069 UHV-2               Unit -4</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youtube.com/watch?v=Cnw1nK3K5qk" TargetMode="External"/><Relationship Id="rId2" Type="http://schemas.openxmlformats.org/officeDocument/2006/relationships/hyperlink" Target="https://www.youtube.com/watch?v=nFAa4t1d0TA"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www.youtube.com/watch?v=xl0XErERtUg&amp;list=PLWDeKF97v9SP_Kt6jqzA3pZ3yA7g_OAQz&amp;index=6" TargetMode="External"/><Relationship Id="rId4" Type="http://schemas.openxmlformats.org/officeDocument/2006/relationships/hyperlink" Target="https://www.youtube.com/watch?v=0CHNLEnZurs" TargetMode="Externa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s://abesit.in/library/download/B.Tech./Sem.3/2018-19/UNIVERSAL-HUMAN-VALUES-AND-PROFESSIONAL-ETHICS-RVE-301.pdf" TargetMode="External"/><Relationship Id="rId2" Type="http://schemas.openxmlformats.org/officeDocument/2006/relationships/hyperlink" Target="https://abesit.in/library/download/B.Tech./Sem.7/2019-20/UNDERSTANDING-THE-HUMAN-BEING-COMPREHENSIVELY-ROE-074.pdf"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abesit.in/library/download/B.Tech./Sem.3/2017-18/UNIVERSAL-HUMAN-VALUES-PROFESSIONAL-ETHICS-RVE-301.pdf" TargetMode="Externa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447800" y="914400"/>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IN" altLang="en-US" sz="3000" b="1" dirty="0">
              <a:solidFill>
                <a:schemeClr val="tx1"/>
              </a:solidFill>
            </a:endParaRPr>
          </a:p>
          <a:p>
            <a:r>
              <a:rPr lang="en-IN" altLang="en-US" sz="3000" b="1" dirty="0">
                <a:solidFill>
                  <a:schemeClr val="tx1"/>
                </a:solidFill>
              </a:rPr>
              <a:t>Understanding Co-existence with other orders</a:t>
            </a:r>
            <a:endParaRPr lang="en-IN" sz="3000" dirty="0">
              <a:solidFill>
                <a:schemeClr val="tx1"/>
              </a:solidFill>
            </a:endParaRPr>
          </a:p>
        </p:txBody>
      </p:sp>
      <p:pic>
        <p:nvPicPr>
          <p:cNvPr id="1026"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400" b="1" dirty="0" err="1" smtClean="0">
                <a:solidFill>
                  <a:prstClr val="black"/>
                </a:solidFill>
              </a:rPr>
              <a:t>Shyam</a:t>
            </a:r>
            <a:r>
              <a:rPr lang="en-US" sz="2400" b="1" dirty="0" smtClean="0">
                <a:solidFill>
                  <a:prstClr val="black"/>
                </a:solidFill>
              </a:rPr>
              <a:t> </a:t>
            </a:r>
            <a:r>
              <a:rPr lang="en-US" sz="2400" b="1" dirty="0" err="1" smtClean="0">
                <a:solidFill>
                  <a:prstClr val="black"/>
                </a:solidFill>
              </a:rPr>
              <a:t>Lal</a:t>
            </a:r>
            <a:r>
              <a:rPr lang="en-US" sz="2400" b="1" dirty="0" smtClean="0">
                <a:solidFill>
                  <a:prstClr val="black"/>
                </a:solidFill>
              </a:rPr>
              <a:t> Sharma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smtClean="0">
                <a:ln>
                  <a:noFill/>
                </a:ln>
                <a:solidFill>
                  <a:prstClr val="black"/>
                </a:solidFill>
                <a:effectLst/>
                <a:uLnTx/>
                <a:uFillTx/>
                <a:latin typeface="Calibri"/>
                <a:ea typeface="+mn-ea"/>
                <a:cs typeface="+mn-cs"/>
              </a:rPr>
              <a:t>Assistant </a:t>
            </a:r>
            <a:r>
              <a:rPr kumimoji="0" lang="en-US" sz="2400" b="0" i="0" u="none" strike="noStrike" kern="1200" cap="none" spc="0" normalizeH="0" baseline="0" noProof="0" dirty="0">
                <a:ln>
                  <a:noFill/>
                </a:ln>
                <a:solidFill>
                  <a:prstClr val="black"/>
                </a:solidFill>
                <a:effectLst/>
                <a:uLnTx/>
                <a:uFillTx/>
                <a:latin typeface="Calibri"/>
                <a:ea typeface="+mn-ea"/>
                <a:cs typeface="+mn-cs"/>
              </a:rPr>
              <a:t>Professor </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prstClr val="black"/>
                </a:solidFill>
                <a:latin typeface="Calibri"/>
              </a:rPr>
              <a:t>ME</a:t>
            </a: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sp>
        <p:nvSpPr>
          <p:cNvPr id="9" name="Date Placeholder 8"/>
          <p:cNvSpPr>
            <a:spLocks noGrp="1"/>
          </p:cNvSpPr>
          <p:nvPr>
            <p:ph type="dt" sz="half" idx="10"/>
          </p:nvPr>
        </p:nvSpPr>
        <p:spPr>
          <a:xfrm>
            <a:off x="278160" y="6356349"/>
            <a:ext cx="21336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DDD123C-22DE-4FE8-9126-F7015AFF65D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06/25/21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0" name="Slide Number Placeholder 9"/>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152400" y="3111624"/>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prstClr val="black"/>
                </a:solidFill>
                <a:effectLst/>
                <a:uLnTx/>
                <a:uFillTx/>
                <a:latin typeface="Calibri"/>
                <a:ea typeface="+mn-ea"/>
                <a:cs typeface="+mn-cs"/>
              </a:rPr>
              <a:t>Unit: IV</a:t>
            </a:r>
          </a:p>
        </p:txBody>
      </p:sp>
      <p:sp>
        <p:nvSpPr>
          <p:cNvPr id="14" name="Subtitle 2"/>
          <p:cNvSpPr txBox="1">
            <a:spLocks/>
          </p:cNvSpPr>
          <p:nvPr/>
        </p:nvSpPr>
        <p:spPr>
          <a:xfrm>
            <a:off x="152400" y="3965550"/>
            <a:ext cx="5571728" cy="126365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alibri"/>
                <a:ea typeface="Times New Roman" panose="02020603050405020304" pitchFamily="18" charset="0"/>
                <a:cs typeface="Mangal" panose="00000400000000000000" pitchFamily="2"/>
              </a:rPr>
              <a:t>Understanding the human being comprehensively-Human Aspirations and its fulfillment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a:ea typeface="+mn-ea"/>
                <a:cs typeface="+mn-cs"/>
              </a:rPr>
              <a:t>(</a:t>
            </a:r>
            <a:r>
              <a:rPr lang="en-US" sz="2000" dirty="0">
                <a:solidFill>
                  <a:prstClr val="black"/>
                </a:solidFill>
                <a:latin typeface="Calibri"/>
              </a:rPr>
              <a:t>KOE-069</a:t>
            </a:r>
            <a:r>
              <a:rPr kumimoji="0" lang="en-US" sz="2000" b="0" i="0" u="none" strike="noStrike" kern="1200" cap="none" spc="0" normalizeH="0" baseline="0" noProof="0" dirty="0">
                <a:ln>
                  <a:noFill/>
                </a:ln>
                <a:solidFill>
                  <a:prstClr val="black"/>
                </a:solidFill>
                <a:effectLst/>
                <a:uLnTx/>
                <a:uFillTx/>
                <a:latin typeface="Calibri"/>
                <a:ea typeface="+mn-ea"/>
                <a:cs typeface="+mn-cs"/>
              </a:rPr>
              <a:t>)</a:t>
            </a:r>
          </a:p>
        </p:txBody>
      </p:sp>
      <p:sp>
        <p:nvSpPr>
          <p:cNvPr id="15" name="Subtitle 2"/>
          <p:cNvSpPr txBox="1">
            <a:spLocks/>
          </p:cNvSpPr>
          <p:nvPr/>
        </p:nvSpPr>
        <p:spPr>
          <a:xfrm>
            <a:off x="152400" y="5343872"/>
            <a:ext cx="41910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prstClr val="black"/>
                </a:solidFill>
                <a:effectLst/>
                <a:uLnTx/>
                <a:uFillTx/>
                <a:latin typeface="Calibri"/>
                <a:ea typeface="+mn-ea"/>
                <a:cs typeface="+mn-cs"/>
              </a:rPr>
              <a:t>B Tech (6</a:t>
            </a:r>
            <a:r>
              <a:rPr kumimoji="0" lang="en-US" sz="2000" b="1" i="0" u="none" strike="noStrike" kern="1200" cap="none" spc="0" normalizeH="0" baseline="30000" noProof="0" dirty="0">
                <a:ln>
                  <a:noFill/>
                </a:ln>
                <a:solidFill>
                  <a:prstClr val="black"/>
                </a:solidFill>
                <a:effectLst/>
                <a:uLnTx/>
                <a:uFillTx/>
                <a:latin typeface="Calibri"/>
                <a:ea typeface="+mn-ea"/>
                <a:cs typeface="+mn-cs"/>
              </a:rPr>
              <a:t>th</a:t>
            </a:r>
            <a:r>
              <a:rPr kumimoji="0" lang="en-US" sz="2000" b="1" i="0" u="none" strike="noStrike" kern="1200" cap="none" spc="0" normalizeH="0" baseline="0" noProof="0" dirty="0">
                <a:ln>
                  <a:noFill/>
                </a:ln>
                <a:solidFill>
                  <a:prstClr val="black"/>
                </a:solidFill>
                <a:effectLst/>
                <a:uLnTx/>
                <a:uFillTx/>
                <a:latin typeface="Calibri"/>
                <a:ea typeface="+mn-ea"/>
                <a:cs typeface="+mn-cs"/>
              </a:rPr>
              <a:t> Sem)</a:t>
            </a:r>
          </a:p>
        </p:txBody>
      </p:sp>
      <p:sp>
        <p:nvSpPr>
          <p:cNvPr id="16" name="Footer Placeholder 4">
            <a:extLst>
              <a:ext uri="{FF2B5EF4-FFF2-40B4-BE49-F238E27FC236}">
                <a16:creationId xmlns:a16="http://schemas.microsoft.com/office/drawing/2014/main" xmlns="" id="{732C573A-F37C-46B2-95D3-6D0B48265E84}"/>
              </a:ext>
            </a:extLst>
          </p:cNvPr>
          <p:cNvSpPr>
            <a:spLocks noGrp="1"/>
          </p:cNvSpPr>
          <p:nvPr>
            <p:ph type="ftr" sz="quarter" idx="11"/>
          </p:nvPr>
        </p:nvSpPr>
        <p:spPr>
          <a:xfrm>
            <a:off x="2411760" y="635635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-4</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85794"/>
            <a:ext cx="8548718" cy="4947462"/>
          </a:xfrm>
        </p:spPr>
        <p:txBody>
          <a:bodyPr>
            <a:noAutofit/>
          </a:bodyPr>
          <a:lstStyle/>
          <a:p>
            <a:pPr>
              <a:buFont typeface="Wingdings" panose="05000000000000000000" pitchFamily="2" charset="2"/>
              <a:buChar char="Ø"/>
            </a:pPr>
            <a:endParaRPr lang="en-US" sz="2200" dirty="0">
              <a:latin typeface="Arial" pitchFamily="34" charset="0"/>
              <a:cs typeface="Arial" pitchFamily="34" charset="0"/>
            </a:endParaRPr>
          </a:p>
          <a:p>
            <a:pPr>
              <a:buFont typeface="Wingdings" panose="05000000000000000000" pitchFamily="2" charset="2"/>
              <a:buChar char="Ø"/>
            </a:pPr>
            <a:r>
              <a:rPr lang="en-US" sz="2400" dirty="0"/>
              <a:t>Course Outcomes</a:t>
            </a:r>
          </a:p>
          <a:p>
            <a:pPr>
              <a:buFont typeface="Wingdings" panose="05000000000000000000" pitchFamily="2" charset="2"/>
              <a:buChar char="Ø"/>
            </a:pPr>
            <a:r>
              <a:rPr lang="en-US" sz="2400" dirty="0"/>
              <a:t>CO-PO and PSO mapping</a:t>
            </a:r>
          </a:p>
          <a:p>
            <a:pPr>
              <a:buFont typeface="Wingdings" panose="05000000000000000000" pitchFamily="2" charset="2"/>
              <a:buChar char="Ø"/>
            </a:pPr>
            <a:r>
              <a:rPr lang="en-US" sz="2400" dirty="0"/>
              <a:t>Unit -4 Syllabus</a:t>
            </a:r>
          </a:p>
          <a:p>
            <a:pPr>
              <a:buFont typeface="Wingdings" panose="05000000000000000000" pitchFamily="2" charset="2"/>
              <a:buChar char="Ø"/>
            </a:pPr>
            <a:r>
              <a:rPr lang="en-US" sz="2400" dirty="0"/>
              <a:t>Unit -4 Objective, Prerequisite</a:t>
            </a:r>
          </a:p>
          <a:p>
            <a:pPr>
              <a:buFont typeface="Wingdings" panose="05000000000000000000" pitchFamily="2" charset="2"/>
              <a:buChar char="Ø"/>
            </a:pPr>
            <a:r>
              <a:rPr lang="en-US" sz="2400" dirty="0"/>
              <a:t>Daily Quiz</a:t>
            </a:r>
          </a:p>
          <a:p>
            <a:pPr>
              <a:buFont typeface="Wingdings" panose="05000000000000000000" pitchFamily="2" charset="2"/>
              <a:buChar char="Ø"/>
            </a:pPr>
            <a:r>
              <a:rPr lang="en-US" sz="2400" dirty="0"/>
              <a:t>MCQ</a:t>
            </a:r>
          </a:p>
          <a:p>
            <a:pPr>
              <a:buFont typeface="Wingdings" panose="05000000000000000000" pitchFamily="2" charset="2"/>
              <a:buChar char="Ø"/>
            </a:pPr>
            <a:r>
              <a:rPr lang="en-US" sz="2400" dirty="0"/>
              <a:t>Weekly Assignment</a:t>
            </a:r>
          </a:p>
          <a:p>
            <a:pPr>
              <a:buFont typeface="Wingdings" panose="05000000000000000000" pitchFamily="2" charset="2"/>
              <a:buChar char="Ø"/>
            </a:pPr>
            <a:r>
              <a:rPr lang="en-US" sz="2400" dirty="0">
                <a:latin typeface="+mj-lt"/>
                <a:cs typeface="Arial" pitchFamily="34" charset="0"/>
              </a:rPr>
              <a:t>Previous year Question papers</a:t>
            </a:r>
          </a:p>
          <a:p>
            <a:pPr>
              <a:buFont typeface="Wingdings" panose="05000000000000000000" pitchFamily="2" charset="2"/>
              <a:buChar char="Ø"/>
            </a:pPr>
            <a:r>
              <a:rPr lang="en-US" sz="2400" dirty="0">
                <a:latin typeface="+mj-lt"/>
                <a:cs typeface="Arial" pitchFamily="34" charset="0"/>
              </a:rPr>
              <a:t>Expected Questions for University exam</a:t>
            </a:r>
          </a:p>
          <a:p>
            <a:pPr>
              <a:buFont typeface="Wingdings" panose="05000000000000000000" pitchFamily="2" charset="2"/>
              <a:buChar char="Ø"/>
            </a:pPr>
            <a:r>
              <a:rPr lang="en-US" sz="2400" dirty="0"/>
              <a:t>Related Links for Unit -4</a:t>
            </a:r>
          </a:p>
          <a:p>
            <a:pPr>
              <a:buFont typeface="Wingdings" panose="05000000000000000000" pitchFamily="2" charset="2"/>
              <a:buChar char="Ø"/>
            </a:pPr>
            <a:r>
              <a:rPr lang="en-US" sz="2400" dirty="0"/>
              <a:t>Summary</a:t>
            </a:r>
          </a:p>
        </p:txBody>
      </p:sp>
      <p:sp>
        <p:nvSpPr>
          <p:cNvPr id="6" name="Date Placeholder 5"/>
          <p:cNvSpPr>
            <a:spLocks noGrp="1"/>
          </p:cNvSpPr>
          <p:nvPr>
            <p:ph type="dt" sz="half" idx="10"/>
          </p:nvPr>
        </p:nvSpPr>
        <p:spPr/>
        <p:txBody>
          <a:bodyPr/>
          <a:lstStyle/>
          <a:p>
            <a:fld id="{358B4EEB-55EE-4AA3-BEDC-21E0BBEE914F}" type="datetime1">
              <a:rPr lang="en-US" smtClean="0"/>
              <a:pPr/>
              <a:t>06/25/21</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dirty="0"/>
          </a:p>
        </p:txBody>
      </p:sp>
      <p:sp>
        <p:nvSpPr>
          <p:cNvPr id="8"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CONTENT</a:t>
            </a:r>
          </a:p>
        </p:txBody>
      </p:sp>
      <p:pic>
        <p:nvPicPr>
          <p:cNvPr id="9"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10"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CE5FB40-1715-449A-BBE3-419ACBCE4A0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06/25/21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a:ea typeface="+mn-ea"/>
                <a:cs typeface="+mn-cs"/>
              </a:rPr>
              <a:t>COURSE OUTCOME</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10" name="Table 9"/>
          <p:cNvGraphicFramePr>
            <a:graphicFrameLocks noGrp="1"/>
          </p:cNvGraphicFramePr>
          <p:nvPr>
            <p:extLst>
              <p:ext uri="{D42A27DB-BD31-4B8C-83A1-F6EECF244321}">
                <p14:modId xmlns:p14="http://schemas.microsoft.com/office/powerpoint/2010/main" xmlns="" val="981048969"/>
              </p:ext>
            </p:extLst>
          </p:nvPr>
        </p:nvGraphicFramePr>
        <p:xfrm>
          <a:off x="228600" y="1322048"/>
          <a:ext cx="8763000" cy="4800600"/>
        </p:xfrm>
        <a:graphic>
          <a:graphicData uri="http://schemas.openxmlformats.org/drawingml/2006/table">
            <a:tbl>
              <a:tblPr/>
              <a:tblGrid>
                <a:gridCol w="1219200">
                  <a:extLst>
                    <a:ext uri="{9D8B030D-6E8A-4147-A177-3AD203B41FA5}">
                      <a16:colId xmlns:a16="http://schemas.microsoft.com/office/drawing/2014/main" xmlns="" val="20000"/>
                    </a:ext>
                  </a:extLst>
                </a:gridCol>
                <a:gridCol w="7543800">
                  <a:extLst>
                    <a:ext uri="{9D8B030D-6E8A-4147-A177-3AD203B41FA5}">
                      <a16:colId xmlns:a16="http://schemas.microsoft.com/office/drawing/2014/main" xmlns="" val="20001"/>
                    </a:ext>
                  </a:extLst>
                </a:gridCol>
              </a:tblGrid>
              <a:tr h="9281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1</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just">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Student would be able to develop the clarity about human aspirations, goal, activities and purpose of life. </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0"/>
                  </a:ext>
                </a:extLst>
              </a:tr>
              <a:tr h="9281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2</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The clarity about Right Understanding could be possible for students.</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1"/>
                  </a:ext>
                </a:extLst>
              </a:tr>
              <a:tr h="9281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3</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Students would become competent to understand the harmony in nature/existence .</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0080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4</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just">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To help students in participating in the nature/existence.</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3"/>
                  </a:ext>
                </a:extLst>
              </a:tr>
              <a:tr h="1008060">
                <a:tc>
                  <a:txBody>
                    <a:bodyPr/>
                    <a:lstStyle/>
                    <a:p>
                      <a:pPr marL="292100" marR="0" algn="just">
                        <a:lnSpc>
                          <a:spcPct val="115000"/>
                        </a:lnSpc>
                        <a:spcBef>
                          <a:spcPts val="0"/>
                        </a:spcBef>
                        <a:spcAft>
                          <a:spcPts val="0"/>
                        </a:spcAft>
                      </a:pPr>
                      <a:r>
                        <a:rPr lang="en-US" sz="2400" b="1" dirty="0">
                          <a:latin typeface="+mj-lt"/>
                          <a:ea typeface="Times New Roman"/>
                          <a:cs typeface="Times New Roman" pitchFamily="18" charset="0"/>
                        </a:rPr>
                        <a:t>CO 5</a:t>
                      </a:r>
                      <a:endParaRPr lang="en-US" sz="2400" dirty="0">
                        <a:latin typeface="+mj-lt"/>
                        <a:ea typeface="Arial"/>
                        <a:cs typeface="Times New Roman" pitchFamily="18" charset="0"/>
                      </a:endParaRPr>
                    </a:p>
                  </a:txBody>
                  <a:tcPr marL="57645" marR="57645" marT="57645" marB="5764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1000"/>
                        </a:spcAft>
                      </a:pPr>
                      <a:r>
                        <a:rPr lang="en-US" sz="2400" dirty="0">
                          <a:effectLst/>
                          <a:latin typeface="Times New Roman" panose="02020603050405020304" pitchFamily="18" charset="0"/>
                          <a:ea typeface="Calibri" panose="020F0502020204030204" pitchFamily="34" charset="0"/>
                          <a:cs typeface="Mangal" panose="02040503050203030202" pitchFamily="18" charset="0"/>
                        </a:rPr>
                        <a:t>To help the students to develop the understanding of human tradition and its various components.</a:t>
                      </a:r>
                      <a:endParaRPr lang="en-IN" sz="2400" dirty="0">
                        <a:effectLst/>
                        <a:latin typeface="Calibri" panose="020F0502020204030204" pitchFamily="34" charset="0"/>
                        <a:ea typeface="Calibri" panose="020F0502020204030204" pitchFamily="34"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sp>
        <p:nvSpPr>
          <p:cNvPr id="9" name="Rectangle 8"/>
          <p:cNvSpPr/>
          <p:nvPr/>
        </p:nvSpPr>
        <p:spPr>
          <a:xfrm>
            <a:off x="1219200" y="838200"/>
            <a:ext cx="7848600"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a:ea typeface="+mn-ea"/>
                <a:cs typeface="+mn-cs"/>
              </a:rPr>
              <a:t>At the end of the course, the student shall be able to</a:t>
            </a:r>
          </a:p>
        </p:txBody>
      </p:sp>
      <p:sp>
        <p:nvSpPr>
          <p:cNvPr id="12" name="Footer Placeholder 4">
            <a:extLst>
              <a:ext uri="{FF2B5EF4-FFF2-40B4-BE49-F238E27FC236}">
                <a16:creationId xmlns:a16="http://schemas.microsoft.com/office/drawing/2014/main" xmlns="" id="{42217E27-DBDA-41BB-926B-848E00194DEF}"/>
              </a:ext>
            </a:extLst>
          </p:cNvPr>
          <p:cNvSpPr>
            <a:spLocks noGrp="1"/>
          </p:cNvSpPr>
          <p:nvPr>
            <p:ph type="ftr" sz="quarter" idx="11"/>
          </p:nvPr>
        </p:nvSpPr>
        <p:spPr>
          <a:xfrm>
            <a:off x="2438401" y="6381328"/>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-4</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0061589-F3B4-4721-90F5-9B8ADC11B76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06/25/21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alibri"/>
                <a:ea typeface="+mn-ea"/>
                <a:cs typeface="+mn-cs"/>
              </a:rPr>
              <a:t>CO-PO AND PSO MAPPING</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graphicFrame>
        <p:nvGraphicFramePr>
          <p:cNvPr id="9" name="Table 8"/>
          <p:cNvGraphicFramePr>
            <a:graphicFrameLocks noGrp="1"/>
          </p:cNvGraphicFramePr>
          <p:nvPr>
            <p:extLst>
              <p:ext uri="{D42A27DB-BD31-4B8C-83A1-F6EECF244321}">
                <p14:modId xmlns:p14="http://schemas.microsoft.com/office/powerpoint/2010/main" xmlns="" val="1070214488"/>
              </p:ext>
            </p:extLst>
          </p:nvPr>
        </p:nvGraphicFramePr>
        <p:xfrm>
          <a:off x="800100" y="1566446"/>
          <a:ext cx="7543800" cy="2208276"/>
        </p:xfrm>
        <a:graphic>
          <a:graphicData uri="http://schemas.openxmlformats.org/drawingml/2006/table">
            <a:tbl>
              <a:tblPr/>
              <a:tblGrid>
                <a:gridCol w="1066800">
                  <a:extLst>
                    <a:ext uri="{9D8B030D-6E8A-4147-A177-3AD203B41FA5}">
                      <a16:colId xmlns:a16="http://schemas.microsoft.com/office/drawing/2014/main" xmlns="" val="20000"/>
                    </a:ext>
                  </a:extLst>
                </a:gridCol>
                <a:gridCol w="533400">
                  <a:extLst>
                    <a:ext uri="{9D8B030D-6E8A-4147-A177-3AD203B41FA5}">
                      <a16:colId xmlns:a16="http://schemas.microsoft.com/office/drawing/2014/main" xmlns="" val="20001"/>
                    </a:ext>
                  </a:extLst>
                </a:gridCol>
                <a:gridCol w="504501">
                  <a:extLst>
                    <a:ext uri="{9D8B030D-6E8A-4147-A177-3AD203B41FA5}">
                      <a16:colId xmlns:a16="http://schemas.microsoft.com/office/drawing/2014/main" xmlns="" val="20002"/>
                    </a:ext>
                  </a:extLst>
                </a:gridCol>
                <a:gridCol w="580638">
                  <a:extLst>
                    <a:ext uri="{9D8B030D-6E8A-4147-A177-3AD203B41FA5}">
                      <a16:colId xmlns:a16="http://schemas.microsoft.com/office/drawing/2014/main" xmlns="" val="20003"/>
                    </a:ext>
                  </a:extLst>
                </a:gridCol>
                <a:gridCol w="580638">
                  <a:extLst>
                    <a:ext uri="{9D8B030D-6E8A-4147-A177-3AD203B41FA5}">
                      <a16:colId xmlns:a16="http://schemas.microsoft.com/office/drawing/2014/main" xmlns="" val="20004"/>
                    </a:ext>
                  </a:extLst>
                </a:gridCol>
                <a:gridCol w="561965">
                  <a:extLst>
                    <a:ext uri="{9D8B030D-6E8A-4147-A177-3AD203B41FA5}">
                      <a16:colId xmlns:a16="http://schemas.microsoft.com/office/drawing/2014/main" xmlns="" val="20005"/>
                    </a:ext>
                  </a:extLst>
                </a:gridCol>
                <a:gridCol w="561965">
                  <a:extLst>
                    <a:ext uri="{9D8B030D-6E8A-4147-A177-3AD203B41FA5}">
                      <a16:colId xmlns:a16="http://schemas.microsoft.com/office/drawing/2014/main" xmlns="" val="20006"/>
                    </a:ext>
                  </a:extLst>
                </a:gridCol>
                <a:gridCol w="486893">
                  <a:extLst>
                    <a:ext uri="{9D8B030D-6E8A-4147-A177-3AD203B41FA5}">
                      <a16:colId xmlns:a16="http://schemas.microsoft.com/office/drawing/2014/main" xmlns="" val="20007"/>
                    </a:ext>
                  </a:extLst>
                </a:gridCol>
                <a:gridCol w="533400">
                  <a:extLst>
                    <a:ext uri="{9D8B030D-6E8A-4147-A177-3AD203B41FA5}">
                      <a16:colId xmlns:a16="http://schemas.microsoft.com/office/drawing/2014/main" xmlns="" val="20008"/>
                    </a:ext>
                  </a:extLst>
                </a:gridCol>
                <a:gridCol w="533400">
                  <a:extLst>
                    <a:ext uri="{9D8B030D-6E8A-4147-A177-3AD203B41FA5}">
                      <a16:colId xmlns:a16="http://schemas.microsoft.com/office/drawing/2014/main" xmlns="" val="20009"/>
                    </a:ext>
                  </a:extLst>
                </a:gridCol>
                <a:gridCol w="533400">
                  <a:extLst>
                    <a:ext uri="{9D8B030D-6E8A-4147-A177-3AD203B41FA5}">
                      <a16:colId xmlns:a16="http://schemas.microsoft.com/office/drawing/2014/main" xmlns="" val="20010"/>
                    </a:ext>
                  </a:extLst>
                </a:gridCol>
                <a:gridCol w="533400">
                  <a:extLst>
                    <a:ext uri="{9D8B030D-6E8A-4147-A177-3AD203B41FA5}">
                      <a16:colId xmlns:a16="http://schemas.microsoft.com/office/drawing/2014/main" xmlns="" val="20011"/>
                    </a:ext>
                  </a:extLst>
                </a:gridCol>
                <a:gridCol w="533400">
                  <a:extLst>
                    <a:ext uri="{9D8B030D-6E8A-4147-A177-3AD203B41FA5}">
                      <a16:colId xmlns:a16="http://schemas.microsoft.com/office/drawing/2014/main" xmlns="" val="20012"/>
                    </a:ext>
                  </a:extLst>
                </a:gridCol>
              </a:tblGrid>
              <a:tr h="609600">
                <a:tc>
                  <a:txBody>
                    <a:bodyPr/>
                    <a:lstStyle/>
                    <a:p>
                      <a:pPr marL="0" marR="0">
                        <a:lnSpc>
                          <a:spcPct val="115000"/>
                        </a:lnSpc>
                        <a:spcBef>
                          <a:spcPts val="0"/>
                        </a:spcBef>
                        <a:spcAft>
                          <a:spcPts val="0"/>
                        </a:spcAft>
                      </a:pPr>
                      <a:r>
                        <a:rPr lang="en-US" sz="1800" b="1" dirty="0"/>
                        <a:t>Course  Outcome</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3</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4</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5</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6</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7</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8</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9</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10</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11</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800" b="1" dirty="0"/>
                        <a:t>PO 12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02006">
                <a:tc>
                  <a:txBody>
                    <a:bodyPr/>
                    <a:lstStyle/>
                    <a:p>
                      <a:pPr marL="0" marR="0">
                        <a:lnSpc>
                          <a:spcPct val="115000"/>
                        </a:lnSpc>
                        <a:spcBef>
                          <a:spcPts val="0"/>
                        </a:spcBef>
                        <a:spcAft>
                          <a:spcPts val="0"/>
                        </a:spcAft>
                      </a:pPr>
                      <a:r>
                        <a:rPr lang="en-US" b="1" dirty="0"/>
                        <a:t>CO 1</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1"/>
                  </a:ext>
                </a:extLst>
              </a:tr>
              <a:tr h="304800">
                <a:tc>
                  <a:txBody>
                    <a:bodyPr/>
                    <a:lstStyle/>
                    <a:p>
                      <a:pPr marL="0" marR="0">
                        <a:lnSpc>
                          <a:spcPct val="115000"/>
                        </a:lnSpc>
                        <a:spcBef>
                          <a:spcPts val="0"/>
                        </a:spcBef>
                        <a:spcAft>
                          <a:spcPts val="0"/>
                        </a:spcAft>
                      </a:pPr>
                      <a:r>
                        <a:rPr lang="en-US" b="1" dirty="0"/>
                        <a:t>CO 2</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2"/>
                  </a:ext>
                </a:extLst>
              </a:tr>
              <a:tr h="304800">
                <a:tc>
                  <a:txBody>
                    <a:bodyPr/>
                    <a:lstStyle/>
                    <a:p>
                      <a:pPr marL="0" marR="0">
                        <a:lnSpc>
                          <a:spcPct val="115000"/>
                        </a:lnSpc>
                        <a:spcBef>
                          <a:spcPts val="0"/>
                        </a:spcBef>
                        <a:spcAft>
                          <a:spcPts val="0"/>
                        </a:spcAft>
                      </a:pPr>
                      <a:r>
                        <a:rPr lang="en-US" b="1" dirty="0"/>
                        <a:t>CO 3</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304800">
                <a:tc>
                  <a:txBody>
                    <a:bodyPr/>
                    <a:lstStyle/>
                    <a:p>
                      <a:pPr marL="0" marR="0">
                        <a:lnSpc>
                          <a:spcPct val="115000"/>
                        </a:lnSpc>
                        <a:spcBef>
                          <a:spcPts val="0"/>
                        </a:spcBef>
                        <a:spcAft>
                          <a:spcPts val="0"/>
                        </a:spcAft>
                      </a:pPr>
                      <a:r>
                        <a:rPr lang="en-US" b="1" dirty="0"/>
                        <a:t>CO 4</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2</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4"/>
                  </a:ext>
                </a:extLst>
              </a:tr>
              <a:tr h="304800">
                <a:tc>
                  <a:txBody>
                    <a:bodyPr/>
                    <a:lstStyle/>
                    <a:p>
                      <a:pPr marL="0" marR="0">
                        <a:lnSpc>
                          <a:spcPct val="115000"/>
                        </a:lnSpc>
                        <a:spcBef>
                          <a:spcPts val="0"/>
                        </a:spcBef>
                        <a:spcAft>
                          <a:spcPts val="0"/>
                        </a:spcAft>
                      </a:pPr>
                      <a:r>
                        <a:rPr lang="en-US" b="1" dirty="0"/>
                        <a:t>CO 5</a:t>
                      </a:r>
                    </a:p>
                  </a:txBody>
                  <a:tcPr marL="68580" marR="68580" marT="0" marB="0" anchor="ctr" anchorCtr="1">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3</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8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3</a:t>
                      </a:r>
                      <a:endParaRPr lang="en-IN" sz="18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17409" name="Rectangle 1"/>
          <p:cNvSpPr>
            <a:spLocks noChangeArrowheads="1"/>
          </p:cNvSpPr>
          <p:nvPr/>
        </p:nvSpPr>
        <p:spPr bwMode="auto">
          <a:xfrm>
            <a:off x="1905000" y="895290"/>
            <a:ext cx="5562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4F81BD"/>
                </a:solidFill>
                <a:effectLst/>
                <a:uLnTx/>
                <a:uFillTx/>
                <a:latin typeface="Times New Roman" pitchFamily="18" charset="0"/>
                <a:ea typeface="Times New Roman" pitchFamily="18" charset="0"/>
                <a:cs typeface="Times New Roman" pitchFamily="18" charset="0"/>
              </a:rPr>
              <a:t>CO – PO Mapping</a:t>
            </a:r>
            <a:endParaRPr kumimoji="0" lang="en-US" sz="3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graphicFrame>
        <p:nvGraphicFramePr>
          <p:cNvPr id="10" name="Table 9"/>
          <p:cNvGraphicFramePr>
            <a:graphicFrameLocks noGrp="1"/>
          </p:cNvGraphicFramePr>
          <p:nvPr>
            <p:extLst>
              <p:ext uri="{D42A27DB-BD31-4B8C-83A1-F6EECF244321}">
                <p14:modId xmlns:p14="http://schemas.microsoft.com/office/powerpoint/2010/main" xmlns="" val="902603387"/>
              </p:ext>
            </p:extLst>
          </p:nvPr>
        </p:nvGraphicFramePr>
        <p:xfrm>
          <a:off x="2743200" y="4085234"/>
          <a:ext cx="3428999" cy="2208276"/>
        </p:xfrm>
        <a:graphic>
          <a:graphicData uri="http://schemas.openxmlformats.org/drawingml/2006/table">
            <a:tbl>
              <a:tblPr/>
              <a:tblGrid>
                <a:gridCol w="990600">
                  <a:extLst>
                    <a:ext uri="{9D8B030D-6E8A-4147-A177-3AD203B41FA5}">
                      <a16:colId xmlns:a16="http://schemas.microsoft.com/office/drawing/2014/main" xmlns="" val="20000"/>
                    </a:ext>
                  </a:extLst>
                </a:gridCol>
                <a:gridCol w="609600">
                  <a:extLst>
                    <a:ext uri="{9D8B030D-6E8A-4147-A177-3AD203B41FA5}">
                      <a16:colId xmlns:a16="http://schemas.microsoft.com/office/drawing/2014/main" xmlns="" val="20001"/>
                    </a:ext>
                  </a:extLst>
                </a:gridCol>
                <a:gridCol w="609600">
                  <a:extLst>
                    <a:ext uri="{9D8B030D-6E8A-4147-A177-3AD203B41FA5}">
                      <a16:colId xmlns:a16="http://schemas.microsoft.com/office/drawing/2014/main" xmlns="" val="20002"/>
                    </a:ext>
                  </a:extLst>
                </a:gridCol>
                <a:gridCol w="609600">
                  <a:extLst>
                    <a:ext uri="{9D8B030D-6E8A-4147-A177-3AD203B41FA5}">
                      <a16:colId xmlns:a16="http://schemas.microsoft.com/office/drawing/2014/main" xmlns="" val="20003"/>
                    </a:ext>
                  </a:extLst>
                </a:gridCol>
                <a:gridCol w="609599">
                  <a:extLst>
                    <a:ext uri="{9D8B030D-6E8A-4147-A177-3AD203B41FA5}">
                      <a16:colId xmlns:a16="http://schemas.microsoft.com/office/drawing/2014/main" xmlns="" val="598256815"/>
                    </a:ext>
                  </a:extLst>
                </a:gridCol>
              </a:tblGrid>
              <a:tr h="622216">
                <a:tc>
                  <a:txBody>
                    <a:bodyPr/>
                    <a:lstStyle/>
                    <a:p>
                      <a:pPr marL="0" marR="0" algn="ctr">
                        <a:lnSpc>
                          <a:spcPct val="115000"/>
                        </a:lnSpc>
                        <a:spcBef>
                          <a:spcPts val="0"/>
                        </a:spcBef>
                        <a:spcAft>
                          <a:spcPts val="0"/>
                        </a:spcAft>
                      </a:pPr>
                      <a:r>
                        <a:rPr lang="en-US" b="1" dirty="0"/>
                        <a:t>CO</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b="1" dirty="0"/>
                        <a:t>PSO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307108">
                <a:tc>
                  <a:txBody>
                    <a:bodyPr/>
                    <a:lstStyle/>
                    <a:p>
                      <a:pPr marL="0" marR="0" algn="ctr">
                        <a:lnSpc>
                          <a:spcPct val="115000"/>
                        </a:lnSpc>
                        <a:spcBef>
                          <a:spcPts val="0"/>
                        </a:spcBef>
                        <a:spcAft>
                          <a:spcPts val="0"/>
                        </a:spcAft>
                      </a:pPr>
                      <a:r>
                        <a:rPr lang="en-US" b="1" dirty="0"/>
                        <a:t>CO 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1"/>
                  </a:ext>
                </a:extLst>
              </a:tr>
              <a:tr h="301688">
                <a:tc>
                  <a:txBody>
                    <a:bodyPr/>
                    <a:lstStyle/>
                    <a:p>
                      <a:pPr marL="0" marR="0" algn="ctr">
                        <a:lnSpc>
                          <a:spcPct val="115000"/>
                        </a:lnSpc>
                        <a:spcBef>
                          <a:spcPts val="0"/>
                        </a:spcBef>
                        <a:spcAft>
                          <a:spcPts val="0"/>
                        </a:spcAft>
                      </a:pPr>
                      <a:r>
                        <a:rPr lang="en-US" b="1" dirty="0"/>
                        <a:t>CO 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301688">
                <a:tc>
                  <a:txBody>
                    <a:bodyPr/>
                    <a:lstStyle/>
                    <a:p>
                      <a:pPr marL="0" marR="0" algn="ctr">
                        <a:lnSpc>
                          <a:spcPct val="115000"/>
                        </a:lnSpc>
                        <a:spcBef>
                          <a:spcPts val="0"/>
                        </a:spcBef>
                        <a:spcAft>
                          <a:spcPts val="0"/>
                        </a:spcAft>
                      </a:pPr>
                      <a:r>
                        <a:rPr lang="en-US" b="1" dirty="0"/>
                        <a:t>CO 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301688">
                <a:tc>
                  <a:txBody>
                    <a:bodyPr/>
                    <a:lstStyle/>
                    <a:p>
                      <a:pPr marL="0" marR="0" algn="ctr">
                        <a:lnSpc>
                          <a:spcPct val="115000"/>
                        </a:lnSpc>
                        <a:spcBef>
                          <a:spcPts val="0"/>
                        </a:spcBef>
                        <a:spcAft>
                          <a:spcPts val="0"/>
                        </a:spcAft>
                      </a:pPr>
                      <a:r>
                        <a:rPr lang="en-US" b="1" dirty="0"/>
                        <a:t>CO 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2</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xmlns="" val="10004"/>
                  </a:ext>
                </a:extLst>
              </a:tr>
              <a:tr h="301688">
                <a:tc>
                  <a:txBody>
                    <a:bodyPr/>
                    <a:lstStyle/>
                    <a:p>
                      <a:pPr marL="0" marR="0" algn="ctr">
                        <a:lnSpc>
                          <a:spcPct val="115000"/>
                        </a:lnSpc>
                        <a:spcBef>
                          <a:spcPts val="0"/>
                        </a:spcBef>
                        <a:spcAft>
                          <a:spcPts val="0"/>
                        </a:spcAft>
                      </a:pPr>
                      <a:r>
                        <a:rPr lang="en-US" b="1" dirty="0"/>
                        <a:t>CO 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a:effectLst/>
                          <a:latin typeface="Times New Roman" panose="02020603050405020304" pitchFamily="18" charset="0"/>
                          <a:ea typeface="Calibri" panose="020F0502020204030204" pitchFamily="34" charset="0"/>
                          <a:cs typeface="Mangal" panose="02040503050203030202" pitchFamily="18" charset="0"/>
                        </a:rPr>
                        <a:t>1</a:t>
                      </a:r>
                      <a:endParaRPr lang="en-IN" sz="160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1</a:t>
                      </a:r>
                      <a:endParaRPr lang="en-IN" sz="1600" dirty="0">
                        <a:effectLst/>
                        <a:latin typeface="Calibri" panose="020F0502020204030204" pitchFamily="34" charset="0"/>
                        <a:ea typeface="Times New Roman" panose="02020603050405020304" pitchFamily="18" charset="0"/>
                        <a:cs typeface="Mangal" panose="02040503050203030202"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
        <p:nvSpPr>
          <p:cNvPr id="11" name="Rectangle 1"/>
          <p:cNvSpPr>
            <a:spLocks noChangeArrowheads="1"/>
          </p:cNvSpPr>
          <p:nvPr/>
        </p:nvSpPr>
        <p:spPr bwMode="auto">
          <a:xfrm>
            <a:off x="1905000" y="3657600"/>
            <a:ext cx="5562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4F81BD"/>
                </a:solidFill>
                <a:effectLst/>
                <a:uLnTx/>
                <a:uFillTx/>
                <a:latin typeface="Times New Roman" pitchFamily="18" charset="0"/>
                <a:ea typeface="Times New Roman" pitchFamily="18" charset="0"/>
                <a:cs typeface="Times New Roman" pitchFamily="18" charset="0"/>
              </a:rPr>
              <a:t>CO – PSO Mapping</a:t>
            </a:r>
            <a:endParaRPr kumimoji="0" lang="en-US" sz="3600" b="0" i="0" u="none" strike="noStrike" kern="1200" cap="none" spc="0" normalizeH="0" baseline="0" noProof="0" dirty="0">
              <a:ln>
                <a:noFill/>
              </a:ln>
              <a:solidFill>
                <a:prstClr val="black"/>
              </a:solidFill>
              <a:effectLst/>
              <a:uLnTx/>
              <a:uFillTx/>
              <a:latin typeface="Times New Roman" pitchFamily="18" charset="0"/>
              <a:ea typeface="+mn-ea"/>
              <a:cs typeface="Times New Roman" pitchFamily="18" charset="0"/>
            </a:endParaRPr>
          </a:p>
        </p:txBody>
      </p:sp>
      <p:sp>
        <p:nvSpPr>
          <p:cNvPr id="12" name="Footer Placeholder 4">
            <a:extLst>
              <a:ext uri="{FF2B5EF4-FFF2-40B4-BE49-F238E27FC236}">
                <a16:creationId xmlns:a16="http://schemas.microsoft.com/office/drawing/2014/main" xmlns="" id="{7F32D391-06CD-4D9A-B178-59AB87402636}"/>
              </a:ext>
            </a:extLst>
          </p:cNvPr>
          <p:cNvSpPr>
            <a:spLocks noGrp="1"/>
          </p:cNvSpPr>
          <p:nvPr>
            <p:ph type="ftr" sz="quarter" idx="11"/>
          </p:nvPr>
        </p:nvSpPr>
        <p:spPr>
          <a:xfrm>
            <a:off x="2438401" y="630932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-4</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E3224F-6A25-448A-822D-46EB3E7DC6F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06/25/21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dirty="0">
                <a:ln>
                  <a:noFill/>
                </a:ln>
                <a:solidFill>
                  <a:prstClr val="black"/>
                </a:solidFill>
                <a:effectLst/>
                <a:uLnTx/>
                <a:uFillTx/>
                <a:latin typeface="Calibri"/>
                <a:ea typeface="+mn-ea"/>
                <a:cs typeface="+mn-cs"/>
              </a:rPr>
              <a:t>UNIT-4     SYLLABUS</a:t>
            </a:r>
          </a:p>
        </p:txBody>
      </p:sp>
      <p:sp>
        <p:nvSpPr>
          <p:cNvPr id="13" name="Footer Placeholder 4">
            <a:extLst>
              <a:ext uri="{FF2B5EF4-FFF2-40B4-BE49-F238E27FC236}">
                <a16:creationId xmlns:a16="http://schemas.microsoft.com/office/drawing/2014/main" xmlns="" id="{DC93E38E-E4C0-443B-94ED-037F8D2F371D}"/>
              </a:ext>
            </a:extLst>
          </p:cNvPr>
          <p:cNvSpPr>
            <a:spLocks noGrp="1"/>
          </p:cNvSpPr>
          <p:nvPr>
            <p:ph type="ftr" sz="quarter" idx="11"/>
          </p:nvPr>
        </p:nvSpPr>
        <p:spPr>
          <a:xfrm>
            <a:off x="2438401" y="630932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-4</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4" name="TextBox 13">
            <a:extLst>
              <a:ext uri="{FF2B5EF4-FFF2-40B4-BE49-F238E27FC236}">
                <a16:creationId xmlns:a16="http://schemas.microsoft.com/office/drawing/2014/main" xmlns="" id="{61E8EC8D-4384-4913-B261-DD26F1990400}"/>
              </a:ext>
            </a:extLst>
          </p:cNvPr>
          <p:cNvSpPr txBox="1"/>
          <p:nvPr/>
        </p:nvSpPr>
        <p:spPr>
          <a:xfrm>
            <a:off x="457200" y="980728"/>
            <a:ext cx="8507288" cy="5724644"/>
          </a:xfrm>
          <a:prstGeom prst="rect">
            <a:avLst/>
          </a:prstGeom>
          <a:noFill/>
        </p:spPr>
        <p:txBody>
          <a:bodyPr wrap="square">
            <a:spAutoFit/>
          </a:bodyPr>
          <a:lstStyle/>
          <a:p>
            <a:pPr marL="457200" lvl="2" algn="ctr">
              <a:lnSpc>
                <a:spcPct val="115000"/>
              </a:lnSpc>
              <a:spcBef>
                <a:spcPts val="0"/>
              </a:spcBef>
            </a:pPr>
            <a:r>
              <a:rPr lang="en-US" sz="2600" b="1" dirty="0">
                <a:latin typeface="Times New Roman" panose="02020603050405020304" pitchFamily="18" charset="0"/>
                <a:ea typeface="Calibri"/>
                <a:cs typeface="Times New Roman" panose="02020603050405020304" pitchFamily="18" charset="0"/>
              </a:rPr>
              <a:t>TOPICS</a:t>
            </a:r>
          </a:p>
          <a:p>
            <a:pPr marL="457200" lvl="2" algn="ctr">
              <a:lnSpc>
                <a:spcPct val="115000"/>
              </a:lnSpc>
              <a:spcBef>
                <a:spcPts val="0"/>
              </a:spcBef>
            </a:pPr>
            <a:endParaRPr lang="en-US" sz="1400" b="1" dirty="0">
              <a:latin typeface="Times New Roman" panose="02020603050405020304" pitchFamily="18" charset="0"/>
              <a:ea typeface="Calibri"/>
              <a:cs typeface="Times New Roman" panose="02020603050405020304" pitchFamily="18" charset="0"/>
            </a:endParaRPr>
          </a:p>
          <a:p>
            <a:pPr marL="457200" indent="-457200">
              <a:buFont typeface="+mj-lt"/>
              <a:buAutoNum type="arabicPeriod"/>
            </a:pPr>
            <a:r>
              <a:rPr lang="en-US" sz="2400" dirty="0">
                <a:latin typeface="+mj-lt"/>
                <a:cs typeface="Arial" pitchFamily="34" charset="0"/>
              </a:rPr>
              <a:t>Human Desire &amp; its fulfillment(through self-exploration, self awareness</a:t>
            </a:r>
            <a:r>
              <a:rPr lang="en-IN" sz="2400" dirty="0">
                <a:latin typeface="+mj-lt"/>
                <a:cs typeface="Arial" pitchFamily="34" charset="0"/>
              </a:rPr>
              <a:t> </a:t>
            </a:r>
            <a:r>
              <a:rPr lang="en-US" sz="2400" dirty="0">
                <a:latin typeface="+mj-lt"/>
                <a:cs typeface="Arial" pitchFamily="34" charset="0"/>
              </a:rPr>
              <a:t>and self-evaluation) </a:t>
            </a:r>
          </a:p>
          <a:p>
            <a:pPr marL="457200" indent="-457200">
              <a:buFont typeface="+mj-lt"/>
              <a:buAutoNum type="arabicPeriod"/>
            </a:pPr>
            <a:r>
              <a:rPr lang="en-US" sz="2400" dirty="0">
                <a:latin typeface="+mj-lt"/>
                <a:cs typeface="Arial" pitchFamily="34" charset="0"/>
              </a:rPr>
              <a:t>Right understanding, Knowledge of Existence</a:t>
            </a:r>
          </a:p>
          <a:p>
            <a:pPr marL="457200" indent="-457200">
              <a:buFont typeface="+mj-lt"/>
              <a:buAutoNum type="arabicPeriod"/>
            </a:pPr>
            <a:r>
              <a:rPr lang="en-US" sz="2400" dirty="0">
                <a:latin typeface="+mj-lt"/>
                <a:cs typeface="Arial" pitchFamily="34" charset="0"/>
              </a:rPr>
              <a:t>Co-existence Expressing itself in the form of Nature</a:t>
            </a:r>
          </a:p>
          <a:p>
            <a:pPr marL="457200" indent="-457200">
              <a:buFont typeface="+mj-lt"/>
              <a:buAutoNum type="arabicPeriod"/>
            </a:pPr>
            <a:r>
              <a:rPr lang="en-US" sz="2400" dirty="0">
                <a:latin typeface="+mj-lt"/>
                <a:cs typeface="Arial" pitchFamily="34" charset="0"/>
              </a:rPr>
              <a:t>Understand &amp; live in Co-existence</a:t>
            </a:r>
          </a:p>
          <a:p>
            <a:pPr marL="457200" indent="-457200">
              <a:buFont typeface="+mj-lt"/>
              <a:buAutoNum type="arabicPeriod"/>
            </a:pPr>
            <a:r>
              <a:rPr lang="en-US" sz="2400" dirty="0">
                <a:latin typeface="+mj-lt"/>
                <a:cs typeface="Arial" pitchFamily="34" charset="0"/>
              </a:rPr>
              <a:t>Awakening to activities of the Self: (Realization of Co-Existence), </a:t>
            </a:r>
          </a:p>
          <a:p>
            <a:pPr marL="457200" indent="-457200">
              <a:buFont typeface="+mj-lt"/>
              <a:buAutoNum type="arabicPeriod"/>
            </a:pPr>
            <a:r>
              <a:rPr lang="en-US" sz="2400" dirty="0">
                <a:latin typeface="+mj-lt"/>
                <a:cs typeface="Arial" pitchFamily="34" charset="0"/>
              </a:rPr>
              <a:t>Understanding of Harmony in Nature and Contemplation of Participation of Human in this harmony/ order leading to comprehensive knowledge about the existence)</a:t>
            </a:r>
          </a:p>
          <a:p>
            <a:pPr marL="457200" indent="-457200">
              <a:buFont typeface="+mj-lt"/>
              <a:buAutoNum type="arabicPeriod"/>
            </a:pPr>
            <a:r>
              <a:rPr lang="en-US" sz="2400" dirty="0">
                <a:latin typeface="+mj-lt"/>
                <a:cs typeface="Arial" pitchFamily="34" charset="0"/>
              </a:rPr>
              <a:t>Knowledge of Existence –Harmony, Knowledge of Human Being</a:t>
            </a:r>
          </a:p>
          <a:p>
            <a:pPr algn="just">
              <a:buFont typeface="Wingdings" panose="05000000000000000000" pitchFamily="2" charset="2"/>
              <a:buChar char="Ø"/>
            </a:pPr>
            <a:endParaRPr lang="en-IN" sz="2800" dirty="0">
              <a:latin typeface="Arial" pitchFamily="34" charset="0"/>
              <a:cs typeface="Arial" pitchFamily="34" charset="0"/>
            </a:endParaRPr>
          </a:p>
          <a:p>
            <a:pPr algn="just">
              <a:buFont typeface="Wingdings" panose="05000000000000000000" pitchFamily="2" charset="2"/>
              <a:buChar char="Ø"/>
            </a:pPr>
            <a:endParaRPr lang="en-IN" sz="2800" dirty="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F9D18BF-70B7-4CBF-965C-F70B2716B79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06/25/21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i="0" u="none" strike="noStrike" kern="1200" cap="none" spc="0" normalizeH="0" baseline="0" noProof="0" dirty="0">
                <a:ln>
                  <a:noFill/>
                </a:ln>
                <a:solidFill>
                  <a:prstClr val="black"/>
                </a:solidFill>
                <a:effectLst/>
                <a:uLnTx/>
                <a:uFillTx/>
                <a:latin typeface="Calibri"/>
                <a:ea typeface="+mn-ea"/>
                <a:cs typeface="+mn-cs"/>
              </a:rPr>
              <a:t>UNIT -4</a:t>
            </a:r>
          </a:p>
        </p:txBody>
      </p:sp>
      <p:graphicFrame>
        <p:nvGraphicFramePr>
          <p:cNvPr id="11" name="Table 10"/>
          <p:cNvGraphicFramePr>
            <a:graphicFrameLocks noGrp="1"/>
          </p:cNvGraphicFramePr>
          <p:nvPr>
            <p:extLst>
              <p:ext uri="{D42A27DB-BD31-4B8C-83A1-F6EECF244321}">
                <p14:modId xmlns:p14="http://schemas.microsoft.com/office/powerpoint/2010/main" xmlns="" val="1924876269"/>
              </p:ext>
            </p:extLst>
          </p:nvPr>
        </p:nvGraphicFramePr>
        <p:xfrm>
          <a:off x="685800" y="914400"/>
          <a:ext cx="8001000" cy="2286000"/>
        </p:xfrm>
        <a:graphic>
          <a:graphicData uri="http://schemas.openxmlformats.org/drawingml/2006/table">
            <a:tbl>
              <a:tblPr/>
              <a:tblGrid>
                <a:gridCol w="8001000">
                  <a:extLst>
                    <a:ext uri="{9D8B030D-6E8A-4147-A177-3AD203B41FA5}">
                      <a16:colId xmlns:a16="http://schemas.microsoft.com/office/drawing/2014/main" xmlns="" val="20000"/>
                    </a:ext>
                  </a:extLst>
                </a:gridCol>
              </a:tblGrid>
              <a:tr h="457200">
                <a:tc>
                  <a:txBody>
                    <a:bodyPr/>
                    <a:lstStyle/>
                    <a:p>
                      <a:pPr marL="0" marR="0" algn="just">
                        <a:lnSpc>
                          <a:spcPct val="115000"/>
                        </a:lnSpc>
                        <a:spcBef>
                          <a:spcPts val="0"/>
                        </a:spcBef>
                        <a:spcAft>
                          <a:spcPts val="0"/>
                        </a:spcAft>
                      </a:pPr>
                      <a:r>
                        <a:rPr lang="en-US" sz="2400" b="1" dirty="0">
                          <a:latin typeface="Calibri"/>
                          <a:ea typeface="Calibri"/>
                          <a:cs typeface="Times New Roman"/>
                        </a:rPr>
                        <a:t>Objective of the unit:</a:t>
                      </a:r>
                      <a:endParaRPr lang="en-US" sz="2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563859">
                <a:tc>
                  <a:txBody>
                    <a:bodyPr/>
                    <a:lstStyle/>
                    <a:p>
                      <a:pPr marL="0" indent="0">
                        <a:buFont typeface="Symbol" pitchFamily="18" charset="2"/>
                        <a:buNone/>
                      </a:pPr>
                      <a:r>
                        <a:rPr lang="en-US" altLang="en-US" sz="2400" b="1" dirty="0"/>
                        <a:t>Understanding Co-existence with other orders. </a:t>
                      </a:r>
                      <a:endParaRPr lang="en-US" altLang="en-US" sz="2400" dirty="0"/>
                    </a:p>
                    <a:p>
                      <a:pPr marL="0" indent="0" algn="just">
                        <a:buFont typeface="Symbol" pitchFamily="18" charset="2"/>
                        <a:buNone/>
                      </a:pPr>
                      <a:r>
                        <a:rPr lang="en-US" altLang="en-US" sz="2400" dirty="0"/>
                        <a:t>The need and the process of inner evolution (through self-exploration, self-awareness and self-evaluation)- particularly awakening to activities of the Self: Realization, Understanding and Contemplation in the Self.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xmlns="" val="1537016454"/>
              </p:ext>
            </p:extLst>
          </p:nvPr>
        </p:nvGraphicFramePr>
        <p:xfrm>
          <a:off x="685800" y="3223053"/>
          <a:ext cx="8001000" cy="2139696"/>
        </p:xfrm>
        <a:graphic>
          <a:graphicData uri="http://schemas.openxmlformats.org/drawingml/2006/table">
            <a:tbl>
              <a:tblPr/>
              <a:tblGrid>
                <a:gridCol w="8001000">
                  <a:extLst>
                    <a:ext uri="{9D8B030D-6E8A-4147-A177-3AD203B41FA5}">
                      <a16:colId xmlns:a16="http://schemas.microsoft.com/office/drawing/2014/main" xmlns="" val="20000"/>
                    </a:ext>
                  </a:extLst>
                </a:gridCol>
              </a:tblGrid>
              <a:tr h="457200">
                <a:tc>
                  <a:txBody>
                    <a:bodyPr/>
                    <a:lstStyle/>
                    <a:p>
                      <a:pPr marL="0" marR="0" algn="just">
                        <a:lnSpc>
                          <a:spcPct val="115000"/>
                        </a:lnSpc>
                        <a:spcBef>
                          <a:spcPts val="0"/>
                        </a:spcBef>
                        <a:spcAft>
                          <a:spcPts val="0"/>
                        </a:spcAft>
                      </a:pPr>
                      <a:r>
                        <a:rPr lang="en-US" sz="2400" b="1" dirty="0">
                          <a:latin typeface="Calibri"/>
                          <a:ea typeface="Calibri"/>
                          <a:cs typeface="Times New Roman"/>
                        </a:rPr>
                        <a:t>Pre-requisite:</a:t>
                      </a:r>
                      <a:endParaRPr lang="en-US" sz="2400" dirty="0">
                        <a:latin typeface="Calibri"/>
                        <a:ea typeface="Calibri"/>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563859">
                <a:tc>
                  <a:txBody>
                    <a:bodyPr/>
                    <a:lstStyle/>
                    <a:p>
                      <a:pPr marL="0" marR="0" algn="just">
                        <a:lnSpc>
                          <a:spcPct val="115000"/>
                        </a:lnSpc>
                        <a:spcBef>
                          <a:spcPts val="0"/>
                        </a:spcBef>
                        <a:spcAft>
                          <a:spcPts val="0"/>
                        </a:spcAft>
                      </a:pPr>
                      <a:r>
                        <a:rPr lang="en-US" sz="2400" dirty="0">
                          <a:latin typeface="Calibri"/>
                          <a:ea typeface="Calibri"/>
                          <a:cs typeface="Times New Roman"/>
                        </a:rPr>
                        <a:t>Student should be familiar</a:t>
                      </a:r>
                      <a:r>
                        <a:rPr lang="en-US" sz="2400" baseline="0" dirty="0">
                          <a:latin typeface="Calibri"/>
                          <a:ea typeface="Calibri"/>
                          <a:cs typeface="Times New Roman"/>
                        </a:rPr>
                        <a:t> to concepts right understanding, harmony, Human being as an Existence, co-existence of self and the body, Higher Activities of the self and Awakening of higher Activities, guiding the lower activities of the self.</a:t>
                      </a:r>
                      <a:endParaRPr lang="en-US" sz="2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13" name="Footer Placeholder 4">
            <a:extLst>
              <a:ext uri="{FF2B5EF4-FFF2-40B4-BE49-F238E27FC236}">
                <a16:creationId xmlns:a16="http://schemas.microsoft.com/office/drawing/2014/main" xmlns="" id="{DC93E38E-E4C0-443B-94ED-037F8D2F371D}"/>
              </a:ext>
            </a:extLst>
          </p:cNvPr>
          <p:cNvSpPr>
            <a:spLocks noGrp="1"/>
          </p:cNvSpPr>
          <p:nvPr>
            <p:ph type="ftr" sz="quarter" idx="11"/>
          </p:nvPr>
        </p:nvSpPr>
        <p:spPr>
          <a:xfrm>
            <a:off x="2438401" y="6309320"/>
            <a:ext cx="47244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SHYAM  LAL SHARMA             KOE069 UHV-2               Unit -4</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746A16F-7EC3-4FC0-ABFC-3CDC2F73A094}"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defRPr/>
            </a:pPr>
            <a:r>
              <a:rPr lang="en-IN" sz="3200" dirty="0">
                <a:latin typeface="+mn-lt"/>
              </a:rPr>
              <a:t>Prerequisite</a:t>
            </a:r>
            <a:r>
              <a:rPr lang="en-IN" altLang="en-US" sz="3200" dirty="0">
                <a:latin typeface="Arial" pitchFamily="34" charset="0"/>
                <a:cs typeface="Arial" pitchFamily="34" charset="0"/>
              </a:rPr>
              <a:t> to Topic 1</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0" name="Table 9">
            <a:extLst>
              <a:ext uri="{FF2B5EF4-FFF2-40B4-BE49-F238E27FC236}">
                <a16:creationId xmlns:a16="http://schemas.microsoft.com/office/drawing/2014/main" xmlns="" id="{2FAEC9EE-08D2-4085-97B5-A5810A05C998}"/>
              </a:ext>
            </a:extLst>
          </p:cNvPr>
          <p:cNvGraphicFramePr>
            <a:graphicFrameLocks noGrp="1"/>
          </p:cNvGraphicFramePr>
          <p:nvPr>
            <p:extLst>
              <p:ext uri="{D42A27DB-BD31-4B8C-83A1-F6EECF244321}">
                <p14:modId xmlns:p14="http://schemas.microsoft.com/office/powerpoint/2010/main" xmlns="" val="721218509"/>
              </p:ext>
            </p:extLst>
          </p:nvPr>
        </p:nvGraphicFramePr>
        <p:xfrm>
          <a:off x="457200" y="1196752"/>
          <a:ext cx="8429682" cy="2560320"/>
        </p:xfrm>
        <a:graphic>
          <a:graphicData uri="http://schemas.openxmlformats.org/drawingml/2006/table">
            <a:tbl>
              <a:tblPr firstRow="1" bandRow="1">
                <a:tableStyleId>{5C22544A-7EE6-4342-B048-85BDC9FD1C3A}</a:tableStyleId>
              </a:tblPr>
              <a:tblGrid>
                <a:gridCol w="8429682">
                  <a:extLst>
                    <a:ext uri="{9D8B030D-6E8A-4147-A177-3AD203B41FA5}">
                      <a16:colId xmlns:a16="http://schemas.microsoft.com/office/drawing/2014/main" xmlns="" val="20000"/>
                    </a:ext>
                  </a:extLst>
                </a:gridCol>
              </a:tblGrid>
              <a:tr h="370840">
                <a:tc>
                  <a:txBody>
                    <a:bodyPr/>
                    <a:lstStyle/>
                    <a:p>
                      <a:pPr algn="ctr"/>
                      <a:r>
                        <a:rPr lang="en-US" sz="2400" dirty="0">
                          <a:latin typeface="Arial" pitchFamily="34" charset="0"/>
                          <a:cs typeface="Arial" pitchFamily="34" charset="0"/>
                        </a:rPr>
                        <a:t>Prerequisites</a:t>
                      </a:r>
                      <a:endParaRPr lang="en-IN" sz="24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just">
                        <a:buFont typeface="Wingdings" pitchFamily="2" charset="2"/>
                        <a:buChar char="§"/>
                      </a:pPr>
                      <a:r>
                        <a:rPr lang="en-US" sz="2200" dirty="0">
                          <a:latin typeface="Arial" pitchFamily="34" charset="0"/>
                          <a:cs typeface="Arial" pitchFamily="34" charset="0"/>
                        </a:rPr>
                        <a:t>Students should have to understand right understanding &amp;natural acceptance.</a:t>
                      </a:r>
                    </a:p>
                    <a:p>
                      <a:pPr algn="just">
                        <a:buFont typeface="Wingdings" pitchFamily="2" charset="2"/>
                        <a:buChar char="§"/>
                      </a:pPr>
                      <a:r>
                        <a:rPr lang="en-US" sz="2200" dirty="0">
                          <a:latin typeface="Arial" pitchFamily="34" charset="0"/>
                          <a:cs typeface="Arial" pitchFamily="34" charset="0"/>
                        </a:rPr>
                        <a:t>Students should have to follow self exploration and its process.</a:t>
                      </a:r>
                      <a:endParaRPr lang="en-IN" sz="2200" b="1" dirty="0">
                        <a:latin typeface="Arial" pitchFamily="34" charset="0"/>
                        <a:cs typeface="Arial" pitchFamily="34" charset="0"/>
                      </a:endParaRPr>
                    </a:p>
                    <a:p>
                      <a:pPr algn="just">
                        <a:buFont typeface="Wingdings" pitchFamily="2" charset="2"/>
                        <a:buChar char="§"/>
                      </a:pPr>
                      <a:r>
                        <a:rPr lang="en-US" sz="2200" dirty="0">
                          <a:latin typeface="Arial" pitchFamily="34" charset="0"/>
                          <a:cs typeface="Arial" pitchFamily="34" charset="0"/>
                        </a:rPr>
                        <a:t>Students should have to realize existence is ever present. </a:t>
                      </a:r>
                      <a:endParaRPr lang="en-IN" sz="2200" b="1" dirty="0">
                        <a:latin typeface="Arial" pitchFamily="34" charset="0"/>
                        <a:cs typeface="Arial" pitchFamily="34" charset="0"/>
                      </a:endParaRPr>
                    </a:p>
                    <a:p>
                      <a:pPr algn="l"/>
                      <a:endParaRPr lang="en-US" sz="2200" dirty="0">
                        <a:latin typeface="Arial" pitchFamily="34" charset="0"/>
                        <a:cs typeface="Arial" pitchFamily="34" charset="0"/>
                      </a:endParaRPr>
                    </a:p>
                    <a:p>
                      <a:pPr algn="l"/>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B1580B7-A3F2-4D86-98A8-048472A95FB2}"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IN" altLang="en-US" sz="3200" dirty="0">
                <a:latin typeface="Arial" pitchFamily="34" charset="0"/>
                <a:cs typeface="Arial" pitchFamily="34" charset="0"/>
              </a:rPr>
              <a:t>Introduction to Topic 1</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1" name="Table 10"/>
          <p:cNvGraphicFramePr>
            <a:graphicFrameLocks noGrp="1"/>
          </p:cNvGraphicFramePr>
          <p:nvPr/>
        </p:nvGraphicFramePr>
        <p:xfrm>
          <a:off x="455651" y="1263989"/>
          <a:ext cx="8429682" cy="2194560"/>
        </p:xfrm>
        <a:graphic>
          <a:graphicData uri="http://schemas.openxmlformats.org/drawingml/2006/table">
            <a:tbl>
              <a:tblPr firstRow="1" bandRow="1">
                <a:tableStyleId>{5C22544A-7EE6-4342-B048-85BDC9FD1C3A}</a:tableStyleId>
              </a:tblPr>
              <a:tblGrid>
                <a:gridCol w="2214577">
                  <a:extLst>
                    <a:ext uri="{9D8B030D-6E8A-4147-A177-3AD203B41FA5}">
                      <a16:colId xmlns:a16="http://schemas.microsoft.com/office/drawing/2014/main" xmlns="" val="20000"/>
                    </a:ext>
                  </a:extLst>
                </a:gridCol>
                <a:gridCol w="3429024">
                  <a:extLst>
                    <a:ext uri="{9D8B030D-6E8A-4147-A177-3AD203B41FA5}">
                      <a16:colId xmlns:a16="http://schemas.microsoft.com/office/drawing/2014/main" xmlns="" val="20001"/>
                    </a:ext>
                  </a:extLst>
                </a:gridCol>
                <a:gridCol w="2786081">
                  <a:extLst>
                    <a:ext uri="{9D8B030D-6E8A-4147-A177-3AD203B41FA5}">
                      <a16:colId xmlns:a16="http://schemas.microsoft.com/office/drawing/2014/main" xmlns="" val="20002"/>
                    </a:ext>
                  </a:extLst>
                </a:gridCol>
              </a:tblGrid>
              <a:tr h="370840">
                <a:tc>
                  <a:txBody>
                    <a:bodyPr/>
                    <a:lstStyle/>
                    <a:p>
                      <a:r>
                        <a:rPr lang="en-US" sz="2200" dirty="0">
                          <a:latin typeface="Arial" pitchFamily="34" charset="0"/>
                          <a:cs typeface="Arial" pitchFamily="34" charset="0"/>
                        </a:rPr>
                        <a:t>Name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Objective</a:t>
                      </a:r>
                      <a:r>
                        <a:rPr lang="en-US" sz="2200" baseline="0" dirty="0">
                          <a:latin typeface="Arial" pitchFamily="34" charset="0"/>
                          <a:cs typeface="Arial" pitchFamily="34" charset="0"/>
                        </a:rPr>
                        <a:t>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Mapping </a:t>
                      </a:r>
                      <a:r>
                        <a:rPr lang="en-US" sz="2200" baseline="0" dirty="0">
                          <a:latin typeface="Arial" pitchFamily="34" charset="0"/>
                          <a:cs typeface="Arial" pitchFamily="34" charset="0"/>
                        </a:rPr>
                        <a:t> with CO</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l"/>
                      <a:r>
                        <a:rPr lang="en-US" altLang="en-US" sz="2400" b="0" dirty="0">
                          <a:latin typeface="Arial" pitchFamily="34" charset="0"/>
                          <a:cs typeface="Arial" pitchFamily="34" charset="0"/>
                        </a:rPr>
                        <a:t>Existence as Co-existence</a:t>
                      </a:r>
                      <a:endParaRPr lang="en-IN" sz="2200" dirty="0">
                        <a:latin typeface="Arial" pitchFamily="34" charset="0"/>
                        <a:cs typeface="Arial" pitchFamily="34" charset="0"/>
                      </a:endParaRPr>
                    </a:p>
                  </a:txBody>
                  <a:tcPr/>
                </a:tc>
                <a:tc>
                  <a:txBody>
                    <a:bodyPr/>
                    <a:lstStyle/>
                    <a:p>
                      <a:pPr algn="just"/>
                      <a:r>
                        <a:rPr lang="en-US" sz="2200" dirty="0">
                          <a:latin typeface="Arial" pitchFamily="34" charset="0"/>
                          <a:cs typeface="Arial" pitchFamily="34" charset="0"/>
                        </a:rPr>
                        <a:t>Students</a:t>
                      </a:r>
                      <a:r>
                        <a:rPr lang="en-US" sz="2200" baseline="0" dirty="0">
                          <a:latin typeface="Arial" pitchFamily="34" charset="0"/>
                          <a:cs typeface="Arial" pitchFamily="34" charset="0"/>
                        </a:rPr>
                        <a:t> will be able to understand Existence</a:t>
                      </a:r>
                      <a:r>
                        <a:rPr lang="en-IN" altLang="en-US" sz="2200" dirty="0">
                          <a:latin typeface="Arial" pitchFamily="34" charset="0"/>
                          <a:cs typeface="Arial" pitchFamily="34" charset="0"/>
                        </a:rPr>
                        <a:t>,</a:t>
                      </a:r>
                      <a:r>
                        <a:rPr lang="en-IN" altLang="en-US" sz="2200" baseline="0" dirty="0">
                          <a:latin typeface="Arial" pitchFamily="34" charset="0"/>
                          <a:cs typeface="Arial" pitchFamily="34" charset="0"/>
                        </a:rPr>
                        <a:t> &amp;</a:t>
                      </a:r>
                      <a:r>
                        <a:rPr lang="en-IN" altLang="en-US" sz="2200" dirty="0">
                          <a:latin typeface="Arial" pitchFamily="34" charset="0"/>
                          <a:cs typeface="Arial" pitchFamily="34" charset="0"/>
                        </a:rPr>
                        <a:t>Co-existence</a:t>
                      </a:r>
                      <a:r>
                        <a:rPr lang="en-IN" altLang="en-US" sz="2200" baseline="0" dirty="0">
                          <a:latin typeface="Arial" pitchFamily="34" charset="0"/>
                          <a:cs typeface="Arial" pitchFamily="34" charset="0"/>
                        </a:rPr>
                        <a:t> with right understanding</a:t>
                      </a:r>
                      <a:endParaRPr lang="en-IN" altLang="en-US" sz="2200" dirty="0">
                        <a:latin typeface="Arial" pitchFamily="34" charset="0"/>
                        <a:cs typeface="Arial" pitchFamily="34" charset="0"/>
                      </a:endParaRPr>
                    </a:p>
                    <a:p>
                      <a:pPr algn="l"/>
                      <a:endParaRPr lang="en-IN" sz="2200" dirty="0">
                        <a:latin typeface="Arial" pitchFamily="34" charset="0"/>
                        <a:cs typeface="Arial" pitchFamily="34" charset="0"/>
                      </a:endParaRPr>
                    </a:p>
                  </a:txBody>
                  <a:tcPr/>
                </a:tc>
                <a:tc>
                  <a:txBody>
                    <a:bodyPr/>
                    <a:lstStyle/>
                    <a:p>
                      <a:pPr algn="ctr"/>
                      <a:endParaRPr lang="en-US" sz="2200" dirty="0">
                        <a:latin typeface="Arial" pitchFamily="34" charset="0"/>
                        <a:cs typeface="Arial" pitchFamily="34" charset="0"/>
                      </a:endParaRPr>
                    </a:p>
                    <a:p>
                      <a:pPr algn="ctr"/>
                      <a:r>
                        <a:rPr lang="en-US" sz="2200" dirty="0">
                          <a:latin typeface="Arial" pitchFamily="34" charset="0"/>
                          <a:cs typeface="Arial" pitchFamily="34" charset="0"/>
                        </a:rPr>
                        <a:t>CO4</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7485605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6F3572C-7553-4F51-91D2-8BB65886619C}"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Human Desire &amp; its Fulfillment (CO4)</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cxnSp>
        <p:nvCxnSpPr>
          <p:cNvPr id="11" name="Straight Arrow Connector 10">
            <a:extLst>
              <a:ext uri="{FF2B5EF4-FFF2-40B4-BE49-F238E27FC236}">
                <a16:creationId xmlns:a16="http://schemas.microsoft.com/office/drawing/2014/main" xmlns="" id="{A7E10DCB-6262-4F44-A48B-E637CDD66761}"/>
              </a:ext>
            </a:extLst>
          </p:cNvPr>
          <p:cNvCxnSpPr/>
          <p:nvPr/>
        </p:nvCxnSpPr>
        <p:spPr>
          <a:xfrm rot="10800000">
            <a:off x="1371600" y="6172200"/>
            <a:ext cx="457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7A6FE5F4-C696-4DB0-9444-21E0B895167B}"/>
              </a:ext>
            </a:extLst>
          </p:cNvPr>
          <p:cNvCxnSpPr/>
          <p:nvPr/>
        </p:nvCxnSpPr>
        <p:spPr>
          <a:xfrm rot="5400000" flipH="1" flipV="1">
            <a:off x="-188912" y="4610100"/>
            <a:ext cx="312261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8607726B-878B-4CB1-B74E-99E0FA636B22}"/>
              </a:ext>
            </a:extLst>
          </p:cNvPr>
          <p:cNvCxnSpPr/>
          <p:nvPr/>
        </p:nvCxnSpPr>
        <p:spPr>
          <a:xfrm>
            <a:off x="1371600" y="3048000"/>
            <a:ext cx="533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xmlns="" id="{82241D47-5815-4611-9921-BA30AA2C7C6B}"/>
              </a:ext>
            </a:extLst>
          </p:cNvPr>
          <p:cNvSpPr/>
          <p:nvPr/>
        </p:nvSpPr>
        <p:spPr>
          <a:xfrm>
            <a:off x="2057400" y="2362200"/>
            <a:ext cx="68580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grpSp>
        <p:nvGrpSpPr>
          <p:cNvPr id="15" name="Group 17"/>
          <p:cNvGrpSpPr>
            <a:grpSpLocks/>
          </p:cNvGrpSpPr>
          <p:nvPr/>
        </p:nvGrpSpPr>
        <p:grpSpPr bwMode="auto">
          <a:xfrm>
            <a:off x="7391400" y="873117"/>
            <a:ext cx="1752600" cy="1484313"/>
            <a:chOff x="7391400" y="609600"/>
            <a:chExt cx="1752600" cy="1484531"/>
          </a:xfrm>
        </p:grpSpPr>
        <p:sp>
          <p:nvSpPr>
            <p:cNvPr id="16" name="TextBox 18"/>
            <p:cNvSpPr txBox="1">
              <a:spLocks noChangeArrowheads="1"/>
            </p:cNvSpPr>
            <p:nvPr/>
          </p:nvSpPr>
          <p:spPr bwMode="auto">
            <a:xfrm>
              <a:off x="7620000" y="762000"/>
              <a:ext cx="1524000" cy="646331"/>
            </a:xfrm>
            <a:prstGeom prst="rect">
              <a:avLst/>
            </a:prstGeom>
            <a:noFill/>
            <a:ln w="9525">
              <a:noFill/>
              <a:miter lim="800000"/>
              <a:headEnd/>
              <a:tailEnd/>
            </a:ln>
          </p:spPr>
          <p:txBody>
            <a:bodyPr>
              <a:spAutoFit/>
            </a:bodyPr>
            <a:lstStyle/>
            <a:p>
              <a:pPr eaLnBrk="1" hangingPunct="1"/>
              <a:r>
                <a:rPr lang="en-US" altLang="en-US">
                  <a:solidFill>
                    <a:srgbClr val="000000"/>
                  </a:solidFill>
                </a:rPr>
                <a:t>Need of the Self(I)</a:t>
              </a:r>
            </a:p>
          </p:txBody>
        </p:sp>
        <p:sp>
          <p:nvSpPr>
            <p:cNvPr id="17" name="TextBox 27"/>
            <p:cNvSpPr txBox="1">
              <a:spLocks noChangeArrowheads="1"/>
            </p:cNvSpPr>
            <p:nvPr/>
          </p:nvSpPr>
          <p:spPr bwMode="auto">
            <a:xfrm>
              <a:off x="7620000" y="1447800"/>
              <a:ext cx="1524000" cy="646331"/>
            </a:xfrm>
            <a:prstGeom prst="rect">
              <a:avLst/>
            </a:prstGeom>
            <a:noFill/>
            <a:ln w="9525">
              <a:noFill/>
              <a:miter lim="800000"/>
              <a:headEnd/>
              <a:tailEnd/>
            </a:ln>
          </p:spPr>
          <p:txBody>
            <a:bodyPr>
              <a:spAutoFit/>
            </a:bodyPr>
            <a:lstStyle/>
            <a:p>
              <a:pPr eaLnBrk="1" hangingPunct="1"/>
              <a:r>
                <a:rPr lang="en-US" altLang="en-US">
                  <a:solidFill>
                    <a:srgbClr val="000000"/>
                  </a:solidFill>
                </a:rPr>
                <a:t>Activity of the Self(I)</a:t>
              </a:r>
            </a:p>
          </p:txBody>
        </p:sp>
        <p:sp>
          <p:nvSpPr>
            <p:cNvPr id="18" name="Right Brace 17">
              <a:extLst>
                <a:ext uri="{FF2B5EF4-FFF2-40B4-BE49-F238E27FC236}">
                  <a16:creationId xmlns:a16="http://schemas.microsoft.com/office/drawing/2014/main" xmlns="" id="{42A64463-8764-4DB6-AB4A-6B366767F22D}"/>
                </a:ext>
              </a:extLst>
            </p:cNvPr>
            <p:cNvSpPr/>
            <p:nvPr/>
          </p:nvSpPr>
          <p:spPr>
            <a:xfrm>
              <a:off x="7391400" y="609600"/>
              <a:ext cx="228600" cy="60969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solidFill>
                  <a:prstClr val="black"/>
                </a:solidFill>
              </a:endParaRPr>
            </a:p>
          </p:txBody>
        </p:sp>
        <p:sp>
          <p:nvSpPr>
            <p:cNvPr id="19" name="Right Brace 18">
              <a:extLst>
                <a:ext uri="{FF2B5EF4-FFF2-40B4-BE49-F238E27FC236}">
                  <a16:creationId xmlns:a16="http://schemas.microsoft.com/office/drawing/2014/main" xmlns="" id="{978DAD8A-7254-4F75-AE21-F82F23A5CE02}"/>
                </a:ext>
              </a:extLst>
            </p:cNvPr>
            <p:cNvSpPr/>
            <p:nvPr/>
          </p:nvSpPr>
          <p:spPr>
            <a:xfrm>
              <a:off x="7391400" y="1295501"/>
              <a:ext cx="228600" cy="609690"/>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solidFill>
                  <a:prstClr val="black"/>
                </a:solidFill>
              </a:endParaRPr>
            </a:p>
          </p:txBody>
        </p:sp>
      </p:grpSp>
      <p:cxnSp>
        <p:nvCxnSpPr>
          <p:cNvPr id="46" name="Straight Arrow Connector 45">
            <a:extLst>
              <a:ext uri="{FF2B5EF4-FFF2-40B4-BE49-F238E27FC236}">
                <a16:creationId xmlns:a16="http://schemas.microsoft.com/office/drawing/2014/main" xmlns="" id="{8F415900-2B82-4FC6-BAC0-19B7B1D87455}"/>
              </a:ext>
            </a:extLst>
          </p:cNvPr>
          <p:cNvCxnSpPr/>
          <p:nvPr/>
        </p:nvCxnSpPr>
        <p:spPr>
          <a:xfrm rot="5400000">
            <a:off x="2744776" y="2684456"/>
            <a:ext cx="228600" cy="317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xmlns="" id="{28140F1C-1D3E-414F-A114-4A642DBB56BA}"/>
              </a:ext>
            </a:extLst>
          </p:cNvPr>
          <p:cNvCxnSpPr/>
          <p:nvPr/>
        </p:nvCxnSpPr>
        <p:spPr>
          <a:xfrm rot="5400000">
            <a:off x="2743982" y="3113878"/>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xmlns="" id="{D12C2143-5064-41C7-AD79-9DA7AB536348}"/>
              </a:ext>
            </a:extLst>
          </p:cNvPr>
          <p:cNvCxnSpPr/>
          <p:nvPr/>
        </p:nvCxnSpPr>
        <p:spPr>
          <a:xfrm rot="5400000">
            <a:off x="2743982" y="3613944"/>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xmlns="" id="{15E37B0B-B0EE-464D-9493-9C7B61B7FC75}"/>
              </a:ext>
            </a:extLst>
          </p:cNvPr>
          <p:cNvCxnSpPr/>
          <p:nvPr/>
        </p:nvCxnSpPr>
        <p:spPr>
          <a:xfrm rot="5400000">
            <a:off x="2743981" y="4028286"/>
            <a:ext cx="2286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xmlns="" id="{A857B326-7E01-4589-9F99-AD78C3014B4B}"/>
              </a:ext>
            </a:extLst>
          </p:cNvPr>
          <p:cNvCxnSpPr/>
          <p:nvPr/>
        </p:nvCxnSpPr>
        <p:spPr>
          <a:xfrm rot="5400000">
            <a:off x="2743982" y="4471200"/>
            <a:ext cx="2286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xmlns="" id="{C61FAC75-07AF-4FB3-AAEF-10D03D724938}"/>
              </a:ext>
            </a:extLst>
          </p:cNvPr>
          <p:cNvCxnSpPr/>
          <p:nvPr/>
        </p:nvCxnSpPr>
        <p:spPr>
          <a:xfrm rot="5400000">
            <a:off x="2743981" y="4971266"/>
            <a:ext cx="2286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xmlns="" id="{F54F32F1-8C6C-46A1-8EE5-662A7090B73C}"/>
              </a:ext>
            </a:extLst>
          </p:cNvPr>
          <p:cNvCxnSpPr/>
          <p:nvPr/>
        </p:nvCxnSpPr>
        <p:spPr>
          <a:xfrm rot="5400000">
            <a:off x="2767543" y="5394220"/>
            <a:ext cx="2286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xmlns="" id="{2A968813-24D7-486E-9E63-F2C3F149D84D}"/>
              </a:ext>
            </a:extLst>
          </p:cNvPr>
          <p:cNvCxnSpPr/>
          <p:nvPr/>
        </p:nvCxnSpPr>
        <p:spPr>
          <a:xfrm rot="5400000">
            <a:off x="2815419" y="5899960"/>
            <a:ext cx="228600" cy="158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6" name="TextBox 27"/>
          <p:cNvSpPr txBox="1">
            <a:spLocks noChangeArrowheads="1"/>
          </p:cNvSpPr>
          <p:nvPr/>
        </p:nvSpPr>
        <p:spPr bwMode="auto">
          <a:xfrm rot="16200000">
            <a:off x="-39687" y="4248150"/>
            <a:ext cx="2895600" cy="647700"/>
          </a:xfrm>
          <a:prstGeom prst="rect">
            <a:avLst/>
          </a:prstGeom>
          <a:noFill/>
          <a:ln w="9525">
            <a:noFill/>
            <a:miter lim="800000"/>
            <a:headEnd/>
            <a:tailEnd/>
          </a:ln>
        </p:spPr>
        <p:txBody>
          <a:bodyPr>
            <a:spAutoFit/>
          </a:bodyPr>
          <a:lstStyle/>
          <a:p>
            <a:pPr eaLnBrk="1" hangingPunct="1"/>
            <a:r>
              <a:rPr lang="en-US" altLang="en-US" dirty="0">
                <a:solidFill>
                  <a:srgbClr val="FF0000"/>
                </a:solidFill>
              </a:rPr>
              <a:t>Congruence?</a:t>
            </a:r>
          </a:p>
          <a:p>
            <a:pPr eaLnBrk="1" hangingPunct="1"/>
            <a:r>
              <a:rPr lang="en-US" altLang="en-US" dirty="0">
                <a:solidFill>
                  <a:srgbClr val="FF0000"/>
                </a:solidFill>
              </a:rPr>
              <a:t>Is Human Goal Fulfilled?</a:t>
            </a:r>
          </a:p>
        </p:txBody>
      </p:sp>
      <p:sp>
        <p:nvSpPr>
          <p:cNvPr id="60" name="Rectangle 59"/>
          <p:cNvSpPr/>
          <p:nvPr/>
        </p:nvSpPr>
        <p:spPr>
          <a:xfrm>
            <a:off x="285720" y="714356"/>
            <a:ext cx="8715404" cy="5632311"/>
          </a:xfrm>
          <a:prstGeom prst="rect">
            <a:avLst/>
          </a:prstGeom>
        </p:spPr>
        <p:txBody>
          <a:bodyPr wrap="square">
            <a:spAutoFit/>
          </a:bodyPr>
          <a:lstStyle/>
          <a:p>
            <a:pPr>
              <a:buFont typeface="Symbol" pitchFamily="18" charset="2"/>
              <a:buNone/>
              <a:defRPr/>
            </a:pPr>
            <a:r>
              <a:rPr lang="en-IN" sz="2000" dirty="0">
                <a:latin typeface="Arial" pitchFamily="34" charset="0"/>
                <a:cs typeface="Arial" pitchFamily="34" charset="0"/>
              </a:rPr>
              <a:t>1. Human Desire 	  = Continuous Happiness</a:t>
            </a:r>
          </a:p>
          <a:p>
            <a:pPr>
              <a:buFont typeface="Symbol" pitchFamily="18" charset="2"/>
              <a:buNone/>
              <a:defRPr/>
            </a:pPr>
            <a:endParaRPr lang="en-IN" sz="2000" dirty="0">
              <a:latin typeface="Arial" pitchFamily="34" charset="0"/>
              <a:cs typeface="Arial" pitchFamily="34" charset="0"/>
            </a:endParaRPr>
          </a:p>
          <a:p>
            <a:pPr>
              <a:buFont typeface="Symbol" pitchFamily="18" charset="2"/>
              <a:buNone/>
              <a:defRPr/>
            </a:pPr>
            <a:r>
              <a:rPr lang="en-IN" sz="2000" dirty="0">
                <a:latin typeface="Arial" pitchFamily="34" charset="0"/>
                <a:cs typeface="Arial" pitchFamily="34" charset="0"/>
              </a:rPr>
              <a:t>2. Continuous Happiness = Right Understanding </a:t>
            </a:r>
          </a:p>
          <a:p>
            <a:pPr>
              <a:buFont typeface="Symbol" pitchFamily="18" charset="2"/>
              <a:buNone/>
              <a:defRPr/>
            </a:pPr>
            <a:r>
              <a:rPr lang="en-IN" sz="2000" dirty="0">
                <a:latin typeface="Arial" pitchFamily="34" charset="0"/>
                <a:cs typeface="Arial" pitchFamily="34" charset="0"/>
              </a:rPr>
              <a:t>			     Right Feeling &amp; Right Thought 	</a:t>
            </a:r>
          </a:p>
          <a:p>
            <a:pPr>
              <a:buFont typeface="Symbol" pitchFamily="18" charset="2"/>
              <a:buNone/>
              <a:defRPr/>
            </a:pPr>
            <a:r>
              <a:rPr lang="en-IN" sz="2000" dirty="0">
                <a:latin typeface="Arial" pitchFamily="34" charset="0"/>
                <a:cs typeface="Arial" pitchFamily="34" charset="0"/>
              </a:rPr>
              <a:t>		CLARITY OF		(Resolution )</a:t>
            </a:r>
          </a:p>
          <a:p>
            <a:pPr>
              <a:spcAft>
                <a:spcPts val="1200"/>
              </a:spcAft>
              <a:buFont typeface="Symbol" pitchFamily="18" charset="2"/>
              <a:buNone/>
              <a:defRPr/>
            </a:pPr>
            <a:r>
              <a:rPr lang="en-IN" sz="2000" dirty="0">
                <a:latin typeface="Arial" pitchFamily="34" charset="0"/>
                <a:cs typeface="Arial" pitchFamily="34" charset="0"/>
              </a:rPr>
              <a:t>3. Resolution    3.1. Right Understanding</a:t>
            </a:r>
          </a:p>
          <a:p>
            <a:pPr>
              <a:spcAft>
                <a:spcPts val="1200"/>
              </a:spcAft>
              <a:buFont typeface="Symbol" pitchFamily="18" charset="2"/>
              <a:buNone/>
              <a:defRPr/>
            </a:pPr>
            <a:r>
              <a:rPr lang="en-IN" sz="2000" dirty="0">
                <a:latin typeface="Arial" pitchFamily="34" charset="0"/>
                <a:cs typeface="Arial" pitchFamily="34" charset="0"/>
              </a:rPr>
              <a:t>	            3.2. Wisdom	(Identification of Human Goal)</a:t>
            </a:r>
          </a:p>
          <a:p>
            <a:pPr>
              <a:spcAft>
                <a:spcPts val="1200"/>
              </a:spcAft>
              <a:buFont typeface="Symbol" pitchFamily="18" charset="2"/>
              <a:buNone/>
              <a:defRPr/>
            </a:pPr>
            <a:r>
              <a:rPr lang="en-IN" sz="2000" dirty="0">
                <a:latin typeface="Arial" pitchFamily="34" charset="0"/>
                <a:cs typeface="Arial" pitchFamily="34" charset="0"/>
              </a:rPr>
              <a:t>	            3.3. Science	(How to </a:t>
            </a:r>
            <a:r>
              <a:rPr lang="en-IN" sz="2000" dirty="0" err="1">
                <a:latin typeface="Arial" pitchFamily="34" charset="0"/>
                <a:cs typeface="Arial" pitchFamily="34" charset="0"/>
              </a:rPr>
              <a:t>fulfill</a:t>
            </a:r>
            <a:r>
              <a:rPr lang="en-IN" sz="2000" dirty="0">
                <a:latin typeface="Arial" pitchFamily="34" charset="0"/>
                <a:cs typeface="Arial" pitchFamily="34" charset="0"/>
              </a:rPr>
              <a:t> Human Goal)</a:t>
            </a:r>
          </a:p>
          <a:p>
            <a:pPr>
              <a:spcAft>
                <a:spcPts val="1200"/>
              </a:spcAft>
              <a:buFont typeface="Symbol" pitchFamily="18" charset="2"/>
              <a:buNone/>
              <a:defRPr/>
            </a:pPr>
            <a:r>
              <a:rPr lang="en-IN" sz="2000" dirty="0">
                <a:latin typeface="Arial" pitchFamily="34" charset="0"/>
                <a:cs typeface="Arial" pitchFamily="34" charset="0"/>
              </a:rPr>
              <a:t>	            3.4. Behaviour</a:t>
            </a:r>
          </a:p>
          <a:p>
            <a:pPr>
              <a:spcAft>
                <a:spcPts val="1200"/>
              </a:spcAft>
              <a:buFont typeface="Symbol" pitchFamily="18" charset="2"/>
              <a:buNone/>
              <a:defRPr/>
            </a:pPr>
            <a:r>
              <a:rPr lang="en-IN" sz="2000" dirty="0">
                <a:latin typeface="Arial" pitchFamily="34" charset="0"/>
                <a:cs typeface="Arial" pitchFamily="34" charset="0"/>
              </a:rPr>
              <a:t>	            3.5. Work</a:t>
            </a:r>
          </a:p>
          <a:p>
            <a:pPr>
              <a:spcAft>
                <a:spcPts val="1200"/>
              </a:spcAft>
              <a:buFont typeface="Symbol" pitchFamily="18" charset="2"/>
              <a:buNone/>
              <a:defRPr/>
            </a:pPr>
            <a:r>
              <a:rPr lang="en-IN" sz="2000" dirty="0">
                <a:latin typeface="Arial" pitchFamily="34" charset="0"/>
                <a:cs typeface="Arial" pitchFamily="34" charset="0"/>
              </a:rPr>
              <a:t>	            3.6. Participation in Larger Order </a:t>
            </a:r>
          </a:p>
          <a:p>
            <a:pPr>
              <a:spcAft>
                <a:spcPts val="1200"/>
              </a:spcAft>
              <a:buFont typeface="Symbol" pitchFamily="18" charset="2"/>
              <a:buNone/>
              <a:defRPr/>
            </a:pPr>
            <a:r>
              <a:rPr lang="en-IN" sz="2000" dirty="0">
                <a:latin typeface="Arial" pitchFamily="34" charset="0"/>
                <a:cs typeface="Arial" pitchFamily="34" charset="0"/>
              </a:rPr>
              <a:t>	            3.7. Undivided Human Society</a:t>
            </a:r>
          </a:p>
          <a:p>
            <a:pPr>
              <a:spcAft>
                <a:spcPts val="1200"/>
              </a:spcAft>
              <a:buFont typeface="Symbol" pitchFamily="18" charset="2"/>
              <a:buNone/>
              <a:defRPr/>
            </a:pPr>
            <a:r>
              <a:rPr lang="en-IN" sz="2000" dirty="0">
                <a:latin typeface="Arial" pitchFamily="34" charset="0"/>
                <a:cs typeface="Arial" pitchFamily="34" charset="0"/>
              </a:rPr>
              <a:t>	           3.8. Universal Human Order</a:t>
            </a:r>
          </a:p>
          <a:p>
            <a:pPr>
              <a:buFont typeface="Symbol" pitchFamily="18" charset="2"/>
              <a:buNone/>
              <a:defRPr/>
            </a:pPr>
            <a:r>
              <a:rPr lang="en-IN" sz="2000" dirty="0">
                <a:latin typeface="Arial" pitchFamily="34" charset="0"/>
                <a:cs typeface="Arial" pitchFamily="34" charset="0"/>
              </a:rPr>
              <a:t>	            3.9. Human Tradition (in which Human Goal is fulfilled)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A0684EE-84D8-40E9-8FEC-3487E8CF5154}"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altLang="en-US" sz="3200" dirty="0">
                <a:solidFill>
                  <a:schemeClr val="tx1"/>
                </a:solidFill>
                <a:latin typeface="Arial" pitchFamily="34" charset="0"/>
                <a:cs typeface="Arial" pitchFamily="34" charset="0"/>
              </a:rPr>
              <a:t>Right Understanding(CO4)</a:t>
            </a:r>
            <a:r>
              <a:rPr lang="en-US" sz="3200" b="1" dirty="0">
                <a:latin typeface="Arial" pitchFamily="34" charset="0"/>
                <a:cs typeface="Arial" pitchFamily="34" charset="0"/>
              </a:rPr>
              <a:t> </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pSp>
        <p:nvGrpSpPr>
          <p:cNvPr id="10" name="Group 21"/>
          <p:cNvGrpSpPr>
            <a:grpSpLocks/>
          </p:cNvGrpSpPr>
          <p:nvPr/>
        </p:nvGrpSpPr>
        <p:grpSpPr bwMode="auto">
          <a:xfrm>
            <a:off x="3505200" y="1852613"/>
            <a:ext cx="5181600" cy="1195387"/>
            <a:chOff x="3200400" y="1852801"/>
            <a:chExt cx="5181600" cy="1195199"/>
          </a:xfrm>
        </p:grpSpPr>
        <p:sp>
          <p:nvSpPr>
            <p:cNvPr id="11" name="TextBox 13"/>
            <p:cNvSpPr txBox="1">
              <a:spLocks noChangeArrowheads="1"/>
            </p:cNvSpPr>
            <p:nvPr/>
          </p:nvSpPr>
          <p:spPr bwMode="auto">
            <a:xfrm>
              <a:off x="3886200" y="1852801"/>
              <a:ext cx="4495800" cy="1195199"/>
            </a:xfrm>
            <a:prstGeom prst="rect">
              <a:avLst/>
            </a:prstGeom>
            <a:noFill/>
            <a:ln w="9525">
              <a:noFill/>
              <a:miter lim="800000"/>
              <a:headEnd/>
              <a:tailEnd/>
            </a:ln>
          </p:spPr>
          <p:txBody>
            <a:bodyPr>
              <a:spAutoFit/>
            </a:bodyPr>
            <a:lstStyle/>
            <a:p>
              <a:pPr eaLnBrk="1" hangingPunct="1">
                <a:spcBef>
                  <a:spcPts val="725"/>
                </a:spcBef>
              </a:pPr>
              <a:r>
                <a:rPr lang="en-US" altLang="en-US" sz="2000" dirty="0">
                  <a:solidFill>
                    <a:srgbClr val="000000"/>
                  </a:solidFill>
                  <a:latin typeface="Arial" pitchFamily="34" charset="0"/>
                  <a:cs typeface="Arial" pitchFamily="34" charset="0"/>
                </a:rPr>
                <a:t>3.1.1. Knowledge of Human Being</a:t>
              </a:r>
            </a:p>
            <a:p>
              <a:pPr eaLnBrk="1" hangingPunct="1">
                <a:spcBef>
                  <a:spcPts val="725"/>
                </a:spcBef>
              </a:pPr>
              <a:r>
                <a:rPr lang="en-US" altLang="en-US" sz="2000" dirty="0">
                  <a:solidFill>
                    <a:srgbClr val="000000"/>
                  </a:solidFill>
                  <a:latin typeface="Arial" pitchFamily="34" charset="0"/>
                  <a:cs typeface="Arial" pitchFamily="34" charset="0"/>
                </a:rPr>
                <a:t>3.1.2. Knowledge of Existence</a:t>
              </a:r>
            </a:p>
            <a:p>
              <a:pPr eaLnBrk="1" hangingPunct="1">
                <a:spcBef>
                  <a:spcPts val="725"/>
                </a:spcBef>
              </a:pPr>
              <a:r>
                <a:rPr lang="en-US" altLang="en-US" sz="2000" dirty="0">
                  <a:solidFill>
                    <a:srgbClr val="000000"/>
                  </a:solidFill>
                  <a:latin typeface="Arial" pitchFamily="34" charset="0"/>
                  <a:cs typeface="Arial" pitchFamily="34" charset="0"/>
                </a:rPr>
                <a:t>3.1.3. Knowledge of Human Conduct</a:t>
              </a:r>
            </a:p>
          </p:txBody>
        </p:sp>
        <p:cxnSp>
          <p:nvCxnSpPr>
            <p:cNvPr id="12" name="Straight Connector 11">
              <a:extLst>
                <a:ext uri="{FF2B5EF4-FFF2-40B4-BE49-F238E27FC236}">
                  <a16:creationId xmlns:a16="http://schemas.microsoft.com/office/drawing/2014/main" xmlns="" id="{FC399E3C-B5A2-438D-82FC-01E0BA07FD96}"/>
                </a:ext>
              </a:extLst>
            </p:cNvPr>
            <p:cNvCxnSpPr/>
            <p:nvPr/>
          </p:nvCxnSpPr>
          <p:spPr>
            <a:xfrm flipV="1">
              <a:off x="3200400" y="2133744"/>
              <a:ext cx="685800" cy="3047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xmlns="" id="{97D2176A-6E9E-4981-8253-38AA254E9897}"/>
                </a:ext>
              </a:extLst>
            </p:cNvPr>
            <p:cNvCxnSpPr/>
            <p:nvPr/>
          </p:nvCxnSpPr>
          <p:spPr>
            <a:xfrm>
              <a:off x="3200400" y="2438496"/>
              <a:ext cx="685800" cy="3809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xmlns="" id="{71279EC8-462B-486F-8048-E0CC8FA119F0}"/>
                </a:ext>
              </a:extLst>
            </p:cNvPr>
            <p:cNvCxnSpPr>
              <a:endCxn id="11" idx="1"/>
            </p:cNvCxnSpPr>
            <p:nvPr/>
          </p:nvCxnSpPr>
          <p:spPr>
            <a:xfrm>
              <a:off x="3276600" y="2438496"/>
              <a:ext cx="609600" cy="126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xmlns="" id="{5BDE02E4-9971-429C-A6D8-012AFCB1061E}"/>
              </a:ext>
            </a:extLst>
          </p:cNvPr>
          <p:cNvSpPr/>
          <p:nvPr/>
        </p:nvSpPr>
        <p:spPr>
          <a:xfrm>
            <a:off x="63500" y="3048000"/>
            <a:ext cx="8818563" cy="990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solidFill>
                <a:prstClr val="white"/>
              </a:solidFill>
            </a:endParaRPr>
          </a:p>
        </p:txBody>
      </p:sp>
      <p:cxnSp>
        <p:nvCxnSpPr>
          <p:cNvPr id="16" name="Straight Connector 15">
            <a:extLst>
              <a:ext uri="{FF2B5EF4-FFF2-40B4-BE49-F238E27FC236}">
                <a16:creationId xmlns:a16="http://schemas.microsoft.com/office/drawing/2014/main" xmlns="" id="{BBDAEF5E-13B1-46F3-9E93-F05D7D0BCAF3}"/>
              </a:ext>
            </a:extLst>
          </p:cNvPr>
          <p:cNvCxnSpPr/>
          <p:nvPr/>
        </p:nvCxnSpPr>
        <p:spPr bwMode="auto">
          <a:xfrm rot="5400000">
            <a:off x="3301204" y="4290226"/>
            <a:ext cx="552450" cy="111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40FAFCDB-2C19-4C64-B515-C4C22C3A0C9F}"/>
              </a:ext>
            </a:extLst>
          </p:cNvPr>
          <p:cNvCxnSpPr/>
          <p:nvPr/>
        </p:nvCxnSpPr>
        <p:spPr bwMode="auto">
          <a:xfrm rot="16200000" flipH="1">
            <a:off x="5326860" y="4255298"/>
            <a:ext cx="481012" cy="95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xmlns="" id="{94EC409D-7A74-4C93-9B71-20ABC0217890}"/>
              </a:ext>
            </a:extLst>
          </p:cNvPr>
          <p:cNvCxnSpPr/>
          <p:nvPr/>
        </p:nvCxnSpPr>
        <p:spPr bwMode="auto">
          <a:xfrm rot="5400000">
            <a:off x="7439047" y="4223551"/>
            <a:ext cx="40957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xmlns="" id="{585AF381-CA8E-495E-B177-738DAF2CB12A}"/>
              </a:ext>
            </a:extLst>
          </p:cNvPr>
          <p:cNvSpPr/>
          <p:nvPr/>
        </p:nvSpPr>
        <p:spPr>
          <a:xfrm>
            <a:off x="4211638" y="2230438"/>
            <a:ext cx="4932362" cy="381000"/>
          </a:xfrm>
          <a:prstGeom prst="rect">
            <a:avLst/>
          </a:prstGeom>
          <a:solidFill>
            <a:srgbClr val="FFC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ltLang="en-US" dirty="0">
              <a:solidFill>
                <a:srgbClr val="000000"/>
              </a:solidFill>
            </a:endParaRPr>
          </a:p>
          <a:p>
            <a:pPr>
              <a:defRPr/>
            </a:pPr>
            <a:r>
              <a:rPr lang="en-US" altLang="en-US" sz="2200" dirty="0">
                <a:solidFill>
                  <a:srgbClr val="000000"/>
                </a:solidFill>
                <a:latin typeface="Arial" pitchFamily="34" charset="0"/>
                <a:cs typeface="Arial" pitchFamily="34" charset="0"/>
              </a:rPr>
              <a:t>3.1.2. Knowledge of Existence</a:t>
            </a:r>
          </a:p>
          <a:p>
            <a:pPr eaLnBrk="1" hangingPunct="1">
              <a:defRPr/>
            </a:pPr>
            <a:endParaRPr lang="en-US" dirty="0">
              <a:solidFill>
                <a:prstClr val="white"/>
              </a:solidFill>
            </a:endParaRPr>
          </a:p>
        </p:txBody>
      </p:sp>
      <p:sp>
        <p:nvSpPr>
          <p:cNvPr id="21" name="Rectangle 20"/>
          <p:cNvSpPr/>
          <p:nvPr/>
        </p:nvSpPr>
        <p:spPr>
          <a:xfrm>
            <a:off x="0" y="951398"/>
            <a:ext cx="8858280" cy="4493538"/>
          </a:xfrm>
          <a:prstGeom prst="rect">
            <a:avLst/>
          </a:prstGeom>
        </p:spPr>
        <p:txBody>
          <a:bodyPr wrap="square">
            <a:spAutoFit/>
          </a:bodyPr>
          <a:lstStyle/>
          <a:p>
            <a:pPr>
              <a:buFont typeface="Symbol" pitchFamily="18" charset="2"/>
              <a:buNone/>
            </a:pPr>
            <a:r>
              <a:rPr lang="en-IN" altLang="en-US" sz="2200" dirty="0">
                <a:latin typeface="Arial" pitchFamily="34" charset="0"/>
                <a:cs typeface="Arial" pitchFamily="34" charset="0"/>
              </a:rPr>
              <a:t>To see the reality as it is</a:t>
            </a:r>
          </a:p>
          <a:p>
            <a:pPr>
              <a:buFont typeface="Symbol" pitchFamily="18" charset="2"/>
              <a:buNone/>
            </a:pPr>
            <a:endParaRPr lang="en-IN" altLang="en-US" sz="2200" dirty="0">
              <a:latin typeface="Arial" pitchFamily="34" charset="0"/>
              <a:cs typeface="Arial" pitchFamily="34" charset="0"/>
            </a:endParaRPr>
          </a:p>
          <a:p>
            <a:pPr>
              <a:buFont typeface="Symbol" pitchFamily="18" charset="2"/>
              <a:buNone/>
            </a:pPr>
            <a:r>
              <a:rPr lang="en-IN" altLang="en-US" sz="2200" dirty="0">
                <a:latin typeface="Arial" pitchFamily="34" charset="0"/>
                <a:cs typeface="Arial" pitchFamily="34" charset="0"/>
              </a:rPr>
              <a:t>Knower – [Self (I)]</a:t>
            </a:r>
          </a:p>
          <a:p>
            <a:pPr>
              <a:buFont typeface="Symbol" pitchFamily="18" charset="2"/>
              <a:buNone/>
            </a:pPr>
            <a:endParaRPr lang="en-IN" altLang="en-US" sz="2200" dirty="0">
              <a:latin typeface="Arial" pitchFamily="34" charset="0"/>
              <a:cs typeface="Arial" pitchFamily="34" charset="0"/>
            </a:endParaRPr>
          </a:p>
          <a:p>
            <a:pPr>
              <a:buFont typeface="Symbol" pitchFamily="18" charset="2"/>
              <a:buNone/>
            </a:pPr>
            <a:r>
              <a:rPr lang="en-IN" altLang="en-US" sz="2200" dirty="0">
                <a:latin typeface="Arial" pitchFamily="34" charset="0"/>
                <a:cs typeface="Arial" pitchFamily="34" charset="0"/>
              </a:rPr>
              <a:t>To be Known – [Existence]</a:t>
            </a:r>
          </a:p>
          <a:p>
            <a:pPr>
              <a:buFont typeface="Symbol" pitchFamily="18" charset="2"/>
              <a:buNone/>
            </a:pPr>
            <a:endParaRPr lang="en-IN" altLang="en-US" sz="2200" dirty="0">
              <a:latin typeface="Arial" pitchFamily="34" charset="0"/>
              <a:cs typeface="Arial" pitchFamily="34" charset="0"/>
            </a:endParaRPr>
          </a:p>
          <a:p>
            <a:pPr>
              <a:buFont typeface="Symbol" pitchFamily="18" charset="2"/>
              <a:buNone/>
            </a:pPr>
            <a:r>
              <a:rPr lang="en-IN" altLang="en-US" sz="2200" dirty="0">
                <a:latin typeface="Arial" pitchFamily="34" charset="0"/>
                <a:cs typeface="Arial" pitchFamily="34" charset="0"/>
              </a:rPr>
              <a:t>Process – </a:t>
            </a:r>
          </a:p>
          <a:p>
            <a:pPr>
              <a:buFont typeface="Symbol" pitchFamily="18" charset="2"/>
              <a:buNone/>
            </a:pPr>
            <a:r>
              <a:rPr lang="en-IN" altLang="en-US" sz="2200" dirty="0">
                <a:latin typeface="Arial" pitchFamily="34" charset="0"/>
                <a:cs typeface="Arial" pitchFamily="34" charset="0"/>
              </a:rPr>
              <a:t>Awakening to activity of Contemplation, Understanding &amp; Realisation</a:t>
            </a:r>
          </a:p>
          <a:p>
            <a:pPr lvl="1">
              <a:buFont typeface="Wingdings" pitchFamily="2" charset="2"/>
              <a:buNone/>
            </a:pPr>
            <a:endParaRPr lang="en-IN" altLang="en-US" sz="2200" dirty="0">
              <a:latin typeface="Arial" pitchFamily="34" charset="0"/>
              <a:cs typeface="Arial" pitchFamily="34" charset="0"/>
            </a:endParaRPr>
          </a:p>
          <a:p>
            <a:pPr lvl="1">
              <a:buFont typeface="Wingdings" pitchFamily="2" charset="2"/>
              <a:buNone/>
            </a:pPr>
            <a:endParaRPr lang="en-US" altLang="en-US" sz="2200" dirty="0">
              <a:latin typeface="Arial" pitchFamily="34" charset="0"/>
              <a:cs typeface="Arial" pitchFamily="34" charset="0"/>
            </a:endParaRPr>
          </a:p>
          <a:p>
            <a:pPr lvl="1">
              <a:buFont typeface="Wingdings" pitchFamily="2" charset="2"/>
              <a:buNone/>
            </a:pPr>
            <a:endParaRPr lang="en-IN" altLang="en-US" sz="2200" dirty="0">
              <a:latin typeface="Arial" pitchFamily="34" charset="0"/>
              <a:cs typeface="Arial" pitchFamily="34" charset="0"/>
            </a:endParaRPr>
          </a:p>
          <a:p>
            <a:pPr lvl="1">
              <a:buFont typeface="Wingdings" pitchFamily="2" charset="2"/>
              <a:buNone/>
            </a:pPr>
            <a:r>
              <a:rPr lang="en-IN" altLang="en-US" sz="2200" dirty="0">
                <a:latin typeface="Arial" pitchFamily="34" charset="0"/>
                <a:cs typeface="Arial" pitchFamily="34" charset="0"/>
              </a:rPr>
              <a:t>	   		Natural	              Innateness           Co-existence</a:t>
            </a:r>
          </a:p>
          <a:p>
            <a:pPr lvl="1">
              <a:buFont typeface="Wingdings" pitchFamily="2" charset="2"/>
              <a:buNone/>
            </a:pPr>
            <a:r>
              <a:rPr lang="en-IN" altLang="en-US" sz="2200" dirty="0">
                <a:latin typeface="Arial" pitchFamily="34" charset="0"/>
                <a:cs typeface="Arial" pitchFamily="34" charset="0"/>
              </a:rPr>
              <a:t>			 Characteristic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Placeholder 2">
            <a:extLst>
              <a:ext uri="{FF2B5EF4-FFF2-40B4-BE49-F238E27FC236}">
                <a16:creationId xmlns:a16="http://schemas.microsoft.com/office/drawing/2014/main" xmlns="" id="{83DC920F-9609-4E78-8B38-E0B30802D603}"/>
              </a:ext>
            </a:extLst>
          </p:cNvPr>
          <p:cNvSpPr>
            <a:spLocks noGrp="1"/>
          </p:cNvSpPr>
          <p:nvPr>
            <p:ph type="body" sz="quarter" idx="4294967295"/>
          </p:nvPr>
        </p:nvSpPr>
        <p:spPr bwMode="auto">
          <a:xfrm>
            <a:off x="0" y="876304"/>
            <a:ext cx="9144000" cy="5767406"/>
          </a:xfrm>
          <a:prstGeom prst="rect">
            <a:avLst/>
          </a:prstGeom>
          <a:ln>
            <a:miter lim="800000"/>
            <a:headEnd/>
            <a:tailEnd/>
          </a:ln>
        </p:spPr>
        <p:txBody>
          <a:bodyPr vert="horz" wrap="square" lIns="91440" tIns="45720" rIns="91440" bIns="45720" numCol="1" anchor="t" anchorCtr="0" compatLnSpc="1">
            <a:prstTxWarp prst="textNoShape">
              <a:avLst/>
            </a:prstTxWarp>
            <a:normAutofit/>
          </a:bodyPr>
          <a:lstStyle/>
          <a:p>
            <a:pPr>
              <a:buFont typeface="Symbol" pitchFamily="18" charset="2"/>
              <a:buNone/>
              <a:defRPr/>
            </a:pPr>
            <a:r>
              <a:rPr sz="2200">
                <a:latin typeface="Arial" pitchFamily="34" charset="0"/>
                <a:cs typeface="Arial" pitchFamily="34" charset="0"/>
              </a:rPr>
              <a:t>Existence = Co- Existence =  Units submerged in Space</a:t>
            </a:r>
          </a:p>
          <a:p>
            <a:pPr>
              <a:buFont typeface="Symbol" pitchFamily="18" charset="2"/>
              <a:buNone/>
              <a:defRPr/>
            </a:pPr>
            <a:r>
              <a:rPr sz="2200">
                <a:solidFill>
                  <a:srgbClr val="1E00AA"/>
                </a:solidFill>
                <a:latin typeface="Kruti Dev 010" pitchFamily="2" charset="0"/>
                <a:cs typeface="Arial" charset="0"/>
              </a:rPr>
              <a:t>	</a:t>
            </a:r>
            <a:r>
              <a:rPr sz="2200">
                <a:latin typeface="Arial" charset="0"/>
                <a:cs typeface="Arial" charset="0"/>
              </a:rPr>
              <a:t>Unit	</a:t>
            </a:r>
            <a:endParaRPr sz="2200">
              <a:solidFill>
                <a:srgbClr val="1E00AA"/>
              </a:solidFill>
              <a:latin typeface="Kruti Dev 010" pitchFamily="2" charset="0"/>
              <a:cs typeface="Arial" charset="0"/>
            </a:endParaRPr>
          </a:p>
          <a:p>
            <a:pPr marL="685800" lvl="1" indent="-457200">
              <a:buFont typeface="Wingdings" pitchFamily="2" charset="2"/>
              <a:buNone/>
              <a:defRPr/>
            </a:pPr>
            <a:r>
              <a:rPr sz="2200">
                <a:latin typeface="Arial" charset="0"/>
                <a:cs typeface="Arial" charset="0"/>
              </a:rPr>
              <a:t>1</a:t>
            </a:r>
            <a:r>
              <a:rPr sz="2200">
                <a:latin typeface="Arial" pitchFamily="34" charset="0"/>
                <a:cs typeface="Arial" pitchFamily="34" charset="0"/>
              </a:rPr>
              <a:t>. Energised in Space 	</a:t>
            </a:r>
          </a:p>
          <a:p>
            <a:pPr marL="685800" lvl="1" indent="-457200">
              <a:buFont typeface="Wingdings" pitchFamily="2" charset="2"/>
              <a:buNone/>
              <a:defRPr/>
            </a:pPr>
            <a:r>
              <a:rPr sz="2200">
                <a:latin typeface="Arial" pitchFamily="34" charset="0"/>
                <a:cs typeface="Arial" pitchFamily="34" charset="0"/>
              </a:rPr>
              <a:t>2. Self organised in Space	</a:t>
            </a:r>
          </a:p>
          <a:p>
            <a:pPr marL="685800" lvl="1" indent="-457200">
              <a:buFont typeface="Wingdings" pitchFamily="2" charset="2"/>
              <a:buNone/>
              <a:defRPr/>
            </a:pPr>
            <a:r>
              <a:rPr sz="2200">
                <a:latin typeface="Arial" pitchFamily="34" charset="0"/>
                <a:cs typeface="Arial" pitchFamily="34" charset="0"/>
              </a:rPr>
              <a:t>3. Recognises it's relationship, </a:t>
            </a:r>
          </a:p>
          <a:p>
            <a:pPr marL="685800" lvl="1" indent="-457200">
              <a:buFont typeface="Wingdings" pitchFamily="2" charset="2"/>
              <a:buNone/>
              <a:defRPr/>
            </a:pPr>
            <a:r>
              <a:rPr sz="2200">
                <a:latin typeface="Arial" pitchFamily="34" charset="0"/>
                <a:cs typeface="Arial" pitchFamily="34" charset="0"/>
              </a:rPr>
              <a:t>    Fulfills its relationship with every other Unit in Space</a:t>
            </a:r>
          </a:p>
          <a:p>
            <a:pPr lvl="1">
              <a:buFont typeface="Wingdings" pitchFamily="2" charset="2"/>
              <a:buNone/>
              <a:defRPr/>
            </a:pPr>
            <a:r>
              <a:rPr sz="2200">
                <a:solidFill>
                  <a:srgbClr val="1E00AA"/>
                </a:solidFill>
              </a:rPr>
              <a:t>     </a:t>
            </a:r>
            <a:endParaRPr sz="2200"/>
          </a:p>
          <a:p>
            <a:pPr>
              <a:buFont typeface="Wingdings" pitchFamily="2" charset="2"/>
              <a:buNone/>
              <a:defRPr/>
            </a:pPr>
            <a:r>
              <a:rPr sz="2200">
                <a:latin typeface="Arial" pitchFamily="34" charset="0"/>
                <a:cs typeface="Arial" pitchFamily="34" charset="0"/>
              </a:rPr>
              <a:t>Existence = All that exists</a:t>
            </a:r>
          </a:p>
          <a:p>
            <a:pPr algn="just">
              <a:buFont typeface="Wingdings" pitchFamily="2" charset="2"/>
              <a:buNone/>
              <a:defRPr/>
            </a:pPr>
            <a:r>
              <a:rPr sz="2200">
                <a:latin typeface="Arial" pitchFamily="34" charset="0"/>
                <a:cs typeface="Arial" pitchFamily="34" charset="0"/>
              </a:rPr>
              <a:t>Self Organised = Is in a definite order, is in harmony, has definite conduct. Therefore it can be identified, understood</a:t>
            </a:r>
          </a:p>
        </p:txBody>
      </p:sp>
      <p:sp>
        <p:nvSpPr>
          <p:cNvPr id="4" name="Rectangle 3">
            <a:extLst>
              <a:ext uri="{FF2B5EF4-FFF2-40B4-BE49-F238E27FC236}">
                <a16:creationId xmlns:a16="http://schemas.microsoft.com/office/drawing/2014/main" xmlns="" id="{8F8819E0-9110-4734-937A-6422566A1DA7}"/>
              </a:ext>
            </a:extLst>
          </p:cNvPr>
          <p:cNvSpPr/>
          <p:nvPr/>
        </p:nvSpPr>
        <p:spPr bwMode="auto">
          <a:xfrm>
            <a:off x="152400" y="1285860"/>
            <a:ext cx="8839200" cy="228601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GB">
              <a:solidFill>
                <a:prstClr val="white"/>
              </a:solidFill>
            </a:endParaRPr>
          </a:p>
        </p:txBody>
      </p:sp>
      <p:sp>
        <p:nvSpPr>
          <p:cNvPr id="6"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Knowledge of Existence(CO4)</a:t>
            </a:r>
            <a:r>
              <a:rPr lang="en-US" sz="3200" b="1" dirty="0">
                <a:latin typeface="Arial" pitchFamily="34" charset="0"/>
                <a:cs typeface="Arial" pitchFamily="34" charset="0"/>
              </a:rPr>
              <a:t> </a:t>
            </a:r>
          </a:p>
        </p:txBody>
      </p:sp>
      <p:pic>
        <p:nvPicPr>
          <p:cNvPr id="7" name="Picture 2" descr="E:\NIET\Project\xLogo11.png.pagespeed.ic.pydHLuCQEZ.png"/>
          <p:cNvPicPr>
            <a:picLocks noChangeAspect="1" noChangeArrowheads="1"/>
          </p:cNvPicPr>
          <p:nvPr/>
        </p:nvPicPr>
        <p:blipFill>
          <a:blip r:embed="rId3"/>
          <a:srcRect/>
          <a:stretch>
            <a:fillRect/>
          </a:stretch>
        </p:blipFill>
        <p:spPr bwMode="auto">
          <a:xfrm>
            <a:off x="0" y="0"/>
            <a:ext cx="1447800" cy="817163"/>
          </a:xfrm>
          <a:prstGeom prst="rect">
            <a:avLst/>
          </a:prstGeom>
          <a:noFill/>
        </p:spPr>
      </p:pic>
      <p:sp>
        <p:nvSpPr>
          <p:cNvPr id="8" name="Date Placeholder 7"/>
          <p:cNvSpPr>
            <a:spLocks noGrp="1"/>
          </p:cNvSpPr>
          <p:nvPr>
            <p:ph type="dt" sz="half" idx="10"/>
          </p:nvPr>
        </p:nvSpPr>
        <p:spPr/>
        <p:txBody>
          <a:bodyPr/>
          <a:lstStyle/>
          <a:p>
            <a:fld id="{E6616A5F-F1E4-40BE-88B2-EE2E45B02DC2}" type="datetime1">
              <a:rPr lang="en-US" smtClean="0"/>
              <a:pPr/>
              <a:t>06/25/21</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11</a:t>
            </a:fld>
            <a:endParaRPr lang="en-US"/>
          </a:p>
        </p:txBody>
      </p:sp>
      <p:sp>
        <p:nvSpPr>
          <p:cNvPr id="10" name="Footer Placeholder 9"/>
          <p:cNvSpPr>
            <a:spLocks noGrp="1"/>
          </p:cNvSpPr>
          <p:nvPr>
            <p:ph type="ftr" sz="quarter" idx="11"/>
          </p:nvPr>
        </p:nvSpPr>
        <p:spPr>
          <a:xfrm>
            <a:off x="2571736" y="6356350"/>
            <a:ext cx="5572164" cy="365125"/>
          </a:xfrm>
        </p:spPr>
        <p:txBody>
          <a:bodyPr/>
          <a:lstStyle/>
          <a:p>
            <a:r>
              <a:rPr lang="fi-FI" smtClean="0"/>
              <a:t>SHYAM  LAL SHARMA             KOE069 UHV-2               Unit -4</a:t>
            </a:r>
            <a:endParaRPr 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Placeholder 2">
            <a:extLst>
              <a:ext uri="{FF2B5EF4-FFF2-40B4-BE49-F238E27FC236}">
                <a16:creationId xmlns:a16="http://schemas.microsoft.com/office/drawing/2014/main" xmlns="" id="{2922F95D-AA6E-4106-9491-752E0C95A7D7}"/>
              </a:ext>
            </a:extLst>
          </p:cNvPr>
          <p:cNvSpPr>
            <a:spLocks noGrp="1"/>
          </p:cNvSpPr>
          <p:nvPr>
            <p:ph type="body" sz="quarter" idx="4294967295"/>
          </p:nvPr>
        </p:nvSpPr>
        <p:spPr bwMode="auto">
          <a:xfrm>
            <a:off x="214282" y="785794"/>
            <a:ext cx="8929718" cy="5143536"/>
          </a:xfrm>
          <a:prstGeom prst="rect">
            <a:avLst/>
          </a:prstGeom>
          <a:ln>
            <a:miter lim="800000"/>
            <a:headEnd/>
            <a:tailEnd/>
          </a:ln>
        </p:spPr>
        <p:txBody>
          <a:bodyPr vert="horz" wrap="square" lIns="91440" tIns="45720" rIns="91440" bIns="45720" numCol="1" anchor="t" anchorCtr="0" compatLnSpc="1">
            <a:prstTxWarp prst="textNoShape">
              <a:avLst/>
            </a:prstTxWarp>
            <a:normAutofit lnSpcReduction="10000"/>
          </a:bodyPr>
          <a:lstStyle/>
          <a:p>
            <a:pPr>
              <a:buFont typeface="Symbol" pitchFamily="18" charset="2"/>
              <a:buNone/>
              <a:defRPr/>
            </a:pPr>
            <a:r>
              <a:rPr sz="2200">
                <a:latin typeface="Arial" pitchFamily="34" charset="0"/>
                <a:cs typeface="Arial" pitchFamily="34" charset="0"/>
              </a:rPr>
              <a:t>				       Existence </a:t>
            </a:r>
            <a:r>
              <a:rPr sz="2200">
                <a:solidFill>
                  <a:srgbClr val="1E00AA"/>
                </a:solidFill>
                <a:latin typeface="Arial" pitchFamily="34" charset="0"/>
                <a:cs typeface="Arial" pitchFamily="34" charset="0"/>
              </a:rPr>
              <a:t>	</a:t>
            </a:r>
          </a:p>
          <a:p>
            <a:pPr algn="ctr">
              <a:buFont typeface="Symbol" pitchFamily="18" charset="2"/>
              <a:buNone/>
              <a:defRPr/>
            </a:pPr>
            <a:r>
              <a:rPr sz="2200">
                <a:latin typeface="Arial" pitchFamily="34" charset="0"/>
                <a:cs typeface="Arial" pitchFamily="34" charset="0"/>
              </a:rPr>
              <a:t>				</a:t>
            </a:r>
            <a:r>
              <a:rPr sz="2200" b="1">
                <a:latin typeface="Arial" pitchFamily="34" charset="0"/>
                <a:cs typeface="Arial" pitchFamily="34" charset="0"/>
              </a:rPr>
              <a:t> 			  </a:t>
            </a:r>
            <a:r>
              <a:rPr sz="2200">
                <a:latin typeface="Arial" pitchFamily="34" charset="0"/>
                <a:cs typeface="Arial" pitchFamily="34" charset="0"/>
              </a:rPr>
              <a:t>Ever Present </a:t>
            </a:r>
            <a:endParaRPr sz="2200">
              <a:solidFill>
                <a:srgbClr val="1E00AA"/>
              </a:solidFill>
              <a:latin typeface="Arial" pitchFamily="34" charset="0"/>
              <a:cs typeface="Arial" pitchFamily="34" charset="0"/>
            </a:endParaRPr>
          </a:p>
          <a:p>
            <a:pPr>
              <a:buFont typeface="Symbol" pitchFamily="18" charset="2"/>
              <a:buNone/>
              <a:defRPr/>
            </a:pPr>
            <a:r>
              <a:rPr sz="2200">
                <a:latin typeface="Arial" pitchFamily="34" charset="0"/>
                <a:cs typeface="Arial" pitchFamily="34" charset="0"/>
              </a:rPr>
              <a:t>	</a:t>
            </a:r>
            <a:r>
              <a:rPr sz="2200" b="1">
                <a:latin typeface="Arial" pitchFamily="34" charset="0"/>
                <a:cs typeface="Arial" pitchFamily="34" charset="0"/>
              </a:rPr>
              <a:t>Units	</a:t>
            </a:r>
            <a:r>
              <a:rPr sz="2200">
                <a:latin typeface="Arial" pitchFamily="34" charset="0"/>
                <a:cs typeface="Arial" pitchFamily="34" charset="0"/>
              </a:rPr>
              <a:t>				Submerged in </a:t>
            </a:r>
            <a:r>
              <a:rPr sz="2200" b="1">
                <a:latin typeface="Arial" pitchFamily="34" charset="0"/>
                <a:cs typeface="Arial" pitchFamily="34" charset="0"/>
              </a:rPr>
              <a:t>Space</a:t>
            </a:r>
          </a:p>
          <a:p>
            <a:pPr>
              <a:buFont typeface="Symbol" pitchFamily="18" charset="2"/>
              <a:buNone/>
              <a:defRPr/>
            </a:pPr>
            <a:r>
              <a:rPr sz="2200">
                <a:latin typeface="Arial" pitchFamily="34" charset="0"/>
                <a:cs typeface="Arial" pitchFamily="34" charset="0"/>
              </a:rPr>
              <a:t>Limited in Size </a:t>
            </a:r>
            <a:r>
              <a:rPr lang="en-US" sz="2200" dirty="0">
                <a:latin typeface="Arial" pitchFamily="34" charset="0"/>
                <a:cs typeface="Arial" pitchFamily="34" charset="0"/>
              </a:rPr>
              <a:t>			</a:t>
            </a:r>
            <a:r>
              <a:rPr sz="2200">
                <a:latin typeface="Arial" pitchFamily="34" charset="0"/>
                <a:cs typeface="Arial" pitchFamily="34" charset="0"/>
              </a:rPr>
              <a:t>	Unlimited All Pervading</a:t>
            </a:r>
          </a:p>
          <a:p>
            <a:pPr>
              <a:buFont typeface="Symbol" pitchFamily="18" charset="2"/>
              <a:buNone/>
              <a:defRPr/>
            </a:pPr>
            <a:r>
              <a:rPr sz="2200">
                <a:latin typeface="Arial" pitchFamily="34" charset="0"/>
                <a:cs typeface="Arial" pitchFamily="34" charset="0"/>
              </a:rPr>
              <a:t>	Activity, Active </a:t>
            </a:r>
            <a:r>
              <a:rPr lang="en-US" sz="2200" dirty="0">
                <a:latin typeface="Arial" pitchFamily="34" charset="0"/>
                <a:cs typeface="Arial" pitchFamily="34" charset="0"/>
              </a:rPr>
              <a:t>		</a:t>
            </a:r>
            <a:r>
              <a:rPr sz="2200">
                <a:latin typeface="Arial" pitchFamily="34" charset="0"/>
                <a:cs typeface="Arial" pitchFamily="34" charset="0"/>
              </a:rPr>
              <a:t>		No Activity</a:t>
            </a:r>
          </a:p>
          <a:p>
            <a:pPr>
              <a:buFont typeface="Symbol" pitchFamily="18" charset="2"/>
              <a:buNone/>
              <a:defRPr/>
            </a:pPr>
            <a:endParaRPr sz="2200">
              <a:latin typeface="Arial" pitchFamily="34" charset="0"/>
              <a:cs typeface="Arial" pitchFamily="34" charset="0"/>
            </a:endParaRPr>
          </a:p>
          <a:p>
            <a:pPr>
              <a:buFont typeface="Symbol" pitchFamily="18" charset="2"/>
              <a:buNone/>
              <a:defRPr/>
            </a:pPr>
            <a:r>
              <a:rPr sz="2200" b="1">
                <a:latin typeface="Arial" pitchFamily="34" charset="0"/>
                <a:cs typeface="Arial" pitchFamily="34" charset="0"/>
              </a:rPr>
              <a:t>Material </a:t>
            </a:r>
            <a:r>
              <a:rPr sz="2200">
                <a:latin typeface="Arial" pitchFamily="34" charset="0"/>
                <a:cs typeface="Arial" pitchFamily="34" charset="0"/>
              </a:rPr>
              <a:t>	 	 </a:t>
            </a:r>
            <a:r>
              <a:rPr sz="2200" b="1">
                <a:latin typeface="Arial" pitchFamily="34" charset="0"/>
                <a:cs typeface="Arial" pitchFamily="34" charset="0"/>
              </a:rPr>
              <a:t>Consciousness</a:t>
            </a:r>
            <a:endParaRPr sz="2200">
              <a:solidFill>
                <a:srgbClr val="1E00AA"/>
              </a:solidFill>
              <a:latin typeface="Arial" pitchFamily="34" charset="0"/>
              <a:cs typeface="Arial" pitchFamily="34" charset="0"/>
            </a:endParaRPr>
          </a:p>
          <a:p>
            <a:pPr>
              <a:buFont typeface="Symbol" pitchFamily="18" charset="2"/>
              <a:buNone/>
              <a:defRPr/>
            </a:pPr>
            <a:r>
              <a:rPr sz="2200" err="1">
                <a:latin typeface="Arial" pitchFamily="34" charset="0"/>
                <a:cs typeface="Arial" pitchFamily="34" charset="0"/>
              </a:rPr>
              <a:t>Recognising</a:t>
            </a:r>
            <a:r>
              <a:rPr sz="2200">
                <a:latin typeface="Arial" pitchFamily="34" charset="0"/>
                <a:cs typeface="Arial" pitchFamily="34" charset="0"/>
              </a:rPr>
              <a:t>, 	  	Knowing, Assuming,</a:t>
            </a:r>
          </a:p>
          <a:p>
            <a:pPr>
              <a:buFont typeface="Symbol" pitchFamily="18" charset="2"/>
              <a:buNone/>
              <a:defRPr/>
            </a:pPr>
            <a:r>
              <a:rPr sz="2200">
                <a:latin typeface="Arial" pitchFamily="34" charset="0"/>
                <a:cs typeface="Arial" pitchFamily="34" charset="0"/>
              </a:rPr>
              <a:t>Fulfilling	  	</a:t>
            </a:r>
            <a:r>
              <a:rPr sz="2200" err="1">
                <a:latin typeface="Arial" pitchFamily="34" charset="0"/>
                <a:cs typeface="Arial" pitchFamily="34" charset="0"/>
              </a:rPr>
              <a:t>Recognising</a:t>
            </a:r>
            <a:r>
              <a:rPr sz="2200">
                <a:latin typeface="Arial" pitchFamily="34" charset="0"/>
                <a:cs typeface="Arial" pitchFamily="34" charset="0"/>
              </a:rPr>
              <a:t>, Fulfilling</a:t>
            </a:r>
          </a:p>
          <a:p>
            <a:pPr>
              <a:buFont typeface="Symbol" pitchFamily="18" charset="2"/>
              <a:buNone/>
              <a:defRPr/>
            </a:pPr>
            <a:r>
              <a:rPr sz="2200">
                <a:solidFill>
                  <a:srgbClr val="1E00AA"/>
                </a:solidFill>
                <a:latin typeface="Arial" pitchFamily="34" charset="0"/>
                <a:cs typeface="Arial" pitchFamily="34" charset="0"/>
              </a:rPr>
              <a:t>	</a:t>
            </a:r>
          </a:p>
          <a:p>
            <a:pPr>
              <a:buFont typeface="Symbol" pitchFamily="18" charset="2"/>
              <a:buNone/>
              <a:defRPr/>
            </a:pPr>
            <a:r>
              <a:rPr sz="2200">
                <a:latin typeface="Arial" pitchFamily="34" charset="0"/>
                <a:cs typeface="Arial" pitchFamily="34" charset="0"/>
              </a:rPr>
              <a:t>						          		Ever	</a:t>
            </a:r>
            <a:endParaRPr sz="2200">
              <a:solidFill>
                <a:srgbClr val="1E00AA"/>
              </a:solidFill>
              <a:latin typeface="Arial" pitchFamily="34" charset="0"/>
              <a:cs typeface="Arial" pitchFamily="34" charset="0"/>
            </a:endParaRPr>
          </a:p>
          <a:p>
            <a:pPr>
              <a:buFont typeface="Symbol" pitchFamily="18" charset="2"/>
              <a:buNone/>
              <a:defRPr/>
            </a:pPr>
            <a:r>
              <a:rPr sz="2200">
                <a:latin typeface="Arial" pitchFamily="34" charset="0"/>
                <a:cs typeface="Arial" pitchFamily="34" charset="0"/>
              </a:rPr>
              <a:t>Temporary	  </a:t>
            </a:r>
            <a:r>
              <a:rPr lang="hi-IN" sz="2200" dirty="0">
                <a:latin typeface="Arial" pitchFamily="34" charset="0"/>
              </a:rPr>
              <a:t>	</a:t>
            </a:r>
            <a:r>
              <a:rPr sz="2200">
                <a:latin typeface="Arial" pitchFamily="34" charset="0"/>
                <a:cs typeface="Arial" pitchFamily="34" charset="0"/>
              </a:rPr>
              <a:t>Continuous	          		Unbounded in Time</a:t>
            </a:r>
          </a:p>
          <a:p>
            <a:pPr>
              <a:buFont typeface="Symbol" pitchFamily="18" charset="2"/>
              <a:buNone/>
              <a:defRPr/>
            </a:pPr>
            <a:r>
              <a:rPr lang="en-US" sz="2200" dirty="0">
                <a:latin typeface="Arial" pitchFamily="34" charset="0"/>
                <a:cs typeface="Arial" pitchFamily="34" charset="0"/>
              </a:rPr>
              <a:t>					</a:t>
            </a:r>
            <a:r>
              <a:rPr sz="2200">
                <a:latin typeface="Arial" pitchFamily="34" charset="0"/>
                <a:cs typeface="Arial" pitchFamily="34" charset="0"/>
              </a:rPr>
              <a:t>	          		</a:t>
            </a:r>
            <a:r>
              <a:rPr lang="en-IN" sz="2200" dirty="0">
                <a:latin typeface="Arial" pitchFamily="34" charset="0"/>
                <a:cs typeface="Arial" pitchFamily="34" charset="0"/>
              </a:rPr>
              <a:t>&amp; Space</a:t>
            </a:r>
            <a:endParaRPr sz="2200">
              <a:solidFill>
                <a:srgbClr val="1E00AA"/>
              </a:solidFill>
              <a:latin typeface="Arial" pitchFamily="34" charset="0"/>
              <a:cs typeface="Arial" pitchFamily="34" charset="0"/>
            </a:endParaRPr>
          </a:p>
          <a:p>
            <a:pPr>
              <a:buFont typeface="Symbol" pitchFamily="18" charset="2"/>
              <a:buNone/>
              <a:defRPr/>
            </a:pPr>
            <a:endParaRPr sz="2200">
              <a:latin typeface="Arial" pitchFamily="34" charset="0"/>
              <a:cs typeface="Arial" pitchFamily="34" charset="0"/>
            </a:endParaRPr>
          </a:p>
        </p:txBody>
      </p:sp>
      <p:cxnSp>
        <p:nvCxnSpPr>
          <p:cNvPr id="5" name="Straight Arrow Connector 4">
            <a:extLst>
              <a:ext uri="{FF2B5EF4-FFF2-40B4-BE49-F238E27FC236}">
                <a16:creationId xmlns:a16="http://schemas.microsoft.com/office/drawing/2014/main" xmlns="" id="{ED78C315-F201-460E-82AA-FC56F5800F48}"/>
              </a:ext>
            </a:extLst>
          </p:cNvPr>
          <p:cNvCxnSpPr/>
          <p:nvPr/>
        </p:nvCxnSpPr>
        <p:spPr>
          <a:xfrm rot="10800000" flipV="1">
            <a:off x="1071538" y="1142984"/>
            <a:ext cx="2643206" cy="42862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xmlns="" id="{7EAD39CB-9D5A-4779-A92A-E6BD35A7C426}"/>
              </a:ext>
            </a:extLst>
          </p:cNvPr>
          <p:cNvCxnSpPr/>
          <p:nvPr/>
        </p:nvCxnSpPr>
        <p:spPr>
          <a:xfrm>
            <a:off x="4286248" y="1071546"/>
            <a:ext cx="1200152" cy="528654"/>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xmlns="" id="{A23B0BD8-0470-444B-A102-085A74A45EF2}"/>
              </a:ext>
            </a:extLst>
          </p:cNvPr>
          <p:cNvCxnSpPr/>
          <p:nvPr/>
        </p:nvCxnSpPr>
        <p:spPr>
          <a:xfrm>
            <a:off x="1285852" y="2714620"/>
            <a:ext cx="1714512" cy="42862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xmlns="" id="{C3FACFAD-DF61-4F4C-BBF7-4F2C7CC6D406}"/>
              </a:ext>
            </a:extLst>
          </p:cNvPr>
          <p:cNvCxnSpPr/>
          <p:nvPr/>
        </p:nvCxnSpPr>
        <p:spPr>
          <a:xfrm rot="10800000" flipV="1">
            <a:off x="762000" y="2743200"/>
            <a:ext cx="457200" cy="3810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224" name="Rectangle 8"/>
          <p:cNvSpPr>
            <a:spLocks noChangeArrowheads="1"/>
          </p:cNvSpPr>
          <p:nvPr/>
        </p:nvSpPr>
        <p:spPr bwMode="auto">
          <a:xfrm>
            <a:off x="4876800" y="754047"/>
            <a:ext cx="4800600" cy="460375"/>
          </a:xfrm>
          <a:prstGeom prst="rect">
            <a:avLst/>
          </a:prstGeom>
          <a:noFill/>
          <a:ln w="9525">
            <a:noFill/>
            <a:miter lim="800000"/>
            <a:headEnd/>
            <a:tailEnd/>
          </a:ln>
        </p:spPr>
        <p:txBody>
          <a:bodyPr>
            <a:spAutoFit/>
          </a:bodyPr>
          <a:lstStyle/>
          <a:p>
            <a:pPr algn="ctr" eaLnBrk="1" hangingPunct="1"/>
            <a:r>
              <a:rPr lang="en-US" altLang="en-US" sz="2400" dirty="0">
                <a:solidFill>
                  <a:srgbClr val="FF0000"/>
                </a:solidFill>
                <a:latin typeface="Kruti Dev 010" pitchFamily="2" charset="0"/>
                <a:ea typeface="Batang" pitchFamily="18" charset="-127"/>
                <a:cs typeface="KrutiDev040BoldItalic"/>
              </a:rPr>
              <a:t>¾ </a:t>
            </a:r>
            <a:r>
              <a:rPr lang="en-US" altLang="en-US" dirty="0">
                <a:solidFill>
                  <a:srgbClr val="FF0000"/>
                </a:solidFill>
                <a:ea typeface="Batang" pitchFamily="18" charset="-127"/>
                <a:cs typeface="Times New Roman" pitchFamily="18" charset="0"/>
              </a:rPr>
              <a:t>Co-existence </a:t>
            </a:r>
            <a:r>
              <a:rPr lang="en-US" altLang="en-US" sz="2400" dirty="0">
                <a:solidFill>
                  <a:srgbClr val="FF0000"/>
                </a:solidFill>
                <a:latin typeface="Kruti Dev 010" pitchFamily="2" charset="0"/>
                <a:ea typeface="Batang" pitchFamily="18" charset="-127"/>
                <a:cs typeface="KrutiDev040BoldItalic"/>
              </a:rPr>
              <a:t> </a:t>
            </a:r>
            <a:endParaRPr lang="en-US" altLang="en-US" sz="2400" dirty="0">
              <a:solidFill>
                <a:srgbClr val="000000"/>
              </a:solidFill>
              <a:latin typeface="Times New Roman" pitchFamily="18" charset="0"/>
              <a:ea typeface="Batang" pitchFamily="18" charset="-127"/>
              <a:cs typeface="Times New Roman" pitchFamily="18" charset="0"/>
            </a:endParaRPr>
          </a:p>
        </p:txBody>
      </p:sp>
      <p:sp>
        <p:nvSpPr>
          <p:cNvPr id="11" name="Rectangle 10">
            <a:extLst>
              <a:ext uri="{FF2B5EF4-FFF2-40B4-BE49-F238E27FC236}">
                <a16:creationId xmlns:a16="http://schemas.microsoft.com/office/drawing/2014/main" xmlns="" id="{F6F94FBD-C56E-4469-923C-AA780ECAF6AF}"/>
              </a:ext>
            </a:extLst>
          </p:cNvPr>
          <p:cNvSpPr/>
          <p:nvPr/>
        </p:nvSpPr>
        <p:spPr>
          <a:xfrm>
            <a:off x="5638800" y="833422"/>
            <a:ext cx="3276600" cy="381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13"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Knowledge of Existence (CO4)</a:t>
            </a:r>
            <a:r>
              <a:rPr lang="en-US" sz="3200" b="1" dirty="0">
                <a:latin typeface="Arial" pitchFamily="34" charset="0"/>
                <a:cs typeface="Arial" pitchFamily="34" charset="0"/>
              </a:rPr>
              <a:t> </a:t>
            </a:r>
          </a:p>
        </p:txBody>
      </p:sp>
      <p:pic>
        <p:nvPicPr>
          <p:cNvPr id="14"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2" name="Date Placeholder 11"/>
          <p:cNvSpPr>
            <a:spLocks noGrp="1"/>
          </p:cNvSpPr>
          <p:nvPr>
            <p:ph type="dt" sz="half" idx="10"/>
          </p:nvPr>
        </p:nvSpPr>
        <p:spPr/>
        <p:txBody>
          <a:bodyPr/>
          <a:lstStyle/>
          <a:p>
            <a:fld id="{02CD88AD-0689-4DC7-8F77-98B04A48D877}" type="datetime1">
              <a:rPr lang="en-US" smtClean="0"/>
              <a:pPr/>
              <a:t>06/25/21</a:t>
            </a:fld>
            <a:endParaRPr lang="en-US"/>
          </a:p>
        </p:txBody>
      </p:sp>
      <p:sp>
        <p:nvSpPr>
          <p:cNvPr id="15" name="Slide Number Placeholder 14"/>
          <p:cNvSpPr>
            <a:spLocks noGrp="1"/>
          </p:cNvSpPr>
          <p:nvPr>
            <p:ph type="sldNum" sz="quarter" idx="12"/>
          </p:nvPr>
        </p:nvSpPr>
        <p:spPr/>
        <p:txBody>
          <a:bodyPr/>
          <a:lstStyle/>
          <a:p>
            <a:fld id="{B6F15528-21DE-4FAA-801E-634DDDAF4B2B}" type="slidenum">
              <a:rPr lang="en-US" smtClean="0"/>
              <a:pPr/>
              <a:t>12</a:t>
            </a:fld>
            <a:endParaRPr lang="en-US"/>
          </a:p>
        </p:txBody>
      </p:sp>
      <p:sp>
        <p:nvSpPr>
          <p:cNvPr id="16" name="Footer Placeholder 15"/>
          <p:cNvSpPr>
            <a:spLocks noGrp="1"/>
          </p:cNvSpPr>
          <p:nvPr>
            <p:ph type="ftr" sz="quarter" idx="11"/>
          </p:nvPr>
        </p:nvSpPr>
        <p:spPr>
          <a:xfrm>
            <a:off x="2428860" y="6356350"/>
            <a:ext cx="5572164" cy="365125"/>
          </a:xfrm>
        </p:spPr>
        <p:txBody>
          <a:bodyPr/>
          <a:lstStyle/>
          <a:p>
            <a:r>
              <a:rPr lang="fi-FI" smtClean="0"/>
              <a:t>SHYAM  LAL SHARMA             KOE069 UHV-2               Unit -4</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785794"/>
            <a:ext cx="9144000" cy="4883169"/>
          </a:xfrm>
        </p:spPr>
        <p:txBody>
          <a:bodyPr>
            <a:normAutofit fontScale="92500" lnSpcReduction="10000"/>
          </a:bodyPr>
          <a:lstStyle/>
          <a:p>
            <a:pPr>
              <a:buFont typeface="Symbol" pitchFamily="18" charset="2"/>
              <a:buNone/>
              <a:defRPr/>
            </a:pPr>
            <a:r>
              <a:rPr lang="en-IN" sz="2400" dirty="0">
                <a:latin typeface="Arial" pitchFamily="34" charset="0"/>
                <a:cs typeface="Arial" pitchFamily="34" charset="0"/>
              </a:rPr>
              <a:t>Time 		Bounded	Unbounded		</a:t>
            </a:r>
            <a:r>
              <a:rPr lang="en-IN" sz="2400" dirty="0" err="1">
                <a:latin typeface="Arial" pitchFamily="34" charset="0"/>
                <a:cs typeface="Arial" pitchFamily="34" charset="0"/>
              </a:rPr>
              <a:t>Unbounded</a:t>
            </a:r>
            <a:endParaRPr lang="en-IN" sz="2400" dirty="0">
              <a:latin typeface="Arial" pitchFamily="34" charset="0"/>
              <a:cs typeface="Arial" pitchFamily="34" charset="0"/>
            </a:endParaRPr>
          </a:p>
          <a:p>
            <a:pPr>
              <a:buFont typeface="Symbol" pitchFamily="18" charset="2"/>
              <a:buNone/>
              <a:defRPr/>
            </a:pPr>
            <a:r>
              <a:rPr lang="en-IN" sz="2400" dirty="0">
                <a:latin typeface="Arial" pitchFamily="34" charset="0"/>
                <a:cs typeface="Arial" pitchFamily="34" charset="0"/>
              </a:rPr>
              <a:t>Size / space	Limited		</a:t>
            </a:r>
            <a:r>
              <a:rPr lang="en-IN" sz="2400" dirty="0" err="1">
                <a:latin typeface="Arial" pitchFamily="34" charset="0"/>
                <a:cs typeface="Arial" pitchFamily="34" charset="0"/>
              </a:rPr>
              <a:t>Limited</a:t>
            </a:r>
            <a:r>
              <a:rPr lang="en-IN" sz="2400" dirty="0">
                <a:latin typeface="Arial" pitchFamily="34" charset="0"/>
                <a:cs typeface="Arial" pitchFamily="34" charset="0"/>
              </a:rPr>
              <a:t>			Unlimited</a:t>
            </a:r>
          </a:p>
          <a:p>
            <a:pPr>
              <a:buFont typeface="Symbol" pitchFamily="18" charset="2"/>
              <a:buNone/>
              <a:defRPr/>
            </a:pPr>
            <a:endParaRPr lang="en-IN" sz="2400" dirty="0">
              <a:latin typeface="Arial" pitchFamily="34" charset="0"/>
              <a:cs typeface="Arial" pitchFamily="34" charset="0"/>
            </a:endParaRPr>
          </a:p>
          <a:p>
            <a:pPr>
              <a:buFont typeface="Symbol" pitchFamily="18" charset="2"/>
              <a:buNone/>
              <a:defRPr/>
            </a:pPr>
            <a:r>
              <a:rPr lang="en-IN" sz="2400" dirty="0">
                <a:latin typeface="Arial" pitchFamily="34" charset="0"/>
                <a:cs typeface="Arial" pitchFamily="34" charset="0"/>
              </a:rPr>
              <a:t>			Material	Consciousness	Space</a:t>
            </a:r>
            <a:endParaRPr lang="en-IN" sz="2400" dirty="0">
              <a:solidFill>
                <a:srgbClr val="1E00AA"/>
              </a:solidFill>
              <a:latin typeface="Arial" pitchFamily="34" charset="0"/>
              <a:cs typeface="Arial" pitchFamily="34" charset="0"/>
            </a:endParaRPr>
          </a:p>
          <a:p>
            <a:pPr>
              <a:buFont typeface="Symbol" pitchFamily="18" charset="2"/>
              <a:buNone/>
              <a:defRPr/>
            </a:pPr>
            <a:r>
              <a:rPr lang="en-IN" sz="2400" dirty="0">
                <a:latin typeface="Arial" pitchFamily="34" charset="0"/>
                <a:cs typeface="Arial" pitchFamily="34" charset="0"/>
              </a:rPr>
              <a:t>			Temporary	Continuous		Ever</a:t>
            </a:r>
            <a:endParaRPr lang="en-IN" sz="2400" dirty="0">
              <a:solidFill>
                <a:srgbClr val="1E00AA"/>
              </a:solidFill>
              <a:latin typeface="Arial" pitchFamily="34" charset="0"/>
              <a:cs typeface="Arial" pitchFamily="34" charset="0"/>
            </a:endParaRPr>
          </a:p>
          <a:p>
            <a:pPr>
              <a:buFont typeface="Symbol" pitchFamily="18" charset="2"/>
              <a:buNone/>
              <a:defRPr/>
            </a:pPr>
            <a:r>
              <a:rPr lang="en-IN" sz="2400" dirty="0">
                <a:latin typeface="Arial" pitchFamily="34" charset="0"/>
                <a:cs typeface="Arial" pitchFamily="34" charset="0"/>
              </a:rPr>
              <a:t>			Activity		</a:t>
            </a:r>
            <a:r>
              <a:rPr lang="en-IN" sz="2400" dirty="0" err="1">
                <a:latin typeface="Arial" pitchFamily="34" charset="0"/>
                <a:cs typeface="Arial" pitchFamily="34" charset="0"/>
              </a:rPr>
              <a:t>Activity</a:t>
            </a:r>
            <a:r>
              <a:rPr lang="en-IN" sz="2400" dirty="0">
                <a:latin typeface="Arial" pitchFamily="34" charset="0"/>
                <a:cs typeface="Arial" pitchFamily="34" charset="0"/>
              </a:rPr>
              <a:t>			No Activity</a:t>
            </a:r>
          </a:p>
          <a:p>
            <a:pPr>
              <a:buFont typeface="Symbol" pitchFamily="18" charset="2"/>
              <a:buNone/>
              <a:defRPr/>
            </a:pPr>
            <a:r>
              <a:rPr lang="en-IN" sz="2400" dirty="0">
                <a:latin typeface="Arial" pitchFamily="34" charset="0"/>
                <a:cs typeface="Arial" pitchFamily="34" charset="0"/>
              </a:rPr>
              <a:t>			</a:t>
            </a:r>
          </a:p>
          <a:p>
            <a:pPr>
              <a:buFont typeface="Symbol" pitchFamily="18" charset="2"/>
              <a:buNone/>
              <a:defRPr/>
            </a:pPr>
            <a:r>
              <a:rPr lang="en-IN" sz="2400" dirty="0">
                <a:latin typeface="Arial" pitchFamily="34" charset="0"/>
                <a:cs typeface="Arial" pitchFamily="34" charset="0"/>
              </a:rPr>
              <a:t>			Body		Self (I)			Space</a:t>
            </a:r>
          </a:p>
          <a:p>
            <a:pPr>
              <a:buFont typeface="Symbol" pitchFamily="18" charset="2"/>
              <a:buNone/>
              <a:defRPr/>
            </a:pPr>
            <a:r>
              <a:rPr lang="en-IN" sz="2400" dirty="0">
                <a:latin typeface="Arial" pitchFamily="34" charset="0"/>
                <a:cs typeface="Arial" pitchFamily="34" charset="0"/>
              </a:rPr>
              <a:t>			Sensation</a:t>
            </a:r>
          </a:p>
          <a:p>
            <a:pPr>
              <a:buFont typeface="Symbol" pitchFamily="18" charset="2"/>
              <a:buNone/>
              <a:defRPr/>
            </a:pPr>
            <a:r>
              <a:rPr lang="en-IN" sz="2400" dirty="0">
                <a:latin typeface="Arial" pitchFamily="34" charset="0"/>
                <a:cs typeface="Arial" pitchFamily="34" charset="0"/>
              </a:rPr>
              <a:t>			Physical Facility</a:t>
            </a:r>
          </a:p>
          <a:p>
            <a:pPr>
              <a:buFont typeface="Symbol" pitchFamily="18" charset="2"/>
              <a:buNone/>
              <a:defRPr/>
            </a:pPr>
            <a:endParaRPr lang="en-IN" sz="2400" dirty="0">
              <a:latin typeface="Arial" pitchFamily="34" charset="0"/>
              <a:cs typeface="Arial" pitchFamily="34" charset="0"/>
            </a:endParaRPr>
          </a:p>
          <a:p>
            <a:pPr>
              <a:buFont typeface="Symbol" pitchFamily="18" charset="2"/>
              <a:buNone/>
              <a:defRPr/>
            </a:pPr>
            <a:r>
              <a:rPr lang="en-IN" sz="2400" dirty="0">
                <a:latin typeface="Arial" pitchFamily="34" charset="0"/>
                <a:cs typeface="Arial" pitchFamily="34" charset="0"/>
              </a:rPr>
              <a:t>			Impermanent	"Permanent"		Permanent</a:t>
            </a:r>
          </a:p>
          <a:p>
            <a:pPr>
              <a:buFont typeface="Symbol" pitchFamily="18" charset="2"/>
              <a:buNone/>
              <a:defRPr/>
            </a:pPr>
            <a:r>
              <a:rPr lang="en-IN" sz="2400" dirty="0">
                <a:latin typeface="Arial" pitchFamily="34" charset="0"/>
                <a:cs typeface="Arial" pitchFamily="34" charset="0"/>
              </a:rPr>
              <a:t>					in time			in time &amp; space</a:t>
            </a:r>
          </a:p>
        </p:txBody>
      </p:sp>
      <p:sp>
        <p:nvSpPr>
          <p:cNvPr id="4" name="Date Placeholder 3"/>
          <p:cNvSpPr>
            <a:spLocks noGrp="1"/>
          </p:cNvSpPr>
          <p:nvPr>
            <p:ph type="dt" sz="half" idx="10"/>
          </p:nvPr>
        </p:nvSpPr>
        <p:spPr/>
        <p:txBody>
          <a:bodyPr/>
          <a:lstStyle/>
          <a:p>
            <a:fld id="{304573E3-CF07-47BF-97DC-016FDABB4D04}"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Knowledge of Existence(CO4)</a:t>
            </a:r>
            <a:r>
              <a:rPr lang="en-US" sz="3200" b="1" dirty="0">
                <a:latin typeface="Arial" pitchFamily="34" charset="0"/>
                <a:cs typeface="Arial" pitchFamily="34" charset="0"/>
              </a:rPr>
              <a:t> </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85413"/>
            <a:ext cx="8915400" cy="5539187"/>
          </a:xfrm>
        </p:spPr>
        <p:txBody>
          <a:bodyPr>
            <a:normAutofit/>
          </a:bodyPr>
          <a:lstStyle/>
          <a:p>
            <a:pPr marL="457200" indent="-457200" algn="just">
              <a:buFont typeface="+mj-lt"/>
              <a:buAutoNum type="arabicPeriod"/>
            </a:pPr>
            <a:r>
              <a:rPr lang="en-US" sz="2200" dirty="0">
                <a:solidFill>
                  <a:srgbClr val="000000"/>
                </a:solidFill>
                <a:effectLst/>
                <a:ea typeface="Arial Unicode MS"/>
              </a:rPr>
              <a:t>____________ means physical facilities more than to satisfy my needs.</a:t>
            </a:r>
          </a:p>
          <a:p>
            <a:pPr marL="400050" lvl="1" indent="0" algn="just">
              <a:buNone/>
            </a:pPr>
            <a:r>
              <a:rPr lang="en-US" sz="2200" b="1" dirty="0">
                <a:effectLst/>
                <a:ea typeface="Arial Unicode MS"/>
              </a:rPr>
              <a:t>Answer: </a:t>
            </a:r>
            <a:r>
              <a:rPr lang="en-US" sz="2200" b="1" dirty="0">
                <a:solidFill>
                  <a:srgbClr val="000000"/>
                </a:solidFill>
                <a:ea typeface="Arial Unicode MS"/>
              </a:rPr>
              <a:t>prosperity</a:t>
            </a:r>
            <a:endParaRPr lang="en-US" sz="2200" dirty="0">
              <a:effectLst/>
              <a:ea typeface="Calibri" panose="020F0502020204030204" pitchFamily="34" charset="0"/>
            </a:endParaRPr>
          </a:p>
          <a:p>
            <a:pPr marL="457200" indent="-457200" algn="just">
              <a:buFont typeface="+mj-lt"/>
              <a:buAutoNum type="arabicPeriod"/>
            </a:pPr>
            <a:r>
              <a:rPr lang="en-US" sz="2200" dirty="0">
                <a:solidFill>
                  <a:srgbClr val="000000"/>
                </a:solidFill>
                <a:effectLst/>
                <a:ea typeface="Arial Unicode MS"/>
              </a:rPr>
              <a:t>Self and ______________ are different in nature, materiality, needs and activities.</a:t>
            </a:r>
          </a:p>
          <a:p>
            <a:pPr marL="400050" lvl="1" indent="0" algn="just">
              <a:buNone/>
            </a:pPr>
            <a:r>
              <a:rPr lang="en-US" sz="2200" b="1" dirty="0">
                <a:effectLst/>
                <a:ea typeface="Arial Unicode MS"/>
              </a:rPr>
              <a:t>Answer: </a:t>
            </a:r>
            <a:r>
              <a:rPr lang="en-US" sz="2200" b="1" dirty="0">
                <a:solidFill>
                  <a:srgbClr val="000000"/>
                </a:solidFill>
                <a:ea typeface="Helvetica Neue"/>
                <a:cs typeface="Helvetica Neue"/>
              </a:rPr>
              <a:t>body</a:t>
            </a:r>
            <a:endParaRPr lang="en-IN" sz="2200" b="1" dirty="0">
              <a:solidFill>
                <a:srgbClr val="000000"/>
              </a:solidFill>
              <a:effectLst/>
              <a:ea typeface="Helvetica Neue"/>
              <a:cs typeface="Helvetica Neue"/>
            </a:endParaRPr>
          </a:p>
          <a:p>
            <a:pPr marL="457200" indent="-457200" algn="just">
              <a:buFont typeface="+mj-lt"/>
              <a:buAutoNum type="arabicPeriod"/>
            </a:pPr>
            <a:r>
              <a:rPr lang="en-US" sz="2200" dirty="0">
                <a:effectLst/>
                <a:ea typeface="Arial Unicode MS"/>
              </a:rPr>
              <a:t>Any entity that has the activity of recognizing and fulfillment only can be called as _________.</a:t>
            </a:r>
          </a:p>
          <a:p>
            <a:pPr marL="400050" lvl="1" indent="0" algn="just">
              <a:buNone/>
            </a:pPr>
            <a:r>
              <a:rPr lang="en-US" sz="2200" b="1" dirty="0">
                <a:effectLst/>
                <a:ea typeface="Arial Unicode MS"/>
              </a:rPr>
              <a:t>Answer: </a:t>
            </a:r>
            <a:r>
              <a:rPr lang="en-IN" sz="2200" b="1" dirty="0">
                <a:effectLst/>
                <a:ea typeface="Arial Unicode MS"/>
              </a:rPr>
              <a:t>material entity</a:t>
            </a:r>
            <a:endParaRPr lang="en-IN" sz="2200" dirty="0">
              <a:effectLst/>
              <a:ea typeface="Calibri" panose="020F0502020204030204" pitchFamily="34" charset="0"/>
              <a:cs typeface="Times New Roman" panose="02020603050405020304" pitchFamily="18" charset="0"/>
            </a:endParaRPr>
          </a:p>
          <a:p>
            <a:pPr marL="457200" indent="-457200">
              <a:lnSpc>
                <a:spcPts val="1500"/>
              </a:lnSpc>
              <a:spcAft>
                <a:spcPts val="0"/>
              </a:spcAft>
              <a:buFont typeface="+mj-lt"/>
              <a:buAutoNum type="arabicPeriod"/>
            </a:pPr>
            <a:r>
              <a:rPr lang="en-IN" sz="2200" dirty="0">
                <a:solidFill>
                  <a:srgbClr val="000000"/>
                </a:solidFill>
                <a:effectLst/>
                <a:ea typeface="Times New Roman" panose="02020603050405020304" pitchFamily="18" charset="0"/>
              </a:rPr>
              <a:t>Based on the taste, the ______could be triggered.</a:t>
            </a:r>
            <a:endParaRPr lang="en-IN" sz="2200" dirty="0">
              <a:effectLst/>
              <a:ea typeface="Times New Roman" panose="02020603050405020304" pitchFamily="18" charset="0"/>
            </a:endParaRPr>
          </a:p>
          <a:p>
            <a:pPr marL="400050" lvl="1" indent="0">
              <a:buNone/>
            </a:pPr>
            <a:r>
              <a:rPr lang="en-US" sz="2200" b="1" dirty="0">
                <a:effectLst/>
                <a:ea typeface="Arial Unicode MS"/>
              </a:rPr>
              <a:t>Answer: thoughts</a:t>
            </a:r>
            <a:endParaRPr lang="en-IN" sz="2200" dirty="0">
              <a:effectLst/>
              <a:ea typeface="Calibri" panose="020F0502020204030204" pitchFamily="34" charset="0"/>
              <a:cs typeface="Times New Roman" panose="02020603050405020304" pitchFamily="18" charset="0"/>
            </a:endParaRPr>
          </a:p>
          <a:p>
            <a:pPr marL="457200" indent="-457200">
              <a:lnSpc>
                <a:spcPct val="107000"/>
              </a:lnSpc>
              <a:spcAft>
                <a:spcPts val="0"/>
              </a:spcAft>
              <a:buFont typeface="+mj-lt"/>
              <a:buAutoNum type="arabicPeriod"/>
            </a:pPr>
            <a:r>
              <a:rPr lang="en-US" sz="2200" dirty="0">
                <a:solidFill>
                  <a:srgbClr val="000000"/>
                </a:solidFill>
                <a:effectLst/>
                <a:ea typeface="Helvetica Neue"/>
                <a:cs typeface="Helvetica Neue"/>
              </a:rPr>
              <a:t>In I (self), recognizing and fulfillment depends on ____________.</a:t>
            </a:r>
          </a:p>
          <a:p>
            <a:pPr marL="400050" lvl="1" indent="0">
              <a:lnSpc>
                <a:spcPct val="107000"/>
              </a:lnSpc>
              <a:buNone/>
            </a:pPr>
            <a:r>
              <a:rPr lang="en-US" sz="2200" b="1" dirty="0">
                <a:effectLst/>
                <a:ea typeface="Arial Unicode MS"/>
              </a:rPr>
              <a:t>Answer: assuming</a:t>
            </a:r>
            <a:endParaRPr lang="en-IN" sz="2200" dirty="0">
              <a:solidFill>
                <a:srgbClr val="000000"/>
              </a:solidFill>
              <a:effectLst/>
              <a:ea typeface="Helvetica Neue"/>
              <a:cs typeface="Helvetica Neue"/>
            </a:endParaRPr>
          </a:p>
        </p:txBody>
      </p:sp>
      <p:sp>
        <p:nvSpPr>
          <p:cNvPr id="4" name="Date Placeholder 3"/>
          <p:cNvSpPr>
            <a:spLocks noGrp="1"/>
          </p:cNvSpPr>
          <p:nvPr>
            <p:ph type="dt" sz="half" idx="10"/>
          </p:nvPr>
        </p:nvSpPr>
        <p:spPr/>
        <p:txBody>
          <a:bodyPr/>
          <a:lstStyle/>
          <a:p>
            <a:fld id="{97817BF3-859B-4471-85A2-4BC4432A7CAB}" type="datetime1">
              <a:rPr lang="en-US" smtClean="0"/>
              <a:pPr/>
              <a:t>06/25/21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dirty="0"/>
              <a:t>Daily Quiz</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xmlns="" val="3777048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06" y="1117599"/>
            <a:ext cx="8929718" cy="3097219"/>
          </a:xfrm>
        </p:spPr>
        <p:txBody>
          <a:bodyPr>
            <a:noAutofit/>
          </a:bodyPr>
          <a:lstStyle/>
          <a:p>
            <a:pPr algn="just">
              <a:lnSpc>
                <a:spcPct val="150000"/>
              </a:lnSpc>
              <a:buFont typeface="Wingdings" pitchFamily="2" charset="2"/>
              <a:buChar char="§"/>
            </a:pPr>
            <a:r>
              <a:rPr lang="en-IN" sz="2200" dirty="0">
                <a:latin typeface="Arial" pitchFamily="34" charset="0"/>
                <a:cs typeface="Arial" pitchFamily="34" charset="0"/>
              </a:rPr>
              <a:t>Existence = Co- Existence =  Units submerged in Space.</a:t>
            </a:r>
          </a:p>
          <a:p>
            <a:pPr algn="just">
              <a:lnSpc>
                <a:spcPct val="150000"/>
              </a:lnSpc>
              <a:buFont typeface="Wingdings" pitchFamily="2" charset="2"/>
              <a:buChar char="§"/>
            </a:pPr>
            <a:r>
              <a:rPr lang="en-US" sz="2200" dirty="0">
                <a:latin typeface="Arial" pitchFamily="34" charset="0"/>
                <a:cs typeface="Arial" pitchFamily="34" charset="0"/>
              </a:rPr>
              <a:t>All units are </a:t>
            </a:r>
            <a:r>
              <a:rPr lang="en-IN" sz="2200" dirty="0">
                <a:latin typeface="Arial" pitchFamily="34" charset="0"/>
                <a:cs typeface="Arial" pitchFamily="34" charset="0"/>
              </a:rPr>
              <a:t>Energised in Space ,Self organised in Space&amp; Recognises it's relationship, </a:t>
            </a:r>
            <a:r>
              <a:rPr lang="en-IN" sz="2200" dirty="0" err="1">
                <a:latin typeface="Arial" pitchFamily="34" charset="0"/>
                <a:cs typeface="Arial" pitchFamily="34" charset="0"/>
              </a:rPr>
              <a:t>Fulfills</a:t>
            </a:r>
            <a:r>
              <a:rPr lang="en-IN" sz="2200" dirty="0">
                <a:latin typeface="Arial" pitchFamily="34" charset="0"/>
                <a:cs typeface="Arial" pitchFamily="34" charset="0"/>
              </a:rPr>
              <a:t> its relationship with every other Unit in Space.</a:t>
            </a:r>
          </a:p>
          <a:p>
            <a:pPr>
              <a:lnSpc>
                <a:spcPct val="150000"/>
              </a:lnSpc>
              <a:buFont typeface="Wingdings" pitchFamily="2" charset="2"/>
              <a:buChar char="§"/>
            </a:pPr>
            <a:r>
              <a:rPr lang="en-IN" sz="2200" dirty="0">
                <a:latin typeface="Arial" pitchFamily="34" charset="0"/>
                <a:cs typeface="Arial" pitchFamily="34" charset="0"/>
              </a:rPr>
              <a:t>Space is Ever Present ,Unlimited All Pervading &amp;No Activity.</a:t>
            </a:r>
          </a:p>
          <a:p>
            <a:pPr algn="just">
              <a:lnSpc>
                <a:spcPct val="150000"/>
              </a:lnSpc>
              <a:buFont typeface="Wingdings" pitchFamily="2" charset="2"/>
              <a:buChar char="§"/>
            </a:pPr>
            <a:endParaRPr lang="en-IN" sz="2200" dirty="0">
              <a:latin typeface="Arial" pitchFamily="34" charset="0"/>
              <a:cs typeface="Arial" pitchFamily="34" charset="0"/>
            </a:endParaRPr>
          </a:p>
          <a:p>
            <a:pPr algn="just">
              <a:lnSpc>
                <a:spcPct val="150000"/>
              </a:lnSpc>
              <a:buFont typeface="Wingdings" pitchFamily="2" charset="2"/>
              <a:buChar char="§"/>
            </a:pPr>
            <a:endParaRPr lang="en-US" altLang="en-US" sz="2200" dirty="0">
              <a:latin typeface="Arial" pitchFamily="34" charset="0"/>
              <a:cs typeface="Arial" pitchFamily="34" charset="0"/>
            </a:endParaRPr>
          </a:p>
          <a:p>
            <a:pPr algn="just">
              <a:lnSpc>
                <a:spcPct val="150000"/>
              </a:lnSpc>
              <a:spcAft>
                <a:spcPts val="1200"/>
              </a:spcAft>
              <a:buFont typeface="Wingdings" pitchFamily="2" charset="2"/>
              <a:buChar char="§"/>
              <a:defRPr/>
            </a:pPr>
            <a:endParaRPr lang="en-IN" altLang="en-US" sz="2200" dirty="0">
              <a:latin typeface="Arial" pitchFamily="34" charset="0"/>
              <a:cs typeface="Arial" pitchFamily="34" charset="0"/>
            </a:endParaRPr>
          </a:p>
          <a:p>
            <a:pPr algn="just">
              <a:lnSpc>
                <a:spcPct val="150000"/>
              </a:lnSpc>
              <a:spcAft>
                <a:spcPts val="1200"/>
              </a:spcAft>
              <a:buFont typeface="Wingdings" pitchFamily="2" charset="2"/>
              <a:buChar char="§"/>
              <a:defRPr/>
            </a:pPr>
            <a:endParaRPr lang="en-IN" altLang="en-US" sz="2200" dirty="0">
              <a:latin typeface="Arial" pitchFamily="34" charset="0"/>
              <a:cs typeface="Arial" pitchFamily="34" charset="0"/>
            </a:endParaRPr>
          </a:p>
          <a:p>
            <a:pPr algn="just">
              <a:lnSpc>
                <a:spcPct val="150000"/>
              </a:lnSpc>
              <a:spcAft>
                <a:spcPts val="1200"/>
              </a:spcAft>
              <a:buFont typeface="Wingdings" pitchFamily="2" charset="2"/>
              <a:buChar char="§"/>
              <a:defRPr/>
            </a:pPr>
            <a:endParaRPr lang="en-IN" sz="2200" dirty="0">
              <a:latin typeface="Arial" pitchFamily="34" charset="0"/>
              <a:cs typeface="Arial" pitchFamily="34" charset="0"/>
            </a:endParaRPr>
          </a:p>
          <a:p>
            <a:pPr algn="just">
              <a:lnSpc>
                <a:spcPct val="150000"/>
              </a:lnSpc>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0C404F4A-2FC6-45CC-BF5A-2DF12D79DAEC}"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1</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B2F6B5-4DA3-4737-A347-D52FE6DE10D6}"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defRPr/>
            </a:pPr>
            <a:r>
              <a:rPr lang="en-IN" sz="3200" dirty="0">
                <a:latin typeface="+mn-lt"/>
              </a:rPr>
              <a:t>Prerequisite</a:t>
            </a:r>
            <a:r>
              <a:rPr lang="en-IN" altLang="en-US" sz="3200" dirty="0">
                <a:latin typeface="Arial" pitchFamily="34" charset="0"/>
                <a:cs typeface="Arial" pitchFamily="34" charset="0"/>
              </a:rPr>
              <a:t> to Topic 2</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0" name="Table 9">
            <a:extLst>
              <a:ext uri="{FF2B5EF4-FFF2-40B4-BE49-F238E27FC236}">
                <a16:creationId xmlns:a16="http://schemas.microsoft.com/office/drawing/2014/main" xmlns="" id="{DA7F022B-10DB-4D51-86A3-111804530B47}"/>
              </a:ext>
            </a:extLst>
          </p:cNvPr>
          <p:cNvGraphicFramePr>
            <a:graphicFrameLocks noGrp="1"/>
          </p:cNvGraphicFramePr>
          <p:nvPr>
            <p:extLst>
              <p:ext uri="{D42A27DB-BD31-4B8C-83A1-F6EECF244321}">
                <p14:modId xmlns:p14="http://schemas.microsoft.com/office/powerpoint/2010/main" xmlns="" val="3602070706"/>
              </p:ext>
            </p:extLst>
          </p:nvPr>
        </p:nvGraphicFramePr>
        <p:xfrm>
          <a:off x="357159" y="1052736"/>
          <a:ext cx="8429682" cy="2225040"/>
        </p:xfrm>
        <a:graphic>
          <a:graphicData uri="http://schemas.openxmlformats.org/drawingml/2006/table">
            <a:tbl>
              <a:tblPr firstRow="1" bandRow="1">
                <a:tableStyleId>{5C22544A-7EE6-4342-B048-85BDC9FD1C3A}</a:tableStyleId>
              </a:tblPr>
              <a:tblGrid>
                <a:gridCol w="8429682">
                  <a:extLst>
                    <a:ext uri="{9D8B030D-6E8A-4147-A177-3AD203B41FA5}">
                      <a16:colId xmlns:a16="http://schemas.microsoft.com/office/drawing/2014/main" xmlns="" val="20000"/>
                    </a:ext>
                  </a:extLst>
                </a:gridCol>
              </a:tblGrid>
              <a:tr h="370840">
                <a:tc>
                  <a:txBody>
                    <a:bodyPr/>
                    <a:lstStyle/>
                    <a:p>
                      <a:pPr algn="ctr"/>
                      <a:r>
                        <a:rPr lang="en-US" sz="2400" dirty="0">
                          <a:latin typeface="Arial" pitchFamily="34" charset="0"/>
                          <a:cs typeface="Arial" pitchFamily="34" charset="0"/>
                        </a:rPr>
                        <a:t>Prerequisites</a:t>
                      </a:r>
                      <a:endParaRPr lang="en-IN" sz="24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just">
                        <a:buFont typeface="Wingdings" pitchFamily="2" charset="2"/>
                        <a:buChar char="§"/>
                      </a:pPr>
                      <a:r>
                        <a:rPr lang="en-US" sz="2200" dirty="0">
                          <a:latin typeface="Arial" pitchFamily="34" charset="0"/>
                          <a:cs typeface="Arial" pitchFamily="34" charset="0"/>
                        </a:rPr>
                        <a:t>Students should have to studied four orders of nature. </a:t>
                      </a:r>
                    </a:p>
                    <a:p>
                      <a:pPr algn="just">
                        <a:buFont typeface="Wingdings" pitchFamily="2" charset="2"/>
                        <a:buChar char="§"/>
                      </a:pPr>
                      <a:r>
                        <a:rPr lang="en-US" sz="2200" dirty="0">
                          <a:latin typeface="Arial" pitchFamily="34" charset="0"/>
                          <a:cs typeface="Arial" pitchFamily="34" charset="0"/>
                        </a:rPr>
                        <a:t>Students should have to realize existence is ever present </a:t>
                      </a:r>
                      <a:endParaRPr lang="en-IN" sz="2200" b="1" dirty="0">
                        <a:latin typeface="Arial" pitchFamily="34" charset="0"/>
                        <a:cs typeface="Arial" pitchFamily="34" charset="0"/>
                      </a:endParaRPr>
                    </a:p>
                    <a:p>
                      <a:pPr algn="just">
                        <a:buFont typeface="Wingdings" pitchFamily="2" charset="2"/>
                        <a:buChar char="§"/>
                      </a:pPr>
                      <a:r>
                        <a:rPr lang="en-US" sz="2200" dirty="0">
                          <a:latin typeface="Arial" pitchFamily="34" charset="0"/>
                          <a:cs typeface="Arial" pitchFamily="34" charset="0"/>
                        </a:rPr>
                        <a:t>Students should have to understand right understanding &amp;natural acceptance.</a:t>
                      </a:r>
                    </a:p>
                    <a:p>
                      <a:pPr algn="just">
                        <a:buFont typeface="Wingdings" pitchFamily="2" charset="2"/>
                        <a:buChar char="§"/>
                      </a:pPr>
                      <a:r>
                        <a:rPr lang="en-US" sz="2200" dirty="0">
                          <a:latin typeface="Arial" pitchFamily="34" charset="0"/>
                          <a:cs typeface="Arial" pitchFamily="34" charset="0"/>
                        </a:rPr>
                        <a:t>Students should have to follow self exploration and its process.</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2C1BD65-5591-46AE-BB01-606EAE53A55F}"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IN" altLang="en-US" sz="3200" dirty="0">
                <a:latin typeface="Arial" pitchFamily="34" charset="0"/>
                <a:cs typeface="Arial" pitchFamily="34" charset="0"/>
              </a:rPr>
              <a:t>Introduction to Topic 2</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1" name="Table 10"/>
          <p:cNvGraphicFramePr>
            <a:graphicFrameLocks noGrp="1"/>
          </p:cNvGraphicFramePr>
          <p:nvPr/>
        </p:nvGraphicFramePr>
        <p:xfrm>
          <a:off x="457200" y="1268760"/>
          <a:ext cx="8429682" cy="2529840"/>
        </p:xfrm>
        <a:graphic>
          <a:graphicData uri="http://schemas.openxmlformats.org/drawingml/2006/table">
            <a:tbl>
              <a:tblPr firstRow="1" bandRow="1">
                <a:tableStyleId>{5C22544A-7EE6-4342-B048-85BDC9FD1C3A}</a:tableStyleId>
              </a:tblPr>
              <a:tblGrid>
                <a:gridCol w="2214577">
                  <a:extLst>
                    <a:ext uri="{9D8B030D-6E8A-4147-A177-3AD203B41FA5}">
                      <a16:colId xmlns:a16="http://schemas.microsoft.com/office/drawing/2014/main" xmlns="" val="20000"/>
                    </a:ext>
                  </a:extLst>
                </a:gridCol>
                <a:gridCol w="3786214">
                  <a:extLst>
                    <a:ext uri="{9D8B030D-6E8A-4147-A177-3AD203B41FA5}">
                      <a16:colId xmlns:a16="http://schemas.microsoft.com/office/drawing/2014/main" xmlns="" val="20001"/>
                    </a:ext>
                  </a:extLst>
                </a:gridCol>
                <a:gridCol w="2428891">
                  <a:extLst>
                    <a:ext uri="{9D8B030D-6E8A-4147-A177-3AD203B41FA5}">
                      <a16:colId xmlns:a16="http://schemas.microsoft.com/office/drawing/2014/main" xmlns="" val="20002"/>
                    </a:ext>
                  </a:extLst>
                </a:gridCol>
              </a:tblGrid>
              <a:tr h="370840">
                <a:tc>
                  <a:txBody>
                    <a:bodyPr/>
                    <a:lstStyle/>
                    <a:p>
                      <a:r>
                        <a:rPr lang="en-US" sz="2200" dirty="0">
                          <a:latin typeface="Arial" pitchFamily="34" charset="0"/>
                          <a:cs typeface="Arial" pitchFamily="34" charset="0"/>
                        </a:rPr>
                        <a:t>Name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Objective</a:t>
                      </a:r>
                      <a:r>
                        <a:rPr lang="en-US" sz="2200" baseline="0" dirty="0">
                          <a:latin typeface="Arial" pitchFamily="34" charset="0"/>
                          <a:cs typeface="Arial" pitchFamily="34" charset="0"/>
                        </a:rPr>
                        <a:t>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Mapping </a:t>
                      </a:r>
                      <a:r>
                        <a:rPr lang="en-US" sz="2200" baseline="0" dirty="0">
                          <a:latin typeface="Arial" pitchFamily="34" charset="0"/>
                          <a:cs typeface="Arial" pitchFamily="34" charset="0"/>
                        </a:rPr>
                        <a:t> with CO</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l"/>
                      <a:r>
                        <a:rPr lang="en-US" altLang="en-US" sz="2200" b="0" dirty="0">
                          <a:latin typeface="Arial" pitchFamily="34" charset="0"/>
                          <a:cs typeface="Arial" pitchFamily="34" charset="0"/>
                        </a:rPr>
                        <a:t>Co-existence e</a:t>
                      </a:r>
                      <a:r>
                        <a:rPr lang="en-US" altLang="en-US" sz="2200" b="0" dirty="0">
                          <a:latin typeface="Arial" pitchFamily="34" charset="0"/>
                        </a:rPr>
                        <a:t>xpressing itself </a:t>
                      </a:r>
                      <a:br>
                        <a:rPr lang="en-US" altLang="en-US" sz="2200" b="0" dirty="0">
                          <a:latin typeface="Arial" pitchFamily="34" charset="0"/>
                        </a:rPr>
                      </a:br>
                      <a:r>
                        <a:rPr lang="en-US" altLang="en-US" sz="2200" b="0" dirty="0">
                          <a:latin typeface="Arial" pitchFamily="34" charset="0"/>
                        </a:rPr>
                        <a:t>in the form of Nature</a:t>
                      </a:r>
                      <a:endParaRPr lang="en-IN" sz="2200" dirty="0">
                        <a:latin typeface="Arial" pitchFamily="34" charset="0"/>
                        <a:cs typeface="Arial" pitchFamily="34" charset="0"/>
                      </a:endParaRPr>
                    </a:p>
                  </a:txBody>
                  <a:tcPr/>
                </a:tc>
                <a:tc>
                  <a:txBody>
                    <a:bodyPr/>
                    <a:lstStyle/>
                    <a:p>
                      <a:pPr algn="just"/>
                      <a:r>
                        <a:rPr lang="en-US" sz="2200" dirty="0">
                          <a:latin typeface="Arial" pitchFamily="34" charset="0"/>
                          <a:cs typeface="Arial" pitchFamily="34" charset="0"/>
                        </a:rPr>
                        <a:t>Students</a:t>
                      </a:r>
                      <a:r>
                        <a:rPr lang="en-US" sz="2200" baseline="0" dirty="0">
                          <a:latin typeface="Arial" pitchFamily="34" charset="0"/>
                          <a:cs typeface="Arial" pitchFamily="34" charset="0"/>
                        </a:rPr>
                        <a:t> will be able to live right understanding after understanding existence &amp; also understand units &amp; space. </a:t>
                      </a:r>
                      <a:endParaRPr lang="en-IN" sz="2200" dirty="0">
                        <a:latin typeface="Arial" pitchFamily="34" charset="0"/>
                        <a:cs typeface="Arial" pitchFamily="34" charset="0"/>
                      </a:endParaRPr>
                    </a:p>
                  </a:txBody>
                  <a:tcPr/>
                </a:tc>
                <a:tc>
                  <a:txBody>
                    <a:bodyPr/>
                    <a:lstStyle/>
                    <a:p>
                      <a:pPr algn="ctr"/>
                      <a:endParaRPr lang="en-US" sz="2200" dirty="0">
                        <a:latin typeface="Arial" pitchFamily="34" charset="0"/>
                        <a:cs typeface="Arial" pitchFamily="34" charset="0"/>
                      </a:endParaRPr>
                    </a:p>
                    <a:p>
                      <a:pPr algn="ctr"/>
                      <a:r>
                        <a:rPr lang="en-US" sz="2200" dirty="0">
                          <a:latin typeface="Arial" pitchFamily="34" charset="0"/>
                          <a:cs typeface="Arial" pitchFamily="34" charset="0"/>
                        </a:rPr>
                        <a:t>CO4</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1343735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54B3BF-3A05-44FD-8625-28079DB0DDC3}"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Title 1"/>
          <p:cNvSpPr txBox="1">
            <a:spLocks/>
          </p:cNvSpPr>
          <p:nvPr/>
        </p:nvSpPr>
        <p:spPr>
          <a:xfrm>
            <a:off x="1371600" y="0"/>
            <a:ext cx="7772400" cy="85723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Co-existence Expressing itself in the form of Nature (CO4)</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
        <p:nvSpPr>
          <p:cNvPr id="11" name="Rectangle 10"/>
          <p:cNvSpPr/>
          <p:nvPr/>
        </p:nvSpPr>
        <p:spPr>
          <a:xfrm>
            <a:off x="357158" y="1305342"/>
            <a:ext cx="8501122" cy="3477875"/>
          </a:xfrm>
          <a:prstGeom prst="rect">
            <a:avLst/>
          </a:prstGeom>
        </p:spPr>
        <p:txBody>
          <a:bodyPr wrap="square">
            <a:spAutoFit/>
          </a:bodyPr>
          <a:lstStyle/>
          <a:p>
            <a:pPr>
              <a:buFont typeface="Symbol" pitchFamily="18" charset="2"/>
              <a:buNone/>
            </a:pPr>
            <a:r>
              <a:rPr lang="en-IN" altLang="en-US" sz="2200" dirty="0">
                <a:latin typeface="Arial" pitchFamily="34" charset="0"/>
                <a:cs typeface="Arial" pitchFamily="34" charset="0"/>
              </a:rPr>
              <a:t>Existence 	= Co-existence	= Units submerged in space</a:t>
            </a:r>
          </a:p>
          <a:p>
            <a:pPr>
              <a:buFont typeface="Symbol" pitchFamily="18" charset="2"/>
              <a:buNone/>
            </a:pPr>
            <a:endParaRPr lang="en-IN" altLang="en-US" sz="2200" dirty="0">
              <a:latin typeface="Arial" pitchFamily="34" charset="0"/>
              <a:cs typeface="Arial" pitchFamily="34" charset="0"/>
            </a:endParaRPr>
          </a:p>
          <a:p>
            <a:pPr>
              <a:buFont typeface="Wingdings" pitchFamily="2" charset="2"/>
              <a:buChar char="§"/>
            </a:pPr>
            <a:r>
              <a:rPr lang="en-IN" altLang="en-US" sz="2200" dirty="0">
                <a:latin typeface="Arial" pitchFamily="34" charset="0"/>
                <a:cs typeface="Arial" pitchFamily="34" charset="0"/>
              </a:rPr>
              <a:t>Co-existence is </a:t>
            </a:r>
            <a:r>
              <a:rPr lang="en-IN" altLang="en-US" sz="2200" b="1" dirty="0">
                <a:latin typeface="Arial" pitchFamily="34" charset="0"/>
                <a:cs typeface="Arial" pitchFamily="34" charset="0"/>
              </a:rPr>
              <a:t>ever present</a:t>
            </a:r>
            <a:r>
              <a:rPr lang="en-IN" altLang="en-US" sz="2200" dirty="0">
                <a:latin typeface="Arial" pitchFamily="34" charset="0"/>
                <a:cs typeface="Arial" pitchFamily="34" charset="0"/>
              </a:rPr>
              <a:t> in all time, in all space 	</a:t>
            </a:r>
          </a:p>
          <a:p>
            <a:pPr>
              <a:buFont typeface="Wingdings" pitchFamily="2" charset="2"/>
              <a:buChar char="§"/>
            </a:pPr>
            <a:endParaRPr lang="en-IN" altLang="en-US" sz="2200" dirty="0">
              <a:latin typeface="Arial" pitchFamily="34" charset="0"/>
              <a:cs typeface="Arial" pitchFamily="34" charset="0"/>
            </a:endParaRPr>
          </a:p>
          <a:p>
            <a:pPr>
              <a:buFont typeface="Wingdings" pitchFamily="2" charset="2"/>
              <a:buChar char="§"/>
            </a:pPr>
            <a:r>
              <a:rPr lang="en-IN" altLang="en-US" sz="2200" dirty="0">
                <a:latin typeface="Arial" pitchFamily="34" charset="0"/>
                <a:cs typeface="Arial" pitchFamily="34" charset="0"/>
              </a:rPr>
              <a:t>Co-existence is</a:t>
            </a:r>
            <a:r>
              <a:rPr lang="en-IN" altLang="en-US" sz="2200" b="1" dirty="0">
                <a:latin typeface="Arial" pitchFamily="34" charset="0"/>
                <a:cs typeface="Arial" pitchFamily="34" charset="0"/>
              </a:rPr>
              <a:t> ever effective	</a:t>
            </a:r>
            <a:endParaRPr lang="en-IN" altLang="en-US" sz="2200" dirty="0">
              <a:latin typeface="Arial" pitchFamily="34" charset="0"/>
              <a:cs typeface="Arial" pitchFamily="34" charset="0"/>
            </a:endParaRPr>
          </a:p>
          <a:p>
            <a:pPr>
              <a:buFont typeface="Wingdings" pitchFamily="2" charset="2"/>
              <a:buChar char="§"/>
            </a:pPr>
            <a:endParaRPr lang="en-IN" altLang="en-US" sz="2200" dirty="0">
              <a:latin typeface="Arial" pitchFamily="34" charset="0"/>
              <a:cs typeface="Arial" pitchFamily="34" charset="0"/>
            </a:endParaRPr>
          </a:p>
          <a:p>
            <a:pPr>
              <a:buFont typeface="Wingdings" pitchFamily="2" charset="2"/>
              <a:buChar char="§"/>
            </a:pPr>
            <a:r>
              <a:rPr lang="en-IN" altLang="en-US" sz="2200" dirty="0">
                <a:latin typeface="Arial" pitchFamily="34" charset="0"/>
                <a:cs typeface="Arial" pitchFamily="34" charset="0"/>
              </a:rPr>
              <a:t>Co-existence is ever-present 		</a:t>
            </a:r>
            <a:endParaRPr lang="en-IN" altLang="en-US" sz="2200" dirty="0">
              <a:solidFill>
                <a:srgbClr val="0046AD"/>
              </a:solidFill>
              <a:latin typeface="Arial" pitchFamily="34" charset="0"/>
              <a:cs typeface="Arial" pitchFamily="34" charset="0"/>
            </a:endParaRPr>
          </a:p>
          <a:p>
            <a:pPr>
              <a:buFont typeface="Symbol" pitchFamily="18" charset="2"/>
              <a:buNone/>
            </a:pPr>
            <a:r>
              <a:rPr lang="en-IN" altLang="en-US" sz="2200" dirty="0">
                <a:latin typeface="Arial" pitchFamily="34" charset="0"/>
                <a:cs typeface="Arial" pitchFamily="34" charset="0"/>
              </a:rPr>
              <a:t>  	Every unit is 	energized, active	</a:t>
            </a:r>
            <a:endParaRPr lang="en-IN" altLang="en-US" sz="2200" dirty="0">
              <a:solidFill>
                <a:srgbClr val="0046AD"/>
              </a:solidFill>
              <a:latin typeface="Arial" pitchFamily="34" charset="0"/>
              <a:cs typeface="Arial" pitchFamily="34" charset="0"/>
            </a:endParaRPr>
          </a:p>
          <a:p>
            <a:pPr>
              <a:buFont typeface="Symbol" pitchFamily="18" charset="2"/>
              <a:buNone/>
            </a:pPr>
            <a:r>
              <a:rPr lang="en-IN" altLang="en-US" sz="2200" dirty="0">
                <a:latin typeface="Arial" pitchFamily="34" charset="0"/>
                <a:cs typeface="Arial" pitchFamily="34" charset="0"/>
              </a:rPr>
              <a:t>	"	"      "	self-organized	" recognizes its relationship 	with other units and </a:t>
            </a:r>
            <a:r>
              <a:rPr lang="en-IN" altLang="en-US" sz="2200" dirty="0" err="1">
                <a:latin typeface="Arial" pitchFamily="34" charset="0"/>
                <a:cs typeface="Arial" pitchFamily="34" charset="0"/>
              </a:rPr>
              <a:t>fulfills</a:t>
            </a:r>
            <a:r>
              <a:rPr lang="en-IN" altLang="en-US" sz="2200" dirty="0">
                <a:latin typeface="Arial" pitchFamily="34" charset="0"/>
                <a:cs typeface="Arial" pitchFamily="34" charset="0"/>
              </a:rPr>
              <a:t> it .		</a:t>
            </a:r>
            <a:endParaRPr lang="en-IN" altLang="en-US" sz="2200" dirty="0">
              <a:solidFill>
                <a:srgbClr val="0046AD"/>
              </a:solidFill>
              <a:latin typeface="Arial" pitchFamily="34" charset="0"/>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D49F157-A179-4386-88B0-CDDE92630F50}"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Title 1"/>
          <p:cNvSpPr txBox="1">
            <a:spLocks/>
          </p:cNvSpPr>
          <p:nvPr/>
        </p:nvSpPr>
        <p:spPr>
          <a:xfrm>
            <a:off x="1371600" y="0"/>
            <a:ext cx="7772400" cy="85723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Co-existence Expressing itself in the form of Nature (CO4)</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
        <p:nvSpPr>
          <p:cNvPr id="11" name="Rectangle 10"/>
          <p:cNvSpPr/>
          <p:nvPr/>
        </p:nvSpPr>
        <p:spPr>
          <a:xfrm>
            <a:off x="357158" y="1305342"/>
            <a:ext cx="8501122" cy="4662815"/>
          </a:xfrm>
          <a:prstGeom prst="rect">
            <a:avLst/>
          </a:prstGeom>
        </p:spPr>
        <p:txBody>
          <a:bodyPr wrap="square">
            <a:spAutoFit/>
          </a:bodyPr>
          <a:lstStyle/>
          <a:p>
            <a:pPr marL="457200" indent="-457200">
              <a:lnSpc>
                <a:spcPct val="150000"/>
              </a:lnSpc>
              <a:buFont typeface="Symbol" pitchFamily="18" charset="2"/>
              <a:buNone/>
              <a:defRPr/>
            </a:pPr>
            <a:r>
              <a:rPr lang="en-IN" sz="2200" dirty="0">
                <a:latin typeface="Arial" pitchFamily="34" charset="0"/>
                <a:cs typeface="Arial" pitchFamily="34" charset="0"/>
              </a:rPr>
              <a:t>This Co-existence is </a:t>
            </a:r>
            <a:r>
              <a:rPr lang="en-IN" sz="2200" b="1" dirty="0">
                <a:latin typeface="Arial" pitchFamily="34" charset="0"/>
                <a:cs typeface="Arial" pitchFamily="34" charset="0"/>
              </a:rPr>
              <a:t>ever expressing </a:t>
            </a:r>
            <a:r>
              <a:rPr lang="en-IN" sz="2200" dirty="0">
                <a:latin typeface="Arial" pitchFamily="34" charset="0"/>
                <a:cs typeface="Arial" pitchFamily="34" charset="0"/>
              </a:rPr>
              <a:t>In the form of 4 orders	</a:t>
            </a:r>
            <a:endParaRPr lang="en-IN" sz="2200" dirty="0">
              <a:solidFill>
                <a:srgbClr val="1E00AA"/>
              </a:solidFill>
              <a:latin typeface="Arial" pitchFamily="34" charset="0"/>
              <a:cs typeface="Arial" pitchFamily="34" charset="0"/>
            </a:endParaRPr>
          </a:p>
          <a:p>
            <a:pPr marL="457200" indent="-457200">
              <a:lnSpc>
                <a:spcPct val="150000"/>
              </a:lnSpc>
              <a:buFont typeface="Wingdings" pitchFamily="2" charset="2"/>
              <a:buChar char="§"/>
              <a:defRPr/>
            </a:pPr>
            <a:r>
              <a:rPr lang="en-IN" sz="2200" dirty="0">
                <a:latin typeface="Arial" pitchFamily="34" charset="0"/>
                <a:cs typeface="Arial" pitchFamily="34" charset="0"/>
              </a:rPr>
              <a:t>Physical Order, Bio Order, Animal Order and Human Order</a:t>
            </a:r>
          </a:p>
          <a:p>
            <a:pPr marL="457200" indent="-457200">
              <a:lnSpc>
                <a:spcPct val="150000"/>
              </a:lnSpc>
              <a:buFont typeface="Wingdings" pitchFamily="2" charset="2"/>
              <a:buChar char="§"/>
              <a:defRPr/>
            </a:pPr>
            <a:r>
              <a:rPr lang="en-IN" sz="2200" dirty="0">
                <a:latin typeface="Arial" pitchFamily="34" charset="0"/>
                <a:cs typeface="Arial" pitchFamily="34" charset="0"/>
              </a:rPr>
              <a:t>Physical Order-from atom to heavenly bodies</a:t>
            </a:r>
          </a:p>
          <a:p>
            <a:pPr marL="457200" indent="-457200">
              <a:lnSpc>
                <a:spcPct val="150000"/>
              </a:lnSpc>
              <a:buFont typeface="Wingdings" pitchFamily="2" charset="2"/>
              <a:buChar char="§"/>
              <a:defRPr/>
            </a:pPr>
            <a:r>
              <a:rPr lang="en-IN" sz="2200" dirty="0">
                <a:latin typeface="Arial" pitchFamily="34" charset="0"/>
                <a:cs typeface="Arial" pitchFamily="34" charset="0"/>
              </a:rPr>
              <a:t>Bio Order -from cells to human body</a:t>
            </a:r>
          </a:p>
          <a:p>
            <a:pPr>
              <a:lnSpc>
                <a:spcPct val="150000"/>
              </a:lnSpc>
              <a:buFont typeface="Wingdings" pitchFamily="2" charset="2"/>
              <a:buChar char="§"/>
              <a:defRPr/>
            </a:pPr>
            <a:r>
              <a:rPr lang="en-IN" sz="2200" dirty="0">
                <a:latin typeface="Arial" pitchFamily="34" charset="0"/>
                <a:cs typeface="Arial" pitchFamily="34" charset="0"/>
              </a:rPr>
              <a:t>     Animal Order-Self awakened to selecting/tasting</a:t>
            </a:r>
          </a:p>
          <a:p>
            <a:pPr>
              <a:lnSpc>
                <a:spcPct val="150000"/>
              </a:lnSpc>
              <a:buFont typeface="Wingdings" pitchFamily="2" charset="2"/>
              <a:buChar char="§"/>
              <a:defRPr/>
            </a:pPr>
            <a:r>
              <a:rPr lang="en-IN" sz="2200" dirty="0">
                <a:latin typeface="Arial" pitchFamily="34" charset="0"/>
                <a:cs typeface="Arial" pitchFamily="34" charset="0"/>
              </a:rPr>
              <a:t>     Human Order-Self awakened to selecting/tasting, Analysing,         </a:t>
            </a:r>
          </a:p>
          <a:p>
            <a:pPr>
              <a:lnSpc>
                <a:spcPct val="150000"/>
              </a:lnSpc>
              <a:buNone/>
              <a:defRPr/>
            </a:pPr>
            <a:r>
              <a:rPr lang="en-IN" sz="2200" dirty="0">
                <a:latin typeface="Arial" pitchFamily="34" charset="0"/>
                <a:cs typeface="Arial" pitchFamily="34" charset="0"/>
              </a:rPr>
              <a:t>       Imaging… need to know &amp; potential to know</a:t>
            </a:r>
          </a:p>
          <a:p>
            <a:pPr>
              <a:lnSpc>
                <a:spcPct val="150000"/>
              </a:lnSpc>
              <a:defRPr/>
            </a:pPr>
            <a:r>
              <a:rPr lang="en-IN" sz="2200" dirty="0">
                <a:latin typeface="Arial" pitchFamily="34" charset="0"/>
                <a:cs typeface="Arial" pitchFamily="34" charset="0"/>
              </a:rPr>
              <a:t>			</a:t>
            </a:r>
          </a:p>
          <a:p>
            <a:pPr>
              <a:lnSpc>
                <a:spcPct val="150000"/>
              </a:lnSpc>
              <a:buFont typeface="Symbol" pitchFamily="18" charset="2"/>
              <a:buNone/>
            </a:pPr>
            <a:r>
              <a:rPr lang="en-IN" altLang="en-US" sz="2200" dirty="0">
                <a:latin typeface="Arial" pitchFamily="34" charset="0"/>
                <a:cs typeface="Arial" pitchFamily="34" charset="0"/>
              </a:rPr>
              <a:t>	</a:t>
            </a:r>
            <a:endParaRPr lang="en-IN" altLang="en-US" sz="2200" dirty="0">
              <a:solidFill>
                <a:srgbClr val="0046AD"/>
              </a:solidFill>
              <a:latin typeface="Arial" pitchFamily="34" charset="0"/>
              <a:cs typeface="Arial"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2"/>
          <p:cNvGrpSpPr>
            <a:grpSpLocks noChangeAspect="1"/>
          </p:cNvGrpSpPr>
          <p:nvPr/>
        </p:nvGrpSpPr>
        <p:grpSpPr bwMode="auto">
          <a:xfrm>
            <a:off x="685800" y="785794"/>
            <a:ext cx="6994525" cy="5214974"/>
            <a:chOff x="540" y="1077"/>
            <a:chExt cx="11016" cy="11319"/>
          </a:xfrm>
        </p:grpSpPr>
        <p:sp>
          <p:nvSpPr>
            <p:cNvPr id="13334" name="AutoShape 194"/>
            <p:cNvSpPr>
              <a:spLocks noChangeAspect="1" noChangeArrowheads="1" noTextEdit="1"/>
            </p:cNvSpPr>
            <p:nvPr/>
          </p:nvSpPr>
          <p:spPr bwMode="auto">
            <a:xfrm>
              <a:off x="540" y="1077"/>
              <a:ext cx="11016" cy="11319"/>
            </a:xfrm>
            <a:prstGeom prst="rect">
              <a:avLst/>
            </a:prstGeom>
            <a:noFill/>
            <a:ln w="9525">
              <a:noFill/>
              <a:miter lim="800000"/>
              <a:headEnd/>
              <a:tailEnd/>
            </a:ln>
          </p:spPr>
          <p:txBody>
            <a:bodyPr/>
            <a:lstStyle/>
            <a:p>
              <a:endParaRPr lang="en-IN"/>
            </a:p>
          </p:txBody>
        </p:sp>
        <p:sp>
          <p:nvSpPr>
            <p:cNvPr id="13335" name="Text Box 193"/>
            <p:cNvSpPr txBox="1">
              <a:spLocks noChangeArrowheads="1"/>
            </p:cNvSpPr>
            <p:nvPr/>
          </p:nvSpPr>
          <p:spPr bwMode="auto">
            <a:xfrm>
              <a:off x="8208" y="8985"/>
              <a:ext cx="2925" cy="697"/>
            </a:xfrm>
            <a:prstGeom prst="rect">
              <a:avLst/>
            </a:prstGeom>
            <a:noFill/>
            <a:ln w="9525">
              <a:noFill/>
              <a:miter lim="800000"/>
              <a:headEnd/>
              <a:tailEnd/>
            </a:ln>
          </p:spPr>
          <p:txBody>
            <a:bodyPr/>
            <a:lstStyle/>
            <a:p>
              <a:pPr algn="ctr"/>
              <a:r>
                <a:rPr lang="en-US" altLang="en-US" sz="1200" b="1" dirty="0">
                  <a:solidFill>
                    <a:srgbClr val="000000"/>
                  </a:solidFill>
                  <a:ea typeface="Times New Roman" pitchFamily="18" charset="0"/>
                  <a:cs typeface="Arial" pitchFamily="34" charset="0"/>
                </a:rPr>
                <a:t>Activity Completeness</a:t>
              </a:r>
              <a:endParaRPr lang="en-US" altLang="en-US" sz="1400" dirty="0">
                <a:solidFill>
                  <a:srgbClr val="000000"/>
                </a:solidFill>
                <a:ea typeface="Times New Roman" pitchFamily="18" charset="0"/>
                <a:cs typeface="Arial" pitchFamily="34" charset="0"/>
              </a:endParaRPr>
            </a:p>
            <a:p>
              <a:pPr algn="ctr"/>
              <a:endParaRPr lang="en-US" altLang="en-US" dirty="0">
                <a:solidFill>
                  <a:srgbClr val="000000"/>
                </a:solidFill>
                <a:ea typeface="Times New Roman" pitchFamily="18" charset="0"/>
                <a:cs typeface="Arial" pitchFamily="34" charset="0"/>
              </a:endParaRPr>
            </a:p>
          </p:txBody>
        </p:sp>
        <p:sp>
          <p:nvSpPr>
            <p:cNvPr id="13336" name="Text Box 192"/>
            <p:cNvSpPr txBox="1">
              <a:spLocks noChangeArrowheads="1"/>
            </p:cNvSpPr>
            <p:nvPr/>
          </p:nvSpPr>
          <p:spPr bwMode="auto">
            <a:xfrm>
              <a:off x="8133" y="6822"/>
              <a:ext cx="540" cy="534"/>
            </a:xfrm>
            <a:prstGeom prst="rect">
              <a:avLst/>
            </a:prstGeom>
            <a:solidFill>
              <a:srgbClr val="FFFFFF"/>
            </a:solidFill>
            <a:ln w="9525">
              <a:solidFill>
                <a:srgbClr val="FFFFFF"/>
              </a:solidFill>
              <a:miter lim="800000"/>
              <a:headEnd/>
              <a:tailEnd/>
            </a:ln>
          </p:spPr>
          <p:txBody>
            <a:bodyPr/>
            <a:lstStyle/>
            <a:p>
              <a:r>
                <a:rPr lang="en-US" altLang="en-US" sz="2000">
                  <a:solidFill>
                    <a:srgbClr val="000000"/>
                  </a:solidFill>
                  <a:ea typeface="Times New Roman" pitchFamily="18" charset="0"/>
                  <a:cs typeface="Arial" pitchFamily="34" charset="0"/>
                </a:rPr>
                <a:t>+</a:t>
              </a:r>
              <a:endParaRPr lang="en-US" altLang="en-US">
                <a:solidFill>
                  <a:srgbClr val="000000"/>
                </a:solidFill>
                <a:ea typeface="Times New Roman" pitchFamily="18" charset="0"/>
                <a:cs typeface="Arial" pitchFamily="34" charset="0"/>
              </a:endParaRPr>
            </a:p>
          </p:txBody>
        </p:sp>
        <p:grpSp>
          <p:nvGrpSpPr>
            <p:cNvPr id="3" name="Group 186"/>
            <p:cNvGrpSpPr>
              <a:grpSpLocks/>
            </p:cNvGrpSpPr>
            <p:nvPr/>
          </p:nvGrpSpPr>
          <p:grpSpPr bwMode="auto">
            <a:xfrm>
              <a:off x="7686" y="2725"/>
              <a:ext cx="3600" cy="1980"/>
              <a:chOff x="7380" y="2697"/>
              <a:chExt cx="3600" cy="1980"/>
            </a:xfrm>
          </p:grpSpPr>
          <p:sp>
            <p:nvSpPr>
              <p:cNvPr id="13395" name="Text Box 191"/>
              <p:cNvSpPr txBox="1">
                <a:spLocks noChangeArrowheads="1"/>
              </p:cNvSpPr>
              <p:nvPr/>
            </p:nvSpPr>
            <p:spPr bwMode="auto">
              <a:xfrm>
                <a:off x="7380" y="2697"/>
                <a:ext cx="180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Unlimited</a:t>
                </a:r>
                <a:endParaRPr lang="en-US" altLang="en-US">
                  <a:solidFill>
                    <a:srgbClr val="000000"/>
                  </a:solidFill>
                  <a:ea typeface="Times New Roman" pitchFamily="18" charset="0"/>
                  <a:cs typeface="Arial" pitchFamily="34" charset="0"/>
                </a:endParaRPr>
              </a:p>
            </p:txBody>
          </p:sp>
          <p:sp>
            <p:nvSpPr>
              <p:cNvPr id="13396" name="Text Box 190"/>
              <p:cNvSpPr txBox="1">
                <a:spLocks noChangeArrowheads="1"/>
              </p:cNvSpPr>
              <p:nvPr/>
            </p:nvSpPr>
            <p:spPr bwMode="auto">
              <a:xfrm>
                <a:off x="7380" y="3415"/>
                <a:ext cx="3600" cy="54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Self-organization is available</a:t>
                </a:r>
                <a:endParaRPr lang="en-US" altLang="en-US">
                  <a:solidFill>
                    <a:srgbClr val="000000"/>
                  </a:solidFill>
                  <a:ea typeface="Times New Roman" pitchFamily="18" charset="0"/>
                  <a:cs typeface="Arial" pitchFamily="34" charset="0"/>
                </a:endParaRPr>
              </a:p>
            </p:txBody>
          </p:sp>
          <p:sp>
            <p:nvSpPr>
              <p:cNvPr id="13397" name="Text Box 189"/>
              <p:cNvSpPr txBox="1">
                <a:spLocks noChangeArrowheads="1"/>
              </p:cNvSpPr>
              <p:nvPr/>
            </p:nvSpPr>
            <p:spPr bwMode="auto">
              <a:xfrm>
                <a:off x="7380" y="3057"/>
                <a:ext cx="1800" cy="360"/>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No activity</a:t>
                </a:r>
                <a:endParaRPr lang="en-US" altLang="en-US">
                  <a:solidFill>
                    <a:srgbClr val="000000"/>
                  </a:solidFill>
                  <a:ea typeface="Times New Roman" pitchFamily="18" charset="0"/>
                  <a:cs typeface="Arial" pitchFamily="34" charset="0"/>
                </a:endParaRPr>
              </a:p>
            </p:txBody>
          </p:sp>
          <p:sp>
            <p:nvSpPr>
              <p:cNvPr id="13398" name="Text Box 188"/>
              <p:cNvSpPr txBox="1">
                <a:spLocks noChangeArrowheads="1"/>
              </p:cNvSpPr>
              <p:nvPr/>
            </p:nvSpPr>
            <p:spPr bwMode="auto">
              <a:xfrm>
                <a:off x="7380" y="3775"/>
                <a:ext cx="2700" cy="54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Energy in equilibrium</a:t>
                </a:r>
                <a:endParaRPr lang="en-US" altLang="en-US">
                  <a:solidFill>
                    <a:srgbClr val="000000"/>
                  </a:solidFill>
                  <a:ea typeface="Times New Roman" pitchFamily="18" charset="0"/>
                  <a:cs typeface="Arial" pitchFamily="34" charset="0"/>
                </a:endParaRPr>
              </a:p>
            </p:txBody>
          </p:sp>
          <p:sp>
            <p:nvSpPr>
              <p:cNvPr id="13399" name="Text Box 187"/>
              <p:cNvSpPr txBox="1">
                <a:spLocks noChangeArrowheads="1"/>
              </p:cNvSpPr>
              <p:nvPr/>
            </p:nvSpPr>
            <p:spPr bwMode="auto">
              <a:xfrm>
                <a:off x="7380" y="4136"/>
                <a:ext cx="1800" cy="541"/>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Transparent</a:t>
                </a:r>
                <a:endParaRPr lang="en-US" altLang="en-US">
                  <a:solidFill>
                    <a:srgbClr val="000000"/>
                  </a:solidFill>
                  <a:ea typeface="Times New Roman" pitchFamily="18" charset="0"/>
                  <a:cs typeface="Arial" pitchFamily="34" charset="0"/>
                </a:endParaRPr>
              </a:p>
            </p:txBody>
          </p:sp>
        </p:grpSp>
        <p:sp>
          <p:nvSpPr>
            <p:cNvPr id="13338" name="Rectangle 185"/>
            <p:cNvSpPr>
              <a:spLocks noChangeArrowheads="1"/>
            </p:cNvSpPr>
            <p:nvPr/>
          </p:nvSpPr>
          <p:spPr bwMode="auto">
            <a:xfrm>
              <a:off x="4614" y="6840"/>
              <a:ext cx="1800" cy="541"/>
            </a:xfrm>
            <a:prstGeom prst="rect">
              <a:avLst/>
            </a:prstGeom>
            <a:solidFill>
              <a:srgbClr val="002060"/>
            </a:solidFill>
            <a:ln w="9525">
              <a:noFill/>
              <a:miter lim="800000"/>
              <a:headEnd/>
              <a:tailEnd/>
            </a:ln>
          </p:spPr>
          <p:txBody>
            <a:bodyPr/>
            <a:lstStyle/>
            <a:p>
              <a:pPr algn="ctr"/>
              <a:r>
                <a:rPr lang="en-US" altLang="en-US" sz="1200" b="1">
                  <a:solidFill>
                    <a:srgbClr val="FFFFFF"/>
                  </a:solidFill>
                  <a:ea typeface="Times New Roman" pitchFamily="18" charset="0"/>
                  <a:cs typeface="Arial" pitchFamily="34" charset="0"/>
                </a:rPr>
                <a:t>Bio Order</a:t>
              </a:r>
              <a:endParaRPr lang="en-US" altLang="en-US">
                <a:solidFill>
                  <a:srgbClr val="FFFFFF"/>
                </a:solidFill>
                <a:ea typeface="Times New Roman" pitchFamily="18" charset="0"/>
                <a:cs typeface="Arial" pitchFamily="34" charset="0"/>
              </a:endParaRPr>
            </a:p>
          </p:txBody>
        </p:sp>
        <p:grpSp>
          <p:nvGrpSpPr>
            <p:cNvPr id="4" name="Group 182"/>
            <p:cNvGrpSpPr>
              <a:grpSpLocks/>
            </p:cNvGrpSpPr>
            <p:nvPr/>
          </p:nvGrpSpPr>
          <p:grpSpPr bwMode="auto">
            <a:xfrm>
              <a:off x="2340" y="5397"/>
              <a:ext cx="2880" cy="897"/>
              <a:chOff x="2520" y="5580"/>
              <a:chExt cx="2880" cy="897"/>
            </a:xfrm>
          </p:grpSpPr>
          <p:sp>
            <p:nvSpPr>
              <p:cNvPr id="13393" name="Text Box 184"/>
              <p:cNvSpPr txBox="1">
                <a:spLocks noChangeArrowheads="1"/>
              </p:cNvSpPr>
              <p:nvPr/>
            </p:nvSpPr>
            <p:spPr bwMode="auto">
              <a:xfrm>
                <a:off x="2520" y="5580"/>
                <a:ext cx="1800" cy="539"/>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Temporary</a:t>
                </a:r>
                <a:endParaRPr lang="en-US" altLang="en-US">
                  <a:solidFill>
                    <a:srgbClr val="000000"/>
                  </a:solidFill>
                  <a:ea typeface="Times New Roman" pitchFamily="18" charset="0"/>
                  <a:cs typeface="Arial" pitchFamily="34" charset="0"/>
                </a:endParaRPr>
              </a:p>
            </p:txBody>
          </p:sp>
          <p:sp>
            <p:nvSpPr>
              <p:cNvPr id="13394" name="Text Box 183"/>
              <p:cNvSpPr txBox="1">
                <a:spLocks noChangeArrowheads="1"/>
              </p:cNvSpPr>
              <p:nvPr/>
            </p:nvSpPr>
            <p:spPr bwMode="auto">
              <a:xfrm>
                <a:off x="2520" y="5937"/>
                <a:ext cx="2880" cy="540"/>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Recognising, Fulfilling</a:t>
                </a:r>
                <a:endParaRPr lang="en-US" altLang="en-US">
                  <a:solidFill>
                    <a:srgbClr val="000000"/>
                  </a:solidFill>
                  <a:ea typeface="Times New Roman" pitchFamily="18" charset="0"/>
                  <a:cs typeface="Arial" pitchFamily="34" charset="0"/>
                </a:endParaRPr>
              </a:p>
            </p:txBody>
          </p:sp>
        </p:grpSp>
        <p:grpSp>
          <p:nvGrpSpPr>
            <p:cNvPr id="5" name="Group 179"/>
            <p:cNvGrpSpPr>
              <a:grpSpLocks/>
            </p:cNvGrpSpPr>
            <p:nvPr/>
          </p:nvGrpSpPr>
          <p:grpSpPr bwMode="auto">
            <a:xfrm>
              <a:off x="7776" y="5397"/>
              <a:ext cx="3060" cy="1082"/>
              <a:chOff x="7380" y="5397"/>
              <a:chExt cx="3060" cy="1082"/>
            </a:xfrm>
          </p:grpSpPr>
          <p:sp>
            <p:nvSpPr>
              <p:cNvPr id="13391" name="Text Box 181"/>
              <p:cNvSpPr txBox="1">
                <a:spLocks noChangeArrowheads="1"/>
              </p:cNvSpPr>
              <p:nvPr/>
            </p:nvSpPr>
            <p:spPr bwMode="auto">
              <a:xfrm>
                <a:off x="7380" y="5397"/>
                <a:ext cx="1980" cy="539"/>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Continuous</a:t>
                </a:r>
                <a:endParaRPr lang="en-US" altLang="en-US">
                  <a:solidFill>
                    <a:srgbClr val="000000"/>
                  </a:solidFill>
                  <a:ea typeface="Times New Roman" pitchFamily="18" charset="0"/>
                  <a:cs typeface="Arial" pitchFamily="34" charset="0"/>
                </a:endParaRPr>
              </a:p>
            </p:txBody>
          </p:sp>
          <p:sp>
            <p:nvSpPr>
              <p:cNvPr id="13392" name="Text Box 180"/>
              <p:cNvSpPr txBox="1">
                <a:spLocks noChangeArrowheads="1"/>
              </p:cNvSpPr>
              <p:nvPr/>
            </p:nvSpPr>
            <p:spPr bwMode="auto">
              <a:xfrm>
                <a:off x="7380" y="5757"/>
                <a:ext cx="3060" cy="72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Knowing, Assuming, Recognising, Fulfilling</a:t>
                </a:r>
                <a:endParaRPr lang="en-US" altLang="en-US">
                  <a:solidFill>
                    <a:srgbClr val="000000"/>
                  </a:solidFill>
                  <a:ea typeface="Times New Roman" pitchFamily="18" charset="0"/>
                  <a:cs typeface="Arial" pitchFamily="34" charset="0"/>
                </a:endParaRPr>
              </a:p>
            </p:txBody>
          </p:sp>
        </p:grpSp>
        <p:sp>
          <p:nvSpPr>
            <p:cNvPr id="13341" name="Rectangle 178"/>
            <p:cNvSpPr>
              <a:spLocks noChangeArrowheads="1"/>
            </p:cNvSpPr>
            <p:nvPr/>
          </p:nvSpPr>
          <p:spPr bwMode="auto">
            <a:xfrm>
              <a:off x="5955" y="4857"/>
              <a:ext cx="4917" cy="543"/>
            </a:xfrm>
            <a:prstGeom prst="rect">
              <a:avLst/>
            </a:prstGeom>
            <a:solidFill>
              <a:srgbClr val="FFFFFF"/>
            </a:solidFill>
            <a:ln w="9525">
              <a:solidFill>
                <a:srgbClr val="000000"/>
              </a:solidFill>
              <a:miter lim="800000"/>
              <a:headEnd/>
              <a:tailEnd/>
            </a:ln>
          </p:spPr>
          <p:txBody>
            <a:bodyPr/>
            <a:lstStyle/>
            <a:p>
              <a:r>
                <a:rPr lang="en-US" altLang="en-US" sz="1200" b="1" dirty="0">
                  <a:solidFill>
                    <a:srgbClr val="000000"/>
                  </a:solidFill>
                  <a:ea typeface="Times New Roman" pitchFamily="18" charset="0"/>
                  <a:cs typeface="Arial" pitchFamily="34" charset="0"/>
                </a:rPr>
                <a:t>Consciousness	</a:t>
              </a:r>
              <a:endParaRPr lang="en-US" altLang="en-US" dirty="0">
                <a:solidFill>
                  <a:srgbClr val="000000"/>
                </a:solidFill>
                <a:ea typeface="Times New Roman" pitchFamily="18" charset="0"/>
                <a:cs typeface="Arial" pitchFamily="34" charset="0"/>
              </a:endParaRPr>
            </a:p>
          </p:txBody>
        </p:sp>
        <p:sp>
          <p:nvSpPr>
            <p:cNvPr id="13342" name="Line 177"/>
            <p:cNvSpPr>
              <a:spLocks noChangeShapeType="1"/>
            </p:cNvSpPr>
            <p:nvPr/>
          </p:nvSpPr>
          <p:spPr bwMode="auto">
            <a:xfrm>
              <a:off x="8583" y="4677"/>
              <a:ext cx="2" cy="179"/>
            </a:xfrm>
            <a:prstGeom prst="line">
              <a:avLst/>
            </a:prstGeom>
            <a:noFill/>
            <a:ln w="9525">
              <a:solidFill>
                <a:srgbClr val="000000"/>
              </a:solidFill>
              <a:round/>
              <a:headEnd/>
              <a:tailEnd type="triangle" w="med" len="med"/>
            </a:ln>
          </p:spPr>
          <p:txBody>
            <a:bodyPr/>
            <a:lstStyle/>
            <a:p>
              <a:endParaRPr lang="en-IN"/>
            </a:p>
          </p:txBody>
        </p:sp>
        <p:sp>
          <p:nvSpPr>
            <p:cNvPr id="13343" name="Line 176"/>
            <p:cNvSpPr>
              <a:spLocks noChangeShapeType="1"/>
            </p:cNvSpPr>
            <p:nvPr/>
          </p:nvSpPr>
          <p:spPr bwMode="auto">
            <a:xfrm>
              <a:off x="2340" y="4681"/>
              <a:ext cx="2" cy="179"/>
            </a:xfrm>
            <a:prstGeom prst="line">
              <a:avLst/>
            </a:prstGeom>
            <a:noFill/>
            <a:ln w="9525">
              <a:solidFill>
                <a:srgbClr val="000000"/>
              </a:solidFill>
              <a:round/>
              <a:headEnd/>
              <a:tailEnd type="triangle" w="med" len="med"/>
            </a:ln>
          </p:spPr>
          <p:txBody>
            <a:bodyPr/>
            <a:lstStyle/>
            <a:p>
              <a:endParaRPr lang="en-IN"/>
            </a:p>
          </p:txBody>
        </p:sp>
        <p:sp>
          <p:nvSpPr>
            <p:cNvPr id="13344" name="Line 175"/>
            <p:cNvSpPr>
              <a:spLocks noChangeShapeType="1"/>
            </p:cNvSpPr>
            <p:nvPr/>
          </p:nvSpPr>
          <p:spPr bwMode="auto">
            <a:xfrm>
              <a:off x="5523" y="6480"/>
              <a:ext cx="2" cy="360"/>
            </a:xfrm>
            <a:prstGeom prst="line">
              <a:avLst/>
            </a:prstGeom>
            <a:noFill/>
            <a:ln w="9525">
              <a:solidFill>
                <a:srgbClr val="000000"/>
              </a:solidFill>
              <a:round/>
              <a:headEnd/>
              <a:tailEnd type="triangle" w="med" len="med"/>
            </a:ln>
          </p:spPr>
          <p:txBody>
            <a:bodyPr/>
            <a:lstStyle/>
            <a:p>
              <a:endParaRPr lang="en-IN"/>
            </a:p>
          </p:txBody>
        </p:sp>
        <p:sp>
          <p:nvSpPr>
            <p:cNvPr id="13345" name="Line 174"/>
            <p:cNvSpPr>
              <a:spLocks noChangeShapeType="1"/>
            </p:cNvSpPr>
            <p:nvPr/>
          </p:nvSpPr>
          <p:spPr bwMode="auto">
            <a:xfrm>
              <a:off x="2740" y="10234"/>
              <a:ext cx="1" cy="205"/>
            </a:xfrm>
            <a:prstGeom prst="line">
              <a:avLst/>
            </a:prstGeom>
            <a:noFill/>
            <a:ln w="9525">
              <a:solidFill>
                <a:srgbClr val="000000"/>
              </a:solidFill>
              <a:round/>
              <a:headEnd/>
              <a:tailEnd type="triangle" w="med" len="med"/>
            </a:ln>
          </p:spPr>
          <p:txBody>
            <a:bodyPr/>
            <a:lstStyle/>
            <a:p>
              <a:endParaRPr lang="en-IN"/>
            </a:p>
          </p:txBody>
        </p:sp>
        <p:sp>
          <p:nvSpPr>
            <p:cNvPr id="13346" name="Rectangle 173"/>
            <p:cNvSpPr>
              <a:spLocks noChangeArrowheads="1"/>
            </p:cNvSpPr>
            <p:nvPr/>
          </p:nvSpPr>
          <p:spPr bwMode="auto">
            <a:xfrm>
              <a:off x="2340" y="2157"/>
              <a:ext cx="2340" cy="539"/>
            </a:xfrm>
            <a:prstGeom prst="rect">
              <a:avLst/>
            </a:prstGeom>
            <a:solidFill>
              <a:srgbClr val="FFFFFF"/>
            </a:solidFill>
            <a:ln w="9525">
              <a:solidFill>
                <a:srgbClr val="000000"/>
              </a:solidFill>
              <a:miter lim="800000"/>
              <a:headEnd/>
              <a:tailEnd/>
            </a:ln>
          </p:spPr>
          <p:txBody>
            <a:bodyPr/>
            <a:lstStyle/>
            <a:p>
              <a:pPr algn="ctr"/>
              <a:r>
                <a:rPr lang="en-US" altLang="en-US" sz="1400" b="1">
                  <a:solidFill>
                    <a:srgbClr val="000000"/>
                  </a:solidFill>
                  <a:ea typeface="Times New Roman" pitchFamily="18" charset="0"/>
                  <a:cs typeface="Arial" pitchFamily="34" charset="0"/>
                </a:rPr>
                <a:t>Units (Nature)</a:t>
              </a:r>
              <a:endParaRPr lang="en-US" altLang="en-US">
                <a:solidFill>
                  <a:srgbClr val="000000"/>
                </a:solidFill>
                <a:ea typeface="Times New Roman" pitchFamily="18" charset="0"/>
                <a:cs typeface="Arial" pitchFamily="34" charset="0"/>
              </a:endParaRPr>
            </a:p>
          </p:txBody>
        </p:sp>
        <p:sp>
          <p:nvSpPr>
            <p:cNvPr id="13347" name="Line 172"/>
            <p:cNvSpPr>
              <a:spLocks noChangeShapeType="1"/>
            </p:cNvSpPr>
            <p:nvPr/>
          </p:nvSpPr>
          <p:spPr bwMode="auto">
            <a:xfrm>
              <a:off x="3420" y="2697"/>
              <a:ext cx="2" cy="1984"/>
            </a:xfrm>
            <a:prstGeom prst="line">
              <a:avLst/>
            </a:prstGeom>
            <a:noFill/>
            <a:ln w="9525">
              <a:solidFill>
                <a:srgbClr val="000000"/>
              </a:solidFill>
              <a:round/>
              <a:headEnd/>
              <a:tailEnd type="triangle" w="med" len="med"/>
            </a:ln>
          </p:spPr>
          <p:txBody>
            <a:bodyPr/>
            <a:lstStyle/>
            <a:p>
              <a:endParaRPr lang="en-IN"/>
            </a:p>
          </p:txBody>
        </p:sp>
        <p:sp>
          <p:nvSpPr>
            <p:cNvPr id="13348" name="Line 171"/>
            <p:cNvSpPr>
              <a:spLocks noChangeShapeType="1"/>
            </p:cNvSpPr>
            <p:nvPr/>
          </p:nvSpPr>
          <p:spPr bwMode="auto">
            <a:xfrm>
              <a:off x="3400" y="1941"/>
              <a:ext cx="2" cy="216"/>
            </a:xfrm>
            <a:prstGeom prst="line">
              <a:avLst/>
            </a:prstGeom>
            <a:noFill/>
            <a:ln w="9525">
              <a:solidFill>
                <a:srgbClr val="000000"/>
              </a:solidFill>
              <a:round/>
              <a:headEnd/>
              <a:tailEnd type="triangle" w="med" len="med"/>
            </a:ln>
          </p:spPr>
          <p:txBody>
            <a:bodyPr/>
            <a:lstStyle/>
            <a:p>
              <a:endParaRPr lang="en-IN"/>
            </a:p>
          </p:txBody>
        </p:sp>
        <p:sp>
          <p:nvSpPr>
            <p:cNvPr id="13349" name="Rectangle 170"/>
            <p:cNvSpPr>
              <a:spLocks noChangeArrowheads="1"/>
            </p:cNvSpPr>
            <p:nvPr/>
          </p:nvSpPr>
          <p:spPr bwMode="auto">
            <a:xfrm>
              <a:off x="6513" y="2157"/>
              <a:ext cx="3393" cy="539"/>
            </a:xfrm>
            <a:prstGeom prst="rect">
              <a:avLst/>
            </a:prstGeom>
            <a:solidFill>
              <a:srgbClr val="FFFFFF"/>
            </a:solidFill>
            <a:ln w="9525">
              <a:solidFill>
                <a:srgbClr val="000000"/>
              </a:solidFill>
              <a:miter lim="800000"/>
              <a:headEnd/>
              <a:tailEnd/>
            </a:ln>
          </p:spPr>
          <p:txBody>
            <a:bodyPr/>
            <a:lstStyle/>
            <a:p>
              <a:pPr algn="ctr"/>
              <a:r>
                <a:rPr lang="en-US" altLang="en-US" sz="1400" b="1">
                  <a:solidFill>
                    <a:srgbClr val="000000"/>
                  </a:solidFill>
                  <a:ea typeface="Times New Roman" pitchFamily="18" charset="0"/>
                  <a:cs typeface="Arial" pitchFamily="34" charset="0"/>
                </a:rPr>
                <a:t>Space (All-pervading)</a:t>
              </a:r>
              <a:endParaRPr lang="en-US" altLang="en-US">
                <a:solidFill>
                  <a:srgbClr val="000000"/>
                </a:solidFill>
                <a:ea typeface="Times New Roman" pitchFamily="18" charset="0"/>
                <a:cs typeface="Arial" pitchFamily="34" charset="0"/>
              </a:endParaRPr>
            </a:p>
          </p:txBody>
        </p:sp>
        <p:sp>
          <p:nvSpPr>
            <p:cNvPr id="13350" name="Rectangle 169"/>
            <p:cNvSpPr>
              <a:spLocks noChangeArrowheads="1"/>
            </p:cNvSpPr>
            <p:nvPr/>
          </p:nvSpPr>
          <p:spPr bwMode="auto">
            <a:xfrm>
              <a:off x="1080" y="4860"/>
              <a:ext cx="3780" cy="543"/>
            </a:xfrm>
            <a:prstGeom prst="rect">
              <a:avLst/>
            </a:prstGeom>
            <a:solidFill>
              <a:srgbClr val="FFFFFF"/>
            </a:solidFill>
            <a:ln w="9525">
              <a:solidFill>
                <a:srgbClr val="000000"/>
              </a:solidFill>
              <a:miter lim="800000"/>
              <a:headEnd/>
              <a:tailEnd/>
            </a:ln>
          </p:spPr>
          <p:txBody>
            <a:bodyPr/>
            <a:lstStyle/>
            <a:p>
              <a:r>
                <a:rPr lang="en-US" altLang="en-US" sz="1200" b="1" dirty="0">
                  <a:solidFill>
                    <a:srgbClr val="000000"/>
                  </a:solidFill>
                  <a:ea typeface="Times New Roman" pitchFamily="18" charset="0"/>
                  <a:cs typeface="Arial" pitchFamily="34" charset="0"/>
                </a:rPr>
                <a:t>Material	</a:t>
              </a:r>
              <a:endParaRPr lang="en-US" altLang="en-US" dirty="0">
                <a:solidFill>
                  <a:srgbClr val="000000"/>
                </a:solidFill>
                <a:ea typeface="Times New Roman" pitchFamily="18" charset="0"/>
                <a:cs typeface="Arial" pitchFamily="34" charset="0"/>
              </a:endParaRPr>
            </a:p>
          </p:txBody>
        </p:sp>
        <p:sp>
          <p:nvSpPr>
            <p:cNvPr id="13351" name="Line 168"/>
            <p:cNvSpPr>
              <a:spLocks noChangeShapeType="1"/>
            </p:cNvSpPr>
            <p:nvPr/>
          </p:nvSpPr>
          <p:spPr bwMode="auto">
            <a:xfrm>
              <a:off x="2340" y="5399"/>
              <a:ext cx="2" cy="1081"/>
            </a:xfrm>
            <a:prstGeom prst="line">
              <a:avLst/>
            </a:prstGeom>
            <a:noFill/>
            <a:ln w="9525">
              <a:solidFill>
                <a:srgbClr val="000000"/>
              </a:solidFill>
              <a:round/>
              <a:headEnd/>
              <a:tailEnd type="triangle" w="med" len="med"/>
            </a:ln>
          </p:spPr>
          <p:txBody>
            <a:bodyPr/>
            <a:lstStyle/>
            <a:p>
              <a:endParaRPr lang="en-IN"/>
            </a:p>
          </p:txBody>
        </p:sp>
        <p:sp>
          <p:nvSpPr>
            <p:cNvPr id="13352" name="Rectangle 167"/>
            <p:cNvSpPr>
              <a:spLocks noChangeArrowheads="1"/>
            </p:cNvSpPr>
            <p:nvPr/>
          </p:nvSpPr>
          <p:spPr bwMode="auto">
            <a:xfrm>
              <a:off x="966" y="6840"/>
              <a:ext cx="2020" cy="541"/>
            </a:xfrm>
            <a:prstGeom prst="rect">
              <a:avLst/>
            </a:prstGeom>
            <a:solidFill>
              <a:srgbClr val="002060"/>
            </a:solidFill>
            <a:ln w="9525">
              <a:noFill/>
              <a:miter lim="800000"/>
              <a:headEnd/>
              <a:tailEnd/>
            </a:ln>
          </p:spPr>
          <p:txBody>
            <a:bodyPr/>
            <a:lstStyle/>
            <a:p>
              <a:pPr algn="ctr"/>
              <a:r>
                <a:rPr lang="en-US" altLang="en-US" sz="1200" b="1">
                  <a:solidFill>
                    <a:srgbClr val="FFFFFF"/>
                  </a:solidFill>
                  <a:ea typeface="Times New Roman" pitchFamily="18" charset="0"/>
                  <a:cs typeface="Arial" pitchFamily="34" charset="0"/>
                </a:rPr>
                <a:t>Physical Order</a:t>
              </a:r>
              <a:endParaRPr lang="en-US" altLang="en-US">
                <a:solidFill>
                  <a:srgbClr val="FFFFFF"/>
                </a:solidFill>
                <a:ea typeface="Times New Roman" pitchFamily="18" charset="0"/>
                <a:cs typeface="Arial" pitchFamily="34" charset="0"/>
              </a:endParaRPr>
            </a:p>
          </p:txBody>
        </p:sp>
        <p:sp>
          <p:nvSpPr>
            <p:cNvPr id="13353" name="Line 166"/>
            <p:cNvSpPr>
              <a:spLocks noChangeShapeType="1"/>
            </p:cNvSpPr>
            <p:nvPr/>
          </p:nvSpPr>
          <p:spPr bwMode="auto">
            <a:xfrm>
              <a:off x="1981" y="6482"/>
              <a:ext cx="3544" cy="1"/>
            </a:xfrm>
            <a:prstGeom prst="line">
              <a:avLst/>
            </a:prstGeom>
            <a:noFill/>
            <a:ln w="9525">
              <a:solidFill>
                <a:srgbClr val="000000"/>
              </a:solidFill>
              <a:round/>
              <a:headEnd/>
              <a:tailEnd/>
            </a:ln>
          </p:spPr>
          <p:txBody>
            <a:bodyPr/>
            <a:lstStyle/>
            <a:p>
              <a:endParaRPr lang="en-IN"/>
            </a:p>
          </p:txBody>
        </p:sp>
        <p:sp>
          <p:nvSpPr>
            <p:cNvPr id="13354" name="Line 165"/>
            <p:cNvSpPr>
              <a:spLocks noChangeShapeType="1"/>
            </p:cNvSpPr>
            <p:nvPr/>
          </p:nvSpPr>
          <p:spPr bwMode="auto">
            <a:xfrm>
              <a:off x="1980" y="6480"/>
              <a:ext cx="2" cy="360"/>
            </a:xfrm>
            <a:prstGeom prst="line">
              <a:avLst/>
            </a:prstGeom>
            <a:noFill/>
            <a:ln w="9525">
              <a:solidFill>
                <a:srgbClr val="000000"/>
              </a:solidFill>
              <a:round/>
              <a:headEnd/>
              <a:tailEnd type="triangle" w="med" len="med"/>
            </a:ln>
          </p:spPr>
          <p:txBody>
            <a:bodyPr/>
            <a:lstStyle/>
            <a:p>
              <a:endParaRPr lang="en-IN"/>
            </a:p>
          </p:txBody>
        </p:sp>
        <p:sp>
          <p:nvSpPr>
            <p:cNvPr id="13355" name="Line 164"/>
            <p:cNvSpPr>
              <a:spLocks noChangeShapeType="1"/>
            </p:cNvSpPr>
            <p:nvPr/>
          </p:nvSpPr>
          <p:spPr bwMode="auto">
            <a:xfrm>
              <a:off x="1980" y="7381"/>
              <a:ext cx="2" cy="359"/>
            </a:xfrm>
            <a:prstGeom prst="line">
              <a:avLst/>
            </a:prstGeom>
            <a:noFill/>
            <a:ln w="9525">
              <a:solidFill>
                <a:srgbClr val="000000"/>
              </a:solidFill>
              <a:round/>
              <a:headEnd/>
              <a:tailEnd type="triangle" w="med" len="med"/>
            </a:ln>
          </p:spPr>
          <p:txBody>
            <a:bodyPr/>
            <a:lstStyle/>
            <a:p>
              <a:endParaRPr lang="en-IN"/>
            </a:p>
          </p:txBody>
        </p:sp>
        <p:sp>
          <p:nvSpPr>
            <p:cNvPr id="13356" name="Rectangle 163"/>
            <p:cNvSpPr>
              <a:spLocks noChangeArrowheads="1"/>
            </p:cNvSpPr>
            <p:nvPr/>
          </p:nvSpPr>
          <p:spPr bwMode="auto">
            <a:xfrm>
              <a:off x="1239" y="8641"/>
              <a:ext cx="1440" cy="536"/>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Molecule</a:t>
              </a:r>
              <a:endParaRPr lang="en-US" altLang="en-US">
                <a:solidFill>
                  <a:srgbClr val="000000"/>
                </a:solidFill>
                <a:ea typeface="Times New Roman" pitchFamily="18" charset="0"/>
                <a:cs typeface="Arial" pitchFamily="34" charset="0"/>
              </a:endParaRPr>
            </a:p>
          </p:txBody>
        </p:sp>
        <p:sp>
          <p:nvSpPr>
            <p:cNvPr id="13357" name="Rectangle 162"/>
            <p:cNvSpPr>
              <a:spLocks noChangeArrowheads="1"/>
            </p:cNvSpPr>
            <p:nvPr/>
          </p:nvSpPr>
          <p:spPr bwMode="auto">
            <a:xfrm>
              <a:off x="1428" y="7740"/>
              <a:ext cx="1080" cy="543"/>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Atom</a:t>
              </a:r>
              <a:endParaRPr lang="en-US" altLang="en-US">
                <a:solidFill>
                  <a:srgbClr val="000000"/>
                </a:solidFill>
                <a:ea typeface="Times New Roman" pitchFamily="18" charset="0"/>
                <a:cs typeface="Arial" pitchFamily="34" charset="0"/>
              </a:endParaRPr>
            </a:p>
          </p:txBody>
        </p:sp>
        <p:sp>
          <p:nvSpPr>
            <p:cNvPr id="13358" name="Line 161"/>
            <p:cNvSpPr>
              <a:spLocks noChangeShapeType="1"/>
            </p:cNvSpPr>
            <p:nvPr/>
          </p:nvSpPr>
          <p:spPr bwMode="auto">
            <a:xfrm>
              <a:off x="1979" y="8281"/>
              <a:ext cx="1" cy="360"/>
            </a:xfrm>
            <a:prstGeom prst="line">
              <a:avLst/>
            </a:prstGeom>
            <a:noFill/>
            <a:ln w="9525">
              <a:solidFill>
                <a:srgbClr val="000000"/>
              </a:solidFill>
              <a:round/>
              <a:headEnd/>
              <a:tailEnd type="triangle" w="med" len="med"/>
            </a:ln>
          </p:spPr>
          <p:txBody>
            <a:bodyPr/>
            <a:lstStyle/>
            <a:p>
              <a:endParaRPr lang="en-IN"/>
            </a:p>
          </p:txBody>
        </p:sp>
        <p:sp>
          <p:nvSpPr>
            <p:cNvPr id="13359" name="Rectangle 160"/>
            <p:cNvSpPr>
              <a:spLocks noChangeArrowheads="1"/>
            </p:cNvSpPr>
            <p:nvPr/>
          </p:nvSpPr>
          <p:spPr bwMode="auto">
            <a:xfrm>
              <a:off x="630" y="9537"/>
              <a:ext cx="270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Molecular Structure</a:t>
              </a:r>
              <a:endParaRPr lang="en-US" altLang="en-US">
                <a:solidFill>
                  <a:srgbClr val="000000"/>
                </a:solidFill>
                <a:ea typeface="Times New Roman" pitchFamily="18" charset="0"/>
                <a:cs typeface="Arial" pitchFamily="34" charset="0"/>
              </a:endParaRPr>
            </a:p>
          </p:txBody>
        </p:sp>
        <p:sp>
          <p:nvSpPr>
            <p:cNvPr id="13360" name="Rectangle 159"/>
            <p:cNvSpPr>
              <a:spLocks noChangeArrowheads="1"/>
            </p:cNvSpPr>
            <p:nvPr/>
          </p:nvSpPr>
          <p:spPr bwMode="auto">
            <a:xfrm>
              <a:off x="651" y="10440"/>
              <a:ext cx="108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Lump</a:t>
              </a:r>
              <a:endParaRPr lang="en-US" altLang="en-US">
                <a:solidFill>
                  <a:srgbClr val="000000"/>
                </a:solidFill>
                <a:ea typeface="Times New Roman" pitchFamily="18" charset="0"/>
                <a:cs typeface="Arial" pitchFamily="34" charset="0"/>
              </a:endParaRPr>
            </a:p>
          </p:txBody>
        </p:sp>
        <p:sp>
          <p:nvSpPr>
            <p:cNvPr id="13361" name="Rectangle 158"/>
            <p:cNvSpPr>
              <a:spLocks noChangeArrowheads="1"/>
            </p:cNvSpPr>
            <p:nvPr/>
          </p:nvSpPr>
          <p:spPr bwMode="auto">
            <a:xfrm>
              <a:off x="2163" y="10440"/>
              <a:ext cx="1152"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Fluid</a:t>
              </a:r>
              <a:endParaRPr lang="en-US" altLang="en-US">
                <a:solidFill>
                  <a:srgbClr val="000000"/>
                </a:solidFill>
                <a:ea typeface="Times New Roman" pitchFamily="18" charset="0"/>
                <a:cs typeface="Arial" pitchFamily="34" charset="0"/>
              </a:endParaRPr>
            </a:p>
          </p:txBody>
        </p:sp>
        <p:sp>
          <p:nvSpPr>
            <p:cNvPr id="13362" name="Line 157"/>
            <p:cNvSpPr>
              <a:spLocks noChangeShapeType="1"/>
            </p:cNvSpPr>
            <p:nvPr/>
          </p:nvSpPr>
          <p:spPr bwMode="auto">
            <a:xfrm>
              <a:off x="1980" y="9180"/>
              <a:ext cx="1" cy="360"/>
            </a:xfrm>
            <a:prstGeom prst="line">
              <a:avLst/>
            </a:prstGeom>
            <a:noFill/>
            <a:ln w="9525">
              <a:solidFill>
                <a:srgbClr val="000000"/>
              </a:solidFill>
              <a:round/>
              <a:headEnd/>
              <a:tailEnd type="triangle" w="med" len="med"/>
            </a:ln>
          </p:spPr>
          <p:txBody>
            <a:bodyPr/>
            <a:lstStyle/>
            <a:p>
              <a:endParaRPr lang="en-IN"/>
            </a:p>
          </p:txBody>
        </p:sp>
        <p:sp>
          <p:nvSpPr>
            <p:cNvPr id="13363" name="Line 156"/>
            <p:cNvSpPr>
              <a:spLocks noChangeShapeType="1"/>
            </p:cNvSpPr>
            <p:nvPr/>
          </p:nvSpPr>
          <p:spPr bwMode="auto">
            <a:xfrm>
              <a:off x="1962" y="10080"/>
              <a:ext cx="1" cy="181"/>
            </a:xfrm>
            <a:prstGeom prst="line">
              <a:avLst/>
            </a:prstGeom>
            <a:noFill/>
            <a:ln w="9525">
              <a:solidFill>
                <a:srgbClr val="000000"/>
              </a:solidFill>
              <a:round/>
              <a:headEnd/>
              <a:tailEnd/>
            </a:ln>
          </p:spPr>
          <p:txBody>
            <a:bodyPr/>
            <a:lstStyle/>
            <a:p>
              <a:endParaRPr lang="en-IN"/>
            </a:p>
          </p:txBody>
        </p:sp>
        <p:sp>
          <p:nvSpPr>
            <p:cNvPr id="13364" name="Line 155"/>
            <p:cNvSpPr>
              <a:spLocks noChangeShapeType="1"/>
            </p:cNvSpPr>
            <p:nvPr/>
          </p:nvSpPr>
          <p:spPr bwMode="auto">
            <a:xfrm>
              <a:off x="1189" y="10234"/>
              <a:ext cx="1" cy="206"/>
            </a:xfrm>
            <a:prstGeom prst="line">
              <a:avLst/>
            </a:prstGeom>
            <a:noFill/>
            <a:ln w="9525">
              <a:solidFill>
                <a:srgbClr val="000000"/>
              </a:solidFill>
              <a:round/>
              <a:headEnd/>
              <a:tailEnd type="triangle" w="med" len="med"/>
            </a:ln>
          </p:spPr>
          <p:txBody>
            <a:bodyPr/>
            <a:lstStyle/>
            <a:p>
              <a:endParaRPr lang="en-IN"/>
            </a:p>
          </p:txBody>
        </p:sp>
        <p:sp>
          <p:nvSpPr>
            <p:cNvPr id="13365" name="Line 154"/>
            <p:cNvSpPr>
              <a:spLocks noChangeShapeType="1"/>
            </p:cNvSpPr>
            <p:nvPr/>
          </p:nvSpPr>
          <p:spPr bwMode="auto">
            <a:xfrm>
              <a:off x="1189" y="10241"/>
              <a:ext cx="1551" cy="1"/>
            </a:xfrm>
            <a:prstGeom prst="line">
              <a:avLst/>
            </a:prstGeom>
            <a:noFill/>
            <a:ln w="9525">
              <a:solidFill>
                <a:srgbClr val="000000"/>
              </a:solidFill>
              <a:round/>
              <a:headEnd/>
              <a:tailEnd/>
            </a:ln>
          </p:spPr>
          <p:txBody>
            <a:bodyPr/>
            <a:lstStyle/>
            <a:p>
              <a:endParaRPr lang="en-IN"/>
            </a:p>
          </p:txBody>
        </p:sp>
        <p:sp>
          <p:nvSpPr>
            <p:cNvPr id="13366" name="Rectangle 153"/>
            <p:cNvSpPr>
              <a:spLocks noChangeArrowheads="1"/>
            </p:cNvSpPr>
            <p:nvPr/>
          </p:nvSpPr>
          <p:spPr bwMode="auto">
            <a:xfrm>
              <a:off x="4509" y="10440"/>
              <a:ext cx="198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Human Body</a:t>
              </a:r>
              <a:endParaRPr lang="en-US" altLang="en-US">
                <a:solidFill>
                  <a:srgbClr val="000000"/>
                </a:solidFill>
                <a:ea typeface="Times New Roman" pitchFamily="18" charset="0"/>
                <a:cs typeface="Arial" pitchFamily="34" charset="0"/>
              </a:endParaRPr>
            </a:p>
          </p:txBody>
        </p:sp>
        <p:sp>
          <p:nvSpPr>
            <p:cNvPr id="13367" name="Rectangle 152"/>
            <p:cNvSpPr>
              <a:spLocks noChangeArrowheads="1"/>
            </p:cNvSpPr>
            <p:nvPr/>
          </p:nvSpPr>
          <p:spPr bwMode="auto">
            <a:xfrm>
              <a:off x="4509" y="9521"/>
              <a:ext cx="1980" cy="542"/>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Animal Body</a:t>
              </a:r>
              <a:endParaRPr lang="en-US" altLang="en-US">
                <a:solidFill>
                  <a:srgbClr val="000000"/>
                </a:solidFill>
                <a:ea typeface="Times New Roman" pitchFamily="18" charset="0"/>
                <a:cs typeface="Arial" pitchFamily="34" charset="0"/>
              </a:endParaRPr>
            </a:p>
          </p:txBody>
        </p:sp>
        <p:sp>
          <p:nvSpPr>
            <p:cNvPr id="13368" name="Rectangle 151"/>
            <p:cNvSpPr>
              <a:spLocks noChangeArrowheads="1"/>
            </p:cNvSpPr>
            <p:nvPr/>
          </p:nvSpPr>
          <p:spPr bwMode="auto">
            <a:xfrm>
              <a:off x="4614" y="7740"/>
              <a:ext cx="176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Cell</a:t>
              </a:r>
              <a:endParaRPr lang="en-US" altLang="en-US">
                <a:solidFill>
                  <a:srgbClr val="000000"/>
                </a:solidFill>
                <a:ea typeface="Times New Roman" pitchFamily="18" charset="0"/>
                <a:cs typeface="Arial" pitchFamily="34" charset="0"/>
              </a:endParaRPr>
            </a:p>
          </p:txBody>
        </p:sp>
        <p:sp>
          <p:nvSpPr>
            <p:cNvPr id="13369" name="Rectangle 150"/>
            <p:cNvSpPr>
              <a:spLocks noChangeArrowheads="1"/>
            </p:cNvSpPr>
            <p:nvPr/>
          </p:nvSpPr>
          <p:spPr bwMode="auto">
            <a:xfrm>
              <a:off x="4866" y="8640"/>
              <a:ext cx="126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Plant</a:t>
              </a:r>
              <a:endParaRPr lang="en-US" altLang="en-US">
                <a:solidFill>
                  <a:srgbClr val="000000"/>
                </a:solidFill>
                <a:ea typeface="Times New Roman" pitchFamily="18" charset="0"/>
                <a:cs typeface="Arial" pitchFamily="34" charset="0"/>
              </a:endParaRPr>
            </a:p>
          </p:txBody>
        </p:sp>
        <p:sp>
          <p:nvSpPr>
            <p:cNvPr id="13370" name="Line 149"/>
            <p:cNvSpPr>
              <a:spLocks noChangeShapeType="1"/>
            </p:cNvSpPr>
            <p:nvPr/>
          </p:nvSpPr>
          <p:spPr bwMode="auto">
            <a:xfrm>
              <a:off x="5499" y="10080"/>
              <a:ext cx="4" cy="360"/>
            </a:xfrm>
            <a:prstGeom prst="line">
              <a:avLst/>
            </a:prstGeom>
            <a:noFill/>
            <a:ln w="9525">
              <a:solidFill>
                <a:srgbClr val="000000"/>
              </a:solidFill>
              <a:round/>
              <a:headEnd/>
              <a:tailEnd type="triangle" w="med" len="med"/>
            </a:ln>
          </p:spPr>
          <p:txBody>
            <a:bodyPr/>
            <a:lstStyle/>
            <a:p>
              <a:endParaRPr lang="en-IN"/>
            </a:p>
          </p:txBody>
        </p:sp>
        <p:cxnSp>
          <p:nvCxnSpPr>
            <p:cNvPr id="13371" name="AutoShape 148"/>
            <p:cNvCxnSpPr>
              <a:cxnSpLocks noChangeShapeType="1"/>
            </p:cNvCxnSpPr>
            <p:nvPr/>
          </p:nvCxnSpPr>
          <p:spPr bwMode="auto">
            <a:xfrm flipV="1">
              <a:off x="3315" y="8011"/>
              <a:ext cx="1299" cy="2700"/>
            </a:xfrm>
            <a:prstGeom prst="bentConnector3">
              <a:avLst>
                <a:gd name="adj1" fmla="val 49963"/>
              </a:avLst>
            </a:prstGeom>
            <a:noFill/>
            <a:ln w="19050">
              <a:solidFill>
                <a:srgbClr val="000000"/>
              </a:solidFill>
              <a:prstDash val="sysDot"/>
              <a:miter lim="800000"/>
              <a:headEnd/>
              <a:tailEnd type="triangle" w="med" len="med"/>
            </a:ln>
          </p:spPr>
        </p:cxnSp>
        <p:sp>
          <p:nvSpPr>
            <p:cNvPr id="13372" name="Rectangle 147"/>
            <p:cNvSpPr>
              <a:spLocks noChangeArrowheads="1"/>
            </p:cNvSpPr>
            <p:nvPr/>
          </p:nvSpPr>
          <p:spPr bwMode="auto">
            <a:xfrm>
              <a:off x="7461" y="7359"/>
              <a:ext cx="1932" cy="543"/>
            </a:xfrm>
            <a:prstGeom prst="rect">
              <a:avLst/>
            </a:prstGeom>
            <a:solidFill>
              <a:srgbClr val="002060"/>
            </a:solidFill>
            <a:ln w="9525">
              <a:noFill/>
              <a:miter lim="800000"/>
              <a:headEnd/>
              <a:tailEnd/>
            </a:ln>
          </p:spPr>
          <p:txBody>
            <a:bodyPr/>
            <a:lstStyle/>
            <a:p>
              <a:pPr algn="ctr"/>
              <a:r>
                <a:rPr lang="en-US" altLang="en-US" sz="1200" b="1" dirty="0">
                  <a:solidFill>
                    <a:srgbClr val="FFFFFF"/>
                  </a:solidFill>
                  <a:ea typeface="Times New Roman" pitchFamily="18" charset="0"/>
                  <a:cs typeface="Arial" pitchFamily="34" charset="0"/>
                </a:rPr>
                <a:t>Animal Order</a:t>
              </a:r>
              <a:endParaRPr lang="en-US" altLang="en-US" dirty="0">
                <a:solidFill>
                  <a:srgbClr val="FFFFFF"/>
                </a:solidFill>
                <a:ea typeface="Times New Roman" pitchFamily="18" charset="0"/>
                <a:cs typeface="Arial" pitchFamily="34" charset="0"/>
              </a:endParaRPr>
            </a:p>
          </p:txBody>
        </p:sp>
        <p:sp>
          <p:nvSpPr>
            <p:cNvPr id="13373" name="Text Box 146"/>
            <p:cNvSpPr txBox="1">
              <a:spLocks noChangeArrowheads="1"/>
            </p:cNvSpPr>
            <p:nvPr/>
          </p:nvSpPr>
          <p:spPr bwMode="auto">
            <a:xfrm>
              <a:off x="9387" y="7956"/>
              <a:ext cx="481" cy="534"/>
            </a:xfrm>
            <a:prstGeom prst="rect">
              <a:avLst/>
            </a:prstGeom>
            <a:solidFill>
              <a:srgbClr val="FFFFFF"/>
            </a:solidFill>
            <a:ln w="9525">
              <a:solidFill>
                <a:srgbClr val="FFFFFF"/>
              </a:solidFill>
              <a:miter lim="800000"/>
              <a:headEnd/>
              <a:tailEnd/>
            </a:ln>
          </p:spPr>
          <p:txBody>
            <a:bodyPr/>
            <a:lstStyle/>
            <a:p>
              <a:r>
                <a:rPr lang="en-US" altLang="en-US" sz="2000">
                  <a:solidFill>
                    <a:srgbClr val="000000"/>
                  </a:solidFill>
                  <a:ea typeface="Times New Roman" pitchFamily="18" charset="0"/>
                  <a:cs typeface="Arial" pitchFamily="34" charset="0"/>
                </a:rPr>
                <a:t>+</a:t>
              </a:r>
              <a:endParaRPr lang="en-US" altLang="en-US">
                <a:solidFill>
                  <a:srgbClr val="000000"/>
                </a:solidFill>
                <a:ea typeface="Times New Roman" pitchFamily="18" charset="0"/>
                <a:cs typeface="Arial" pitchFamily="34" charset="0"/>
              </a:endParaRPr>
            </a:p>
          </p:txBody>
        </p:sp>
        <p:cxnSp>
          <p:nvCxnSpPr>
            <p:cNvPr id="13374" name="AutoShape 145"/>
            <p:cNvCxnSpPr>
              <a:cxnSpLocks noChangeShapeType="1"/>
            </p:cNvCxnSpPr>
            <p:nvPr/>
          </p:nvCxnSpPr>
          <p:spPr bwMode="auto">
            <a:xfrm flipH="1">
              <a:off x="8673" y="5129"/>
              <a:ext cx="2199" cy="1960"/>
            </a:xfrm>
            <a:prstGeom prst="bentConnector3">
              <a:avLst>
                <a:gd name="adj1" fmla="val -16324"/>
              </a:avLst>
            </a:prstGeom>
            <a:noFill/>
            <a:ln w="9525">
              <a:solidFill>
                <a:srgbClr val="000000"/>
              </a:solidFill>
              <a:miter lim="800000"/>
              <a:headEnd/>
              <a:tailEnd type="triangle" w="med" len="med"/>
            </a:ln>
          </p:spPr>
        </p:cxnSp>
        <p:cxnSp>
          <p:nvCxnSpPr>
            <p:cNvPr id="13375" name="AutoShape 144"/>
            <p:cNvCxnSpPr>
              <a:cxnSpLocks noChangeShapeType="1"/>
            </p:cNvCxnSpPr>
            <p:nvPr/>
          </p:nvCxnSpPr>
          <p:spPr bwMode="auto">
            <a:xfrm flipV="1">
              <a:off x="6489" y="7089"/>
              <a:ext cx="1644" cy="2703"/>
            </a:xfrm>
            <a:prstGeom prst="bentConnector3">
              <a:avLst>
                <a:gd name="adj1" fmla="val 50000"/>
              </a:avLst>
            </a:prstGeom>
            <a:noFill/>
            <a:ln w="9525">
              <a:solidFill>
                <a:srgbClr val="000000"/>
              </a:solidFill>
              <a:miter lim="800000"/>
              <a:headEnd/>
              <a:tailEnd type="triangle" w="med" len="med"/>
            </a:ln>
          </p:spPr>
        </p:cxnSp>
        <p:cxnSp>
          <p:nvCxnSpPr>
            <p:cNvPr id="13376" name="AutoShape 143"/>
            <p:cNvCxnSpPr>
              <a:cxnSpLocks noChangeShapeType="1"/>
            </p:cNvCxnSpPr>
            <p:nvPr/>
          </p:nvCxnSpPr>
          <p:spPr bwMode="auto">
            <a:xfrm flipV="1">
              <a:off x="6489" y="8223"/>
              <a:ext cx="2898" cy="2488"/>
            </a:xfrm>
            <a:prstGeom prst="bentConnector3">
              <a:avLst>
                <a:gd name="adj1" fmla="val 50000"/>
              </a:avLst>
            </a:prstGeom>
            <a:noFill/>
            <a:ln w="9525">
              <a:solidFill>
                <a:srgbClr val="000000"/>
              </a:solidFill>
              <a:miter lim="800000"/>
              <a:headEnd/>
              <a:tailEnd type="triangle" w="med" len="med"/>
            </a:ln>
          </p:spPr>
        </p:cxnSp>
        <p:cxnSp>
          <p:nvCxnSpPr>
            <p:cNvPr id="13377" name="AutoShape 142"/>
            <p:cNvCxnSpPr>
              <a:cxnSpLocks noChangeShapeType="1"/>
            </p:cNvCxnSpPr>
            <p:nvPr/>
          </p:nvCxnSpPr>
          <p:spPr bwMode="auto">
            <a:xfrm flipH="1">
              <a:off x="9868" y="5129"/>
              <a:ext cx="1004" cy="3094"/>
            </a:xfrm>
            <a:prstGeom prst="bentConnector3">
              <a:avLst>
                <a:gd name="adj1" fmla="val -35759"/>
              </a:avLst>
            </a:prstGeom>
            <a:noFill/>
            <a:ln w="9525">
              <a:solidFill>
                <a:srgbClr val="000000"/>
              </a:solidFill>
              <a:miter lim="800000"/>
              <a:headEnd/>
              <a:tailEnd type="triangle" w="med" len="med"/>
            </a:ln>
          </p:spPr>
        </p:cxnSp>
        <p:grpSp>
          <p:nvGrpSpPr>
            <p:cNvPr id="6" name="Group 136"/>
            <p:cNvGrpSpPr>
              <a:grpSpLocks/>
            </p:cNvGrpSpPr>
            <p:nvPr/>
          </p:nvGrpSpPr>
          <p:grpSpPr bwMode="auto">
            <a:xfrm>
              <a:off x="3474" y="2725"/>
              <a:ext cx="3780" cy="1973"/>
              <a:chOff x="3600" y="2704"/>
              <a:chExt cx="3780" cy="1973"/>
            </a:xfrm>
          </p:grpSpPr>
          <p:sp>
            <p:nvSpPr>
              <p:cNvPr id="13386" name="Text Box 141"/>
              <p:cNvSpPr txBox="1">
                <a:spLocks noChangeArrowheads="1"/>
              </p:cNvSpPr>
              <p:nvPr/>
            </p:nvSpPr>
            <p:spPr bwMode="auto">
              <a:xfrm>
                <a:off x="3600" y="2704"/>
                <a:ext cx="180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Limited in size</a:t>
                </a:r>
                <a:endParaRPr lang="en-US" altLang="en-US">
                  <a:solidFill>
                    <a:srgbClr val="000000"/>
                  </a:solidFill>
                  <a:ea typeface="Times New Roman" pitchFamily="18" charset="0"/>
                  <a:cs typeface="Arial" pitchFamily="34" charset="0"/>
                </a:endParaRPr>
              </a:p>
            </p:txBody>
          </p:sp>
          <p:sp>
            <p:nvSpPr>
              <p:cNvPr id="13387" name="Text Box 140"/>
              <p:cNvSpPr txBox="1">
                <a:spLocks noChangeArrowheads="1"/>
              </p:cNvSpPr>
              <p:nvPr/>
            </p:nvSpPr>
            <p:spPr bwMode="auto">
              <a:xfrm>
                <a:off x="3600" y="3064"/>
                <a:ext cx="126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Activity</a:t>
                </a:r>
                <a:endParaRPr lang="en-US" altLang="en-US">
                  <a:solidFill>
                    <a:srgbClr val="000000"/>
                  </a:solidFill>
                  <a:ea typeface="Times New Roman" pitchFamily="18" charset="0"/>
                  <a:cs typeface="Arial" pitchFamily="34" charset="0"/>
                </a:endParaRPr>
              </a:p>
            </p:txBody>
          </p:sp>
          <p:sp>
            <p:nvSpPr>
              <p:cNvPr id="13388" name="Text Box 139"/>
              <p:cNvSpPr txBox="1">
                <a:spLocks noChangeArrowheads="1"/>
              </p:cNvSpPr>
              <p:nvPr/>
            </p:nvSpPr>
            <p:spPr bwMode="auto">
              <a:xfrm>
                <a:off x="3600" y="3422"/>
                <a:ext cx="1800" cy="538"/>
              </a:xfrm>
              <a:prstGeom prst="rect">
                <a:avLst/>
              </a:prstGeom>
              <a:solidFill>
                <a:srgbClr val="FFFFFF"/>
              </a:solidFill>
              <a:ln w="9525">
                <a:solidFill>
                  <a:srgbClr val="FFFFFF"/>
                </a:solidFill>
                <a:miter lim="800000"/>
                <a:headEnd/>
                <a:tailEnd/>
              </a:ln>
            </p:spPr>
            <p:txBody>
              <a:bodyPr/>
              <a:lstStyle/>
              <a:p>
                <a:r>
                  <a:rPr lang="en-US" altLang="en-US" sz="1000" dirty="0">
                    <a:solidFill>
                      <a:srgbClr val="000000"/>
                    </a:solidFill>
                    <a:ea typeface="Times New Roman" pitchFamily="18" charset="0"/>
                    <a:cs typeface="Arial" pitchFamily="34" charset="0"/>
                  </a:rPr>
                  <a:t>Self-organized </a:t>
                </a:r>
                <a:endParaRPr lang="en-US" altLang="en-US" dirty="0">
                  <a:solidFill>
                    <a:srgbClr val="000000"/>
                  </a:solidFill>
                  <a:ea typeface="Times New Roman" pitchFamily="18" charset="0"/>
                  <a:cs typeface="Arial" pitchFamily="34" charset="0"/>
                </a:endParaRPr>
              </a:p>
            </p:txBody>
          </p:sp>
          <p:sp>
            <p:nvSpPr>
              <p:cNvPr id="13389" name="Text Box 138"/>
              <p:cNvSpPr txBox="1">
                <a:spLocks noChangeArrowheads="1"/>
              </p:cNvSpPr>
              <p:nvPr/>
            </p:nvSpPr>
            <p:spPr bwMode="auto">
              <a:xfrm>
                <a:off x="3600" y="3782"/>
                <a:ext cx="1440" cy="53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Energized</a:t>
                </a:r>
                <a:endParaRPr lang="en-US" altLang="en-US">
                  <a:solidFill>
                    <a:srgbClr val="000000"/>
                  </a:solidFill>
                  <a:ea typeface="Times New Roman" pitchFamily="18" charset="0"/>
                  <a:cs typeface="Arial" pitchFamily="34" charset="0"/>
                </a:endParaRPr>
              </a:p>
            </p:txBody>
          </p:sp>
          <p:sp>
            <p:nvSpPr>
              <p:cNvPr id="13390" name="Text Box 137"/>
              <p:cNvSpPr txBox="1">
                <a:spLocks noChangeArrowheads="1"/>
              </p:cNvSpPr>
              <p:nvPr/>
            </p:nvSpPr>
            <p:spPr bwMode="auto">
              <a:xfrm>
                <a:off x="3600" y="4143"/>
                <a:ext cx="3780" cy="534"/>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Recognises the relationship and fulfills </a:t>
                </a:r>
                <a:endParaRPr lang="en-US" altLang="en-US">
                  <a:solidFill>
                    <a:srgbClr val="000000"/>
                  </a:solidFill>
                  <a:ea typeface="Times New Roman" pitchFamily="18" charset="0"/>
                  <a:cs typeface="Arial" pitchFamily="34" charset="0"/>
                </a:endParaRPr>
              </a:p>
            </p:txBody>
          </p:sp>
        </p:grpSp>
        <p:sp>
          <p:nvSpPr>
            <p:cNvPr id="13379" name="Rectangle 134"/>
            <p:cNvSpPr>
              <a:spLocks noChangeArrowheads="1"/>
            </p:cNvSpPr>
            <p:nvPr/>
          </p:nvSpPr>
          <p:spPr bwMode="auto">
            <a:xfrm>
              <a:off x="8574" y="8490"/>
              <a:ext cx="2160" cy="543"/>
            </a:xfrm>
            <a:prstGeom prst="rect">
              <a:avLst/>
            </a:prstGeom>
            <a:solidFill>
              <a:srgbClr val="002060"/>
            </a:solidFill>
            <a:ln w="9525">
              <a:noFill/>
              <a:miter lim="800000"/>
              <a:headEnd/>
              <a:tailEnd/>
            </a:ln>
          </p:spPr>
          <p:txBody>
            <a:bodyPr/>
            <a:lstStyle/>
            <a:p>
              <a:pPr algn="ctr"/>
              <a:r>
                <a:rPr lang="en-US" altLang="en-US" sz="1200" b="1">
                  <a:solidFill>
                    <a:srgbClr val="FFFFFF"/>
                  </a:solidFill>
                  <a:ea typeface="Times New Roman" pitchFamily="18" charset="0"/>
                  <a:cs typeface="Arial" pitchFamily="34" charset="0"/>
                </a:rPr>
                <a:t>Human Order</a:t>
              </a:r>
              <a:endParaRPr lang="en-US" altLang="en-US">
                <a:solidFill>
                  <a:srgbClr val="FFFFFF"/>
                </a:solidFill>
                <a:ea typeface="Times New Roman" pitchFamily="18" charset="0"/>
                <a:cs typeface="Arial" pitchFamily="34" charset="0"/>
              </a:endParaRPr>
            </a:p>
          </p:txBody>
        </p:sp>
        <p:sp>
          <p:nvSpPr>
            <p:cNvPr id="13380" name="Line 132"/>
            <p:cNvSpPr>
              <a:spLocks noChangeShapeType="1"/>
            </p:cNvSpPr>
            <p:nvPr/>
          </p:nvSpPr>
          <p:spPr bwMode="auto">
            <a:xfrm>
              <a:off x="2340" y="4677"/>
              <a:ext cx="6243" cy="1"/>
            </a:xfrm>
            <a:prstGeom prst="line">
              <a:avLst/>
            </a:prstGeom>
            <a:noFill/>
            <a:ln w="9525">
              <a:solidFill>
                <a:srgbClr val="000000"/>
              </a:solidFill>
              <a:round/>
              <a:headEnd/>
              <a:tailEnd/>
            </a:ln>
          </p:spPr>
          <p:txBody>
            <a:bodyPr/>
            <a:lstStyle/>
            <a:p>
              <a:endParaRPr lang="en-IN"/>
            </a:p>
          </p:txBody>
        </p:sp>
        <p:sp>
          <p:nvSpPr>
            <p:cNvPr id="13381" name="Line 130"/>
            <p:cNvSpPr>
              <a:spLocks noChangeShapeType="1"/>
            </p:cNvSpPr>
            <p:nvPr/>
          </p:nvSpPr>
          <p:spPr bwMode="auto">
            <a:xfrm flipH="1">
              <a:off x="9663" y="10438"/>
              <a:ext cx="9" cy="822"/>
            </a:xfrm>
            <a:prstGeom prst="line">
              <a:avLst/>
            </a:prstGeom>
            <a:noFill/>
            <a:ln w="9525">
              <a:solidFill>
                <a:srgbClr val="000000"/>
              </a:solidFill>
              <a:round/>
              <a:headEnd/>
              <a:tailEnd type="triangle" w="med" len="med"/>
            </a:ln>
          </p:spPr>
          <p:txBody>
            <a:bodyPr/>
            <a:lstStyle/>
            <a:p>
              <a:endParaRPr lang="en-IN"/>
            </a:p>
          </p:txBody>
        </p:sp>
        <p:sp>
          <p:nvSpPr>
            <p:cNvPr id="13382" name="Line 126"/>
            <p:cNvSpPr>
              <a:spLocks noChangeShapeType="1"/>
            </p:cNvSpPr>
            <p:nvPr/>
          </p:nvSpPr>
          <p:spPr bwMode="auto">
            <a:xfrm>
              <a:off x="5500" y="7356"/>
              <a:ext cx="2" cy="359"/>
            </a:xfrm>
            <a:prstGeom prst="line">
              <a:avLst/>
            </a:prstGeom>
            <a:noFill/>
            <a:ln w="9525">
              <a:solidFill>
                <a:srgbClr val="000000"/>
              </a:solidFill>
              <a:round/>
              <a:headEnd/>
              <a:tailEnd type="triangle" w="med" len="med"/>
            </a:ln>
          </p:spPr>
          <p:txBody>
            <a:bodyPr/>
            <a:lstStyle/>
            <a:p>
              <a:endParaRPr lang="en-IN"/>
            </a:p>
          </p:txBody>
        </p:sp>
        <p:sp>
          <p:nvSpPr>
            <p:cNvPr id="13383" name="Line 125"/>
            <p:cNvSpPr>
              <a:spLocks noChangeShapeType="1"/>
            </p:cNvSpPr>
            <p:nvPr/>
          </p:nvSpPr>
          <p:spPr bwMode="auto">
            <a:xfrm>
              <a:off x="5499" y="8256"/>
              <a:ext cx="1" cy="360"/>
            </a:xfrm>
            <a:prstGeom prst="line">
              <a:avLst/>
            </a:prstGeom>
            <a:noFill/>
            <a:ln w="9525">
              <a:solidFill>
                <a:srgbClr val="000000"/>
              </a:solidFill>
              <a:round/>
              <a:headEnd/>
              <a:tailEnd type="triangle" w="med" len="med"/>
            </a:ln>
          </p:spPr>
          <p:txBody>
            <a:bodyPr/>
            <a:lstStyle/>
            <a:p>
              <a:endParaRPr lang="en-IN"/>
            </a:p>
          </p:txBody>
        </p:sp>
        <p:sp>
          <p:nvSpPr>
            <p:cNvPr id="13384" name="Line 124"/>
            <p:cNvSpPr>
              <a:spLocks noChangeShapeType="1"/>
            </p:cNvSpPr>
            <p:nvPr/>
          </p:nvSpPr>
          <p:spPr bwMode="auto">
            <a:xfrm>
              <a:off x="5500" y="9155"/>
              <a:ext cx="1" cy="360"/>
            </a:xfrm>
            <a:prstGeom prst="line">
              <a:avLst/>
            </a:prstGeom>
            <a:noFill/>
            <a:ln w="9525">
              <a:solidFill>
                <a:srgbClr val="000000"/>
              </a:solidFill>
              <a:round/>
              <a:headEnd/>
              <a:tailEnd type="triangle" w="med" len="med"/>
            </a:ln>
          </p:spPr>
          <p:txBody>
            <a:bodyPr/>
            <a:lstStyle/>
            <a:p>
              <a:endParaRPr lang="en-IN"/>
            </a:p>
          </p:txBody>
        </p:sp>
        <p:sp>
          <p:nvSpPr>
            <p:cNvPr id="13385" name="Line 123"/>
            <p:cNvSpPr>
              <a:spLocks noChangeShapeType="1"/>
            </p:cNvSpPr>
            <p:nvPr/>
          </p:nvSpPr>
          <p:spPr bwMode="auto">
            <a:xfrm>
              <a:off x="8221" y="1941"/>
              <a:ext cx="2" cy="216"/>
            </a:xfrm>
            <a:prstGeom prst="line">
              <a:avLst/>
            </a:prstGeom>
            <a:noFill/>
            <a:ln w="9525">
              <a:solidFill>
                <a:srgbClr val="000000"/>
              </a:solidFill>
              <a:round/>
              <a:headEnd/>
              <a:tailEnd type="triangle" w="med" len="med"/>
            </a:ln>
          </p:spPr>
          <p:txBody>
            <a:bodyPr/>
            <a:lstStyle/>
            <a:p>
              <a:endParaRPr lang="en-IN"/>
            </a:p>
          </p:txBody>
        </p:sp>
      </p:grpSp>
      <p:sp>
        <p:nvSpPr>
          <p:cNvPr id="13315" name="Rectangle 195"/>
          <p:cNvSpPr>
            <a:spLocks noChangeArrowheads="1"/>
          </p:cNvSpPr>
          <p:nvPr/>
        </p:nvSpPr>
        <p:spPr bwMode="auto">
          <a:xfrm>
            <a:off x="852488" y="642922"/>
            <a:ext cx="6500812" cy="571500"/>
          </a:xfrm>
          <a:prstGeom prst="rect">
            <a:avLst/>
          </a:prstGeom>
          <a:solidFill>
            <a:srgbClr val="002060"/>
          </a:solidFill>
          <a:ln w="9525">
            <a:noFill/>
            <a:miter lim="800000"/>
            <a:headEnd/>
            <a:tailEnd/>
          </a:ln>
        </p:spPr>
        <p:txBody>
          <a:bodyPr/>
          <a:lstStyle/>
          <a:p>
            <a:pPr algn="ctr"/>
            <a:r>
              <a:rPr lang="en-US" altLang="en-US" sz="1400" b="1" dirty="0">
                <a:solidFill>
                  <a:srgbClr val="FFFFFF"/>
                </a:solidFill>
                <a:ea typeface="Times New Roman" pitchFamily="18" charset="0"/>
                <a:cs typeface="Arial" pitchFamily="34" charset="0"/>
              </a:rPr>
              <a:t>Existence</a:t>
            </a:r>
            <a:endParaRPr lang="en-US" altLang="en-US" sz="1400" dirty="0">
              <a:solidFill>
                <a:srgbClr val="FFFFFF"/>
              </a:solidFill>
              <a:ea typeface="Times New Roman" pitchFamily="18" charset="0"/>
              <a:cs typeface="Arial" pitchFamily="34" charset="0"/>
            </a:endParaRPr>
          </a:p>
          <a:p>
            <a:pPr algn="ctr"/>
            <a:r>
              <a:rPr lang="en-US" altLang="en-US" sz="1400" b="1" dirty="0">
                <a:solidFill>
                  <a:srgbClr val="FFFFFF"/>
                </a:solidFill>
                <a:ea typeface="Times New Roman" pitchFamily="18" charset="0"/>
                <a:cs typeface="Arial" pitchFamily="34" charset="0"/>
              </a:rPr>
              <a:t>(= Co-existence = Units submerged in Space)</a:t>
            </a:r>
            <a:endParaRPr lang="en-US" altLang="en-US" dirty="0">
              <a:solidFill>
                <a:srgbClr val="FFFFFF"/>
              </a:solidFill>
              <a:ea typeface="Times New Roman" pitchFamily="18" charset="0"/>
              <a:cs typeface="Arial" pitchFamily="34" charset="0"/>
            </a:endParaRPr>
          </a:p>
        </p:txBody>
      </p:sp>
      <p:sp>
        <p:nvSpPr>
          <p:cNvPr id="13316" name="Rectangle 196"/>
          <p:cNvSpPr>
            <a:spLocks noChangeArrowheads="1"/>
          </p:cNvSpPr>
          <p:nvPr/>
        </p:nvSpPr>
        <p:spPr bwMode="auto">
          <a:xfrm>
            <a:off x="685800" y="-76200"/>
            <a:ext cx="9144000" cy="457200"/>
          </a:xfrm>
          <a:prstGeom prst="rect">
            <a:avLst/>
          </a:prstGeom>
          <a:noFill/>
          <a:ln w="9525">
            <a:noFill/>
            <a:miter lim="800000"/>
            <a:headEnd/>
            <a:tailEnd/>
          </a:ln>
        </p:spPr>
        <p:txBody>
          <a:bodyPr wrap="none" anchor="ctr">
            <a:spAutoFit/>
          </a:bodyPr>
          <a:lstStyle/>
          <a:p>
            <a:endParaRPr lang="en-US" altLang="en-US">
              <a:solidFill>
                <a:srgbClr val="000000"/>
              </a:solidFill>
            </a:endParaRPr>
          </a:p>
        </p:txBody>
      </p:sp>
      <p:sp>
        <p:nvSpPr>
          <p:cNvPr id="13317" name="Rectangle 237"/>
          <p:cNvSpPr>
            <a:spLocks noChangeArrowheads="1"/>
          </p:cNvSpPr>
          <p:nvPr/>
        </p:nvSpPr>
        <p:spPr bwMode="auto">
          <a:xfrm>
            <a:off x="685800" y="7569200"/>
            <a:ext cx="9144000" cy="0"/>
          </a:xfrm>
          <a:prstGeom prst="rect">
            <a:avLst/>
          </a:prstGeom>
          <a:noFill/>
          <a:ln w="9525">
            <a:noFill/>
            <a:miter lim="800000"/>
            <a:headEnd/>
            <a:tailEnd/>
          </a:ln>
        </p:spPr>
        <p:txBody>
          <a:bodyPr wrap="none" anchor="ctr">
            <a:spAutoFit/>
          </a:bodyPr>
          <a:lstStyle/>
          <a:p>
            <a:endParaRPr lang="en-US" altLang="en-US" sz="1200">
              <a:solidFill>
                <a:srgbClr val="000000"/>
              </a:solidFill>
              <a:cs typeface="Times New Roman" pitchFamily="18" charset="0"/>
            </a:endParaRPr>
          </a:p>
          <a:p>
            <a:r>
              <a:rPr lang="en-US" altLang="en-US" sz="1200">
                <a:solidFill>
                  <a:srgbClr val="000000"/>
                </a:solidFill>
                <a:cs typeface="Times New Roman" pitchFamily="18" charset="0"/>
              </a:rPr>
              <a:t/>
            </a:r>
            <a:br>
              <a:rPr lang="en-US" altLang="en-US" sz="1200">
                <a:solidFill>
                  <a:srgbClr val="000000"/>
                </a:solidFill>
                <a:cs typeface="Times New Roman" pitchFamily="18" charset="0"/>
              </a:rPr>
            </a:br>
            <a:endParaRPr lang="en-US" altLang="en-US">
              <a:solidFill>
                <a:srgbClr val="000000"/>
              </a:solidFill>
            </a:endParaRPr>
          </a:p>
        </p:txBody>
      </p:sp>
      <p:sp>
        <p:nvSpPr>
          <p:cNvPr id="13318" name="Text Box 121"/>
          <p:cNvSpPr txBox="1">
            <a:spLocks noChangeArrowheads="1"/>
          </p:cNvSpPr>
          <p:nvPr/>
        </p:nvSpPr>
        <p:spPr bwMode="auto">
          <a:xfrm>
            <a:off x="1219200" y="5405455"/>
            <a:ext cx="3086100" cy="428628"/>
          </a:xfrm>
          <a:prstGeom prst="rect">
            <a:avLst/>
          </a:prstGeom>
          <a:noFill/>
          <a:ln w="9525">
            <a:noFill/>
            <a:miter lim="800000"/>
            <a:headEnd/>
            <a:tailEnd/>
          </a:ln>
        </p:spPr>
        <p:txBody>
          <a:bodyPr/>
          <a:lstStyle/>
          <a:p>
            <a:pPr algn="ctr"/>
            <a:r>
              <a:rPr lang="en-US" altLang="en-US" sz="1400" b="1" dirty="0">
                <a:solidFill>
                  <a:srgbClr val="FF0000"/>
                </a:solidFill>
                <a:ea typeface="Times New Roman" pitchFamily="18" charset="0"/>
                <a:cs typeface="Arial" pitchFamily="34" charset="0"/>
              </a:rPr>
              <a:t>Cyclic</a:t>
            </a:r>
            <a:endParaRPr lang="en-US" altLang="en-US" sz="1400" dirty="0">
              <a:solidFill>
                <a:srgbClr val="FF0000"/>
              </a:solidFill>
              <a:ea typeface="Times New Roman" pitchFamily="18" charset="0"/>
              <a:cs typeface="Arial" pitchFamily="34" charset="0"/>
            </a:endParaRPr>
          </a:p>
          <a:p>
            <a:pPr algn="ctr"/>
            <a:r>
              <a:rPr lang="en-US" altLang="en-US" sz="1400" b="1" dirty="0">
                <a:solidFill>
                  <a:srgbClr val="FF0000"/>
                </a:solidFill>
                <a:ea typeface="Times New Roman" pitchFamily="18" charset="0"/>
                <a:cs typeface="Arial" pitchFamily="34" charset="0"/>
              </a:rPr>
              <a:t>Composition – Decomposition</a:t>
            </a:r>
            <a:endParaRPr lang="en-US" altLang="en-US" sz="1400" dirty="0">
              <a:solidFill>
                <a:srgbClr val="FF0000"/>
              </a:solidFill>
              <a:ea typeface="Times New Roman" pitchFamily="18" charset="0"/>
              <a:cs typeface="Arial" pitchFamily="34" charset="0"/>
            </a:endParaRPr>
          </a:p>
          <a:p>
            <a:pPr algn="ctr"/>
            <a:endParaRPr lang="en-US" altLang="en-US" sz="1400" dirty="0">
              <a:solidFill>
                <a:srgbClr val="FF0000"/>
              </a:solidFill>
              <a:ea typeface="Times New Roman" pitchFamily="18" charset="0"/>
              <a:cs typeface="Arial" pitchFamily="34" charset="0"/>
            </a:endParaRPr>
          </a:p>
          <a:p>
            <a:endParaRPr lang="en-US" altLang="en-US" dirty="0">
              <a:solidFill>
                <a:srgbClr val="000000"/>
              </a:solidFill>
              <a:ea typeface="Times New Roman" pitchFamily="18" charset="0"/>
              <a:cs typeface="Arial" pitchFamily="34" charset="0"/>
            </a:endParaRPr>
          </a:p>
        </p:txBody>
      </p:sp>
      <p:sp>
        <p:nvSpPr>
          <p:cNvPr id="13319" name="Line 130"/>
          <p:cNvSpPr>
            <a:spLocks noChangeShapeType="1"/>
          </p:cNvSpPr>
          <p:nvPr/>
        </p:nvSpPr>
        <p:spPr bwMode="auto">
          <a:xfrm flipH="1">
            <a:off x="6477000" y="4643446"/>
            <a:ext cx="6350" cy="522288"/>
          </a:xfrm>
          <a:prstGeom prst="line">
            <a:avLst/>
          </a:prstGeom>
          <a:noFill/>
          <a:ln w="9525">
            <a:solidFill>
              <a:srgbClr val="000000"/>
            </a:solidFill>
            <a:round/>
            <a:headEnd/>
            <a:tailEnd type="triangle" w="med" len="med"/>
          </a:ln>
        </p:spPr>
        <p:txBody>
          <a:bodyPr/>
          <a:lstStyle/>
          <a:p>
            <a:endParaRPr lang="en-IN"/>
          </a:p>
        </p:txBody>
      </p:sp>
      <p:sp>
        <p:nvSpPr>
          <p:cNvPr id="13320" name="Text Box 135"/>
          <p:cNvSpPr txBox="1">
            <a:spLocks noChangeArrowheads="1"/>
          </p:cNvSpPr>
          <p:nvPr/>
        </p:nvSpPr>
        <p:spPr bwMode="auto">
          <a:xfrm>
            <a:off x="6461125" y="4572008"/>
            <a:ext cx="1463675" cy="573088"/>
          </a:xfrm>
          <a:prstGeom prst="rect">
            <a:avLst/>
          </a:prstGeom>
          <a:noFill/>
          <a:ln w="9525">
            <a:noFill/>
            <a:miter lim="800000"/>
            <a:headEnd/>
            <a:tailEnd/>
          </a:ln>
        </p:spPr>
        <p:txBody>
          <a:bodyPr/>
          <a:lstStyle/>
          <a:p>
            <a:r>
              <a:rPr lang="en-US" altLang="en-US" sz="1000" dirty="0">
                <a:solidFill>
                  <a:srgbClr val="000000"/>
                </a:solidFill>
                <a:ea typeface="Times New Roman" pitchFamily="18" charset="0"/>
                <a:cs typeface="Arial" pitchFamily="34" charset="0"/>
              </a:rPr>
              <a:t>Right Understanding</a:t>
            </a:r>
            <a:endParaRPr lang="en-US" altLang="en-US" sz="1400" dirty="0">
              <a:solidFill>
                <a:srgbClr val="000000"/>
              </a:solidFill>
              <a:ea typeface="Times New Roman" pitchFamily="18" charset="0"/>
              <a:cs typeface="Arial" pitchFamily="34" charset="0"/>
            </a:endParaRPr>
          </a:p>
        </p:txBody>
      </p:sp>
      <p:sp>
        <p:nvSpPr>
          <p:cNvPr id="13321" name="Text Box 131"/>
          <p:cNvSpPr txBox="1">
            <a:spLocks noChangeArrowheads="1"/>
          </p:cNvSpPr>
          <p:nvPr/>
        </p:nvSpPr>
        <p:spPr bwMode="auto">
          <a:xfrm>
            <a:off x="6469063" y="5000636"/>
            <a:ext cx="2141537" cy="581025"/>
          </a:xfrm>
          <a:prstGeom prst="rect">
            <a:avLst/>
          </a:prstGeom>
          <a:noFill/>
          <a:ln w="9525">
            <a:noFill/>
            <a:miter lim="800000"/>
            <a:headEnd/>
            <a:tailEnd/>
          </a:ln>
        </p:spPr>
        <p:txBody>
          <a:bodyPr/>
          <a:lstStyle/>
          <a:p>
            <a:r>
              <a:rPr lang="en-US" altLang="en-US" sz="1000" dirty="0">
                <a:solidFill>
                  <a:srgbClr val="000000"/>
                </a:solidFill>
                <a:ea typeface="Times New Roman" pitchFamily="18" charset="0"/>
                <a:cs typeface="Arial" pitchFamily="34" charset="0"/>
              </a:rPr>
              <a:t>Living with Right Understanding, Right Feeling &amp; Right Thought</a:t>
            </a:r>
          </a:p>
        </p:txBody>
      </p:sp>
      <p:sp>
        <p:nvSpPr>
          <p:cNvPr id="13322" name="Text Box 127"/>
          <p:cNvSpPr txBox="1">
            <a:spLocks noChangeArrowheads="1"/>
          </p:cNvSpPr>
          <p:nvPr/>
        </p:nvSpPr>
        <p:spPr bwMode="auto">
          <a:xfrm>
            <a:off x="4724400" y="5500703"/>
            <a:ext cx="3962400" cy="357190"/>
          </a:xfrm>
          <a:prstGeom prst="rect">
            <a:avLst/>
          </a:prstGeom>
          <a:noFill/>
          <a:ln w="9525">
            <a:noFill/>
            <a:miter lim="800000"/>
            <a:headEnd/>
            <a:tailEnd/>
          </a:ln>
        </p:spPr>
        <p:txBody>
          <a:bodyPr/>
          <a:lstStyle/>
          <a:p>
            <a:pPr algn="ctr"/>
            <a:r>
              <a:rPr lang="en-US" altLang="en-US" sz="1200" b="1" dirty="0">
                <a:solidFill>
                  <a:srgbClr val="000000"/>
                </a:solidFill>
                <a:ea typeface="Times New Roman" pitchFamily="18" charset="0"/>
                <a:cs typeface="Arial" pitchFamily="34" charset="0"/>
              </a:rPr>
              <a:t>Conduct Completeness (Definite Human Conduct)</a:t>
            </a:r>
            <a:endParaRPr lang="en-US" altLang="en-US" sz="1400" dirty="0">
              <a:solidFill>
                <a:srgbClr val="000000"/>
              </a:solidFill>
              <a:ea typeface="Times New Roman" pitchFamily="18" charset="0"/>
              <a:cs typeface="Arial" pitchFamily="34" charset="0"/>
            </a:endParaRPr>
          </a:p>
        </p:txBody>
      </p:sp>
      <p:grpSp>
        <p:nvGrpSpPr>
          <p:cNvPr id="7" name="Group 85"/>
          <p:cNvGrpSpPr>
            <a:grpSpLocks/>
          </p:cNvGrpSpPr>
          <p:nvPr/>
        </p:nvGrpSpPr>
        <p:grpSpPr bwMode="auto">
          <a:xfrm>
            <a:off x="928662" y="5619768"/>
            <a:ext cx="381000" cy="306387"/>
            <a:chOff x="2475690" y="3657600"/>
            <a:chExt cx="381742" cy="306746"/>
          </a:xfrm>
        </p:grpSpPr>
        <p:sp>
          <p:nvSpPr>
            <p:cNvPr id="13332"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33"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grpSp>
        <p:nvGrpSpPr>
          <p:cNvPr id="8" name="Group 86"/>
          <p:cNvGrpSpPr>
            <a:grpSpLocks/>
          </p:cNvGrpSpPr>
          <p:nvPr/>
        </p:nvGrpSpPr>
        <p:grpSpPr bwMode="auto">
          <a:xfrm>
            <a:off x="4000496" y="5548330"/>
            <a:ext cx="381000" cy="306388"/>
            <a:chOff x="2475690" y="3657600"/>
            <a:chExt cx="381742" cy="306746"/>
          </a:xfrm>
        </p:grpSpPr>
        <p:sp>
          <p:nvSpPr>
            <p:cNvPr id="13330"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31"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grpSp>
        <p:nvGrpSpPr>
          <p:cNvPr id="9" name="Group 89"/>
          <p:cNvGrpSpPr>
            <a:grpSpLocks/>
          </p:cNvGrpSpPr>
          <p:nvPr/>
        </p:nvGrpSpPr>
        <p:grpSpPr bwMode="auto">
          <a:xfrm>
            <a:off x="2514600" y="3733800"/>
            <a:ext cx="381000" cy="306388"/>
            <a:chOff x="2475690" y="3657600"/>
            <a:chExt cx="381742" cy="306746"/>
          </a:xfrm>
        </p:grpSpPr>
        <p:sp>
          <p:nvSpPr>
            <p:cNvPr id="13328"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29"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sp>
        <p:nvSpPr>
          <p:cNvPr id="13326" name="Text Box 181"/>
          <p:cNvSpPr txBox="1">
            <a:spLocks noChangeArrowheads="1"/>
          </p:cNvSpPr>
          <p:nvPr/>
        </p:nvSpPr>
        <p:spPr bwMode="auto">
          <a:xfrm>
            <a:off x="4191000" y="2800350"/>
            <a:ext cx="685800" cy="304800"/>
          </a:xfrm>
          <a:prstGeom prst="rect">
            <a:avLst/>
          </a:prstGeom>
          <a:solidFill>
            <a:srgbClr val="FFFFFF"/>
          </a:solidFill>
          <a:ln w="9525">
            <a:solidFill>
              <a:srgbClr val="FFFFFF"/>
            </a:solidFill>
            <a:miter lim="800000"/>
            <a:headEnd/>
            <a:tailEnd/>
          </a:ln>
        </p:spPr>
        <p:txBody>
          <a:bodyPr/>
          <a:lstStyle/>
          <a:p>
            <a:r>
              <a:rPr lang="en-US" altLang="en-US" sz="1200" b="1">
                <a:solidFill>
                  <a:srgbClr val="000000"/>
                </a:solidFill>
                <a:ea typeface="Times New Roman" pitchFamily="18" charset="0"/>
                <a:cs typeface="Arial" pitchFamily="34" charset="0"/>
              </a:rPr>
              <a:t>Self (I)</a:t>
            </a:r>
            <a:endParaRPr lang="en-US" altLang="en-US" sz="2800" b="1">
              <a:solidFill>
                <a:srgbClr val="000000"/>
              </a:solidFill>
              <a:ea typeface="Times New Roman" pitchFamily="18" charset="0"/>
              <a:cs typeface="Arial" pitchFamily="34" charset="0"/>
            </a:endParaRPr>
          </a:p>
        </p:txBody>
      </p:sp>
      <p:sp>
        <p:nvSpPr>
          <p:cNvPr id="13327" name="Text Box 120"/>
          <p:cNvSpPr txBox="1">
            <a:spLocks noChangeArrowheads="1"/>
          </p:cNvSpPr>
          <p:nvPr/>
        </p:nvSpPr>
        <p:spPr bwMode="auto">
          <a:xfrm rot="-5400000">
            <a:off x="7658100" y="3014654"/>
            <a:ext cx="2209800" cy="609600"/>
          </a:xfrm>
          <a:prstGeom prst="rect">
            <a:avLst/>
          </a:prstGeom>
          <a:noFill/>
          <a:ln w="9525">
            <a:noFill/>
            <a:miter lim="800000"/>
            <a:headEnd/>
            <a:tailEnd/>
          </a:ln>
        </p:spPr>
        <p:txBody>
          <a:bodyPr/>
          <a:lstStyle/>
          <a:p>
            <a:pPr algn="ctr"/>
            <a:r>
              <a:rPr lang="en-US" altLang="en-US" sz="1400" b="1" dirty="0">
                <a:solidFill>
                  <a:srgbClr val="FF0000"/>
                </a:solidFill>
                <a:ea typeface="Times New Roman" pitchFamily="18" charset="0"/>
                <a:cs typeface="Arial" pitchFamily="34" charset="0"/>
              </a:rPr>
              <a:t>Development </a:t>
            </a:r>
            <a:r>
              <a:rPr lang="en-US" altLang="en-US" sz="1600" b="1" dirty="0" err="1">
                <a:solidFill>
                  <a:srgbClr val="FF0000"/>
                </a:solidFill>
                <a:latin typeface="Kruti Dev 010" pitchFamily="2" charset="0"/>
                <a:ea typeface="Times New Roman" pitchFamily="18" charset="0"/>
                <a:cs typeface="Arial" pitchFamily="34" charset="0"/>
              </a:rPr>
              <a:t>fodkl</a:t>
            </a:r>
            <a:endParaRPr lang="en-US" altLang="en-US" sz="1400" dirty="0">
              <a:solidFill>
                <a:srgbClr val="FF0000"/>
              </a:solidFill>
              <a:ea typeface="Times New Roman" pitchFamily="18" charset="0"/>
              <a:cs typeface="Arial" pitchFamily="34" charset="0"/>
            </a:endParaRPr>
          </a:p>
          <a:p>
            <a:pPr algn="ctr"/>
            <a:r>
              <a:rPr lang="en-US" altLang="en-US" sz="1400" b="1" dirty="0">
                <a:solidFill>
                  <a:srgbClr val="FF0000"/>
                </a:solidFill>
                <a:ea typeface="Times New Roman" pitchFamily="18" charset="0"/>
                <a:cs typeface="Arial" pitchFamily="34" charset="0"/>
              </a:rPr>
              <a:t>Not Cyclic</a:t>
            </a:r>
            <a:endParaRPr lang="en-US" altLang="en-US" sz="1600" b="1" dirty="0">
              <a:solidFill>
                <a:srgbClr val="FF0000"/>
              </a:solidFill>
              <a:latin typeface="Kruti Dev 010" pitchFamily="2" charset="0"/>
              <a:ea typeface="Times New Roman" pitchFamily="18" charset="0"/>
              <a:cs typeface="Arial" pitchFamily="34" charset="0"/>
            </a:endParaRPr>
          </a:p>
        </p:txBody>
      </p:sp>
      <p:sp>
        <p:nvSpPr>
          <p:cNvPr id="88" name="Title 1"/>
          <p:cNvSpPr txBox="1">
            <a:spLocks/>
          </p:cNvSpPr>
          <p:nvPr/>
        </p:nvSpPr>
        <p:spPr>
          <a:xfrm>
            <a:off x="1371600" y="0"/>
            <a:ext cx="7772400" cy="50004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Existence (CO4)</a:t>
            </a:r>
            <a:endParaRPr lang="en-US" sz="3200" b="1" dirty="0">
              <a:latin typeface="Arial" pitchFamily="34" charset="0"/>
              <a:cs typeface="Arial" pitchFamily="34" charset="0"/>
            </a:endParaRPr>
          </a:p>
        </p:txBody>
      </p:sp>
      <p:pic>
        <p:nvPicPr>
          <p:cNvPr id="89" name="Picture 2" descr="E:\NIET\Project\xLogo11.png.pagespeed.ic.pydHLuCQEZ.png"/>
          <p:cNvPicPr>
            <a:picLocks noChangeAspect="1" noChangeArrowheads="1"/>
          </p:cNvPicPr>
          <p:nvPr/>
        </p:nvPicPr>
        <p:blipFill>
          <a:blip r:embed="rId2"/>
          <a:srcRect/>
          <a:stretch>
            <a:fillRect/>
          </a:stretch>
        </p:blipFill>
        <p:spPr bwMode="auto">
          <a:xfrm>
            <a:off x="0" y="0"/>
            <a:ext cx="1447800" cy="500042"/>
          </a:xfrm>
          <a:prstGeom prst="rect">
            <a:avLst/>
          </a:prstGeom>
          <a:noFill/>
        </p:spPr>
      </p:pic>
      <p:sp>
        <p:nvSpPr>
          <p:cNvPr id="90" name="Date Placeholder 89"/>
          <p:cNvSpPr>
            <a:spLocks noGrp="1"/>
          </p:cNvSpPr>
          <p:nvPr>
            <p:ph type="dt" sz="half" idx="10"/>
          </p:nvPr>
        </p:nvSpPr>
        <p:spPr/>
        <p:txBody>
          <a:bodyPr/>
          <a:lstStyle/>
          <a:p>
            <a:fld id="{F682E023-7DA5-44CF-8CB0-0498B748FBD8}" type="datetime1">
              <a:rPr lang="en-US" smtClean="0"/>
              <a:pPr/>
              <a:t>06/25/21</a:t>
            </a:fld>
            <a:endParaRPr lang="en-US"/>
          </a:p>
        </p:txBody>
      </p:sp>
      <p:sp>
        <p:nvSpPr>
          <p:cNvPr id="91" name="Slide Number Placeholder 90"/>
          <p:cNvSpPr>
            <a:spLocks noGrp="1"/>
          </p:cNvSpPr>
          <p:nvPr>
            <p:ph type="sldNum" sz="quarter" idx="12"/>
          </p:nvPr>
        </p:nvSpPr>
        <p:spPr/>
        <p:txBody>
          <a:bodyPr/>
          <a:lstStyle/>
          <a:p>
            <a:fld id="{B6F15528-21DE-4FAA-801E-634DDDAF4B2B}" type="slidenum">
              <a:rPr lang="en-US" smtClean="0"/>
              <a:pPr/>
              <a:t>20</a:t>
            </a:fld>
            <a:endParaRPr lang="en-US"/>
          </a:p>
        </p:txBody>
      </p:sp>
      <p:sp>
        <p:nvSpPr>
          <p:cNvPr id="92" name="Footer Placeholder 91"/>
          <p:cNvSpPr>
            <a:spLocks noGrp="1"/>
          </p:cNvSpPr>
          <p:nvPr>
            <p:ph type="ftr" sz="quarter" idx="11"/>
          </p:nvPr>
        </p:nvSpPr>
        <p:spPr>
          <a:xfrm>
            <a:off x="2643174" y="6356350"/>
            <a:ext cx="5286412" cy="365125"/>
          </a:xfrm>
        </p:spPr>
        <p:txBody>
          <a:bodyPr/>
          <a:lstStyle/>
          <a:p>
            <a:r>
              <a:rPr lang="fi-FI" smtClean="0"/>
              <a:t>SHYAM  LAL SHARMA             KOE069 UHV-2               Unit -4</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85413"/>
            <a:ext cx="8915400" cy="5539187"/>
          </a:xfrm>
        </p:spPr>
        <p:txBody>
          <a:bodyPr>
            <a:normAutofit/>
          </a:bodyPr>
          <a:lstStyle/>
          <a:p>
            <a:pPr marL="342900" lvl="0" indent="-342900" algn="just">
              <a:spcAft>
                <a:spcPts val="0"/>
              </a:spcAft>
              <a:buFont typeface="+mj-lt"/>
              <a:buAutoNum type="arabicPeriod"/>
            </a:pPr>
            <a:r>
              <a:rPr lang="en-US" sz="2200" u="sng" dirty="0">
                <a:solidFill>
                  <a:srgbClr val="000000"/>
                </a:solidFill>
                <a:effectLst/>
                <a:ea typeface="Helvetica Neue"/>
                <a:cs typeface="Helvetica Neue"/>
              </a:rPr>
              <a:t>_________ </a:t>
            </a:r>
            <a:r>
              <a:rPr lang="en-US" sz="2200" dirty="0">
                <a:solidFill>
                  <a:srgbClr val="000000"/>
                </a:solidFill>
                <a:effectLst/>
                <a:ea typeface="Times New Roman" panose="02020603050405020304" pitchFamily="18" charset="0"/>
                <a:cs typeface="Helvetica Neue"/>
              </a:rPr>
              <a:t>means our ability to do or perform.</a:t>
            </a:r>
            <a:r>
              <a:rPr lang="en-US" sz="2200" i="1" dirty="0">
                <a:solidFill>
                  <a:srgbClr val="000000"/>
                </a:solidFill>
                <a:effectLst/>
                <a:ea typeface="Times New Roman" panose="02020603050405020304" pitchFamily="18" charset="0"/>
                <a:cs typeface="Helvetica Neue"/>
              </a:rPr>
              <a:t> </a:t>
            </a:r>
            <a:endParaRPr lang="en-IN" sz="2200" dirty="0">
              <a:solidFill>
                <a:srgbClr val="000000"/>
              </a:solidFill>
              <a:effectLst/>
              <a:ea typeface="Helvetica Neue"/>
              <a:cs typeface="Helvetica Neue"/>
            </a:endParaRPr>
          </a:p>
          <a:p>
            <a:pPr marL="400050" lvl="1" indent="0">
              <a:buNone/>
            </a:pPr>
            <a:r>
              <a:rPr lang="en-US" sz="2200" b="1" dirty="0">
                <a:effectLst/>
                <a:ea typeface="Arial Unicode MS"/>
              </a:rPr>
              <a:t>Answer- </a:t>
            </a:r>
            <a:r>
              <a:rPr lang="en-US" sz="2200" b="1" dirty="0">
                <a:solidFill>
                  <a:srgbClr val="000000"/>
                </a:solidFill>
                <a:effectLst/>
                <a:ea typeface="Times New Roman" panose="02020603050405020304" pitchFamily="18" charset="0"/>
              </a:rPr>
              <a:t>Competence</a:t>
            </a:r>
            <a:endParaRPr lang="en-US" sz="2200" b="1" dirty="0">
              <a:effectLst/>
              <a:ea typeface="Calibri" panose="020F0502020204030204" pitchFamily="34" charset="0"/>
            </a:endParaRPr>
          </a:p>
          <a:p>
            <a:pPr>
              <a:buFont typeface="+mj-lt"/>
              <a:buAutoNum type="arabicPeriod" startAt="2"/>
            </a:pPr>
            <a:r>
              <a:rPr lang="en-US" sz="2200" dirty="0">
                <a:solidFill>
                  <a:srgbClr val="000000"/>
                </a:solidFill>
                <a:effectLst/>
                <a:ea typeface="Arial Unicode MS"/>
              </a:rPr>
              <a:t>Happiness and Prosperity are the two basic human desires.</a:t>
            </a:r>
            <a:r>
              <a:rPr lang="en-US" sz="2200" dirty="0">
                <a:solidFill>
                  <a:srgbClr val="3A3A3A"/>
                </a:solidFill>
                <a:effectLst/>
                <a:ea typeface="Arial Unicode MS"/>
              </a:rPr>
              <a:t/>
            </a:r>
            <a:br>
              <a:rPr lang="en-US" sz="2200" dirty="0">
                <a:solidFill>
                  <a:srgbClr val="3A3A3A"/>
                </a:solidFill>
                <a:effectLst/>
                <a:ea typeface="Arial Unicode MS"/>
              </a:rPr>
            </a:br>
            <a:r>
              <a:rPr lang="en-US" sz="2200" b="1" dirty="0">
                <a:solidFill>
                  <a:srgbClr val="3A3A3A"/>
                </a:solidFill>
                <a:effectLst/>
                <a:ea typeface="Arial Unicode MS"/>
              </a:rPr>
              <a:t>a) True</a:t>
            </a:r>
            <a:r>
              <a:rPr lang="en-US" sz="2200" dirty="0">
                <a:solidFill>
                  <a:srgbClr val="3A3A3A"/>
                </a:solidFill>
                <a:effectLst/>
                <a:ea typeface="Arial Unicode MS"/>
              </a:rPr>
              <a:t/>
            </a:r>
            <a:br>
              <a:rPr lang="en-US" sz="2200" dirty="0">
                <a:solidFill>
                  <a:srgbClr val="3A3A3A"/>
                </a:solidFill>
                <a:effectLst/>
                <a:ea typeface="Arial Unicode MS"/>
              </a:rPr>
            </a:br>
            <a:r>
              <a:rPr lang="en-US" sz="2200" dirty="0">
                <a:solidFill>
                  <a:srgbClr val="3A3A3A"/>
                </a:solidFill>
                <a:effectLst/>
                <a:ea typeface="Arial Unicode MS"/>
              </a:rPr>
              <a:t>b) False</a:t>
            </a:r>
            <a:endParaRPr lang="en-IN" sz="2200" dirty="0">
              <a:solidFill>
                <a:srgbClr val="000000"/>
              </a:solidFill>
              <a:effectLst/>
              <a:ea typeface="Helvetica Neue"/>
              <a:cs typeface="Helvetica Neue"/>
            </a:endParaRPr>
          </a:p>
          <a:p>
            <a:pPr fontAlgn="base">
              <a:spcAft>
                <a:spcPts val="0"/>
              </a:spcAft>
              <a:buFont typeface="+mj-lt"/>
              <a:buAutoNum type="arabicPeriod" startAt="3"/>
            </a:pPr>
            <a:r>
              <a:rPr lang="en-IN" sz="2200" dirty="0">
                <a:solidFill>
                  <a:srgbClr val="000000"/>
                </a:solidFill>
                <a:effectLst/>
                <a:ea typeface="Times New Roman" panose="02020603050405020304" pitchFamily="18" charset="0"/>
              </a:rPr>
              <a:t>The needs of the self are variable with time or place or people.</a:t>
            </a:r>
            <a:endParaRPr lang="en-IN" sz="2200" dirty="0">
              <a:effectLst/>
              <a:ea typeface="Times New Roman" panose="02020603050405020304" pitchFamily="18" charset="0"/>
            </a:endParaRPr>
          </a:p>
          <a:p>
            <a:pPr marL="400050" lvl="1" indent="0">
              <a:buNone/>
            </a:pPr>
            <a:r>
              <a:rPr lang="en-US" sz="2200" dirty="0">
                <a:solidFill>
                  <a:srgbClr val="3A3A3A"/>
                </a:solidFill>
                <a:effectLst/>
                <a:ea typeface="Arial Unicode MS"/>
              </a:rPr>
              <a:t>a) True</a:t>
            </a:r>
            <a:br>
              <a:rPr lang="en-US" sz="2200" dirty="0">
                <a:solidFill>
                  <a:srgbClr val="3A3A3A"/>
                </a:solidFill>
                <a:effectLst/>
                <a:ea typeface="Arial Unicode MS"/>
              </a:rPr>
            </a:br>
            <a:r>
              <a:rPr lang="en-US" sz="2200" b="1" dirty="0">
                <a:solidFill>
                  <a:srgbClr val="3A3A3A"/>
                </a:solidFill>
                <a:effectLst/>
                <a:ea typeface="Arial Unicode MS"/>
              </a:rPr>
              <a:t>b) False</a:t>
            </a:r>
            <a:endParaRPr lang="en-IN" sz="2200" b="1" dirty="0">
              <a:solidFill>
                <a:srgbClr val="000000"/>
              </a:solidFill>
              <a:effectLst/>
              <a:ea typeface="Helvetica Neue"/>
              <a:cs typeface="Helvetica Neue"/>
            </a:endParaRPr>
          </a:p>
          <a:p>
            <a:pPr marL="457200" indent="-457200" algn="just">
              <a:buFont typeface="+mj-lt"/>
              <a:buAutoNum type="arabicPeriod" startAt="4"/>
              <a:defRPr/>
            </a:pPr>
            <a:r>
              <a:rPr lang="en-IN" sz="2200" dirty="0">
                <a:cs typeface="Arial" charset="0"/>
              </a:rPr>
              <a:t>_________ Assuming without knowing. </a:t>
            </a:r>
          </a:p>
          <a:p>
            <a:pPr marL="400050" lvl="1" indent="0" algn="just">
              <a:buNone/>
              <a:defRPr/>
            </a:pPr>
            <a:r>
              <a:rPr lang="en-US" sz="2200" b="1" dirty="0">
                <a:effectLst/>
                <a:ea typeface="Arial Unicode MS"/>
              </a:rPr>
              <a:t>Answer- </a:t>
            </a:r>
            <a:r>
              <a:rPr lang="en-IN" sz="2200" b="1" dirty="0">
                <a:cs typeface="Arial" charset="0"/>
              </a:rPr>
              <a:t>Preconditioning</a:t>
            </a:r>
            <a:endParaRPr lang="en-IN" sz="2200" dirty="0">
              <a:cs typeface="Arial" charset="0"/>
            </a:endParaRPr>
          </a:p>
          <a:p>
            <a:pPr marL="457200" indent="-457200" algn="just">
              <a:buFont typeface="+mj-lt"/>
              <a:buAutoNum type="arabicPeriod" startAt="5"/>
              <a:defRPr/>
            </a:pPr>
            <a:r>
              <a:rPr lang="en-IN" sz="2200" dirty="0">
                <a:cs typeface="Arial" charset="0"/>
              </a:rPr>
              <a:t>________ taste of sound, touch, sight, taste, smell</a:t>
            </a:r>
            <a:r>
              <a:rPr lang="en-IN" sz="2200" dirty="0">
                <a:solidFill>
                  <a:schemeClr val="bg1"/>
                </a:solidFill>
                <a:cs typeface="Arial" charset="0"/>
              </a:rPr>
              <a:t>,</a:t>
            </a:r>
            <a:endParaRPr lang="en-US" sz="2200" dirty="0">
              <a:solidFill>
                <a:schemeClr val="bg1"/>
              </a:solidFill>
              <a:cs typeface="Arial" charset="0"/>
            </a:endParaRPr>
          </a:p>
          <a:p>
            <a:pPr marL="400050" lvl="1" indent="0" algn="just">
              <a:buNone/>
              <a:defRPr/>
            </a:pPr>
            <a:r>
              <a:rPr lang="en-US" sz="2200" b="1" dirty="0">
                <a:effectLst/>
                <a:ea typeface="Arial Unicode MS"/>
              </a:rPr>
              <a:t>Answer- </a:t>
            </a:r>
            <a:r>
              <a:rPr lang="en-IN" sz="2200" b="1" dirty="0">
                <a:cs typeface="Arial" charset="0"/>
              </a:rPr>
              <a:t>Sensation</a:t>
            </a:r>
            <a:endParaRPr lang="en-IN" sz="2200" dirty="0">
              <a:cs typeface="Arial" charset="0"/>
            </a:endParaRPr>
          </a:p>
          <a:p>
            <a:pPr marL="0" indent="0" algn="just">
              <a:buNone/>
              <a:defRPr/>
            </a:pPr>
            <a:endParaRPr lang="en-IN" sz="2200" dirty="0">
              <a:solidFill>
                <a:schemeClr val="bg1"/>
              </a:solidFill>
              <a:cs typeface="Arial" charset="0"/>
            </a:endParaRPr>
          </a:p>
        </p:txBody>
      </p:sp>
      <p:sp>
        <p:nvSpPr>
          <p:cNvPr id="4" name="Date Placeholder 3"/>
          <p:cNvSpPr>
            <a:spLocks noGrp="1"/>
          </p:cNvSpPr>
          <p:nvPr>
            <p:ph type="dt" sz="half" idx="10"/>
          </p:nvPr>
        </p:nvSpPr>
        <p:spPr/>
        <p:txBody>
          <a:bodyPr/>
          <a:lstStyle/>
          <a:p>
            <a:fld id="{80A97F94-9E32-4ACA-9892-4E88A7DCA09F}" type="datetime1">
              <a:rPr lang="en-US" smtClean="0"/>
              <a:pPr/>
              <a:t>06/25/21</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IN"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dirty="0"/>
              <a:t>Daily Quiz</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Tree>
    <p:extLst>
      <p:ext uri="{BB962C8B-B14F-4D97-AF65-F5344CB8AC3E}">
        <p14:creationId xmlns:p14="http://schemas.microsoft.com/office/powerpoint/2010/main" xmlns="" val="2384200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974723"/>
            <a:ext cx="8786842" cy="4597417"/>
          </a:xfrm>
        </p:spPr>
        <p:txBody>
          <a:bodyPr>
            <a:noAutofit/>
          </a:bodyPr>
          <a:lstStyle/>
          <a:p>
            <a:pPr marL="457200" indent="-457200">
              <a:lnSpc>
                <a:spcPct val="150000"/>
              </a:lnSpc>
              <a:buFont typeface="Wingdings" pitchFamily="2" charset="2"/>
              <a:buChar char="§"/>
              <a:defRPr/>
            </a:pPr>
            <a:r>
              <a:rPr lang="en-IN" sz="2200" dirty="0">
                <a:latin typeface="Arial" pitchFamily="34" charset="0"/>
                <a:cs typeface="Arial" pitchFamily="34" charset="0"/>
              </a:rPr>
              <a:t>Co-existence is </a:t>
            </a:r>
            <a:r>
              <a:rPr lang="en-IN" sz="2200" b="1" dirty="0">
                <a:latin typeface="Arial" pitchFamily="34" charset="0"/>
                <a:cs typeface="Arial" pitchFamily="34" charset="0"/>
              </a:rPr>
              <a:t>ever expressing </a:t>
            </a:r>
            <a:r>
              <a:rPr lang="en-IN" sz="2200" dirty="0">
                <a:latin typeface="Arial" pitchFamily="34" charset="0"/>
                <a:cs typeface="Arial" pitchFamily="34" charset="0"/>
              </a:rPr>
              <a:t>In the form of 4 orders -Physical Order, Bio Order, Animal Order and Human Order.</a:t>
            </a:r>
          </a:p>
          <a:p>
            <a:pPr>
              <a:lnSpc>
                <a:spcPct val="150000"/>
              </a:lnSpc>
              <a:buFont typeface="Wingdings" pitchFamily="2" charset="2"/>
              <a:buChar char="§"/>
            </a:pPr>
            <a:r>
              <a:rPr lang="en-IN" altLang="en-US" sz="2200" dirty="0">
                <a:latin typeface="Arial" pitchFamily="34" charset="0"/>
                <a:cs typeface="Arial" pitchFamily="34" charset="0"/>
              </a:rPr>
              <a:t> Co-existence is</a:t>
            </a:r>
            <a:r>
              <a:rPr lang="en-IN" altLang="en-US" sz="2200" b="1" dirty="0">
                <a:latin typeface="Arial" pitchFamily="34" charset="0"/>
                <a:cs typeface="Arial" pitchFamily="34" charset="0"/>
              </a:rPr>
              <a:t> ever effective	</a:t>
            </a:r>
            <a:endParaRPr lang="en-IN" altLang="en-US" sz="2200" dirty="0">
              <a:latin typeface="Arial" pitchFamily="34" charset="0"/>
              <a:cs typeface="Arial" pitchFamily="34" charset="0"/>
            </a:endParaRPr>
          </a:p>
          <a:p>
            <a:pPr>
              <a:lnSpc>
                <a:spcPct val="150000"/>
              </a:lnSpc>
              <a:buFont typeface="Wingdings" pitchFamily="2" charset="2"/>
              <a:buChar char="§"/>
            </a:pPr>
            <a:r>
              <a:rPr lang="en-IN" altLang="en-US" sz="2200" dirty="0">
                <a:latin typeface="Arial" pitchFamily="34" charset="0"/>
                <a:cs typeface="Arial" pitchFamily="34" charset="0"/>
              </a:rPr>
              <a:t> Co-existence is ever-present</a:t>
            </a:r>
            <a:endParaRPr lang="en-IN" sz="2200" dirty="0">
              <a:latin typeface="Arial" pitchFamily="34" charset="0"/>
              <a:cs typeface="Arial" pitchFamily="34" charset="0"/>
            </a:endParaRPr>
          </a:p>
          <a:p>
            <a:pPr marL="457200" indent="-457200">
              <a:lnSpc>
                <a:spcPct val="150000"/>
              </a:lnSpc>
              <a:buFont typeface="Wingdings" pitchFamily="2" charset="2"/>
              <a:buChar char="§"/>
              <a:defRPr/>
            </a:pPr>
            <a:endParaRPr lang="en-IN" sz="2200" dirty="0">
              <a:latin typeface="Arial" pitchFamily="34" charset="0"/>
              <a:cs typeface="Arial" pitchFamily="34" charset="0"/>
            </a:endParaRPr>
          </a:p>
          <a:p>
            <a:pPr algn="just">
              <a:lnSpc>
                <a:spcPct val="150000"/>
              </a:lnSpc>
              <a:spcAft>
                <a:spcPts val="1200"/>
              </a:spcAft>
              <a:buFont typeface="Wingdings" pitchFamily="2" charset="2"/>
              <a:buChar char="§"/>
              <a:defRPr/>
            </a:pPr>
            <a:endParaRPr lang="en-IN" altLang="en-US" sz="2200" dirty="0">
              <a:latin typeface="Arial" pitchFamily="34" charset="0"/>
              <a:cs typeface="Arial" pitchFamily="34" charset="0"/>
            </a:endParaRPr>
          </a:p>
          <a:p>
            <a:pPr algn="just">
              <a:lnSpc>
                <a:spcPct val="150000"/>
              </a:lnSpc>
              <a:spcAft>
                <a:spcPts val="1200"/>
              </a:spcAft>
              <a:buFont typeface="Wingdings" pitchFamily="2" charset="2"/>
              <a:buChar char="§"/>
              <a:defRPr/>
            </a:pPr>
            <a:endParaRPr lang="en-IN" altLang="en-US" sz="2200" dirty="0">
              <a:latin typeface="Arial" pitchFamily="34" charset="0"/>
              <a:cs typeface="Arial" pitchFamily="34" charset="0"/>
            </a:endParaRPr>
          </a:p>
          <a:p>
            <a:pPr algn="just">
              <a:lnSpc>
                <a:spcPct val="150000"/>
              </a:lnSpc>
              <a:spcAft>
                <a:spcPts val="1200"/>
              </a:spcAft>
              <a:buFont typeface="Wingdings" pitchFamily="2" charset="2"/>
              <a:buChar char="§"/>
              <a:defRPr/>
            </a:pPr>
            <a:endParaRPr lang="en-IN" sz="2200" dirty="0">
              <a:latin typeface="Arial" pitchFamily="34" charset="0"/>
              <a:cs typeface="Arial" pitchFamily="34" charset="0"/>
            </a:endParaRPr>
          </a:p>
          <a:p>
            <a:pPr algn="just">
              <a:lnSpc>
                <a:spcPct val="150000"/>
              </a:lnSpc>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B21D17A3-5252-456E-A6C2-93D6E26DC6FD}"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2</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16DED9A-BA3F-45EB-823E-50CB3682203C}"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defRPr/>
            </a:pPr>
            <a:r>
              <a:rPr lang="en-IN" sz="3200" dirty="0">
                <a:latin typeface="+mn-lt"/>
              </a:rPr>
              <a:t>Prerequisite</a:t>
            </a:r>
            <a:r>
              <a:rPr lang="en-IN" altLang="en-US" sz="3200" dirty="0">
                <a:latin typeface="Arial" pitchFamily="34" charset="0"/>
                <a:cs typeface="Arial" pitchFamily="34" charset="0"/>
              </a:rPr>
              <a:t> to Topic 3</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0" name="Table 9">
            <a:extLst>
              <a:ext uri="{FF2B5EF4-FFF2-40B4-BE49-F238E27FC236}">
                <a16:creationId xmlns:a16="http://schemas.microsoft.com/office/drawing/2014/main" xmlns="" id="{48C25691-C5B1-4CDF-A678-0157B364F6E4}"/>
              </a:ext>
            </a:extLst>
          </p:cNvPr>
          <p:cNvGraphicFramePr>
            <a:graphicFrameLocks noGrp="1"/>
          </p:cNvGraphicFramePr>
          <p:nvPr>
            <p:extLst>
              <p:ext uri="{D42A27DB-BD31-4B8C-83A1-F6EECF244321}">
                <p14:modId xmlns:p14="http://schemas.microsoft.com/office/powerpoint/2010/main" xmlns="" val="1373291334"/>
              </p:ext>
            </p:extLst>
          </p:nvPr>
        </p:nvGraphicFramePr>
        <p:xfrm>
          <a:off x="482935" y="1052736"/>
          <a:ext cx="8429682" cy="2895600"/>
        </p:xfrm>
        <a:graphic>
          <a:graphicData uri="http://schemas.openxmlformats.org/drawingml/2006/table">
            <a:tbl>
              <a:tblPr firstRow="1" bandRow="1">
                <a:tableStyleId>{5C22544A-7EE6-4342-B048-85BDC9FD1C3A}</a:tableStyleId>
              </a:tblPr>
              <a:tblGrid>
                <a:gridCol w="8429682">
                  <a:extLst>
                    <a:ext uri="{9D8B030D-6E8A-4147-A177-3AD203B41FA5}">
                      <a16:colId xmlns:a16="http://schemas.microsoft.com/office/drawing/2014/main" xmlns="" val="20000"/>
                    </a:ext>
                  </a:extLst>
                </a:gridCol>
              </a:tblGrid>
              <a:tr h="370840">
                <a:tc>
                  <a:txBody>
                    <a:bodyPr/>
                    <a:lstStyle/>
                    <a:p>
                      <a:pPr algn="ctr"/>
                      <a:r>
                        <a:rPr lang="en-US" sz="2400" dirty="0">
                          <a:latin typeface="Arial" pitchFamily="34" charset="0"/>
                          <a:cs typeface="Arial" pitchFamily="34" charset="0"/>
                        </a:rPr>
                        <a:t>Prerequisites</a:t>
                      </a:r>
                      <a:endParaRPr lang="en-IN" sz="24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just">
                        <a:buFont typeface="Wingdings" pitchFamily="2" charset="2"/>
                        <a:buChar char="§"/>
                      </a:pPr>
                      <a:r>
                        <a:rPr lang="en-US" sz="2200" dirty="0">
                          <a:latin typeface="Arial" pitchFamily="34" charset="0"/>
                          <a:cs typeface="Arial" pitchFamily="34" charset="0"/>
                        </a:rPr>
                        <a:t>Students should have to understand and activate all activities of self.</a:t>
                      </a:r>
                    </a:p>
                    <a:p>
                      <a:pPr algn="just">
                        <a:buFont typeface="Wingdings" pitchFamily="2" charset="2"/>
                        <a:buChar char="§"/>
                      </a:pPr>
                      <a:r>
                        <a:rPr lang="en-US" sz="2200" dirty="0">
                          <a:latin typeface="Arial" pitchFamily="34" charset="0"/>
                          <a:cs typeface="Arial" pitchFamily="34" charset="0"/>
                        </a:rPr>
                        <a:t>Understand clearly what is the goal of human being.</a:t>
                      </a:r>
                    </a:p>
                    <a:p>
                      <a:pPr algn="just">
                        <a:buFont typeface="Wingdings" pitchFamily="2" charset="2"/>
                        <a:buChar char="§"/>
                      </a:pPr>
                      <a:r>
                        <a:rPr lang="en-US" sz="2200" dirty="0">
                          <a:latin typeface="Arial" pitchFamily="34" charset="0"/>
                          <a:cs typeface="Arial" pitchFamily="34" charset="0"/>
                        </a:rPr>
                        <a:t>Students should have to realize existence is ever present </a:t>
                      </a:r>
                      <a:endParaRPr lang="en-IN" sz="2200" b="1" dirty="0">
                        <a:latin typeface="Arial" pitchFamily="34" charset="0"/>
                        <a:cs typeface="Arial" pitchFamily="34" charset="0"/>
                      </a:endParaRPr>
                    </a:p>
                    <a:p>
                      <a:pPr algn="just">
                        <a:buFont typeface="Wingdings" pitchFamily="2" charset="2"/>
                        <a:buChar char="§"/>
                      </a:pPr>
                      <a:r>
                        <a:rPr lang="en-US" sz="2200" dirty="0">
                          <a:latin typeface="Arial" pitchFamily="34" charset="0"/>
                          <a:cs typeface="Arial" pitchFamily="34" charset="0"/>
                        </a:rPr>
                        <a:t>Students should have to understand right understanding &amp;natural acceptance.</a:t>
                      </a:r>
                    </a:p>
                    <a:p>
                      <a:pPr algn="just">
                        <a:buFont typeface="Wingdings" pitchFamily="2" charset="2"/>
                        <a:buChar char="§"/>
                      </a:pPr>
                      <a:r>
                        <a:rPr lang="en-US" sz="2200" dirty="0">
                          <a:latin typeface="Arial" pitchFamily="34" charset="0"/>
                          <a:cs typeface="Arial" pitchFamily="34" charset="0"/>
                        </a:rPr>
                        <a:t>Students should have to follow self exploration and its process.</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2863B92-BF05-44B6-BB46-75AED5D35AA7}"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IN" altLang="en-US" sz="3200" dirty="0">
                <a:latin typeface="Arial" pitchFamily="34" charset="0"/>
                <a:cs typeface="Arial" pitchFamily="34" charset="0"/>
              </a:rPr>
              <a:t>Introduction to Topic 3</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1" name="Table 10"/>
          <p:cNvGraphicFramePr>
            <a:graphicFrameLocks noGrp="1"/>
          </p:cNvGraphicFramePr>
          <p:nvPr/>
        </p:nvGraphicFramePr>
        <p:xfrm>
          <a:off x="465379" y="1038181"/>
          <a:ext cx="8429682" cy="2529840"/>
        </p:xfrm>
        <a:graphic>
          <a:graphicData uri="http://schemas.openxmlformats.org/drawingml/2006/table">
            <a:tbl>
              <a:tblPr firstRow="1" bandRow="1">
                <a:tableStyleId>{5C22544A-7EE6-4342-B048-85BDC9FD1C3A}</a:tableStyleId>
              </a:tblPr>
              <a:tblGrid>
                <a:gridCol w="2306421">
                  <a:extLst>
                    <a:ext uri="{9D8B030D-6E8A-4147-A177-3AD203B41FA5}">
                      <a16:colId xmlns:a16="http://schemas.microsoft.com/office/drawing/2014/main" xmlns="" val="20000"/>
                    </a:ext>
                  </a:extLst>
                </a:gridCol>
                <a:gridCol w="3888432">
                  <a:extLst>
                    <a:ext uri="{9D8B030D-6E8A-4147-A177-3AD203B41FA5}">
                      <a16:colId xmlns:a16="http://schemas.microsoft.com/office/drawing/2014/main" xmlns="" val="20001"/>
                    </a:ext>
                  </a:extLst>
                </a:gridCol>
                <a:gridCol w="2234829">
                  <a:extLst>
                    <a:ext uri="{9D8B030D-6E8A-4147-A177-3AD203B41FA5}">
                      <a16:colId xmlns:a16="http://schemas.microsoft.com/office/drawing/2014/main" xmlns="" val="20002"/>
                    </a:ext>
                  </a:extLst>
                </a:gridCol>
              </a:tblGrid>
              <a:tr h="370840">
                <a:tc>
                  <a:txBody>
                    <a:bodyPr/>
                    <a:lstStyle/>
                    <a:p>
                      <a:r>
                        <a:rPr lang="en-US" sz="2200" dirty="0">
                          <a:solidFill>
                            <a:schemeClr val="tx1"/>
                          </a:solidFill>
                          <a:latin typeface="Arial" pitchFamily="34" charset="0"/>
                          <a:cs typeface="Arial" pitchFamily="34" charset="0"/>
                        </a:rPr>
                        <a:t>Name of Topic</a:t>
                      </a:r>
                      <a:endParaRPr lang="en-IN" sz="2200" dirty="0">
                        <a:solidFill>
                          <a:schemeClr val="tx1"/>
                        </a:solidFill>
                        <a:latin typeface="Arial" pitchFamily="34" charset="0"/>
                        <a:cs typeface="Arial" pitchFamily="34" charset="0"/>
                      </a:endParaRPr>
                    </a:p>
                  </a:txBody>
                  <a:tcPr/>
                </a:tc>
                <a:tc>
                  <a:txBody>
                    <a:bodyPr/>
                    <a:lstStyle/>
                    <a:p>
                      <a:r>
                        <a:rPr lang="en-US" sz="2200" dirty="0">
                          <a:solidFill>
                            <a:schemeClr val="tx1"/>
                          </a:solidFill>
                          <a:latin typeface="Arial" pitchFamily="34" charset="0"/>
                          <a:cs typeface="Arial" pitchFamily="34" charset="0"/>
                        </a:rPr>
                        <a:t>Objective</a:t>
                      </a:r>
                      <a:r>
                        <a:rPr lang="en-US" sz="2200" baseline="0" dirty="0">
                          <a:solidFill>
                            <a:schemeClr val="tx1"/>
                          </a:solidFill>
                          <a:latin typeface="Arial" pitchFamily="34" charset="0"/>
                          <a:cs typeface="Arial" pitchFamily="34" charset="0"/>
                        </a:rPr>
                        <a:t> of Topic</a:t>
                      </a:r>
                      <a:endParaRPr lang="en-IN" sz="2200" dirty="0">
                        <a:solidFill>
                          <a:schemeClr val="tx1"/>
                        </a:solidFill>
                        <a:latin typeface="Arial" pitchFamily="34" charset="0"/>
                        <a:cs typeface="Arial" pitchFamily="34" charset="0"/>
                      </a:endParaRPr>
                    </a:p>
                  </a:txBody>
                  <a:tcPr/>
                </a:tc>
                <a:tc>
                  <a:txBody>
                    <a:bodyPr/>
                    <a:lstStyle/>
                    <a:p>
                      <a:r>
                        <a:rPr lang="en-US" sz="2200" dirty="0">
                          <a:solidFill>
                            <a:schemeClr val="tx1"/>
                          </a:solidFill>
                          <a:latin typeface="Arial" pitchFamily="34" charset="0"/>
                          <a:cs typeface="Arial" pitchFamily="34" charset="0"/>
                        </a:rPr>
                        <a:t>Mapping </a:t>
                      </a:r>
                      <a:r>
                        <a:rPr lang="en-US" sz="2200" baseline="0" dirty="0">
                          <a:solidFill>
                            <a:schemeClr val="tx1"/>
                          </a:solidFill>
                          <a:latin typeface="Arial" pitchFamily="34" charset="0"/>
                          <a:cs typeface="Arial" pitchFamily="34" charset="0"/>
                        </a:rPr>
                        <a:t> with CO</a:t>
                      </a:r>
                      <a:endParaRPr lang="en-IN" sz="2200" dirty="0">
                        <a:solidFill>
                          <a:schemeClr val="tx1"/>
                        </a:solidFill>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l"/>
                      <a:r>
                        <a:rPr lang="en-US" altLang="en-US" sz="2200" b="0" dirty="0">
                          <a:solidFill>
                            <a:schemeClr val="tx1"/>
                          </a:solidFill>
                          <a:latin typeface="Arial" pitchFamily="34" charset="0"/>
                          <a:cs typeface="Arial" pitchFamily="34" charset="0"/>
                        </a:rPr>
                        <a:t>Role of Human Being </a:t>
                      </a:r>
                      <a:br>
                        <a:rPr lang="en-US" altLang="en-US" sz="2200" b="0" dirty="0">
                          <a:solidFill>
                            <a:schemeClr val="tx1"/>
                          </a:solidFill>
                          <a:latin typeface="Arial" pitchFamily="34" charset="0"/>
                          <a:cs typeface="Arial" pitchFamily="34" charset="0"/>
                        </a:rPr>
                      </a:br>
                      <a:r>
                        <a:rPr lang="en-US" altLang="en-US" sz="2200" b="0" dirty="0">
                          <a:solidFill>
                            <a:schemeClr val="tx1"/>
                          </a:solidFill>
                          <a:latin typeface="Arial" pitchFamily="34" charset="0"/>
                          <a:cs typeface="Arial" pitchFamily="34" charset="0"/>
                        </a:rPr>
                        <a:t>in this Ever-expressive Co-existence</a:t>
                      </a:r>
                      <a:endParaRPr lang="en-IN" sz="2200" dirty="0">
                        <a:solidFill>
                          <a:schemeClr val="tx1"/>
                        </a:solidFill>
                        <a:latin typeface="Arial" pitchFamily="34" charset="0"/>
                        <a:cs typeface="Arial" pitchFamily="34" charset="0"/>
                      </a:endParaRPr>
                    </a:p>
                  </a:txBody>
                  <a:tcPr/>
                </a:tc>
                <a:tc>
                  <a:txBody>
                    <a:bodyPr/>
                    <a:lstStyle/>
                    <a:p>
                      <a:pPr algn="just"/>
                      <a:r>
                        <a:rPr lang="en-US" sz="2200" dirty="0">
                          <a:solidFill>
                            <a:schemeClr val="tx1"/>
                          </a:solidFill>
                          <a:latin typeface="Arial" pitchFamily="34" charset="0"/>
                          <a:cs typeface="Arial" pitchFamily="34" charset="0"/>
                        </a:rPr>
                        <a:t>Students</a:t>
                      </a:r>
                      <a:r>
                        <a:rPr lang="en-US" sz="2200" baseline="0" dirty="0">
                          <a:solidFill>
                            <a:schemeClr val="tx1"/>
                          </a:solidFill>
                          <a:latin typeface="Arial" pitchFamily="34" charset="0"/>
                          <a:cs typeface="Arial" pitchFamily="34" charset="0"/>
                        </a:rPr>
                        <a:t> will be able to live right understanding what is my role in this existence and </a:t>
                      </a:r>
                      <a:r>
                        <a:rPr lang="en-GB" altLang="en-US" sz="2200" dirty="0">
                          <a:solidFill>
                            <a:schemeClr val="tx1"/>
                          </a:solidFill>
                          <a:latin typeface="Arial" pitchFamily="34" charset="0"/>
                          <a:cs typeface="Arial" pitchFamily="34" charset="0"/>
                        </a:rPr>
                        <a:t>To ensure the feeling, thought of co-existence </a:t>
                      </a:r>
                      <a:endParaRPr lang="en-IN" sz="2200" dirty="0">
                        <a:solidFill>
                          <a:schemeClr val="tx1"/>
                        </a:solidFill>
                        <a:latin typeface="Arial" pitchFamily="34" charset="0"/>
                        <a:cs typeface="Arial" pitchFamily="34" charset="0"/>
                      </a:endParaRPr>
                    </a:p>
                  </a:txBody>
                  <a:tcPr/>
                </a:tc>
                <a:tc>
                  <a:txBody>
                    <a:bodyPr/>
                    <a:lstStyle/>
                    <a:p>
                      <a:pPr algn="ctr"/>
                      <a:endParaRPr lang="en-US" sz="2200" dirty="0">
                        <a:solidFill>
                          <a:schemeClr val="tx1"/>
                        </a:solidFill>
                        <a:latin typeface="Arial" pitchFamily="34" charset="0"/>
                        <a:cs typeface="Arial" pitchFamily="34" charset="0"/>
                      </a:endParaRPr>
                    </a:p>
                    <a:p>
                      <a:pPr algn="ctr"/>
                      <a:r>
                        <a:rPr lang="en-US" sz="2200" dirty="0">
                          <a:solidFill>
                            <a:schemeClr val="tx1"/>
                          </a:solidFill>
                          <a:latin typeface="Arial" pitchFamily="34" charset="0"/>
                          <a:cs typeface="Arial" pitchFamily="34" charset="0"/>
                        </a:rPr>
                        <a:t>CO4</a:t>
                      </a:r>
                      <a:endParaRPr lang="en-IN" sz="2200" dirty="0">
                        <a:solidFill>
                          <a:schemeClr val="tx1"/>
                        </a:solidFill>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1976736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2"/>
          <p:cNvGrpSpPr>
            <a:grpSpLocks noChangeAspect="1"/>
          </p:cNvGrpSpPr>
          <p:nvPr/>
        </p:nvGrpSpPr>
        <p:grpSpPr bwMode="auto">
          <a:xfrm>
            <a:off x="685800" y="785794"/>
            <a:ext cx="6994525" cy="5214974"/>
            <a:chOff x="540" y="1077"/>
            <a:chExt cx="11016" cy="11319"/>
          </a:xfrm>
        </p:grpSpPr>
        <p:sp>
          <p:nvSpPr>
            <p:cNvPr id="13334" name="AutoShape 194"/>
            <p:cNvSpPr>
              <a:spLocks noChangeAspect="1" noChangeArrowheads="1" noTextEdit="1"/>
            </p:cNvSpPr>
            <p:nvPr/>
          </p:nvSpPr>
          <p:spPr bwMode="auto">
            <a:xfrm>
              <a:off x="540" y="1077"/>
              <a:ext cx="11016" cy="11319"/>
            </a:xfrm>
            <a:prstGeom prst="rect">
              <a:avLst/>
            </a:prstGeom>
            <a:noFill/>
            <a:ln w="9525">
              <a:noFill/>
              <a:miter lim="800000"/>
              <a:headEnd/>
              <a:tailEnd/>
            </a:ln>
          </p:spPr>
          <p:txBody>
            <a:bodyPr/>
            <a:lstStyle/>
            <a:p>
              <a:endParaRPr lang="en-IN"/>
            </a:p>
          </p:txBody>
        </p:sp>
        <p:sp>
          <p:nvSpPr>
            <p:cNvPr id="13335" name="Text Box 193"/>
            <p:cNvSpPr txBox="1">
              <a:spLocks noChangeArrowheads="1"/>
            </p:cNvSpPr>
            <p:nvPr/>
          </p:nvSpPr>
          <p:spPr bwMode="auto">
            <a:xfrm>
              <a:off x="8208" y="8985"/>
              <a:ext cx="2925" cy="697"/>
            </a:xfrm>
            <a:prstGeom prst="rect">
              <a:avLst/>
            </a:prstGeom>
            <a:noFill/>
            <a:ln w="9525">
              <a:noFill/>
              <a:miter lim="800000"/>
              <a:headEnd/>
              <a:tailEnd/>
            </a:ln>
          </p:spPr>
          <p:txBody>
            <a:bodyPr/>
            <a:lstStyle/>
            <a:p>
              <a:pPr algn="ctr"/>
              <a:r>
                <a:rPr lang="en-US" altLang="en-US" sz="1200" b="1" dirty="0">
                  <a:solidFill>
                    <a:srgbClr val="000000"/>
                  </a:solidFill>
                  <a:ea typeface="Times New Roman" pitchFamily="18" charset="0"/>
                  <a:cs typeface="Arial" pitchFamily="34" charset="0"/>
                </a:rPr>
                <a:t>Activity Completeness</a:t>
              </a:r>
              <a:endParaRPr lang="en-US" altLang="en-US" sz="1400" dirty="0">
                <a:solidFill>
                  <a:srgbClr val="000000"/>
                </a:solidFill>
                <a:ea typeface="Times New Roman" pitchFamily="18" charset="0"/>
                <a:cs typeface="Arial" pitchFamily="34" charset="0"/>
              </a:endParaRPr>
            </a:p>
            <a:p>
              <a:pPr algn="ctr"/>
              <a:endParaRPr lang="en-US" altLang="en-US" dirty="0">
                <a:solidFill>
                  <a:srgbClr val="000000"/>
                </a:solidFill>
                <a:ea typeface="Times New Roman" pitchFamily="18" charset="0"/>
                <a:cs typeface="Arial" pitchFamily="34" charset="0"/>
              </a:endParaRPr>
            </a:p>
          </p:txBody>
        </p:sp>
        <p:sp>
          <p:nvSpPr>
            <p:cNvPr id="13336" name="Text Box 192"/>
            <p:cNvSpPr txBox="1">
              <a:spLocks noChangeArrowheads="1"/>
            </p:cNvSpPr>
            <p:nvPr/>
          </p:nvSpPr>
          <p:spPr bwMode="auto">
            <a:xfrm>
              <a:off x="8133" y="6822"/>
              <a:ext cx="540" cy="534"/>
            </a:xfrm>
            <a:prstGeom prst="rect">
              <a:avLst/>
            </a:prstGeom>
            <a:solidFill>
              <a:srgbClr val="FFFFFF"/>
            </a:solidFill>
            <a:ln w="9525">
              <a:solidFill>
                <a:srgbClr val="FFFFFF"/>
              </a:solidFill>
              <a:miter lim="800000"/>
              <a:headEnd/>
              <a:tailEnd/>
            </a:ln>
          </p:spPr>
          <p:txBody>
            <a:bodyPr/>
            <a:lstStyle/>
            <a:p>
              <a:r>
                <a:rPr lang="en-US" altLang="en-US" sz="2000">
                  <a:solidFill>
                    <a:srgbClr val="000000"/>
                  </a:solidFill>
                  <a:ea typeface="Times New Roman" pitchFamily="18" charset="0"/>
                  <a:cs typeface="Arial" pitchFamily="34" charset="0"/>
                </a:rPr>
                <a:t>+</a:t>
              </a:r>
              <a:endParaRPr lang="en-US" altLang="en-US">
                <a:solidFill>
                  <a:srgbClr val="000000"/>
                </a:solidFill>
                <a:ea typeface="Times New Roman" pitchFamily="18" charset="0"/>
                <a:cs typeface="Arial" pitchFamily="34" charset="0"/>
              </a:endParaRPr>
            </a:p>
          </p:txBody>
        </p:sp>
        <p:grpSp>
          <p:nvGrpSpPr>
            <p:cNvPr id="3" name="Group 186"/>
            <p:cNvGrpSpPr>
              <a:grpSpLocks/>
            </p:cNvGrpSpPr>
            <p:nvPr/>
          </p:nvGrpSpPr>
          <p:grpSpPr bwMode="auto">
            <a:xfrm>
              <a:off x="7686" y="2725"/>
              <a:ext cx="3600" cy="1980"/>
              <a:chOff x="7380" y="2697"/>
              <a:chExt cx="3600" cy="1980"/>
            </a:xfrm>
          </p:grpSpPr>
          <p:sp>
            <p:nvSpPr>
              <p:cNvPr id="13395" name="Text Box 191"/>
              <p:cNvSpPr txBox="1">
                <a:spLocks noChangeArrowheads="1"/>
              </p:cNvSpPr>
              <p:nvPr/>
            </p:nvSpPr>
            <p:spPr bwMode="auto">
              <a:xfrm>
                <a:off x="7380" y="2697"/>
                <a:ext cx="180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Unlimited</a:t>
                </a:r>
                <a:endParaRPr lang="en-US" altLang="en-US">
                  <a:solidFill>
                    <a:srgbClr val="000000"/>
                  </a:solidFill>
                  <a:ea typeface="Times New Roman" pitchFamily="18" charset="0"/>
                  <a:cs typeface="Arial" pitchFamily="34" charset="0"/>
                </a:endParaRPr>
              </a:p>
            </p:txBody>
          </p:sp>
          <p:sp>
            <p:nvSpPr>
              <p:cNvPr id="13396" name="Text Box 190"/>
              <p:cNvSpPr txBox="1">
                <a:spLocks noChangeArrowheads="1"/>
              </p:cNvSpPr>
              <p:nvPr/>
            </p:nvSpPr>
            <p:spPr bwMode="auto">
              <a:xfrm>
                <a:off x="7380" y="3415"/>
                <a:ext cx="3600" cy="54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Self-organization is available</a:t>
                </a:r>
                <a:endParaRPr lang="en-US" altLang="en-US">
                  <a:solidFill>
                    <a:srgbClr val="000000"/>
                  </a:solidFill>
                  <a:ea typeface="Times New Roman" pitchFamily="18" charset="0"/>
                  <a:cs typeface="Arial" pitchFamily="34" charset="0"/>
                </a:endParaRPr>
              </a:p>
            </p:txBody>
          </p:sp>
          <p:sp>
            <p:nvSpPr>
              <p:cNvPr id="13397" name="Text Box 189"/>
              <p:cNvSpPr txBox="1">
                <a:spLocks noChangeArrowheads="1"/>
              </p:cNvSpPr>
              <p:nvPr/>
            </p:nvSpPr>
            <p:spPr bwMode="auto">
              <a:xfrm>
                <a:off x="7380" y="3057"/>
                <a:ext cx="1800" cy="360"/>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No activity</a:t>
                </a:r>
                <a:endParaRPr lang="en-US" altLang="en-US">
                  <a:solidFill>
                    <a:srgbClr val="000000"/>
                  </a:solidFill>
                  <a:ea typeface="Times New Roman" pitchFamily="18" charset="0"/>
                  <a:cs typeface="Arial" pitchFamily="34" charset="0"/>
                </a:endParaRPr>
              </a:p>
            </p:txBody>
          </p:sp>
          <p:sp>
            <p:nvSpPr>
              <p:cNvPr id="13398" name="Text Box 188"/>
              <p:cNvSpPr txBox="1">
                <a:spLocks noChangeArrowheads="1"/>
              </p:cNvSpPr>
              <p:nvPr/>
            </p:nvSpPr>
            <p:spPr bwMode="auto">
              <a:xfrm>
                <a:off x="7380" y="3775"/>
                <a:ext cx="2700" cy="54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Energy in equilibrium</a:t>
                </a:r>
                <a:endParaRPr lang="en-US" altLang="en-US">
                  <a:solidFill>
                    <a:srgbClr val="000000"/>
                  </a:solidFill>
                  <a:ea typeface="Times New Roman" pitchFamily="18" charset="0"/>
                  <a:cs typeface="Arial" pitchFamily="34" charset="0"/>
                </a:endParaRPr>
              </a:p>
            </p:txBody>
          </p:sp>
          <p:sp>
            <p:nvSpPr>
              <p:cNvPr id="13399" name="Text Box 187"/>
              <p:cNvSpPr txBox="1">
                <a:spLocks noChangeArrowheads="1"/>
              </p:cNvSpPr>
              <p:nvPr/>
            </p:nvSpPr>
            <p:spPr bwMode="auto">
              <a:xfrm>
                <a:off x="7380" y="4136"/>
                <a:ext cx="1800" cy="541"/>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Transparent</a:t>
                </a:r>
                <a:endParaRPr lang="en-US" altLang="en-US">
                  <a:solidFill>
                    <a:srgbClr val="000000"/>
                  </a:solidFill>
                  <a:ea typeface="Times New Roman" pitchFamily="18" charset="0"/>
                  <a:cs typeface="Arial" pitchFamily="34" charset="0"/>
                </a:endParaRPr>
              </a:p>
            </p:txBody>
          </p:sp>
        </p:grpSp>
        <p:sp>
          <p:nvSpPr>
            <p:cNvPr id="13338" name="Rectangle 185"/>
            <p:cNvSpPr>
              <a:spLocks noChangeArrowheads="1"/>
            </p:cNvSpPr>
            <p:nvPr/>
          </p:nvSpPr>
          <p:spPr bwMode="auto">
            <a:xfrm>
              <a:off x="4614" y="6840"/>
              <a:ext cx="1800" cy="541"/>
            </a:xfrm>
            <a:prstGeom prst="rect">
              <a:avLst/>
            </a:prstGeom>
            <a:solidFill>
              <a:srgbClr val="002060"/>
            </a:solidFill>
            <a:ln w="9525">
              <a:noFill/>
              <a:miter lim="800000"/>
              <a:headEnd/>
              <a:tailEnd/>
            </a:ln>
          </p:spPr>
          <p:txBody>
            <a:bodyPr/>
            <a:lstStyle/>
            <a:p>
              <a:pPr algn="ctr"/>
              <a:r>
                <a:rPr lang="en-US" altLang="en-US" sz="1200" b="1">
                  <a:solidFill>
                    <a:srgbClr val="FFFFFF"/>
                  </a:solidFill>
                  <a:ea typeface="Times New Roman" pitchFamily="18" charset="0"/>
                  <a:cs typeface="Arial" pitchFamily="34" charset="0"/>
                </a:rPr>
                <a:t>Bio Order</a:t>
              </a:r>
              <a:endParaRPr lang="en-US" altLang="en-US">
                <a:solidFill>
                  <a:srgbClr val="FFFFFF"/>
                </a:solidFill>
                <a:ea typeface="Times New Roman" pitchFamily="18" charset="0"/>
                <a:cs typeface="Arial" pitchFamily="34" charset="0"/>
              </a:endParaRPr>
            </a:p>
          </p:txBody>
        </p:sp>
        <p:grpSp>
          <p:nvGrpSpPr>
            <p:cNvPr id="4" name="Group 182"/>
            <p:cNvGrpSpPr>
              <a:grpSpLocks/>
            </p:cNvGrpSpPr>
            <p:nvPr/>
          </p:nvGrpSpPr>
          <p:grpSpPr bwMode="auto">
            <a:xfrm>
              <a:off x="2340" y="5397"/>
              <a:ext cx="2880" cy="897"/>
              <a:chOff x="2520" y="5580"/>
              <a:chExt cx="2880" cy="897"/>
            </a:xfrm>
          </p:grpSpPr>
          <p:sp>
            <p:nvSpPr>
              <p:cNvPr id="13393" name="Text Box 184"/>
              <p:cNvSpPr txBox="1">
                <a:spLocks noChangeArrowheads="1"/>
              </p:cNvSpPr>
              <p:nvPr/>
            </p:nvSpPr>
            <p:spPr bwMode="auto">
              <a:xfrm>
                <a:off x="2520" y="5580"/>
                <a:ext cx="1800" cy="539"/>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Temporary</a:t>
                </a:r>
                <a:endParaRPr lang="en-US" altLang="en-US">
                  <a:solidFill>
                    <a:srgbClr val="000000"/>
                  </a:solidFill>
                  <a:ea typeface="Times New Roman" pitchFamily="18" charset="0"/>
                  <a:cs typeface="Arial" pitchFamily="34" charset="0"/>
                </a:endParaRPr>
              </a:p>
            </p:txBody>
          </p:sp>
          <p:sp>
            <p:nvSpPr>
              <p:cNvPr id="13394" name="Text Box 183"/>
              <p:cNvSpPr txBox="1">
                <a:spLocks noChangeArrowheads="1"/>
              </p:cNvSpPr>
              <p:nvPr/>
            </p:nvSpPr>
            <p:spPr bwMode="auto">
              <a:xfrm>
                <a:off x="2520" y="5937"/>
                <a:ext cx="2880" cy="540"/>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Recognising, Fulfilling</a:t>
                </a:r>
                <a:endParaRPr lang="en-US" altLang="en-US">
                  <a:solidFill>
                    <a:srgbClr val="000000"/>
                  </a:solidFill>
                  <a:ea typeface="Times New Roman" pitchFamily="18" charset="0"/>
                  <a:cs typeface="Arial" pitchFamily="34" charset="0"/>
                </a:endParaRPr>
              </a:p>
            </p:txBody>
          </p:sp>
        </p:grpSp>
        <p:grpSp>
          <p:nvGrpSpPr>
            <p:cNvPr id="5" name="Group 179"/>
            <p:cNvGrpSpPr>
              <a:grpSpLocks/>
            </p:cNvGrpSpPr>
            <p:nvPr/>
          </p:nvGrpSpPr>
          <p:grpSpPr bwMode="auto">
            <a:xfrm>
              <a:off x="7776" y="5397"/>
              <a:ext cx="3060" cy="1082"/>
              <a:chOff x="7380" y="5397"/>
              <a:chExt cx="3060" cy="1082"/>
            </a:xfrm>
          </p:grpSpPr>
          <p:sp>
            <p:nvSpPr>
              <p:cNvPr id="13391" name="Text Box 181"/>
              <p:cNvSpPr txBox="1">
                <a:spLocks noChangeArrowheads="1"/>
              </p:cNvSpPr>
              <p:nvPr/>
            </p:nvSpPr>
            <p:spPr bwMode="auto">
              <a:xfrm>
                <a:off x="7380" y="5397"/>
                <a:ext cx="1980" cy="539"/>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Continuous</a:t>
                </a:r>
                <a:endParaRPr lang="en-US" altLang="en-US">
                  <a:solidFill>
                    <a:srgbClr val="000000"/>
                  </a:solidFill>
                  <a:ea typeface="Times New Roman" pitchFamily="18" charset="0"/>
                  <a:cs typeface="Arial" pitchFamily="34" charset="0"/>
                </a:endParaRPr>
              </a:p>
            </p:txBody>
          </p:sp>
          <p:sp>
            <p:nvSpPr>
              <p:cNvPr id="13392" name="Text Box 180"/>
              <p:cNvSpPr txBox="1">
                <a:spLocks noChangeArrowheads="1"/>
              </p:cNvSpPr>
              <p:nvPr/>
            </p:nvSpPr>
            <p:spPr bwMode="auto">
              <a:xfrm>
                <a:off x="7380" y="5757"/>
                <a:ext cx="3060" cy="72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Knowing, Assuming, Recognising, Fulfilling</a:t>
                </a:r>
                <a:endParaRPr lang="en-US" altLang="en-US">
                  <a:solidFill>
                    <a:srgbClr val="000000"/>
                  </a:solidFill>
                  <a:ea typeface="Times New Roman" pitchFamily="18" charset="0"/>
                  <a:cs typeface="Arial" pitchFamily="34" charset="0"/>
                </a:endParaRPr>
              </a:p>
            </p:txBody>
          </p:sp>
        </p:grpSp>
        <p:sp>
          <p:nvSpPr>
            <p:cNvPr id="13341" name="Rectangle 178"/>
            <p:cNvSpPr>
              <a:spLocks noChangeArrowheads="1"/>
            </p:cNvSpPr>
            <p:nvPr/>
          </p:nvSpPr>
          <p:spPr bwMode="auto">
            <a:xfrm>
              <a:off x="5955" y="4857"/>
              <a:ext cx="4917" cy="543"/>
            </a:xfrm>
            <a:prstGeom prst="rect">
              <a:avLst/>
            </a:prstGeom>
            <a:solidFill>
              <a:srgbClr val="FFFFFF"/>
            </a:solidFill>
            <a:ln w="9525">
              <a:solidFill>
                <a:srgbClr val="000000"/>
              </a:solidFill>
              <a:miter lim="800000"/>
              <a:headEnd/>
              <a:tailEnd/>
            </a:ln>
          </p:spPr>
          <p:txBody>
            <a:bodyPr/>
            <a:lstStyle/>
            <a:p>
              <a:r>
                <a:rPr lang="en-US" altLang="en-US" sz="1200" b="1" dirty="0">
                  <a:solidFill>
                    <a:srgbClr val="000000"/>
                  </a:solidFill>
                  <a:ea typeface="Times New Roman" pitchFamily="18" charset="0"/>
                  <a:cs typeface="Arial" pitchFamily="34" charset="0"/>
                </a:rPr>
                <a:t>Consciousness	</a:t>
              </a:r>
              <a:endParaRPr lang="en-US" altLang="en-US" dirty="0">
                <a:solidFill>
                  <a:srgbClr val="000000"/>
                </a:solidFill>
                <a:ea typeface="Times New Roman" pitchFamily="18" charset="0"/>
                <a:cs typeface="Arial" pitchFamily="34" charset="0"/>
              </a:endParaRPr>
            </a:p>
          </p:txBody>
        </p:sp>
        <p:sp>
          <p:nvSpPr>
            <p:cNvPr id="13342" name="Line 177"/>
            <p:cNvSpPr>
              <a:spLocks noChangeShapeType="1"/>
            </p:cNvSpPr>
            <p:nvPr/>
          </p:nvSpPr>
          <p:spPr bwMode="auto">
            <a:xfrm>
              <a:off x="8583" y="4677"/>
              <a:ext cx="2" cy="179"/>
            </a:xfrm>
            <a:prstGeom prst="line">
              <a:avLst/>
            </a:prstGeom>
            <a:noFill/>
            <a:ln w="9525">
              <a:solidFill>
                <a:srgbClr val="000000"/>
              </a:solidFill>
              <a:round/>
              <a:headEnd/>
              <a:tailEnd type="triangle" w="med" len="med"/>
            </a:ln>
          </p:spPr>
          <p:txBody>
            <a:bodyPr/>
            <a:lstStyle/>
            <a:p>
              <a:endParaRPr lang="en-IN"/>
            </a:p>
          </p:txBody>
        </p:sp>
        <p:sp>
          <p:nvSpPr>
            <p:cNvPr id="13343" name="Line 176"/>
            <p:cNvSpPr>
              <a:spLocks noChangeShapeType="1"/>
            </p:cNvSpPr>
            <p:nvPr/>
          </p:nvSpPr>
          <p:spPr bwMode="auto">
            <a:xfrm>
              <a:off x="2340" y="4681"/>
              <a:ext cx="2" cy="179"/>
            </a:xfrm>
            <a:prstGeom prst="line">
              <a:avLst/>
            </a:prstGeom>
            <a:noFill/>
            <a:ln w="9525">
              <a:solidFill>
                <a:srgbClr val="000000"/>
              </a:solidFill>
              <a:round/>
              <a:headEnd/>
              <a:tailEnd type="triangle" w="med" len="med"/>
            </a:ln>
          </p:spPr>
          <p:txBody>
            <a:bodyPr/>
            <a:lstStyle/>
            <a:p>
              <a:endParaRPr lang="en-IN"/>
            </a:p>
          </p:txBody>
        </p:sp>
        <p:sp>
          <p:nvSpPr>
            <p:cNvPr id="13344" name="Line 175"/>
            <p:cNvSpPr>
              <a:spLocks noChangeShapeType="1"/>
            </p:cNvSpPr>
            <p:nvPr/>
          </p:nvSpPr>
          <p:spPr bwMode="auto">
            <a:xfrm>
              <a:off x="5523" y="6480"/>
              <a:ext cx="2" cy="360"/>
            </a:xfrm>
            <a:prstGeom prst="line">
              <a:avLst/>
            </a:prstGeom>
            <a:noFill/>
            <a:ln w="9525">
              <a:solidFill>
                <a:srgbClr val="000000"/>
              </a:solidFill>
              <a:round/>
              <a:headEnd/>
              <a:tailEnd type="triangle" w="med" len="med"/>
            </a:ln>
          </p:spPr>
          <p:txBody>
            <a:bodyPr/>
            <a:lstStyle/>
            <a:p>
              <a:endParaRPr lang="en-IN"/>
            </a:p>
          </p:txBody>
        </p:sp>
        <p:sp>
          <p:nvSpPr>
            <p:cNvPr id="13345" name="Line 174"/>
            <p:cNvSpPr>
              <a:spLocks noChangeShapeType="1"/>
            </p:cNvSpPr>
            <p:nvPr/>
          </p:nvSpPr>
          <p:spPr bwMode="auto">
            <a:xfrm>
              <a:off x="2740" y="10234"/>
              <a:ext cx="1" cy="205"/>
            </a:xfrm>
            <a:prstGeom prst="line">
              <a:avLst/>
            </a:prstGeom>
            <a:noFill/>
            <a:ln w="9525">
              <a:solidFill>
                <a:srgbClr val="000000"/>
              </a:solidFill>
              <a:round/>
              <a:headEnd/>
              <a:tailEnd type="triangle" w="med" len="med"/>
            </a:ln>
          </p:spPr>
          <p:txBody>
            <a:bodyPr/>
            <a:lstStyle/>
            <a:p>
              <a:endParaRPr lang="en-IN"/>
            </a:p>
          </p:txBody>
        </p:sp>
        <p:sp>
          <p:nvSpPr>
            <p:cNvPr id="13346" name="Rectangle 173"/>
            <p:cNvSpPr>
              <a:spLocks noChangeArrowheads="1"/>
            </p:cNvSpPr>
            <p:nvPr/>
          </p:nvSpPr>
          <p:spPr bwMode="auto">
            <a:xfrm>
              <a:off x="2340" y="2157"/>
              <a:ext cx="2340" cy="539"/>
            </a:xfrm>
            <a:prstGeom prst="rect">
              <a:avLst/>
            </a:prstGeom>
            <a:solidFill>
              <a:srgbClr val="FFFFFF"/>
            </a:solidFill>
            <a:ln w="9525">
              <a:solidFill>
                <a:srgbClr val="000000"/>
              </a:solidFill>
              <a:miter lim="800000"/>
              <a:headEnd/>
              <a:tailEnd/>
            </a:ln>
          </p:spPr>
          <p:txBody>
            <a:bodyPr/>
            <a:lstStyle/>
            <a:p>
              <a:pPr algn="ctr"/>
              <a:r>
                <a:rPr lang="en-US" altLang="en-US" sz="1400" b="1">
                  <a:solidFill>
                    <a:srgbClr val="000000"/>
                  </a:solidFill>
                  <a:ea typeface="Times New Roman" pitchFamily="18" charset="0"/>
                  <a:cs typeface="Arial" pitchFamily="34" charset="0"/>
                </a:rPr>
                <a:t>Units (Nature)</a:t>
              </a:r>
              <a:endParaRPr lang="en-US" altLang="en-US">
                <a:solidFill>
                  <a:srgbClr val="000000"/>
                </a:solidFill>
                <a:ea typeface="Times New Roman" pitchFamily="18" charset="0"/>
                <a:cs typeface="Arial" pitchFamily="34" charset="0"/>
              </a:endParaRPr>
            </a:p>
          </p:txBody>
        </p:sp>
        <p:sp>
          <p:nvSpPr>
            <p:cNvPr id="13347" name="Line 172"/>
            <p:cNvSpPr>
              <a:spLocks noChangeShapeType="1"/>
            </p:cNvSpPr>
            <p:nvPr/>
          </p:nvSpPr>
          <p:spPr bwMode="auto">
            <a:xfrm>
              <a:off x="3420" y="2697"/>
              <a:ext cx="2" cy="1984"/>
            </a:xfrm>
            <a:prstGeom prst="line">
              <a:avLst/>
            </a:prstGeom>
            <a:noFill/>
            <a:ln w="9525">
              <a:solidFill>
                <a:srgbClr val="000000"/>
              </a:solidFill>
              <a:round/>
              <a:headEnd/>
              <a:tailEnd type="triangle" w="med" len="med"/>
            </a:ln>
          </p:spPr>
          <p:txBody>
            <a:bodyPr/>
            <a:lstStyle/>
            <a:p>
              <a:endParaRPr lang="en-IN"/>
            </a:p>
          </p:txBody>
        </p:sp>
        <p:sp>
          <p:nvSpPr>
            <p:cNvPr id="13348" name="Line 171"/>
            <p:cNvSpPr>
              <a:spLocks noChangeShapeType="1"/>
            </p:cNvSpPr>
            <p:nvPr/>
          </p:nvSpPr>
          <p:spPr bwMode="auto">
            <a:xfrm>
              <a:off x="3400" y="1941"/>
              <a:ext cx="2" cy="216"/>
            </a:xfrm>
            <a:prstGeom prst="line">
              <a:avLst/>
            </a:prstGeom>
            <a:noFill/>
            <a:ln w="9525">
              <a:solidFill>
                <a:srgbClr val="000000"/>
              </a:solidFill>
              <a:round/>
              <a:headEnd/>
              <a:tailEnd type="triangle" w="med" len="med"/>
            </a:ln>
          </p:spPr>
          <p:txBody>
            <a:bodyPr/>
            <a:lstStyle/>
            <a:p>
              <a:endParaRPr lang="en-IN"/>
            </a:p>
          </p:txBody>
        </p:sp>
        <p:sp>
          <p:nvSpPr>
            <p:cNvPr id="13349" name="Rectangle 170"/>
            <p:cNvSpPr>
              <a:spLocks noChangeArrowheads="1"/>
            </p:cNvSpPr>
            <p:nvPr/>
          </p:nvSpPr>
          <p:spPr bwMode="auto">
            <a:xfrm>
              <a:off x="6513" y="2157"/>
              <a:ext cx="3393" cy="539"/>
            </a:xfrm>
            <a:prstGeom prst="rect">
              <a:avLst/>
            </a:prstGeom>
            <a:solidFill>
              <a:srgbClr val="FFFFFF"/>
            </a:solidFill>
            <a:ln w="9525">
              <a:solidFill>
                <a:srgbClr val="000000"/>
              </a:solidFill>
              <a:miter lim="800000"/>
              <a:headEnd/>
              <a:tailEnd/>
            </a:ln>
          </p:spPr>
          <p:txBody>
            <a:bodyPr/>
            <a:lstStyle/>
            <a:p>
              <a:pPr algn="ctr"/>
              <a:r>
                <a:rPr lang="en-US" altLang="en-US" sz="1400" b="1">
                  <a:solidFill>
                    <a:srgbClr val="000000"/>
                  </a:solidFill>
                  <a:ea typeface="Times New Roman" pitchFamily="18" charset="0"/>
                  <a:cs typeface="Arial" pitchFamily="34" charset="0"/>
                </a:rPr>
                <a:t>Space (All-pervading)</a:t>
              </a:r>
              <a:endParaRPr lang="en-US" altLang="en-US">
                <a:solidFill>
                  <a:srgbClr val="000000"/>
                </a:solidFill>
                <a:ea typeface="Times New Roman" pitchFamily="18" charset="0"/>
                <a:cs typeface="Arial" pitchFamily="34" charset="0"/>
              </a:endParaRPr>
            </a:p>
          </p:txBody>
        </p:sp>
        <p:sp>
          <p:nvSpPr>
            <p:cNvPr id="13350" name="Rectangle 169"/>
            <p:cNvSpPr>
              <a:spLocks noChangeArrowheads="1"/>
            </p:cNvSpPr>
            <p:nvPr/>
          </p:nvSpPr>
          <p:spPr bwMode="auto">
            <a:xfrm>
              <a:off x="1080" y="4860"/>
              <a:ext cx="3780" cy="543"/>
            </a:xfrm>
            <a:prstGeom prst="rect">
              <a:avLst/>
            </a:prstGeom>
            <a:solidFill>
              <a:srgbClr val="FFFFFF"/>
            </a:solidFill>
            <a:ln w="9525">
              <a:solidFill>
                <a:srgbClr val="000000"/>
              </a:solidFill>
              <a:miter lim="800000"/>
              <a:headEnd/>
              <a:tailEnd/>
            </a:ln>
          </p:spPr>
          <p:txBody>
            <a:bodyPr/>
            <a:lstStyle/>
            <a:p>
              <a:r>
                <a:rPr lang="en-US" altLang="en-US" sz="1200" b="1" dirty="0">
                  <a:solidFill>
                    <a:srgbClr val="000000"/>
                  </a:solidFill>
                  <a:ea typeface="Times New Roman" pitchFamily="18" charset="0"/>
                  <a:cs typeface="Arial" pitchFamily="34" charset="0"/>
                </a:rPr>
                <a:t>Material	</a:t>
              </a:r>
              <a:endParaRPr lang="en-US" altLang="en-US" dirty="0">
                <a:solidFill>
                  <a:srgbClr val="000000"/>
                </a:solidFill>
                <a:ea typeface="Times New Roman" pitchFamily="18" charset="0"/>
                <a:cs typeface="Arial" pitchFamily="34" charset="0"/>
              </a:endParaRPr>
            </a:p>
          </p:txBody>
        </p:sp>
        <p:sp>
          <p:nvSpPr>
            <p:cNvPr id="13351" name="Line 168"/>
            <p:cNvSpPr>
              <a:spLocks noChangeShapeType="1"/>
            </p:cNvSpPr>
            <p:nvPr/>
          </p:nvSpPr>
          <p:spPr bwMode="auto">
            <a:xfrm>
              <a:off x="2340" y="5399"/>
              <a:ext cx="2" cy="1081"/>
            </a:xfrm>
            <a:prstGeom prst="line">
              <a:avLst/>
            </a:prstGeom>
            <a:noFill/>
            <a:ln w="9525">
              <a:solidFill>
                <a:srgbClr val="000000"/>
              </a:solidFill>
              <a:round/>
              <a:headEnd/>
              <a:tailEnd type="triangle" w="med" len="med"/>
            </a:ln>
          </p:spPr>
          <p:txBody>
            <a:bodyPr/>
            <a:lstStyle/>
            <a:p>
              <a:endParaRPr lang="en-IN"/>
            </a:p>
          </p:txBody>
        </p:sp>
        <p:sp>
          <p:nvSpPr>
            <p:cNvPr id="13352" name="Rectangle 167"/>
            <p:cNvSpPr>
              <a:spLocks noChangeArrowheads="1"/>
            </p:cNvSpPr>
            <p:nvPr/>
          </p:nvSpPr>
          <p:spPr bwMode="auto">
            <a:xfrm>
              <a:off x="966" y="6840"/>
              <a:ext cx="2020" cy="541"/>
            </a:xfrm>
            <a:prstGeom prst="rect">
              <a:avLst/>
            </a:prstGeom>
            <a:solidFill>
              <a:srgbClr val="002060"/>
            </a:solidFill>
            <a:ln w="9525">
              <a:noFill/>
              <a:miter lim="800000"/>
              <a:headEnd/>
              <a:tailEnd/>
            </a:ln>
          </p:spPr>
          <p:txBody>
            <a:bodyPr/>
            <a:lstStyle/>
            <a:p>
              <a:pPr algn="ctr"/>
              <a:r>
                <a:rPr lang="en-US" altLang="en-US" sz="1200" b="1">
                  <a:solidFill>
                    <a:srgbClr val="FFFFFF"/>
                  </a:solidFill>
                  <a:ea typeface="Times New Roman" pitchFamily="18" charset="0"/>
                  <a:cs typeface="Arial" pitchFamily="34" charset="0"/>
                </a:rPr>
                <a:t>Physical Order</a:t>
              </a:r>
              <a:endParaRPr lang="en-US" altLang="en-US">
                <a:solidFill>
                  <a:srgbClr val="FFFFFF"/>
                </a:solidFill>
                <a:ea typeface="Times New Roman" pitchFamily="18" charset="0"/>
                <a:cs typeface="Arial" pitchFamily="34" charset="0"/>
              </a:endParaRPr>
            </a:p>
          </p:txBody>
        </p:sp>
        <p:sp>
          <p:nvSpPr>
            <p:cNvPr id="13353" name="Line 166"/>
            <p:cNvSpPr>
              <a:spLocks noChangeShapeType="1"/>
            </p:cNvSpPr>
            <p:nvPr/>
          </p:nvSpPr>
          <p:spPr bwMode="auto">
            <a:xfrm>
              <a:off x="1981" y="6482"/>
              <a:ext cx="3544" cy="1"/>
            </a:xfrm>
            <a:prstGeom prst="line">
              <a:avLst/>
            </a:prstGeom>
            <a:noFill/>
            <a:ln w="9525">
              <a:solidFill>
                <a:srgbClr val="000000"/>
              </a:solidFill>
              <a:round/>
              <a:headEnd/>
              <a:tailEnd/>
            </a:ln>
          </p:spPr>
          <p:txBody>
            <a:bodyPr/>
            <a:lstStyle/>
            <a:p>
              <a:endParaRPr lang="en-IN"/>
            </a:p>
          </p:txBody>
        </p:sp>
        <p:sp>
          <p:nvSpPr>
            <p:cNvPr id="13354" name="Line 165"/>
            <p:cNvSpPr>
              <a:spLocks noChangeShapeType="1"/>
            </p:cNvSpPr>
            <p:nvPr/>
          </p:nvSpPr>
          <p:spPr bwMode="auto">
            <a:xfrm>
              <a:off x="1980" y="6480"/>
              <a:ext cx="2" cy="360"/>
            </a:xfrm>
            <a:prstGeom prst="line">
              <a:avLst/>
            </a:prstGeom>
            <a:noFill/>
            <a:ln w="9525">
              <a:solidFill>
                <a:srgbClr val="000000"/>
              </a:solidFill>
              <a:round/>
              <a:headEnd/>
              <a:tailEnd type="triangle" w="med" len="med"/>
            </a:ln>
          </p:spPr>
          <p:txBody>
            <a:bodyPr/>
            <a:lstStyle/>
            <a:p>
              <a:endParaRPr lang="en-IN"/>
            </a:p>
          </p:txBody>
        </p:sp>
        <p:sp>
          <p:nvSpPr>
            <p:cNvPr id="13355" name="Line 164"/>
            <p:cNvSpPr>
              <a:spLocks noChangeShapeType="1"/>
            </p:cNvSpPr>
            <p:nvPr/>
          </p:nvSpPr>
          <p:spPr bwMode="auto">
            <a:xfrm>
              <a:off x="1980" y="7381"/>
              <a:ext cx="2" cy="359"/>
            </a:xfrm>
            <a:prstGeom prst="line">
              <a:avLst/>
            </a:prstGeom>
            <a:noFill/>
            <a:ln w="9525">
              <a:solidFill>
                <a:srgbClr val="000000"/>
              </a:solidFill>
              <a:round/>
              <a:headEnd/>
              <a:tailEnd type="triangle" w="med" len="med"/>
            </a:ln>
          </p:spPr>
          <p:txBody>
            <a:bodyPr/>
            <a:lstStyle/>
            <a:p>
              <a:endParaRPr lang="en-IN"/>
            </a:p>
          </p:txBody>
        </p:sp>
        <p:sp>
          <p:nvSpPr>
            <p:cNvPr id="13356" name="Rectangle 163"/>
            <p:cNvSpPr>
              <a:spLocks noChangeArrowheads="1"/>
            </p:cNvSpPr>
            <p:nvPr/>
          </p:nvSpPr>
          <p:spPr bwMode="auto">
            <a:xfrm>
              <a:off x="1239" y="8641"/>
              <a:ext cx="1440" cy="536"/>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Molecule</a:t>
              </a:r>
              <a:endParaRPr lang="en-US" altLang="en-US">
                <a:solidFill>
                  <a:srgbClr val="000000"/>
                </a:solidFill>
                <a:ea typeface="Times New Roman" pitchFamily="18" charset="0"/>
                <a:cs typeface="Arial" pitchFamily="34" charset="0"/>
              </a:endParaRPr>
            </a:p>
          </p:txBody>
        </p:sp>
        <p:sp>
          <p:nvSpPr>
            <p:cNvPr id="13357" name="Rectangle 162"/>
            <p:cNvSpPr>
              <a:spLocks noChangeArrowheads="1"/>
            </p:cNvSpPr>
            <p:nvPr/>
          </p:nvSpPr>
          <p:spPr bwMode="auto">
            <a:xfrm>
              <a:off x="1428" y="7740"/>
              <a:ext cx="1080" cy="543"/>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Atom</a:t>
              </a:r>
              <a:endParaRPr lang="en-US" altLang="en-US">
                <a:solidFill>
                  <a:srgbClr val="000000"/>
                </a:solidFill>
                <a:ea typeface="Times New Roman" pitchFamily="18" charset="0"/>
                <a:cs typeface="Arial" pitchFamily="34" charset="0"/>
              </a:endParaRPr>
            </a:p>
          </p:txBody>
        </p:sp>
        <p:sp>
          <p:nvSpPr>
            <p:cNvPr id="13358" name="Line 161"/>
            <p:cNvSpPr>
              <a:spLocks noChangeShapeType="1"/>
            </p:cNvSpPr>
            <p:nvPr/>
          </p:nvSpPr>
          <p:spPr bwMode="auto">
            <a:xfrm>
              <a:off x="1979" y="8281"/>
              <a:ext cx="1" cy="360"/>
            </a:xfrm>
            <a:prstGeom prst="line">
              <a:avLst/>
            </a:prstGeom>
            <a:noFill/>
            <a:ln w="9525">
              <a:solidFill>
                <a:srgbClr val="000000"/>
              </a:solidFill>
              <a:round/>
              <a:headEnd/>
              <a:tailEnd type="triangle" w="med" len="med"/>
            </a:ln>
          </p:spPr>
          <p:txBody>
            <a:bodyPr/>
            <a:lstStyle/>
            <a:p>
              <a:endParaRPr lang="en-IN"/>
            </a:p>
          </p:txBody>
        </p:sp>
        <p:sp>
          <p:nvSpPr>
            <p:cNvPr id="13359" name="Rectangle 160"/>
            <p:cNvSpPr>
              <a:spLocks noChangeArrowheads="1"/>
            </p:cNvSpPr>
            <p:nvPr/>
          </p:nvSpPr>
          <p:spPr bwMode="auto">
            <a:xfrm>
              <a:off x="630" y="9537"/>
              <a:ext cx="270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Molecular Structure</a:t>
              </a:r>
              <a:endParaRPr lang="en-US" altLang="en-US">
                <a:solidFill>
                  <a:srgbClr val="000000"/>
                </a:solidFill>
                <a:ea typeface="Times New Roman" pitchFamily="18" charset="0"/>
                <a:cs typeface="Arial" pitchFamily="34" charset="0"/>
              </a:endParaRPr>
            </a:p>
          </p:txBody>
        </p:sp>
        <p:sp>
          <p:nvSpPr>
            <p:cNvPr id="13360" name="Rectangle 159"/>
            <p:cNvSpPr>
              <a:spLocks noChangeArrowheads="1"/>
            </p:cNvSpPr>
            <p:nvPr/>
          </p:nvSpPr>
          <p:spPr bwMode="auto">
            <a:xfrm>
              <a:off x="651" y="10440"/>
              <a:ext cx="108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Lump</a:t>
              </a:r>
              <a:endParaRPr lang="en-US" altLang="en-US">
                <a:solidFill>
                  <a:srgbClr val="000000"/>
                </a:solidFill>
                <a:ea typeface="Times New Roman" pitchFamily="18" charset="0"/>
                <a:cs typeface="Arial" pitchFamily="34" charset="0"/>
              </a:endParaRPr>
            </a:p>
          </p:txBody>
        </p:sp>
        <p:sp>
          <p:nvSpPr>
            <p:cNvPr id="13361" name="Rectangle 158"/>
            <p:cNvSpPr>
              <a:spLocks noChangeArrowheads="1"/>
            </p:cNvSpPr>
            <p:nvPr/>
          </p:nvSpPr>
          <p:spPr bwMode="auto">
            <a:xfrm>
              <a:off x="2163" y="10440"/>
              <a:ext cx="1152"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Fluid</a:t>
              </a:r>
              <a:endParaRPr lang="en-US" altLang="en-US">
                <a:solidFill>
                  <a:srgbClr val="000000"/>
                </a:solidFill>
                <a:ea typeface="Times New Roman" pitchFamily="18" charset="0"/>
                <a:cs typeface="Arial" pitchFamily="34" charset="0"/>
              </a:endParaRPr>
            </a:p>
          </p:txBody>
        </p:sp>
        <p:sp>
          <p:nvSpPr>
            <p:cNvPr id="13362" name="Line 157"/>
            <p:cNvSpPr>
              <a:spLocks noChangeShapeType="1"/>
            </p:cNvSpPr>
            <p:nvPr/>
          </p:nvSpPr>
          <p:spPr bwMode="auto">
            <a:xfrm>
              <a:off x="1980" y="9180"/>
              <a:ext cx="1" cy="360"/>
            </a:xfrm>
            <a:prstGeom prst="line">
              <a:avLst/>
            </a:prstGeom>
            <a:noFill/>
            <a:ln w="9525">
              <a:solidFill>
                <a:srgbClr val="000000"/>
              </a:solidFill>
              <a:round/>
              <a:headEnd/>
              <a:tailEnd type="triangle" w="med" len="med"/>
            </a:ln>
          </p:spPr>
          <p:txBody>
            <a:bodyPr/>
            <a:lstStyle/>
            <a:p>
              <a:endParaRPr lang="en-IN"/>
            </a:p>
          </p:txBody>
        </p:sp>
        <p:sp>
          <p:nvSpPr>
            <p:cNvPr id="13363" name="Line 156"/>
            <p:cNvSpPr>
              <a:spLocks noChangeShapeType="1"/>
            </p:cNvSpPr>
            <p:nvPr/>
          </p:nvSpPr>
          <p:spPr bwMode="auto">
            <a:xfrm>
              <a:off x="1962" y="10080"/>
              <a:ext cx="1" cy="181"/>
            </a:xfrm>
            <a:prstGeom prst="line">
              <a:avLst/>
            </a:prstGeom>
            <a:noFill/>
            <a:ln w="9525">
              <a:solidFill>
                <a:srgbClr val="000000"/>
              </a:solidFill>
              <a:round/>
              <a:headEnd/>
              <a:tailEnd/>
            </a:ln>
          </p:spPr>
          <p:txBody>
            <a:bodyPr/>
            <a:lstStyle/>
            <a:p>
              <a:endParaRPr lang="en-IN"/>
            </a:p>
          </p:txBody>
        </p:sp>
        <p:sp>
          <p:nvSpPr>
            <p:cNvPr id="13364" name="Line 155"/>
            <p:cNvSpPr>
              <a:spLocks noChangeShapeType="1"/>
            </p:cNvSpPr>
            <p:nvPr/>
          </p:nvSpPr>
          <p:spPr bwMode="auto">
            <a:xfrm>
              <a:off x="1189" y="10234"/>
              <a:ext cx="1" cy="206"/>
            </a:xfrm>
            <a:prstGeom prst="line">
              <a:avLst/>
            </a:prstGeom>
            <a:noFill/>
            <a:ln w="9525">
              <a:solidFill>
                <a:srgbClr val="000000"/>
              </a:solidFill>
              <a:round/>
              <a:headEnd/>
              <a:tailEnd type="triangle" w="med" len="med"/>
            </a:ln>
          </p:spPr>
          <p:txBody>
            <a:bodyPr/>
            <a:lstStyle/>
            <a:p>
              <a:endParaRPr lang="en-IN"/>
            </a:p>
          </p:txBody>
        </p:sp>
        <p:sp>
          <p:nvSpPr>
            <p:cNvPr id="13365" name="Line 154"/>
            <p:cNvSpPr>
              <a:spLocks noChangeShapeType="1"/>
            </p:cNvSpPr>
            <p:nvPr/>
          </p:nvSpPr>
          <p:spPr bwMode="auto">
            <a:xfrm>
              <a:off x="1189" y="10241"/>
              <a:ext cx="1551" cy="1"/>
            </a:xfrm>
            <a:prstGeom prst="line">
              <a:avLst/>
            </a:prstGeom>
            <a:noFill/>
            <a:ln w="9525">
              <a:solidFill>
                <a:srgbClr val="000000"/>
              </a:solidFill>
              <a:round/>
              <a:headEnd/>
              <a:tailEnd/>
            </a:ln>
          </p:spPr>
          <p:txBody>
            <a:bodyPr/>
            <a:lstStyle/>
            <a:p>
              <a:endParaRPr lang="en-IN"/>
            </a:p>
          </p:txBody>
        </p:sp>
        <p:sp>
          <p:nvSpPr>
            <p:cNvPr id="13366" name="Rectangle 153"/>
            <p:cNvSpPr>
              <a:spLocks noChangeArrowheads="1"/>
            </p:cNvSpPr>
            <p:nvPr/>
          </p:nvSpPr>
          <p:spPr bwMode="auto">
            <a:xfrm>
              <a:off x="4509" y="10440"/>
              <a:ext cx="198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Human Body</a:t>
              </a:r>
              <a:endParaRPr lang="en-US" altLang="en-US">
                <a:solidFill>
                  <a:srgbClr val="000000"/>
                </a:solidFill>
                <a:ea typeface="Times New Roman" pitchFamily="18" charset="0"/>
                <a:cs typeface="Arial" pitchFamily="34" charset="0"/>
              </a:endParaRPr>
            </a:p>
          </p:txBody>
        </p:sp>
        <p:sp>
          <p:nvSpPr>
            <p:cNvPr id="13367" name="Rectangle 152"/>
            <p:cNvSpPr>
              <a:spLocks noChangeArrowheads="1"/>
            </p:cNvSpPr>
            <p:nvPr/>
          </p:nvSpPr>
          <p:spPr bwMode="auto">
            <a:xfrm>
              <a:off x="4509" y="9521"/>
              <a:ext cx="1980" cy="542"/>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Animal Body</a:t>
              </a:r>
              <a:endParaRPr lang="en-US" altLang="en-US">
                <a:solidFill>
                  <a:srgbClr val="000000"/>
                </a:solidFill>
                <a:ea typeface="Times New Roman" pitchFamily="18" charset="0"/>
                <a:cs typeface="Arial" pitchFamily="34" charset="0"/>
              </a:endParaRPr>
            </a:p>
          </p:txBody>
        </p:sp>
        <p:sp>
          <p:nvSpPr>
            <p:cNvPr id="13368" name="Rectangle 151"/>
            <p:cNvSpPr>
              <a:spLocks noChangeArrowheads="1"/>
            </p:cNvSpPr>
            <p:nvPr/>
          </p:nvSpPr>
          <p:spPr bwMode="auto">
            <a:xfrm>
              <a:off x="4614" y="7740"/>
              <a:ext cx="176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Cell</a:t>
              </a:r>
              <a:endParaRPr lang="en-US" altLang="en-US">
                <a:solidFill>
                  <a:srgbClr val="000000"/>
                </a:solidFill>
                <a:ea typeface="Times New Roman" pitchFamily="18" charset="0"/>
                <a:cs typeface="Arial" pitchFamily="34" charset="0"/>
              </a:endParaRPr>
            </a:p>
          </p:txBody>
        </p:sp>
        <p:sp>
          <p:nvSpPr>
            <p:cNvPr id="13369" name="Rectangle 150"/>
            <p:cNvSpPr>
              <a:spLocks noChangeArrowheads="1"/>
            </p:cNvSpPr>
            <p:nvPr/>
          </p:nvSpPr>
          <p:spPr bwMode="auto">
            <a:xfrm>
              <a:off x="4866" y="8640"/>
              <a:ext cx="126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Plant</a:t>
              </a:r>
              <a:endParaRPr lang="en-US" altLang="en-US">
                <a:solidFill>
                  <a:srgbClr val="000000"/>
                </a:solidFill>
                <a:ea typeface="Times New Roman" pitchFamily="18" charset="0"/>
                <a:cs typeface="Arial" pitchFamily="34" charset="0"/>
              </a:endParaRPr>
            </a:p>
          </p:txBody>
        </p:sp>
        <p:sp>
          <p:nvSpPr>
            <p:cNvPr id="13370" name="Line 149"/>
            <p:cNvSpPr>
              <a:spLocks noChangeShapeType="1"/>
            </p:cNvSpPr>
            <p:nvPr/>
          </p:nvSpPr>
          <p:spPr bwMode="auto">
            <a:xfrm>
              <a:off x="5499" y="10080"/>
              <a:ext cx="4" cy="360"/>
            </a:xfrm>
            <a:prstGeom prst="line">
              <a:avLst/>
            </a:prstGeom>
            <a:noFill/>
            <a:ln w="9525">
              <a:solidFill>
                <a:srgbClr val="000000"/>
              </a:solidFill>
              <a:round/>
              <a:headEnd/>
              <a:tailEnd type="triangle" w="med" len="med"/>
            </a:ln>
          </p:spPr>
          <p:txBody>
            <a:bodyPr/>
            <a:lstStyle/>
            <a:p>
              <a:endParaRPr lang="en-IN"/>
            </a:p>
          </p:txBody>
        </p:sp>
        <p:cxnSp>
          <p:nvCxnSpPr>
            <p:cNvPr id="13371" name="AutoShape 148"/>
            <p:cNvCxnSpPr>
              <a:cxnSpLocks noChangeShapeType="1"/>
            </p:cNvCxnSpPr>
            <p:nvPr/>
          </p:nvCxnSpPr>
          <p:spPr bwMode="auto">
            <a:xfrm flipV="1">
              <a:off x="3315" y="8011"/>
              <a:ext cx="1299" cy="2700"/>
            </a:xfrm>
            <a:prstGeom prst="bentConnector3">
              <a:avLst>
                <a:gd name="adj1" fmla="val 49963"/>
              </a:avLst>
            </a:prstGeom>
            <a:noFill/>
            <a:ln w="19050">
              <a:solidFill>
                <a:srgbClr val="000000"/>
              </a:solidFill>
              <a:prstDash val="sysDot"/>
              <a:miter lim="800000"/>
              <a:headEnd/>
              <a:tailEnd type="triangle" w="med" len="med"/>
            </a:ln>
          </p:spPr>
        </p:cxnSp>
        <p:sp>
          <p:nvSpPr>
            <p:cNvPr id="13372" name="Rectangle 147"/>
            <p:cNvSpPr>
              <a:spLocks noChangeArrowheads="1"/>
            </p:cNvSpPr>
            <p:nvPr/>
          </p:nvSpPr>
          <p:spPr bwMode="auto">
            <a:xfrm>
              <a:off x="7461" y="7359"/>
              <a:ext cx="1932" cy="543"/>
            </a:xfrm>
            <a:prstGeom prst="rect">
              <a:avLst/>
            </a:prstGeom>
            <a:solidFill>
              <a:srgbClr val="002060"/>
            </a:solidFill>
            <a:ln w="9525">
              <a:noFill/>
              <a:miter lim="800000"/>
              <a:headEnd/>
              <a:tailEnd/>
            </a:ln>
          </p:spPr>
          <p:txBody>
            <a:bodyPr/>
            <a:lstStyle/>
            <a:p>
              <a:pPr algn="ctr"/>
              <a:r>
                <a:rPr lang="en-US" altLang="en-US" sz="1200" b="1" dirty="0">
                  <a:solidFill>
                    <a:srgbClr val="FFFFFF"/>
                  </a:solidFill>
                  <a:ea typeface="Times New Roman" pitchFamily="18" charset="0"/>
                  <a:cs typeface="Arial" pitchFamily="34" charset="0"/>
                </a:rPr>
                <a:t>Animal Order</a:t>
              </a:r>
              <a:endParaRPr lang="en-US" altLang="en-US" dirty="0">
                <a:solidFill>
                  <a:srgbClr val="FFFFFF"/>
                </a:solidFill>
                <a:ea typeface="Times New Roman" pitchFamily="18" charset="0"/>
                <a:cs typeface="Arial" pitchFamily="34" charset="0"/>
              </a:endParaRPr>
            </a:p>
          </p:txBody>
        </p:sp>
        <p:sp>
          <p:nvSpPr>
            <p:cNvPr id="13373" name="Text Box 146"/>
            <p:cNvSpPr txBox="1">
              <a:spLocks noChangeArrowheads="1"/>
            </p:cNvSpPr>
            <p:nvPr/>
          </p:nvSpPr>
          <p:spPr bwMode="auto">
            <a:xfrm>
              <a:off x="9387" y="7956"/>
              <a:ext cx="481" cy="534"/>
            </a:xfrm>
            <a:prstGeom prst="rect">
              <a:avLst/>
            </a:prstGeom>
            <a:solidFill>
              <a:srgbClr val="FFFFFF"/>
            </a:solidFill>
            <a:ln w="9525">
              <a:solidFill>
                <a:srgbClr val="FFFFFF"/>
              </a:solidFill>
              <a:miter lim="800000"/>
              <a:headEnd/>
              <a:tailEnd/>
            </a:ln>
          </p:spPr>
          <p:txBody>
            <a:bodyPr/>
            <a:lstStyle/>
            <a:p>
              <a:r>
                <a:rPr lang="en-US" altLang="en-US" sz="2000">
                  <a:solidFill>
                    <a:srgbClr val="000000"/>
                  </a:solidFill>
                  <a:ea typeface="Times New Roman" pitchFamily="18" charset="0"/>
                  <a:cs typeface="Arial" pitchFamily="34" charset="0"/>
                </a:rPr>
                <a:t>+</a:t>
              </a:r>
              <a:endParaRPr lang="en-US" altLang="en-US">
                <a:solidFill>
                  <a:srgbClr val="000000"/>
                </a:solidFill>
                <a:ea typeface="Times New Roman" pitchFamily="18" charset="0"/>
                <a:cs typeface="Arial" pitchFamily="34" charset="0"/>
              </a:endParaRPr>
            </a:p>
          </p:txBody>
        </p:sp>
        <p:cxnSp>
          <p:nvCxnSpPr>
            <p:cNvPr id="13374" name="AutoShape 145"/>
            <p:cNvCxnSpPr>
              <a:cxnSpLocks noChangeShapeType="1"/>
            </p:cNvCxnSpPr>
            <p:nvPr/>
          </p:nvCxnSpPr>
          <p:spPr bwMode="auto">
            <a:xfrm flipH="1">
              <a:off x="8673" y="5129"/>
              <a:ext cx="2199" cy="1960"/>
            </a:xfrm>
            <a:prstGeom prst="bentConnector3">
              <a:avLst>
                <a:gd name="adj1" fmla="val -16324"/>
              </a:avLst>
            </a:prstGeom>
            <a:noFill/>
            <a:ln w="9525">
              <a:solidFill>
                <a:srgbClr val="000000"/>
              </a:solidFill>
              <a:miter lim="800000"/>
              <a:headEnd/>
              <a:tailEnd type="triangle" w="med" len="med"/>
            </a:ln>
          </p:spPr>
        </p:cxnSp>
        <p:cxnSp>
          <p:nvCxnSpPr>
            <p:cNvPr id="13375" name="AutoShape 144"/>
            <p:cNvCxnSpPr>
              <a:cxnSpLocks noChangeShapeType="1"/>
            </p:cNvCxnSpPr>
            <p:nvPr/>
          </p:nvCxnSpPr>
          <p:spPr bwMode="auto">
            <a:xfrm flipV="1">
              <a:off x="6489" y="7089"/>
              <a:ext cx="1644" cy="2703"/>
            </a:xfrm>
            <a:prstGeom prst="bentConnector3">
              <a:avLst>
                <a:gd name="adj1" fmla="val 50000"/>
              </a:avLst>
            </a:prstGeom>
            <a:noFill/>
            <a:ln w="9525">
              <a:solidFill>
                <a:srgbClr val="000000"/>
              </a:solidFill>
              <a:miter lim="800000"/>
              <a:headEnd/>
              <a:tailEnd type="triangle" w="med" len="med"/>
            </a:ln>
          </p:spPr>
        </p:cxnSp>
        <p:cxnSp>
          <p:nvCxnSpPr>
            <p:cNvPr id="13376" name="AutoShape 143"/>
            <p:cNvCxnSpPr>
              <a:cxnSpLocks noChangeShapeType="1"/>
            </p:cNvCxnSpPr>
            <p:nvPr/>
          </p:nvCxnSpPr>
          <p:spPr bwMode="auto">
            <a:xfrm flipV="1">
              <a:off x="6489" y="8223"/>
              <a:ext cx="2898" cy="2488"/>
            </a:xfrm>
            <a:prstGeom prst="bentConnector3">
              <a:avLst>
                <a:gd name="adj1" fmla="val 50000"/>
              </a:avLst>
            </a:prstGeom>
            <a:noFill/>
            <a:ln w="9525">
              <a:solidFill>
                <a:srgbClr val="000000"/>
              </a:solidFill>
              <a:miter lim="800000"/>
              <a:headEnd/>
              <a:tailEnd type="triangle" w="med" len="med"/>
            </a:ln>
          </p:spPr>
        </p:cxnSp>
        <p:cxnSp>
          <p:nvCxnSpPr>
            <p:cNvPr id="13377" name="AutoShape 142"/>
            <p:cNvCxnSpPr>
              <a:cxnSpLocks noChangeShapeType="1"/>
            </p:cNvCxnSpPr>
            <p:nvPr/>
          </p:nvCxnSpPr>
          <p:spPr bwMode="auto">
            <a:xfrm flipH="1">
              <a:off x="9868" y="5129"/>
              <a:ext cx="1004" cy="3094"/>
            </a:xfrm>
            <a:prstGeom prst="bentConnector3">
              <a:avLst>
                <a:gd name="adj1" fmla="val -35759"/>
              </a:avLst>
            </a:prstGeom>
            <a:noFill/>
            <a:ln w="9525">
              <a:solidFill>
                <a:srgbClr val="000000"/>
              </a:solidFill>
              <a:miter lim="800000"/>
              <a:headEnd/>
              <a:tailEnd type="triangle" w="med" len="med"/>
            </a:ln>
          </p:spPr>
        </p:cxnSp>
        <p:grpSp>
          <p:nvGrpSpPr>
            <p:cNvPr id="6" name="Group 136"/>
            <p:cNvGrpSpPr>
              <a:grpSpLocks/>
            </p:cNvGrpSpPr>
            <p:nvPr/>
          </p:nvGrpSpPr>
          <p:grpSpPr bwMode="auto">
            <a:xfrm>
              <a:off x="3474" y="2725"/>
              <a:ext cx="3780" cy="1973"/>
              <a:chOff x="3600" y="2704"/>
              <a:chExt cx="3780" cy="1973"/>
            </a:xfrm>
          </p:grpSpPr>
          <p:sp>
            <p:nvSpPr>
              <p:cNvPr id="13386" name="Text Box 141"/>
              <p:cNvSpPr txBox="1">
                <a:spLocks noChangeArrowheads="1"/>
              </p:cNvSpPr>
              <p:nvPr/>
            </p:nvSpPr>
            <p:spPr bwMode="auto">
              <a:xfrm>
                <a:off x="3600" y="2704"/>
                <a:ext cx="180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Limited in size</a:t>
                </a:r>
                <a:endParaRPr lang="en-US" altLang="en-US">
                  <a:solidFill>
                    <a:srgbClr val="000000"/>
                  </a:solidFill>
                  <a:ea typeface="Times New Roman" pitchFamily="18" charset="0"/>
                  <a:cs typeface="Arial" pitchFamily="34" charset="0"/>
                </a:endParaRPr>
              </a:p>
            </p:txBody>
          </p:sp>
          <p:sp>
            <p:nvSpPr>
              <p:cNvPr id="13387" name="Text Box 140"/>
              <p:cNvSpPr txBox="1">
                <a:spLocks noChangeArrowheads="1"/>
              </p:cNvSpPr>
              <p:nvPr/>
            </p:nvSpPr>
            <p:spPr bwMode="auto">
              <a:xfrm>
                <a:off x="3600" y="3064"/>
                <a:ext cx="126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Activity</a:t>
                </a:r>
                <a:endParaRPr lang="en-US" altLang="en-US">
                  <a:solidFill>
                    <a:srgbClr val="000000"/>
                  </a:solidFill>
                  <a:ea typeface="Times New Roman" pitchFamily="18" charset="0"/>
                  <a:cs typeface="Arial" pitchFamily="34" charset="0"/>
                </a:endParaRPr>
              </a:p>
            </p:txBody>
          </p:sp>
          <p:sp>
            <p:nvSpPr>
              <p:cNvPr id="13388" name="Text Box 139"/>
              <p:cNvSpPr txBox="1">
                <a:spLocks noChangeArrowheads="1"/>
              </p:cNvSpPr>
              <p:nvPr/>
            </p:nvSpPr>
            <p:spPr bwMode="auto">
              <a:xfrm>
                <a:off x="3600" y="3422"/>
                <a:ext cx="1800" cy="538"/>
              </a:xfrm>
              <a:prstGeom prst="rect">
                <a:avLst/>
              </a:prstGeom>
              <a:solidFill>
                <a:srgbClr val="FFFFFF"/>
              </a:solidFill>
              <a:ln w="9525">
                <a:solidFill>
                  <a:srgbClr val="FFFFFF"/>
                </a:solidFill>
                <a:miter lim="800000"/>
                <a:headEnd/>
                <a:tailEnd/>
              </a:ln>
            </p:spPr>
            <p:txBody>
              <a:bodyPr/>
              <a:lstStyle/>
              <a:p>
                <a:r>
                  <a:rPr lang="en-US" altLang="en-US" sz="1000" dirty="0">
                    <a:solidFill>
                      <a:srgbClr val="000000"/>
                    </a:solidFill>
                    <a:ea typeface="Times New Roman" pitchFamily="18" charset="0"/>
                    <a:cs typeface="Arial" pitchFamily="34" charset="0"/>
                  </a:rPr>
                  <a:t>Self-organized </a:t>
                </a:r>
                <a:endParaRPr lang="en-US" altLang="en-US" dirty="0">
                  <a:solidFill>
                    <a:srgbClr val="000000"/>
                  </a:solidFill>
                  <a:ea typeface="Times New Roman" pitchFamily="18" charset="0"/>
                  <a:cs typeface="Arial" pitchFamily="34" charset="0"/>
                </a:endParaRPr>
              </a:p>
            </p:txBody>
          </p:sp>
          <p:sp>
            <p:nvSpPr>
              <p:cNvPr id="13389" name="Text Box 138"/>
              <p:cNvSpPr txBox="1">
                <a:spLocks noChangeArrowheads="1"/>
              </p:cNvSpPr>
              <p:nvPr/>
            </p:nvSpPr>
            <p:spPr bwMode="auto">
              <a:xfrm>
                <a:off x="3600" y="3782"/>
                <a:ext cx="1440" cy="53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Energized</a:t>
                </a:r>
                <a:endParaRPr lang="en-US" altLang="en-US">
                  <a:solidFill>
                    <a:srgbClr val="000000"/>
                  </a:solidFill>
                  <a:ea typeface="Times New Roman" pitchFamily="18" charset="0"/>
                  <a:cs typeface="Arial" pitchFamily="34" charset="0"/>
                </a:endParaRPr>
              </a:p>
            </p:txBody>
          </p:sp>
          <p:sp>
            <p:nvSpPr>
              <p:cNvPr id="13390" name="Text Box 137"/>
              <p:cNvSpPr txBox="1">
                <a:spLocks noChangeArrowheads="1"/>
              </p:cNvSpPr>
              <p:nvPr/>
            </p:nvSpPr>
            <p:spPr bwMode="auto">
              <a:xfrm>
                <a:off x="3600" y="4143"/>
                <a:ext cx="3780" cy="534"/>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Recognises the relationship and fulfills </a:t>
                </a:r>
                <a:endParaRPr lang="en-US" altLang="en-US">
                  <a:solidFill>
                    <a:srgbClr val="000000"/>
                  </a:solidFill>
                  <a:ea typeface="Times New Roman" pitchFamily="18" charset="0"/>
                  <a:cs typeface="Arial" pitchFamily="34" charset="0"/>
                </a:endParaRPr>
              </a:p>
            </p:txBody>
          </p:sp>
        </p:grpSp>
        <p:sp>
          <p:nvSpPr>
            <p:cNvPr id="13379" name="Rectangle 134"/>
            <p:cNvSpPr>
              <a:spLocks noChangeArrowheads="1"/>
            </p:cNvSpPr>
            <p:nvPr/>
          </p:nvSpPr>
          <p:spPr bwMode="auto">
            <a:xfrm>
              <a:off x="8574" y="8490"/>
              <a:ext cx="2160" cy="543"/>
            </a:xfrm>
            <a:prstGeom prst="rect">
              <a:avLst/>
            </a:prstGeom>
            <a:solidFill>
              <a:srgbClr val="002060"/>
            </a:solidFill>
            <a:ln w="9525">
              <a:noFill/>
              <a:miter lim="800000"/>
              <a:headEnd/>
              <a:tailEnd/>
            </a:ln>
          </p:spPr>
          <p:txBody>
            <a:bodyPr/>
            <a:lstStyle/>
            <a:p>
              <a:pPr algn="ctr"/>
              <a:r>
                <a:rPr lang="en-US" altLang="en-US" sz="1200" b="1" dirty="0">
                  <a:solidFill>
                    <a:srgbClr val="FFFFFF"/>
                  </a:solidFill>
                  <a:ea typeface="Times New Roman" pitchFamily="18" charset="0"/>
                  <a:cs typeface="Arial" pitchFamily="34" charset="0"/>
                </a:rPr>
                <a:t>Human Order</a:t>
              </a:r>
              <a:endParaRPr lang="en-US" altLang="en-US" dirty="0">
                <a:solidFill>
                  <a:srgbClr val="FFFFFF"/>
                </a:solidFill>
                <a:ea typeface="Times New Roman" pitchFamily="18" charset="0"/>
                <a:cs typeface="Arial" pitchFamily="34" charset="0"/>
              </a:endParaRPr>
            </a:p>
          </p:txBody>
        </p:sp>
        <p:sp>
          <p:nvSpPr>
            <p:cNvPr id="13380" name="Line 132"/>
            <p:cNvSpPr>
              <a:spLocks noChangeShapeType="1"/>
            </p:cNvSpPr>
            <p:nvPr/>
          </p:nvSpPr>
          <p:spPr bwMode="auto">
            <a:xfrm>
              <a:off x="2340" y="4677"/>
              <a:ext cx="6243" cy="1"/>
            </a:xfrm>
            <a:prstGeom prst="line">
              <a:avLst/>
            </a:prstGeom>
            <a:noFill/>
            <a:ln w="9525">
              <a:solidFill>
                <a:srgbClr val="000000"/>
              </a:solidFill>
              <a:round/>
              <a:headEnd/>
              <a:tailEnd/>
            </a:ln>
          </p:spPr>
          <p:txBody>
            <a:bodyPr/>
            <a:lstStyle/>
            <a:p>
              <a:endParaRPr lang="en-IN"/>
            </a:p>
          </p:txBody>
        </p:sp>
        <p:sp>
          <p:nvSpPr>
            <p:cNvPr id="13381" name="Line 130"/>
            <p:cNvSpPr>
              <a:spLocks noChangeShapeType="1"/>
            </p:cNvSpPr>
            <p:nvPr/>
          </p:nvSpPr>
          <p:spPr bwMode="auto">
            <a:xfrm flipH="1">
              <a:off x="9663" y="10438"/>
              <a:ext cx="9" cy="822"/>
            </a:xfrm>
            <a:prstGeom prst="line">
              <a:avLst/>
            </a:prstGeom>
            <a:noFill/>
            <a:ln w="9525">
              <a:solidFill>
                <a:srgbClr val="000000"/>
              </a:solidFill>
              <a:round/>
              <a:headEnd/>
              <a:tailEnd type="triangle" w="med" len="med"/>
            </a:ln>
          </p:spPr>
          <p:txBody>
            <a:bodyPr/>
            <a:lstStyle/>
            <a:p>
              <a:endParaRPr lang="en-IN"/>
            </a:p>
          </p:txBody>
        </p:sp>
        <p:sp>
          <p:nvSpPr>
            <p:cNvPr id="13382" name="Line 126"/>
            <p:cNvSpPr>
              <a:spLocks noChangeShapeType="1"/>
            </p:cNvSpPr>
            <p:nvPr/>
          </p:nvSpPr>
          <p:spPr bwMode="auto">
            <a:xfrm>
              <a:off x="5500" y="7356"/>
              <a:ext cx="2" cy="359"/>
            </a:xfrm>
            <a:prstGeom prst="line">
              <a:avLst/>
            </a:prstGeom>
            <a:noFill/>
            <a:ln w="9525">
              <a:solidFill>
                <a:srgbClr val="000000"/>
              </a:solidFill>
              <a:round/>
              <a:headEnd/>
              <a:tailEnd type="triangle" w="med" len="med"/>
            </a:ln>
          </p:spPr>
          <p:txBody>
            <a:bodyPr/>
            <a:lstStyle/>
            <a:p>
              <a:endParaRPr lang="en-IN"/>
            </a:p>
          </p:txBody>
        </p:sp>
        <p:sp>
          <p:nvSpPr>
            <p:cNvPr id="13383" name="Line 125"/>
            <p:cNvSpPr>
              <a:spLocks noChangeShapeType="1"/>
            </p:cNvSpPr>
            <p:nvPr/>
          </p:nvSpPr>
          <p:spPr bwMode="auto">
            <a:xfrm>
              <a:off x="5499" y="8256"/>
              <a:ext cx="1" cy="360"/>
            </a:xfrm>
            <a:prstGeom prst="line">
              <a:avLst/>
            </a:prstGeom>
            <a:noFill/>
            <a:ln w="9525">
              <a:solidFill>
                <a:srgbClr val="000000"/>
              </a:solidFill>
              <a:round/>
              <a:headEnd/>
              <a:tailEnd type="triangle" w="med" len="med"/>
            </a:ln>
          </p:spPr>
          <p:txBody>
            <a:bodyPr/>
            <a:lstStyle/>
            <a:p>
              <a:endParaRPr lang="en-IN"/>
            </a:p>
          </p:txBody>
        </p:sp>
        <p:sp>
          <p:nvSpPr>
            <p:cNvPr id="13384" name="Line 124"/>
            <p:cNvSpPr>
              <a:spLocks noChangeShapeType="1"/>
            </p:cNvSpPr>
            <p:nvPr/>
          </p:nvSpPr>
          <p:spPr bwMode="auto">
            <a:xfrm>
              <a:off x="5500" y="9155"/>
              <a:ext cx="1" cy="360"/>
            </a:xfrm>
            <a:prstGeom prst="line">
              <a:avLst/>
            </a:prstGeom>
            <a:noFill/>
            <a:ln w="9525">
              <a:solidFill>
                <a:srgbClr val="000000"/>
              </a:solidFill>
              <a:round/>
              <a:headEnd/>
              <a:tailEnd type="triangle" w="med" len="med"/>
            </a:ln>
          </p:spPr>
          <p:txBody>
            <a:bodyPr/>
            <a:lstStyle/>
            <a:p>
              <a:endParaRPr lang="en-IN"/>
            </a:p>
          </p:txBody>
        </p:sp>
        <p:sp>
          <p:nvSpPr>
            <p:cNvPr id="13385" name="Line 123"/>
            <p:cNvSpPr>
              <a:spLocks noChangeShapeType="1"/>
            </p:cNvSpPr>
            <p:nvPr/>
          </p:nvSpPr>
          <p:spPr bwMode="auto">
            <a:xfrm>
              <a:off x="8221" y="1941"/>
              <a:ext cx="2" cy="216"/>
            </a:xfrm>
            <a:prstGeom prst="line">
              <a:avLst/>
            </a:prstGeom>
            <a:noFill/>
            <a:ln w="9525">
              <a:solidFill>
                <a:srgbClr val="000000"/>
              </a:solidFill>
              <a:round/>
              <a:headEnd/>
              <a:tailEnd type="triangle" w="med" len="med"/>
            </a:ln>
          </p:spPr>
          <p:txBody>
            <a:bodyPr/>
            <a:lstStyle/>
            <a:p>
              <a:endParaRPr lang="en-IN"/>
            </a:p>
          </p:txBody>
        </p:sp>
      </p:grpSp>
      <p:sp>
        <p:nvSpPr>
          <p:cNvPr id="13315" name="Rectangle 195"/>
          <p:cNvSpPr>
            <a:spLocks noChangeArrowheads="1"/>
          </p:cNvSpPr>
          <p:nvPr/>
        </p:nvSpPr>
        <p:spPr bwMode="auto">
          <a:xfrm>
            <a:off x="852488" y="642922"/>
            <a:ext cx="6500812" cy="571500"/>
          </a:xfrm>
          <a:prstGeom prst="rect">
            <a:avLst/>
          </a:prstGeom>
          <a:solidFill>
            <a:srgbClr val="002060"/>
          </a:solidFill>
          <a:ln w="9525">
            <a:noFill/>
            <a:miter lim="800000"/>
            <a:headEnd/>
            <a:tailEnd/>
          </a:ln>
        </p:spPr>
        <p:txBody>
          <a:bodyPr/>
          <a:lstStyle/>
          <a:p>
            <a:pPr algn="ctr"/>
            <a:r>
              <a:rPr lang="en-US" altLang="en-US" sz="1400" b="1" dirty="0">
                <a:solidFill>
                  <a:srgbClr val="FFFFFF"/>
                </a:solidFill>
                <a:ea typeface="Times New Roman" pitchFamily="18" charset="0"/>
                <a:cs typeface="Arial" pitchFamily="34" charset="0"/>
              </a:rPr>
              <a:t>Existence</a:t>
            </a:r>
            <a:endParaRPr lang="en-US" altLang="en-US" sz="1400" dirty="0">
              <a:solidFill>
                <a:srgbClr val="FFFFFF"/>
              </a:solidFill>
              <a:ea typeface="Times New Roman" pitchFamily="18" charset="0"/>
              <a:cs typeface="Arial" pitchFamily="34" charset="0"/>
            </a:endParaRPr>
          </a:p>
          <a:p>
            <a:pPr algn="ctr"/>
            <a:r>
              <a:rPr lang="en-US" altLang="en-US" sz="1400" b="1" dirty="0">
                <a:solidFill>
                  <a:srgbClr val="FFFFFF"/>
                </a:solidFill>
                <a:ea typeface="Times New Roman" pitchFamily="18" charset="0"/>
                <a:cs typeface="Arial" pitchFamily="34" charset="0"/>
              </a:rPr>
              <a:t>(= Co-existence = Units submerged in Space)</a:t>
            </a:r>
            <a:endParaRPr lang="en-US" altLang="en-US" dirty="0">
              <a:solidFill>
                <a:srgbClr val="FFFFFF"/>
              </a:solidFill>
              <a:ea typeface="Times New Roman" pitchFamily="18" charset="0"/>
              <a:cs typeface="Arial" pitchFamily="34" charset="0"/>
            </a:endParaRPr>
          </a:p>
        </p:txBody>
      </p:sp>
      <p:sp>
        <p:nvSpPr>
          <p:cNvPr id="13316" name="Rectangle 196"/>
          <p:cNvSpPr>
            <a:spLocks noChangeArrowheads="1"/>
          </p:cNvSpPr>
          <p:nvPr/>
        </p:nvSpPr>
        <p:spPr bwMode="auto">
          <a:xfrm>
            <a:off x="685800" y="-76200"/>
            <a:ext cx="9144000" cy="457200"/>
          </a:xfrm>
          <a:prstGeom prst="rect">
            <a:avLst/>
          </a:prstGeom>
          <a:noFill/>
          <a:ln w="9525">
            <a:noFill/>
            <a:miter lim="800000"/>
            <a:headEnd/>
            <a:tailEnd/>
          </a:ln>
        </p:spPr>
        <p:txBody>
          <a:bodyPr wrap="none" anchor="ctr">
            <a:spAutoFit/>
          </a:bodyPr>
          <a:lstStyle/>
          <a:p>
            <a:endParaRPr lang="en-US" altLang="en-US">
              <a:solidFill>
                <a:srgbClr val="000000"/>
              </a:solidFill>
            </a:endParaRPr>
          </a:p>
        </p:txBody>
      </p:sp>
      <p:sp>
        <p:nvSpPr>
          <p:cNvPr id="13317" name="Rectangle 237"/>
          <p:cNvSpPr>
            <a:spLocks noChangeArrowheads="1"/>
          </p:cNvSpPr>
          <p:nvPr/>
        </p:nvSpPr>
        <p:spPr bwMode="auto">
          <a:xfrm>
            <a:off x="685800" y="7569200"/>
            <a:ext cx="9144000" cy="0"/>
          </a:xfrm>
          <a:prstGeom prst="rect">
            <a:avLst/>
          </a:prstGeom>
          <a:noFill/>
          <a:ln w="9525">
            <a:noFill/>
            <a:miter lim="800000"/>
            <a:headEnd/>
            <a:tailEnd/>
          </a:ln>
        </p:spPr>
        <p:txBody>
          <a:bodyPr wrap="none" anchor="ctr">
            <a:spAutoFit/>
          </a:bodyPr>
          <a:lstStyle/>
          <a:p>
            <a:endParaRPr lang="en-US" altLang="en-US" sz="1200">
              <a:solidFill>
                <a:srgbClr val="000000"/>
              </a:solidFill>
              <a:cs typeface="Times New Roman" pitchFamily="18" charset="0"/>
            </a:endParaRPr>
          </a:p>
          <a:p>
            <a:r>
              <a:rPr lang="en-US" altLang="en-US" sz="1200">
                <a:solidFill>
                  <a:srgbClr val="000000"/>
                </a:solidFill>
                <a:cs typeface="Times New Roman" pitchFamily="18" charset="0"/>
              </a:rPr>
              <a:t/>
            </a:r>
            <a:br>
              <a:rPr lang="en-US" altLang="en-US" sz="1200">
                <a:solidFill>
                  <a:srgbClr val="000000"/>
                </a:solidFill>
                <a:cs typeface="Times New Roman" pitchFamily="18" charset="0"/>
              </a:rPr>
            </a:br>
            <a:endParaRPr lang="en-US" altLang="en-US">
              <a:solidFill>
                <a:srgbClr val="000000"/>
              </a:solidFill>
            </a:endParaRPr>
          </a:p>
        </p:txBody>
      </p:sp>
      <p:sp>
        <p:nvSpPr>
          <p:cNvPr id="13318" name="Text Box 121"/>
          <p:cNvSpPr txBox="1">
            <a:spLocks noChangeArrowheads="1"/>
          </p:cNvSpPr>
          <p:nvPr/>
        </p:nvSpPr>
        <p:spPr bwMode="auto">
          <a:xfrm>
            <a:off x="1219200" y="5405455"/>
            <a:ext cx="3086100" cy="428628"/>
          </a:xfrm>
          <a:prstGeom prst="rect">
            <a:avLst/>
          </a:prstGeom>
          <a:noFill/>
          <a:ln w="9525">
            <a:noFill/>
            <a:miter lim="800000"/>
            <a:headEnd/>
            <a:tailEnd/>
          </a:ln>
        </p:spPr>
        <p:txBody>
          <a:bodyPr/>
          <a:lstStyle/>
          <a:p>
            <a:pPr algn="ctr"/>
            <a:r>
              <a:rPr lang="en-US" altLang="en-US" sz="1400" b="1" dirty="0">
                <a:solidFill>
                  <a:srgbClr val="FF0000"/>
                </a:solidFill>
                <a:ea typeface="Times New Roman" pitchFamily="18" charset="0"/>
                <a:cs typeface="Arial" pitchFamily="34" charset="0"/>
              </a:rPr>
              <a:t>Cyclic</a:t>
            </a:r>
            <a:endParaRPr lang="en-US" altLang="en-US" sz="1400" dirty="0">
              <a:solidFill>
                <a:srgbClr val="FF0000"/>
              </a:solidFill>
              <a:ea typeface="Times New Roman" pitchFamily="18" charset="0"/>
              <a:cs typeface="Arial" pitchFamily="34" charset="0"/>
            </a:endParaRPr>
          </a:p>
          <a:p>
            <a:pPr algn="ctr"/>
            <a:r>
              <a:rPr lang="en-US" altLang="en-US" sz="1400" b="1" dirty="0">
                <a:solidFill>
                  <a:srgbClr val="FF0000"/>
                </a:solidFill>
                <a:ea typeface="Times New Roman" pitchFamily="18" charset="0"/>
                <a:cs typeface="Arial" pitchFamily="34" charset="0"/>
              </a:rPr>
              <a:t>Composition – Decomposition</a:t>
            </a:r>
            <a:endParaRPr lang="en-US" altLang="en-US" sz="1400" dirty="0">
              <a:solidFill>
                <a:srgbClr val="FF0000"/>
              </a:solidFill>
              <a:ea typeface="Times New Roman" pitchFamily="18" charset="0"/>
              <a:cs typeface="Arial" pitchFamily="34" charset="0"/>
            </a:endParaRPr>
          </a:p>
          <a:p>
            <a:pPr algn="ctr"/>
            <a:endParaRPr lang="en-US" altLang="en-US" sz="1400" dirty="0">
              <a:solidFill>
                <a:srgbClr val="FF0000"/>
              </a:solidFill>
              <a:ea typeface="Times New Roman" pitchFamily="18" charset="0"/>
              <a:cs typeface="Arial" pitchFamily="34" charset="0"/>
            </a:endParaRPr>
          </a:p>
          <a:p>
            <a:endParaRPr lang="en-US" altLang="en-US" dirty="0">
              <a:solidFill>
                <a:srgbClr val="000000"/>
              </a:solidFill>
              <a:ea typeface="Times New Roman" pitchFamily="18" charset="0"/>
              <a:cs typeface="Arial" pitchFamily="34" charset="0"/>
            </a:endParaRPr>
          </a:p>
        </p:txBody>
      </p:sp>
      <p:sp>
        <p:nvSpPr>
          <p:cNvPr id="13319" name="Line 130"/>
          <p:cNvSpPr>
            <a:spLocks noChangeShapeType="1"/>
          </p:cNvSpPr>
          <p:nvPr/>
        </p:nvSpPr>
        <p:spPr bwMode="auto">
          <a:xfrm flipH="1">
            <a:off x="6477000" y="4643446"/>
            <a:ext cx="6350" cy="522288"/>
          </a:xfrm>
          <a:prstGeom prst="line">
            <a:avLst/>
          </a:prstGeom>
          <a:noFill/>
          <a:ln w="9525">
            <a:solidFill>
              <a:srgbClr val="000000"/>
            </a:solidFill>
            <a:round/>
            <a:headEnd/>
            <a:tailEnd type="triangle" w="med" len="med"/>
          </a:ln>
        </p:spPr>
        <p:txBody>
          <a:bodyPr/>
          <a:lstStyle/>
          <a:p>
            <a:endParaRPr lang="en-IN"/>
          </a:p>
        </p:txBody>
      </p:sp>
      <p:sp>
        <p:nvSpPr>
          <p:cNvPr id="13320" name="Text Box 135"/>
          <p:cNvSpPr txBox="1">
            <a:spLocks noChangeArrowheads="1"/>
          </p:cNvSpPr>
          <p:nvPr/>
        </p:nvSpPr>
        <p:spPr bwMode="auto">
          <a:xfrm>
            <a:off x="6461125" y="4572008"/>
            <a:ext cx="1463675" cy="573088"/>
          </a:xfrm>
          <a:prstGeom prst="rect">
            <a:avLst/>
          </a:prstGeom>
          <a:noFill/>
          <a:ln w="9525">
            <a:noFill/>
            <a:miter lim="800000"/>
            <a:headEnd/>
            <a:tailEnd/>
          </a:ln>
        </p:spPr>
        <p:txBody>
          <a:bodyPr/>
          <a:lstStyle/>
          <a:p>
            <a:r>
              <a:rPr lang="en-US" altLang="en-US" sz="1000" dirty="0">
                <a:solidFill>
                  <a:srgbClr val="000000"/>
                </a:solidFill>
                <a:ea typeface="Times New Roman" pitchFamily="18" charset="0"/>
                <a:cs typeface="Arial" pitchFamily="34" charset="0"/>
              </a:rPr>
              <a:t>Right Understanding</a:t>
            </a:r>
            <a:endParaRPr lang="en-US" altLang="en-US" sz="1400" dirty="0">
              <a:solidFill>
                <a:srgbClr val="000000"/>
              </a:solidFill>
              <a:ea typeface="Times New Roman" pitchFamily="18" charset="0"/>
              <a:cs typeface="Arial" pitchFamily="34" charset="0"/>
            </a:endParaRPr>
          </a:p>
        </p:txBody>
      </p:sp>
      <p:sp>
        <p:nvSpPr>
          <p:cNvPr id="13321" name="Text Box 131"/>
          <p:cNvSpPr txBox="1">
            <a:spLocks noChangeArrowheads="1"/>
          </p:cNvSpPr>
          <p:nvPr/>
        </p:nvSpPr>
        <p:spPr bwMode="auto">
          <a:xfrm>
            <a:off x="6469063" y="5000636"/>
            <a:ext cx="2141537" cy="581025"/>
          </a:xfrm>
          <a:prstGeom prst="rect">
            <a:avLst/>
          </a:prstGeom>
          <a:noFill/>
          <a:ln w="9525">
            <a:noFill/>
            <a:miter lim="800000"/>
            <a:headEnd/>
            <a:tailEnd/>
          </a:ln>
        </p:spPr>
        <p:txBody>
          <a:bodyPr/>
          <a:lstStyle/>
          <a:p>
            <a:r>
              <a:rPr lang="en-US" altLang="en-US" sz="1000" dirty="0">
                <a:solidFill>
                  <a:srgbClr val="000000"/>
                </a:solidFill>
                <a:ea typeface="Times New Roman" pitchFamily="18" charset="0"/>
                <a:cs typeface="Arial" pitchFamily="34" charset="0"/>
              </a:rPr>
              <a:t>Living with Right Understanding, Right Feeling &amp; Right Thought</a:t>
            </a:r>
          </a:p>
        </p:txBody>
      </p:sp>
      <p:sp>
        <p:nvSpPr>
          <p:cNvPr id="13322" name="Text Box 127"/>
          <p:cNvSpPr txBox="1">
            <a:spLocks noChangeArrowheads="1"/>
          </p:cNvSpPr>
          <p:nvPr/>
        </p:nvSpPr>
        <p:spPr bwMode="auto">
          <a:xfrm>
            <a:off x="4724400" y="5500703"/>
            <a:ext cx="3962400" cy="357190"/>
          </a:xfrm>
          <a:prstGeom prst="rect">
            <a:avLst/>
          </a:prstGeom>
          <a:noFill/>
          <a:ln w="9525">
            <a:noFill/>
            <a:miter lim="800000"/>
            <a:headEnd/>
            <a:tailEnd/>
          </a:ln>
        </p:spPr>
        <p:txBody>
          <a:bodyPr/>
          <a:lstStyle/>
          <a:p>
            <a:pPr algn="ctr"/>
            <a:r>
              <a:rPr lang="en-US" altLang="en-US" sz="1200" b="1" dirty="0">
                <a:solidFill>
                  <a:srgbClr val="000000"/>
                </a:solidFill>
                <a:ea typeface="Times New Roman" pitchFamily="18" charset="0"/>
                <a:cs typeface="Arial" pitchFamily="34" charset="0"/>
              </a:rPr>
              <a:t>Conduct Completeness (Definite Human Conduct)</a:t>
            </a:r>
            <a:endParaRPr lang="en-US" altLang="en-US" sz="1400" dirty="0">
              <a:solidFill>
                <a:srgbClr val="000000"/>
              </a:solidFill>
              <a:ea typeface="Times New Roman" pitchFamily="18" charset="0"/>
              <a:cs typeface="Arial" pitchFamily="34" charset="0"/>
            </a:endParaRPr>
          </a:p>
        </p:txBody>
      </p:sp>
      <p:grpSp>
        <p:nvGrpSpPr>
          <p:cNvPr id="7" name="Group 85"/>
          <p:cNvGrpSpPr>
            <a:grpSpLocks/>
          </p:cNvGrpSpPr>
          <p:nvPr/>
        </p:nvGrpSpPr>
        <p:grpSpPr bwMode="auto">
          <a:xfrm>
            <a:off x="928662" y="5619768"/>
            <a:ext cx="381000" cy="306387"/>
            <a:chOff x="2475690" y="3657600"/>
            <a:chExt cx="381742" cy="306746"/>
          </a:xfrm>
        </p:grpSpPr>
        <p:sp>
          <p:nvSpPr>
            <p:cNvPr id="13332"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33"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grpSp>
        <p:nvGrpSpPr>
          <p:cNvPr id="8" name="Group 86"/>
          <p:cNvGrpSpPr>
            <a:grpSpLocks/>
          </p:cNvGrpSpPr>
          <p:nvPr/>
        </p:nvGrpSpPr>
        <p:grpSpPr bwMode="auto">
          <a:xfrm>
            <a:off x="4000496" y="5548330"/>
            <a:ext cx="381000" cy="306388"/>
            <a:chOff x="2475690" y="3657600"/>
            <a:chExt cx="381742" cy="306746"/>
          </a:xfrm>
        </p:grpSpPr>
        <p:sp>
          <p:nvSpPr>
            <p:cNvPr id="13330"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31"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grpSp>
        <p:nvGrpSpPr>
          <p:cNvPr id="9" name="Group 89"/>
          <p:cNvGrpSpPr>
            <a:grpSpLocks/>
          </p:cNvGrpSpPr>
          <p:nvPr/>
        </p:nvGrpSpPr>
        <p:grpSpPr bwMode="auto">
          <a:xfrm>
            <a:off x="2514600" y="3733800"/>
            <a:ext cx="381000" cy="306388"/>
            <a:chOff x="2475690" y="3657600"/>
            <a:chExt cx="381742" cy="306746"/>
          </a:xfrm>
        </p:grpSpPr>
        <p:sp>
          <p:nvSpPr>
            <p:cNvPr id="13328"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29"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sp>
        <p:nvSpPr>
          <p:cNvPr id="13326" name="Text Box 181"/>
          <p:cNvSpPr txBox="1">
            <a:spLocks noChangeArrowheads="1"/>
          </p:cNvSpPr>
          <p:nvPr/>
        </p:nvSpPr>
        <p:spPr bwMode="auto">
          <a:xfrm>
            <a:off x="4191000" y="2800350"/>
            <a:ext cx="685800" cy="304800"/>
          </a:xfrm>
          <a:prstGeom prst="rect">
            <a:avLst/>
          </a:prstGeom>
          <a:solidFill>
            <a:srgbClr val="FFFFFF"/>
          </a:solidFill>
          <a:ln w="9525">
            <a:solidFill>
              <a:srgbClr val="FFFFFF"/>
            </a:solidFill>
            <a:miter lim="800000"/>
            <a:headEnd/>
            <a:tailEnd/>
          </a:ln>
        </p:spPr>
        <p:txBody>
          <a:bodyPr/>
          <a:lstStyle/>
          <a:p>
            <a:r>
              <a:rPr lang="en-US" altLang="en-US" sz="1200" b="1">
                <a:solidFill>
                  <a:srgbClr val="000000"/>
                </a:solidFill>
                <a:ea typeface="Times New Roman" pitchFamily="18" charset="0"/>
                <a:cs typeface="Arial" pitchFamily="34" charset="0"/>
              </a:rPr>
              <a:t>Self (I)</a:t>
            </a:r>
            <a:endParaRPr lang="en-US" altLang="en-US" sz="2800" b="1">
              <a:solidFill>
                <a:srgbClr val="000000"/>
              </a:solidFill>
              <a:ea typeface="Times New Roman" pitchFamily="18" charset="0"/>
              <a:cs typeface="Arial" pitchFamily="34" charset="0"/>
            </a:endParaRPr>
          </a:p>
        </p:txBody>
      </p:sp>
      <p:sp>
        <p:nvSpPr>
          <p:cNvPr id="13327" name="Text Box 120"/>
          <p:cNvSpPr txBox="1">
            <a:spLocks noChangeArrowheads="1"/>
          </p:cNvSpPr>
          <p:nvPr/>
        </p:nvSpPr>
        <p:spPr bwMode="auto">
          <a:xfrm rot="-5400000">
            <a:off x="7569999" y="2502703"/>
            <a:ext cx="2286016" cy="423834"/>
          </a:xfrm>
          <a:prstGeom prst="rect">
            <a:avLst/>
          </a:prstGeom>
          <a:noFill/>
          <a:ln w="9525">
            <a:noFill/>
            <a:miter lim="800000"/>
            <a:headEnd/>
            <a:tailEnd/>
          </a:ln>
        </p:spPr>
        <p:txBody>
          <a:bodyPr/>
          <a:lstStyle/>
          <a:p>
            <a:pPr algn="ctr"/>
            <a:r>
              <a:rPr lang="en-US" altLang="en-US" sz="1400" b="1" dirty="0">
                <a:solidFill>
                  <a:srgbClr val="FF0000"/>
                </a:solidFill>
                <a:ea typeface="Times New Roman" pitchFamily="18" charset="0"/>
                <a:cs typeface="Arial" pitchFamily="34" charset="0"/>
              </a:rPr>
              <a:t>Development </a:t>
            </a:r>
            <a:endParaRPr lang="en-US" altLang="en-US" sz="1400" dirty="0">
              <a:solidFill>
                <a:srgbClr val="FF0000"/>
              </a:solidFill>
              <a:ea typeface="Times New Roman" pitchFamily="18" charset="0"/>
              <a:cs typeface="Arial" pitchFamily="34" charset="0"/>
            </a:endParaRPr>
          </a:p>
          <a:p>
            <a:pPr algn="ctr"/>
            <a:r>
              <a:rPr lang="en-US" altLang="en-US" sz="1400" b="1" dirty="0">
                <a:solidFill>
                  <a:srgbClr val="FF0000"/>
                </a:solidFill>
                <a:ea typeface="Times New Roman" pitchFamily="18" charset="0"/>
                <a:cs typeface="Arial" pitchFamily="34" charset="0"/>
              </a:rPr>
              <a:t>Not Cyclic</a:t>
            </a:r>
            <a:endParaRPr lang="en-US" altLang="en-US" sz="1600" b="1" dirty="0">
              <a:solidFill>
                <a:srgbClr val="FF0000"/>
              </a:solidFill>
              <a:latin typeface="Kruti Dev 010" pitchFamily="2" charset="0"/>
              <a:ea typeface="Times New Roman" pitchFamily="18" charset="0"/>
              <a:cs typeface="Arial" pitchFamily="34" charset="0"/>
            </a:endParaRPr>
          </a:p>
        </p:txBody>
      </p:sp>
      <p:sp>
        <p:nvSpPr>
          <p:cNvPr id="88" name="Title 1"/>
          <p:cNvSpPr txBox="1">
            <a:spLocks/>
          </p:cNvSpPr>
          <p:nvPr/>
        </p:nvSpPr>
        <p:spPr>
          <a:xfrm>
            <a:off x="1371600" y="0"/>
            <a:ext cx="7772400" cy="50004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Existence</a:t>
            </a:r>
            <a:endParaRPr lang="en-US" sz="3200" b="1" dirty="0">
              <a:latin typeface="Arial" pitchFamily="34" charset="0"/>
              <a:cs typeface="Arial" pitchFamily="34" charset="0"/>
            </a:endParaRPr>
          </a:p>
        </p:txBody>
      </p:sp>
      <p:pic>
        <p:nvPicPr>
          <p:cNvPr id="89" name="Picture 2" descr="E:\NIET\Project\xLogo11.png.pagespeed.ic.pydHLuCQEZ.png"/>
          <p:cNvPicPr>
            <a:picLocks noChangeAspect="1" noChangeArrowheads="1"/>
          </p:cNvPicPr>
          <p:nvPr/>
        </p:nvPicPr>
        <p:blipFill>
          <a:blip r:embed="rId2"/>
          <a:srcRect/>
          <a:stretch>
            <a:fillRect/>
          </a:stretch>
        </p:blipFill>
        <p:spPr bwMode="auto">
          <a:xfrm>
            <a:off x="0" y="0"/>
            <a:ext cx="1447800" cy="500042"/>
          </a:xfrm>
          <a:prstGeom prst="rect">
            <a:avLst/>
          </a:prstGeom>
          <a:noFill/>
        </p:spPr>
      </p:pic>
      <p:sp>
        <p:nvSpPr>
          <p:cNvPr id="90" name="Rectangle 89"/>
          <p:cNvSpPr/>
          <p:nvPr/>
        </p:nvSpPr>
        <p:spPr>
          <a:xfrm>
            <a:off x="7572396" y="928670"/>
            <a:ext cx="1285884" cy="646331"/>
          </a:xfrm>
          <a:prstGeom prst="rect">
            <a:avLst/>
          </a:prstGeom>
        </p:spPr>
        <p:txBody>
          <a:bodyPr wrap="square">
            <a:spAutoFit/>
          </a:bodyPr>
          <a:lstStyle/>
          <a:p>
            <a:r>
              <a:rPr lang="en-US" altLang="en-US" dirty="0">
                <a:solidFill>
                  <a:srgbClr val="FF0000"/>
                </a:solidFill>
                <a:cs typeface="Arial" pitchFamily="34" charset="0"/>
              </a:rPr>
              <a:t>Universal Order</a:t>
            </a:r>
            <a:endParaRPr lang="hi-IN" altLang="en-US" dirty="0">
              <a:solidFill>
                <a:srgbClr val="FF0000"/>
              </a:solidFill>
              <a:cs typeface="Arial" pitchFamily="34" charset="0"/>
            </a:endParaRPr>
          </a:p>
        </p:txBody>
      </p:sp>
      <p:sp>
        <p:nvSpPr>
          <p:cNvPr id="95" name="Rectangle 94"/>
          <p:cNvSpPr/>
          <p:nvPr/>
        </p:nvSpPr>
        <p:spPr>
          <a:xfrm>
            <a:off x="4714876" y="3286124"/>
            <a:ext cx="4429124" cy="27860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6" name="Picture 92" descr="Picture1.png"/>
          <p:cNvPicPr>
            <a:picLocks noChangeAspect="1"/>
          </p:cNvPicPr>
          <p:nvPr/>
        </p:nvPicPr>
        <p:blipFill>
          <a:blip r:embed="rId3"/>
          <a:srcRect/>
          <a:stretch>
            <a:fillRect/>
          </a:stretch>
        </p:blipFill>
        <p:spPr bwMode="auto">
          <a:xfrm>
            <a:off x="4857752" y="3357562"/>
            <a:ext cx="4071966" cy="2792433"/>
          </a:xfrm>
          <a:prstGeom prst="rect">
            <a:avLst/>
          </a:prstGeom>
          <a:noFill/>
          <a:ln w="9525">
            <a:noFill/>
            <a:miter lim="800000"/>
            <a:headEnd/>
            <a:tailEnd/>
          </a:ln>
        </p:spPr>
      </p:pic>
      <p:sp>
        <p:nvSpPr>
          <p:cNvPr id="93" name="Date Placeholder 92"/>
          <p:cNvSpPr>
            <a:spLocks noGrp="1"/>
          </p:cNvSpPr>
          <p:nvPr>
            <p:ph type="dt" sz="half" idx="10"/>
          </p:nvPr>
        </p:nvSpPr>
        <p:spPr/>
        <p:txBody>
          <a:bodyPr/>
          <a:lstStyle/>
          <a:p>
            <a:fld id="{445C0DEF-69B3-4ED2-BFF4-0E12381E92EE}" type="datetime1">
              <a:rPr lang="en-US" smtClean="0"/>
              <a:pPr/>
              <a:t>06/25/21</a:t>
            </a:fld>
            <a:endParaRPr lang="en-US"/>
          </a:p>
        </p:txBody>
      </p:sp>
      <p:sp>
        <p:nvSpPr>
          <p:cNvPr id="94" name="Slide Number Placeholder 93"/>
          <p:cNvSpPr>
            <a:spLocks noGrp="1"/>
          </p:cNvSpPr>
          <p:nvPr>
            <p:ph type="sldNum" sz="quarter" idx="12"/>
          </p:nvPr>
        </p:nvSpPr>
        <p:spPr/>
        <p:txBody>
          <a:bodyPr/>
          <a:lstStyle/>
          <a:p>
            <a:fld id="{B6F15528-21DE-4FAA-801E-634DDDAF4B2B}" type="slidenum">
              <a:rPr lang="en-US" smtClean="0"/>
              <a:pPr/>
              <a:t>25</a:t>
            </a:fld>
            <a:endParaRPr lang="en-US"/>
          </a:p>
        </p:txBody>
      </p:sp>
      <p:sp>
        <p:nvSpPr>
          <p:cNvPr id="97" name="Footer Placeholder 96"/>
          <p:cNvSpPr>
            <a:spLocks noGrp="1"/>
          </p:cNvSpPr>
          <p:nvPr>
            <p:ph type="ftr" sz="quarter" idx="11"/>
          </p:nvPr>
        </p:nvSpPr>
        <p:spPr>
          <a:xfrm>
            <a:off x="2285984" y="6356350"/>
            <a:ext cx="5857916" cy="365125"/>
          </a:xfrm>
        </p:spPr>
        <p:txBody>
          <a:bodyPr/>
          <a:lstStyle/>
          <a:p>
            <a:r>
              <a:rPr lang="fi-FI" smtClean="0"/>
              <a:t>SHYAM  LAL SHARMA             KOE069 UHV-2               Unit -4</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Placeholder 2"/>
          <p:cNvSpPr>
            <a:spLocks noGrp="1" noChangeArrowheads="1"/>
          </p:cNvSpPr>
          <p:nvPr>
            <p:ph type="body" sz="quarter" idx="4294967295"/>
          </p:nvPr>
        </p:nvSpPr>
        <p:spPr bwMode="auto">
          <a:xfrm>
            <a:off x="214282" y="1109666"/>
            <a:ext cx="8929718" cy="5319730"/>
          </a:xfrm>
          <a:prstGeom prst="rect">
            <a:avLst/>
          </a:prstGeom>
          <a:noFill/>
          <a:ln>
            <a:miter lim="800000"/>
            <a:headEnd/>
            <a:tailEnd/>
          </a:ln>
        </p:spPr>
        <p:txBody>
          <a:bodyPr vert="horz" wrap="square" lIns="91440" tIns="45720" rIns="91440" bIns="45720" numCol="1" anchor="t" anchorCtr="0" compatLnSpc="1">
            <a:prstTxWarp prst="textNoShape">
              <a:avLst/>
            </a:prstTxWarp>
            <a:normAutofit/>
          </a:bodyPr>
          <a:lstStyle/>
          <a:p>
            <a:pPr>
              <a:buFont typeface="Symbol" pitchFamily="18" charset="2"/>
              <a:buNone/>
            </a:pPr>
            <a:r>
              <a:rPr altLang="en-US" sz="2200">
                <a:solidFill>
                  <a:srgbClr val="1E00AA"/>
                </a:solidFill>
                <a:latin typeface="Arial" pitchFamily="34" charset="0"/>
                <a:cs typeface="Arial" pitchFamily="34" charset="0"/>
              </a:rPr>
              <a:t>What is my role in Existence?</a:t>
            </a:r>
          </a:p>
          <a:p>
            <a:pPr>
              <a:buFont typeface="Symbol" pitchFamily="18" charset="2"/>
              <a:buNone/>
            </a:pPr>
            <a:endParaRPr lang="en-GB" altLang="en-US" sz="2200" dirty="0">
              <a:latin typeface="Arial" pitchFamily="34" charset="0"/>
              <a:cs typeface="Arial" pitchFamily="34" charset="0"/>
            </a:endParaRPr>
          </a:p>
          <a:p>
            <a:pPr>
              <a:buFont typeface="Symbol" pitchFamily="18" charset="2"/>
              <a:buNone/>
            </a:pPr>
            <a:r>
              <a:rPr altLang="en-US" sz="2200" u="sng">
                <a:solidFill>
                  <a:srgbClr val="1E00AA"/>
                </a:solidFill>
                <a:latin typeface="Arial" pitchFamily="34" charset="0"/>
                <a:cs typeface="Arial" pitchFamily="34" charset="0"/>
              </a:rPr>
              <a:t>Existence</a:t>
            </a:r>
            <a:r>
              <a:rPr altLang="en-US" sz="2200">
                <a:solidFill>
                  <a:srgbClr val="1E00AA"/>
                </a:solidFill>
                <a:latin typeface="Arial" pitchFamily="34" charset="0"/>
                <a:cs typeface="Arial" pitchFamily="34" charset="0"/>
              </a:rPr>
              <a:t> based </a:t>
            </a:r>
            <a:r>
              <a:rPr altLang="en-US" sz="2200" u="sng">
                <a:solidFill>
                  <a:srgbClr val="1E00AA"/>
                </a:solidFill>
                <a:latin typeface="Arial" pitchFamily="34" charset="0"/>
                <a:cs typeface="Arial" pitchFamily="34" charset="0"/>
              </a:rPr>
              <a:t>human</a:t>
            </a:r>
            <a:r>
              <a:rPr altLang="en-US" sz="2200">
                <a:solidFill>
                  <a:srgbClr val="1E00AA"/>
                </a:solidFill>
                <a:latin typeface="Arial" pitchFamily="34" charset="0"/>
                <a:cs typeface="Arial" pitchFamily="34" charset="0"/>
              </a:rPr>
              <a:t> centric </a:t>
            </a:r>
            <a:r>
              <a:rPr altLang="en-US" sz="2200" u="sng">
                <a:solidFill>
                  <a:srgbClr val="1E00AA"/>
                </a:solidFill>
                <a:latin typeface="Arial" pitchFamily="34" charset="0"/>
                <a:cs typeface="Arial" pitchFamily="34" charset="0"/>
              </a:rPr>
              <a:t>contemplation</a:t>
            </a:r>
          </a:p>
          <a:p>
            <a:pPr>
              <a:buFont typeface="Symbol" pitchFamily="18" charset="2"/>
              <a:buNone/>
            </a:pPr>
            <a:r>
              <a:rPr altLang="en-US" sz="2200">
                <a:solidFill>
                  <a:srgbClr val="1E00AA"/>
                </a:solidFill>
                <a:latin typeface="Arial" pitchFamily="34" charset="0"/>
                <a:cs typeface="Arial" pitchFamily="34" charset="0"/>
              </a:rPr>
              <a:t>1			    2			3</a:t>
            </a:r>
          </a:p>
          <a:p>
            <a:pPr>
              <a:buFont typeface="Symbol" pitchFamily="18" charset="2"/>
              <a:buNone/>
            </a:pPr>
            <a:endParaRPr altLang="en-US" sz="2200">
              <a:solidFill>
                <a:srgbClr val="1E00AA"/>
              </a:solidFill>
              <a:latin typeface="Arial" pitchFamily="34" charset="0"/>
              <a:cs typeface="Arial" pitchFamily="34" charset="0"/>
            </a:endParaRPr>
          </a:p>
          <a:p>
            <a:pPr>
              <a:buFont typeface="Symbol" pitchFamily="18" charset="2"/>
              <a:buNone/>
            </a:pPr>
            <a:r>
              <a:rPr altLang="en-US" sz="2200">
                <a:solidFill>
                  <a:srgbClr val="1E00AA"/>
                </a:solidFill>
                <a:latin typeface="Arial" pitchFamily="34" charset="0"/>
                <a:cs typeface="Arial" pitchFamily="34" charset="0"/>
              </a:rPr>
              <a:t>Contemplation of role of Human Being in Existence (which is the base)</a:t>
            </a:r>
          </a:p>
          <a:p>
            <a:pPr>
              <a:buFont typeface="Symbol" pitchFamily="18" charset="2"/>
              <a:buNone/>
            </a:pPr>
            <a:r>
              <a:rPr altLang="en-US" sz="2200">
                <a:solidFill>
                  <a:srgbClr val="1E00AA"/>
                </a:solidFill>
                <a:latin typeface="Arial" pitchFamily="34" charset="0"/>
                <a:cs typeface="Arial" pitchFamily="34" charset="0"/>
              </a:rPr>
              <a:t>3					2		1</a:t>
            </a:r>
          </a:p>
          <a:p>
            <a:pPr>
              <a:buFont typeface="Symbol" pitchFamily="18" charset="2"/>
              <a:buNone/>
            </a:pPr>
            <a:endParaRPr lang="en-GB" altLang="en-US" sz="2200" dirty="0">
              <a:latin typeface="Arial" pitchFamily="34" charset="0"/>
              <a:cs typeface="Arial" pitchFamily="34" charset="0"/>
            </a:endParaRPr>
          </a:p>
        </p:txBody>
      </p:sp>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6429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Existence (CO4)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F05B47E6-34B3-4BD7-A14D-840E1B93E7D5}"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Footer Placeholder 7"/>
          <p:cNvSpPr>
            <a:spLocks noGrp="1"/>
          </p:cNvSpPr>
          <p:nvPr>
            <p:ph type="ftr" sz="quarter" idx="11"/>
          </p:nvPr>
        </p:nvSpPr>
        <p:spPr>
          <a:xfrm>
            <a:off x="2500298" y="6356350"/>
            <a:ext cx="5643602" cy="365125"/>
          </a:xfrm>
        </p:spPr>
        <p:txBody>
          <a:bodyPr/>
          <a:lstStyle/>
          <a:p>
            <a:r>
              <a:rPr lang="fi-FI" smtClean="0"/>
              <a:t>SHYAM  LAL SHARMA             KOE069 UHV-2               Unit -4</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noChangeArrowheads="1"/>
          </p:cNvSpPr>
          <p:nvPr>
            <p:ph type="body" sz="quarter" idx="4294967295"/>
          </p:nvPr>
        </p:nvSpPr>
        <p:spPr bwMode="auto">
          <a:xfrm>
            <a:off x="0" y="1142984"/>
            <a:ext cx="9144000" cy="5715016"/>
          </a:xfrm>
          <a:prstGeom prst="rect">
            <a:avLst/>
          </a:prstGeom>
          <a:noFill/>
          <a:ln>
            <a:miter lim="800000"/>
            <a:headEnd/>
            <a:tailEnd/>
          </a:ln>
        </p:spPr>
        <p:txBody>
          <a:bodyPr vert="horz" wrap="square" lIns="91440" tIns="45720" rIns="91440" bIns="45720" numCol="1" anchor="t" anchorCtr="0" compatLnSpc="1">
            <a:prstTxWarp prst="textNoShape">
              <a:avLst/>
            </a:prstTxWarp>
            <a:normAutofit/>
          </a:bodyPr>
          <a:lstStyle/>
          <a:p>
            <a:pPr lvl="1">
              <a:lnSpc>
                <a:spcPct val="90000"/>
              </a:lnSpc>
              <a:buFont typeface="Wingdings" pitchFamily="2" charset="2"/>
              <a:buChar char="§"/>
            </a:pPr>
            <a:r>
              <a:rPr lang="en-GB" altLang="en-US" sz="2200" dirty="0">
                <a:solidFill>
                  <a:srgbClr val="1E00AA"/>
                </a:solidFill>
                <a:latin typeface="Arial" pitchFamily="34" charset="0"/>
                <a:cs typeface="Arial" pitchFamily="34" charset="0"/>
              </a:rPr>
              <a:t>	To understand what is co-existence 			– Knowledge</a:t>
            </a:r>
          </a:p>
          <a:p>
            <a:pPr>
              <a:lnSpc>
                <a:spcPct val="90000"/>
              </a:lnSpc>
              <a:buFont typeface="Symbol" pitchFamily="18" charset="2"/>
              <a:buNone/>
            </a:pPr>
            <a:endParaRPr lang="en-GB" altLang="en-US" sz="2200" dirty="0">
              <a:latin typeface="Arial" pitchFamily="34" charset="0"/>
              <a:cs typeface="Arial" pitchFamily="34" charset="0"/>
            </a:endParaRPr>
          </a:p>
          <a:p>
            <a:pPr>
              <a:lnSpc>
                <a:spcPct val="90000"/>
              </a:lnSpc>
              <a:buFont typeface="Symbol" pitchFamily="18" charset="2"/>
              <a:buNone/>
            </a:pPr>
            <a:endParaRPr lang="hi-IN" altLang="en-US" sz="2200" dirty="0">
              <a:latin typeface="Arial" pitchFamily="34" charset="0"/>
            </a:endParaRPr>
          </a:p>
          <a:p>
            <a:pPr lvl="1">
              <a:lnSpc>
                <a:spcPct val="90000"/>
              </a:lnSpc>
              <a:buFont typeface="Wingdings" pitchFamily="2" charset="2"/>
              <a:buChar char="§"/>
            </a:pPr>
            <a:r>
              <a:rPr lang="en-GB" altLang="en-US" sz="2200" dirty="0">
                <a:solidFill>
                  <a:srgbClr val="1E00AA"/>
                </a:solidFill>
                <a:latin typeface="Arial" pitchFamily="34" charset="0"/>
                <a:cs typeface="Arial" pitchFamily="34" charset="0"/>
              </a:rPr>
              <a:t>	To ensure the feeling, thought of co-existence 	– Resolution</a:t>
            </a:r>
          </a:p>
        </p:txBody>
      </p:sp>
      <p:pic>
        <p:nvPicPr>
          <p:cNvPr id="9"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10" name="Title 1"/>
          <p:cNvSpPr txBox="1">
            <a:spLocks/>
          </p:cNvSpPr>
          <p:nvPr/>
        </p:nvSpPr>
        <p:spPr>
          <a:xfrm>
            <a:off x="1371600" y="0"/>
            <a:ext cx="7772400" cy="6429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altLang="en-US" sz="3200" dirty="0">
                <a:latin typeface="Arial" pitchFamily="34" charset="0"/>
                <a:cs typeface="Arial" pitchFamily="34" charset="0"/>
              </a:rPr>
              <a:t>To understand the co-existence(CO4)</a:t>
            </a:r>
            <a:endParaRPr lang="en-IN" sz="3200" dirty="0">
              <a:latin typeface="Arial" pitchFamily="34" charset="0"/>
              <a:cs typeface="Arial" pitchFamily="34" charset="0"/>
            </a:endParaRPr>
          </a:p>
        </p:txBody>
      </p:sp>
      <p:sp>
        <p:nvSpPr>
          <p:cNvPr id="5" name="Date Placeholder 4"/>
          <p:cNvSpPr>
            <a:spLocks noGrp="1"/>
          </p:cNvSpPr>
          <p:nvPr>
            <p:ph type="dt" sz="half" idx="10"/>
          </p:nvPr>
        </p:nvSpPr>
        <p:spPr/>
        <p:txBody>
          <a:bodyPr/>
          <a:lstStyle/>
          <a:p>
            <a:fld id="{0D4FE0B6-69E7-43DB-9A10-9154FBCC0341}"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7" name="Footer Placeholder 6"/>
          <p:cNvSpPr>
            <a:spLocks noGrp="1"/>
          </p:cNvSpPr>
          <p:nvPr>
            <p:ph type="ftr" sz="quarter" idx="11"/>
          </p:nvPr>
        </p:nvSpPr>
        <p:spPr>
          <a:xfrm>
            <a:off x="2071670" y="6356350"/>
            <a:ext cx="5643602" cy="365125"/>
          </a:xfrm>
        </p:spPr>
        <p:txBody>
          <a:bodyPr/>
          <a:lstStyle/>
          <a:p>
            <a:r>
              <a:rPr lang="fi-FI" smtClean="0"/>
              <a:t>SHYAM  LAL SHARMA             KOE069 UHV-2               Unit -4</a:t>
            </a:r>
            <a:endParaRPr 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Placeholder 2"/>
          <p:cNvSpPr>
            <a:spLocks noGrp="1" noChangeArrowheads="1"/>
          </p:cNvSpPr>
          <p:nvPr>
            <p:ph type="body" sz="quarter" idx="4294967295"/>
          </p:nvPr>
        </p:nvSpPr>
        <p:spPr bwMode="auto">
          <a:xfrm>
            <a:off x="0" y="857232"/>
            <a:ext cx="9144000" cy="5695968"/>
          </a:xfrm>
          <a:prstGeom prst="rect">
            <a:avLst/>
          </a:prstGeom>
          <a:noFill/>
          <a:ln>
            <a:miter lim="800000"/>
            <a:headEnd/>
            <a:tailEnd/>
          </a:ln>
        </p:spPr>
        <p:txBody>
          <a:bodyPr vert="horz" wrap="square" lIns="91440" tIns="45720" rIns="91440" bIns="45720" numCol="1" anchor="t" anchorCtr="0" compatLnSpc="1">
            <a:prstTxWarp prst="textNoShape">
              <a:avLst/>
            </a:prstTxWarp>
            <a:normAutofit/>
          </a:bodyPr>
          <a:lstStyle/>
          <a:p>
            <a:pPr lvl="1">
              <a:lnSpc>
                <a:spcPct val="90000"/>
              </a:lnSpc>
              <a:buFont typeface="Wingdings" pitchFamily="2" charset="2"/>
              <a:buNone/>
            </a:pPr>
            <a:r>
              <a:rPr lang="en-GB" altLang="en-US" sz="2200" dirty="0">
                <a:latin typeface="Arial" pitchFamily="34" charset="0"/>
                <a:cs typeface="Arial" pitchFamily="34" charset="0"/>
              </a:rPr>
              <a:t>	</a:t>
            </a:r>
          </a:p>
          <a:p>
            <a:pPr lvl="1">
              <a:lnSpc>
                <a:spcPct val="90000"/>
              </a:lnSpc>
              <a:buFont typeface="Wingdings" pitchFamily="2" charset="2"/>
              <a:buChar char="§"/>
            </a:pPr>
            <a:r>
              <a:rPr lang="en-GB" altLang="en-US" sz="2200" dirty="0">
                <a:solidFill>
                  <a:srgbClr val="1E00AA"/>
                </a:solidFill>
                <a:latin typeface="Arial" pitchFamily="34" charset="0"/>
                <a:cs typeface="Arial" pitchFamily="34" charset="0"/>
              </a:rPr>
              <a:t>To live in relationship with human-beings </a:t>
            </a:r>
          </a:p>
          <a:p>
            <a:pPr lvl="1">
              <a:lnSpc>
                <a:spcPct val="90000"/>
              </a:lnSpc>
              <a:buFont typeface="Wingdings" pitchFamily="2" charset="2"/>
              <a:buChar char="§"/>
            </a:pPr>
            <a:endParaRPr lang="en-GB" altLang="en-US" sz="2200" dirty="0">
              <a:solidFill>
                <a:srgbClr val="1E00AA"/>
              </a:solidFill>
              <a:latin typeface="Arial" pitchFamily="34" charset="0"/>
              <a:cs typeface="Arial" pitchFamily="34" charset="0"/>
            </a:endParaRPr>
          </a:p>
          <a:p>
            <a:pPr lvl="1">
              <a:lnSpc>
                <a:spcPct val="90000"/>
              </a:lnSpc>
              <a:buFont typeface="Wingdings" pitchFamily="2" charset="2"/>
              <a:buNone/>
            </a:pPr>
            <a:r>
              <a:rPr lang="en-GB" altLang="en-US" sz="2200" dirty="0">
                <a:solidFill>
                  <a:srgbClr val="1E00AA"/>
                </a:solidFill>
                <a:latin typeface="Arial" pitchFamily="34" charset="0"/>
                <a:cs typeface="Arial" pitchFamily="34" charset="0"/>
              </a:rPr>
              <a:t>		–family to world family – 		- Undivided Society</a:t>
            </a:r>
          </a:p>
          <a:p>
            <a:pPr>
              <a:lnSpc>
                <a:spcPct val="90000"/>
              </a:lnSpc>
              <a:buFont typeface="Symbol" pitchFamily="18" charset="2"/>
              <a:buNone/>
            </a:pPr>
            <a:endParaRPr lang="hi-IN" altLang="en-US" sz="2200" dirty="0">
              <a:latin typeface="Arial" pitchFamily="34" charset="0"/>
            </a:endParaRPr>
          </a:p>
          <a:p>
            <a:pPr lvl="1">
              <a:lnSpc>
                <a:spcPct val="90000"/>
              </a:lnSpc>
              <a:buFont typeface="Wingdings" pitchFamily="2" charset="2"/>
              <a:buChar char="§"/>
            </a:pPr>
            <a:r>
              <a:rPr lang="en-GB" altLang="en-US" sz="2200" dirty="0">
                <a:solidFill>
                  <a:srgbClr val="1E00AA"/>
                </a:solidFill>
                <a:latin typeface="Arial" pitchFamily="34" charset="0"/>
                <a:cs typeface="Arial" pitchFamily="34" charset="0"/>
              </a:rPr>
              <a:t>	To live in co-existence in nature </a:t>
            </a:r>
          </a:p>
          <a:p>
            <a:pPr lvl="1">
              <a:lnSpc>
                <a:spcPct val="90000"/>
              </a:lnSpc>
              <a:buNone/>
            </a:pPr>
            <a:endParaRPr lang="en-GB" altLang="en-US" sz="2200" dirty="0">
              <a:solidFill>
                <a:srgbClr val="1E00AA"/>
              </a:solidFill>
              <a:latin typeface="Arial" pitchFamily="34" charset="0"/>
              <a:cs typeface="Arial" pitchFamily="34" charset="0"/>
            </a:endParaRPr>
          </a:p>
          <a:p>
            <a:pPr lvl="1">
              <a:lnSpc>
                <a:spcPct val="90000"/>
              </a:lnSpc>
              <a:buFont typeface="Wingdings" pitchFamily="2" charset="2"/>
              <a:buNone/>
            </a:pPr>
            <a:r>
              <a:rPr lang="en-GB" altLang="en-US" sz="2200" dirty="0">
                <a:solidFill>
                  <a:srgbClr val="1E00AA"/>
                </a:solidFill>
                <a:latin typeface="Arial" pitchFamily="34" charset="0"/>
                <a:cs typeface="Arial" pitchFamily="34" charset="0"/>
              </a:rPr>
              <a:t>		–family order to world family order –	   Universal Human Order</a:t>
            </a:r>
            <a:endParaRPr lang="hi-IN" altLang="en-US" sz="2200" dirty="0">
              <a:solidFill>
                <a:srgbClr val="1E00AA"/>
              </a:solidFill>
              <a:latin typeface="Arial" pitchFamily="34" charset="0"/>
            </a:endParaRPr>
          </a:p>
        </p:txBody>
      </p:sp>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6429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GB" altLang="en-US" sz="3200" dirty="0">
                <a:latin typeface="Arial" pitchFamily="34" charset="0"/>
                <a:cs typeface="Arial" pitchFamily="34" charset="0"/>
              </a:rPr>
              <a:t>To Live in co-existence (CO4)</a:t>
            </a:r>
            <a:endParaRPr lang="en-IN" sz="3200"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FD409D45-F6BF-4641-8038-7F47CF950DD5}"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
        <p:nvSpPr>
          <p:cNvPr id="8" name="Footer Placeholder 7"/>
          <p:cNvSpPr>
            <a:spLocks noGrp="1"/>
          </p:cNvSpPr>
          <p:nvPr>
            <p:ph type="ftr" sz="quarter" idx="11"/>
          </p:nvPr>
        </p:nvSpPr>
        <p:spPr>
          <a:xfrm>
            <a:off x="2786050" y="6356350"/>
            <a:ext cx="5429288" cy="365125"/>
          </a:xfrm>
        </p:spPr>
        <p:txBody>
          <a:bodyPr/>
          <a:lstStyle/>
          <a:p>
            <a:r>
              <a:rPr lang="fi-FI" smtClean="0"/>
              <a:t>SHYAM  LAL SHARMA             KOE069 UHV-2               Unit -4</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Placeholder 2"/>
          <p:cNvSpPr>
            <a:spLocks noGrp="1" noChangeArrowheads="1"/>
          </p:cNvSpPr>
          <p:nvPr>
            <p:ph type="body" sz="quarter" idx="4294967295"/>
          </p:nvPr>
        </p:nvSpPr>
        <p:spPr bwMode="auto">
          <a:xfrm>
            <a:off x="285720" y="1109666"/>
            <a:ext cx="8858280" cy="5319730"/>
          </a:xfrm>
          <a:prstGeom prst="rect">
            <a:avLst/>
          </a:prstGeom>
          <a:noFill/>
          <a:ln>
            <a:miter lim="800000"/>
            <a:headEnd/>
            <a:tailEnd/>
          </a:ln>
        </p:spPr>
        <p:txBody>
          <a:bodyPr vert="horz" wrap="square" lIns="91440" tIns="45720" rIns="91440" bIns="45720" numCol="1" anchor="t" anchorCtr="0" compatLnSpc="1">
            <a:prstTxWarp prst="textNoShape">
              <a:avLst/>
            </a:prstTxWarp>
            <a:normAutofit/>
          </a:bodyPr>
          <a:lstStyle/>
          <a:p>
            <a:pPr>
              <a:buFont typeface="Symbol" pitchFamily="18" charset="2"/>
              <a:buNone/>
            </a:pPr>
            <a:r>
              <a:rPr altLang="en-US" sz="2200">
                <a:solidFill>
                  <a:srgbClr val="1E00AA"/>
                </a:solidFill>
                <a:latin typeface="Arial" pitchFamily="34" charset="0"/>
                <a:cs typeface="Arial" pitchFamily="34" charset="0"/>
              </a:rPr>
              <a:t>What is my role in Existence?</a:t>
            </a:r>
          </a:p>
          <a:p>
            <a:pPr>
              <a:buFont typeface="Symbol" pitchFamily="18" charset="2"/>
              <a:buNone/>
            </a:pPr>
            <a:endParaRPr lang="en-GB" altLang="en-US" sz="2200" dirty="0">
              <a:latin typeface="Arial" pitchFamily="34" charset="0"/>
              <a:cs typeface="Arial" pitchFamily="34" charset="0"/>
            </a:endParaRPr>
          </a:p>
          <a:p>
            <a:pPr>
              <a:buFont typeface="Symbol" pitchFamily="18" charset="2"/>
              <a:buNone/>
            </a:pPr>
            <a:r>
              <a:rPr altLang="en-US" sz="2200" u="sng">
                <a:solidFill>
                  <a:srgbClr val="1E00AA"/>
                </a:solidFill>
                <a:latin typeface="Arial" pitchFamily="34" charset="0"/>
                <a:cs typeface="Arial" pitchFamily="34" charset="0"/>
              </a:rPr>
              <a:t>Existence</a:t>
            </a:r>
            <a:r>
              <a:rPr altLang="en-US" sz="2200">
                <a:solidFill>
                  <a:srgbClr val="1E00AA"/>
                </a:solidFill>
                <a:latin typeface="Arial" pitchFamily="34" charset="0"/>
                <a:cs typeface="Arial" pitchFamily="34" charset="0"/>
              </a:rPr>
              <a:t> based </a:t>
            </a:r>
            <a:r>
              <a:rPr altLang="en-US" sz="2200" u="sng">
                <a:solidFill>
                  <a:srgbClr val="1E00AA"/>
                </a:solidFill>
                <a:latin typeface="Arial" pitchFamily="34" charset="0"/>
                <a:cs typeface="Arial" pitchFamily="34" charset="0"/>
              </a:rPr>
              <a:t>human</a:t>
            </a:r>
            <a:r>
              <a:rPr altLang="en-US" sz="2200">
                <a:solidFill>
                  <a:srgbClr val="1E00AA"/>
                </a:solidFill>
                <a:latin typeface="Arial" pitchFamily="34" charset="0"/>
                <a:cs typeface="Arial" pitchFamily="34" charset="0"/>
              </a:rPr>
              <a:t> centric </a:t>
            </a:r>
            <a:r>
              <a:rPr altLang="en-US" sz="2200" u="sng">
                <a:solidFill>
                  <a:srgbClr val="1E00AA"/>
                </a:solidFill>
                <a:latin typeface="Arial" pitchFamily="34" charset="0"/>
                <a:cs typeface="Arial" pitchFamily="34" charset="0"/>
              </a:rPr>
              <a:t>contemplation</a:t>
            </a:r>
          </a:p>
          <a:p>
            <a:pPr>
              <a:buFont typeface="Symbol" pitchFamily="18" charset="2"/>
              <a:buNone/>
            </a:pPr>
            <a:r>
              <a:rPr altLang="en-US" sz="2200">
                <a:solidFill>
                  <a:srgbClr val="1E00AA"/>
                </a:solidFill>
                <a:latin typeface="Arial" pitchFamily="34" charset="0"/>
                <a:cs typeface="Arial" pitchFamily="34" charset="0"/>
              </a:rPr>
              <a:t>1			    2			3</a:t>
            </a:r>
          </a:p>
          <a:p>
            <a:pPr>
              <a:buFont typeface="Symbol" pitchFamily="18" charset="2"/>
              <a:buNone/>
            </a:pPr>
            <a:endParaRPr altLang="en-US" sz="2200">
              <a:solidFill>
                <a:srgbClr val="1E00AA"/>
              </a:solidFill>
              <a:latin typeface="Arial" pitchFamily="34" charset="0"/>
              <a:cs typeface="Arial" pitchFamily="34" charset="0"/>
            </a:endParaRPr>
          </a:p>
          <a:p>
            <a:pPr>
              <a:buFont typeface="Symbol" pitchFamily="18" charset="2"/>
              <a:buNone/>
            </a:pPr>
            <a:r>
              <a:rPr altLang="en-US" sz="2200">
                <a:solidFill>
                  <a:srgbClr val="1E00AA"/>
                </a:solidFill>
                <a:latin typeface="Arial" pitchFamily="34" charset="0"/>
                <a:cs typeface="Arial" pitchFamily="34" charset="0"/>
              </a:rPr>
              <a:t>Contemplation of role of Human Being in Existence (which is the base)</a:t>
            </a:r>
          </a:p>
          <a:p>
            <a:pPr>
              <a:buFont typeface="Symbol" pitchFamily="18" charset="2"/>
              <a:buNone/>
            </a:pPr>
            <a:r>
              <a:rPr altLang="en-US" sz="2200">
                <a:solidFill>
                  <a:srgbClr val="1E00AA"/>
                </a:solidFill>
                <a:latin typeface="Arial" pitchFamily="34" charset="0"/>
                <a:cs typeface="Arial" pitchFamily="34" charset="0"/>
              </a:rPr>
              <a:t>3					2		1</a:t>
            </a:r>
          </a:p>
          <a:p>
            <a:pPr>
              <a:buFont typeface="Symbol" pitchFamily="18" charset="2"/>
              <a:buNone/>
            </a:pPr>
            <a:endParaRPr lang="en-GB" altLang="en-US" sz="2200" dirty="0">
              <a:latin typeface="Arial" pitchFamily="34" charset="0"/>
              <a:cs typeface="Arial" pitchFamily="34" charset="0"/>
            </a:endParaRPr>
          </a:p>
        </p:txBody>
      </p:sp>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6429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GB" altLang="en-US" sz="3200" dirty="0">
                <a:latin typeface="Arial" pitchFamily="34" charset="0"/>
                <a:cs typeface="Arial" pitchFamily="34" charset="0"/>
              </a:rPr>
              <a:t>Self-exploration (CO4)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B106030D-98AB-4758-ABCC-B7BDDA32037A}"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29</a:t>
            </a:fld>
            <a:endParaRPr lang="en-US"/>
          </a:p>
        </p:txBody>
      </p:sp>
      <p:sp>
        <p:nvSpPr>
          <p:cNvPr id="8" name="Footer Placeholder 7"/>
          <p:cNvSpPr>
            <a:spLocks noGrp="1"/>
          </p:cNvSpPr>
          <p:nvPr>
            <p:ph type="ftr" sz="quarter" idx="11"/>
          </p:nvPr>
        </p:nvSpPr>
        <p:spPr>
          <a:xfrm>
            <a:off x="2571736" y="6356350"/>
            <a:ext cx="5643602" cy="365125"/>
          </a:xfrm>
        </p:spPr>
        <p:txBody>
          <a:bodyPr/>
          <a:lstStyle/>
          <a:p>
            <a:r>
              <a:rPr lang="fi-FI" smtClean="0"/>
              <a:t>SHYAM  LAL SHARMA             KOE069 UHV-2               Unit -4</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857232"/>
            <a:ext cx="8715436" cy="4525963"/>
          </a:xfrm>
        </p:spPr>
        <p:txBody>
          <a:bodyPr>
            <a:noAutofit/>
          </a:bodyPr>
          <a:lstStyle/>
          <a:p>
            <a:pPr marL="457200" lvl="0" indent="-457200" algn="just">
              <a:buFont typeface="+mj-lt"/>
              <a:buAutoNum type="arabicPeriod"/>
            </a:pPr>
            <a:r>
              <a:rPr lang="en-IN" sz="2200" dirty="0">
                <a:latin typeface="Arial" pitchFamily="34" charset="0"/>
                <a:cs typeface="Arial" pitchFamily="34" charset="0"/>
              </a:rPr>
              <a:t>Comprehensive human goal is right understanding, prosperity, fearlessness and ________. </a:t>
            </a:r>
          </a:p>
          <a:p>
            <a:pPr marL="0" lvl="0" indent="0" algn="just">
              <a:buNone/>
            </a:pPr>
            <a:r>
              <a:rPr lang="en-IN" sz="2200" dirty="0">
                <a:latin typeface="Arial" pitchFamily="34" charset="0"/>
                <a:cs typeface="Arial" pitchFamily="34" charset="0"/>
              </a:rPr>
              <a:t>		(a) Mutual fulfilment		(b) Natural Acceptance</a:t>
            </a:r>
          </a:p>
          <a:p>
            <a:pPr marL="0" lvl="0" indent="0" algn="just">
              <a:buNone/>
            </a:pPr>
            <a:r>
              <a:rPr lang="en-IN" sz="2200" dirty="0">
                <a:latin typeface="Arial" pitchFamily="34" charset="0"/>
                <a:cs typeface="Arial" pitchFamily="34" charset="0"/>
              </a:rPr>
              <a:t>		(c) Mutual prosperity		(d) Co-existence</a:t>
            </a:r>
          </a:p>
          <a:p>
            <a:pPr marL="0" indent="0" algn="just">
              <a:spcAft>
                <a:spcPts val="200"/>
              </a:spcAft>
              <a:buNone/>
            </a:pPr>
            <a:r>
              <a:rPr lang="en-IN" sz="2200" dirty="0">
                <a:latin typeface="Arial" pitchFamily="34" charset="0"/>
                <a:cs typeface="Arial" pitchFamily="34" charset="0"/>
              </a:rPr>
              <a:t>2. The course inputs for human values need not to be  verifiable. (True/False) </a:t>
            </a:r>
          </a:p>
          <a:p>
            <a:pPr marL="0" indent="0" algn="just">
              <a:spcAft>
                <a:spcPts val="200"/>
              </a:spcAft>
              <a:buNone/>
            </a:pPr>
            <a:r>
              <a:rPr lang="en-IN" sz="2200" dirty="0">
                <a:latin typeface="Arial" pitchFamily="34" charset="0"/>
                <a:cs typeface="Arial" pitchFamily="34" charset="0"/>
              </a:rPr>
              <a:t>3. </a:t>
            </a:r>
            <a:r>
              <a:rPr lang="en-IN" sz="2200" dirty="0" err="1">
                <a:latin typeface="Arial" pitchFamily="34" charset="0"/>
                <a:cs typeface="Arial" pitchFamily="34" charset="0"/>
              </a:rPr>
              <a:t>Sanyam</a:t>
            </a:r>
            <a:r>
              <a:rPr lang="en-IN" sz="2200" dirty="0">
                <a:latin typeface="Arial" pitchFamily="34" charset="0"/>
                <a:cs typeface="Arial" pitchFamily="34" charset="0"/>
              </a:rPr>
              <a:t> leads to </a:t>
            </a:r>
            <a:r>
              <a:rPr lang="en-IN" sz="2200" dirty="0" err="1">
                <a:latin typeface="Arial" pitchFamily="34" charset="0"/>
                <a:cs typeface="Arial" pitchFamily="34" charset="0"/>
              </a:rPr>
              <a:t>swasthya</a:t>
            </a:r>
            <a:r>
              <a:rPr lang="en-IN" sz="2200" dirty="0">
                <a:latin typeface="Arial" pitchFamily="34" charset="0"/>
                <a:cs typeface="Arial" pitchFamily="34" charset="0"/>
              </a:rPr>
              <a:t> and </a:t>
            </a:r>
            <a:r>
              <a:rPr lang="en-IN" sz="2200" dirty="0" err="1">
                <a:latin typeface="Arial" pitchFamily="34" charset="0"/>
                <a:cs typeface="Arial" pitchFamily="34" charset="0"/>
              </a:rPr>
              <a:t>swasthya</a:t>
            </a:r>
            <a:r>
              <a:rPr lang="en-IN" sz="2200" dirty="0">
                <a:latin typeface="Arial" pitchFamily="34" charset="0"/>
                <a:cs typeface="Arial" pitchFamily="34" charset="0"/>
              </a:rPr>
              <a:t> leads to </a:t>
            </a:r>
            <a:r>
              <a:rPr lang="en-IN" sz="2200" dirty="0" err="1">
                <a:latin typeface="Arial" pitchFamily="34" charset="0"/>
                <a:cs typeface="Arial" pitchFamily="34" charset="0"/>
              </a:rPr>
              <a:t>sukh</a:t>
            </a:r>
            <a:r>
              <a:rPr lang="en-IN" sz="2200" dirty="0">
                <a:latin typeface="Arial" pitchFamily="34" charset="0"/>
                <a:cs typeface="Arial" pitchFamily="34" charset="0"/>
              </a:rPr>
              <a:t>. (True/False)</a:t>
            </a:r>
          </a:p>
          <a:p>
            <a:pPr marL="0" indent="0" algn="just">
              <a:buNone/>
            </a:pPr>
            <a:r>
              <a:rPr lang="en-IN" sz="2200" dirty="0">
                <a:latin typeface="Arial" pitchFamily="34" charset="0"/>
                <a:cs typeface="Arial" pitchFamily="34" charset="0"/>
              </a:rPr>
              <a:t>4. The ‘I’ is the doer, sear and enjoyer. (True/False)</a:t>
            </a:r>
          </a:p>
          <a:p>
            <a:pPr marL="0" indent="0" algn="just">
              <a:buNone/>
            </a:pPr>
            <a:endParaRPr lang="en-IN" sz="2200" dirty="0">
              <a:latin typeface="Arial" pitchFamily="34" charset="0"/>
              <a:cs typeface="Arial" pitchFamily="34" charset="0"/>
            </a:endParaRPr>
          </a:p>
          <a:p>
            <a:pPr marL="0" indent="0" algn="just">
              <a:buNone/>
            </a:pPr>
            <a:r>
              <a:rPr lang="en-IN" sz="2200" dirty="0">
                <a:latin typeface="Arial" pitchFamily="34" charset="0"/>
                <a:cs typeface="Arial" pitchFamily="34" charset="0"/>
              </a:rPr>
              <a:t>5. There is an inherent inter connectedness, self regulation and harmony at all levels of existence and this needs to be discovered by each individual. The whole existence is coexistence. Humans are only a constituent part. (True/False)</a:t>
            </a:r>
          </a:p>
          <a:p>
            <a:pPr marL="457200" indent="-457200" algn="just">
              <a:buFont typeface="+mj-lt"/>
              <a:buAutoNum type="arabicPeriod"/>
            </a:pPr>
            <a:endParaRPr lang="en-IN" sz="2200" dirty="0">
              <a:latin typeface="Arial" pitchFamily="34" charset="0"/>
              <a:cs typeface="Arial" pitchFamily="34" charset="0"/>
            </a:endParaRPr>
          </a:p>
          <a:p>
            <a:pPr marL="457200" indent="-457200" algn="just">
              <a:buFont typeface="+mj-lt"/>
              <a:buAutoNum type="arabicPeriod"/>
            </a:pPr>
            <a:endParaRPr lang="en-IN"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B1F6F35A-D59B-4DD2-BDE2-B2C3CA21AAC8}"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t>Daily Quiz</a:t>
            </a:r>
            <a:endParaRPr kumimoji="0" lang="en-US" sz="32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357422" y="6356350"/>
            <a:ext cx="5429288" cy="501650"/>
          </a:xfrm>
        </p:spPr>
        <p:txBody>
          <a:bodyPr/>
          <a:lstStyle/>
          <a:p>
            <a:r>
              <a:rPr lang="fi-FI" smtClean="0"/>
              <a:t>SHYAM  LAL SHARMA             KOE069 UHV-2               Unit -4</a:t>
            </a:r>
            <a:endParaRPr lang="en-US" dirty="0"/>
          </a:p>
        </p:txBody>
      </p:sp>
    </p:spTree>
    <p:extLst>
      <p:ext uri="{BB962C8B-B14F-4D97-AF65-F5344CB8AC3E}">
        <p14:creationId xmlns:p14="http://schemas.microsoft.com/office/powerpoint/2010/main" xmlns="" val="41514789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06" y="1046161"/>
            <a:ext cx="8929718" cy="4597417"/>
          </a:xfrm>
        </p:spPr>
        <p:txBody>
          <a:bodyPr>
            <a:noAutofit/>
          </a:bodyPr>
          <a:lstStyle/>
          <a:p>
            <a:pPr algn="just">
              <a:spcAft>
                <a:spcPts val="1200"/>
              </a:spcAft>
              <a:buFont typeface="Wingdings" pitchFamily="2" charset="2"/>
              <a:buChar char="§"/>
              <a:defRPr/>
            </a:pPr>
            <a:r>
              <a:rPr lang="en-IN" altLang="en-US" sz="2200" dirty="0">
                <a:latin typeface="Arial" pitchFamily="34" charset="0"/>
                <a:cs typeface="Arial" pitchFamily="34" charset="0"/>
              </a:rPr>
              <a:t>Role of  human being in existence is Existence based human centric contemplation.</a:t>
            </a:r>
          </a:p>
          <a:p>
            <a:pPr algn="just">
              <a:spcAft>
                <a:spcPts val="1200"/>
              </a:spcAft>
              <a:buFont typeface="Wingdings" pitchFamily="2" charset="2"/>
              <a:buChar char="§"/>
              <a:defRPr/>
            </a:pPr>
            <a:r>
              <a:rPr lang="en-GB" altLang="en-US" sz="2200" dirty="0">
                <a:latin typeface="Arial" pitchFamily="34" charset="0"/>
                <a:cs typeface="Arial" pitchFamily="34" charset="0"/>
              </a:rPr>
              <a:t> To live in relationship with human-beings form Undivided Society.</a:t>
            </a:r>
          </a:p>
          <a:p>
            <a:pPr algn="just">
              <a:spcAft>
                <a:spcPts val="1200"/>
              </a:spcAft>
              <a:buFont typeface="Wingdings" pitchFamily="2" charset="2"/>
              <a:buChar char="§"/>
              <a:defRPr/>
            </a:pPr>
            <a:r>
              <a:rPr lang="en-GB" altLang="en-US" sz="2200" dirty="0">
                <a:latin typeface="Arial" pitchFamily="34" charset="0"/>
                <a:cs typeface="Arial" pitchFamily="34" charset="0"/>
              </a:rPr>
              <a:t>To live in co-existence in nature to follow and live in Universal Human Order.</a:t>
            </a:r>
          </a:p>
          <a:p>
            <a:pPr algn="just">
              <a:spcAft>
                <a:spcPts val="1200"/>
              </a:spcAft>
              <a:buFont typeface="Wingdings" pitchFamily="2" charset="2"/>
              <a:buChar char="§"/>
              <a:defRPr/>
            </a:pPr>
            <a:r>
              <a:rPr lang="en-GB" altLang="en-US" sz="2200" dirty="0">
                <a:latin typeface="Arial" pitchFamily="34" charset="0"/>
                <a:cs typeface="Arial" pitchFamily="34" charset="0"/>
              </a:rPr>
              <a:t>Discussed about knowledge &amp; Resolution.</a:t>
            </a: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sz="2200" dirty="0">
              <a:latin typeface="Arial" pitchFamily="34" charset="0"/>
              <a:cs typeface="Arial" pitchFamily="34" charset="0"/>
            </a:endParaRPr>
          </a:p>
          <a:p>
            <a:pPr algn="just">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4CB1C3A2-0940-4CF1-AE16-D81CA6084901}"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a:t>
            </a:r>
            <a:r>
              <a:rPr lang="en-US" sz="3200" dirty="0">
                <a:latin typeface="Arial" pitchFamily="34" charset="0"/>
                <a:cs typeface="Arial" pitchFamily="34" charset="0"/>
              </a:rPr>
              <a:t>3</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8A789D-5509-47F7-A96E-F084CA3FAB9F}"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defRPr/>
            </a:pPr>
            <a:r>
              <a:rPr lang="en-IN" sz="3200" dirty="0">
                <a:latin typeface="+mn-lt"/>
              </a:rPr>
              <a:t>Prerequisite</a:t>
            </a:r>
            <a:r>
              <a:rPr lang="en-IN" altLang="en-US" sz="3200" dirty="0">
                <a:latin typeface="Arial" pitchFamily="34" charset="0"/>
                <a:cs typeface="Arial" pitchFamily="34" charset="0"/>
              </a:rPr>
              <a:t> to Topic 4</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0" name="Table 9">
            <a:extLst>
              <a:ext uri="{FF2B5EF4-FFF2-40B4-BE49-F238E27FC236}">
                <a16:creationId xmlns:a16="http://schemas.microsoft.com/office/drawing/2014/main" xmlns="" id="{A8156837-2B2D-4D8D-9360-F23BE196A5F9}"/>
              </a:ext>
            </a:extLst>
          </p:cNvPr>
          <p:cNvGraphicFramePr>
            <a:graphicFrameLocks noGrp="1"/>
          </p:cNvGraphicFramePr>
          <p:nvPr>
            <p:extLst>
              <p:ext uri="{D42A27DB-BD31-4B8C-83A1-F6EECF244321}">
                <p14:modId xmlns:p14="http://schemas.microsoft.com/office/powerpoint/2010/main" xmlns="" val="26353758"/>
              </p:ext>
            </p:extLst>
          </p:nvPr>
        </p:nvGraphicFramePr>
        <p:xfrm>
          <a:off x="451154" y="1196752"/>
          <a:ext cx="8429682" cy="2895600"/>
        </p:xfrm>
        <a:graphic>
          <a:graphicData uri="http://schemas.openxmlformats.org/drawingml/2006/table">
            <a:tbl>
              <a:tblPr firstRow="1" bandRow="1">
                <a:tableStyleId>{5C22544A-7EE6-4342-B048-85BDC9FD1C3A}</a:tableStyleId>
              </a:tblPr>
              <a:tblGrid>
                <a:gridCol w="8429682">
                  <a:extLst>
                    <a:ext uri="{9D8B030D-6E8A-4147-A177-3AD203B41FA5}">
                      <a16:colId xmlns:a16="http://schemas.microsoft.com/office/drawing/2014/main" xmlns="" val="20000"/>
                    </a:ext>
                  </a:extLst>
                </a:gridCol>
              </a:tblGrid>
              <a:tr h="370840">
                <a:tc>
                  <a:txBody>
                    <a:bodyPr/>
                    <a:lstStyle/>
                    <a:p>
                      <a:pPr algn="ctr"/>
                      <a:r>
                        <a:rPr lang="en-US" sz="2400" dirty="0">
                          <a:latin typeface="Arial" pitchFamily="34" charset="0"/>
                          <a:cs typeface="Arial" pitchFamily="34" charset="0"/>
                        </a:rPr>
                        <a:t>Prerequisites</a:t>
                      </a:r>
                      <a:endParaRPr lang="en-IN" sz="24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just">
                        <a:buFont typeface="Wingdings" pitchFamily="2" charset="2"/>
                        <a:buChar char="§"/>
                      </a:pPr>
                      <a:r>
                        <a:rPr lang="en-US" sz="2200" dirty="0">
                          <a:latin typeface="Arial" pitchFamily="34" charset="0"/>
                          <a:cs typeface="Arial" pitchFamily="34" charset="0"/>
                        </a:rPr>
                        <a:t>Students should have to know self exploration and its process. Students should have to activate all activities of self &amp; live accordingly.</a:t>
                      </a:r>
                    </a:p>
                    <a:p>
                      <a:pPr algn="just">
                        <a:buFont typeface="Wingdings" pitchFamily="2" charset="2"/>
                        <a:buChar char="§"/>
                      </a:pPr>
                      <a:r>
                        <a:rPr lang="en-US" sz="2200" dirty="0">
                          <a:latin typeface="Arial" pitchFamily="34" charset="0"/>
                          <a:cs typeface="Arial" pitchFamily="34" charset="0"/>
                        </a:rPr>
                        <a:t>Students should have to know right understanding.</a:t>
                      </a:r>
                    </a:p>
                    <a:p>
                      <a:pPr algn="just">
                        <a:buFont typeface="Wingdings" pitchFamily="2" charset="2"/>
                        <a:buChar char="§"/>
                      </a:pPr>
                      <a:r>
                        <a:rPr lang="en-US" sz="2200" dirty="0">
                          <a:latin typeface="Arial" pitchFamily="34" charset="0"/>
                          <a:cs typeface="Arial" pitchFamily="34" charset="0"/>
                        </a:rPr>
                        <a:t>Students should have to know natural acceptance.</a:t>
                      </a:r>
                    </a:p>
                    <a:p>
                      <a:pPr algn="just">
                        <a:buFont typeface="Wingdings" pitchFamily="2" charset="2"/>
                        <a:buChar char="§"/>
                      </a:pPr>
                      <a:r>
                        <a:rPr lang="en-US" sz="2200" dirty="0">
                          <a:latin typeface="Arial" pitchFamily="34" charset="0"/>
                          <a:cs typeface="Arial" pitchFamily="34" charset="0"/>
                        </a:rPr>
                        <a:t>Have to know As a human being what is my responsibility</a:t>
                      </a:r>
                      <a:r>
                        <a:rPr lang="en-US" sz="2200" b="1" dirty="0">
                          <a:latin typeface="Arial" pitchFamily="34" charset="0"/>
                          <a:cs typeface="Arial" pitchFamily="34" charset="0"/>
                        </a:rPr>
                        <a:t>.</a:t>
                      </a:r>
                    </a:p>
                    <a:p>
                      <a:pPr algn="just">
                        <a:buFont typeface="Wingdings" pitchFamily="2" charset="2"/>
                        <a:buChar char="§"/>
                      </a:pPr>
                      <a:r>
                        <a:rPr lang="en-US" sz="2200" dirty="0">
                          <a:latin typeface="Arial" pitchFamily="34" charset="0"/>
                          <a:cs typeface="Arial" pitchFamily="34" charset="0"/>
                        </a:rPr>
                        <a:t>Understand 4 orders.</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DD7AC81-7FBA-406F-A674-EF55B7F62310}"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IN" altLang="en-US" sz="3200" dirty="0">
                <a:latin typeface="Arial" pitchFamily="34" charset="0"/>
                <a:cs typeface="Arial" pitchFamily="34" charset="0"/>
              </a:rPr>
              <a:t>Introduction to Topic 4</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1" name="Table 10"/>
          <p:cNvGraphicFramePr>
            <a:graphicFrameLocks noGrp="1"/>
          </p:cNvGraphicFramePr>
          <p:nvPr/>
        </p:nvGraphicFramePr>
        <p:xfrm>
          <a:off x="357159" y="1133342"/>
          <a:ext cx="8429682" cy="2194560"/>
        </p:xfrm>
        <a:graphic>
          <a:graphicData uri="http://schemas.openxmlformats.org/drawingml/2006/table">
            <a:tbl>
              <a:tblPr firstRow="1" bandRow="1">
                <a:tableStyleId>{5C22544A-7EE6-4342-B048-85BDC9FD1C3A}</a:tableStyleId>
              </a:tblPr>
              <a:tblGrid>
                <a:gridCol w="2214577">
                  <a:extLst>
                    <a:ext uri="{9D8B030D-6E8A-4147-A177-3AD203B41FA5}">
                      <a16:colId xmlns:a16="http://schemas.microsoft.com/office/drawing/2014/main" xmlns="" val="20000"/>
                    </a:ext>
                  </a:extLst>
                </a:gridCol>
                <a:gridCol w="3786214">
                  <a:extLst>
                    <a:ext uri="{9D8B030D-6E8A-4147-A177-3AD203B41FA5}">
                      <a16:colId xmlns:a16="http://schemas.microsoft.com/office/drawing/2014/main" xmlns="" val="20001"/>
                    </a:ext>
                  </a:extLst>
                </a:gridCol>
                <a:gridCol w="2428891">
                  <a:extLst>
                    <a:ext uri="{9D8B030D-6E8A-4147-A177-3AD203B41FA5}">
                      <a16:colId xmlns:a16="http://schemas.microsoft.com/office/drawing/2014/main" xmlns="" val="20002"/>
                    </a:ext>
                  </a:extLst>
                </a:gridCol>
              </a:tblGrid>
              <a:tr h="370840">
                <a:tc>
                  <a:txBody>
                    <a:bodyPr/>
                    <a:lstStyle/>
                    <a:p>
                      <a:r>
                        <a:rPr lang="en-US" sz="2200" dirty="0">
                          <a:latin typeface="Arial" pitchFamily="34" charset="0"/>
                          <a:cs typeface="Arial" pitchFamily="34" charset="0"/>
                        </a:rPr>
                        <a:t>Name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Objective</a:t>
                      </a:r>
                      <a:r>
                        <a:rPr lang="en-US" sz="2200" baseline="0" dirty="0">
                          <a:latin typeface="Arial" pitchFamily="34" charset="0"/>
                          <a:cs typeface="Arial" pitchFamily="34" charset="0"/>
                        </a:rPr>
                        <a:t>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Mapping </a:t>
                      </a:r>
                      <a:r>
                        <a:rPr lang="en-US" sz="2200" baseline="0" dirty="0">
                          <a:latin typeface="Arial" pitchFamily="34" charset="0"/>
                          <a:cs typeface="Arial" pitchFamily="34" charset="0"/>
                        </a:rPr>
                        <a:t> with CO</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l"/>
                      <a:r>
                        <a:rPr lang="en-US" altLang="en-US" sz="2200" b="0" dirty="0">
                          <a:latin typeface="Arial" pitchFamily="34" charset="0"/>
                        </a:rPr>
                        <a:t>Expression of Co-existence in Nature – the Four Orders</a:t>
                      </a:r>
                      <a:endParaRPr lang="en-IN" sz="2200" dirty="0">
                        <a:latin typeface="Arial" pitchFamily="34" charset="0"/>
                        <a:cs typeface="Arial" pitchFamily="34" charset="0"/>
                      </a:endParaRPr>
                    </a:p>
                  </a:txBody>
                  <a:tcPr/>
                </a:tc>
                <a:tc>
                  <a:txBody>
                    <a:bodyPr/>
                    <a:lstStyle/>
                    <a:p>
                      <a:pPr algn="just"/>
                      <a:r>
                        <a:rPr lang="en-US" sz="2200" dirty="0">
                          <a:latin typeface="Arial" pitchFamily="34" charset="0"/>
                          <a:cs typeface="Arial" pitchFamily="34" charset="0"/>
                        </a:rPr>
                        <a:t>Students</a:t>
                      </a:r>
                      <a:r>
                        <a:rPr lang="en-US" sz="2200" baseline="0" dirty="0">
                          <a:latin typeface="Arial" pitchFamily="34" charset="0"/>
                          <a:cs typeface="Arial" pitchFamily="34" charset="0"/>
                        </a:rPr>
                        <a:t> will be able to understand &amp; live with other orders as a responsibility.</a:t>
                      </a:r>
                      <a:endParaRPr lang="en-IN" sz="2200" dirty="0">
                        <a:latin typeface="Arial" pitchFamily="34" charset="0"/>
                        <a:cs typeface="Arial" pitchFamily="34" charset="0"/>
                      </a:endParaRPr>
                    </a:p>
                  </a:txBody>
                  <a:tcPr/>
                </a:tc>
                <a:tc>
                  <a:txBody>
                    <a:bodyPr/>
                    <a:lstStyle/>
                    <a:p>
                      <a:pPr algn="ctr"/>
                      <a:endParaRPr lang="en-US" sz="2200" dirty="0">
                        <a:latin typeface="Arial" pitchFamily="34" charset="0"/>
                        <a:cs typeface="Arial" pitchFamily="34" charset="0"/>
                      </a:endParaRPr>
                    </a:p>
                    <a:p>
                      <a:pPr algn="ctr"/>
                      <a:r>
                        <a:rPr lang="en-US" sz="2200" dirty="0">
                          <a:latin typeface="Arial" pitchFamily="34" charset="0"/>
                          <a:cs typeface="Arial" pitchFamily="34" charset="0"/>
                        </a:rPr>
                        <a:t>CO4</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40320549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altLang="en-US" sz="2800" dirty="0">
                <a:latin typeface="Arial" pitchFamily="34" charset="0"/>
                <a:cs typeface="Arial" pitchFamily="34" charset="0"/>
              </a:rPr>
              <a:t>Knowledge of Human Being – </a:t>
            </a:r>
          </a:p>
          <a:p>
            <a:pPr algn="ctr">
              <a:spcBef>
                <a:spcPct val="0"/>
              </a:spcBef>
              <a:defRPr/>
            </a:pPr>
            <a:r>
              <a:rPr lang="en-US" altLang="en-US" sz="2800" dirty="0">
                <a:latin typeface="Arial" pitchFamily="34" charset="0"/>
                <a:cs typeface="Arial" pitchFamily="34" charset="0"/>
              </a:rPr>
              <a:t>Activities of Self (I) </a:t>
            </a:r>
            <a:r>
              <a:rPr lang="en-US" altLang="en-US" sz="3200" dirty="0">
                <a:latin typeface="Arial" pitchFamily="34" charset="0"/>
              </a:rPr>
              <a:t>(CO4)</a:t>
            </a:r>
            <a:endParaRPr lang="en-US" sz="3200" b="1" dirty="0">
              <a:latin typeface="Arial" pitchFamily="34" charset="0"/>
              <a:cs typeface="Arial" pitchFamily="34" charset="0"/>
            </a:endParaRPr>
          </a:p>
        </p:txBody>
      </p:sp>
      <p:pic>
        <p:nvPicPr>
          <p:cNvPr id="1026" name="Picture 2"/>
          <p:cNvPicPr>
            <a:picLocks noChangeAspect="1" noChangeArrowheads="1"/>
          </p:cNvPicPr>
          <p:nvPr/>
        </p:nvPicPr>
        <p:blipFill>
          <a:blip r:embed="rId3"/>
          <a:srcRect/>
          <a:stretch>
            <a:fillRect/>
          </a:stretch>
        </p:blipFill>
        <p:spPr bwMode="auto">
          <a:xfrm>
            <a:off x="611560" y="1194330"/>
            <a:ext cx="7854842" cy="4876268"/>
          </a:xfrm>
          <a:prstGeom prst="rect">
            <a:avLst/>
          </a:prstGeom>
          <a:noFill/>
          <a:ln w="9525">
            <a:noFill/>
            <a:miter lim="800000"/>
            <a:headEnd/>
            <a:tailEnd/>
          </a:ln>
          <a:effectLst/>
        </p:spPr>
      </p:pic>
      <p:sp>
        <p:nvSpPr>
          <p:cNvPr id="7" name="Date Placeholder 6"/>
          <p:cNvSpPr>
            <a:spLocks noGrp="1"/>
          </p:cNvSpPr>
          <p:nvPr>
            <p:ph type="dt" sz="half" idx="10"/>
          </p:nvPr>
        </p:nvSpPr>
        <p:spPr/>
        <p:txBody>
          <a:bodyPr/>
          <a:lstStyle/>
          <a:p>
            <a:fld id="{092FF391-CB9F-4D74-8859-3430CA76CED4}" type="datetime1">
              <a:rPr lang="en-US" smtClean="0"/>
              <a:pPr/>
              <a:t>06/25/21</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34</a:t>
            </a:fld>
            <a:endParaRPr lang="en-US"/>
          </a:p>
        </p:txBody>
      </p:sp>
      <p:sp>
        <p:nvSpPr>
          <p:cNvPr id="9" name="Footer Placeholder 8"/>
          <p:cNvSpPr>
            <a:spLocks noGrp="1"/>
          </p:cNvSpPr>
          <p:nvPr>
            <p:ph type="ftr" sz="quarter" idx="11"/>
          </p:nvPr>
        </p:nvSpPr>
        <p:spPr>
          <a:xfrm>
            <a:off x="2500298" y="6356350"/>
            <a:ext cx="5500726" cy="365125"/>
          </a:xfrm>
        </p:spPr>
        <p:txBody>
          <a:bodyPr/>
          <a:lstStyle/>
          <a:p>
            <a:r>
              <a:rPr lang="fi-FI" smtClean="0"/>
              <a:t>SHYAM  LAL SHARMA             KOE069 UHV-2               Unit -4</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noChangeAspect="1"/>
          </p:cNvGrpSpPr>
          <p:nvPr/>
        </p:nvGrpSpPr>
        <p:grpSpPr bwMode="auto">
          <a:xfrm>
            <a:off x="990600" y="2143117"/>
            <a:ext cx="7429500" cy="3857651"/>
            <a:chOff x="1800" y="7607"/>
            <a:chExt cx="8820" cy="5220"/>
          </a:xfrm>
        </p:grpSpPr>
        <p:sp>
          <p:nvSpPr>
            <p:cNvPr id="7180" name="AutoShape 21"/>
            <p:cNvSpPr>
              <a:spLocks noChangeAspect="1" noChangeArrowheads="1" noTextEdit="1"/>
            </p:cNvSpPr>
            <p:nvPr/>
          </p:nvSpPr>
          <p:spPr bwMode="auto">
            <a:xfrm>
              <a:off x="1800" y="7607"/>
              <a:ext cx="8820" cy="5220"/>
            </a:xfrm>
            <a:prstGeom prst="rect">
              <a:avLst/>
            </a:prstGeom>
            <a:noFill/>
            <a:ln w="9525">
              <a:noFill/>
              <a:miter lim="800000"/>
              <a:headEnd/>
              <a:tailEnd/>
            </a:ln>
          </p:spPr>
          <p:txBody>
            <a:bodyPr/>
            <a:lstStyle/>
            <a:p>
              <a:endParaRPr lang="en-IN"/>
            </a:p>
          </p:txBody>
        </p:sp>
        <p:sp>
          <p:nvSpPr>
            <p:cNvPr id="7181" name="Oval 20"/>
            <p:cNvSpPr>
              <a:spLocks noChangeArrowheads="1"/>
            </p:cNvSpPr>
            <p:nvPr/>
          </p:nvSpPr>
          <p:spPr bwMode="auto">
            <a:xfrm>
              <a:off x="7380" y="9814"/>
              <a:ext cx="2700" cy="1176"/>
            </a:xfrm>
            <a:prstGeom prst="ellipse">
              <a:avLst/>
            </a:prstGeom>
            <a:solidFill>
              <a:srgbClr val="FFFFFF"/>
            </a:solidFill>
            <a:ln w="9525">
              <a:solidFill>
                <a:srgbClr val="000000"/>
              </a:solidFill>
              <a:round/>
              <a:headEnd/>
              <a:tailEnd/>
            </a:ln>
          </p:spPr>
          <p:txBody>
            <a:bodyPr/>
            <a:lstStyle/>
            <a:p>
              <a:pPr algn="ctr"/>
              <a:r>
                <a:rPr lang="en-US" altLang="en-US" sz="1600" b="1" dirty="0">
                  <a:solidFill>
                    <a:srgbClr val="000000"/>
                  </a:solidFill>
                  <a:ea typeface="Times New Roman" pitchFamily="18" charset="0"/>
                  <a:cs typeface="Arial" pitchFamily="34" charset="0"/>
                </a:rPr>
                <a:t>Animal Order</a:t>
              </a:r>
              <a:endParaRPr lang="en-US" altLang="en-US" dirty="0">
                <a:solidFill>
                  <a:srgbClr val="000000"/>
                </a:solidFill>
                <a:ea typeface="Times New Roman" pitchFamily="18" charset="0"/>
                <a:cs typeface="Arial" pitchFamily="34" charset="0"/>
              </a:endParaRPr>
            </a:p>
            <a:p>
              <a:pPr algn="ctr"/>
              <a:r>
                <a:rPr lang="en-US" altLang="en-US" sz="1400" dirty="0">
                  <a:solidFill>
                    <a:srgbClr val="000000"/>
                  </a:solidFill>
                  <a:ea typeface="Times New Roman" pitchFamily="18" charset="0"/>
                  <a:cs typeface="Arial" pitchFamily="34" charset="0"/>
                </a:rPr>
                <a:t>Animals, Birds</a:t>
              </a:r>
              <a:endParaRPr lang="en-US" altLang="en-US" dirty="0">
                <a:solidFill>
                  <a:srgbClr val="000000"/>
                </a:solidFill>
                <a:ea typeface="Times New Roman" pitchFamily="18" charset="0"/>
                <a:cs typeface="Arial" pitchFamily="34" charset="0"/>
              </a:endParaRPr>
            </a:p>
          </p:txBody>
        </p:sp>
        <p:sp>
          <p:nvSpPr>
            <p:cNvPr id="7182" name="Oval 19"/>
            <p:cNvSpPr>
              <a:spLocks noChangeArrowheads="1"/>
            </p:cNvSpPr>
            <p:nvPr/>
          </p:nvSpPr>
          <p:spPr bwMode="auto">
            <a:xfrm>
              <a:off x="2071" y="9628"/>
              <a:ext cx="2789" cy="1266"/>
            </a:xfrm>
            <a:prstGeom prst="ellipse">
              <a:avLst/>
            </a:prstGeom>
            <a:solidFill>
              <a:srgbClr val="FFFFFF"/>
            </a:solidFill>
            <a:ln w="9525">
              <a:solidFill>
                <a:srgbClr val="000000"/>
              </a:solidFill>
              <a:round/>
              <a:headEnd/>
              <a:tailEnd/>
            </a:ln>
          </p:spPr>
          <p:txBody>
            <a:bodyPr/>
            <a:lstStyle/>
            <a:p>
              <a:pPr algn="ctr"/>
              <a:r>
                <a:rPr lang="it-IT" altLang="en-US" sz="1600" b="1" dirty="0">
                  <a:solidFill>
                    <a:srgbClr val="000000"/>
                  </a:solidFill>
                  <a:ea typeface="Times New Roman" pitchFamily="18" charset="0"/>
                  <a:cs typeface="Arial" pitchFamily="34" charset="0"/>
                </a:rPr>
                <a:t>Physical Order</a:t>
              </a:r>
              <a:endParaRPr lang="en-US" altLang="en-US" dirty="0">
                <a:solidFill>
                  <a:srgbClr val="000000"/>
                </a:solidFill>
                <a:ea typeface="Times New Roman" pitchFamily="18" charset="0"/>
                <a:cs typeface="Arial" pitchFamily="34" charset="0"/>
              </a:endParaRPr>
            </a:p>
            <a:p>
              <a:pPr algn="ctr"/>
              <a:r>
                <a:rPr lang="it-IT" altLang="en-US" sz="1400" dirty="0">
                  <a:solidFill>
                    <a:srgbClr val="000000"/>
                  </a:solidFill>
                  <a:ea typeface="Times New Roman" pitchFamily="18" charset="0"/>
                  <a:cs typeface="Arial" pitchFamily="34" charset="0"/>
                </a:rPr>
                <a:t>Soil, Metal</a:t>
              </a:r>
              <a:endParaRPr lang="en-US" altLang="en-US" dirty="0">
                <a:solidFill>
                  <a:srgbClr val="000000"/>
                </a:solidFill>
                <a:ea typeface="Times New Roman" pitchFamily="18" charset="0"/>
                <a:cs typeface="Arial" pitchFamily="34" charset="0"/>
              </a:endParaRPr>
            </a:p>
          </p:txBody>
        </p:sp>
        <p:sp>
          <p:nvSpPr>
            <p:cNvPr id="7183" name="Oval 18"/>
            <p:cNvSpPr>
              <a:spLocks noChangeArrowheads="1"/>
            </p:cNvSpPr>
            <p:nvPr/>
          </p:nvSpPr>
          <p:spPr bwMode="auto">
            <a:xfrm>
              <a:off x="4680" y="8115"/>
              <a:ext cx="2700" cy="1329"/>
            </a:xfrm>
            <a:prstGeom prst="ellipse">
              <a:avLst/>
            </a:prstGeom>
            <a:solidFill>
              <a:srgbClr val="FFFFFF"/>
            </a:solidFill>
            <a:ln w="9525">
              <a:solidFill>
                <a:srgbClr val="000000"/>
              </a:solidFill>
              <a:round/>
              <a:headEnd/>
              <a:tailEnd/>
            </a:ln>
          </p:spPr>
          <p:txBody>
            <a:bodyPr/>
            <a:lstStyle/>
            <a:p>
              <a:pPr algn="ctr"/>
              <a:r>
                <a:rPr lang="en-US" altLang="en-US" sz="1600" b="1" dirty="0">
                  <a:solidFill>
                    <a:srgbClr val="000000"/>
                  </a:solidFill>
                  <a:ea typeface="Times New Roman" pitchFamily="18" charset="0"/>
                  <a:cs typeface="Arial" pitchFamily="34" charset="0"/>
                </a:rPr>
                <a:t>Bio Order</a:t>
              </a:r>
              <a:endParaRPr lang="en-US" altLang="en-US" dirty="0">
                <a:solidFill>
                  <a:srgbClr val="000000"/>
                </a:solidFill>
                <a:ea typeface="Times New Roman" pitchFamily="18" charset="0"/>
                <a:cs typeface="Arial" pitchFamily="34" charset="0"/>
              </a:endParaRPr>
            </a:p>
            <a:p>
              <a:pPr algn="ctr"/>
              <a:r>
                <a:rPr lang="en-US" altLang="en-US" sz="1400" dirty="0">
                  <a:solidFill>
                    <a:srgbClr val="000000"/>
                  </a:solidFill>
                  <a:ea typeface="Times New Roman" pitchFamily="18" charset="0"/>
                  <a:cs typeface="Arial" pitchFamily="34" charset="0"/>
                </a:rPr>
                <a:t>Plants, Trees</a:t>
              </a:r>
              <a:endParaRPr lang="en-US" altLang="en-US" dirty="0">
                <a:solidFill>
                  <a:srgbClr val="000000"/>
                </a:solidFill>
                <a:ea typeface="Times New Roman" pitchFamily="18" charset="0"/>
                <a:cs typeface="Arial" pitchFamily="34" charset="0"/>
              </a:endParaRPr>
            </a:p>
          </p:txBody>
        </p:sp>
        <p:sp>
          <p:nvSpPr>
            <p:cNvPr id="7184" name="Oval 17"/>
            <p:cNvSpPr>
              <a:spLocks noChangeArrowheads="1"/>
            </p:cNvSpPr>
            <p:nvPr/>
          </p:nvSpPr>
          <p:spPr bwMode="auto">
            <a:xfrm>
              <a:off x="4860" y="10967"/>
              <a:ext cx="2700" cy="1136"/>
            </a:xfrm>
            <a:prstGeom prst="ellipse">
              <a:avLst/>
            </a:prstGeom>
            <a:solidFill>
              <a:srgbClr val="FFFFFF"/>
            </a:solidFill>
            <a:ln w="9525">
              <a:solidFill>
                <a:srgbClr val="000000"/>
              </a:solidFill>
              <a:round/>
              <a:headEnd/>
              <a:tailEnd/>
            </a:ln>
          </p:spPr>
          <p:txBody>
            <a:bodyPr/>
            <a:lstStyle/>
            <a:p>
              <a:pPr algn="ctr"/>
              <a:r>
                <a:rPr lang="en-US" altLang="en-US" sz="1600" b="1" dirty="0">
                  <a:solidFill>
                    <a:srgbClr val="000000"/>
                  </a:solidFill>
                  <a:ea typeface="Times New Roman" pitchFamily="18" charset="0"/>
                  <a:cs typeface="Arial" pitchFamily="34" charset="0"/>
                </a:rPr>
                <a:t>Human Order</a:t>
              </a:r>
              <a:endParaRPr lang="en-US" altLang="en-US" dirty="0">
                <a:solidFill>
                  <a:srgbClr val="000000"/>
                </a:solidFill>
                <a:ea typeface="Times New Roman" pitchFamily="18" charset="0"/>
                <a:cs typeface="Arial" pitchFamily="34" charset="0"/>
              </a:endParaRPr>
            </a:p>
            <a:p>
              <a:pPr algn="ctr"/>
              <a:r>
                <a:rPr lang="en-US" altLang="en-US" sz="1400" dirty="0">
                  <a:solidFill>
                    <a:srgbClr val="000000"/>
                  </a:solidFill>
                  <a:ea typeface="Times New Roman" pitchFamily="18" charset="0"/>
                  <a:cs typeface="Arial" pitchFamily="34" charset="0"/>
                </a:rPr>
                <a:t>Human Being</a:t>
              </a:r>
              <a:endParaRPr lang="en-US" altLang="en-US" dirty="0">
                <a:solidFill>
                  <a:srgbClr val="000000"/>
                </a:solidFill>
                <a:ea typeface="Times New Roman" pitchFamily="18" charset="0"/>
                <a:cs typeface="Arial" pitchFamily="34" charset="0"/>
              </a:endParaRPr>
            </a:p>
          </p:txBody>
        </p:sp>
      </p:grpSp>
      <p:sp>
        <p:nvSpPr>
          <p:cNvPr id="7172" name="TextBox 8"/>
          <p:cNvSpPr txBox="1">
            <a:spLocks noChangeArrowheads="1"/>
          </p:cNvSpPr>
          <p:nvPr/>
        </p:nvSpPr>
        <p:spPr bwMode="auto">
          <a:xfrm>
            <a:off x="1300163" y="3286124"/>
            <a:ext cx="2205037" cy="369888"/>
          </a:xfrm>
          <a:prstGeom prst="rect">
            <a:avLst/>
          </a:prstGeom>
          <a:noFill/>
          <a:ln w="9525">
            <a:noFill/>
            <a:miter lim="800000"/>
            <a:headEnd/>
            <a:tailEnd/>
          </a:ln>
        </p:spPr>
        <p:txBody>
          <a:bodyPr wrap="none">
            <a:spAutoFit/>
          </a:bodyPr>
          <a:lstStyle/>
          <a:p>
            <a:pPr eaLnBrk="1" hangingPunct="1"/>
            <a:r>
              <a:rPr lang="en-US" altLang="en-US" dirty="0">
                <a:solidFill>
                  <a:srgbClr val="000000"/>
                </a:solidFill>
              </a:rPr>
              <a:t>Recognizing, Fulfilling</a:t>
            </a:r>
          </a:p>
        </p:txBody>
      </p:sp>
      <p:sp>
        <p:nvSpPr>
          <p:cNvPr id="7173" name="TextBox 9"/>
          <p:cNvSpPr txBox="1">
            <a:spLocks noChangeArrowheads="1"/>
          </p:cNvSpPr>
          <p:nvPr/>
        </p:nvSpPr>
        <p:spPr bwMode="auto">
          <a:xfrm>
            <a:off x="3352800" y="2130419"/>
            <a:ext cx="2205038" cy="369887"/>
          </a:xfrm>
          <a:prstGeom prst="rect">
            <a:avLst/>
          </a:prstGeom>
          <a:noFill/>
          <a:ln w="9525">
            <a:noFill/>
            <a:miter lim="800000"/>
            <a:headEnd/>
            <a:tailEnd/>
          </a:ln>
        </p:spPr>
        <p:txBody>
          <a:bodyPr wrap="none">
            <a:spAutoFit/>
          </a:bodyPr>
          <a:lstStyle/>
          <a:p>
            <a:pPr eaLnBrk="1" hangingPunct="1"/>
            <a:r>
              <a:rPr lang="en-US" altLang="en-US" dirty="0">
                <a:solidFill>
                  <a:srgbClr val="000000"/>
                </a:solidFill>
              </a:rPr>
              <a:t>Recognizing, Fulfilling</a:t>
            </a:r>
          </a:p>
        </p:txBody>
      </p:sp>
      <p:sp>
        <p:nvSpPr>
          <p:cNvPr id="7174" name="TextBox 10"/>
          <p:cNvSpPr txBox="1">
            <a:spLocks noChangeArrowheads="1"/>
          </p:cNvSpPr>
          <p:nvPr/>
        </p:nvSpPr>
        <p:spPr bwMode="auto">
          <a:xfrm>
            <a:off x="5715000" y="3124200"/>
            <a:ext cx="2205038" cy="646113"/>
          </a:xfrm>
          <a:prstGeom prst="rect">
            <a:avLst/>
          </a:prstGeom>
          <a:noFill/>
          <a:ln w="9525">
            <a:noFill/>
            <a:miter lim="800000"/>
            <a:headEnd/>
            <a:tailEnd/>
          </a:ln>
        </p:spPr>
        <p:txBody>
          <a:bodyPr wrap="none">
            <a:spAutoFit/>
          </a:bodyPr>
          <a:lstStyle/>
          <a:p>
            <a:pPr algn="ctr" eaLnBrk="1" hangingPunct="1"/>
            <a:r>
              <a:rPr lang="en-US" altLang="en-US">
                <a:solidFill>
                  <a:srgbClr val="000000"/>
                </a:solidFill>
              </a:rPr>
              <a:t>Assuming, </a:t>
            </a:r>
          </a:p>
          <a:p>
            <a:pPr algn="ctr" eaLnBrk="1" hangingPunct="1"/>
            <a:r>
              <a:rPr lang="en-US" altLang="en-US">
                <a:solidFill>
                  <a:srgbClr val="000000"/>
                </a:solidFill>
              </a:rPr>
              <a:t>Recognizing, Fulfilling</a:t>
            </a:r>
          </a:p>
        </p:txBody>
      </p:sp>
      <p:sp>
        <p:nvSpPr>
          <p:cNvPr id="7175" name="TextBox 11"/>
          <p:cNvSpPr txBox="1">
            <a:spLocks noChangeArrowheads="1"/>
          </p:cNvSpPr>
          <p:nvPr/>
        </p:nvSpPr>
        <p:spPr bwMode="auto">
          <a:xfrm>
            <a:off x="5143504" y="4714884"/>
            <a:ext cx="3621088" cy="1200150"/>
          </a:xfrm>
          <a:prstGeom prst="rect">
            <a:avLst/>
          </a:prstGeom>
          <a:noFill/>
          <a:ln w="9525">
            <a:noFill/>
            <a:miter lim="800000"/>
            <a:headEnd/>
            <a:tailEnd/>
          </a:ln>
        </p:spPr>
        <p:txBody>
          <a:bodyPr wrap="none">
            <a:spAutoFit/>
          </a:bodyPr>
          <a:lstStyle/>
          <a:p>
            <a:pPr algn="ctr" eaLnBrk="1" hangingPunct="1"/>
            <a:r>
              <a:rPr lang="en-US" altLang="en-US" dirty="0">
                <a:solidFill>
                  <a:srgbClr val="000000"/>
                </a:solidFill>
              </a:rPr>
              <a:t>Assuming, </a:t>
            </a:r>
          </a:p>
          <a:p>
            <a:pPr algn="ctr" eaLnBrk="1" hangingPunct="1"/>
            <a:r>
              <a:rPr lang="en-US" altLang="en-US" dirty="0">
                <a:solidFill>
                  <a:srgbClr val="000000"/>
                </a:solidFill>
              </a:rPr>
              <a:t>Recognizing, Fulfilling</a:t>
            </a:r>
          </a:p>
          <a:p>
            <a:pPr algn="ctr" eaLnBrk="1" hangingPunct="1"/>
            <a:r>
              <a:rPr lang="en-US" altLang="en-US" dirty="0">
                <a:solidFill>
                  <a:srgbClr val="FF0000"/>
                </a:solidFill>
              </a:rPr>
              <a:t>Potential for Knowing, Assuming, </a:t>
            </a:r>
          </a:p>
          <a:p>
            <a:pPr algn="ctr" eaLnBrk="1" hangingPunct="1"/>
            <a:r>
              <a:rPr lang="en-US" altLang="en-US" dirty="0">
                <a:solidFill>
                  <a:srgbClr val="FF0000"/>
                </a:solidFill>
              </a:rPr>
              <a:t>Recognizing, Fulfilling</a:t>
            </a:r>
          </a:p>
        </p:txBody>
      </p:sp>
      <p:sp>
        <p:nvSpPr>
          <p:cNvPr id="7176" name="TextBox 12"/>
          <p:cNvSpPr txBox="1">
            <a:spLocks noChangeArrowheads="1"/>
          </p:cNvSpPr>
          <p:nvPr/>
        </p:nvSpPr>
        <p:spPr bwMode="auto">
          <a:xfrm>
            <a:off x="7788275" y="3810000"/>
            <a:ext cx="1127125" cy="646113"/>
          </a:xfrm>
          <a:prstGeom prst="rect">
            <a:avLst/>
          </a:prstGeom>
          <a:noFill/>
          <a:ln w="9525">
            <a:noFill/>
            <a:miter lim="800000"/>
            <a:headEnd/>
            <a:tailEnd/>
          </a:ln>
        </p:spPr>
        <p:txBody>
          <a:bodyPr wrap="none">
            <a:spAutoFit/>
          </a:bodyPr>
          <a:lstStyle/>
          <a:p>
            <a:pPr algn="ctr" eaLnBrk="1" hangingPunct="1"/>
            <a:r>
              <a:rPr lang="en-US" altLang="en-US">
                <a:solidFill>
                  <a:srgbClr val="000000"/>
                </a:solidFill>
              </a:rPr>
              <a:t>Self (I) + </a:t>
            </a:r>
          </a:p>
          <a:p>
            <a:pPr algn="ctr" eaLnBrk="1" hangingPunct="1"/>
            <a:r>
              <a:rPr lang="en-US" altLang="en-US">
                <a:solidFill>
                  <a:srgbClr val="000000"/>
                </a:solidFill>
              </a:rPr>
              <a:t>Body</a:t>
            </a:r>
          </a:p>
        </p:txBody>
      </p:sp>
      <p:sp>
        <p:nvSpPr>
          <p:cNvPr id="7177" name="TextBox 13"/>
          <p:cNvSpPr txBox="1">
            <a:spLocks noChangeArrowheads="1"/>
          </p:cNvSpPr>
          <p:nvPr/>
        </p:nvSpPr>
        <p:spPr bwMode="auto">
          <a:xfrm>
            <a:off x="2057400" y="5572140"/>
            <a:ext cx="1652588" cy="369888"/>
          </a:xfrm>
          <a:prstGeom prst="rect">
            <a:avLst/>
          </a:prstGeom>
          <a:noFill/>
          <a:ln w="9525">
            <a:noFill/>
            <a:miter lim="800000"/>
            <a:headEnd/>
            <a:tailEnd/>
          </a:ln>
        </p:spPr>
        <p:txBody>
          <a:bodyPr wrap="none">
            <a:spAutoFit/>
          </a:bodyPr>
          <a:lstStyle/>
          <a:p>
            <a:pPr algn="ctr" eaLnBrk="1" hangingPunct="1"/>
            <a:r>
              <a:rPr lang="en-US" altLang="en-US" dirty="0">
                <a:solidFill>
                  <a:srgbClr val="000000"/>
                </a:solidFill>
              </a:rPr>
              <a:t>Self (I) + Body</a:t>
            </a:r>
          </a:p>
        </p:txBody>
      </p:sp>
      <p:sp>
        <p:nvSpPr>
          <p:cNvPr id="7178" name="TextBox 14"/>
          <p:cNvSpPr txBox="1">
            <a:spLocks noChangeArrowheads="1"/>
          </p:cNvSpPr>
          <p:nvPr/>
        </p:nvSpPr>
        <p:spPr bwMode="auto">
          <a:xfrm>
            <a:off x="0" y="1004877"/>
            <a:ext cx="3048000" cy="923925"/>
          </a:xfrm>
          <a:prstGeom prst="rect">
            <a:avLst/>
          </a:prstGeom>
          <a:noFill/>
          <a:ln w="9525">
            <a:noFill/>
            <a:miter lim="800000"/>
            <a:headEnd/>
            <a:tailEnd/>
          </a:ln>
        </p:spPr>
        <p:txBody>
          <a:bodyPr>
            <a:spAutoFit/>
          </a:bodyPr>
          <a:lstStyle/>
          <a:p>
            <a:pPr eaLnBrk="1" hangingPunct="1"/>
            <a:r>
              <a:rPr lang="en-US" altLang="en-US" dirty="0">
                <a:solidFill>
                  <a:srgbClr val="FF0000"/>
                </a:solidFill>
              </a:rPr>
              <a:t>The presence of Self (I) is </a:t>
            </a:r>
          </a:p>
          <a:p>
            <a:pPr eaLnBrk="1" hangingPunct="1"/>
            <a:r>
              <a:rPr lang="en-US" altLang="en-US" dirty="0">
                <a:solidFill>
                  <a:srgbClr val="FF0000"/>
                </a:solidFill>
              </a:rPr>
              <a:t>indicated by the presence</a:t>
            </a:r>
          </a:p>
          <a:p>
            <a:pPr eaLnBrk="1" hangingPunct="1"/>
            <a:r>
              <a:rPr lang="en-US" altLang="en-US" dirty="0">
                <a:solidFill>
                  <a:srgbClr val="FF0000"/>
                </a:solidFill>
              </a:rPr>
              <a:t>of the activity of Assuming</a:t>
            </a:r>
          </a:p>
        </p:txBody>
      </p:sp>
      <p:sp>
        <p:nvSpPr>
          <p:cNvPr id="7179" name="Rectangle 15"/>
          <p:cNvSpPr>
            <a:spLocks noChangeArrowheads="1"/>
          </p:cNvSpPr>
          <p:nvPr/>
        </p:nvSpPr>
        <p:spPr bwMode="auto">
          <a:xfrm>
            <a:off x="3657600" y="879467"/>
            <a:ext cx="5486400" cy="1477328"/>
          </a:xfrm>
          <a:prstGeom prst="rect">
            <a:avLst/>
          </a:prstGeom>
          <a:noFill/>
          <a:ln w="9525">
            <a:noFill/>
            <a:miter lim="800000"/>
            <a:headEnd/>
            <a:tailEnd/>
          </a:ln>
        </p:spPr>
        <p:txBody>
          <a:bodyPr wrap="square">
            <a:spAutoFit/>
          </a:bodyPr>
          <a:lstStyle/>
          <a:p>
            <a:pPr eaLnBrk="1" hangingPunct="1"/>
            <a:r>
              <a:rPr lang="en-US" altLang="en-US" dirty="0">
                <a:solidFill>
                  <a:srgbClr val="FF0000"/>
                </a:solidFill>
              </a:rPr>
              <a:t>To understand the other  three orders, right understanding of the Human Order is required,</a:t>
            </a:r>
          </a:p>
          <a:p>
            <a:pPr eaLnBrk="1" hangingPunct="1"/>
            <a:r>
              <a:rPr lang="en-US" altLang="en-US" dirty="0">
                <a:solidFill>
                  <a:srgbClr val="FF0000"/>
                </a:solidFill>
              </a:rPr>
              <a:t>otherwise over-evaluation, under-evaluation or otherwise-evaluation of the other orders keeps taking place.</a:t>
            </a:r>
          </a:p>
        </p:txBody>
      </p:sp>
      <p:pic>
        <p:nvPicPr>
          <p:cNvPr id="17"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18"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Nature = Collection of Units = 4 Orders(CO4)</a:t>
            </a:r>
            <a:endParaRPr lang="en-US" sz="3200" b="1" dirty="0">
              <a:latin typeface="Arial" pitchFamily="34" charset="0"/>
              <a:cs typeface="Arial" pitchFamily="34" charset="0"/>
            </a:endParaRPr>
          </a:p>
        </p:txBody>
      </p:sp>
      <p:sp>
        <p:nvSpPr>
          <p:cNvPr id="19" name="Date Placeholder 18"/>
          <p:cNvSpPr>
            <a:spLocks noGrp="1"/>
          </p:cNvSpPr>
          <p:nvPr>
            <p:ph type="dt" sz="half" idx="10"/>
          </p:nvPr>
        </p:nvSpPr>
        <p:spPr/>
        <p:txBody>
          <a:bodyPr/>
          <a:lstStyle/>
          <a:p>
            <a:fld id="{2507BD34-7E90-4C30-9619-C76D2DAD9891}" type="datetime1">
              <a:rPr lang="en-US" smtClean="0"/>
              <a:pPr/>
              <a:t>06/25/21</a:t>
            </a:fld>
            <a:endParaRPr lang="en-US"/>
          </a:p>
        </p:txBody>
      </p:sp>
      <p:sp>
        <p:nvSpPr>
          <p:cNvPr id="20" name="Slide Number Placeholder 19"/>
          <p:cNvSpPr>
            <a:spLocks noGrp="1"/>
          </p:cNvSpPr>
          <p:nvPr>
            <p:ph type="sldNum" sz="quarter" idx="12"/>
          </p:nvPr>
        </p:nvSpPr>
        <p:spPr/>
        <p:txBody>
          <a:bodyPr/>
          <a:lstStyle/>
          <a:p>
            <a:fld id="{B6F15528-21DE-4FAA-801E-634DDDAF4B2B}" type="slidenum">
              <a:rPr lang="en-US" smtClean="0"/>
              <a:pPr/>
              <a:t>35</a:t>
            </a:fld>
            <a:endParaRPr lang="en-US"/>
          </a:p>
        </p:txBody>
      </p:sp>
      <p:sp>
        <p:nvSpPr>
          <p:cNvPr id="21" name="Footer Placeholder 20"/>
          <p:cNvSpPr>
            <a:spLocks noGrp="1"/>
          </p:cNvSpPr>
          <p:nvPr>
            <p:ph type="ftr" sz="quarter" idx="11"/>
          </p:nvPr>
        </p:nvSpPr>
        <p:spPr>
          <a:xfrm>
            <a:off x="2571736" y="6356350"/>
            <a:ext cx="5357850" cy="365125"/>
          </a:xfrm>
        </p:spPr>
        <p:txBody>
          <a:bodyPr/>
          <a:lstStyle/>
          <a:p>
            <a:r>
              <a:rPr lang="fi-FI" smtClean="0"/>
              <a:t>SHYAM  LAL SHARMA             KOE069 UHV-2               Unit -4</a:t>
            </a:r>
            <a:endParaRPr 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Nature = Collection of Units = 4 Orders(CO4)</a:t>
            </a:r>
            <a:endParaRPr lang="en-US" sz="3200" b="1" dirty="0">
              <a:latin typeface="Arial" pitchFamily="34" charset="0"/>
              <a:cs typeface="Arial" pitchFamily="34" charset="0"/>
            </a:endParaRPr>
          </a:p>
        </p:txBody>
      </p:sp>
      <p:sp>
        <p:nvSpPr>
          <p:cNvPr id="6" name="Rectangle 5"/>
          <p:cNvSpPr/>
          <p:nvPr/>
        </p:nvSpPr>
        <p:spPr>
          <a:xfrm>
            <a:off x="214282" y="1139594"/>
            <a:ext cx="8143932" cy="461665"/>
          </a:xfrm>
          <a:prstGeom prst="rect">
            <a:avLst/>
          </a:prstGeom>
        </p:spPr>
        <p:txBody>
          <a:bodyPr wrap="square">
            <a:spAutoFit/>
          </a:bodyPr>
          <a:lstStyle/>
          <a:p>
            <a:pPr>
              <a:buFont typeface="Wingdings" pitchFamily="2" charset="2"/>
              <a:buChar char="§"/>
            </a:pPr>
            <a:r>
              <a:rPr lang="en-US" altLang="en-US" sz="2400" b="1" dirty="0">
                <a:latin typeface="Arial" pitchFamily="34" charset="0"/>
                <a:cs typeface="Arial" pitchFamily="34" charset="0"/>
              </a:rPr>
              <a:t>Physical order</a:t>
            </a:r>
            <a:endParaRPr lang="en-IN" sz="2400" b="1" dirty="0">
              <a:latin typeface="Arial" pitchFamily="34" charset="0"/>
              <a:cs typeface="Arial" pitchFamily="34" charset="0"/>
            </a:endParaRPr>
          </a:p>
        </p:txBody>
      </p:sp>
      <p:pic>
        <p:nvPicPr>
          <p:cNvPr id="2050" name="Picture 2"/>
          <p:cNvPicPr>
            <a:picLocks noChangeAspect="1" noChangeArrowheads="1"/>
          </p:cNvPicPr>
          <p:nvPr/>
        </p:nvPicPr>
        <p:blipFill>
          <a:blip r:embed="rId3"/>
          <a:srcRect/>
          <a:stretch>
            <a:fillRect/>
          </a:stretch>
        </p:blipFill>
        <p:spPr bwMode="auto">
          <a:xfrm>
            <a:off x="442392" y="1601259"/>
            <a:ext cx="8244408" cy="4470947"/>
          </a:xfrm>
          <a:prstGeom prst="rect">
            <a:avLst/>
          </a:prstGeom>
          <a:noFill/>
          <a:ln w="9525">
            <a:noFill/>
            <a:miter lim="800000"/>
            <a:headEnd/>
            <a:tailEnd/>
          </a:ln>
          <a:effectLst/>
        </p:spPr>
      </p:pic>
      <p:sp>
        <p:nvSpPr>
          <p:cNvPr id="7" name="Date Placeholder 6"/>
          <p:cNvSpPr>
            <a:spLocks noGrp="1"/>
          </p:cNvSpPr>
          <p:nvPr>
            <p:ph type="dt" sz="half" idx="10"/>
          </p:nvPr>
        </p:nvSpPr>
        <p:spPr/>
        <p:txBody>
          <a:bodyPr/>
          <a:lstStyle/>
          <a:p>
            <a:fld id="{FBE140D1-3BF3-48F2-B949-E594484144EB}" type="datetime1">
              <a:rPr lang="en-US" smtClean="0"/>
              <a:pPr/>
              <a:t>06/25/21</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36</a:t>
            </a:fld>
            <a:endParaRPr lang="en-US"/>
          </a:p>
        </p:txBody>
      </p:sp>
      <p:sp>
        <p:nvSpPr>
          <p:cNvPr id="9" name="Footer Placeholder 8"/>
          <p:cNvSpPr>
            <a:spLocks noGrp="1"/>
          </p:cNvSpPr>
          <p:nvPr>
            <p:ph type="ftr" sz="quarter" idx="11"/>
          </p:nvPr>
        </p:nvSpPr>
        <p:spPr>
          <a:xfrm>
            <a:off x="2285984" y="6356350"/>
            <a:ext cx="5572164" cy="365125"/>
          </a:xfrm>
        </p:spPr>
        <p:txBody>
          <a:bodyPr/>
          <a:lstStyle/>
          <a:p>
            <a:r>
              <a:rPr lang="fi-FI" smtClean="0"/>
              <a:t>SHYAM  LAL SHARMA             KOE069 UHV-2               Unit -4</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Nature = Collection of Units = 4 Orders(CO4)</a:t>
            </a:r>
            <a:endParaRPr lang="en-US" sz="3200" b="1" dirty="0">
              <a:latin typeface="Arial" pitchFamily="34" charset="0"/>
              <a:cs typeface="Arial" pitchFamily="34" charset="0"/>
            </a:endParaRPr>
          </a:p>
        </p:txBody>
      </p:sp>
      <p:sp>
        <p:nvSpPr>
          <p:cNvPr id="6" name="Rectangle 5"/>
          <p:cNvSpPr/>
          <p:nvPr/>
        </p:nvSpPr>
        <p:spPr>
          <a:xfrm>
            <a:off x="214282" y="1139594"/>
            <a:ext cx="8143932" cy="461665"/>
          </a:xfrm>
          <a:prstGeom prst="rect">
            <a:avLst/>
          </a:prstGeom>
        </p:spPr>
        <p:txBody>
          <a:bodyPr wrap="square">
            <a:spAutoFit/>
          </a:bodyPr>
          <a:lstStyle/>
          <a:p>
            <a:pPr>
              <a:buFont typeface="Wingdings" pitchFamily="2" charset="2"/>
              <a:buChar char="§"/>
            </a:pPr>
            <a:r>
              <a:rPr lang="en-US" altLang="en-US" sz="2400" b="1" dirty="0">
                <a:latin typeface="Arial" pitchFamily="34" charset="0"/>
                <a:cs typeface="Arial" pitchFamily="34" charset="0"/>
              </a:rPr>
              <a:t> </a:t>
            </a:r>
            <a:r>
              <a:rPr lang="en-US" altLang="en-US" sz="2400" b="1" dirty="0" err="1">
                <a:latin typeface="Arial" pitchFamily="34" charset="0"/>
                <a:cs typeface="Arial" pitchFamily="34" charset="0"/>
              </a:rPr>
              <a:t>Pranic</a:t>
            </a:r>
            <a:r>
              <a:rPr lang="en-US" altLang="en-US" sz="2400" b="1" dirty="0">
                <a:latin typeface="Arial" pitchFamily="34" charset="0"/>
                <a:cs typeface="Arial" pitchFamily="34" charset="0"/>
              </a:rPr>
              <a:t> Order</a:t>
            </a:r>
            <a:endParaRPr lang="en-IN" sz="2400" b="1" dirty="0">
              <a:latin typeface="Arial" pitchFamily="34" charset="0"/>
              <a:cs typeface="Arial" pitchFamily="34" charset="0"/>
            </a:endParaRPr>
          </a:p>
        </p:txBody>
      </p:sp>
      <p:pic>
        <p:nvPicPr>
          <p:cNvPr id="3074" name="Picture 2"/>
          <p:cNvPicPr>
            <a:picLocks noChangeAspect="1" noChangeArrowheads="1"/>
          </p:cNvPicPr>
          <p:nvPr/>
        </p:nvPicPr>
        <p:blipFill>
          <a:blip r:embed="rId3"/>
          <a:srcRect/>
          <a:stretch>
            <a:fillRect/>
          </a:stretch>
        </p:blipFill>
        <p:spPr bwMode="auto">
          <a:xfrm>
            <a:off x="245713" y="1627710"/>
            <a:ext cx="8605081" cy="4537594"/>
          </a:xfrm>
          <a:prstGeom prst="rect">
            <a:avLst/>
          </a:prstGeom>
          <a:noFill/>
          <a:ln w="9525">
            <a:noFill/>
            <a:miter lim="800000"/>
            <a:headEnd/>
            <a:tailEnd/>
          </a:ln>
          <a:effectLst/>
        </p:spPr>
      </p:pic>
      <p:sp>
        <p:nvSpPr>
          <p:cNvPr id="7" name="Date Placeholder 6"/>
          <p:cNvSpPr>
            <a:spLocks noGrp="1"/>
          </p:cNvSpPr>
          <p:nvPr>
            <p:ph type="dt" sz="half" idx="10"/>
          </p:nvPr>
        </p:nvSpPr>
        <p:spPr/>
        <p:txBody>
          <a:bodyPr/>
          <a:lstStyle/>
          <a:p>
            <a:fld id="{C89BEF23-23C1-4EAB-8A15-7E0753BB5984}" type="datetime1">
              <a:rPr lang="en-US" smtClean="0"/>
              <a:pPr/>
              <a:t>06/25/21</a:t>
            </a:fld>
            <a:endParaRPr lang="en-US"/>
          </a:p>
        </p:txBody>
      </p:sp>
      <p:sp>
        <p:nvSpPr>
          <p:cNvPr id="8" name="Slide Number Placeholder 7"/>
          <p:cNvSpPr>
            <a:spLocks noGrp="1"/>
          </p:cNvSpPr>
          <p:nvPr>
            <p:ph type="sldNum" sz="quarter" idx="12"/>
          </p:nvPr>
        </p:nvSpPr>
        <p:spPr/>
        <p:txBody>
          <a:bodyPr/>
          <a:lstStyle/>
          <a:p>
            <a:fld id="{B6F15528-21DE-4FAA-801E-634DDDAF4B2B}" type="slidenum">
              <a:rPr lang="en-US" smtClean="0"/>
              <a:pPr/>
              <a:t>37</a:t>
            </a:fld>
            <a:endParaRPr lang="en-US"/>
          </a:p>
        </p:txBody>
      </p:sp>
      <p:sp>
        <p:nvSpPr>
          <p:cNvPr id="9" name="Footer Placeholder 8"/>
          <p:cNvSpPr>
            <a:spLocks noGrp="1"/>
          </p:cNvSpPr>
          <p:nvPr>
            <p:ph type="ftr" sz="quarter" idx="11"/>
          </p:nvPr>
        </p:nvSpPr>
        <p:spPr>
          <a:xfrm>
            <a:off x="2357422" y="6356350"/>
            <a:ext cx="5643602" cy="365125"/>
          </a:xfrm>
        </p:spPr>
        <p:txBody>
          <a:bodyPr/>
          <a:lstStyle/>
          <a:p>
            <a:r>
              <a:rPr lang="fi-FI" smtClean="0"/>
              <a:t>SHYAM  LAL SHARMA             KOE069 UHV-2               Unit -4</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Nature = Collection of Units = 4 Orders (CO4)</a:t>
            </a:r>
            <a:endParaRPr lang="en-US" sz="3200" b="1" dirty="0">
              <a:latin typeface="Arial" pitchFamily="34" charset="0"/>
              <a:cs typeface="Arial" pitchFamily="34" charset="0"/>
            </a:endParaRPr>
          </a:p>
        </p:txBody>
      </p:sp>
      <p:sp>
        <p:nvSpPr>
          <p:cNvPr id="6" name="Rectangle 5"/>
          <p:cNvSpPr/>
          <p:nvPr/>
        </p:nvSpPr>
        <p:spPr>
          <a:xfrm>
            <a:off x="214282" y="928670"/>
            <a:ext cx="8143932" cy="461665"/>
          </a:xfrm>
          <a:prstGeom prst="rect">
            <a:avLst/>
          </a:prstGeom>
        </p:spPr>
        <p:txBody>
          <a:bodyPr wrap="square">
            <a:spAutoFit/>
          </a:bodyPr>
          <a:lstStyle/>
          <a:p>
            <a:pPr>
              <a:buFont typeface="Wingdings" pitchFamily="2" charset="2"/>
              <a:buChar char="§"/>
            </a:pPr>
            <a:r>
              <a:rPr lang="en-US" altLang="en-US" sz="2400" b="1" dirty="0">
                <a:latin typeface="Arial" pitchFamily="34" charset="0"/>
                <a:cs typeface="Arial" pitchFamily="34" charset="0"/>
              </a:rPr>
              <a:t>Animal  Order</a:t>
            </a:r>
            <a:endParaRPr lang="en-IN" sz="2400" b="1" dirty="0">
              <a:latin typeface="Arial" pitchFamily="34" charset="0"/>
              <a:cs typeface="Arial" pitchFamily="34" charset="0"/>
            </a:endParaRPr>
          </a:p>
        </p:txBody>
      </p:sp>
      <p:pic>
        <p:nvPicPr>
          <p:cNvPr id="4098" name="Picture 2"/>
          <p:cNvPicPr>
            <a:picLocks noChangeAspect="1" noChangeArrowheads="1"/>
          </p:cNvPicPr>
          <p:nvPr/>
        </p:nvPicPr>
        <p:blipFill>
          <a:blip r:embed="rId3"/>
          <a:srcRect/>
          <a:stretch>
            <a:fillRect/>
          </a:stretch>
        </p:blipFill>
        <p:spPr bwMode="auto">
          <a:xfrm>
            <a:off x="0" y="1357298"/>
            <a:ext cx="9001156" cy="2428892"/>
          </a:xfrm>
          <a:prstGeom prst="rect">
            <a:avLst/>
          </a:prstGeom>
          <a:noFill/>
          <a:ln w="9525">
            <a:noFill/>
            <a:miter lim="800000"/>
            <a:headEnd/>
            <a:tailEnd/>
          </a:ln>
          <a:effectLst/>
        </p:spPr>
      </p:pic>
      <p:sp>
        <p:nvSpPr>
          <p:cNvPr id="7" name="Rectangle 6"/>
          <p:cNvSpPr/>
          <p:nvPr/>
        </p:nvSpPr>
        <p:spPr>
          <a:xfrm>
            <a:off x="0" y="3714752"/>
            <a:ext cx="9144000" cy="2585323"/>
          </a:xfrm>
          <a:prstGeom prst="rect">
            <a:avLst/>
          </a:prstGeom>
        </p:spPr>
        <p:txBody>
          <a:bodyPr wrap="square">
            <a:spAutoFit/>
          </a:bodyPr>
          <a:lstStyle/>
          <a:p>
            <a:pPr>
              <a:defRPr/>
            </a:pPr>
            <a:r>
              <a:rPr lang="en-US" dirty="0">
                <a:solidFill>
                  <a:srgbClr val="1E00AA"/>
                </a:solidFill>
                <a:latin typeface="Arial" pitchFamily="34" charset="0"/>
                <a:cs typeface="Arial" pitchFamily="34" charset="0"/>
              </a:rPr>
              <a:t>In BODY</a:t>
            </a:r>
          </a:p>
          <a:p>
            <a:pPr>
              <a:defRPr/>
            </a:pPr>
            <a:r>
              <a:rPr lang="en-US" dirty="0">
                <a:solidFill>
                  <a:srgbClr val="1E00AA"/>
                </a:solidFill>
                <a:latin typeface="Arial" pitchFamily="34" charset="0"/>
                <a:cs typeface="Arial" pitchFamily="34" charset="0"/>
              </a:rPr>
              <a:t>Orderly interaction… definite self-</a:t>
            </a:r>
            <a:r>
              <a:rPr lang="en-US" dirty="0" err="1">
                <a:solidFill>
                  <a:srgbClr val="1E00AA"/>
                </a:solidFill>
                <a:latin typeface="Arial" pitchFamily="34" charset="0"/>
                <a:cs typeface="Arial" pitchFamily="34" charset="0"/>
              </a:rPr>
              <a:t>organisation</a:t>
            </a:r>
            <a:r>
              <a:rPr lang="en-US" dirty="0">
                <a:solidFill>
                  <a:srgbClr val="1E00AA"/>
                </a:solidFill>
                <a:latin typeface="Arial" pitchFamily="34" charset="0"/>
                <a:cs typeface="Arial" pitchFamily="34" charset="0"/>
              </a:rPr>
              <a:t>… definite participation in larger order</a:t>
            </a:r>
          </a:p>
          <a:p>
            <a:pPr>
              <a:defRPr/>
            </a:pPr>
            <a:r>
              <a:rPr lang="en-US" dirty="0">
                <a:solidFill>
                  <a:srgbClr val="1E00AA"/>
                </a:solidFill>
                <a:latin typeface="Arial" pitchFamily="34" charset="0"/>
                <a:cs typeface="Arial" pitchFamily="34" charset="0"/>
              </a:rPr>
              <a:t>Recognition &amp; fulfillment by way of pulsation</a:t>
            </a:r>
          </a:p>
          <a:p>
            <a:pPr>
              <a:defRPr/>
            </a:pPr>
            <a:r>
              <a:rPr lang="en-US" dirty="0">
                <a:solidFill>
                  <a:srgbClr val="1E00AA"/>
                </a:solidFill>
                <a:latin typeface="Arial" pitchFamily="34" charset="0"/>
                <a:cs typeface="Arial" pitchFamily="34" charset="0"/>
              </a:rPr>
              <a:t>Ability to </a:t>
            </a:r>
            <a:r>
              <a:rPr lang="en-IN" dirty="0">
                <a:solidFill>
                  <a:srgbClr val="1E00AA"/>
                </a:solidFill>
                <a:latin typeface="Arial" pitchFamily="34" charset="0"/>
                <a:cs typeface="Arial" pitchFamily="34" charset="0"/>
              </a:rPr>
              <a:t>grow, </a:t>
            </a:r>
            <a:r>
              <a:rPr lang="en-US" dirty="0">
                <a:solidFill>
                  <a:srgbClr val="1E00AA"/>
                </a:solidFill>
                <a:latin typeface="Arial" pitchFamily="34" charset="0"/>
                <a:cs typeface="Arial" pitchFamily="34" charset="0"/>
              </a:rPr>
              <a:t>form another cell… to multiply</a:t>
            </a:r>
          </a:p>
          <a:p>
            <a:pPr>
              <a:defRPr/>
            </a:pPr>
            <a:endParaRPr lang="en-US" dirty="0">
              <a:solidFill>
                <a:srgbClr val="1E00AA"/>
              </a:solidFill>
              <a:latin typeface="Arial" pitchFamily="34" charset="0"/>
              <a:cs typeface="Arial" pitchFamily="34" charset="0"/>
            </a:endParaRPr>
          </a:p>
          <a:p>
            <a:pPr>
              <a:defRPr/>
            </a:pPr>
            <a:r>
              <a:rPr lang="en-US" b="1" dirty="0">
                <a:solidFill>
                  <a:srgbClr val="1E00AA"/>
                </a:solidFill>
                <a:latin typeface="Arial" pitchFamily="34" charset="0"/>
                <a:cs typeface="Arial" pitchFamily="34" charset="0"/>
              </a:rPr>
              <a:t>In SELF</a:t>
            </a:r>
          </a:p>
          <a:p>
            <a:pPr>
              <a:defRPr/>
            </a:pPr>
            <a:r>
              <a:rPr lang="en-US" b="1" dirty="0">
                <a:solidFill>
                  <a:srgbClr val="1E00AA"/>
                </a:solidFill>
                <a:latin typeface="Arial" pitchFamily="34" charset="0"/>
                <a:cs typeface="Arial" pitchFamily="34" charset="0"/>
              </a:rPr>
              <a:t>Sensitivity toward sound, touch, sight, taste, smell</a:t>
            </a:r>
          </a:p>
          <a:p>
            <a:pPr>
              <a:defRPr/>
            </a:pPr>
            <a:r>
              <a:rPr lang="en-US" dirty="0">
                <a:solidFill>
                  <a:srgbClr val="1E00AA"/>
                </a:solidFill>
                <a:latin typeface="Arial" pitchFamily="34" charset="0"/>
                <a:cs typeface="Arial" pitchFamily="34" charset="0"/>
              </a:rPr>
              <a:t>Recognition &amp; fulfillment on basis of assuming based on breed</a:t>
            </a:r>
          </a:p>
          <a:p>
            <a:pPr>
              <a:defRPr/>
            </a:pPr>
            <a:r>
              <a:rPr lang="en-US" dirty="0">
                <a:solidFill>
                  <a:srgbClr val="1E00AA"/>
                </a:solidFill>
                <a:latin typeface="Arial" pitchFamily="34" charset="0"/>
                <a:cs typeface="Arial" pitchFamily="34" charset="0"/>
              </a:rPr>
              <a:t>= Expression of Submergence (in animal order unit</a:t>
            </a:r>
          </a:p>
        </p:txBody>
      </p:sp>
      <p:sp>
        <p:nvSpPr>
          <p:cNvPr id="8" name="Date Placeholder 7"/>
          <p:cNvSpPr>
            <a:spLocks noGrp="1"/>
          </p:cNvSpPr>
          <p:nvPr>
            <p:ph type="dt" sz="half" idx="10"/>
          </p:nvPr>
        </p:nvSpPr>
        <p:spPr/>
        <p:txBody>
          <a:bodyPr/>
          <a:lstStyle/>
          <a:p>
            <a:fld id="{886105EF-9F97-4393-9383-FA9411884AB3}" type="datetime1">
              <a:rPr lang="en-US" smtClean="0"/>
              <a:pPr/>
              <a:t>06/25/21</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38</a:t>
            </a:fld>
            <a:endParaRPr lang="en-US"/>
          </a:p>
        </p:txBody>
      </p:sp>
      <p:sp>
        <p:nvSpPr>
          <p:cNvPr id="10" name="Footer Placeholder 9"/>
          <p:cNvSpPr>
            <a:spLocks noGrp="1"/>
          </p:cNvSpPr>
          <p:nvPr>
            <p:ph type="ftr" sz="quarter" idx="11"/>
          </p:nvPr>
        </p:nvSpPr>
        <p:spPr>
          <a:xfrm>
            <a:off x="2571736" y="6356350"/>
            <a:ext cx="5643602" cy="365125"/>
          </a:xfrm>
        </p:spPr>
        <p:txBody>
          <a:bodyPr/>
          <a:lstStyle/>
          <a:p>
            <a:r>
              <a:rPr lang="fi-FI" smtClean="0"/>
              <a:t>SHYAM  LAL SHARMA             KOE069 UHV-2               Unit -4</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92867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Nature = Collection of Units = 4 Orders(CO4)</a:t>
            </a:r>
            <a:endParaRPr lang="en-US" sz="3200" b="1" dirty="0">
              <a:latin typeface="Arial" pitchFamily="34" charset="0"/>
              <a:cs typeface="Arial" pitchFamily="34" charset="0"/>
            </a:endParaRPr>
          </a:p>
        </p:txBody>
      </p:sp>
      <p:sp>
        <p:nvSpPr>
          <p:cNvPr id="6" name="Rectangle 5"/>
          <p:cNvSpPr/>
          <p:nvPr/>
        </p:nvSpPr>
        <p:spPr>
          <a:xfrm>
            <a:off x="214282" y="928670"/>
            <a:ext cx="8143932" cy="461665"/>
          </a:xfrm>
          <a:prstGeom prst="rect">
            <a:avLst/>
          </a:prstGeom>
        </p:spPr>
        <p:txBody>
          <a:bodyPr wrap="square">
            <a:spAutoFit/>
          </a:bodyPr>
          <a:lstStyle/>
          <a:p>
            <a:pPr>
              <a:buFont typeface="Wingdings" pitchFamily="2" charset="2"/>
              <a:buChar char="§"/>
            </a:pPr>
            <a:r>
              <a:rPr lang="en-US" altLang="en-US" sz="2400" b="1" dirty="0">
                <a:latin typeface="Arial" pitchFamily="34" charset="0"/>
                <a:cs typeface="Arial" pitchFamily="34" charset="0"/>
              </a:rPr>
              <a:t>Human  Order</a:t>
            </a:r>
            <a:endParaRPr lang="en-IN" sz="2400" b="1" dirty="0">
              <a:latin typeface="Arial" pitchFamily="34" charset="0"/>
              <a:cs typeface="Arial" pitchFamily="34" charset="0"/>
            </a:endParaRPr>
          </a:p>
        </p:txBody>
      </p:sp>
      <p:pic>
        <p:nvPicPr>
          <p:cNvPr id="5122" name="Picture 2"/>
          <p:cNvPicPr>
            <a:picLocks noChangeAspect="1" noChangeArrowheads="1"/>
          </p:cNvPicPr>
          <p:nvPr/>
        </p:nvPicPr>
        <p:blipFill>
          <a:blip r:embed="rId3"/>
          <a:srcRect/>
          <a:stretch>
            <a:fillRect/>
          </a:stretch>
        </p:blipFill>
        <p:spPr bwMode="auto">
          <a:xfrm>
            <a:off x="252090" y="1352497"/>
            <a:ext cx="8677628" cy="2428892"/>
          </a:xfrm>
          <a:prstGeom prst="rect">
            <a:avLst/>
          </a:prstGeom>
          <a:noFill/>
          <a:ln w="9525">
            <a:noFill/>
            <a:miter lim="800000"/>
            <a:headEnd/>
            <a:tailEnd/>
          </a:ln>
          <a:effectLst/>
        </p:spPr>
      </p:pic>
      <p:sp>
        <p:nvSpPr>
          <p:cNvPr id="8" name="Rectangle 7"/>
          <p:cNvSpPr/>
          <p:nvPr/>
        </p:nvSpPr>
        <p:spPr>
          <a:xfrm>
            <a:off x="0" y="3781389"/>
            <a:ext cx="9144000" cy="2585323"/>
          </a:xfrm>
          <a:prstGeom prst="rect">
            <a:avLst/>
          </a:prstGeom>
        </p:spPr>
        <p:txBody>
          <a:bodyPr wrap="square">
            <a:spAutoFit/>
          </a:bodyPr>
          <a:lstStyle/>
          <a:p>
            <a:pPr>
              <a:defRPr/>
            </a:pPr>
            <a:r>
              <a:rPr lang="en-US" dirty="0">
                <a:solidFill>
                  <a:srgbClr val="1E00AA"/>
                </a:solidFill>
                <a:latin typeface="Arial" pitchFamily="34" charset="0"/>
                <a:cs typeface="Arial" pitchFamily="34" charset="0"/>
              </a:rPr>
              <a:t>In BODY</a:t>
            </a:r>
          </a:p>
          <a:p>
            <a:pPr>
              <a:defRPr/>
            </a:pPr>
            <a:r>
              <a:rPr lang="en-US" dirty="0">
                <a:solidFill>
                  <a:srgbClr val="1E00AA"/>
                </a:solidFill>
                <a:latin typeface="Arial" pitchFamily="34" charset="0"/>
                <a:cs typeface="Arial" pitchFamily="34" charset="0"/>
              </a:rPr>
              <a:t>Orderly interaction… definite self-</a:t>
            </a:r>
            <a:r>
              <a:rPr lang="en-US" dirty="0" err="1">
                <a:solidFill>
                  <a:srgbClr val="1E00AA"/>
                </a:solidFill>
                <a:latin typeface="Arial" pitchFamily="34" charset="0"/>
                <a:cs typeface="Arial" pitchFamily="34" charset="0"/>
              </a:rPr>
              <a:t>organisation</a:t>
            </a:r>
            <a:r>
              <a:rPr lang="en-US" dirty="0">
                <a:solidFill>
                  <a:srgbClr val="1E00AA"/>
                </a:solidFill>
                <a:latin typeface="Arial" pitchFamily="34" charset="0"/>
                <a:cs typeface="Arial" pitchFamily="34" charset="0"/>
              </a:rPr>
              <a:t>… definite participation in larger order</a:t>
            </a:r>
          </a:p>
          <a:p>
            <a:pPr>
              <a:defRPr/>
            </a:pPr>
            <a:r>
              <a:rPr lang="en-US" dirty="0">
                <a:solidFill>
                  <a:srgbClr val="1E00AA"/>
                </a:solidFill>
                <a:latin typeface="Arial" pitchFamily="34" charset="0"/>
                <a:cs typeface="Arial" pitchFamily="34" charset="0"/>
              </a:rPr>
              <a:t>Recognition &amp; fulfillment by way of pulsation</a:t>
            </a:r>
          </a:p>
          <a:p>
            <a:pPr>
              <a:defRPr/>
            </a:pPr>
            <a:r>
              <a:rPr lang="en-US" dirty="0">
                <a:solidFill>
                  <a:srgbClr val="1E00AA"/>
                </a:solidFill>
                <a:latin typeface="Arial" pitchFamily="34" charset="0"/>
                <a:cs typeface="Arial" pitchFamily="34" charset="0"/>
              </a:rPr>
              <a:t>Ability to </a:t>
            </a:r>
            <a:r>
              <a:rPr lang="en-IN" dirty="0">
                <a:solidFill>
                  <a:srgbClr val="1E00AA"/>
                </a:solidFill>
                <a:latin typeface="Arial" pitchFamily="34" charset="0"/>
                <a:cs typeface="Arial" pitchFamily="34" charset="0"/>
              </a:rPr>
              <a:t>grow, </a:t>
            </a:r>
            <a:r>
              <a:rPr lang="en-US" dirty="0">
                <a:solidFill>
                  <a:srgbClr val="1E00AA"/>
                </a:solidFill>
                <a:latin typeface="Arial" pitchFamily="34" charset="0"/>
                <a:cs typeface="Arial" pitchFamily="34" charset="0"/>
              </a:rPr>
              <a:t>form another cell… to multiply</a:t>
            </a:r>
          </a:p>
          <a:p>
            <a:pPr>
              <a:defRPr/>
            </a:pPr>
            <a:r>
              <a:rPr lang="en-US" b="1" dirty="0">
                <a:solidFill>
                  <a:srgbClr val="1E00AA"/>
                </a:solidFill>
                <a:latin typeface="Arial" pitchFamily="34" charset="0"/>
                <a:cs typeface="Arial" pitchFamily="34" charset="0"/>
              </a:rPr>
              <a:t>In SELF</a:t>
            </a:r>
          </a:p>
          <a:p>
            <a:pPr>
              <a:defRPr/>
            </a:pPr>
            <a:r>
              <a:rPr lang="en-US" b="1" dirty="0">
                <a:solidFill>
                  <a:srgbClr val="1E00AA"/>
                </a:solidFill>
                <a:latin typeface="Arial" pitchFamily="34" charset="0"/>
                <a:cs typeface="Arial" pitchFamily="34" charset="0"/>
              </a:rPr>
              <a:t>Sensitivity toward sound, touch, sight, taste, smell</a:t>
            </a:r>
          </a:p>
          <a:p>
            <a:pPr>
              <a:defRPr/>
            </a:pPr>
            <a:r>
              <a:rPr lang="en-US" b="1" dirty="0">
                <a:solidFill>
                  <a:srgbClr val="1E00AA"/>
                </a:solidFill>
              </a:rPr>
              <a:t>Need to know and potential for knowing</a:t>
            </a:r>
          </a:p>
          <a:p>
            <a:pPr>
              <a:defRPr/>
            </a:pPr>
            <a:r>
              <a:rPr lang="en-US" dirty="0">
                <a:solidFill>
                  <a:srgbClr val="1E00AA"/>
                </a:solidFill>
              </a:rPr>
              <a:t>Recognition &amp; fulfillment on bas of </a:t>
            </a:r>
            <a:r>
              <a:rPr lang="hi-IN" dirty="0">
                <a:solidFill>
                  <a:srgbClr val="1E00AA"/>
                </a:solidFill>
              </a:rPr>
              <a:t>knowing </a:t>
            </a:r>
            <a:r>
              <a:rPr lang="en-US" dirty="0">
                <a:solidFill>
                  <a:srgbClr val="1E00AA"/>
                </a:solidFill>
              </a:rPr>
              <a:t>assuming. Need to know and potential for knowing</a:t>
            </a:r>
          </a:p>
          <a:p>
            <a:pPr>
              <a:defRPr/>
            </a:pPr>
            <a:r>
              <a:rPr lang="en-US" dirty="0">
                <a:solidFill>
                  <a:srgbClr val="1E00AA"/>
                </a:solidFill>
              </a:rPr>
              <a:t>= Expression of Submergence (in human order unit)</a:t>
            </a:r>
            <a:endParaRPr lang="en-US" dirty="0">
              <a:solidFill>
                <a:srgbClr val="1E00AA"/>
              </a:solidFill>
              <a:latin typeface="Arial" pitchFamily="34" charset="0"/>
              <a:cs typeface="Arial" pitchFamily="34" charset="0"/>
            </a:endParaRPr>
          </a:p>
        </p:txBody>
      </p:sp>
      <p:sp>
        <p:nvSpPr>
          <p:cNvPr id="7" name="Date Placeholder 6"/>
          <p:cNvSpPr>
            <a:spLocks noGrp="1"/>
          </p:cNvSpPr>
          <p:nvPr>
            <p:ph type="dt" sz="half" idx="10"/>
          </p:nvPr>
        </p:nvSpPr>
        <p:spPr/>
        <p:txBody>
          <a:bodyPr/>
          <a:lstStyle/>
          <a:p>
            <a:fld id="{A2637C58-0425-4AE2-8C1D-813615E29EB2}" type="datetime1">
              <a:rPr lang="en-US" smtClean="0"/>
              <a:pPr/>
              <a:t>06/25/21</a:t>
            </a:fld>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39</a:t>
            </a:fld>
            <a:endParaRPr lang="en-US"/>
          </a:p>
        </p:txBody>
      </p:sp>
      <p:sp>
        <p:nvSpPr>
          <p:cNvPr id="10" name="Footer Placeholder 9"/>
          <p:cNvSpPr>
            <a:spLocks noGrp="1"/>
          </p:cNvSpPr>
          <p:nvPr>
            <p:ph type="ftr" sz="quarter" idx="11"/>
          </p:nvPr>
        </p:nvSpPr>
        <p:spPr>
          <a:xfrm>
            <a:off x="2714612" y="6356350"/>
            <a:ext cx="5429288" cy="365125"/>
          </a:xfrm>
        </p:spPr>
        <p:txBody>
          <a:bodyPr/>
          <a:lstStyle/>
          <a:p>
            <a:r>
              <a:rPr lang="fi-FI" smtClean="0"/>
              <a:t>SHYAM  LAL SHARMA             KOE069 UHV-2               Unit -4</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Co-existence(CO4)</a:t>
            </a:r>
            <a:endParaRPr lang="en-US" sz="3200" b="1" dirty="0">
              <a:latin typeface="Arial" pitchFamily="34" charset="0"/>
              <a:cs typeface="Arial" pitchFamily="34" charset="0"/>
            </a:endParaRPr>
          </a:p>
        </p:txBody>
      </p:sp>
      <p:pic>
        <p:nvPicPr>
          <p:cNvPr id="6146" name="Picture 2"/>
          <p:cNvPicPr>
            <a:picLocks noChangeAspect="1" noChangeArrowheads="1"/>
          </p:cNvPicPr>
          <p:nvPr/>
        </p:nvPicPr>
        <p:blipFill>
          <a:blip r:embed="rId3"/>
          <a:srcRect/>
          <a:stretch>
            <a:fillRect/>
          </a:stretch>
        </p:blipFill>
        <p:spPr bwMode="auto">
          <a:xfrm>
            <a:off x="0" y="785794"/>
            <a:ext cx="9144000" cy="5500726"/>
          </a:xfrm>
          <a:prstGeom prst="rect">
            <a:avLst/>
          </a:prstGeom>
          <a:noFill/>
          <a:ln w="9525">
            <a:noFill/>
            <a:miter lim="800000"/>
            <a:headEnd/>
            <a:tailEnd/>
          </a:ln>
          <a:effectLst/>
        </p:spPr>
      </p:pic>
      <p:sp>
        <p:nvSpPr>
          <p:cNvPr id="6" name="Date Placeholder 5"/>
          <p:cNvSpPr>
            <a:spLocks noGrp="1"/>
          </p:cNvSpPr>
          <p:nvPr>
            <p:ph type="dt" sz="half" idx="10"/>
          </p:nvPr>
        </p:nvSpPr>
        <p:spPr/>
        <p:txBody>
          <a:bodyPr/>
          <a:lstStyle/>
          <a:p>
            <a:fld id="{B6B19B26-071A-4CAB-8A37-6BA5E80421AB}"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40</a:t>
            </a:fld>
            <a:endParaRPr lang="en-US"/>
          </a:p>
        </p:txBody>
      </p:sp>
      <p:sp>
        <p:nvSpPr>
          <p:cNvPr id="8" name="Footer Placeholder 7"/>
          <p:cNvSpPr>
            <a:spLocks noGrp="1"/>
          </p:cNvSpPr>
          <p:nvPr>
            <p:ph type="ftr" sz="quarter" idx="11"/>
          </p:nvPr>
        </p:nvSpPr>
        <p:spPr>
          <a:xfrm>
            <a:off x="2500298" y="6356350"/>
            <a:ext cx="5500726" cy="365125"/>
          </a:xfrm>
        </p:spPr>
        <p:txBody>
          <a:bodyPr/>
          <a:lstStyle/>
          <a:p>
            <a:r>
              <a:rPr lang="fi-FI" smtClean="0"/>
              <a:t>SHYAM  LAL SHARMA             KOE069 UHV-2               Unit -4</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42" y="1196752"/>
            <a:ext cx="7526640" cy="4012498"/>
          </a:xfrm>
        </p:spPr>
        <p:txBody>
          <a:bodyPr>
            <a:noAutofit/>
          </a:bodyPr>
          <a:lstStyle/>
          <a:p>
            <a:pPr marL="457200" lvl="0" indent="-457200" algn="just">
              <a:buFont typeface="+mj-lt"/>
              <a:buAutoNum type="arabicPeriod"/>
            </a:pPr>
            <a:r>
              <a:rPr lang="en-IN" sz="2200" dirty="0">
                <a:latin typeface="Arial" pitchFamily="34" charset="0"/>
                <a:cs typeface="Arial" pitchFamily="34" charset="0"/>
              </a:rPr>
              <a:t>The activities in human body are Composition/ decomposition and   ______.</a:t>
            </a:r>
          </a:p>
          <a:p>
            <a:pPr marL="457200" lvl="0" indent="-457200" algn="just">
              <a:buFont typeface="+mj-lt"/>
              <a:buAutoNum type="arabicPeriod"/>
            </a:pPr>
            <a:endParaRPr lang="en-IN" sz="2200" dirty="0">
              <a:latin typeface="Arial" pitchFamily="34" charset="0"/>
              <a:cs typeface="Arial" pitchFamily="34" charset="0"/>
            </a:endParaRPr>
          </a:p>
          <a:p>
            <a:pPr marL="457200" indent="-457200" algn="just" fontAlgn="base">
              <a:buFont typeface="+mj-lt"/>
              <a:buAutoNum type="arabicPeriod"/>
            </a:pPr>
            <a:r>
              <a:rPr lang="en-IN" sz="2200" dirty="0">
                <a:latin typeface="Arial" pitchFamily="34" charset="0"/>
                <a:cs typeface="Arial" pitchFamily="34" charset="0"/>
              </a:rPr>
              <a:t>In animals only the activity of  _________ is predominant.</a:t>
            </a:r>
          </a:p>
          <a:p>
            <a:pPr marL="457200" indent="-457200" algn="just" fontAlgn="base">
              <a:buFont typeface="+mj-lt"/>
              <a:buAutoNum type="arabicPeriod"/>
            </a:pPr>
            <a:endParaRPr lang="en-IN" sz="2200" dirty="0">
              <a:latin typeface="Arial" pitchFamily="34" charset="0"/>
              <a:cs typeface="Arial" pitchFamily="34" charset="0"/>
            </a:endParaRPr>
          </a:p>
          <a:p>
            <a:pPr marL="457200" lvl="0" indent="-457200" algn="just">
              <a:buFont typeface="+mj-lt"/>
              <a:buAutoNum type="arabicPeriod"/>
            </a:pPr>
            <a:r>
              <a:rPr lang="en-IN" sz="2200" dirty="0">
                <a:latin typeface="Arial" pitchFamily="34" charset="0"/>
                <a:cs typeface="Arial" pitchFamily="34" charset="0"/>
              </a:rPr>
              <a:t>__________ is equivalent to the natural world, physical world or material world.</a:t>
            </a:r>
          </a:p>
          <a:p>
            <a:pPr marL="457200" lvl="0" indent="-457200" algn="just">
              <a:buFont typeface="+mj-lt"/>
              <a:buAutoNum type="arabicPeriod"/>
            </a:pPr>
            <a:endParaRPr lang="en-IN" sz="2200" dirty="0">
              <a:latin typeface="Arial" pitchFamily="34" charset="0"/>
              <a:cs typeface="Arial" pitchFamily="34" charset="0"/>
            </a:endParaRPr>
          </a:p>
          <a:p>
            <a:pPr marL="457200" lvl="0" indent="-457200" algn="just">
              <a:buFont typeface="+mj-lt"/>
              <a:buAutoNum type="arabicPeriod"/>
            </a:pPr>
            <a:r>
              <a:rPr lang="en-IN" sz="2200" dirty="0">
                <a:latin typeface="Arial" pitchFamily="34" charset="0"/>
                <a:cs typeface="Arial" pitchFamily="34" charset="0"/>
              </a:rPr>
              <a:t>The natural characteristic of material order _________.</a:t>
            </a:r>
          </a:p>
          <a:p>
            <a:pPr algn="just"/>
            <a:endParaRPr lang="en-IN" sz="2200" dirty="0">
              <a:latin typeface="Arial" pitchFamily="34" charset="0"/>
              <a:cs typeface="Arial" pitchFamily="34" charset="0"/>
            </a:endParaRPr>
          </a:p>
          <a:p>
            <a:pPr algn="just">
              <a:buNone/>
            </a:pPr>
            <a:r>
              <a:rPr lang="en-IN" sz="2200" dirty="0">
                <a:latin typeface="Arial" pitchFamily="34" charset="0"/>
                <a:cs typeface="Arial" pitchFamily="34" charset="0"/>
              </a:rPr>
              <a:t/>
            </a:r>
            <a:br>
              <a:rPr lang="en-IN" sz="2200" dirty="0">
                <a:latin typeface="Arial" pitchFamily="34" charset="0"/>
                <a:cs typeface="Arial" pitchFamily="34" charset="0"/>
              </a:rPr>
            </a:br>
            <a:r>
              <a:rPr lang="en-IN" sz="2200" dirty="0">
                <a:latin typeface="Arial" pitchFamily="34" charset="0"/>
                <a:cs typeface="Arial" pitchFamily="34" charset="0"/>
              </a:rPr>
              <a:t/>
            </a:r>
            <a:br>
              <a:rPr lang="en-IN" sz="2200" dirty="0">
                <a:latin typeface="Arial" pitchFamily="34" charset="0"/>
                <a:cs typeface="Arial" pitchFamily="34" charset="0"/>
              </a:rPr>
            </a:br>
            <a:endParaRPr lang="en-US"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DD941438-81EB-4B9B-96EF-1E1F414B372F}"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latin typeface="Arial" pitchFamily="34" charset="0"/>
                <a:cs typeface="Arial" pitchFamily="34" charset="0"/>
              </a:rPr>
              <a:t>Daily Quiz</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06" y="760409"/>
            <a:ext cx="8929718" cy="4597417"/>
          </a:xfrm>
        </p:spPr>
        <p:txBody>
          <a:bodyPr>
            <a:noAutofit/>
          </a:bodyPr>
          <a:lstStyle/>
          <a:p>
            <a:pPr algn="just">
              <a:spcAft>
                <a:spcPts val="1200"/>
              </a:spcAft>
              <a:buFont typeface="Wingdings" pitchFamily="2" charset="2"/>
              <a:buChar char="§"/>
              <a:defRPr/>
            </a:pPr>
            <a:r>
              <a:rPr lang="en-IN" altLang="en-US" sz="2200" dirty="0">
                <a:latin typeface="Arial" pitchFamily="34" charset="0"/>
                <a:cs typeface="Arial" pitchFamily="34" charset="0"/>
              </a:rPr>
              <a:t>Right understanding is -To see the reality as it is, in it's completeness (Knowing).</a:t>
            </a:r>
          </a:p>
          <a:p>
            <a:pPr algn="just">
              <a:spcAft>
                <a:spcPts val="1200"/>
              </a:spcAft>
              <a:buFont typeface="Wingdings" pitchFamily="2" charset="2"/>
              <a:buChar char="§"/>
              <a:defRPr/>
            </a:pPr>
            <a:r>
              <a:rPr lang="en-IN" altLang="en-US" sz="2200" dirty="0">
                <a:latin typeface="Arial" pitchFamily="34" charset="0"/>
                <a:cs typeface="Arial" pitchFamily="34" charset="0"/>
              </a:rPr>
              <a:t>To facilitate the </a:t>
            </a:r>
            <a:r>
              <a:rPr lang="en-IN" altLang="en-US" sz="2200" b="1" dirty="0">
                <a:latin typeface="Arial" pitchFamily="34" charset="0"/>
                <a:cs typeface="Arial" pitchFamily="34" charset="0"/>
              </a:rPr>
              <a:t>innateness</a:t>
            </a:r>
            <a:r>
              <a:rPr lang="en-IN" altLang="en-US" sz="2200" dirty="0">
                <a:latin typeface="Arial" pitchFamily="34" charset="0"/>
                <a:cs typeface="Arial" pitchFamily="34" charset="0"/>
              </a:rPr>
              <a:t> (or at least not violate it) of all 4 orders.</a:t>
            </a:r>
          </a:p>
          <a:p>
            <a:pPr algn="just">
              <a:spcAft>
                <a:spcPts val="1200"/>
              </a:spcAft>
              <a:buFont typeface="Wingdings" pitchFamily="2" charset="2"/>
              <a:buChar char="§"/>
              <a:defRPr/>
            </a:pPr>
            <a:r>
              <a:rPr lang="en-IN" altLang="en-US" sz="2200" dirty="0">
                <a:latin typeface="Arial" pitchFamily="34" charset="0"/>
                <a:cs typeface="Arial" pitchFamily="34" charset="0"/>
              </a:rPr>
              <a:t>To ensure the </a:t>
            </a:r>
            <a:r>
              <a:rPr lang="en-IN" altLang="en-US" sz="2200" b="1" dirty="0">
                <a:latin typeface="Arial" pitchFamily="34" charset="0"/>
                <a:cs typeface="Arial" pitchFamily="34" charset="0"/>
              </a:rPr>
              <a:t>inheritance</a:t>
            </a:r>
            <a:r>
              <a:rPr lang="en-IN" altLang="en-US" sz="2200" dirty="0">
                <a:latin typeface="Arial" pitchFamily="34" charset="0"/>
                <a:cs typeface="Arial" pitchFamily="34" charset="0"/>
              </a:rPr>
              <a:t> (or at least not violate it) of all </a:t>
            </a:r>
            <a:r>
              <a:rPr lang="en-US" altLang="en-US" sz="2200" dirty="0">
                <a:latin typeface="Arial" pitchFamily="34" charset="0"/>
                <a:cs typeface="Arial" pitchFamily="34" charset="0"/>
              </a:rPr>
              <a:t>4 </a:t>
            </a:r>
            <a:r>
              <a:rPr lang="en-IN" altLang="en-US" sz="2200" dirty="0">
                <a:latin typeface="Arial" pitchFamily="34" charset="0"/>
                <a:cs typeface="Arial" pitchFamily="34" charset="0"/>
              </a:rPr>
              <a:t>orders</a:t>
            </a:r>
          </a:p>
          <a:p>
            <a:pPr algn="just" fontAlgn="auto">
              <a:spcAft>
                <a:spcPts val="0"/>
              </a:spcAft>
              <a:buFont typeface="Wingdings" pitchFamily="2" charset="2"/>
              <a:buChar char="§"/>
              <a:defRPr/>
            </a:pPr>
            <a:r>
              <a:rPr lang="en-IN" altLang="en-US" sz="2200" dirty="0">
                <a:latin typeface="Arial" pitchFamily="34" charset="0"/>
                <a:cs typeface="Arial" pitchFamily="34" charset="0"/>
              </a:rPr>
              <a:t>Preservation (enrichment, protection and right utilization) of rest of nature.</a:t>
            </a:r>
          </a:p>
          <a:p>
            <a:pPr algn="just" fontAlgn="auto">
              <a:spcAft>
                <a:spcPts val="0"/>
              </a:spcAft>
              <a:buFont typeface="Wingdings" pitchFamily="2" charset="2"/>
              <a:buChar char="§"/>
              <a:defRPr/>
            </a:pPr>
            <a:r>
              <a:rPr lang="en-US" altLang="en-US" sz="2200" dirty="0">
                <a:latin typeface="Arial" pitchFamily="34" charset="0"/>
                <a:cs typeface="Arial" pitchFamily="34" charset="0"/>
              </a:rPr>
              <a:t>To understand the other  three orders, right understanding of the Human Order is required, otherwise over-evaluation, under-evaluation or otherwise-evaluation of the other orders keeps taking place.</a:t>
            </a:r>
          </a:p>
          <a:p>
            <a:pPr algn="just" fontAlgn="auto">
              <a:spcAft>
                <a:spcPts val="0"/>
              </a:spcAft>
              <a:buFont typeface="Wingdings" pitchFamily="2" charset="2"/>
              <a:buChar char="§"/>
              <a:defRPr/>
            </a:pPr>
            <a:r>
              <a:rPr lang="en-US" altLang="en-US" sz="2200" dirty="0">
                <a:latin typeface="Arial" pitchFamily="34" charset="0"/>
                <a:cs typeface="Arial" pitchFamily="34" charset="0"/>
              </a:rPr>
              <a:t>Discussed about submerge, innateness, natural characteristics &amp; activity &amp; inheritance of 4 orders.</a:t>
            </a: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sz="2200" dirty="0">
              <a:latin typeface="Arial" pitchFamily="34" charset="0"/>
              <a:cs typeface="Arial" pitchFamily="34" charset="0"/>
            </a:endParaRPr>
          </a:p>
          <a:p>
            <a:pPr algn="just">
              <a:buFont typeface="Wingdings" pitchFamily="2" charset="2"/>
              <a:buChar char="§"/>
              <a:defRPr/>
            </a:pPr>
            <a:endParaRPr lang="en-IN"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7F92B327-DAE9-45A5-A516-03F290284A68}"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4</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414D41D-36EB-408D-8944-F08473CDBBE6}"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defRPr/>
            </a:pPr>
            <a:r>
              <a:rPr lang="en-IN" sz="3200" dirty="0">
                <a:latin typeface="+mn-lt"/>
              </a:rPr>
              <a:t>Prerequisite</a:t>
            </a:r>
            <a:r>
              <a:rPr lang="en-IN" altLang="en-US" sz="3200" dirty="0">
                <a:latin typeface="Arial" pitchFamily="34" charset="0"/>
                <a:cs typeface="Arial" pitchFamily="34" charset="0"/>
              </a:rPr>
              <a:t> to Topic 5</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0" name="Table 9">
            <a:extLst>
              <a:ext uri="{FF2B5EF4-FFF2-40B4-BE49-F238E27FC236}">
                <a16:creationId xmlns:a16="http://schemas.microsoft.com/office/drawing/2014/main" xmlns="" id="{A6804FBC-80DD-4C04-ACE2-A867955DBC20}"/>
              </a:ext>
            </a:extLst>
          </p:cNvPr>
          <p:cNvGraphicFramePr>
            <a:graphicFrameLocks noGrp="1"/>
          </p:cNvGraphicFramePr>
          <p:nvPr>
            <p:extLst>
              <p:ext uri="{D42A27DB-BD31-4B8C-83A1-F6EECF244321}">
                <p14:modId xmlns:p14="http://schemas.microsoft.com/office/powerpoint/2010/main" xmlns="" val="1296450365"/>
              </p:ext>
            </p:extLst>
          </p:nvPr>
        </p:nvGraphicFramePr>
        <p:xfrm>
          <a:off x="457200" y="1268760"/>
          <a:ext cx="8429682" cy="3230880"/>
        </p:xfrm>
        <a:graphic>
          <a:graphicData uri="http://schemas.openxmlformats.org/drawingml/2006/table">
            <a:tbl>
              <a:tblPr firstRow="1" bandRow="1">
                <a:tableStyleId>{5C22544A-7EE6-4342-B048-85BDC9FD1C3A}</a:tableStyleId>
              </a:tblPr>
              <a:tblGrid>
                <a:gridCol w="8429682">
                  <a:extLst>
                    <a:ext uri="{9D8B030D-6E8A-4147-A177-3AD203B41FA5}">
                      <a16:colId xmlns:a16="http://schemas.microsoft.com/office/drawing/2014/main" xmlns="" val="20000"/>
                    </a:ext>
                  </a:extLst>
                </a:gridCol>
              </a:tblGrid>
              <a:tr h="370840">
                <a:tc>
                  <a:txBody>
                    <a:bodyPr/>
                    <a:lstStyle/>
                    <a:p>
                      <a:pPr algn="ctr"/>
                      <a:r>
                        <a:rPr lang="en-US" sz="2400" dirty="0">
                          <a:latin typeface="Arial" pitchFamily="34" charset="0"/>
                          <a:cs typeface="Arial" pitchFamily="34" charset="0"/>
                        </a:rPr>
                        <a:t>Prerequisites</a:t>
                      </a:r>
                      <a:endParaRPr lang="en-IN" sz="24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just">
                        <a:buFont typeface="Wingdings" pitchFamily="2" charset="2"/>
                        <a:buChar char="§"/>
                      </a:pPr>
                      <a:r>
                        <a:rPr lang="en-US" sz="2200" dirty="0">
                          <a:latin typeface="Arial" pitchFamily="34" charset="0"/>
                          <a:cs typeface="Arial" pitchFamily="34" charset="0"/>
                        </a:rPr>
                        <a:t>Students should have to know What is happiness &amp; prosperity.</a:t>
                      </a:r>
                    </a:p>
                    <a:p>
                      <a:pPr algn="just">
                        <a:buFont typeface="Wingdings" pitchFamily="2" charset="2"/>
                        <a:buChar char="§"/>
                      </a:pPr>
                      <a:r>
                        <a:rPr lang="en-US" sz="2200" dirty="0">
                          <a:latin typeface="Arial" pitchFamily="34" charset="0"/>
                          <a:cs typeface="Arial" pitchFamily="34" charset="0"/>
                        </a:rPr>
                        <a:t>Students should have to know self exploration and its process. Students should have to activate all activities of self &amp; live accordingly.</a:t>
                      </a:r>
                    </a:p>
                    <a:p>
                      <a:pPr algn="just">
                        <a:buFont typeface="Wingdings" pitchFamily="2" charset="2"/>
                        <a:buChar char="§"/>
                      </a:pPr>
                      <a:r>
                        <a:rPr lang="en-US" sz="2200" dirty="0">
                          <a:latin typeface="Arial" pitchFamily="34" charset="0"/>
                          <a:cs typeface="Arial" pitchFamily="34" charset="0"/>
                        </a:rPr>
                        <a:t>Students should have to know right understanding.</a:t>
                      </a:r>
                    </a:p>
                    <a:p>
                      <a:pPr algn="just">
                        <a:buFont typeface="Wingdings" pitchFamily="2" charset="2"/>
                        <a:buChar char="§"/>
                      </a:pPr>
                      <a:r>
                        <a:rPr lang="en-US" sz="2200" dirty="0">
                          <a:latin typeface="Arial" pitchFamily="34" charset="0"/>
                          <a:cs typeface="Arial" pitchFamily="34" charset="0"/>
                        </a:rPr>
                        <a:t>Students should have to know natural acceptance.</a:t>
                      </a:r>
                    </a:p>
                    <a:p>
                      <a:pPr algn="just">
                        <a:buFont typeface="Wingdings" pitchFamily="2" charset="2"/>
                        <a:buChar char="§"/>
                      </a:pPr>
                      <a:r>
                        <a:rPr lang="en-US" sz="2200" dirty="0">
                          <a:latin typeface="Arial" pitchFamily="34" charset="0"/>
                          <a:cs typeface="Arial" pitchFamily="34" charset="0"/>
                        </a:rPr>
                        <a:t>Have to know As a human being what is my responsibility</a:t>
                      </a:r>
                      <a:r>
                        <a:rPr lang="en-US" sz="2200" b="1" dirty="0">
                          <a:latin typeface="Arial" pitchFamily="34" charset="0"/>
                          <a:cs typeface="Arial" pitchFamily="34" charset="0"/>
                        </a:rPr>
                        <a:t>.</a:t>
                      </a:r>
                    </a:p>
                    <a:p>
                      <a:pPr algn="just">
                        <a:buFont typeface="Wingdings" pitchFamily="2" charset="2"/>
                        <a:buChar char="§"/>
                      </a:pPr>
                      <a:r>
                        <a:rPr lang="en-US" sz="2200" dirty="0">
                          <a:latin typeface="Arial" pitchFamily="34" charset="0"/>
                          <a:cs typeface="Arial" pitchFamily="34" charset="0"/>
                        </a:rPr>
                        <a:t>What is my role as a human being.</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F42A9EE-D8F2-4650-AA13-836318CADC53}"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fontAlgn="auto">
              <a:spcAft>
                <a:spcPts val="0"/>
              </a:spcAft>
              <a:defRPr/>
            </a:pPr>
            <a:r>
              <a:rPr lang="en-IN" altLang="en-US" sz="3200" dirty="0">
                <a:latin typeface="Arial" pitchFamily="34" charset="0"/>
                <a:cs typeface="Arial" pitchFamily="34" charset="0"/>
              </a:rPr>
              <a:t>Introduction to Topic 5</a:t>
            </a:r>
            <a:endParaRPr lang="en-US" sz="3200" b="1" dirty="0">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graphicFrame>
        <p:nvGraphicFramePr>
          <p:cNvPr id="11" name="Table 10"/>
          <p:cNvGraphicFramePr>
            <a:graphicFrameLocks noGrp="1"/>
          </p:cNvGraphicFramePr>
          <p:nvPr/>
        </p:nvGraphicFramePr>
        <p:xfrm>
          <a:off x="465612" y="865264"/>
          <a:ext cx="8429682" cy="2194560"/>
        </p:xfrm>
        <a:graphic>
          <a:graphicData uri="http://schemas.openxmlformats.org/drawingml/2006/table">
            <a:tbl>
              <a:tblPr firstRow="1" bandRow="1">
                <a:tableStyleId>{5C22544A-7EE6-4342-B048-85BDC9FD1C3A}</a:tableStyleId>
              </a:tblPr>
              <a:tblGrid>
                <a:gridCol w="2214577">
                  <a:extLst>
                    <a:ext uri="{9D8B030D-6E8A-4147-A177-3AD203B41FA5}">
                      <a16:colId xmlns:a16="http://schemas.microsoft.com/office/drawing/2014/main" xmlns="" val="20000"/>
                    </a:ext>
                  </a:extLst>
                </a:gridCol>
                <a:gridCol w="3786214">
                  <a:extLst>
                    <a:ext uri="{9D8B030D-6E8A-4147-A177-3AD203B41FA5}">
                      <a16:colId xmlns:a16="http://schemas.microsoft.com/office/drawing/2014/main" xmlns="" val="20001"/>
                    </a:ext>
                  </a:extLst>
                </a:gridCol>
                <a:gridCol w="2428891">
                  <a:extLst>
                    <a:ext uri="{9D8B030D-6E8A-4147-A177-3AD203B41FA5}">
                      <a16:colId xmlns:a16="http://schemas.microsoft.com/office/drawing/2014/main" xmlns="" val="20002"/>
                    </a:ext>
                  </a:extLst>
                </a:gridCol>
              </a:tblGrid>
              <a:tr h="370840">
                <a:tc>
                  <a:txBody>
                    <a:bodyPr/>
                    <a:lstStyle/>
                    <a:p>
                      <a:r>
                        <a:rPr lang="en-US" sz="2200" dirty="0">
                          <a:latin typeface="Arial" pitchFamily="34" charset="0"/>
                          <a:cs typeface="Arial" pitchFamily="34" charset="0"/>
                        </a:rPr>
                        <a:t>Name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Objective</a:t>
                      </a:r>
                      <a:r>
                        <a:rPr lang="en-US" sz="2200" baseline="0" dirty="0">
                          <a:latin typeface="Arial" pitchFamily="34" charset="0"/>
                          <a:cs typeface="Arial" pitchFamily="34" charset="0"/>
                        </a:rPr>
                        <a:t> of Topic</a:t>
                      </a:r>
                      <a:endParaRPr lang="en-IN" sz="2200" dirty="0">
                        <a:latin typeface="Arial" pitchFamily="34" charset="0"/>
                        <a:cs typeface="Arial" pitchFamily="34" charset="0"/>
                      </a:endParaRPr>
                    </a:p>
                  </a:txBody>
                  <a:tcPr/>
                </a:tc>
                <a:tc>
                  <a:txBody>
                    <a:bodyPr/>
                    <a:lstStyle/>
                    <a:p>
                      <a:r>
                        <a:rPr lang="en-US" sz="2200" dirty="0">
                          <a:latin typeface="Arial" pitchFamily="34" charset="0"/>
                          <a:cs typeface="Arial" pitchFamily="34" charset="0"/>
                        </a:rPr>
                        <a:t>Mapping </a:t>
                      </a:r>
                      <a:r>
                        <a:rPr lang="en-US" sz="2200" baseline="0" dirty="0">
                          <a:latin typeface="Arial" pitchFamily="34" charset="0"/>
                          <a:cs typeface="Arial" pitchFamily="34" charset="0"/>
                        </a:rPr>
                        <a:t> with CO</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0"/>
                  </a:ext>
                </a:extLst>
              </a:tr>
              <a:tr h="370840">
                <a:tc>
                  <a:txBody>
                    <a:bodyPr/>
                    <a:lstStyle/>
                    <a:p>
                      <a:pPr algn="l"/>
                      <a:r>
                        <a:rPr lang="en-US" altLang="en-US" sz="2200" b="0" dirty="0">
                          <a:latin typeface="Arial" pitchFamily="34" charset="0"/>
                          <a:cs typeface="Arial" pitchFamily="34" charset="0"/>
                        </a:rPr>
                        <a:t>Fulfilment of this Role leads to Continuous Happiness</a:t>
                      </a:r>
                      <a:endParaRPr lang="en-IN" sz="2200" dirty="0">
                        <a:latin typeface="Arial" pitchFamily="34" charset="0"/>
                        <a:cs typeface="Arial" pitchFamily="34" charset="0"/>
                      </a:endParaRPr>
                    </a:p>
                  </a:txBody>
                  <a:tcPr/>
                </a:tc>
                <a:tc>
                  <a:txBody>
                    <a:bodyPr/>
                    <a:lstStyle/>
                    <a:p>
                      <a:pPr algn="just"/>
                      <a:r>
                        <a:rPr lang="en-US" sz="2200" dirty="0">
                          <a:latin typeface="Arial" pitchFamily="34" charset="0"/>
                          <a:cs typeface="Arial" pitchFamily="34" charset="0"/>
                        </a:rPr>
                        <a:t>Students</a:t>
                      </a:r>
                      <a:r>
                        <a:rPr lang="en-US" sz="2200" baseline="0" dirty="0">
                          <a:latin typeface="Arial" pitchFamily="34" charset="0"/>
                          <a:cs typeface="Arial" pitchFamily="34" charset="0"/>
                        </a:rPr>
                        <a:t> will be able to live with definite human conduct </a:t>
                      </a:r>
                      <a:r>
                        <a:rPr lang="en-US" sz="2200" baseline="0" dirty="0" err="1">
                          <a:latin typeface="Arial" pitchFamily="34" charset="0"/>
                          <a:cs typeface="Arial" pitchFamily="34" charset="0"/>
                        </a:rPr>
                        <a:t>i.e</a:t>
                      </a:r>
                      <a:r>
                        <a:rPr lang="en-US" sz="2200" baseline="0" dirty="0">
                          <a:latin typeface="Arial" pitchFamily="34" charset="0"/>
                          <a:cs typeface="Arial" pitchFamily="34" charset="0"/>
                        </a:rPr>
                        <a:t> continuous in harmony.</a:t>
                      </a:r>
                      <a:endParaRPr lang="en-IN" sz="2200" dirty="0">
                        <a:latin typeface="Arial" pitchFamily="34" charset="0"/>
                        <a:cs typeface="Arial" pitchFamily="34" charset="0"/>
                      </a:endParaRPr>
                    </a:p>
                  </a:txBody>
                  <a:tcPr/>
                </a:tc>
                <a:tc>
                  <a:txBody>
                    <a:bodyPr/>
                    <a:lstStyle/>
                    <a:p>
                      <a:pPr algn="ctr"/>
                      <a:endParaRPr lang="en-US" sz="2200" dirty="0">
                        <a:latin typeface="Arial" pitchFamily="34" charset="0"/>
                        <a:cs typeface="Arial" pitchFamily="34" charset="0"/>
                      </a:endParaRPr>
                    </a:p>
                    <a:p>
                      <a:pPr algn="ctr"/>
                      <a:r>
                        <a:rPr lang="en-US" sz="2200" dirty="0">
                          <a:latin typeface="Arial" pitchFamily="34" charset="0"/>
                          <a:cs typeface="Arial" pitchFamily="34" charset="0"/>
                        </a:rPr>
                        <a:t>CO4</a:t>
                      </a:r>
                      <a:endParaRPr lang="en-IN" sz="2200" dirty="0">
                        <a:latin typeface="Arial" pitchFamily="34" charset="0"/>
                        <a:cs typeface="Arial" pitchFamily="34" charset="0"/>
                      </a:endParaRPr>
                    </a:p>
                  </a:txBody>
                  <a:tcPr/>
                </a:tc>
                <a:extLst>
                  <a:ext uri="{0D108BD9-81ED-4DB2-BD59-A6C34878D82A}">
                    <a16:rowId xmlns:a16="http://schemas.microsoft.com/office/drawing/2014/main" xmlns="" val="10001"/>
                  </a:ext>
                </a:extLst>
              </a:tr>
            </a:tbl>
          </a:graphicData>
        </a:graphic>
      </p:graphicFrame>
    </p:spTree>
    <p:extLst>
      <p:ext uri="{BB962C8B-B14F-4D97-AF65-F5344CB8AC3E}">
        <p14:creationId xmlns:p14="http://schemas.microsoft.com/office/powerpoint/2010/main" xmlns="" val="21783323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Fulfilment of this Role leads to Continuous Happiness (CO4)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EDDDA547-E684-48DC-A4EE-AF0F77C6CCD1}"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45</a:t>
            </a:fld>
            <a:endParaRPr lang="en-US"/>
          </a:p>
        </p:txBody>
      </p:sp>
      <p:sp>
        <p:nvSpPr>
          <p:cNvPr id="8" name="Footer Placeholder 7"/>
          <p:cNvSpPr>
            <a:spLocks noGrp="1"/>
          </p:cNvSpPr>
          <p:nvPr>
            <p:ph type="ftr" sz="quarter" idx="11"/>
          </p:nvPr>
        </p:nvSpPr>
        <p:spPr>
          <a:xfrm>
            <a:off x="2500298" y="6356350"/>
            <a:ext cx="5715040" cy="365125"/>
          </a:xfrm>
        </p:spPr>
        <p:txBody>
          <a:bodyPr/>
          <a:lstStyle/>
          <a:p>
            <a:r>
              <a:rPr lang="fi-FI" smtClean="0"/>
              <a:t>SHYAM  LAL SHARMA             KOE069 UHV-2               Unit -4</a:t>
            </a:r>
            <a:endParaRPr lang="en-US" dirty="0"/>
          </a:p>
        </p:txBody>
      </p:sp>
      <p:pic>
        <p:nvPicPr>
          <p:cNvPr id="9" name="Picture 3" descr="C:\Users\Shyam Kumar\Desktop\Picture3.png"/>
          <p:cNvPicPr>
            <a:picLocks noChangeAspect="1" noChangeArrowheads="1"/>
          </p:cNvPicPr>
          <p:nvPr/>
        </p:nvPicPr>
        <p:blipFill>
          <a:blip r:embed="rId3"/>
          <a:srcRect/>
          <a:stretch>
            <a:fillRect/>
          </a:stretch>
        </p:blipFill>
        <p:spPr bwMode="auto">
          <a:xfrm>
            <a:off x="-125413" y="500042"/>
            <a:ext cx="8269313" cy="4724400"/>
          </a:xfrm>
          <a:prstGeom prst="rect">
            <a:avLst/>
          </a:prstGeom>
          <a:noFill/>
          <a:ln w="9525">
            <a:noFill/>
            <a:miter lim="800000"/>
            <a:headEnd/>
            <a:tailEnd/>
          </a:ln>
        </p:spPr>
      </p:pic>
      <p:sp>
        <p:nvSpPr>
          <p:cNvPr id="10" name="Rectangle 9">
            <a:extLst>
              <a:ext uri="{FF2B5EF4-FFF2-40B4-BE49-F238E27FC236}">
                <a16:creationId xmlns:a16="http://schemas.microsoft.com/office/drawing/2014/main" xmlns="" id="{EBE38FE8-73B0-4B6B-84BA-FC7633AB8446}"/>
              </a:ext>
            </a:extLst>
          </p:cNvPr>
          <p:cNvSpPr/>
          <p:nvPr/>
        </p:nvSpPr>
        <p:spPr>
          <a:xfrm>
            <a:off x="4005290" y="1385880"/>
            <a:ext cx="44958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1" name="Straight Arrow Connector 10">
            <a:extLst>
              <a:ext uri="{FF2B5EF4-FFF2-40B4-BE49-F238E27FC236}">
                <a16:creationId xmlns:a16="http://schemas.microsoft.com/office/drawing/2014/main" xmlns="" id="{276B9A20-D6BD-45E4-AFBD-073870621C7A}"/>
              </a:ext>
            </a:extLst>
          </p:cNvPr>
          <p:cNvCxnSpPr/>
          <p:nvPr/>
        </p:nvCxnSpPr>
        <p:spPr>
          <a:xfrm rot="10800000">
            <a:off x="3430615" y="1728780"/>
            <a:ext cx="457200" cy="1587"/>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F5FD25F1-5F63-474C-B0FD-1C5F614F6EE1}"/>
              </a:ext>
            </a:extLst>
          </p:cNvPr>
          <p:cNvCxnSpPr/>
          <p:nvPr/>
        </p:nvCxnSpPr>
        <p:spPr>
          <a:xfrm rot="16200000" flipH="1">
            <a:off x="3430615" y="1828792"/>
            <a:ext cx="533400" cy="381000"/>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247772B2-957A-4C0C-8781-E5ADB37F7A71}"/>
              </a:ext>
            </a:extLst>
          </p:cNvPr>
          <p:cNvCxnSpPr/>
          <p:nvPr/>
        </p:nvCxnSpPr>
        <p:spPr>
          <a:xfrm rot="10800000">
            <a:off x="3352800" y="2132013"/>
            <a:ext cx="457200" cy="1588"/>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22438C2E-37E2-42C9-AB79-D0B130C9CB96}"/>
              </a:ext>
            </a:extLst>
          </p:cNvPr>
          <p:cNvCxnSpPr/>
          <p:nvPr/>
        </p:nvCxnSpPr>
        <p:spPr>
          <a:xfrm rot="10800000">
            <a:off x="3428992" y="2714620"/>
            <a:ext cx="457200" cy="1588"/>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6F9F92BE-ABB3-4C15-89E7-1472A568DA85}"/>
              </a:ext>
            </a:extLst>
          </p:cNvPr>
          <p:cNvCxnSpPr/>
          <p:nvPr/>
        </p:nvCxnSpPr>
        <p:spPr>
          <a:xfrm rot="10800000">
            <a:off x="3352800" y="3275013"/>
            <a:ext cx="457200" cy="1588"/>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xmlns="" id="{082D7A25-2C7B-43E2-8902-589365CD7A4C}"/>
              </a:ext>
            </a:extLst>
          </p:cNvPr>
          <p:cNvCxnSpPr/>
          <p:nvPr/>
        </p:nvCxnSpPr>
        <p:spPr>
          <a:xfrm rot="10800000" flipV="1">
            <a:off x="2928926" y="3810000"/>
            <a:ext cx="881074" cy="119066"/>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xmlns="" id="{E847DFE6-8D66-47C4-8780-5DA5CF4F64EC}"/>
              </a:ext>
            </a:extLst>
          </p:cNvPr>
          <p:cNvCxnSpPr/>
          <p:nvPr/>
        </p:nvCxnSpPr>
        <p:spPr>
          <a:xfrm rot="16200000" flipH="1">
            <a:off x="3352800" y="2263775"/>
            <a:ext cx="533400" cy="381000"/>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xmlns="" id="{8E82255B-99B4-456D-97D4-39DAEBF2C880}"/>
              </a:ext>
            </a:extLst>
          </p:cNvPr>
          <p:cNvCxnSpPr/>
          <p:nvPr/>
        </p:nvCxnSpPr>
        <p:spPr>
          <a:xfrm rot="16200000" flipH="1">
            <a:off x="3352800" y="28194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E05A2222-BD43-46E7-BBCD-9742CC1330EE}"/>
              </a:ext>
            </a:extLst>
          </p:cNvPr>
          <p:cNvCxnSpPr/>
          <p:nvPr/>
        </p:nvCxnSpPr>
        <p:spPr>
          <a:xfrm rot="16200000" flipH="1">
            <a:off x="3352800" y="33528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29EC26F7-144D-48AD-A2F2-3901B190FD61}"/>
              </a:ext>
            </a:extLst>
          </p:cNvPr>
          <p:cNvCxnSpPr/>
          <p:nvPr/>
        </p:nvCxnSpPr>
        <p:spPr>
          <a:xfrm rot="16200000" flipH="1">
            <a:off x="2846388" y="4141787"/>
            <a:ext cx="381000" cy="22226"/>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247772B2-957A-4C0C-8781-E5ADB37F7A71}"/>
              </a:ext>
            </a:extLst>
          </p:cNvPr>
          <p:cNvCxnSpPr/>
          <p:nvPr/>
        </p:nvCxnSpPr>
        <p:spPr>
          <a:xfrm rot="10800000">
            <a:off x="3357554" y="2143116"/>
            <a:ext cx="457200" cy="1587"/>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22438C2E-37E2-42C9-AB79-D0B130C9CB96}"/>
              </a:ext>
            </a:extLst>
          </p:cNvPr>
          <p:cNvCxnSpPr/>
          <p:nvPr/>
        </p:nvCxnSpPr>
        <p:spPr>
          <a:xfrm rot="10800000">
            <a:off x="3352800" y="2687638"/>
            <a:ext cx="457200" cy="1587"/>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xmlns="" id="{6F9F92BE-ABB3-4C15-89E7-1472A568DA85}"/>
              </a:ext>
            </a:extLst>
          </p:cNvPr>
          <p:cNvCxnSpPr/>
          <p:nvPr/>
        </p:nvCxnSpPr>
        <p:spPr>
          <a:xfrm rot="10800000">
            <a:off x="3352800" y="3275013"/>
            <a:ext cx="457200" cy="1587"/>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xmlns="" id="{E847DFE6-8D66-47C4-8780-5DA5CF4F64EC}"/>
              </a:ext>
            </a:extLst>
          </p:cNvPr>
          <p:cNvCxnSpPr/>
          <p:nvPr/>
        </p:nvCxnSpPr>
        <p:spPr>
          <a:xfrm rot="16200000" flipH="1">
            <a:off x="3352800" y="2263775"/>
            <a:ext cx="533400" cy="381000"/>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xmlns="" id="{8E82255B-99B4-456D-97D4-39DAEBF2C880}"/>
              </a:ext>
            </a:extLst>
          </p:cNvPr>
          <p:cNvCxnSpPr/>
          <p:nvPr/>
        </p:nvCxnSpPr>
        <p:spPr>
          <a:xfrm rot="16200000" flipH="1">
            <a:off x="3352800" y="28194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xmlns="" id="{E05A2222-BD43-46E7-BBCD-9742CC1330EE}"/>
              </a:ext>
            </a:extLst>
          </p:cNvPr>
          <p:cNvCxnSpPr/>
          <p:nvPr/>
        </p:nvCxnSpPr>
        <p:spPr>
          <a:xfrm rot="16200000" flipH="1">
            <a:off x="3352800" y="33528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xmlns="" id="{29EC26F7-144D-48AD-A2F2-3901B190FD61}"/>
              </a:ext>
            </a:extLst>
          </p:cNvPr>
          <p:cNvCxnSpPr/>
          <p:nvPr/>
        </p:nvCxnSpPr>
        <p:spPr>
          <a:xfrm rot="16200000" flipH="1">
            <a:off x="2846388" y="4141787"/>
            <a:ext cx="381000" cy="22225"/>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7" name="TextBox 17"/>
          <p:cNvSpPr txBox="1">
            <a:spLocks noChangeArrowheads="1"/>
          </p:cNvSpPr>
          <p:nvPr/>
        </p:nvSpPr>
        <p:spPr bwMode="auto">
          <a:xfrm>
            <a:off x="7315200" y="912802"/>
            <a:ext cx="1828800" cy="646331"/>
          </a:xfrm>
          <a:prstGeom prst="rect">
            <a:avLst/>
          </a:prstGeom>
          <a:solidFill>
            <a:srgbClr val="FFFF00"/>
          </a:solidFill>
          <a:ln w="9525">
            <a:noFill/>
            <a:miter lim="800000"/>
            <a:headEnd/>
            <a:tailEnd/>
          </a:ln>
        </p:spPr>
        <p:txBody>
          <a:bodyPr>
            <a:spAutoFit/>
          </a:bodyPr>
          <a:lstStyle/>
          <a:p>
            <a:pPr eaLnBrk="1" hangingPunct="1"/>
            <a:r>
              <a:rPr lang="en-US" altLang="en-US" b="1" dirty="0">
                <a:solidFill>
                  <a:srgbClr val="000000"/>
                </a:solidFill>
                <a:latin typeface="Times New Roman" pitchFamily="18" charset="0"/>
                <a:cs typeface="Times New Roman" pitchFamily="18" charset="0"/>
              </a:rPr>
              <a:t>Realization- within</a:t>
            </a:r>
          </a:p>
        </p:txBody>
      </p:sp>
      <p:sp>
        <p:nvSpPr>
          <p:cNvPr id="48" name="TextBox 23"/>
          <p:cNvSpPr txBox="1">
            <a:spLocks noChangeArrowheads="1"/>
          </p:cNvSpPr>
          <p:nvPr/>
        </p:nvSpPr>
        <p:spPr bwMode="auto">
          <a:xfrm>
            <a:off x="1304953" y="5126037"/>
            <a:ext cx="22098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Mutual Happiness</a:t>
            </a:r>
          </a:p>
        </p:txBody>
      </p:sp>
      <p:sp>
        <p:nvSpPr>
          <p:cNvPr id="49" name="TextBox 24"/>
          <p:cNvSpPr txBox="1">
            <a:spLocks noChangeArrowheads="1"/>
          </p:cNvSpPr>
          <p:nvPr/>
        </p:nvSpPr>
        <p:spPr bwMode="auto">
          <a:xfrm>
            <a:off x="3395690" y="5135562"/>
            <a:ext cx="19812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Mutual Prosperity</a:t>
            </a:r>
          </a:p>
        </p:txBody>
      </p:sp>
      <p:sp>
        <p:nvSpPr>
          <p:cNvPr id="50" name="TextBox 25"/>
          <p:cNvSpPr txBox="1">
            <a:spLocks noChangeArrowheads="1"/>
          </p:cNvSpPr>
          <p:nvPr/>
        </p:nvSpPr>
        <p:spPr bwMode="auto">
          <a:xfrm>
            <a:off x="5529290" y="5643578"/>
            <a:ext cx="28194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Universal Human Order</a:t>
            </a:r>
          </a:p>
        </p:txBody>
      </p:sp>
      <p:sp>
        <p:nvSpPr>
          <p:cNvPr id="51" name="Down Arrow 50">
            <a:extLst>
              <a:ext uri="{FF2B5EF4-FFF2-40B4-BE49-F238E27FC236}">
                <a16:creationId xmlns:a16="http://schemas.microsoft.com/office/drawing/2014/main" xmlns="" id="{0E9C9B0F-A359-438E-8F5C-D7B01C3F6A04}"/>
              </a:ext>
            </a:extLst>
          </p:cNvPr>
          <p:cNvSpPr/>
          <p:nvPr/>
        </p:nvSpPr>
        <p:spPr bwMode="auto">
          <a:xfrm>
            <a:off x="2328890" y="5429264"/>
            <a:ext cx="152400" cy="2381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2" name="Down Arrow 51">
            <a:extLst>
              <a:ext uri="{FF2B5EF4-FFF2-40B4-BE49-F238E27FC236}">
                <a16:creationId xmlns:a16="http://schemas.microsoft.com/office/drawing/2014/main" xmlns="" id="{A93FC15E-5CCE-4EB1-86BA-DB90E70AB3DD}"/>
              </a:ext>
            </a:extLst>
          </p:cNvPr>
          <p:cNvSpPr/>
          <p:nvPr/>
        </p:nvSpPr>
        <p:spPr bwMode="auto">
          <a:xfrm>
            <a:off x="2328890" y="4889513"/>
            <a:ext cx="152400" cy="3254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3" name="Down Arrow 52">
            <a:extLst>
              <a:ext uri="{FF2B5EF4-FFF2-40B4-BE49-F238E27FC236}">
                <a16:creationId xmlns:a16="http://schemas.microsoft.com/office/drawing/2014/main" xmlns="" id="{BF8490B1-730D-4B51-826B-16743573C95D}"/>
              </a:ext>
            </a:extLst>
          </p:cNvPr>
          <p:cNvSpPr/>
          <p:nvPr/>
        </p:nvSpPr>
        <p:spPr bwMode="auto">
          <a:xfrm>
            <a:off x="4081490" y="5041913"/>
            <a:ext cx="152400" cy="1730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4" name="TextBox 24"/>
          <p:cNvSpPr txBox="1">
            <a:spLocks noChangeArrowheads="1"/>
          </p:cNvSpPr>
          <p:nvPr/>
        </p:nvSpPr>
        <p:spPr bwMode="auto">
          <a:xfrm>
            <a:off x="5529290" y="5135562"/>
            <a:ext cx="29718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Fulfillment of Human Goal</a:t>
            </a:r>
          </a:p>
        </p:txBody>
      </p:sp>
      <p:sp>
        <p:nvSpPr>
          <p:cNvPr id="55" name="Down Arrow 54">
            <a:extLst>
              <a:ext uri="{FF2B5EF4-FFF2-40B4-BE49-F238E27FC236}">
                <a16:creationId xmlns:a16="http://schemas.microsoft.com/office/drawing/2014/main" xmlns="" id="{6528D0AB-BCDA-4B85-A6A3-3E89BB0057CA}"/>
              </a:ext>
            </a:extLst>
          </p:cNvPr>
          <p:cNvSpPr/>
          <p:nvPr/>
        </p:nvSpPr>
        <p:spPr bwMode="auto">
          <a:xfrm>
            <a:off x="6919954" y="4889513"/>
            <a:ext cx="152400" cy="3254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6" name="Down Arrow 55">
            <a:extLst>
              <a:ext uri="{FF2B5EF4-FFF2-40B4-BE49-F238E27FC236}">
                <a16:creationId xmlns:a16="http://schemas.microsoft.com/office/drawing/2014/main" xmlns="" id="{BE90E887-A683-40C3-8998-6A9172C41916}"/>
              </a:ext>
            </a:extLst>
          </p:cNvPr>
          <p:cNvSpPr/>
          <p:nvPr/>
        </p:nvSpPr>
        <p:spPr bwMode="auto">
          <a:xfrm>
            <a:off x="6900890" y="5357826"/>
            <a:ext cx="152400" cy="2381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7" name="Rectangle 56">
            <a:extLst>
              <a:ext uri="{FF2B5EF4-FFF2-40B4-BE49-F238E27FC236}">
                <a16:creationId xmlns:a16="http://schemas.microsoft.com/office/drawing/2014/main" xmlns="" id="{96CF3E3A-89E7-4A05-9423-6F7ED5FBFE10}"/>
              </a:ext>
            </a:extLst>
          </p:cNvPr>
          <p:cNvSpPr/>
          <p:nvPr/>
        </p:nvSpPr>
        <p:spPr>
          <a:xfrm>
            <a:off x="5605490" y="5643578"/>
            <a:ext cx="26670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58" name="TextBox 20"/>
          <p:cNvSpPr txBox="1">
            <a:spLocks noChangeArrowheads="1"/>
          </p:cNvSpPr>
          <p:nvPr/>
        </p:nvSpPr>
        <p:spPr bwMode="auto">
          <a:xfrm rot="16200000">
            <a:off x="7497110" y="4774172"/>
            <a:ext cx="2286000" cy="738664"/>
          </a:xfrm>
          <a:prstGeom prst="rect">
            <a:avLst/>
          </a:prstGeom>
          <a:noFill/>
          <a:ln w="9525">
            <a:noFill/>
            <a:miter lim="800000"/>
            <a:headEnd/>
            <a:tailEnd/>
          </a:ln>
        </p:spPr>
        <p:txBody>
          <a:bodyPr wrap="square">
            <a:spAutoFit/>
          </a:bodyPr>
          <a:lstStyle/>
          <a:p>
            <a:pPr eaLnBrk="1" hangingPunct="1"/>
            <a:r>
              <a:rPr lang="en-US" altLang="en-US" b="1" dirty="0">
                <a:solidFill>
                  <a:srgbClr val="000000"/>
                </a:solidFill>
              </a:rPr>
              <a:t>Human Tradition</a:t>
            </a:r>
          </a:p>
          <a:p>
            <a:pPr eaLnBrk="1" hangingPunct="1"/>
            <a:endParaRPr lang="en-US" altLang="en-US" sz="2400" b="1" dirty="0">
              <a:solidFill>
                <a:srgbClr val="000000"/>
              </a:solidFill>
            </a:endParaRPr>
          </a:p>
        </p:txBody>
      </p:sp>
      <p:sp>
        <p:nvSpPr>
          <p:cNvPr id="59" name="TextBox 26"/>
          <p:cNvSpPr txBox="1">
            <a:spLocks noChangeArrowheads="1"/>
          </p:cNvSpPr>
          <p:nvPr/>
        </p:nvSpPr>
        <p:spPr bwMode="auto">
          <a:xfrm>
            <a:off x="952496" y="5643578"/>
            <a:ext cx="30480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Undivided Human Society</a:t>
            </a:r>
          </a:p>
        </p:txBody>
      </p:sp>
      <p:sp>
        <p:nvSpPr>
          <p:cNvPr id="60" name="TextBox 18"/>
          <p:cNvSpPr txBox="1">
            <a:spLocks noChangeArrowheads="1"/>
          </p:cNvSpPr>
          <p:nvPr/>
        </p:nvSpPr>
        <p:spPr bwMode="auto">
          <a:xfrm>
            <a:off x="3786182" y="5500702"/>
            <a:ext cx="1433514" cy="707886"/>
          </a:xfrm>
          <a:prstGeom prst="rect">
            <a:avLst/>
          </a:prstGeom>
          <a:solidFill>
            <a:srgbClr val="FFFF00"/>
          </a:solidFill>
          <a:ln w="9525">
            <a:noFill/>
            <a:miter lim="800000"/>
            <a:headEnd/>
            <a:tailEnd/>
          </a:ln>
        </p:spPr>
        <p:txBody>
          <a:bodyPr wrap="square">
            <a:spAutoFit/>
          </a:bodyPr>
          <a:lstStyle/>
          <a:p>
            <a:pPr eaLnBrk="1" hangingPunct="1"/>
            <a:r>
              <a:rPr lang="en-US" altLang="en-US" sz="2000" b="1" dirty="0">
                <a:solidFill>
                  <a:srgbClr val="000000"/>
                </a:solidFill>
                <a:latin typeface="Times New Roman" pitchFamily="18" charset="0"/>
                <a:ea typeface="Times New Roman" pitchFamily="18" charset="0"/>
                <a:cs typeface="Arial" pitchFamily="34" charset="0"/>
              </a:rPr>
              <a:t>Expression- outside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Fulfilment of this Role leads to Continuous Happiness (CO4)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20791BB2-950D-45B9-9E71-35FF0480B9EA}"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46</a:t>
            </a:fld>
            <a:endParaRPr lang="en-US"/>
          </a:p>
        </p:txBody>
      </p:sp>
      <p:sp>
        <p:nvSpPr>
          <p:cNvPr id="8" name="Footer Placeholder 7"/>
          <p:cNvSpPr>
            <a:spLocks noGrp="1"/>
          </p:cNvSpPr>
          <p:nvPr>
            <p:ph type="ftr" sz="quarter" idx="11"/>
          </p:nvPr>
        </p:nvSpPr>
        <p:spPr>
          <a:xfrm>
            <a:off x="2500298" y="6356350"/>
            <a:ext cx="5786478" cy="365125"/>
          </a:xfrm>
        </p:spPr>
        <p:txBody>
          <a:bodyPr/>
          <a:lstStyle/>
          <a:p>
            <a:r>
              <a:rPr lang="fi-FI" smtClean="0"/>
              <a:t>SHYAM  LAL SHARMA             KOE069 UHV-2               Unit -4</a:t>
            </a:r>
            <a:endParaRPr lang="en-US" dirty="0"/>
          </a:p>
        </p:txBody>
      </p:sp>
      <p:pic>
        <p:nvPicPr>
          <p:cNvPr id="9" name="Picture 3" descr="C:\Users\Shyam Kumar\Desktop\Picture3.png"/>
          <p:cNvPicPr>
            <a:picLocks noChangeAspect="1" noChangeArrowheads="1"/>
          </p:cNvPicPr>
          <p:nvPr/>
        </p:nvPicPr>
        <p:blipFill>
          <a:blip r:embed="rId3"/>
          <a:srcRect/>
          <a:stretch>
            <a:fillRect/>
          </a:stretch>
        </p:blipFill>
        <p:spPr bwMode="auto">
          <a:xfrm>
            <a:off x="-125413" y="500042"/>
            <a:ext cx="8269313" cy="4724400"/>
          </a:xfrm>
          <a:prstGeom prst="rect">
            <a:avLst/>
          </a:prstGeom>
          <a:noFill/>
          <a:ln w="9525">
            <a:noFill/>
            <a:miter lim="800000"/>
            <a:headEnd/>
            <a:tailEnd/>
          </a:ln>
        </p:spPr>
      </p:pic>
      <p:sp>
        <p:nvSpPr>
          <p:cNvPr id="10" name="Rectangle 9">
            <a:extLst>
              <a:ext uri="{FF2B5EF4-FFF2-40B4-BE49-F238E27FC236}">
                <a16:creationId xmlns:a16="http://schemas.microsoft.com/office/drawing/2014/main" xmlns="" id="{EBE38FE8-73B0-4B6B-84BA-FC7633AB8446}"/>
              </a:ext>
            </a:extLst>
          </p:cNvPr>
          <p:cNvSpPr/>
          <p:nvPr/>
        </p:nvSpPr>
        <p:spPr>
          <a:xfrm>
            <a:off x="4005290" y="1385880"/>
            <a:ext cx="4495800" cy="533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cxnSp>
        <p:nvCxnSpPr>
          <p:cNvPr id="11" name="Straight Arrow Connector 10">
            <a:extLst>
              <a:ext uri="{FF2B5EF4-FFF2-40B4-BE49-F238E27FC236}">
                <a16:creationId xmlns:a16="http://schemas.microsoft.com/office/drawing/2014/main" xmlns="" id="{276B9A20-D6BD-45E4-AFBD-073870621C7A}"/>
              </a:ext>
            </a:extLst>
          </p:cNvPr>
          <p:cNvCxnSpPr/>
          <p:nvPr/>
        </p:nvCxnSpPr>
        <p:spPr>
          <a:xfrm rot="10800000">
            <a:off x="3430615" y="1728780"/>
            <a:ext cx="457200" cy="1587"/>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xmlns="" id="{F5FD25F1-5F63-474C-B0FD-1C5F614F6EE1}"/>
              </a:ext>
            </a:extLst>
          </p:cNvPr>
          <p:cNvCxnSpPr/>
          <p:nvPr/>
        </p:nvCxnSpPr>
        <p:spPr>
          <a:xfrm rot="16200000" flipH="1">
            <a:off x="3430615" y="1828792"/>
            <a:ext cx="533400" cy="381000"/>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xmlns="" id="{247772B2-957A-4C0C-8781-E5ADB37F7A71}"/>
              </a:ext>
            </a:extLst>
          </p:cNvPr>
          <p:cNvCxnSpPr/>
          <p:nvPr/>
        </p:nvCxnSpPr>
        <p:spPr>
          <a:xfrm rot="10800000">
            <a:off x="3352800" y="2132013"/>
            <a:ext cx="457200" cy="1588"/>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xmlns="" id="{22438C2E-37E2-42C9-AB79-D0B130C9CB96}"/>
              </a:ext>
            </a:extLst>
          </p:cNvPr>
          <p:cNvCxnSpPr/>
          <p:nvPr/>
        </p:nvCxnSpPr>
        <p:spPr>
          <a:xfrm rot="10800000">
            <a:off x="3428992" y="2714620"/>
            <a:ext cx="457200" cy="1588"/>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xmlns="" id="{6F9F92BE-ABB3-4C15-89E7-1472A568DA85}"/>
              </a:ext>
            </a:extLst>
          </p:cNvPr>
          <p:cNvCxnSpPr/>
          <p:nvPr/>
        </p:nvCxnSpPr>
        <p:spPr>
          <a:xfrm rot="10800000">
            <a:off x="3352800" y="3275013"/>
            <a:ext cx="457200" cy="1588"/>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xmlns="" id="{082D7A25-2C7B-43E2-8902-589365CD7A4C}"/>
              </a:ext>
            </a:extLst>
          </p:cNvPr>
          <p:cNvCxnSpPr/>
          <p:nvPr/>
        </p:nvCxnSpPr>
        <p:spPr>
          <a:xfrm rot="10800000" flipV="1">
            <a:off x="2928926" y="3810000"/>
            <a:ext cx="881074" cy="119066"/>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xmlns="" id="{E847DFE6-8D66-47C4-8780-5DA5CF4F64EC}"/>
              </a:ext>
            </a:extLst>
          </p:cNvPr>
          <p:cNvCxnSpPr/>
          <p:nvPr/>
        </p:nvCxnSpPr>
        <p:spPr>
          <a:xfrm rot="16200000" flipH="1">
            <a:off x="3352800" y="2263775"/>
            <a:ext cx="533400" cy="381000"/>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xmlns="" id="{8E82255B-99B4-456D-97D4-39DAEBF2C880}"/>
              </a:ext>
            </a:extLst>
          </p:cNvPr>
          <p:cNvCxnSpPr/>
          <p:nvPr/>
        </p:nvCxnSpPr>
        <p:spPr>
          <a:xfrm rot="16200000" flipH="1">
            <a:off x="3352800" y="28194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E05A2222-BD43-46E7-BBCD-9742CC1330EE}"/>
              </a:ext>
            </a:extLst>
          </p:cNvPr>
          <p:cNvCxnSpPr/>
          <p:nvPr/>
        </p:nvCxnSpPr>
        <p:spPr>
          <a:xfrm rot="16200000" flipH="1">
            <a:off x="3352800" y="33528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29EC26F7-144D-48AD-A2F2-3901B190FD61}"/>
              </a:ext>
            </a:extLst>
          </p:cNvPr>
          <p:cNvCxnSpPr/>
          <p:nvPr/>
        </p:nvCxnSpPr>
        <p:spPr>
          <a:xfrm rot="16200000" flipH="1">
            <a:off x="2846388" y="4141787"/>
            <a:ext cx="381000" cy="22226"/>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xmlns="" id="{247772B2-957A-4C0C-8781-E5ADB37F7A71}"/>
              </a:ext>
            </a:extLst>
          </p:cNvPr>
          <p:cNvCxnSpPr/>
          <p:nvPr/>
        </p:nvCxnSpPr>
        <p:spPr>
          <a:xfrm rot="10800000">
            <a:off x="3352800" y="2132013"/>
            <a:ext cx="457200" cy="1587"/>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xmlns="" id="{22438C2E-37E2-42C9-AB79-D0B130C9CB96}"/>
              </a:ext>
            </a:extLst>
          </p:cNvPr>
          <p:cNvCxnSpPr/>
          <p:nvPr/>
        </p:nvCxnSpPr>
        <p:spPr>
          <a:xfrm rot="10800000">
            <a:off x="3352800" y="2687638"/>
            <a:ext cx="457200" cy="1587"/>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xmlns="" id="{6F9F92BE-ABB3-4C15-89E7-1472A568DA85}"/>
              </a:ext>
            </a:extLst>
          </p:cNvPr>
          <p:cNvCxnSpPr/>
          <p:nvPr/>
        </p:nvCxnSpPr>
        <p:spPr>
          <a:xfrm rot="10800000">
            <a:off x="3352800" y="3275013"/>
            <a:ext cx="457200" cy="1587"/>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xmlns="" id="{082D7A25-2C7B-43E2-8902-589365CD7A4C}"/>
              </a:ext>
            </a:extLst>
          </p:cNvPr>
          <p:cNvCxnSpPr/>
          <p:nvPr/>
        </p:nvCxnSpPr>
        <p:spPr>
          <a:xfrm rot="10800000" flipV="1">
            <a:off x="2895600" y="3810000"/>
            <a:ext cx="914400" cy="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xmlns="" id="{E847DFE6-8D66-47C4-8780-5DA5CF4F64EC}"/>
              </a:ext>
            </a:extLst>
          </p:cNvPr>
          <p:cNvCxnSpPr/>
          <p:nvPr/>
        </p:nvCxnSpPr>
        <p:spPr>
          <a:xfrm rot="16200000" flipH="1">
            <a:off x="3352800" y="2263775"/>
            <a:ext cx="533400" cy="381000"/>
          </a:xfrm>
          <a:prstGeom prst="straightConnector1">
            <a:avLst/>
          </a:prstGeom>
          <a:ln w="38100">
            <a:solidFill>
              <a:srgbClr val="FFFF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xmlns="" id="{8E82255B-99B4-456D-97D4-39DAEBF2C880}"/>
              </a:ext>
            </a:extLst>
          </p:cNvPr>
          <p:cNvCxnSpPr/>
          <p:nvPr/>
        </p:nvCxnSpPr>
        <p:spPr>
          <a:xfrm rot="16200000" flipH="1">
            <a:off x="3352800" y="28194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xmlns="" id="{E05A2222-BD43-46E7-BBCD-9742CC1330EE}"/>
              </a:ext>
            </a:extLst>
          </p:cNvPr>
          <p:cNvCxnSpPr/>
          <p:nvPr/>
        </p:nvCxnSpPr>
        <p:spPr>
          <a:xfrm rot="16200000" flipH="1">
            <a:off x="3352800" y="3352800"/>
            <a:ext cx="533400" cy="381000"/>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xmlns="" id="{29EC26F7-144D-48AD-A2F2-3901B190FD61}"/>
              </a:ext>
            </a:extLst>
          </p:cNvPr>
          <p:cNvCxnSpPr/>
          <p:nvPr/>
        </p:nvCxnSpPr>
        <p:spPr>
          <a:xfrm rot="16200000" flipH="1">
            <a:off x="2846388" y="4141787"/>
            <a:ext cx="381000" cy="22225"/>
          </a:xfrm>
          <a:prstGeom prst="straightConnector1">
            <a:avLst/>
          </a:prstGeom>
          <a:ln w="38100">
            <a:solidFill>
              <a:srgbClr val="FF0000"/>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7" name="TextBox 17"/>
          <p:cNvSpPr txBox="1">
            <a:spLocks noChangeArrowheads="1"/>
          </p:cNvSpPr>
          <p:nvPr/>
        </p:nvSpPr>
        <p:spPr bwMode="auto">
          <a:xfrm>
            <a:off x="7315200" y="912802"/>
            <a:ext cx="1828800" cy="1016000"/>
          </a:xfrm>
          <a:prstGeom prst="rect">
            <a:avLst/>
          </a:prstGeom>
          <a:solidFill>
            <a:srgbClr val="FFFF00"/>
          </a:solidFill>
          <a:ln w="9525">
            <a:noFill/>
            <a:miter lim="800000"/>
            <a:headEnd/>
            <a:tailEnd/>
          </a:ln>
        </p:spPr>
        <p:txBody>
          <a:bodyPr>
            <a:spAutoFit/>
          </a:bodyPr>
          <a:lstStyle/>
          <a:p>
            <a:pPr eaLnBrk="1" hangingPunct="1"/>
            <a:r>
              <a:rPr lang="en-US" altLang="en-US" sz="2400" b="1" dirty="0" err="1">
                <a:solidFill>
                  <a:srgbClr val="000000"/>
                </a:solidFill>
                <a:latin typeface="Kruti Dev 010" pitchFamily="2" charset="0"/>
              </a:rPr>
              <a:t>vuqHko</a:t>
            </a:r>
            <a:r>
              <a:rPr lang="en-US" altLang="en-US" sz="2400" b="1" dirty="0">
                <a:solidFill>
                  <a:srgbClr val="000000"/>
                </a:solidFill>
                <a:latin typeface="Kruti Dev 010" pitchFamily="2" charset="0"/>
              </a:rPr>
              <a:t>&amp; </a:t>
            </a:r>
            <a:r>
              <a:rPr lang="en-US" altLang="en-US" sz="2400" b="1" dirty="0" err="1">
                <a:solidFill>
                  <a:srgbClr val="000000"/>
                </a:solidFill>
                <a:latin typeface="Kruti Dev 010" pitchFamily="2" charset="0"/>
              </a:rPr>
              <a:t>Lo;a</a:t>
            </a:r>
            <a:r>
              <a:rPr lang="en-US" altLang="en-US" sz="2400" b="1" dirty="0">
                <a:solidFill>
                  <a:srgbClr val="000000"/>
                </a:solidFill>
                <a:latin typeface="Kruti Dev 010" pitchFamily="2" charset="0"/>
              </a:rPr>
              <a:t> </a:t>
            </a:r>
            <a:r>
              <a:rPr lang="en-US" altLang="en-US" sz="2400" b="1" dirty="0" err="1">
                <a:solidFill>
                  <a:srgbClr val="000000"/>
                </a:solidFill>
                <a:latin typeface="Kruti Dev 010" pitchFamily="2" charset="0"/>
              </a:rPr>
              <a:t>esa</a:t>
            </a:r>
            <a:endParaRPr lang="en-US" altLang="en-US" sz="2400" b="1" dirty="0">
              <a:solidFill>
                <a:srgbClr val="000000"/>
              </a:solidFill>
              <a:latin typeface="Kruti Dev 010" pitchFamily="2" charset="0"/>
            </a:endParaRPr>
          </a:p>
          <a:p>
            <a:pPr eaLnBrk="1" hangingPunct="1"/>
            <a:r>
              <a:rPr lang="en-US" altLang="en-US" b="1" dirty="0">
                <a:solidFill>
                  <a:srgbClr val="000000"/>
                </a:solidFill>
                <a:latin typeface="Times New Roman" pitchFamily="18" charset="0"/>
                <a:cs typeface="Times New Roman" pitchFamily="18" charset="0"/>
              </a:rPr>
              <a:t>Realization- within</a:t>
            </a:r>
          </a:p>
        </p:txBody>
      </p:sp>
      <p:sp>
        <p:nvSpPr>
          <p:cNvPr id="48" name="TextBox 23"/>
          <p:cNvSpPr txBox="1">
            <a:spLocks noChangeArrowheads="1"/>
          </p:cNvSpPr>
          <p:nvPr/>
        </p:nvSpPr>
        <p:spPr bwMode="auto">
          <a:xfrm>
            <a:off x="1304953" y="5126037"/>
            <a:ext cx="22098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Mutual Happiness</a:t>
            </a:r>
          </a:p>
        </p:txBody>
      </p:sp>
      <p:sp>
        <p:nvSpPr>
          <p:cNvPr id="49" name="TextBox 24"/>
          <p:cNvSpPr txBox="1">
            <a:spLocks noChangeArrowheads="1"/>
          </p:cNvSpPr>
          <p:nvPr/>
        </p:nvSpPr>
        <p:spPr bwMode="auto">
          <a:xfrm>
            <a:off x="3395690" y="5135562"/>
            <a:ext cx="19812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Mutual Prosperity</a:t>
            </a:r>
          </a:p>
        </p:txBody>
      </p:sp>
      <p:sp>
        <p:nvSpPr>
          <p:cNvPr id="50" name="TextBox 25"/>
          <p:cNvSpPr txBox="1">
            <a:spLocks noChangeArrowheads="1"/>
          </p:cNvSpPr>
          <p:nvPr/>
        </p:nvSpPr>
        <p:spPr bwMode="auto">
          <a:xfrm>
            <a:off x="5529290" y="5643578"/>
            <a:ext cx="28194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Universal Human Order</a:t>
            </a:r>
          </a:p>
        </p:txBody>
      </p:sp>
      <p:sp>
        <p:nvSpPr>
          <p:cNvPr id="51" name="Down Arrow 50">
            <a:extLst>
              <a:ext uri="{FF2B5EF4-FFF2-40B4-BE49-F238E27FC236}">
                <a16:creationId xmlns:a16="http://schemas.microsoft.com/office/drawing/2014/main" xmlns="" id="{0E9C9B0F-A359-438E-8F5C-D7B01C3F6A04}"/>
              </a:ext>
            </a:extLst>
          </p:cNvPr>
          <p:cNvSpPr/>
          <p:nvPr/>
        </p:nvSpPr>
        <p:spPr bwMode="auto">
          <a:xfrm>
            <a:off x="2328890" y="5429264"/>
            <a:ext cx="152400" cy="2381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2" name="Down Arrow 51">
            <a:extLst>
              <a:ext uri="{FF2B5EF4-FFF2-40B4-BE49-F238E27FC236}">
                <a16:creationId xmlns:a16="http://schemas.microsoft.com/office/drawing/2014/main" xmlns="" id="{A93FC15E-5CCE-4EB1-86BA-DB90E70AB3DD}"/>
              </a:ext>
            </a:extLst>
          </p:cNvPr>
          <p:cNvSpPr/>
          <p:nvPr/>
        </p:nvSpPr>
        <p:spPr bwMode="auto">
          <a:xfrm>
            <a:off x="2328890" y="4889513"/>
            <a:ext cx="152400" cy="3254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3" name="Down Arrow 52">
            <a:extLst>
              <a:ext uri="{FF2B5EF4-FFF2-40B4-BE49-F238E27FC236}">
                <a16:creationId xmlns:a16="http://schemas.microsoft.com/office/drawing/2014/main" xmlns="" id="{BF8490B1-730D-4B51-826B-16743573C95D}"/>
              </a:ext>
            </a:extLst>
          </p:cNvPr>
          <p:cNvSpPr/>
          <p:nvPr/>
        </p:nvSpPr>
        <p:spPr bwMode="auto">
          <a:xfrm>
            <a:off x="4081490" y="5041913"/>
            <a:ext cx="152400" cy="1730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4" name="TextBox 24"/>
          <p:cNvSpPr txBox="1">
            <a:spLocks noChangeArrowheads="1"/>
          </p:cNvSpPr>
          <p:nvPr/>
        </p:nvSpPr>
        <p:spPr bwMode="auto">
          <a:xfrm>
            <a:off x="5529290" y="5135562"/>
            <a:ext cx="29718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Fulfillment of Human Goal</a:t>
            </a:r>
          </a:p>
        </p:txBody>
      </p:sp>
      <p:sp>
        <p:nvSpPr>
          <p:cNvPr id="55" name="Down Arrow 54">
            <a:extLst>
              <a:ext uri="{FF2B5EF4-FFF2-40B4-BE49-F238E27FC236}">
                <a16:creationId xmlns:a16="http://schemas.microsoft.com/office/drawing/2014/main" xmlns="" id="{6528D0AB-BCDA-4B85-A6A3-3E89BB0057CA}"/>
              </a:ext>
            </a:extLst>
          </p:cNvPr>
          <p:cNvSpPr/>
          <p:nvPr/>
        </p:nvSpPr>
        <p:spPr bwMode="auto">
          <a:xfrm>
            <a:off x="6919954" y="4889513"/>
            <a:ext cx="152400" cy="325437"/>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6" name="Down Arrow 55">
            <a:extLst>
              <a:ext uri="{FF2B5EF4-FFF2-40B4-BE49-F238E27FC236}">
                <a16:creationId xmlns:a16="http://schemas.microsoft.com/office/drawing/2014/main" xmlns="" id="{BE90E887-A683-40C3-8998-6A9172C41916}"/>
              </a:ext>
            </a:extLst>
          </p:cNvPr>
          <p:cNvSpPr/>
          <p:nvPr/>
        </p:nvSpPr>
        <p:spPr bwMode="auto">
          <a:xfrm>
            <a:off x="6900890" y="5357826"/>
            <a:ext cx="152400" cy="2381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solidFill>
                <a:prstClr val="white"/>
              </a:solidFill>
            </a:endParaRPr>
          </a:p>
        </p:txBody>
      </p:sp>
      <p:sp>
        <p:nvSpPr>
          <p:cNvPr id="57" name="Rectangle 56">
            <a:extLst>
              <a:ext uri="{FF2B5EF4-FFF2-40B4-BE49-F238E27FC236}">
                <a16:creationId xmlns:a16="http://schemas.microsoft.com/office/drawing/2014/main" xmlns="" id="{96CF3E3A-89E7-4A05-9423-6F7ED5FBFE10}"/>
              </a:ext>
            </a:extLst>
          </p:cNvPr>
          <p:cNvSpPr/>
          <p:nvPr/>
        </p:nvSpPr>
        <p:spPr>
          <a:xfrm>
            <a:off x="5605490" y="5643578"/>
            <a:ext cx="2667000" cy="609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prstClr val="white"/>
              </a:solidFill>
            </a:endParaRPr>
          </a:p>
        </p:txBody>
      </p:sp>
      <p:sp>
        <p:nvSpPr>
          <p:cNvPr id="58" name="TextBox 20"/>
          <p:cNvSpPr txBox="1">
            <a:spLocks noChangeArrowheads="1"/>
          </p:cNvSpPr>
          <p:nvPr/>
        </p:nvSpPr>
        <p:spPr bwMode="auto">
          <a:xfrm rot="16200000">
            <a:off x="7497110" y="4774172"/>
            <a:ext cx="2286000" cy="738664"/>
          </a:xfrm>
          <a:prstGeom prst="rect">
            <a:avLst/>
          </a:prstGeom>
          <a:noFill/>
          <a:ln w="9525">
            <a:noFill/>
            <a:miter lim="800000"/>
            <a:headEnd/>
            <a:tailEnd/>
          </a:ln>
        </p:spPr>
        <p:txBody>
          <a:bodyPr wrap="square">
            <a:spAutoFit/>
          </a:bodyPr>
          <a:lstStyle/>
          <a:p>
            <a:pPr eaLnBrk="1" hangingPunct="1"/>
            <a:r>
              <a:rPr lang="en-US" altLang="en-US" b="1" dirty="0">
                <a:solidFill>
                  <a:srgbClr val="000000"/>
                </a:solidFill>
              </a:rPr>
              <a:t>Human Tradition</a:t>
            </a:r>
          </a:p>
          <a:p>
            <a:pPr eaLnBrk="1" hangingPunct="1"/>
            <a:endParaRPr lang="en-US" altLang="en-US" sz="2400" b="1" dirty="0">
              <a:solidFill>
                <a:srgbClr val="000000"/>
              </a:solidFill>
            </a:endParaRPr>
          </a:p>
        </p:txBody>
      </p:sp>
      <p:sp>
        <p:nvSpPr>
          <p:cNvPr id="59" name="TextBox 26"/>
          <p:cNvSpPr txBox="1">
            <a:spLocks noChangeArrowheads="1"/>
          </p:cNvSpPr>
          <p:nvPr/>
        </p:nvSpPr>
        <p:spPr bwMode="auto">
          <a:xfrm>
            <a:off x="952496" y="5643578"/>
            <a:ext cx="3048000" cy="369332"/>
          </a:xfrm>
          <a:prstGeom prst="rect">
            <a:avLst/>
          </a:prstGeom>
          <a:noFill/>
          <a:ln w="9525">
            <a:noFill/>
            <a:miter lim="800000"/>
            <a:headEnd/>
            <a:tailEnd/>
          </a:ln>
        </p:spPr>
        <p:txBody>
          <a:bodyPr>
            <a:spAutoFit/>
          </a:bodyPr>
          <a:lstStyle/>
          <a:p>
            <a:pPr algn="ctr" eaLnBrk="1" hangingPunct="1"/>
            <a:r>
              <a:rPr lang="en-US" altLang="en-US" dirty="0">
                <a:solidFill>
                  <a:srgbClr val="000000"/>
                </a:solidFill>
              </a:rPr>
              <a:t>Undivided Human Society</a:t>
            </a:r>
          </a:p>
        </p:txBody>
      </p:sp>
      <p:sp>
        <p:nvSpPr>
          <p:cNvPr id="60" name="TextBox 18"/>
          <p:cNvSpPr txBox="1">
            <a:spLocks noChangeArrowheads="1"/>
          </p:cNvSpPr>
          <p:nvPr/>
        </p:nvSpPr>
        <p:spPr bwMode="auto">
          <a:xfrm>
            <a:off x="3786182" y="5500702"/>
            <a:ext cx="1433514" cy="707886"/>
          </a:xfrm>
          <a:prstGeom prst="rect">
            <a:avLst/>
          </a:prstGeom>
          <a:solidFill>
            <a:srgbClr val="FFFF00"/>
          </a:solidFill>
          <a:ln w="9525">
            <a:noFill/>
            <a:miter lim="800000"/>
            <a:headEnd/>
            <a:tailEnd/>
          </a:ln>
        </p:spPr>
        <p:txBody>
          <a:bodyPr wrap="square">
            <a:spAutoFit/>
          </a:bodyPr>
          <a:lstStyle/>
          <a:p>
            <a:pPr eaLnBrk="1" hangingPunct="1"/>
            <a:r>
              <a:rPr lang="en-US" altLang="en-US" sz="2000" b="1" dirty="0">
                <a:solidFill>
                  <a:srgbClr val="000000"/>
                </a:solidFill>
                <a:latin typeface="Times New Roman" pitchFamily="18" charset="0"/>
                <a:ea typeface="Times New Roman" pitchFamily="18" charset="0"/>
                <a:cs typeface="Arial" pitchFamily="34" charset="0"/>
              </a:rPr>
              <a:t>Expression- outside</a:t>
            </a:r>
          </a:p>
        </p:txBody>
      </p:sp>
      <p:sp>
        <p:nvSpPr>
          <p:cNvPr id="41" name="Rectangle 40"/>
          <p:cNvSpPr/>
          <p:nvPr/>
        </p:nvSpPr>
        <p:spPr>
          <a:xfrm>
            <a:off x="7858148" y="2000240"/>
            <a:ext cx="1285852" cy="2031325"/>
          </a:xfrm>
          <a:prstGeom prst="rect">
            <a:avLst/>
          </a:prstGeom>
        </p:spPr>
        <p:txBody>
          <a:bodyPr wrap="square">
            <a:spAutoFit/>
          </a:bodyPr>
          <a:lstStyle/>
          <a:p>
            <a:r>
              <a:rPr lang="en-IN" altLang="en-US" dirty="0">
                <a:solidFill>
                  <a:srgbClr val="FF0000"/>
                </a:solidFill>
              </a:rPr>
              <a:t>Bliss</a:t>
            </a:r>
          </a:p>
          <a:p>
            <a:endParaRPr lang="en-US" altLang="en-US" dirty="0">
              <a:solidFill>
                <a:srgbClr val="FF0000"/>
              </a:solidFill>
            </a:endParaRPr>
          </a:p>
          <a:p>
            <a:r>
              <a:rPr lang="en-IN" altLang="en-US" dirty="0">
                <a:solidFill>
                  <a:srgbClr val="FF0000"/>
                </a:solidFill>
              </a:rPr>
              <a:t>Satisfaction</a:t>
            </a:r>
            <a:endParaRPr lang="en-US" altLang="en-US" dirty="0">
              <a:solidFill>
                <a:srgbClr val="FF0000"/>
              </a:solidFill>
            </a:endParaRPr>
          </a:p>
          <a:p>
            <a:endParaRPr lang="en-IN" altLang="en-US" dirty="0">
              <a:solidFill>
                <a:srgbClr val="FF0000"/>
              </a:solidFill>
            </a:endParaRPr>
          </a:p>
          <a:p>
            <a:r>
              <a:rPr lang="en-IN" altLang="en-US" dirty="0">
                <a:solidFill>
                  <a:srgbClr val="FF0000"/>
                </a:solidFill>
              </a:rPr>
              <a:t>Peace</a:t>
            </a:r>
            <a:endParaRPr lang="en-US" altLang="en-US" dirty="0">
              <a:solidFill>
                <a:srgbClr val="FF0000"/>
              </a:solidFill>
            </a:endParaRPr>
          </a:p>
          <a:p>
            <a:endParaRPr lang="en-IN" altLang="en-US" dirty="0">
              <a:solidFill>
                <a:srgbClr val="FF0000"/>
              </a:solidFill>
            </a:endParaRPr>
          </a:p>
          <a:p>
            <a:r>
              <a:rPr lang="en-IN" altLang="en-US" dirty="0">
                <a:solidFill>
                  <a:srgbClr val="FF0000"/>
                </a:solidFill>
              </a:rPr>
              <a:t>Happiness</a:t>
            </a:r>
            <a:endParaRPr lang="en-US" altLang="en-US" dirty="0">
              <a:solidFill>
                <a:srgbClr val="FF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2"/>
          <p:cNvGrpSpPr>
            <a:grpSpLocks noChangeAspect="1"/>
          </p:cNvGrpSpPr>
          <p:nvPr/>
        </p:nvGrpSpPr>
        <p:grpSpPr bwMode="auto">
          <a:xfrm>
            <a:off x="685800" y="785794"/>
            <a:ext cx="6994525" cy="5214974"/>
            <a:chOff x="540" y="1077"/>
            <a:chExt cx="11016" cy="11319"/>
          </a:xfrm>
        </p:grpSpPr>
        <p:sp>
          <p:nvSpPr>
            <p:cNvPr id="13334" name="AutoShape 194"/>
            <p:cNvSpPr>
              <a:spLocks noChangeAspect="1" noChangeArrowheads="1" noTextEdit="1"/>
            </p:cNvSpPr>
            <p:nvPr/>
          </p:nvSpPr>
          <p:spPr bwMode="auto">
            <a:xfrm>
              <a:off x="540" y="1077"/>
              <a:ext cx="11016" cy="11319"/>
            </a:xfrm>
            <a:prstGeom prst="rect">
              <a:avLst/>
            </a:prstGeom>
            <a:noFill/>
            <a:ln w="9525">
              <a:noFill/>
              <a:miter lim="800000"/>
              <a:headEnd/>
              <a:tailEnd/>
            </a:ln>
          </p:spPr>
          <p:txBody>
            <a:bodyPr/>
            <a:lstStyle/>
            <a:p>
              <a:endParaRPr lang="en-IN"/>
            </a:p>
          </p:txBody>
        </p:sp>
        <p:sp>
          <p:nvSpPr>
            <p:cNvPr id="13335" name="Text Box 193"/>
            <p:cNvSpPr txBox="1">
              <a:spLocks noChangeArrowheads="1"/>
            </p:cNvSpPr>
            <p:nvPr/>
          </p:nvSpPr>
          <p:spPr bwMode="auto">
            <a:xfrm>
              <a:off x="8208" y="8985"/>
              <a:ext cx="2925" cy="697"/>
            </a:xfrm>
            <a:prstGeom prst="rect">
              <a:avLst/>
            </a:prstGeom>
            <a:noFill/>
            <a:ln w="9525">
              <a:noFill/>
              <a:miter lim="800000"/>
              <a:headEnd/>
              <a:tailEnd/>
            </a:ln>
          </p:spPr>
          <p:txBody>
            <a:bodyPr/>
            <a:lstStyle/>
            <a:p>
              <a:pPr algn="ctr"/>
              <a:r>
                <a:rPr lang="en-US" altLang="en-US" sz="1200" b="1" dirty="0">
                  <a:solidFill>
                    <a:srgbClr val="000000"/>
                  </a:solidFill>
                  <a:ea typeface="Times New Roman" pitchFamily="18" charset="0"/>
                  <a:cs typeface="Arial" pitchFamily="34" charset="0"/>
                </a:rPr>
                <a:t>Activity Completeness</a:t>
              </a:r>
              <a:endParaRPr lang="en-US" altLang="en-US" sz="1400" dirty="0">
                <a:solidFill>
                  <a:srgbClr val="000000"/>
                </a:solidFill>
                <a:ea typeface="Times New Roman" pitchFamily="18" charset="0"/>
                <a:cs typeface="Arial" pitchFamily="34" charset="0"/>
              </a:endParaRPr>
            </a:p>
            <a:p>
              <a:pPr algn="ctr"/>
              <a:endParaRPr lang="en-US" altLang="en-US" dirty="0">
                <a:solidFill>
                  <a:srgbClr val="000000"/>
                </a:solidFill>
                <a:ea typeface="Times New Roman" pitchFamily="18" charset="0"/>
                <a:cs typeface="Arial" pitchFamily="34" charset="0"/>
              </a:endParaRPr>
            </a:p>
          </p:txBody>
        </p:sp>
        <p:sp>
          <p:nvSpPr>
            <p:cNvPr id="13336" name="Text Box 192"/>
            <p:cNvSpPr txBox="1">
              <a:spLocks noChangeArrowheads="1"/>
            </p:cNvSpPr>
            <p:nvPr/>
          </p:nvSpPr>
          <p:spPr bwMode="auto">
            <a:xfrm>
              <a:off x="8133" y="6822"/>
              <a:ext cx="540" cy="534"/>
            </a:xfrm>
            <a:prstGeom prst="rect">
              <a:avLst/>
            </a:prstGeom>
            <a:solidFill>
              <a:srgbClr val="FFFFFF"/>
            </a:solidFill>
            <a:ln w="9525">
              <a:solidFill>
                <a:srgbClr val="FFFFFF"/>
              </a:solidFill>
              <a:miter lim="800000"/>
              <a:headEnd/>
              <a:tailEnd/>
            </a:ln>
          </p:spPr>
          <p:txBody>
            <a:bodyPr/>
            <a:lstStyle/>
            <a:p>
              <a:r>
                <a:rPr lang="en-US" altLang="en-US" sz="2000">
                  <a:solidFill>
                    <a:srgbClr val="000000"/>
                  </a:solidFill>
                  <a:ea typeface="Times New Roman" pitchFamily="18" charset="0"/>
                  <a:cs typeface="Arial" pitchFamily="34" charset="0"/>
                </a:rPr>
                <a:t>+</a:t>
              </a:r>
              <a:endParaRPr lang="en-US" altLang="en-US">
                <a:solidFill>
                  <a:srgbClr val="000000"/>
                </a:solidFill>
                <a:ea typeface="Times New Roman" pitchFamily="18" charset="0"/>
                <a:cs typeface="Arial" pitchFamily="34" charset="0"/>
              </a:endParaRPr>
            </a:p>
          </p:txBody>
        </p:sp>
        <p:grpSp>
          <p:nvGrpSpPr>
            <p:cNvPr id="3" name="Group 186"/>
            <p:cNvGrpSpPr>
              <a:grpSpLocks/>
            </p:cNvGrpSpPr>
            <p:nvPr/>
          </p:nvGrpSpPr>
          <p:grpSpPr bwMode="auto">
            <a:xfrm>
              <a:off x="7686" y="2725"/>
              <a:ext cx="3600" cy="1980"/>
              <a:chOff x="7380" y="2697"/>
              <a:chExt cx="3600" cy="1980"/>
            </a:xfrm>
          </p:grpSpPr>
          <p:sp>
            <p:nvSpPr>
              <p:cNvPr id="13395" name="Text Box 191"/>
              <p:cNvSpPr txBox="1">
                <a:spLocks noChangeArrowheads="1"/>
              </p:cNvSpPr>
              <p:nvPr/>
            </p:nvSpPr>
            <p:spPr bwMode="auto">
              <a:xfrm>
                <a:off x="7380" y="2697"/>
                <a:ext cx="180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Unlimited</a:t>
                </a:r>
                <a:endParaRPr lang="en-US" altLang="en-US">
                  <a:solidFill>
                    <a:srgbClr val="000000"/>
                  </a:solidFill>
                  <a:ea typeface="Times New Roman" pitchFamily="18" charset="0"/>
                  <a:cs typeface="Arial" pitchFamily="34" charset="0"/>
                </a:endParaRPr>
              </a:p>
            </p:txBody>
          </p:sp>
          <p:sp>
            <p:nvSpPr>
              <p:cNvPr id="13396" name="Text Box 190"/>
              <p:cNvSpPr txBox="1">
                <a:spLocks noChangeArrowheads="1"/>
              </p:cNvSpPr>
              <p:nvPr/>
            </p:nvSpPr>
            <p:spPr bwMode="auto">
              <a:xfrm>
                <a:off x="7380" y="3415"/>
                <a:ext cx="3600" cy="54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Self-organization is available</a:t>
                </a:r>
                <a:endParaRPr lang="en-US" altLang="en-US">
                  <a:solidFill>
                    <a:srgbClr val="000000"/>
                  </a:solidFill>
                  <a:ea typeface="Times New Roman" pitchFamily="18" charset="0"/>
                  <a:cs typeface="Arial" pitchFamily="34" charset="0"/>
                </a:endParaRPr>
              </a:p>
            </p:txBody>
          </p:sp>
          <p:sp>
            <p:nvSpPr>
              <p:cNvPr id="13397" name="Text Box 189"/>
              <p:cNvSpPr txBox="1">
                <a:spLocks noChangeArrowheads="1"/>
              </p:cNvSpPr>
              <p:nvPr/>
            </p:nvSpPr>
            <p:spPr bwMode="auto">
              <a:xfrm>
                <a:off x="7380" y="3057"/>
                <a:ext cx="1800" cy="360"/>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No activity</a:t>
                </a:r>
                <a:endParaRPr lang="en-US" altLang="en-US">
                  <a:solidFill>
                    <a:srgbClr val="000000"/>
                  </a:solidFill>
                  <a:ea typeface="Times New Roman" pitchFamily="18" charset="0"/>
                  <a:cs typeface="Arial" pitchFamily="34" charset="0"/>
                </a:endParaRPr>
              </a:p>
            </p:txBody>
          </p:sp>
          <p:sp>
            <p:nvSpPr>
              <p:cNvPr id="13398" name="Text Box 188"/>
              <p:cNvSpPr txBox="1">
                <a:spLocks noChangeArrowheads="1"/>
              </p:cNvSpPr>
              <p:nvPr/>
            </p:nvSpPr>
            <p:spPr bwMode="auto">
              <a:xfrm>
                <a:off x="7380" y="3775"/>
                <a:ext cx="2700" cy="54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Energy in equilibrium</a:t>
                </a:r>
                <a:endParaRPr lang="en-US" altLang="en-US">
                  <a:solidFill>
                    <a:srgbClr val="000000"/>
                  </a:solidFill>
                  <a:ea typeface="Times New Roman" pitchFamily="18" charset="0"/>
                  <a:cs typeface="Arial" pitchFamily="34" charset="0"/>
                </a:endParaRPr>
              </a:p>
            </p:txBody>
          </p:sp>
          <p:sp>
            <p:nvSpPr>
              <p:cNvPr id="13399" name="Text Box 187"/>
              <p:cNvSpPr txBox="1">
                <a:spLocks noChangeArrowheads="1"/>
              </p:cNvSpPr>
              <p:nvPr/>
            </p:nvSpPr>
            <p:spPr bwMode="auto">
              <a:xfrm>
                <a:off x="7380" y="4136"/>
                <a:ext cx="1800" cy="541"/>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Transparent</a:t>
                </a:r>
                <a:endParaRPr lang="en-US" altLang="en-US">
                  <a:solidFill>
                    <a:srgbClr val="000000"/>
                  </a:solidFill>
                  <a:ea typeface="Times New Roman" pitchFamily="18" charset="0"/>
                  <a:cs typeface="Arial" pitchFamily="34" charset="0"/>
                </a:endParaRPr>
              </a:p>
            </p:txBody>
          </p:sp>
        </p:grpSp>
        <p:sp>
          <p:nvSpPr>
            <p:cNvPr id="13338" name="Rectangle 185"/>
            <p:cNvSpPr>
              <a:spLocks noChangeArrowheads="1"/>
            </p:cNvSpPr>
            <p:nvPr/>
          </p:nvSpPr>
          <p:spPr bwMode="auto">
            <a:xfrm>
              <a:off x="4614" y="6840"/>
              <a:ext cx="1800" cy="541"/>
            </a:xfrm>
            <a:prstGeom prst="rect">
              <a:avLst/>
            </a:prstGeom>
            <a:solidFill>
              <a:srgbClr val="002060"/>
            </a:solidFill>
            <a:ln w="9525">
              <a:noFill/>
              <a:miter lim="800000"/>
              <a:headEnd/>
              <a:tailEnd/>
            </a:ln>
          </p:spPr>
          <p:txBody>
            <a:bodyPr/>
            <a:lstStyle/>
            <a:p>
              <a:pPr algn="ctr"/>
              <a:r>
                <a:rPr lang="en-US" altLang="en-US" sz="1200" b="1">
                  <a:solidFill>
                    <a:srgbClr val="FFFFFF"/>
                  </a:solidFill>
                  <a:ea typeface="Times New Roman" pitchFamily="18" charset="0"/>
                  <a:cs typeface="Arial" pitchFamily="34" charset="0"/>
                </a:rPr>
                <a:t>Bio Order</a:t>
              </a:r>
              <a:endParaRPr lang="en-US" altLang="en-US">
                <a:solidFill>
                  <a:srgbClr val="FFFFFF"/>
                </a:solidFill>
                <a:ea typeface="Times New Roman" pitchFamily="18" charset="0"/>
                <a:cs typeface="Arial" pitchFamily="34" charset="0"/>
              </a:endParaRPr>
            </a:p>
          </p:txBody>
        </p:sp>
        <p:grpSp>
          <p:nvGrpSpPr>
            <p:cNvPr id="4" name="Group 182"/>
            <p:cNvGrpSpPr>
              <a:grpSpLocks/>
            </p:cNvGrpSpPr>
            <p:nvPr/>
          </p:nvGrpSpPr>
          <p:grpSpPr bwMode="auto">
            <a:xfrm>
              <a:off x="2340" y="5397"/>
              <a:ext cx="2880" cy="897"/>
              <a:chOff x="2520" y="5580"/>
              <a:chExt cx="2880" cy="897"/>
            </a:xfrm>
          </p:grpSpPr>
          <p:sp>
            <p:nvSpPr>
              <p:cNvPr id="13393" name="Text Box 184"/>
              <p:cNvSpPr txBox="1">
                <a:spLocks noChangeArrowheads="1"/>
              </p:cNvSpPr>
              <p:nvPr/>
            </p:nvSpPr>
            <p:spPr bwMode="auto">
              <a:xfrm>
                <a:off x="2520" y="5580"/>
                <a:ext cx="1800" cy="539"/>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Temporary</a:t>
                </a:r>
                <a:endParaRPr lang="en-US" altLang="en-US">
                  <a:solidFill>
                    <a:srgbClr val="000000"/>
                  </a:solidFill>
                  <a:ea typeface="Times New Roman" pitchFamily="18" charset="0"/>
                  <a:cs typeface="Arial" pitchFamily="34" charset="0"/>
                </a:endParaRPr>
              </a:p>
            </p:txBody>
          </p:sp>
          <p:sp>
            <p:nvSpPr>
              <p:cNvPr id="13394" name="Text Box 183"/>
              <p:cNvSpPr txBox="1">
                <a:spLocks noChangeArrowheads="1"/>
              </p:cNvSpPr>
              <p:nvPr/>
            </p:nvSpPr>
            <p:spPr bwMode="auto">
              <a:xfrm>
                <a:off x="2520" y="5937"/>
                <a:ext cx="2880" cy="540"/>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Recognising, Fulfilling</a:t>
                </a:r>
                <a:endParaRPr lang="en-US" altLang="en-US">
                  <a:solidFill>
                    <a:srgbClr val="000000"/>
                  </a:solidFill>
                  <a:ea typeface="Times New Roman" pitchFamily="18" charset="0"/>
                  <a:cs typeface="Arial" pitchFamily="34" charset="0"/>
                </a:endParaRPr>
              </a:p>
            </p:txBody>
          </p:sp>
        </p:grpSp>
        <p:grpSp>
          <p:nvGrpSpPr>
            <p:cNvPr id="5" name="Group 179"/>
            <p:cNvGrpSpPr>
              <a:grpSpLocks/>
            </p:cNvGrpSpPr>
            <p:nvPr/>
          </p:nvGrpSpPr>
          <p:grpSpPr bwMode="auto">
            <a:xfrm>
              <a:off x="7776" y="5397"/>
              <a:ext cx="3060" cy="1082"/>
              <a:chOff x="7380" y="5397"/>
              <a:chExt cx="3060" cy="1082"/>
            </a:xfrm>
          </p:grpSpPr>
          <p:sp>
            <p:nvSpPr>
              <p:cNvPr id="13391" name="Text Box 181"/>
              <p:cNvSpPr txBox="1">
                <a:spLocks noChangeArrowheads="1"/>
              </p:cNvSpPr>
              <p:nvPr/>
            </p:nvSpPr>
            <p:spPr bwMode="auto">
              <a:xfrm>
                <a:off x="7380" y="5397"/>
                <a:ext cx="1980" cy="539"/>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Continuous</a:t>
                </a:r>
                <a:endParaRPr lang="en-US" altLang="en-US">
                  <a:solidFill>
                    <a:srgbClr val="000000"/>
                  </a:solidFill>
                  <a:ea typeface="Times New Roman" pitchFamily="18" charset="0"/>
                  <a:cs typeface="Arial" pitchFamily="34" charset="0"/>
                </a:endParaRPr>
              </a:p>
            </p:txBody>
          </p:sp>
          <p:sp>
            <p:nvSpPr>
              <p:cNvPr id="13392" name="Text Box 180"/>
              <p:cNvSpPr txBox="1">
                <a:spLocks noChangeArrowheads="1"/>
              </p:cNvSpPr>
              <p:nvPr/>
            </p:nvSpPr>
            <p:spPr bwMode="auto">
              <a:xfrm>
                <a:off x="7380" y="5757"/>
                <a:ext cx="3060" cy="722"/>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Knowing, Assuming, Recognising, Fulfilling</a:t>
                </a:r>
                <a:endParaRPr lang="en-US" altLang="en-US">
                  <a:solidFill>
                    <a:srgbClr val="000000"/>
                  </a:solidFill>
                  <a:ea typeface="Times New Roman" pitchFamily="18" charset="0"/>
                  <a:cs typeface="Arial" pitchFamily="34" charset="0"/>
                </a:endParaRPr>
              </a:p>
            </p:txBody>
          </p:sp>
        </p:grpSp>
        <p:sp>
          <p:nvSpPr>
            <p:cNvPr id="13341" name="Rectangle 178"/>
            <p:cNvSpPr>
              <a:spLocks noChangeArrowheads="1"/>
            </p:cNvSpPr>
            <p:nvPr/>
          </p:nvSpPr>
          <p:spPr bwMode="auto">
            <a:xfrm>
              <a:off x="5955" y="4857"/>
              <a:ext cx="4917" cy="543"/>
            </a:xfrm>
            <a:prstGeom prst="rect">
              <a:avLst/>
            </a:prstGeom>
            <a:solidFill>
              <a:srgbClr val="FFFFFF"/>
            </a:solidFill>
            <a:ln w="9525">
              <a:solidFill>
                <a:srgbClr val="000000"/>
              </a:solidFill>
              <a:miter lim="800000"/>
              <a:headEnd/>
              <a:tailEnd/>
            </a:ln>
          </p:spPr>
          <p:txBody>
            <a:bodyPr/>
            <a:lstStyle/>
            <a:p>
              <a:r>
                <a:rPr lang="en-US" altLang="en-US" sz="1200" b="1" dirty="0">
                  <a:solidFill>
                    <a:srgbClr val="000000"/>
                  </a:solidFill>
                  <a:ea typeface="Times New Roman" pitchFamily="18" charset="0"/>
                  <a:cs typeface="Arial" pitchFamily="34" charset="0"/>
                </a:rPr>
                <a:t>Consciousness	</a:t>
              </a:r>
              <a:endParaRPr lang="en-US" altLang="en-US" dirty="0">
                <a:solidFill>
                  <a:srgbClr val="000000"/>
                </a:solidFill>
                <a:ea typeface="Times New Roman" pitchFamily="18" charset="0"/>
                <a:cs typeface="Arial" pitchFamily="34" charset="0"/>
              </a:endParaRPr>
            </a:p>
          </p:txBody>
        </p:sp>
        <p:sp>
          <p:nvSpPr>
            <p:cNvPr id="13342" name="Line 177"/>
            <p:cNvSpPr>
              <a:spLocks noChangeShapeType="1"/>
            </p:cNvSpPr>
            <p:nvPr/>
          </p:nvSpPr>
          <p:spPr bwMode="auto">
            <a:xfrm>
              <a:off x="8583" y="4677"/>
              <a:ext cx="2" cy="179"/>
            </a:xfrm>
            <a:prstGeom prst="line">
              <a:avLst/>
            </a:prstGeom>
            <a:noFill/>
            <a:ln w="9525">
              <a:solidFill>
                <a:srgbClr val="000000"/>
              </a:solidFill>
              <a:round/>
              <a:headEnd/>
              <a:tailEnd type="triangle" w="med" len="med"/>
            </a:ln>
          </p:spPr>
          <p:txBody>
            <a:bodyPr/>
            <a:lstStyle/>
            <a:p>
              <a:endParaRPr lang="en-IN"/>
            </a:p>
          </p:txBody>
        </p:sp>
        <p:sp>
          <p:nvSpPr>
            <p:cNvPr id="13343" name="Line 176"/>
            <p:cNvSpPr>
              <a:spLocks noChangeShapeType="1"/>
            </p:cNvSpPr>
            <p:nvPr/>
          </p:nvSpPr>
          <p:spPr bwMode="auto">
            <a:xfrm>
              <a:off x="2340" y="4681"/>
              <a:ext cx="2" cy="179"/>
            </a:xfrm>
            <a:prstGeom prst="line">
              <a:avLst/>
            </a:prstGeom>
            <a:noFill/>
            <a:ln w="9525">
              <a:solidFill>
                <a:srgbClr val="000000"/>
              </a:solidFill>
              <a:round/>
              <a:headEnd/>
              <a:tailEnd type="triangle" w="med" len="med"/>
            </a:ln>
          </p:spPr>
          <p:txBody>
            <a:bodyPr/>
            <a:lstStyle/>
            <a:p>
              <a:endParaRPr lang="en-IN"/>
            </a:p>
          </p:txBody>
        </p:sp>
        <p:sp>
          <p:nvSpPr>
            <p:cNvPr id="13344" name="Line 175"/>
            <p:cNvSpPr>
              <a:spLocks noChangeShapeType="1"/>
            </p:cNvSpPr>
            <p:nvPr/>
          </p:nvSpPr>
          <p:spPr bwMode="auto">
            <a:xfrm>
              <a:off x="5523" y="6480"/>
              <a:ext cx="2" cy="360"/>
            </a:xfrm>
            <a:prstGeom prst="line">
              <a:avLst/>
            </a:prstGeom>
            <a:noFill/>
            <a:ln w="9525">
              <a:solidFill>
                <a:srgbClr val="000000"/>
              </a:solidFill>
              <a:round/>
              <a:headEnd/>
              <a:tailEnd type="triangle" w="med" len="med"/>
            </a:ln>
          </p:spPr>
          <p:txBody>
            <a:bodyPr/>
            <a:lstStyle/>
            <a:p>
              <a:endParaRPr lang="en-IN"/>
            </a:p>
          </p:txBody>
        </p:sp>
        <p:sp>
          <p:nvSpPr>
            <p:cNvPr id="13345" name="Line 174"/>
            <p:cNvSpPr>
              <a:spLocks noChangeShapeType="1"/>
            </p:cNvSpPr>
            <p:nvPr/>
          </p:nvSpPr>
          <p:spPr bwMode="auto">
            <a:xfrm>
              <a:off x="2740" y="10234"/>
              <a:ext cx="1" cy="205"/>
            </a:xfrm>
            <a:prstGeom prst="line">
              <a:avLst/>
            </a:prstGeom>
            <a:noFill/>
            <a:ln w="9525">
              <a:solidFill>
                <a:srgbClr val="000000"/>
              </a:solidFill>
              <a:round/>
              <a:headEnd/>
              <a:tailEnd type="triangle" w="med" len="med"/>
            </a:ln>
          </p:spPr>
          <p:txBody>
            <a:bodyPr/>
            <a:lstStyle/>
            <a:p>
              <a:endParaRPr lang="en-IN"/>
            </a:p>
          </p:txBody>
        </p:sp>
        <p:sp>
          <p:nvSpPr>
            <p:cNvPr id="13346" name="Rectangle 173"/>
            <p:cNvSpPr>
              <a:spLocks noChangeArrowheads="1"/>
            </p:cNvSpPr>
            <p:nvPr/>
          </p:nvSpPr>
          <p:spPr bwMode="auto">
            <a:xfrm>
              <a:off x="2340" y="2157"/>
              <a:ext cx="2340" cy="539"/>
            </a:xfrm>
            <a:prstGeom prst="rect">
              <a:avLst/>
            </a:prstGeom>
            <a:solidFill>
              <a:srgbClr val="FFFFFF"/>
            </a:solidFill>
            <a:ln w="9525">
              <a:solidFill>
                <a:srgbClr val="000000"/>
              </a:solidFill>
              <a:miter lim="800000"/>
              <a:headEnd/>
              <a:tailEnd/>
            </a:ln>
          </p:spPr>
          <p:txBody>
            <a:bodyPr/>
            <a:lstStyle/>
            <a:p>
              <a:pPr algn="ctr"/>
              <a:r>
                <a:rPr lang="en-US" altLang="en-US" sz="1400" b="1">
                  <a:solidFill>
                    <a:srgbClr val="000000"/>
                  </a:solidFill>
                  <a:ea typeface="Times New Roman" pitchFamily="18" charset="0"/>
                  <a:cs typeface="Arial" pitchFamily="34" charset="0"/>
                </a:rPr>
                <a:t>Units (Nature)</a:t>
              </a:r>
              <a:endParaRPr lang="en-US" altLang="en-US">
                <a:solidFill>
                  <a:srgbClr val="000000"/>
                </a:solidFill>
                <a:ea typeface="Times New Roman" pitchFamily="18" charset="0"/>
                <a:cs typeface="Arial" pitchFamily="34" charset="0"/>
              </a:endParaRPr>
            </a:p>
          </p:txBody>
        </p:sp>
        <p:sp>
          <p:nvSpPr>
            <p:cNvPr id="13347" name="Line 172"/>
            <p:cNvSpPr>
              <a:spLocks noChangeShapeType="1"/>
            </p:cNvSpPr>
            <p:nvPr/>
          </p:nvSpPr>
          <p:spPr bwMode="auto">
            <a:xfrm>
              <a:off x="3420" y="2697"/>
              <a:ext cx="2" cy="1984"/>
            </a:xfrm>
            <a:prstGeom prst="line">
              <a:avLst/>
            </a:prstGeom>
            <a:noFill/>
            <a:ln w="9525">
              <a:solidFill>
                <a:srgbClr val="000000"/>
              </a:solidFill>
              <a:round/>
              <a:headEnd/>
              <a:tailEnd type="triangle" w="med" len="med"/>
            </a:ln>
          </p:spPr>
          <p:txBody>
            <a:bodyPr/>
            <a:lstStyle/>
            <a:p>
              <a:endParaRPr lang="en-IN"/>
            </a:p>
          </p:txBody>
        </p:sp>
        <p:sp>
          <p:nvSpPr>
            <p:cNvPr id="13348" name="Line 171"/>
            <p:cNvSpPr>
              <a:spLocks noChangeShapeType="1"/>
            </p:cNvSpPr>
            <p:nvPr/>
          </p:nvSpPr>
          <p:spPr bwMode="auto">
            <a:xfrm>
              <a:off x="3400" y="1941"/>
              <a:ext cx="2" cy="216"/>
            </a:xfrm>
            <a:prstGeom prst="line">
              <a:avLst/>
            </a:prstGeom>
            <a:noFill/>
            <a:ln w="9525">
              <a:solidFill>
                <a:srgbClr val="000000"/>
              </a:solidFill>
              <a:round/>
              <a:headEnd/>
              <a:tailEnd type="triangle" w="med" len="med"/>
            </a:ln>
          </p:spPr>
          <p:txBody>
            <a:bodyPr/>
            <a:lstStyle/>
            <a:p>
              <a:endParaRPr lang="en-IN"/>
            </a:p>
          </p:txBody>
        </p:sp>
        <p:sp>
          <p:nvSpPr>
            <p:cNvPr id="13349" name="Rectangle 170"/>
            <p:cNvSpPr>
              <a:spLocks noChangeArrowheads="1"/>
            </p:cNvSpPr>
            <p:nvPr/>
          </p:nvSpPr>
          <p:spPr bwMode="auto">
            <a:xfrm>
              <a:off x="6513" y="2157"/>
              <a:ext cx="3393" cy="539"/>
            </a:xfrm>
            <a:prstGeom prst="rect">
              <a:avLst/>
            </a:prstGeom>
            <a:solidFill>
              <a:srgbClr val="FFFFFF"/>
            </a:solidFill>
            <a:ln w="9525">
              <a:solidFill>
                <a:srgbClr val="000000"/>
              </a:solidFill>
              <a:miter lim="800000"/>
              <a:headEnd/>
              <a:tailEnd/>
            </a:ln>
          </p:spPr>
          <p:txBody>
            <a:bodyPr/>
            <a:lstStyle/>
            <a:p>
              <a:pPr algn="ctr"/>
              <a:r>
                <a:rPr lang="en-US" altLang="en-US" sz="1400" b="1">
                  <a:solidFill>
                    <a:srgbClr val="000000"/>
                  </a:solidFill>
                  <a:ea typeface="Times New Roman" pitchFamily="18" charset="0"/>
                  <a:cs typeface="Arial" pitchFamily="34" charset="0"/>
                </a:rPr>
                <a:t>Space (All-pervading)</a:t>
              </a:r>
              <a:endParaRPr lang="en-US" altLang="en-US">
                <a:solidFill>
                  <a:srgbClr val="000000"/>
                </a:solidFill>
                <a:ea typeface="Times New Roman" pitchFamily="18" charset="0"/>
                <a:cs typeface="Arial" pitchFamily="34" charset="0"/>
              </a:endParaRPr>
            </a:p>
          </p:txBody>
        </p:sp>
        <p:sp>
          <p:nvSpPr>
            <p:cNvPr id="13350" name="Rectangle 169"/>
            <p:cNvSpPr>
              <a:spLocks noChangeArrowheads="1"/>
            </p:cNvSpPr>
            <p:nvPr/>
          </p:nvSpPr>
          <p:spPr bwMode="auto">
            <a:xfrm>
              <a:off x="1080" y="4860"/>
              <a:ext cx="3780" cy="543"/>
            </a:xfrm>
            <a:prstGeom prst="rect">
              <a:avLst/>
            </a:prstGeom>
            <a:solidFill>
              <a:srgbClr val="FFFFFF"/>
            </a:solidFill>
            <a:ln w="9525">
              <a:solidFill>
                <a:srgbClr val="000000"/>
              </a:solidFill>
              <a:miter lim="800000"/>
              <a:headEnd/>
              <a:tailEnd/>
            </a:ln>
          </p:spPr>
          <p:txBody>
            <a:bodyPr/>
            <a:lstStyle/>
            <a:p>
              <a:r>
                <a:rPr lang="en-US" altLang="en-US" sz="1200" b="1" dirty="0">
                  <a:solidFill>
                    <a:srgbClr val="000000"/>
                  </a:solidFill>
                  <a:ea typeface="Times New Roman" pitchFamily="18" charset="0"/>
                  <a:cs typeface="Arial" pitchFamily="34" charset="0"/>
                </a:rPr>
                <a:t>Material	</a:t>
              </a:r>
              <a:endParaRPr lang="en-US" altLang="en-US" dirty="0">
                <a:solidFill>
                  <a:srgbClr val="000000"/>
                </a:solidFill>
                <a:ea typeface="Times New Roman" pitchFamily="18" charset="0"/>
                <a:cs typeface="Arial" pitchFamily="34" charset="0"/>
              </a:endParaRPr>
            </a:p>
          </p:txBody>
        </p:sp>
        <p:sp>
          <p:nvSpPr>
            <p:cNvPr id="13351" name="Line 168"/>
            <p:cNvSpPr>
              <a:spLocks noChangeShapeType="1"/>
            </p:cNvSpPr>
            <p:nvPr/>
          </p:nvSpPr>
          <p:spPr bwMode="auto">
            <a:xfrm>
              <a:off x="2340" y="5399"/>
              <a:ext cx="2" cy="1081"/>
            </a:xfrm>
            <a:prstGeom prst="line">
              <a:avLst/>
            </a:prstGeom>
            <a:noFill/>
            <a:ln w="9525">
              <a:solidFill>
                <a:srgbClr val="000000"/>
              </a:solidFill>
              <a:round/>
              <a:headEnd/>
              <a:tailEnd type="triangle" w="med" len="med"/>
            </a:ln>
          </p:spPr>
          <p:txBody>
            <a:bodyPr/>
            <a:lstStyle/>
            <a:p>
              <a:endParaRPr lang="en-IN"/>
            </a:p>
          </p:txBody>
        </p:sp>
        <p:sp>
          <p:nvSpPr>
            <p:cNvPr id="13352" name="Rectangle 167"/>
            <p:cNvSpPr>
              <a:spLocks noChangeArrowheads="1"/>
            </p:cNvSpPr>
            <p:nvPr/>
          </p:nvSpPr>
          <p:spPr bwMode="auto">
            <a:xfrm>
              <a:off x="966" y="6840"/>
              <a:ext cx="2020" cy="541"/>
            </a:xfrm>
            <a:prstGeom prst="rect">
              <a:avLst/>
            </a:prstGeom>
            <a:solidFill>
              <a:srgbClr val="002060"/>
            </a:solidFill>
            <a:ln w="9525">
              <a:noFill/>
              <a:miter lim="800000"/>
              <a:headEnd/>
              <a:tailEnd/>
            </a:ln>
          </p:spPr>
          <p:txBody>
            <a:bodyPr/>
            <a:lstStyle/>
            <a:p>
              <a:pPr algn="ctr"/>
              <a:r>
                <a:rPr lang="en-US" altLang="en-US" sz="1200" b="1">
                  <a:solidFill>
                    <a:srgbClr val="FFFFFF"/>
                  </a:solidFill>
                  <a:ea typeface="Times New Roman" pitchFamily="18" charset="0"/>
                  <a:cs typeface="Arial" pitchFamily="34" charset="0"/>
                </a:rPr>
                <a:t>Physical Order</a:t>
              </a:r>
              <a:endParaRPr lang="en-US" altLang="en-US">
                <a:solidFill>
                  <a:srgbClr val="FFFFFF"/>
                </a:solidFill>
                <a:ea typeface="Times New Roman" pitchFamily="18" charset="0"/>
                <a:cs typeface="Arial" pitchFamily="34" charset="0"/>
              </a:endParaRPr>
            </a:p>
          </p:txBody>
        </p:sp>
        <p:sp>
          <p:nvSpPr>
            <p:cNvPr id="13353" name="Line 166"/>
            <p:cNvSpPr>
              <a:spLocks noChangeShapeType="1"/>
            </p:cNvSpPr>
            <p:nvPr/>
          </p:nvSpPr>
          <p:spPr bwMode="auto">
            <a:xfrm>
              <a:off x="1981" y="6482"/>
              <a:ext cx="3544" cy="1"/>
            </a:xfrm>
            <a:prstGeom prst="line">
              <a:avLst/>
            </a:prstGeom>
            <a:noFill/>
            <a:ln w="9525">
              <a:solidFill>
                <a:srgbClr val="000000"/>
              </a:solidFill>
              <a:round/>
              <a:headEnd/>
              <a:tailEnd/>
            </a:ln>
          </p:spPr>
          <p:txBody>
            <a:bodyPr/>
            <a:lstStyle/>
            <a:p>
              <a:endParaRPr lang="en-IN"/>
            </a:p>
          </p:txBody>
        </p:sp>
        <p:sp>
          <p:nvSpPr>
            <p:cNvPr id="13354" name="Line 165"/>
            <p:cNvSpPr>
              <a:spLocks noChangeShapeType="1"/>
            </p:cNvSpPr>
            <p:nvPr/>
          </p:nvSpPr>
          <p:spPr bwMode="auto">
            <a:xfrm>
              <a:off x="1980" y="6480"/>
              <a:ext cx="2" cy="360"/>
            </a:xfrm>
            <a:prstGeom prst="line">
              <a:avLst/>
            </a:prstGeom>
            <a:noFill/>
            <a:ln w="9525">
              <a:solidFill>
                <a:srgbClr val="000000"/>
              </a:solidFill>
              <a:round/>
              <a:headEnd/>
              <a:tailEnd type="triangle" w="med" len="med"/>
            </a:ln>
          </p:spPr>
          <p:txBody>
            <a:bodyPr/>
            <a:lstStyle/>
            <a:p>
              <a:endParaRPr lang="en-IN"/>
            </a:p>
          </p:txBody>
        </p:sp>
        <p:sp>
          <p:nvSpPr>
            <p:cNvPr id="13355" name="Line 164"/>
            <p:cNvSpPr>
              <a:spLocks noChangeShapeType="1"/>
            </p:cNvSpPr>
            <p:nvPr/>
          </p:nvSpPr>
          <p:spPr bwMode="auto">
            <a:xfrm>
              <a:off x="1980" y="7381"/>
              <a:ext cx="2" cy="359"/>
            </a:xfrm>
            <a:prstGeom prst="line">
              <a:avLst/>
            </a:prstGeom>
            <a:noFill/>
            <a:ln w="9525">
              <a:solidFill>
                <a:srgbClr val="000000"/>
              </a:solidFill>
              <a:round/>
              <a:headEnd/>
              <a:tailEnd type="triangle" w="med" len="med"/>
            </a:ln>
          </p:spPr>
          <p:txBody>
            <a:bodyPr/>
            <a:lstStyle/>
            <a:p>
              <a:endParaRPr lang="en-IN"/>
            </a:p>
          </p:txBody>
        </p:sp>
        <p:sp>
          <p:nvSpPr>
            <p:cNvPr id="13356" name="Rectangle 163"/>
            <p:cNvSpPr>
              <a:spLocks noChangeArrowheads="1"/>
            </p:cNvSpPr>
            <p:nvPr/>
          </p:nvSpPr>
          <p:spPr bwMode="auto">
            <a:xfrm>
              <a:off x="1239" y="8641"/>
              <a:ext cx="1440" cy="536"/>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Molecule</a:t>
              </a:r>
              <a:endParaRPr lang="en-US" altLang="en-US">
                <a:solidFill>
                  <a:srgbClr val="000000"/>
                </a:solidFill>
                <a:ea typeface="Times New Roman" pitchFamily="18" charset="0"/>
                <a:cs typeface="Arial" pitchFamily="34" charset="0"/>
              </a:endParaRPr>
            </a:p>
          </p:txBody>
        </p:sp>
        <p:sp>
          <p:nvSpPr>
            <p:cNvPr id="13357" name="Rectangle 162"/>
            <p:cNvSpPr>
              <a:spLocks noChangeArrowheads="1"/>
            </p:cNvSpPr>
            <p:nvPr/>
          </p:nvSpPr>
          <p:spPr bwMode="auto">
            <a:xfrm>
              <a:off x="1428" y="7740"/>
              <a:ext cx="1080" cy="543"/>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Atom</a:t>
              </a:r>
              <a:endParaRPr lang="en-US" altLang="en-US">
                <a:solidFill>
                  <a:srgbClr val="000000"/>
                </a:solidFill>
                <a:ea typeface="Times New Roman" pitchFamily="18" charset="0"/>
                <a:cs typeface="Arial" pitchFamily="34" charset="0"/>
              </a:endParaRPr>
            </a:p>
          </p:txBody>
        </p:sp>
        <p:sp>
          <p:nvSpPr>
            <p:cNvPr id="13358" name="Line 161"/>
            <p:cNvSpPr>
              <a:spLocks noChangeShapeType="1"/>
            </p:cNvSpPr>
            <p:nvPr/>
          </p:nvSpPr>
          <p:spPr bwMode="auto">
            <a:xfrm>
              <a:off x="1979" y="8281"/>
              <a:ext cx="1" cy="360"/>
            </a:xfrm>
            <a:prstGeom prst="line">
              <a:avLst/>
            </a:prstGeom>
            <a:noFill/>
            <a:ln w="9525">
              <a:solidFill>
                <a:srgbClr val="000000"/>
              </a:solidFill>
              <a:round/>
              <a:headEnd/>
              <a:tailEnd type="triangle" w="med" len="med"/>
            </a:ln>
          </p:spPr>
          <p:txBody>
            <a:bodyPr/>
            <a:lstStyle/>
            <a:p>
              <a:endParaRPr lang="en-IN"/>
            </a:p>
          </p:txBody>
        </p:sp>
        <p:sp>
          <p:nvSpPr>
            <p:cNvPr id="13359" name="Rectangle 160"/>
            <p:cNvSpPr>
              <a:spLocks noChangeArrowheads="1"/>
            </p:cNvSpPr>
            <p:nvPr/>
          </p:nvSpPr>
          <p:spPr bwMode="auto">
            <a:xfrm>
              <a:off x="630" y="9537"/>
              <a:ext cx="270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Molecular Structure</a:t>
              </a:r>
              <a:endParaRPr lang="en-US" altLang="en-US">
                <a:solidFill>
                  <a:srgbClr val="000000"/>
                </a:solidFill>
                <a:ea typeface="Times New Roman" pitchFamily="18" charset="0"/>
                <a:cs typeface="Arial" pitchFamily="34" charset="0"/>
              </a:endParaRPr>
            </a:p>
          </p:txBody>
        </p:sp>
        <p:sp>
          <p:nvSpPr>
            <p:cNvPr id="13360" name="Rectangle 159"/>
            <p:cNvSpPr>
              <a:spLocks noChangeArrowheads="1"/>
            </p:cNvSpPr>
            <p:nvPr/>
          </p:nvSpPr>
          <p:spPr bwMode="auto">
            <a:xfrm>
              <a:off x="651" y="10440"/>
              <a:ext cx="108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Lump</a:t>
              </a:r>
              <a:endParaRPr lang="en-US" altLang="en-US">
                <a:solidFill>
                  <a:srgbClr val="000000"/>
                </a:solidFill>
                <a:ea typeface="Times New Roman" pitchFamily="18" charset="0"/>
                <a:cs typeface="Arial" pitchFamily="34" charset="0"/>
              </a:endParaRPr>
            </a:p>
          </p:txBody>
        </p:sp>
        <p:sp>
          <p:nvSpPr>
            <p:cNvPr id="13361" name="Rectangle 158"/>
            <p:cNvSpPr>
              <a:spLocks noChangeArrowheads="1"/>
            </p:cNvSpPr>
            <p:nvPr/>
          </p:nvSpPr>
          <p:spPr bwMode="auto">
            <a:xfrm>
              <a:off x="2163" y="10440"/>
              <a:ext cx="1152"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Fluid</a:t>
              </a:r>
              <a:endParaRPr lang="en-US" altLang="en-US">
                <a:solidFill>
                  <a:srgbClr val="000000"/>
                </a:solidFill>
                <a:ea typeface="Times New Roman" pitchFamily="18" charset="0"/>
                <a:cs typeface="Arial" pitchFamily="34" charset="0"/>
              </a:endParaRPr>
            </a:p>
          </p:txBody>
        </p:sp>
        <p:sp>
          <p:nvSpPr>
            <p:cNvPr id="13362" name="Line 157"/>
            <p:cNvSpPr>
              <a:spLocks noChangeShapeType="1"/>
            </p:cNvSpPr>
            <p:nvPr/>
          </p:nvSpPr>
          <p:spPr bwMode="auto">
            <a:xfrm>
              <a:off x="1980" y="9180"/>
              <a:ext cx="1" cy="360"/>
            </a:xfrm>
            <a:prstGeom prst="line">
              <a:avLst/>
            </a:prstGeom>
            <a:noFill/>
            <a:ln w="9525">
              <a:solidFill>
                <a:srgbClr val="000000"/>
              </a:solidFill>
              <a:round/>
              <a:headEnd/>
              <a:tailEnd type="triangle" w="med" len="med"/>
            </a:ln>
          </p:spPr>
          <p:txBody>
            <a:bodyPr/>
            <a:lstStyle/>
            <a:p>
              <a:endParaRPr lang="en-IN"/>
            </a:p>
          </p:txBody>
        </p:sp>
        <p:sp>
          <p:nvSpPr>
            <p:cNvPr id="13363" name="Line 156"/>
            <p:cNvSpPr>
              <a:spLocks noChangeShapeType="1"/>
            </p:cNvSpPr>
            <p:nvPr/>
          </p:nvSpPr>
          <p:spPr bwMode="auto">
            <a:xfrm>
              <a:off x="1962" y="10080"/>
              <a:ext cx="1" cy="181"/>
            </a:xfrm>
            <a:prstGeom prst="line">
              <a:avLst/>
            </a:prstGeom>
            <a:noFill/>
            <a:ln w="9525">
              <a:solidFill>
                <a:srgbClr val="000000"/>
              </a:solidFill>
              <a:round/>
              <a:headEnd/>
              <a:tailEnd/>
            </a:ln>
          </p:spPr>
          <p:txBody>
            <a:bodyPr/>
            <a:lstStyle/>
            <a:p>
              <a:endParaRPr lang="en-IN"/>
            </a:p>
          </p:txBody>
        </p:sp>
        <p:sp>
          <p:nvSpPr>
            <p:cNvPr id="13364" name="Line 155"/>
            <p:cNvSpPr>
              <a:spLocks noChangeShapeType="1"/>
            </p:cNvSpPr>
            <p:nvPr/>
          </p:nvSpPr>
          <p:spPr bwMode="auto">
            <a:xfrm>
              <a:off x="1189" y="10234"/>
              <a:ext cx="1" cy="206"/>
            </a:xfrm>
            <a:prstGeom prst="line">
              <a:avLst/>
            </a:prstGeom>
            <a:noFill/>
            <a:ln w="9525">
              <a:solidFill>
                <a:srgbClr val="000000"/>
              </a:solidFill>
              <a:round/>
              <a:headEnd/>
              <a:tailEnd type="triangle" w="med" len="med"/>
            </a:ln>
          </p:spPr>
          <p:txBody>
            <a:bodyPr/>
            <a:lstStyle/>
            <a:p>
              <a:endParaRPr lang="en-IN"/>
            </a:p>
          </p:txBody>
        </p:sp>
        <p:sp>
          <p:nvSpPr>
            <p:cNvPr id="13365" name="Line 154"/>
            <p:cNvSpPr>
              <a:spLocks noChangeShapeType="1"/>
            </p:cNvSpPr>
            <p:nvPr/>
          </p:nvSpPr>
          <p:spPr bwMode="auto">
            <a:xfrm>
              <a:off x="1189" y="10241"/>
              <a:ext cx="1551" cy="1"/>
            </a:xfrm>
            <a:prstGeom prst="line">
              <a:avLst/>
            </a:prstGeom>
            <a:noFill/>
            <a:ln w="9525">
              <a:solidFill>
                <a:srgbClr val="000000"/>
              </a:solidFill>
              <a:round/>
              <a:headEnd/>
              <a:tailEnd/>
            </a:ln>
          </p:spPr>
          <p:txBody>
            <a:bodyPr/>
            <a:lstStyle/>
            <a:p>
              <a:endParaRPr lang="en-IN"/>
            </a:p>
          </p:txBody>
        </p:sp>
        <p:sp>
          <p:nvSpPr>
            <p:cNvPr id="13366" name="Rectangle 153"/>
            <p:cNvSpPr>
              <a:spLocks noChangeArrowheads="1"/>
            </p:cNvSpPr>
            <p:nvPr/>
          </p:nvSpPr>
          <p:spPr bwMode="auto">
            <a:xfrm>
              <a:off x="4509" y="10440"/>
              <a:ext cx="198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Human Body</a:t>
              </a:r>
              <a:endParaRPr lang="en-US" altLang="en-US">
                <a:solidFill>
                  <a:srgbClr val="000000"/>
                </a:solidFill>
                <a:ea typeface="Times New Roman" pitchFamily="18" charset="0"/>
                <a:cs typeface="Arial" pitchFamily="34" charset="0"/>
              </a:endParaRPr>
            </a:p>
          </p:txBody>
        </p:sp>
        <p:sp>
          <p:nvSpPr>
            <p:cNvPr id="13367" name="Rectangle 152"/>
            <p:cNvSpPr>
              <a:spLocks noChangeArrowheads="1"/>
            </p:cNvSpPr>
            <p:nvPr/>
          </p:nvSpPr>
          <p:spPr bwMode="auto">
            <a:xfrm>
              <a:off x="4509" y="9521"/>
              <a:ext cx="1980" cy="542"/>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Animal Body</a:t>
              </a:r>
              <a:endParaRPr lang="en-US" altLang="en-US">
                <a:solidFill>
                  <a:srgbClr val="000000"/>
                </a:solidFill>
                <a:ea typeface="Times New Roman" pitchFamily="18" charset="0"/>
                <a:cs typeface="Arial" pitchFamily="34" charset="0"/>
              </a:endParaRPr>
            </a:p>
          </p:txBody>
        </p:sp>
        <p:sp>
          <p:nvSpPr>
            <p:cNvPr id="13368" name="Rectangle 151"/>
            <p:cNvSpPr>
              <a:spLocks noChangeArrowheads="1"/>
            </p:cNvSpPr>
            <p:nvPr/>
          </p:nvSpPr>
          <p:spPr bwMode="auto">
            <a:xfrm>
              <a:off x="4614" y="7740"/>
              <a:ext cx="176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Cell</a:t>
              </a:r>
              <a:endParaRPr lang="en-US" altLang="en-US">
                <a:solidFill>
                  <a:srgbClr val="000000"/>
                </a:solidFill>
                <a:ea typeface="Times New Roman" pitchFamily="18" charset="0"/>
                <a:cs typeface="Arial" pitchFamily="34" charset="0"/>
              </a:endParaRPr>
            </a:p>
          </p:txBody>
        </p:sp>
        <p:sp>
          <p:nvSpPr>
            <p:cNvPr id="13369" name="Rectangle 150"/>
            <p:cNvSpPr>
              <a:spLocks noChangeArrowheads="1"/>
            </p:cNvSpPr>
            <p:nvPr/>
          </p:nvSpPr>
          <p:spPr bwMode="auto">
            <a:xfrm>
              <a:off x="4866" y="8640"/>
              <a:ext cx="1260" cy="541"/>
            </a:xfrm>
            <a:prstGeom prst="rect">
              <a:avLst/>
            </a:prstGeom>
            <a:solidFill>
              <a:srgbClr val="FFFFFF"/>
            </a:solidFill>
            <a:ln w="9525">
              <a:solidFill>
                <a:srgbClr val="000000"/>
              </a:solidFill>
              <a:miter lim="800000"/>
              <a:headEnd/>
              <a:tailEnd/>
            </a:ln>
          </p:spPr>
          <p:txBody>
            <a:bodyPr/>
            <a:lstStyle/>
            <a:p>
              <a:pPr algn="ctr"/>
              <a:r>
                <a:rPr lang="en-US" altLang="en-US" sz="1200" b="1">
                  <a:solidFill>
                    <a:srgbClr val="000000"/>
                  </a:solidFill>
                  <a:ea typeface="Times New Roman" pitchFamily="18" charset="0"/>
                  <a:cs typeface="Arial" pitchFamily="34" charset="0"/>
                </a:rPr>
                <a:t>Plant</a:t>
              </a:r>
              <a:endParaRPr lang="en-US" altLang="en-US">
                <a:solidFill>
                  <a:srgbClr val="000000"/>
                </a:solidFill>
                <a:ea typeface="Times New Roman" pitchFamily="18" charset="0"/>
                <a:cs typeface="Arial" pitchFamily="34" charset="0"/>
              </a:endParaRPr>
            </a:p>
          </p:txBody>
        </p:sp>
        <p:sp>
          <p:nvSpPr>
            <p:cNvPr id="13370" name="Line 149"/>
            <p:cNvSpPr>
              <a:spLocks noChangeShapeType="1"/>
            </p:cNvSpPr>
            <p:nvPr/>
          </p:nvSpPr>
          <p:spPr bwMode="auto">
            <a:xfrm>
              <a:off x="5499" y="10080"/>
              <a:ext cx="4" cy="360"/>
            </a:xfrm>
            <a:prstGeom prst="line">
              <a:avLst/>
            </a:prstGeom>
            <a:noFill/>
            <a:ln w="9525">
              <a:solidFill>
                <a:srgbClr val="000000"/>
              </a:solidFill>
              <a:round/>
              <a:headEnd/>
              <a:tailEnd type="triangle" w="med" len="med"/>
            </a:ln>
          </p:spPr>
          <p:txBody>
            <a:bodyPr/>
            <a:lstStyle/>
            <a:p>
              <a:endParaRPr lang="en-IN"/>
            </a:p>
          </p:txBody>
        </p:sp>
        <p:cxnSp>
          <p:nvCxnSpPr>
            <p:cNvPr id="13371" name="AutoShape 148"/>
            <p:cNvCxnSpPr>
              <a:cxnSpLocks noChangeShapeType="1"/>
            </p:cNvCxnSpPr>
            <p:nvPr/>
          </p:nvCxnSpPr>
          <p:spPr bwMode="auto">
            <a:xfrm flipV="1">
              <a:off x="3315" y="8011"/>
              <a:ext cx="1299" cy="2700"/>
            </a:xfrm>
            <a:prstGeom prst="bentConnector3">
              <a:avLst>
                <a:gd name="adj1" fmla="val 49963"/>
              </a:avLst>
            </a:prstGeom>
            <a:noFill/>
            <a:ln w="19050">
              <a:solidFill>
                <a:srgbClr val="000000"/>
              </a:solidFill>
              <a:prstDash val="sysDot"/>
              <a:miter lim="800000"/>
              <a:headEnd/>
              <a:tailEnd type="triangle" w="med" len="med"/>
            </a:ln>
          </p:spPr>
        </p:cxnSp>
        <p:sp>
          <p:nvSpPr>
            <p:cNvPr id="13372" name="Rectangle 147"/>
            <p:cNvSpPr>
              <a:spLocks noChangeArrowheads="1"/>
            </p:cNvSpPr>
            <p:nvPr/>
          </p:nvSpPr>
          <p:spPr bwMode="auto">
            <a:xfrm>
              <a:off x="7461" y="7359"/>
              <a:ext cx="1932" cy="543"/>
            </a:xfrm>
            <a:prstGeom prst="rect">
              <a:avLst/>
            </a:prstGeom>
            <a:solidFill>
              <a:srgbClr val="002060"/>
            </a:solidFill>
            <a:ln w="9525">
              <a:noFill/>
              <a:miter lim="800000"/>
              <a:headEnd/>
              <a:tailEnd/>
            </a:ln>
          </p:spPr>
          <p:txBody>
            <a:bodyPr/>
            <a:lstStyle/>
            <a:p>
              <a:pPr algn="ctr"/>
              <a:r>
                <a:rPr lang="en-US" altLang="en-US" sz="1200" b="1" dirty="0">
                  <a:solidFill>
                    <a:srgbClr val="FFFFFF"/>
                  </a:solidFill>
                  <a:ea typeface="Times New Roman" pitchFamily="18" charset="0"/>
                  <a:cs typeface="Arial" pitchFamily="34" charset="0"/>
                </a:rPr>
                <a:t>Animal Order</a:t>
              </a:r>
              <a:endParaRPr lang="en-US" altLang="en-US" dirty="0">
                <a:solidFill>
                  <a:srgbClr val="FFFFFF"/>
                </a:solidFill>
                <a:ea typeface="Times New Roman" pitchFamily="18" charset="0"/>
                <a:cs typeface="Arial" pitchFamily="34" charset="0"/>
              </a:endParaRPr>
            </a:p>
          </p:txBody>
        </p:sp>
        <p:sp>
          <p:nvSpPr>
            <p:cNvPr id="13373" name="Text Box 146"/>
            <p:cNvSpPr txBox="1">
              <a:spLocks noChangeArrowheads="1"/>
            </p:cNvSpPr>
            <p:nvPr/>
          </p:nvSpPr>
          <p:spPr bwMode="auto">
            <a:xfrm>
              <a:off x="9387" y="7956"/>
              <a:ext cx="481" cy="534"/>
            </a:xfrm>
            <a:prstGeom prst="rect">
              <a:avLst/>
            </a:prstGeom>
            <a:solidFill>
              <a:srgbClr val="FFFFFF"/>
            </a:solidFill>
            <a:ln w="9525">
              <a:solidFill>
                <a:srgbClr val="FFFFFF"/>
              </a:solidFill>
              <a:miter lim="800000"/>
              <a:headEnd/>
              <a:tailEnd/>
            </a:ln>
          </p:spPr>
          <p:txBody>
            <a:bodyPr/>
            <a:lstStyle/>
            <a:p>
              <a:r>
                <a:rPr lang="en-US" altLang="en-US" sz="2000">
                  <a:solidFill>
                    <a:srgbClr val="000000"/>
                  </a:solidFill>
                  <a:ea typeface="Times New Roman" pitchFamily="18" charset="0"/>
                  <a:cs typeface="Arial" pitchFamily="34" charset="0"/>
                </a:rPr>
                <a:t>+</a:t>
              </a:r>
              <a:endParaRPr lang="en-US" altLang="en-US">
                <a:solidFill>
                  <a:srgbClr val="000000"/>
                </a:solidFill>
                <a:ea typeface="Times New Roman" pitchFamily="18" charset="0"/>
                <a:cs typeface="Arial" pitchFamily="34" charset="0"/>
              </a:endParaRPr>
            </a:p>
          </p:txBody>
        </p:sp>
        <p:cxnSp>
          <p:nvCxnSpPr>
            <p:cNvPr id="13374" name="AutoShape 145"/>
            <p:cNvCxnSpPr>
              <a:cxnSpLocks noChangeShapeType="1"/>
            </p:cNvCxnSpPr>
            <p:nvPr/>
          </p:nvCxnSpPr>
          <p:spPr bwMode="auto">
            <a:xfrm flipH="1">
              <a:off x="8673" y="5129"/>
              <a:ext cx="2199" cy="1960"/>
            </a:xfrm>
            <a:prstGeom prst="bentConnector3">
              <a:avLst>
                <a:gd name="adj1" fmla="val -16324"/>
              </a:avLst>
            </a:prstGeom>
            <a:noFill/>
            <a:ln w="9525">
              <a:solidFill>
                <a:srgbClr val="000000"/>
              </a:solidFill>
              <a:miter lim="800000"/>
              <a:headEnd/>
              <a:tailEnd type="triangle" w="med" len="med"/>
            </a:ln>
          </p:spPr>
        </p:cxnSp>
        <p:cxnSp>
          <p:nvCxnSpPr>
            <p:cNvPr id="13375" name="AutoShape 144"/>
            <p:cNvCxnSpPr>
              <a:cxnSpLocks noChangeShapeType="1"/>
            </p:cNvCxnSpPr>
            <p:nvPr/>
          </p:nvCxnSpPr>
          <p:spPr bwMode="auto">
            <a:xfrm flipV="1">
              <a:off x="6489" y="7089"/>
              <a:ext cx="1644" cy="2703"/>
            </a:xfrm>
            <a:prstGeom prst="bentConnector3">
              <a:avLst>
                <a:gd name="adj1" fmla="val 50000"/>
              </a:avLst>
            </a:prstGeom>
            <a:noFill/>
            <a:ln w="9525">
              <a:solidFill>
                <a:srgbClr val="000000"/>
              </a:solidFill>
              <a:miter lim="800000"/>
              <a:headEnd/>
              <a:tailEnd type="triangle" w="med" len="med"/>
            </a:ln>
          </p:spPr>
        </p:cxnSp>
        <p:cxnSp>
          <p:nvCxnSpPr>
            <p:cNvPr id="13376" name="AutoShape 143"/>
            <p:cNvCxnSpPr>
              <a:cxnSpLocks noChangeShapeType="1"/>
            </p:cNvCxnSpPr>
            <p:nvPr/>
          </p:nvCxnSpPr>
          <p:spPr bwMode="auto">
            <a:xfrm flipV="1">
              <a:off x="6489" y="8223"/>
              <a:ext cx="2898" cy="2488"/>
            </a:xfrm>
            <a:prstGeom prst="bentConnector3">
              <a:avLst>
                <a:gd name="adj1" fmla="val 50000"/>
              </a:avLst>
            </a:prstGeom>
            <a:noFill/>
            <a:ln w="9525">
              <a:solidFill>
                <a:srgbClr val="000000"/>
              </a:solidFill>
              <a:miter lim="800000"/>
              <a:headEnd/>
              <a:tailEnd type="triangle" w="med" len="med"/>
            </a:ln>
          </p:spPr>
        </p:cxnSp>
        <p:cxnSp>
          <p:nvCxnSpPr>
            <p:cNvPr id="13377" name="AutoShape 142"/>
            <p:cNvCxnSpPr>
              <a:cxnSpLocks noChangeShapeType="1"/>
            </p:cNvCxnSpPr>
            <p:nvPr/>
          </p:nvCxnSpPr>
          <p:spPr bwMode="auto">
            <a:xfrm flipH="1">
              <a:off x="9868" y="5129"/>
              <a:ext cx="1004" cy="3094"/>
            </a:xfrm>
            <a:prstGeom prst="bentConnector3">
              <a:avLst>
                <a:gd name="adj1" fmla="val -35759"/>
              </a:avLst>
            </a:prstGeom>
            <a:noFill/>
            <a:ln w="9525">
              <a:solidFill>
                <a:srgbClr val="000000"/>
              </a:solidFill>
              <a:miter lim="800000"/>
              <a:headEnd/>
              <a:tailEnd type="triangle" w="med" len="med"/>
            </a:ln>
          </p:spPr>
        </p:cxnSp>
        <p:grpSp>
          <p:nvGrpSpPr>
            <p:cNvPr id="6" name="Group 136"/>
            <p:cNvGrpSpPr>
              <a:grpSpLocks/>
            </p:cNvGrpSpPr>
            <p:nvPr/>
          </p:nvGrpSpPr>
          <p:grpSpPr bwMode="auto">
            <a:xfrm>
              <a:off x="3474" y="2725"/>
              <a:ext cx="3780" cy="1973"/>
              <a:chOff x="3600" y="2704"/>
              <a:chExt cx="3780" cy="1973"/>
            </a:xfrm>
          </p:grpSpPr>
          <p:sp>
            <p:nvSpPr>
              <p:cNvPr id="13386" name="Text Box 141"/>
              <p:cNvSpPr txBox="1">
                <a:spLocks noChangeArrowheads="1"/>
              </p:cNvSpPr>
              <p:nvPr/>
            </p:nvSpPr>
            <p:spPr bwMode="auto">
              <a:xfrm>
                <a:off x="3600" y="2704"/>
                <a:ext cx="180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Limited in size</a:t>
                </a:r>
                <a:endParaRPr lang="en-US" altLang="en-US">
                  <a:solidFill>
                    <a:srgbClr val="000000"/>
                  </a:solidFill>
                  <a:ea typeface="Times New Roman" pitchFamily="18" charset="0"/>
                  <a:cs typeface="Arial" pitchFamily="34" charset="0"/>
                </a:endParaRPr>
              </a:p>
            </p:txBody>
          </p:sp>
          <p:sp>
            <p:nvSpPr>
              <p:cNvPr id="13387" name="Text Box 140"/>
              <p:cNvSpPr txBox="1">
                <a:spLocks noChangeArrowheads="1"/>
              </p:cNvSpPr>
              <p:nvPr/>
            </p:nvSpPr>
            <p:spPr bwMode="auto">
              <a:xfrm>
                <a:off x="3600" y="3064"/>
                <a:ext cx="1260" cy="35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Activity</a:t>
                </a:r>
                <a:endParaRPr lang="en-US" altLang="en-US">
                  <a:solidFill>
                    <a:srgbClr val="000000"/>
                  </a:solidFill>
                  <a:ea typeface="Times New Roman" pitchFamily="18" charset="0"/>
                  <a:cs typeface="Arial" pitchFamily="34" charset="0"/>
                </a:endParaRPr>
              </a:p>
            </p:txBody>
          </p:sp>
          <p:sp>
            <p:nvSpPr>
              <p:cNvPr id="13388" name="Text Box 139"/>
              <p:cNvSpPr txBox="1">
                <a:spLocks noChangeArrowheads="1"/>
              </p:cNvSpPr>
              <p:nvPr/>
            </p:nvSpPr>
            <p:spPr bwMode="auto">
              <a:xfrm>
                <a:off x="3600" y="3422"/>
                <a:ext cx="1800" cy="538"/>
              </a:xfrm>
              <a:prstGeom prst="rect">
                <a:avLst/>
              </a:prstGeom>
              <a:solidFill>
                <a:srgbClr val="FFFFFF"/>
              </a:solidFill>
              <a:ln w="9525">
                <a:solidFill>
                  <a:srgbClr val="FFFFFF"/>
                </a:solidFill>
                <a:miter lim="800000"/>
                <a:headEnd/>
                <a:tailEnd/>
              </a:ln>
            </p:spPr>
            <p:txBody>
              <a:bodyPr/>
              <a:lstStyle/>
              <a:p>
                <a:r>
                  <a:rPr lang="en-US" altLang="en-US" sz="1000" dirty="0">
                    <a:solidFill>
                      <a:srgbClr val="000000"/>
                    </a:solidFill>
                    <a:ea typeface="Times New Roman" pitchFamily="18" charset="0"/>
                    <a:cs typeface="Arial" pitchFamily="34" charset="0"/>
                  </a:rPr>
                  <a:t>Self-organized </a:t>
                </a:r>
                <a:endParaRPr lang="en-US" altLang="en-US" dirty="0">
                  <a:solidFill>
                    <a:srgbClr val="000000"/>
                  </a:solidFill>
                  <a:ea typeface="Times New Roman" pitchFamily="18" charset="0"/>
                  <a:cs typeface="Arial" pitchFamily="34" charset="0"/>
                </a:endParaRPr>
              </a:p>
            </p:txBody>
          </p:sp>
          <p:sp>
            <p:nvSpPr>
              <p:cNvPr id="13389" name="Text Box 138"/>
              <p:cNvSpPr txBox="1">
                <a:spLocks noChangeArrowheads="1"/>
              </p:cNvSpPr>
              <p:nvPr/>
            </p:nvSpPr>
            <p:spPr bwMode="auto">
              <a:xfrm>
                <a:off x="3600" y="3782"/>
                <a:ext cx="1440" cy="535"/>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Energized</a:t>
                </a:r>
                <a:endParaRPr lang="en-US" altLang="en-US">
                  <a:solidFill>
                    <a:srgbClr val="000000"/>
                  </a:solidFill>
                  <a:ea typeface="Times New Roman" pitchFamily="18" charset="0"/>
                  <a:cs typeface="Arial" pitchFamily="34" charset="0"/>
                </a:endParaRPr>
              </a:p>
            </p:txBody>
          </p:sp>
          <p:sp>
            <p:nvSpPr>
              <p:cNvPr id="13390" name="Text Box 137"/>
              <p:cNvSpPr txBox="1">
                <a:spLocks noChangeArrowheads="1"/>
              </p:cNvSpPr>
              <p:nvPr/>
            </p:nvSpPr>
            <p:spPr bwMode="auto">
              <a:xfrm>
                <a:off x="3600" y="4143"/>
                <a:ext cx="3780" cy="534"/>
              </a:xfrm>
              <a:prstGeom prst="rect">
                <a:avLst/>
              </a:prstGeom>
              <a:solidFill>
                <a:srgbClr val="FFFFFF"/>
              </a:solidFill>
              <a:ln w="9525">
                <a:solidFill>
                  <a:srgbClr val="FFFFFF"/>
                </a:solidFill>
                <a:miter lim="800000"/>
                <a:headEnd/>
                <a:tailEnd/>
              </a:ln>
            </p:spPr>
            <p:txBody>
              <a:bodyPr/>
              <a:lstStyle/>
              <a:p>
                <a:r>
                  <a:rPr lang="en-US" altLang="en-US" sz="1000">
                    <a:solidFill>
                      <a:srgbClr val="000000"/>
                    </a:solidFill>
                    <a:ea typeface="Times New Roman" pitchFamily="18" charset="0"/>
                    <a:cs typeface="Arial" pitchFamily="34" charset="0"/>
                  </a:rPr>
                  <a:t>Recognises the relationship and fulfills </a:t>
                </a:r>
                <a:endParaRPr lang="en-US" altLang="en-US">
                  <a:solidFill>
                    <a:srgbClr val="000000"/>
                  </a:solidFill>
                  <a:ea typeface="Times New Roman" pitchFamily="18" charset="0"/>
                  <a:cs typeface="Arial" pitchFamily="34" charset="0"/>
                </a:endParaRPr>
              </a:p>
            </p:txBody>
          </p:sp>
        </p:grpSp>
        <p:sp>
          <p:nvSpPr>
            <p:cNvPr id="13379" name="Rectangle 134"/>
            <p:cNvSpPr>
              <a:spLocks noChangeArrowheads="1"/>
            </p:cNvSpPr>
            <p:nvPr/>
          </p:nvSpPr>
          <p:spPr bwMode="auto">
            <a:xfrm>
              <a:off x="8574" y="8490"/>
              <a:ext cx="2160" cy="543"/>
            </a:xfrm>
            <a:prstGeom prst="rect">
              <a:avLst/>
            </a:prstGeom>
            <a:solidFill>
              <a:srgbClr val="002060"/>
            </a:solidFill>
            <a:ln w="9525">
              <a:noFill/>
              <a:miter lim="800000"/>
              <a:headEnd/>
              <a:tailEnd/>
            </a:ln>
          </p:spPr>
          <p:txBody>
            <a:bodyPr/>
            <a:lstStyle/>
            <a:p>
              <a:pPr algn="ctr"/>
              <a:r>
                <a:rPr lang="en-US" altLang="en-US" sz="1200" b="1" dirty="0">
                  <a:solidFill>
                    <a:srgbClr val="FFFFFF"/>
                  </a:solidFill>
                  <a:ea typeface="Times New Roman" pitchFamily="18" charset="0"/>
                  <a:cs typeface="Arial" pitchFamily="34" charset="0"/>
                </a:rPr>
                <a:t>Human Order</a:t>
              </a:r>
              <a:endParaRPr lang="en-US" altLang="en-US" dirty="0">
                <a:solidFill>
                  <a:srgbClr val="FFFFFF"/>
                </a:solidFill>
                <a:ea typeface="Times New Roman" pitchFamily="18" charset="0"/>
                <a:cs typeface="Arial" pitchFamily="34" charset="0"/>
              </a:endParaRPr>
            </a:p>
          </p:txBody>
        </p:sp>
        <p:sp>
          <p:nvSpPr>
            <p:cNvPr id="13380" name="Line 132"/>
            <p:cNvSpPr>
              <a:spLocks noChangeShapeType="1"/>
            </p:cNvSpPr>
            <p:nvPr/>
          </p:nvSpPr>
          <p:spPr bwMode="auto">
            <a:xfrm>
              <a:off x="2340" y="4677"/>
              <a:ext cx="6243" cy="1"/>
            </a:xfrm>
            <a:prstGeom prst="line">
              <a:avLst/>
            </a:prstGeom>
            <a:noFill/>
            <a:ln w="9525">
              <a:solidFill>
                <a:srgbClr val="000000"/>
              </a:solidFill>
              <a:round/>
              <a:headEnd/>
              <a:tailEnd/>
            </a:ln>
          </p:spPr>
          <p:txBody>
            <a:bodyPr/>
            <a:lstStyle/>
            <a:p>
              <a:endParaRPr lang="en-IN"/>
            </a:p>
          </p:txBody>
        </p:sp>
        <p:sp>
          <p:nvSpPr>
            <p:cNvPr id="13381" name="Line 130"/>
            <p:cNvSpPr>
              <a:spLocks noChangeShapeType="1"/>
            </p:cNvSpPr>
            <p:nvPr/>
          </p:nvSpPr>
          <p:spPr bwMode="auto">
            <a:xfrm flipH="1">
              <a:off x="9663" y="10438"/>
              <a:ext cx="9" cy="822"/>
            </a:xfrm>
            <a:prstGeom prst="line">
              <a:avLst/>
            </a:prstGeom>
            <a:noFill/>
            <a:ln w="9525">
              <a:solidFill>
                <a:srgbClr val="000000"/>
              </a:solidFill>
              <a:round/>
              <a:headEnd/>
              <a:tailEnd type="triangle" w="med" len="med"/>
            </a:ln>
          </p:spPr>
          <p:txBody>
            <a:bodyPr/>
            <a:lstStyle/>
            <a:p>
              <a:endParaRPr lang="en-IN"/>
            </a:p>
          </p:txBody>
        </p:sp>
        <p:sp>
          <p:nvSpPr>
            <p:cNvPr id="13382" name="Line 126"/>
            <p:cNvSpPr>
              <a:spLocks noChangeShapeType="1"/>
            </p:cNvSpPr>
            <p:nvPr/>
          </p:nvSpPr>
          <p:spPr bwMode="auto">
            <a:xfrm>
              <a:off x="5500" y="7356"/>
              <a:ext cx="2" cy="359"/>
            </a:xfrm>
            <a:prstGeom prst="line">
              <a:avLst/>
            </a:prstGeom>
            <a:noFill/>
            <a:ln w="9525">
              <a:solidFill>
                <a:srgbClr val="000000"/>
              </a:solidFill>
              <a:round/>
              <a:headEnd/>
              <a:tailEnd type="triangle" w="med" len="med"/>
            </a:ln>
          </p:spPr>
          <p:txBody>
            <a:bodyPr/>
            <a:lstStyle/>
            <a:p>
              <a:endParaRPr lang="en-IN"/>
            </a:p>
          </p:txBody>
        </p:sp>
        <p:sp>
          <p:nvSpPr>
            <p:cNvPr id="13383" name="Line 125"/>
            <p:cNvSpPr>
              <a:spLocks noChangeShapeType="1"/>
            </p:cNvSpPr>
            <p:nvPr/>
          </p:nvSpPr>
          <p:spPr bwMode="auto">
            <a:xfrm>
              <a:off x="5499" y="8256"/>
              <a:ext cx="1" cy="360"/>
            </a:xfrm>
            <a:prstGeom prst="line">
              <a:avLst/>
            </a:prstGeom>
            <a:noFill/>
            <a:ln w="9525">
              <a:solidFill>
                <a:srgbClr val="000000"/>
              </a:solidFill>
              <a:round/>
              <a:headEnd/>
              <a:tailEnd type="triangle" w="med" len="med"/>
            </a:ln>
          </p:spPr>
          <p:txBody>
            <a:bodyPr/>
            <a:lstStyle/>
            <a:p>
              <a:endParaRPr lang="en-IN"/>
            </a:p>
          </p:txBody>
        </p:sp>
        <p:sp>
          <p:nvSpPr>
            <p:cNvPr id="13384" name="Line 124"/>
            <p:cNvSpPr>
              <a:spLocks noChangeShapeType="1"/>
            </p:cNvSpPr>
            <p:nvPr/>
          </p:nvSpPr>
          <p:spPr bwMode="auto">
            <a:xfrm>
              <a:off x="5500" y="9155"/>
              <a:ext cx="1" cy="360"/>
            </a:xfrm>
            <a:prstGeom prst="line">
              <a:avLst/>
            </a:prstGeom>
            <a:noFill/>
            <a:ln w="9525">
              <a:solidFill>
                <a:srgbClr val="000000"/>
              </a:solidFill>
              <a:round/>
              <a:headEnd/>
              <a:tailEnd type="triangle" w="med" len="med"/>
            </a:ln>
          </p:spPr>
          <p:txBody>
            <a:bodyPr/>
            <a:lstStyle/>
            <a:p>
              <a:endParaRPr lang="en-IN"/>
            </a:p>
          </p:txBody>
        </p:sp>
        <p:sp>
          <p:nvSpPr>
            <p:cNvPr id="13385" name="Line 123"/>
            <p:cNvSpPr>
              <a:spLocks noChangeShapeType="1"/>
            </p:cNvSpPr>
            <p:nvPr/>
          </p:nvSpPr>
          <p:spPr bwMode="auto">
            <a:xfrm>
              <a:off x="8221" y="1941"/>
              <a:ext cx="2" cy="216"/>
            </a:xfrm>
            <a:prstGeom prst="line">
              <a:avLst/>
            </a:prstGeom>
            <a:noFill/>
            <a:ln w="9525">
              <a:solidFill>
                <a:srgbClr val="000000"/>
              </a:solidFill>
              <a:round/>
              <a:headEnd/>
              <a:tailEnd type="triangle" w="med" len="med"/>
            </a:ln>
          </p:spPr>
          <p:txBody>
            <a:bodyPr/>
            <a:lstStyle/>
            <a:p>
              <a:endParaRPr lang="en-IN"/>
            </a:p>
          </p:txBody>
        </p:sp>
      </p:grpSp>
      <p:sp>
        <p:nvSpPr>
          <p:cNvPr id="13315" name="Rectangle 195"/>
          <p:cNvSpPr>
            <a:spLocks noChangeArrowheads="1"/>
          </p:cNvSpPr>
          <p:nvPr/>
        </p:nvSpPr>
        <p:spPr bwMode="auto">
          <a:xfrm>
            <a:off x="852488" y="642922"/>
            <a:ext cx="6500812" cy="571500"/>
          </a:xfrm>
          <a:prstGeom prst="rect">
            <a:avLst/>
          </a:prstGeom>
          <a:solidFill>
            <a:srgbClr val="002060"/>
          </a:solidFill>
          <a:ln w="9525">
            <a:noFill/>
            <a:miter lim="800000"/>
            <a:headEnd/>
            <a:tailEnd/>
          </a:ln>
        </p:spPr>
        <p:txBody>
          <a:bodyPr/>
          <a:lstStyle/>
          <a:p>
            <a:pPr algn="ctr"/>
            <a:r>
              <a:rPr lang="en-US" altLang="en-US" sz="1400" b="1" dirty="0">
                <a:solidFill>
                  <a:srgbClr val="FFFFFF"/>
                </a:solidFill>
                <a:ea typeface="Times New Roman" pitchFamily="18" charset="0"/>
                <a:cs typeface="Arial" pitchFamily="34" charset="0"/>
              </a:rPr>
              <a:t>Existence</a:t>
            </a:r>
            <a:endParaRPr lang="en-US" altLang="en-US" sz="1400" dirty="0">
              <a:solidFill>
                <a:srgbClr val="FFFFFF"/>
              </a:solidFill>
              <a:ea typeface="Times New Roman" pitchFamily="18" charset="0"/>
              <a:cs typeface="Arial" pitchFamily="34" charset="0"/>
            </a:endParaRPr>
          </a:p>
          <a:p>
            <a:pPr algn="ctr"/>
            <a:r>
              <a:rPr lang="en-US" altLang="en-US" sz="1400" b="1" dirty="0">
                <a:solidFill>
                  <a:srgbClr val="FFFFFF"/>
                </a:solidFill>
                <a:ea typeface="Times New Roman" pitchFamily="18" charset="0"/>
                <a:cs typeface="Arial" pitchFamily="34" charset="0"/>
              </a:rPr>
              <a:t>(= Co-existence = Units submerged in Space)</a:t>
            </a:r>
            <a:endParaRPr lang="en-US" altLang="en-US" dirty="0">
              <a:solidFill>
                <a:srgbClr val="FFFFFF"/>
              </a:solidFill>
              <a:ea typeface="Times New Roman" pitchFamily="18" charset="0"/>
              <a:cs typeface="Arial" pitchFamily="34" charset="0"/>
            </a:endParaRPr>
          </a:p>
        </p:txBody>
      </p:sp>
      <p:sp>
        <p:nvSpPr>
          <p:cNvPr id="13316" name="Rectangle 196"/>
          <p:cNvSpPr>
            <a:spLocks noChangeArrowheads="1"/>
          </p:cNvSpPr>
          <p:nvPr/>
        </p:nvSpPr>
        <p:spPr bwMode="auto">
          <a:xfrm>
            <a:off x="685800" y="-76200"/>
            <a:ext cx="9144000" cy="457200"/>
          </a:xfrm>
          <a:prstGeom prst="rect">
            <a:avLst/>
          </a:prstGeom>
          <a:noFill/>
          <a:ln w="9525">
            <a:noFill/>
            <a:miter lim="800000"/>
            <a:headEnd/>
            <a:tailEnd/>
          </a:ln>
        </p:spPr>
        <p:txBody>
          <a:bodyPr wrap="none" anchor="ctr">
            <a:spAutoFit/>
          </a:bodyPr>
          <a:lstStyle/>
          <a:p>
            <a:endParaRPr lang="en-US" altLang="en-US">
              <a:solidFill>
                <a:srgbClr val="000000"/>
              </a:solidFill>
            </a:endParaRPr>
          </a:p>
        </p:txBody>
      </p:sp>
      <p:sp>
        <p:nvSpPr>
          <p:cNvPr id="13317" name="Rectangle 237"/>
          <p:cNvSpPr>
            <a:spLocks noChangeArrowheads="1"/>
          </p:cNvSpPr>
          <p:nvPr/>
        </p:nvSpPr>
        <p:spPr bwMode="auto">
          <a:xfrm>
            <a:off x="685800" y="7569200"/>
            <a:ext cx="9144000" cy="0"/>
          </a:xfrm>
          <a:prstGeom prst="rect">
            <a:avLst/>
          </a:prstGeom>
          <a:noFill/>
          <a:ln w="9525">
            <a:noFill/>
            <a:miter lim="800000"/>
            <a:headEnd/>
            <a:tailEnd/>
          </a:ln>
        </p:spPr>
        <p:txBody>
          <a:bodyPr wrap="none" anchor="ctr">
            <a:spAutoFit/>
          </a:bodyPr>
          <a:lstStyle/>
          <a:p>
            <a:endParaRPr lang="en-US" altLang="en-US" sz="1200">
              <a:solidFill>
                <a:srgbClr val="000000"/>
              </a:solidFill>
              <a:cs typeface="Times New Roman" pitchFamily="18" charset="0"/>
            </a:endParaRPr>
          </a:p>
          <a:p>
            <a:r>
              <a:rPr lang="en-US" altLang="en-US" sz="1200">
                <a:solidFill>
                  <a:srgbClr val="000000"/>
                </a:solidFill>
                <a:cs typeface="Times New Roman" pitchFamily="18" charset="0"/>
              </a:rPr>
              <a:t/>
            </a:r>
            <a:br>
              <a:rPr lang="en-US" altLang="en-US" sz="1200">
                <a:solidFill>
                  <a:srgbClr val="000000"/>
                </a:solidFill>
                <a:cs typeface="Times New Roman" pitchFamily="18" charset="0"/>
              </a:rPr>
            </a:br>
            <a:endParaRPr lang="en-US" altLang="en-US">
              <a:solidFill>
                <a:srgbClr val="000000"/>
              </a:solidFill>
            </a:endParaRPr>
          </a:p>
        </p:txBody>
      </p:sp>
      <p:sp>
        <p:nvSpPr>
          <p:cNvPr id="13318" name="Text Box 121"/>
          <p:cNvSpPr txBox="1">
            <a:spLocks noChangeArrowheads="1"/>
          </p:cNvSpPr>
          <p:nvPr/>
        </p:nvSpPr>
        <p:spPr bwMode="auto">
          <a:xfrm>
            <a:off x="1219200" y="5405455"/>
            <a:ext cx="3086100" cy="428628"/>
          </a:xfrm>
          <a:prstGeom prst="rect">
            <a:avLst/>
          </a:prstGeom>
          <a:noFill/>
          <a:ln w="9525">
            <a:noFill/>
            <a:miter lim="800000"/>
            <a:headEnd/>
            <a:tailEnd/>
          </a:ln>
        </p:spPr>
        <p:txBody>
          <a:bodyPr/>
          <a:lstStyle/>
          <a:p>
            <a:pPr algn="ctr"/>
            <a:r>
              <a:rPr lang="en-US" altLang="en-US" sz="1400" b="1" dirty="0">
                <a:solidFill>
                  <a:srgbClr val="FF0000"/>
                </a:solidFill>
                <a:ea typeface="Times New Roman" pitchFamily="18" charset="0"/>
                <a:cs typeface="Arial" pitchFamily="34" charset="0"/>
              </a:rPr>
              <a:t>Cyclic</a:t>
            </a:r>
            <a:endParaRPr lang="en-US" altLang="en-US" sz="1400" dirty="0">
              <a:solidFill>
                <a:srgbClr val="FF0000"/>
              </a:solidFill>
              <a:ea typeface="Times New Roman" pitchFamily="18" charset="0"/>
              <a:cs typeface="Arial" pitchFamily="34" charset="0"/>
            </a:endParaRPr>
          </a:p>
          <a:p>
            <a:pPr algn="ctr"/>
            <a:r>
              <a:rPr lang="en-US" altLang="en-US" sz="1400" b="1" dirty="0">
                <a:solidFill>
                  <a:srgbClr val="FF0000"/>
                </a:solidFill>
                <a:ea typeface="Times New Roman" pitchFamily="18" charset="0"/>
                <a:cs typeface="Arial" pitchFamily="34" charset="0"/>
              </a:rPr>
              <a:t>Composition – Decomposition</a:t>
            </a:r>
            <a:endParaRPr lang="en-US" altLang="en-US" sz="1400" dirty="0">
              <a:solidFill>
                <a:srgbClr val="FF0000"/>
              </a:solidFill>
              <a:ea typeface="Times New Roman" pitchFamily="18" charset="0"/>
              <a:cs typeface="Arial" pitchFamily="34" charset="0"/>
            </a:endParaRPr>
          </a:p>
          <a:p>
            <a:pPr algn="ctr"/>
            <a:endParaRPr lang="en-US" altLang="en-US" sz="1400" dirty="0">
              <a:solidFill>
                <a:srgbClr val="FF0000"/>
              </a:solidFill>
              <a:ea typeface="Times New Roman" pitchFamily="18" charset="0"/>
              <a:cs typeface="Arial" pitchFamily="34" charset="0"/>
            </a:endParaRPr>
          </a:p>
          <a:p>
            <a:endParaRPr lang="en-US" altLang="en-US" dirty="0">
              <a:solidFill>
                <a:srgbClr val="000000"/>
              </a:solidFill>
              <a:ea typeface="Times New Roman" pitchFamily="18" charset="0"/>
              <a:cs typeface="Arial" pitchFamily="34" charset="0"/>
            </a:endParaRPr>
          </a:p>
        </p:txBody>
      </p:sp>
      <p:sp>
        <p:nvSpPr>
          <p:cNvPr id="13319" name="Line 130"/>
          <p:cNvSpPr>
            <a:spLocks noChangeShapeType="1"/>
          </p:cNvSpPr>
          <p:nvPr/>
        </p:nvSpPr>
        <p:spPr bwMode="auto">
          <a:xfrm flipH="1">
            <a:off x="6477000" y="4643446"/>
            <a:ext cx="6350" cy="522288"/>
          </a:xfrm>
          <a:prstGeom prst="line">
            <a:avLst/>
          </a:prstGeom>
          <a:noFill/>
          <a:ln w="9525">
            <a:solidFill>
              <a:srgbClr val="000000"/>
            </a:solidFill>
            <a:round/>
            <a:headEnd/>
            <a:tailEnd type="triangle" w="med" len="med"/>
          </a:ln>
        </p:spPr>
        <p:txBody>
          <a:bodyPr/>
          <a:lstStyle/>
          <a:p>
            <a:endParaRPr lang="en-IN"/>
          </a:p>
        </p:txBody>
      </p:sp>
      <p:sp>
        <p:nvSpPr>
          <p:cNvPr id="13320" name="Text Box 135"/>
          <p:cNvSpPr txBox="1">
            <a:spLocks noChangeArrowheads="1"/>
          </p:cNvSpPr>
          <p:nvPr/>
        </p:nvSpPr>
        <p:spPr bwMode="auto">
          <a:xfrm>
            <a:off x="6461125" y="4572008"/>
            <a:ext cx="1463675" cy="573088"/>
          </a:xfrm>
          <a:prstGeom prst="rect">
            <a:avLst/>
          </a:prstGeom>
          <a:noFill/>
          <a:ln w="9525">
            <a:noFill/>
            <a:miter lim="800000"/>
            <a:headEnd/>
            <a:tailEnd/>
          </a:ln>
        </p:spPr>
        <p:txBody>
          <a:bodyPr/>
          <a:lstStyle/>
          <a:p>
            <a:r>
              <a:rPr lang="en-US" altLang="en-US" sz="1000" dirty="0">
                <a:solidFill>
                  <a:srgbClr val="000000"/>
                </a:solidFill>
                <a:ea typeface="Times New Roman" pitchFamily="18" charset="0"/>
                <a:cs typeface="Arial" pitchFamily="34" charset="0"/>
              </a:rPr>
              <a:t>Right Understanding</a:t>
            </a:r>
            <a:endParaRPr lang="en-US" altLang="en-US" sz="1400" dirty="0">
              <a:solidFill>
                <a:srgbClr val="000000"/>
              </a:solidFill>
              <a:ea typeface="Times New Roman" pitchFamily="18" charset="0"/>
              <a:cs typeface="Arial" pitchFamily="34" charset="0"/>
            </a:endParaRPr>
          </a:p>
        </p:txBody>
      </p:sp>
      <p:sp>
        <p:nvSpPr>
          <p:cNvPr id="13321" name="Text Box 131"/>
          <p:cNvSpPr txBox="1">
            <a:spLocks noChangeArrowheads="1"/>
          </p:cNvSpPr>
          <p:nvPr/>
        </p:nvSpPr>
        <p:spPr bwMode="auto">
          <a:xfrm>
            <a:off x="6469063" y="5000636"/>
            <a:ext cx="2141537" cy="581025"/>
          </a:xfrm>
          <a:prstGeom prst="rect">
            <a:avLst/>
          </a:prstGeom>
          <a:noFill/>
          <a:ln w="9525">
            <a:noFill/>
            <a:miter lim="800000"/>
            <a:headEnd/>
            <a:tailEnd/>
          </a:ln>
        </p:spPr>
        <p:txBody>
          <a:bodyPr/>
          <a:lstStyle/>
          <a:p>
            <a:r>
              <a:rPr lang="en-US" altLang="en-US" sz="1000" dirty="0">
                <a:solidFill>
                  <a:srgbClr val="000000"/>
                </a:solidFill>
                <a:ea typeface="Times New Roman" pitchFamily="18" charset="0"/>
                <a:cs typeface="Arial" pitchFamily="34" charset="0"/>
              </a:rPr>
              <a:t>Living with Right Understanding, Right Feeling &amp; Right Thought</a:t>
            </a:r>
          </a:p>
        </p:txBody>
      </p:sp>
      <p:sp>
        <p:nvSpPr>
          <p:cNvPr id="13322" name="Text Box 127"/>
          <p:cNvSpPr txBox="1">
            <a:spLocks noChangeArrowheads="1"/>
          </p:cNvSpPr>
          <p:nvPr/>
        </p:nvSpPr>
        <p:spPr bwMode="auto">
          <a:xfrm>
            <a:off x="4724400" y="5500703"/>
            <a:ext cx="3962400" cy="357190"/>
          </a:xfrm>
          <a:prstGeom prst="rect">
            <a:avLst/>
          </a:prstGeom>
          <a:noFill/>
          <a:ln w="9525">
            <a:noFill/>
            <a:miter lim="800000"/>
            <a:headEnd/>
            <a:tailEnd/>
          </a:ln>
        </p:spPr>
        <p:txBody>
          <a:bodyPr/>
          <a:lstStyle/>
          <a:p>
            <a:pPr algn="ctr"/>
            <a:r>
              <a:rPr lang="en-US" altLang="en-US" sz="1200" b="1" dirty="0">
                <a:solidFill>
                  <a:srgbClr val="000000"/>
                </a:solidFill>
                <a:ea typeface="Times New Roman" pitchFamily="18" charset="0"/>
                <a:cs typeface="Arial" pitchFamily="34" charset="0"/>
              </a:rPr>
              <a:t>Conduct Completeness (Definite Human Conduct)</a:t>
            </a:r>
            <a:endParaRPr lang="en-US" altLang="en-US" sz="1400" dirty="0">
              <a:solidFill>
                <a:srgbClr val="000000"/>
              </a:solidFill>
              <a:ea typeface="Times New Roman" pitchFamily="18" charset="0"/>
              <a:cs typeface="Arial" pitchFamily="34" charset="0"/>
            </a:endParaRPr>
          </a:p>
        </p:txBody>
      </p:sp>
      <p:grpSp>
        <p:nvGrpSpPr>
          <p:cNvPr id="7" name="Group 85"/>
          <p:cNvGrpSpPr>
            <a:grpSpLocks/>
          </p:cNvGrpSpPr>
          <p:nvPr/>
        </p:nvGrpSpPr>
        <p:grpSpPr bwMode="auto">
          <a:xfrm>
            <a:off x="928662" y="5619768"/>
            <a:ext cx="381000" cy="306387"/>
            <a:chOff x="2475690" y="3657600"/>
            <a:chExt cx="381742" cy="306746"/>
          </a:xfrm>
        </p:grpSpPr>
        <p:sp>
          <p:nvSpPr>
            <p:cNvPr id="13332"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33"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grpSp>
        <p:nvGrpSpPr>
          <p:cNvPr id="8" name="Group 86"/>
          <p:cNvGrpSpPr>
            <a:grpSpLocks/>
          </p:cNvGrpSpPr>
          <p:nvPr/>
        </p:nvGrpSpPr>
        <p:grpSpPr bwMode="auto">
          <a:xfrm>
            <a:off x="4000496" y="5548330"/>
            <a:ext cx="381000" cy="306388"/>
            <a:chOff x="2475690" y="3657600"/>
            <a:chExt cx="381742" cy="306746"/>
          </a:xfrm>
        </p:grpSpPr>
        <p:sp>
          <p:nvSpPr>
            <p:cNvPr id="13330"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31"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grpSp>
        <p:nvGrpSpPr>
          <p:cNvPr id="9" name="Group 89"/>
          <p:cNvGrpSpPr>
            <a:grpSpLocks/>
          </p:cNvGrpSpPr>
          <p:nvPr/>
        </p:nvGrpSpPr>
        <p:grpSpPr bwMode="auto">
          <a:xfrm>
            <a:off x="2514600" y="3733800"/>
            <a:ext cx="381000" cy="306388"/>
            <a:chOff x="2475690" y="3657600"/>
            <a:chExt cx="381742" cy="306746"/>
          </a:xfrm>
        </p:grpSpPr>
        <p:sp>
          <p:nvSpPr>
            <p:cNvPr id="13328" name="AutoShape 128"/>
            <p:cNvSpPr>
              <a:spLocks noChangeArrowheads="1"/>
            </p:cNvSpPr>
            <p:nvPr/>
          </p:nvSpPr>
          <p:spPr bwMode="auto">
            <a:xfrm rot="10800000">
              <a:off x="2475690" y="36576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sp>
          <p:nvSpPr>
            <p:cNvPr id="13329" name="AutoShape 128"/>
            <p:cNvSpPr>
              <a:spLocks noChangeArrowheads="1"/>
            </p:cNvSpPr>
            <p:nvPr/>
          </p:nvSpPr>
          <p:spPr bwMode="auto">
            <a:xfrm>
              <a:off x="2514600" y="3810000"/>
              <a:ext cx="342832" cy="154346"/>
            </a:xfrm>
            <a:prstGeom prst="curvedUpArrow">
              <a:avLst>
                <a:gd name="adj1" fmla="val 18469"/>
                <a:gd name="adj2" fmla="val 67644"/>
                <a:gd name="adj3" fmla="val 15648"/>
              </a:avLst>
            </a:prstGeom>
            <a:solidFill>
              <a:srgbClr val="FFFFFF"/>
            </a:solidFill>
            <a:ln w="9525">
              <a:solidFill>
                <a:srgbClr val="000000"/>
              </a:solidFill>
              <a:miter lim="800000"/>
              <a:headEnd/>
              <a:tailEnd/>
            </a:ln>
          </p:spPr>
          <p:txBody>
            <a:bodyPr/>
            <a:lstStyle/>
            <a:p>
              <a:pPr eaLnBrk="1" hangingPunct="1"/>
              <a:endParaRPr lang="en-US" altLang="en-US">
                <a:solidFill>
                  <a:srgbClr val="000000"/>
                </a:solidFill>
              </a:endParaRPr>
            </a:p>
          </p:txBody>
        </p:sp>
      </p:grpSp>
      <p:sp>
        <p:nvSpPr>
          <p:cNvPr id="13326" name="Text Box 181"/>
          <p:cNvSpPr txBox="1">
            <a:spLocks noChangeArrowheads="1"/>
          </p:cNvSpPr>
          <p:nvPr/>
        </p:nvSpPr>
        <p:spPr bwMode="auto">
          <a:xfrm>
            <a:off x="4191000" y="2800350"/>
            <a:ext cx="685800" cy="304800"/>
          </a:xfrm>
          <a:prstGeom prst="rect">
            <a:avLst/>
          </a:prstGeom>
          <a:solidFill>
            <a:srgbClr val="FFFFFF"/>
          </a:solidFill>
          <a:ln w="9525">
            <a:solidFill>
              <a:srgbClr val="FFFFFF"/>
            </a:solidFill>
            <a:miter lim="800000"/>
            <a:headEnd/>
            <a:tailEnd/>
          </a:ln>
        </p:spPr>
        <p:txBody>
          <a:bodyPr/>
          <a:lstStyle/>
          <a:p>
            <a:r>
              <a:rPr lang="en-US" altLang="en-US" sz="1200" b="1">
                <a:solidFill>
                  <a:srgbClr val="000000"/>
                </a:solidFill>
                <a:ea typeface="Times New Roman" pitchFamily="18" charset="0"/>
                <a:cs typeface="Arial" pitchFamily="34" charset="0"/>
              </a:rPr>
              <a:t>Self (I)</a:t>
            </a:r>
            <a:endParaRPr lang="en-US" altLang="en-US" sz="2800" b="1">
              <a:solidFill>
                <a:srgbClr val="000000"/>
              </a:solidFill>
              <a:ea typeface="Times New Roman" pitchFamily="18" charset="0"/>
              <a:cs typeface="Arial" pitchFamily="34" charset="0"/>
            </a:endParaRPr>
          </a:p>
        </p:txBody>
      </p:sp>
      <p:sp>
        <p:nvSpPr>
          <p:cNvPr id="13327" name="Text Box 120"/>
          <p:cNvSpPr txBox="1">
            <a:spLocks noChangeArrowheads="1"/>
          </p:cNvSpPr>
          <p:nvPr/>
        </p:nvSpPr>
        <p:spPr bwMode="auto">
          <a:xfrm rot="-5400000">
            <a:off x="7569999" y="2502703"/>
            <a:ext cx="2286016" cy="423834"/>
          </a:xfrm>
          <a:prstGeom prst="rect">
            <a:avLst/>
          </a:prstGeom>
          <a:noFill/>
          <a:ln w="9525">
            <a:noFill/>
            <a:miter lim="800000"/>
            <a:headEnd/>
            <a:tailEnd/>
          </a:ln>
        </p:spPr>
        <p:txBody>
          <a:bodyPr/>
          <a:lstStyle/>
          <a:p>
            <a:pPr algn="ctr"/>
            <a:r>
              <a:rPr lang="en-US" altLang="en-US" sz="1400" b="1" dirty="0">
                <a:solidFill>
                  <a:srgbClr val="FF0000"/>
                </a:solidFill>
                <a:ea typeface="Times New Roman" pitchFamily="18" charset="0"/>
                <a:cs typeface="Arial" pitchFamily="34" charset="0"/>
              </a:rPr>
              <a:t>Development </a:t>
            </a:r>
            <a:endParaRPr lang="en-US" altLang="en-US" sz="1400" dirty="0">
              <a:solidFill>
                <a:srgbClr val="FF0000"/>
              </a:solidFill>
              <a:ea typeface="Times New Roman" pitchFamily="18" charset="0"/>
              <a:cs typeface="Arial" pitchFamily="34" charset="0"/>
            </a:endParaRPr>
          </a:p>
          <a:p>
            <a:pPr algn="ctr"/>
            <a:r>
              <a:rPr lang="en-US" altLang="en-US" sz="1400" b="1" dirty="0">
                <a:solidFill>
                  <a:srgbClr val="FF0000"/>
                </a:solidFill>
                <a:ea typeface="Times New Roman" pitchFamily="18" charset="0"/>
                <a:cs typeface="Arial" pitchFamily="34" charset="0"/>
              </a:rPr>
              <a:t>Not Cyclic</a:t>
            </a:r>
            <a:endParaRPr lang="en-US" altLang="en-US" sz="1600" b="1" dirty="0">
              <a:solidFill>
                <a:srgbClr val="FF0000"/>
              </a:solidFill>
              <a:latin typeface="Kruti Dev 010" pitchFamily="2" charset="0"/>
              <a:ea typeface="Times New Roman" pitchFamily="18" charset="0"/>
              <a:cs typeface="Arial" pitchFamily="34" charset="0"/>
            </a:endParaRPr>
          </a:p>
        </p:txBody>
      </p:sp>
      <p:sp>
        <p:nvSpPr>
          <p:cNvPr id="88" name="Title 1"/>
          <p:cNvSpPr txBox="1">
            <a:spLocks/>
          </p:cNvSpPr>
          <p:nvPr/>
        </p:nvSpPr>
        <p:spPr>
          <a:xfrm>
            <a:off x="1371600" y="0"/>
            <a:ext cx="7772400" cy="50004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solidFill>
                  <a:schemeClr val="tx1"/>
                </a:solidFill>
                <a:latin typeface="Arial" pitchFamily="34" charset="0"/>
                <a:cs typeface="Arial" pitchFamily="34" charset="0"/>
              </a:rPr>
              <a:t>Existence (CO4)</a:t>
            </a:r>
            <a:endParaRPr lang="en-US" sz="3200" b="1" dirty="0">
              <a:latin typeface="Arial" pitchFamily="34" charset="0"/>
              <a:cs typeface="Arial" pitchFamily="34" charset="0"/>
            </a:endParaRPr>
          </a:p>
        </p:txBody>
      </p:sp>
      <p:pic>
        <p:nvPicPr>
          <p:cNvPr id="89" name="Picture 2" descr="E:\NIET\Project\xLogo11.png.pagespeed.ic.pydHLuCQEZ.png"/>
          <p:cNvPicPr>
            <a:picLocks noChangeAspect="1" noChangeArrowheads="1"/>
          </p:cNvPicPr>
          <p:nvPr/>
        </p:nvPicPr>
        <p:blipFill>
          <a:blip r:embed="rId2"/>
          <a:srcRect/>
          <a:stretch>
            <a:fillRect/>
          </a:stretch>
        </p:blipFill>
        <p:spPr bwMode="auto">
          <a:xfrm>
            <a:off x="0" y="0"/>
            <a:ext cx="1447800" cy="500042"/>
          </a:xfrm>
          <a:prstGeom prst="rect">
            <a:avLst/>
          </a:prstGeom>
          <a:noFill/>
        </p:spPr>
      </p:pic>
      <p:sp>
        <p:nvSpPr>
          <p:cNvPr id="90" name="Rectangle 89"/>
          <p:cNvSpPr/>
          <p:nvPr/>
        </p:nvSpPr>
        <p:spPr>
          <a:xfrm>
            <a:off x="7572396" y="928670"/>
            <a:ext cx="1285884" cy="646331"/>
          </a:xfrm>
          <a:prstGeom prst="rect">
            <a:avLst/>
          </a:prstGeom>
        </p:spPr>
        <p:txBody>
          <a:bodyPr wrap="square">
            <a:spAutoFit/>
          </a:bodyPr>
          <a:lstStyle/>
          <a:p>
            <a:r>
              <a:rPr lang="en-US" altLang="en-US" dirty="0">
                <a:solidFill>
                  <a:srgbClr val="FF0000"/>
                </a:solidFill>
                <a:cs typeface="Arial" pitchFamily="34" charset="0"/>
              </a:rPr>
              <a:t>Universal Order</a:t>
            </a:r>
            <a:endParaRPr lang="hi-IN" altLang="en-US" dirty="0">
              <a:solidFill>
                <a:srgbClr val="FF0000"/>
              </a:solidFill>
              <a:cs typeface="Arial" pitchFamily="34" charset="0"/>
            </a:endParaRPr>
          </a:p>
        </p:txBody>
      </p:sp>
      <p:sp>
        <p:nvSpPr>
          <p:cNvPr id="95" name="Rectangle 94"/>
          <p:cNvSpPr/>
          <p:nvPr/>
        </p:nvSpPr>
        <p:spPr>
          <a:xfrm>
            <a:off x="4714876" y="3286124"/>
            <a:ext cx="4429124" cy="278608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6" name="Picture 92" descr="Picture1.png"/>
          <p:cNvPicPr>
            <a:picLocks noChangeAspect="1"/>
          </p:cNvPicPr>
          <p:nvPr/>
        </p:nvPicPr>
        <p:blipFill>
          <a:blip r:embed="rId3"/>
          <a:srcRect/>
          <a:stretch>
            <a:fillRect/>
          </a:stretch>
        </p:blipFill>
        <p:spPr bwMode="auto">
          <a:xfrm>
            <a:off x="4857752" y="3357562"/>
            <a:ext cx="4071966" cy="2792433"/>
          </a:xfrm>
          <a:prstGeom prst="rect">
            <a:avLst/>
          </a:prstGeom>
          <a:noFill/>
          <a:ln w="9525">
            <a:noFill/>
            <a:miter lim="800000"/>
            <a:headEnd/>
            <a:tailEnd/>
          </a:ln>
        </p:spPr>
      </p:pic>
      <p:sp>
        <p:nvSpPr>
          <p:cNvPr id="93" name="Date Placeholder 92"/>
          <p:cNvSpPr>
            <a:spLocks noGrp="1"/>
          </p:cNvSpPr>
          <p:nvPr>
            <p:ph type="dt" sz="half" idx="10"/>
          </p:nvPr>
        </p:nvSpPr>
        <p:spPr/>
        <p:txBody>
          <a:bodyPr/>
          <a:lstStyle/>
          <a:p>
            <a:fld id="{A82C6930-AA64-415A-A9A6-2CCB1E3EDB30}" type="datetime1">
              <a:rPr lang="en-US" smtClean="0"/>
              <a:pPr/>
              <a:t>06/25/21</a:t>
            </a:fld>
            <a:endParaRPr lang="en-US"/>
          </a:p>
        </p:txBody>
      </p:sp>
      <p:sp>
        <p:nvSpPr>
          <p:cNvPr id="94" name="Slide Number Placeholder 93"/>
          <p:cNvSpPr>
            <a:spLocks noGrp="1"/>
          </p:cNvSpPr>
          <p:nvPr>
            <p:ph type="sldNum" sz="quarter" idx="12"/>
          </p:nvPr>
        </p:nvSpPr>
        <p:spPr/>
        <p:txBody>
          <a:bodyPr/>
          <a:lstStyle/>
          <a:p>
            <a:fld id="{B6F15528-21DE-4FAA-801E-634DDDAF4B2B}" type="slidenum">
              <a:rPr lang="en-US" smtClean="0"/>
              <a:pPr/>
              <a:t>47</a:t>
            </a:fld>
            <a:endParaRPr lang="en-US"/>
          </a:p>
        </p:txBody>
      </p:sp>
      <p:sp>
        <p:nvSpPr>
          <p:cNvPr id="97" name="Footer Placeholder 96"/>
          <p:cNvSpPr>
            <a:spLocks noGrp="1"/>
          </p:cNvSpPr>
          <p:nvPr>
            <p:ph type="ftr" sz="quarter" idx="11"/>
          </p:nvPr>
        </p:nvSpPr>
        <p:spPr>
          <a:xfrm>
            <a:off x="2285984" y="6356350"/>
            <a:ext cx="5857916" cy="365125"/>
          </a:xfrm>
        </p:spPr>
        <p:txBody>
          <a:bodyPr/>
          <a:lstStyle/>
          <a:p>
            <a:r>
              <a:rPr lang="fi-FI" smtClean="0"/>
              <a:t>SHYAM  LAL SHARMA             KOE069 UHV-2               Unit -4</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Knowledge of Existence – Harmony(CO4)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BD22250D-D573-400F-B3FA-06297531837D}"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48</a:t>
            </a:fld>
            <a:endParaRPr lang="en-US"/>
          </a:p>
        </p:txBody>
      </p:sp>
      <p:sp>
        <p:nvSpPr>
          <p:cNvPr id="8" name="Footer Placeholder 7"/>
          <p:cNvSpPr>
            <a:spLocks noGrp="1"/>
          </p:cNvSpPr>
          <p:nvPr>
            <p:ph type="ftr" sz="quarter" idx="11"/>
          </p:nvPr>
        </p:nvSpPr>
        <p:spPr>
          <a:xfrm>
            <a:off x="2714612" y="6356350"/>
            <a:ext cx="5500726" cy="365125"/>
          </a:xfrm>
        </p:spPr>
        <p:txBody>
          <a:bodyPr/>
          <a:lstStyle/>
          <a:p>
            <a:r>
              <a:rPr lang="fi-FI" smtClean="0"/>
              <a:t>SHYAM  LAL SHARMA             KOE069 UHV-2               Unit -4</a:t>
            </a:r>
            <a:endParaRPr lang="en-US" dirty="0"/>
          </a:p>
        </p:txBody>
      </p:sp>
      <p:graphicFrame>
        <p:nvGraphicFramePr>
          <p:cNvPr id="9" name="Table 8">
            <a:extLst>
              <a:ext uri="{FF2B5EF4-FFF2-40B4-BE49-F238E27FC236}">
                <a16:creationId xmlns:a16="http://schemas.microsoft.com/office/drawing/2014/main" xmlns="" id="{9D5A1EFF-9F90-4B31-B01C-A7C112DCF870}"/>
              </a:ext>
            </a:extLst>
          </p:cNvPr>
          <p:cNvGraphicFramePr>
            <a:graphicFrameLocks noGrp="1"/>
          </p:cNvGraphicFramePr>
          <p:nvPr/>
        </p:nvGraphicFramePr>
        <p:xfrm>
          <a:off x="-32" y="838200"/>
          <a:ext cx="9072593" cy="5304925"/>
        </p:xfrm>
        <a:graphic>
          <a:graphicData uri="http://schemas.openxmlformats.org/drawingml/2006/table">
            <a:tbl>
              <a:tblPr/>
              <a:tblGrid>
                <a:gridCol w="878907">
                  <a:extLst>
                    <a:ext uri="{9D8B030D-6E8A-4147-A177-3AD203B41FA5}">
                      <a16:colId xmlns:a16="http://schemas.microsoft.com/office/drawing/2014/main" xmlns="" val="20000"/>
                    </a:ext>
                  </a:extLst>
                </a:gridCol>
                <a:gridCol w="860006">
                  <a:extLst>
                    <a:ext uri="{9D8B030D-6E8A-4147-A177-3AD203B41FA5}">
                      <a16:colId xmlns:a16="http://schemas.microsoft.com/office/drawing/2014/main" xmlns="" val="20001"/>
                    </a:ext>
                  </a:extLst>
                </a:gridCol>
                <a:gridCol w="1814519">
                  <a:extLst>
                    <a:ext uri="{9D8B030D-6E8A-4147-A177-3AD203B41FA5}">
                      <a16:colId xmlns:a16="http://schemas.microsoft.com/office/drawing/2014/main" xmlns="" val="20002"/>
                    </a:ext>
                  </a:extLst>
                </a:gridCol>
                <a:gridCol w="1877523">
                  <a:extLst>
                    <a:ext uri="{9D8B030D-6E8A-4147-A177-3AD203B41FA5}">
                      <a16:colId xmlns:a16="http://schemas.microsoft.com/office/drawing/2014/main" xmlns="" val="20003"/>
                    </a:ext>
                  </a:extLst>
                </a:gridCol>
                <a:gridCol w="2053934">
                  <a:extLst>
                    <a:ext uri="{9D8B030D-6E8A-4147-A177-3AD203B41FA5}">
                      <a16:colId xmlns:a16="http://schemas.microsoft.com/office/drawing/2014/main" xmlns="" val="20004"/>
                    </a:ext>
                  </a:extLst>
                </a:gridCol>
                <a:gridCol w="1587704">
                  <a:extLst>
                    <a:ext uri="{9D8B030D-6E8A-4147-A177-3AD203B41FA5}">
                      <a16:colId xmlns:a16="http://schemas.microsoft.com/office/drawing/2014/main" xmlns="" val="20005"/>
                    </a:ext>
                  </a:extLst>
                </a:gridCol>
              </a:tblGrid>
              <a:tr h="8448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ORDERS </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Arial" pitchFamily="34" charset="0"/>
                          <a:cs typeface="Times New Roman" pitchFamily="18" charset="0"/>
                        </a:rPr>
                        <a:t>4</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UNITS</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ACTIVITY</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INNATENESS</a:t>
                      </a:r>
                      <a:endParaRPr kumimoji="0" lang="en-US"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(Self-</a:t>
                      </a:r>
                      <a:r>
                        <a:rPr kumimoji="0" lang="en-US" sz="1400" b="0" i="0" u="none" strike="noStrike" cap="none" normalizeH="0" baseline="0" dirty="0" err="1">
                          <a:ln>
                            <a:noFill/>
                          </a:ln>
                          <a:solidFill>
                            <a:schemeClr val="tx1"/>
                          </a:solidFill>
                          <a:effectLst/>
                          <a:latin typeface="Arial" pitchFamily="34" charset="0"/>
                          <a:cs typeface="Arial" pitchFamily="34" charset="0"/>
                        </a:rPr>
                        <a:t>organisation</a:t>
                      </a: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NATURAL CHARACTERISTIC</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(Participation)</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INHERITANCE</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xmlns="" val="10000"/>
                  </a:ext>
                </a:extLst>
              </a:tr>
              <a:tr h="6409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Physical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Soil, Metal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Formation - Deformation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Existence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Composition-Decomposition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Constitution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4462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Bio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Plants, Trees</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Respiration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 Growth</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Nurture-Worsen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Seed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0695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Animals,  Birds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Cruelty, Non-cruelty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Breed based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5344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Beings</a:t>
                      </a:r>
                      <a:r>
                        <a:rPr kumimoji="0" lang="fr-FR"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Imaging, </a:t>
                      </a:r>
                      <a:r>
                        <a:rPr kumimoji="0" lang="en-US" sz="1400" b="1" i="0" u="none" strike="noStrike" cap="none" normalizeH="0" baseline="0" dirty="0" err="1">
                          <a:ln>
                            <a:noFill/>
                          </a:ln>
                          <a:solidFill>
                            <a:schemeClr val="tx1"/>
                          </a:solidFill>
                          <a:effectLst/>
                          <a:latin typeface="Arial" pitchFamily="34" charset="0"/>
                          <a:cs typeface="Times New Roman" pitchFamily="18" charset="0"/>
                        </a:rPr>
                        <a:t>Analysing</a:t>
                      </a:r>
                      <a:r>
                        <a:rPr kumimoji="0" lang="en-US" sz="1400" b="1" i="0" u="none" strike="noStrike" cap="none" normalizeH="0" baseline="0" dirty="0">
                          <a:ln>
                            <a:noFill/>
                          </a:ln>
                          <a:solidFill>
                            <a:schemeClr val="tx1"/>
                          </a:solidFill>
                          <a:effectLst/>
                          <a:latin typeface="Arial" pitchFamily="34" charset="0"/>
                          <a:cs typeface="Times New Roman" pitchFamily="18" charset="0"/>
                        </a:rPr>
                        <a:t>, 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Potential for Contemplation, Understanding &amp; </a:t>
                      </a:r>
                      <a:r>
                        <a:rPr kumimoji="0" lang="en-US" sz="1400" b="1" i="0" u="none" strike="noStrike" cap="none" normalizeH="0" baseline="0" dirty="0" err="1">
                          <a:ln>
                            <a:noFill/>
                          </a:ln>
                          <a:solidFill>
                            <a:schemeClr val="tx1"/>
                          </a:solidFill>
                          <a:effectLst/>
                          <a:latin typeface="Arial" pitchFamily="34" charset="0"/>
                          <a:cs typeface="Times New Roman" pitchFamily="18" charset="0"/>
                        </a:rPr>
                        <a:t>Realisation</a:t>
                      </a:r>
                      <a:r>
                        <a:rPr kumimoji="0" lang="en-US" sz="1400" b="1" i="0" u="none" strike="noStrike" cap="none" normalizeH="0" baseline="0" dirty="0">
                          <a:ln>
                            <a:noFill/>
                          </a:ln>
                          <a:solidFill>
                            <a:schemeClr val="tx1"/>
                          </a:solidFill>
                          <a:effectLst/>
                          <a:latin typeface="Arial" pitchFamily="34" charset="0"/>
                          <a:cs typeface="Times New Roman" pitchFamily="18" charset="0"/>
                        </a:rPr>
                        <a:t>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with continuous happiness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Feeling &amp; Thought </a:t>
                      </a:r>
                      <a:endParaRPr kumimoji="0" lang="en-US" sz="1400" b="1" i="0" u="none" strike="noStrike" cap="none" normalizeH="0" baseline="0" dirty="0">
                        <a:ln>
                          <a:noFill/>
                        </a:ln>
                        <a:solidFill>
                          <a:schemeClr val="tx1"/>
                        </a:solidFill>
                        <a:effectLst/>
                        <a:latin typeface="Kruti Dev 010" pitchFamily="2"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Understanding </a:t>
                      </a:r>
                      <a:endParaRPr kumimoji="0" lang="en-US" sz="1100" b="1" i="0" u="none" strike="noStrike" cap="none" normalizeH="0" baseline="0" dirty="0">
                        <a:ln>
                          <a:noFill/>
                        </a:ln>
                        <a:solidFill>
                          <a:schemeClr val="tx1"/>
                        </a:solidFill>
                        <a:effectLst/>
                        <a:latin typeface="Kruti Dev 010" pitchFamily="2"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Perseverance, </a:t>
                      </a:r>
                      <a:r>
                        <a:rPr kumimoji="0" lang="en-US" sz="1400" b="1" i="0" u="none" strike="noStrike" cap="none" normalizeH="0" baseline="0" dirty="0" err="1">
                          <a:ln>
                            <a:noFill/>
                          </a:ln>
                          <a:solidFill>
                            <a:schemeClr val="tx1"/>
                          </a:solidFill>
                          <a:effectLst/>
                          <a:latin typeface="Arial" pitchFamily="34" charset="0"/>
                          <a:cs typeface="Times New Roman" pitchFamily="18" charset="0"/>
                        </a:rPr>
                        <a:t>Bravity</a:t>
                      </a:r>
                      <a:r>
                        <a:rPr kumimoji="0" lang="en-US" sz="1400" b="1" i="0" u="none" strike="noStrike" cap="none" normalizeH="0" baseline="0" dirty="0">
                          <a:ln>
                            <a:noFill/>
                          </a:ln>
                          <a:solidFill>
                            <a:schemeClr val="tx1"/>
                          </a:solidFill>
                          <a:effectLst/>
                          <a:latin typeface="Arial" pitchFamily="34" charset="0"/>
                          <a:cs typeface="Times New Roman" pitchFamily="18" charset="0"/>
                        </a:rPr>
                        <a:t>, Generosity… in I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err="1">
                          <a:ln>
                            <a:noFill/>
                          </a:ln>
                          <a:solidFill>
                            <a:schemeClr val="tx1"/>
                          </a:solidFill>
                          <a:effectLst/>
                          <a:latin typeface="Kruti Dev 010" pitchFamily="2" charset="0"/>
                          <a:cs typeface="Arial" pitchFamily="34" charset="0"/>
                        </a:rPr>
                        <a:t>eS</a:t>
                      </a:r>
                      <a:r>
                        <a:rPr kumimoji="0" lang="en-US" sz="1600" b="1" i="0" u="none" strike="noStrike" cap="none" normalizeH="0" baseline="0" dirty="0">
                          <a:ln>
                            <a:noFill/>
                          </a:ln>
                          <a:solidFill>
                            <a:schemeClr val="tx1"/>
                          </a:solidFill>
                          <a:effectLst/>
                          <a:latin typeface="Kruti Dev 010" pitchFamily="2" charset="0"/>
                          <a:cs typeface="Arial" pitchFamily="34" charset="0"/>
                        </a:rPr>
                        <a:t>]</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Education-</a:t>
                      </a:r>
                      <a:r>
                        <a:rPr kumimoji="0" lang="en-US" sz="1400" b="1" i="0" u="none" strike="noStrike" cap="none" normalizeH="0" baseline="0" dirty="0" err="1">
                          <a:ln>
                            <a:noFill/>
                          </a:ln>
                          <a:solidFill>
                            <a:schemeClr val="tx1"/>
                          </a:solidFill>
                          <a:effectLst/>
                          <a:latin typeface="Arial" pitchFamily="34" charset="0"/>
                          <a:cs typeface="Times New Roman" pitchFamily="18" charset="0"/>
                        </a:rPr>
                        <a:t>Sanskar</a:t>
                      </a:r>
                      <a:r>
                        <a:rPr kumimoji="0" lang="en-US" sz="1400" b="1" i="0" u="none" strike="noStrike" cap="none" normalizeH="0" baseline="0" dirty="0">
                          <a:ln>
                            <a:noFill/>
                          </a:ln>
                          <a:solidFill>
                            <a:schemeClr val="tx1"/>
                          </a:solidFill>
                          <a:effectLst/>
                          <a:latin typeface="Arial" pitchFamily="34" charset="0"/>
                          <a:cs typeface="Times New Roman" pitchFamily="18" charset="0"/>
                        </a:rPr>
                        <a:t>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10" name="Rectangle 9">
            <a:extLst>
              <a:ext uri="{FF2B5EF4-FFF2-40B4-BE49-F238E27FC236}">
                <a16:creationId xmlns:a16="http://schemas.microsoft.com/office/drawing/2014/main" xmlns="" id="{68826BDB-7A7F-46CF-9335-452755306D17}"/>
              </a:ext>
            </a:extLst>
          </p:cNvPr>
          <p:cNvSpPr>
            <a:spLocks noChangeArrowheads="1"/>
          </p:cNvSpPr>
          <p:nvPr/>
        </p:nvSpPr>
        <p:spPr bwMode="auto">
          <a:xfrm rot="20304896">
            <a:off x="38182" y="2100896"/>
            <a:ext cx="4572000" cy="769441"/>
          </a:xfrm>
          <a:prstGeom prst="rect">
            <a:avLst/>
          </a:prstGeom>
          <a:solidFill>
            <a:srgbClr val="FFC000"/>
          </a:solidFill>
          <a:ln w="9525">
            <a:noFill/>
            <a:miter lim="800000"/>
            <a:headEnd/>
            <a:tailEnd/>
          </a:ln>
          <a:effectLst>
            <a:outerShdw blurRad="50800" dist="50800" dir="5400000" algn="ctr" rotWithShape="0">
              <a:schemeClr val="tx1"/>
            </a:outerShdw>
          </a:effectLst>
        </p:spPr>
        <p:txBody>
          <a:bodyPr wrap="square">
            <a:spAutoFit/>
          </a:bodyPr>
          <a:lstStyle/>
          <a:p>
            <a:pPr marL="685800" lvl="1" indent="-457200" eaLnBrk="1" hangingPunct="1">
              <a:buFont typeface="Wingdings" pitchFamily="2" charset="2"/>
              <a:buNone/>
              <a:defRPr/>
            </a:pPr>
            <a:r>
              <a:rPr lang="en-US" sz="2200" dirty="0">
                <a:solidFill>
                  <a:prstClr val="black"/>
                </a:solidFill>
                <a:cs typeface="Arial" pitchFamily="34" charset="0"/>
              </a:rPr>
              <a:t>ACTIVITY</a:t>
            </a:r>
          </a:p>
          <a:p>
            <a:pPr marL="685800" lvl="1" indent="-457200" eaLnBrk="1" hangingPunct="1">
              <a:buFont typeface="Wingdings" pitchFamily="2" charset="2"/>
              <a:buNone/>
              <a:defRPr/>
            </a:pPr>
            <a:r>
              <a:rPr lang="en-US" sz="2200" dirty="0" err="1">
                <a:solidFill>
                  <a:prstClr val="black"/>
                </a:solidFill>
                <a:cs typeface="Arial" pitchFamily="34" charset="0"/>
              </a:rPr>
              <a:t>Energised</a:t>
            </a:r>
            <a:r>
              <a:rPr lang="en-US" sz="2200" dirty="0">
                <a:solidFill>
                  <a:prstClr val="black"/>
                </a:solidFill>
              </a:rPr>
              <a:t> </a:t>
            </a:r>
            <a:r>
              <a:rPr lang="en-US" sz="2200" dirty="0">
                <a:solidFill>
                  <a:prstClr val="black"/>
                </a:solidFill>
                <a:cs typeface="Arial" pitchFamily="34" charset="0"/>
              </a:rPr>
              <a:t>in Space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Knowledge of Existence – Harmony(CO4)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2D1847B8-5D83-4B8D-8FC1-7994ABAF49AF}"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49</a:t>
            </a:fld>
            <a:endParaRPr lang="en-US"/>
          </a:p>
        </p:txBody>
      </p:sp>
      <p:sp>
        <p:nvSpPr>
          <p:cNvPr id="8" name="Footer Placeholder 7"/>
          <p:cNvSpPr>
            <a:spLocks noGrp="1"/>
          </p:cNvSpPr>
          <p:nvPr>
            <p:ph type="ftr" sz="quarter" idx="11"/>
          </p:nvPr>
        </p:nvSpPr>
        <p:spPr>
          <a:xfrm>
            <a:off x="2714612" y="6356350"/>
            <a:ext cx="5500726" cy="365125"/>
          </a:xfrm>
        </p:spPr>
        <p:txBody>
          <a:bodyPr/>
          <a:lstStyle/>
          <a:p>
            <a:r>
              <a:rPr lang="fi-FI" smtClean="0"/>
              <a:t>SHYAM  LAL SHARMA             KOE069 UHV-2               Unit -4</a:t>
            </a:r>
            <a:endParaRPr lang="en-US" dirty="0"/>
          </a:p>
        </p:txBody>
      </p:sp>
      <p:graphicFrame>
        <p:nvGraphicFramePr>
          <p:cNvPr id="9" name="Table 8">
            <a:extLst>
              <a:ext uri="{FF2B5EF4-FFF2-40B4-BE49-F238E27FC236}">
                <a16:creationId xmlns:a16="http://schemas.microsoft.com/office/drawing/2014/main" xmlns="" id="{9D5A1EFF-9F90-4B31-B01C-A7C112DCF870}"/>
              </a:ext>
            </a:extLst>
          </p:cNvPr>
          <p:cNvGraphicFramePr>
            <a:graphicFrameLocks noGrp="1"/>
          </p:cNvGraphicFramePr>
          <p:nvPr/>
        </p:nvGraphicFramePr>
        <p:xfrm>
          <a:off x="-32" y="857232"/>
          <a:ext cx="9072593" cy="5304925"/>
        </p:xfrm>
        <a:graphic>
          <a:graphicData uri="http://schemas.openxmlformats.org/drawingml/2006/table">
            <a:tbl>
              <a:tblPr/>
              <a:tblGrid>
                <a:gridCol w="878907">
                  <a:extLst>
                    <a:ext uri="{9D8B030D-6E8A-4147-A177-3AD203B41FA5}">
                      <a16:colId xmlns:a16="http://schemas.microsoft.com/office/drawing/2014/main" xmlns="" val="20000"/>
                    </a:ext>
                  </a:extLst>
                </a:gridCol>
                <a:gridCol w="860006">
                  <a:extLst>
                    <a:ext uri="{9D8B030D-6E8A-4147-A177-3AD203B41FA5}">
                      <a16:colId xmlns:a16="http://schemas.microsoft.com/office/drawing/2014/main" xmlns="" val="20001"/>
                    </a:ext>
                  </a:extLst>
                </a:gridCol>
                <a:gridCol w="1814519">
                  <a:extLst>
                    <a:ext uri="{9D8B030D-6E8A-4147-A177-3AD203B41FA5}">
                      <a16:colId xmlns:a16="http://schemas.microsoft.com/office/drawing/2014/main" xmlns="" val="20002"/>
                    </a:ext>
                  </a:extLst>
                </a:gridCol>
                <a:gridCol w="1877523">
                  <a:extLst>
                    <a:ext uri="{9D8B030D-6E8A-4147-A177-3AD203B41FA5}">
                      <a16:colId xmlns:a16="http://schemas.microsoft.com/office/drawing/2014/main" xmlns="" val="20003"/>
                    </a:ext>
                  </a:extLst>
                </a:gridCol>
                <a:gridCol w="2053934">
                  <a:extLst>
                    <a:ext uri="{9D8B030D-6E8A-4147-A177-3AD203B41FA5}">
                      <a16:colId xmlns:a16="http://schemas.microsoft.com/office/drawing/2014/main" xmlns="" val="20004"/>
                    </a:ext>
                  </a:extLst>
                </a:gridCol>
                <a:gridCol w="1587704">
                  <a:extLst>
                    <a:ext uri="{9D8B030D-6E8A-4147-A177-3AD203B41FA5}">
                      <a16:colId xmlns:a16="http://schemas.microsoft.com/office/drawing/2014/main" xmlns="" val="20005"/>
                    </a:ext>
                  </a:extLst>
                </a:gridCol>
              </a:tblGrid>
              <a:tr h="8448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ORDERS </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Arial" pitchFamily="34" charset="0"/>
                          <a:cs typeface="Times New Roman" pitchFamily="18" charset="0"/>
                        </a:rPr>
                        <a:t>4</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UNITS</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ACTIVITY</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INNATENESS</a:t>
                      </a:r>
                      <a:endParaRPr kumimoji="0" lang="en-US"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(Self-</a:t>
                      </a:r>
                      <a:r>
                        <a:rPr kumimoji="0" lang="en-US" sz="1400" b="0" i="0" u="none" strike="noStrike" cap="none" normalizeH="0" baseline="0" dirty="0" err="1">
                          <a:ln>
                            <a:noFill/>
                          </a:ln>
                          <a:solidFill>
                            <a:schemeClr val="tx1"/>
                          </a:solidFill>
                          <a:effectLst/>
                          <a:latin typeface="Arial" pitchFamily="34" charset="0"/>
                          <a:cs typeface="Arial" pitchFamily="34" charset="0"/>
                        </a:rPr>
                        <a:t>organisation</a:t>
                      </a: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NATURAL CHARACTERISTIC</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(Participation)</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INHERITANCE</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xmlns="" val="10000"/>
                  </a:ext>
                </a:extLst>
              </a:tr>
              <a:tr h="6409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Physical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Soil, Metal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Formation - Deformation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Existence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Composition-Decomposition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Constitution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4462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Bio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Plants, Trees</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Respiration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 Growth</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Nurture-Worsen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Seed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0695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Animals,  Birds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Cruelty, Non-cruelty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Breed based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5344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Beings</a:t>
                      </a:r>
                      <a:r>
                        <a:rPr kumimoji="0" lang="fr-FR"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Imaging, </a:t>
                      </a:r>
                      <a:r>
                        <a:rPr kumimoji="0" lang="en-US" sz="1400" b="1" i="0" u="none" strike="noStrike" cap="none" normalizeH="0" baseline="0" dirty="0" err="1">
                          <a:ln>
                            <a:noFill/>
                          </a:ln>
                          <a:solidFill>
                            <a:schemeClr val="tx1"/>
                          </a:solidFill>
                          <a:effectLst/>
                          <a:latin typeface="Arial" pitchFamily="34" charset="0"/>
                          <a:cs typeface="Times New Roman" pitchFamily="18" charset="0"/>
                        </a:rPr>
                        <a:t>Analysing</a:t>
                      </a:r>
                      <a:r>
                        <a:rPr kumimoji="0" lang="en-US" sz="1400" b="1" i="0" u="none" strike="noStrike" cap="none" normalizeH="0" baseline="0" dirty="0">
                          <a:ln>
                            <a:noFill/>
                          </a:ln>
                          <a:solidFill>
                            <a:schemeClr val="tx1"/>
                          </a:solidFill>
                          <a:effectLst/>
                          <a:latin typeface="Arial" pitchFamily="34" charset="0"/>
                          <a:cs typeface="Times New Roman" pitchFamily="18" charset="0"/>
                        </a:rPr>
                        <a:t>, 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Potential for Contemplation, Understanding &amp; </a:t>
                      </a:r>
                      <a:r>
                        <a:rPr kumimoji="0" lang="en-US" sz="1400" b="1" i="0" u="none" strike="noStrike" cap="none" normalizeH="0" baseline="0" dirty="0" err="1">
                          <a:ln>
                            <a:noFill/>
                          </a:ln>
                          <a:solidFill>
                            <a:schemeClr val="tx1"/>
                          </a:solidFill>
                          <a:effectLst/>
                          <a:latin typeface="Arial" pitchFamily="34" charset="0"/>
                          <a:cs typeface="Times New Roman" pitchFamily="18" charset="0"/>
                        </a:rPr>
                        <a:t>Realisation</a:t>
                      </a:r>
                      <a:r>
                        <a:rPr kumimoji="0" lang="en-US" sz="1400" b="1" i="0" u="none" strike="noStrike" cap="none" normalizeH="0" baseline="0" dirty="0">
                          <a:ln>
                            <a:noFill/>
                          </a:ln>
                          <a:solidFill>
                            <a:schemeClr val="tx1"/>
                          </a:solidFill>
                          <a:effectLst/>
                          <a:latin typeface="Arial" pitchFamily="34" charset="0"/>
                          <a:cs typeface="Times New Roman" pitchFamily="18" charset="0"/>
                        </a:rPr>
                        <a:t>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with continuous happiness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Feeling &amp; Thought </a:t>
                      </a:r>
                      <a:endParaRPr kumimoji="0" lang="en-US" sz="1400" b="1" i="0" u="none" strike="noStrike" cap="none" normalizeH="0" baseline="0" dirty="0">
                        <a:ln>
                          <a:noFill/>
                        </a:ln>
                        <a:solidFill>
                          <a:schemeClr val="tx1"/>
                        </a:solidFill>
                        <a:effectLst/>
                        <a:latin typeface="Kruti Dev 010" pitchFamily="2"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Understanding </a:t>
                      </a:r>
                      <a:endParaRPr kumimoji="0" lang="en-US" sz="1100" b="1" i="0" u="none" strike="noStrike" cap="none" normalizeH="0" baseline="0" dirty="0">
                        <a:ln>
                          <a:noFill/>
                        </a:ln>
                        <a:solidFill>
                          <a:schemeClr val="tx1"/>
                        </a:solidFill>
                        <a:effectLst/>
                        <a:latin typeface="Kruti Dev 010" pitchFamily="2"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Perseverance, </a:t>
                      </a:r>
                      <a:r>
                        <a:rPr kumimoji="0" lang="en-US" sz="1400" b="1" i="0" u="none" strike="noStrike" cap="none" normalizeH="0" baseline="0" dirty="0" err="1">
                          <a:ln>
                            <a:noFill/>
                          </a:ln>
                          <a:solidFill>
                            <a:schemeClr val="tx1"/>
                          </a:solidFill>
                          <a:effectLst/>
                          <a:latin typeface="Arial" pitchFamily="34" charset="0"/>
                          <a:cs typeface="Times New Roman" pitchFamily="18" charset="0"/>
                        </a:rPr>
                        <a:t>Bravity</a:t>
                      </a:r>
                      <a:r>
                        <a:rPr kumimoji="0" lang="en-US" sz="1400" b="1" i="0" u="none" strike="noStrike" cap="none" normalizeH="0" baseline="0" dirty="0">
                          <a:ln>
                            <a:noFill/>
                          </a:ln>
                          <a:solidFill>
                            <a:schemeClr val="tx1"/>
                          </a:solidFill>
                          <a:effectLst/>
                          <a:latin typeface="Arial" pitchFamily="34" charset="0"/>
                          <a:cs typeface="Times New Roman" pitchFamily="18" charset="0"/>
                        </a:rPr>
                        <a:t>, Generosity… in I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err="1">
                          <a:ln>
                            <a:noFill/>
                          </a:ln>
                          <a:solidFill>
                            <a:schemeClr val="tx1"/>
                          </a:solidFill>
                          <a:effectLst/>
                          <a:latin typeface="Kruti Dev 010" pitchFamily="2" charset="0"/>
                          <a:cs typeface="Arial" pitchFamily="34" charset="0"/>
                        </a:rPr>
                        <a:t>eS</a:t>
                      </a:r>
                      <a:r>
                        <a:rPr kumimoji="0" lang="en-US" sz="1600" b="1" i="0" u="none" strike="noStrike" cap="none" normalizeH="0" baseline="0" dirty="0">
                          <a:ln>
                            <a:noFill/>
                          </a:ln>
                          <a:solidFill>
                            <a:schemeClr val="tx1"/>
                          </a:solidFill>
                          <a:effectLst/>
                          <a:latin typeface="Kruti Dev 010" pitchFamily="2" charset="0"/>
                          <a:cs typeface="Arial" pitchFamily="34" charset="0"/>
                        </a:rPr>
                        <a:t>]</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Education-</a:t>
                      </a:r>
                      <a:r>
                        <a:rPr kumimoji="0" lang="en-US" sz="1400" b="1" i="0" u="none" strike="noStrike" cap="none" normalizeH="0" baseline="0" dirty="0" err="1">
                          <a:ln>
                            <a:noFill/>
                          </a:ln>
                          <a:solidFill>
                            <a:schemeClr val="tx1"/>
                          </a:solidFill>
                          <a:effectLst/>
                          <a:latin typeface="Arial" pitchFamily="34" charset="0"/>
                          <a:cs typeface="Times New Roman" pitchFamily="18" charset="0"/>
                        </a:rPr>
                        <a:t>Sanskar</a:t>
                      </a:r>
                      <a:r>
                        <a:rPr kumimoji="0" lang="en-US" sz="1400" b="1" i="0" u="none" strike="noStrike" cap="none" normalizeH="0" baseline="0" dirty="0">
                          <a:ln>
                            <a:noFill/>
                          </a:ln>
                          <a:solidFill>
                            <a:schemeClr val="tx1"/>
                          </a:solidFill>
                          <a:effectLst/>
                          <a:latin typeface="Arial" pitchFamily="34" charset="0"/>
                          <a:cs typeface="Times New Roman" pitchFamily="18" charset="0"/>
                        </a:rPr>
                        <a:t>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11" name="Rectangle 17">
            <a:extLst>
              <a:ext uri="{FF2B5EF4-FFF2-40B4-BE49-F238E27FC236}">
                <a16:creationId xmlns:a16="http://schemas.microsoft.com/office/drawing/2014/main" xmlns="" id="{55DDE67D-46C5-4D69-B3D5-62B843A2375D}"/>
              </a:ext>
            </a:extLst>
          </p:cNvPr>
          <p:cNvSpPr>
            <a:spLocks noChangeArrowheads="1"/>
          </p:cNvSpPr>
          <p:nvPr/>
        </p:nvSpPr>
        <p:spPr bwMode="auto">
          <a:xfrm rot="20698348">
            <a:off x="1200150" y="2425154"/>
            <a:ext cx="4572000" cy="769441"/>
          </a:xfrm>
          <a:prstGeom prst="rect">
            <a:avLst/>
          </a:prstGeom>
          <a:solidFill>
            <a:srgbClr val="FFC000"/>
          </a:solidFill>
          <a:ln w="9525">
            <a:noFill/>
            <a:miter lim="800000"/>
            <a:headEnd/>
            <a:tailEnd/>
          </a:ln>
          <a:effectLst>
            <a:outerShdw blurRad="50800" dist="50800" dir="5400000" algn="ctr" rotWithShape="0">
              <a:schemeClr val="tx1"/>
            </a:outerShdw>
          </a:effectLst>
        </p:spPr>
        <p:txBody>
          <a:bodyPr>
            <a:spAutoFit/>
          </a:bodyPr>
          <a:lstStyle/>
          <a:p>
            <a:pPr marL="685800" lvl="1" indent="-457200" eaLnBrk="1" hangingPunct="1">
              <a:buFont typeface="Wingdings" pitchFamily="2" charset="2"/>
              <a:buNone/>
              <a:defRPr/>
            </a:pPr>
            <a:r>
              <a:rPr lang="en-US" sz="2200" dirty="0">
                <a:solidFill>
                  <a:prstClr val="black"/>
                </a:solidFill>
                <a:cs typeface="Arial" pitchFamily="34" charset="0"/>
              </a:rPr>
              <a:t>INNATENESS</a:t>
            </a:r>
          </a:p>
          <a:p>
            <a:pPr marL="685800" lvl="1" indent="-457200" eaLnBrk="1" hangingPunct="1">
              <a:buFont typeface="Wingdings" pitchFamily="2" charset="2"/>
              <a:buNone/>
              <a:defRPr/>
            </a:pPr>
            <a:r>
              <a:rPr lang="en-US" sz="2200" dirty="0">
                <a:solidFill>
                  <a:prstClr val="black"/>
                </a:solidFill>
                <a:cs typeface="Arial" pitchFamily="34" charset="0"/>
              </a:rPr>
              <a:t>Self </a:t>
            </a:r>
            <a:r>
              <a:rPr lang="en-US" sz="2200" dirty="0" err="1">
                <a:solidFill>
                  <a:prstClr val="black"/>
                </a:solidFill>
                <a:cs typeface="Arial" pitchFamily="34" charset="0"/>
              </a:rPr>
              <a:t>organised</a:t>
            </a:r>
            <a:r>
              <a:rPr lang="en-US" sz="2200" dirty="0">
                <a:solidFill>
                  <a:prstClr val="black"/>
                </a:solidFill>
                <a:cs typeface="Arial" pitchFamily="34" charset="0"/>
              </a:rPr>
              <a:t> </a:t>
            </a:r>
            <a:r>
              <a:rPr lang="en-US" sz="2200" dirty="0">
                <a:solidFill>
                  <a:prstClr val="black"/>
                </a:solidFill>
              </a:rPr>
              <a:t>in Space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Knowledge of Existence – Harmony(CO4)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2F9EE6A7-F2EB-44A2-974A-14E5FC6B8636}"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50</a:t>
            </a:fld>
            <a:endParaRPr lang="en-US"/>
          </a:p>
        </p:txBody>
      </p:sp>
      <p:sp>
        <p:nvSpPr>
          <p:cNvPr id="8" name="Footer Placeholder 7"/>
          <p:cNvSpPr>
            <a:spLocks noGrp="1"/>
          </p:cNvSpPr>
          <p:nvPr>
            <p:ph type="ftr" sz="quarter" idx="11"/>
          </p:nvPr>
        </p:nvSpPr>
        <p:spPr>
          <a:xfrm>
            <a:off x="2714612" y="6356350"/>
            <a:ext cx="5500726" cy="365125"/>
          </a:xfrm>
        </p:spPr>
        <p:txBody>
          <a:bodyPr/>
          <a:lstStyle/>
          <a:p>
            <a:r>
              <a:rPr lang="fi-FI" smtClean="0"/>
              <a:t>SHYAM  LAL SHARMA             KOE069 UHV-2               Unit -4</a:t>
            </a:r>
            <a:endParaRPr lang="en-US" dirty="0"/>
          </a:p>
        </p:txBody>
      </p:sp>
      <p:graphicFrame>
        <p:nvGraphicFramePr>
          <p:cNvPr id="9" name="Table 8">
            <a:extLst>
              <a:ext uri="{FF2B5EF4-FFF2-40B4-BE49-F238E27FC236}">
                <a16:creationId xmlns:a16="http://schemas.microsoft.com/office/drawing/2014/main" xmlns="" id="{9D5A1EFF-9F90-4B31-B01C-A7C112DCF870}"/>
              </a:ext>
            </a:extLst>
          </p:cNvPr>
          <p:cNvGraphicFramePr>
            <a:graphicFrameLocks noGrp="1"/>
          </p:cNvGraphicFramePr>
          <p:nvPr/>
        </p:nvGraphicFramePr>
        <p:xfrm>
          <a:off x="-32" y="857232"/>
          <a:ext cx="9072593" cy="5304925"/>
        </p:xfrm>
        <a:graphic>
          <a:graphicData uri="http://schemas.openxmlformats.org/drawingml/2006/table">
            <a:tbl>
              <a:tblPr/>
              <a:tblGrid>
                <a:gridCol w="878907">
                  <a:extLst>
                    <a:ext uri="{9D8B030D-6E8A-4147-A177-3AD203B41FA5}">
                      <a16:colId xmlns:a16="http://schemas.microsoft.com/office/drawing/2014/main" xmlns="" val="20000"/>
                    </a:ext>
                  </a:extLst>
                </a:gridCol>
                <a:gridCol w="860006">
                  <a:extLst>
                    <a:ext uri="{9D8B030D-6E8A-4147-A177-3AD203B41FA5}">
                      <a16:colId xmlns:a16="http://schemas.microsoft.com/office/drawing/2014/main" xmlns="" val="20001"/>
                    </a:ext>
                  </a:extLst>
                </a:gridCol>
                <a:gridCol w="1814519">
                  <a:extLst>
                    <a:ext uri="{9D8B030D-6E8A-4147-A177-3AD203B41FA5}">
                      <a16:colId xmlns:a16="http://schemas.microsoft.com/office/drawing/2014/main" xmlns="" val="20002"/>
                    </a:ext>
                  </a:extLst>
                </a:gridCol>
                <a:gridCol w="1877523">
                  <a:extLst>
                    <a:ext uri="{9D8B030D-6E8A-4147-A177-3AD203B41FA5}">
                      <a16:colId xmlns:a16="http://schemas.microsoft.com/office/drawing/2014/main" xmlns="" val="20003"/>
                    </a:ext>
                  </a:extLst>
                </a:gridCol>
                <a:gridCol w="2053934">
                  <a:extLst>
                    <a:ext uri="{9D8B030D-6E8A-4147-A177-3AD203B41FA5}">
                      <a16:colId xmlns:a16="http://schemas.microsoft.com/office/drawing/2014/main" xmlns="" val="20004"/>
                    </a:ext>
                  </a:extLst>
                </a:gridCol>
                <a:gridCol w="1587704">
                  <a:extLst>
                    <a:ext uri="{9D8B030D-6E8A-4147-A177-3AD203B41FA5}">
                      <a16:colId xmlns:a16="http://schemas.microsoft.com/office/drawing/2014/main" xmlns="" val="20005"/>
                    </a:ext>
                  </a:extLst>
                </a:gridCol>
              </a:tblGrid>
              <a:tr h="8448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ORDERS </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Arial" pitchFamily="34" charset="0"/>
                          <a:cs typeface="Times New Roman" pitchFamily="18" charset="0"/>
                        </a:rPr>
                        <a:t>4</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UNITS</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ACTIVITY</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INNATENESS</a:t>
                      </a:r>
                      <a:endParaRPr kumimoji="0" lang="en-US"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(Self-</a:t>
                      </a:r>
                      <a:r>
                        <a:rPr kumimoji="0" lang="en-US" sz="1400" b="0" i="0" u="none" strike="noStrike" cap="none" normalizeH="0" baseline="0" dirty="0" err="1">
                          <a:ln>
                            <a:noFill/>
                          </a:ln>
                          <a:solidFill>
                            <a:schemeClr val="tx1"/>
                          </a:solidFill>
                          <a:effectLst/>
                          <a:latin typeface="Arial" pitchFamily="34" charset="0"/>
                          <a:cs typeface="Arial" pitchFamily="34" charset="0"/>
                        </a:rPr>
                        <a:t>organisation</a:t>
                      </a: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NATURAL CHARACTERISTIC</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(Participation)</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INHERITANCE</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xmlns="" val="10000"/>
                  </a:ext>
                </a:extLst>
              </a:tr>
              <a:tr h="6409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Physical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Soil, Metal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Formation - Deformation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Existence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Composition-Decomposition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Constitution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4462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Bio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Plants, Trees</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Respiration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 Growth</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Nurture-Worsen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Seed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0695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Animals,  Birds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Cruelty, Non-cruelty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Breed based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5344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Beings</a:t>
                      </a:r>
                      <a:r>
                        <a:rPr kumimoji="0" lang="fr-FR"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Imaging, </a:t>
                      </a:r>
                      <a:r>
                        <a:rPr kumimoji="0" lang="en-US" sz="1400" b="1" i="0" u="none" strike="noStrike" cap="none" normalizeH="0" baseline="0" dirty="0" err="1">
                          <a:ln>
                            <a:noFill/>
                          </a:ln>
                          <a:solidFill>
                            <a:schemeClr val="tx1"/>
                          </a:solidFill>
                          <a:effectLst/>
                          <a:latin typeface="Arial" pitchFamily="34" charset="0"/>
                          <a:cs typeface="Times New Roman" pitchFamily="18" charset="0"/>
                        </a:rPr>
                        <a:t>Analysing</a:t>
                      </a:r>
                      <a:r>
                        <a:rPr kumimoji="0" lang="en-US" sz="1400" b="1" i="0" u="none" strike="noStrike" cap="none" normalizeH="0" baseline="0" dirty="0">
                          <a:ln>
                            <a:noFill/>
                          </a:ln>
                          <a:solidFill>
                            <a:schemeClr val="tx1"/>
                          </a:solidFill>
                          <a:effectLst/>
                          <a:latin typeface="Arial" pitchFamily="34" charset="0"/>
                          <a:cs typeface="Times New Roman" pitchFamily="18" charset="0"/>
                        </a:rPr>
                        <a:t>, 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Potential for Contemplation, Understanding &amp; </a:t>
                      </a:r>
                      <a:r>
                        <a:rPr kumimoji="0" lang="en-US" sz="1400" b="1" i="0" u="none" strike="noStrike" cap="none" normalizeH="0" baseline="0" dirty="0" err="1">
                          <a:ln>
                            <a:noFill/>
                          </a:ln>
                          <a:solidFill>
                            <a:schemeClr val="tx1"/>
                          </a:solidFill>
                          <a:effectLst/>
                          <a:latin typeface="Arial" pitchFamily="34" charset="0"/>
                          <a:cs typeface="Times New Roman" pitchFamily="18" charset="0"/>
                        </a:rPr>
                        <a:t>Realisation</a:t>
                      </a:r>
                      <a:r>
                        <a:rPr kumimoji="0" lang="en-US" sz="1400" b="1" i="0" u="none" strike="noStrike" cap="none" normalizeH="0" baseline="0" dirty="0">
                          <a:ln>
                            <a:noFill/>
                          </a:ln>
                          <a:solidFill>
                            <a:schemeClr val="tx1"/>
                          </a:solidFill>
                          <a:effectLst/>
                          <a:latin typeface="Arial" pitchFamily="34" charset="0"/>
                          <a:cs typeface="Times New Roman" pitchFamily="18" charset="0"/>
                        </a:rPr>
                        <a:t>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with continuous happiness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Feeling &amp; Thought </a:t>
                      </a:r>
                      <a:endParaRPr kumimoji="0" lang="en-US" sz="1400" b="1" i="0" u="none" strike="noStrike" cap="none" normalizeH="0" baseline="0" dirty="0">
                        <a:ln>
                          <a:noFill/>
                        </a:ln>
                        <a:solidFill>
                          <a:schemeClr val="tx1"/>
                        </a:solidFill>
                        <a:effectLst/>
                        <a:latin typeface="Kruti Dev 010" pitchFamily="2"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Understanding </a:t>
                      </a:r>
                      <a:endParaRPr kumimoji="0" lang="en-US" sz="1100" b="1" i="0" u="none" strike="noStrike" cap="none" normalizeH="0" baseline="0" dirty="0">
                        <a:ln>
                          <a:noFill/>
                        </a:ln>
                        <a:solidFill>
                          <a:schemeClr val="tx1"/>
                        </a:solidFill>
                        <a:effectLst/>
                        <a:latin typeface="Kruti Dev 010" pitchFamily="2"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Perseverance, </a:t>
                      </a:r>
                      <a:r>
                        <a:rPr kumimoji="0" lang="en-US" sz="1400" b="1" i="0" u="none" strike="noStrike" cap="none" normalizeH="0" baseline="0" dirty="0" err="1">
                          <a:ln>
                            <a:noFill/>
                          </a:ln>
                          <a:solidFill>
                            <a:schemeClr val="tx1"/>
                          </a:solidFill>
                          <a:effectLst/>
                          <a:latin typeface="Arial" pitchFamily="34" charset="0"/>
                          <a:cs typeface="Times New Roman" pitchFamily="18" charset="0"/>
                        </a:rPr>
                        <a:t>Bravity</a:t>
                      </a:r>
                      <a:r>
                        <a:rPr kumimoji="0" lang="en-US" sz="1400" b="1" i="0" u="none" strike="noStrike" cap="none" normalizeH="0" baseline="0" dirty="0">
                          <a:ln>
                            <a:noFill/>
                          </a:ln>
                          <a:solidFill>
                            <a:schemeClr val="tx1"/>
                          </a:solidFill>
                          <a:effectLst/>
                          <a:latin typeface="Arial" pitchFamily="34" charset="0"/>
                          <a:cs typeface="Times New Roman" pitchFamily="18" charset="0"/>
                        </a:rPr>
                        <a:t>, Generosity… in I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err="1">
                          <a:ln>
                            <a:noFill/>
                          </a:ln>
                          <a:solidFill>
                            <a:schemeClr val="tx1"/>
                          </a:solidFill>
                          <a:effectLst/>
                          <a:latin typeface="Kruti Dev 010" pitchFamily="2" charset="0"/>
                          <a:cs typeface="Arial" pitchFamily="34" charset="0"/>
                        </a:rPr>
                        <a:t>eS</a:t>
                      </a:r>
                      <a:r>
                        <a:rPr kumimoji="0" lang="en-US" sz="1600" b="1" i="0" u="none" strike="noStrike" cap="none" normalizeH="0" baseline="0" dirty="0">
                          <a:ln>
                            <a:noFill/>
                          </a:ln>
                          <a:solidFill>
                            <a:schemeClr val="tx1"/>
                          </a:solidFill>
                          <a:effectLst/>
                          <a:latin typeface="Kruti Dev 010" pitchFamily="2" charset="0"/>
                          <a:cs typeface="Arial" pitchFamily="34" charset="0"/>
                        </a:rPr>
                        <a:t>]</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Education-</a:t>
                      </a:r>
                      <a:r>
                        <a:rPr kumimoji="0" lang="en-US" sz="1400" b="1" i="0" u="none" strike="noStrike" cap="none" normalizeH="0" baseline="0" dirty="0" err="1">
                          <a:ln>
                            <a:noFill/>
                          </a:ln>
                          <a:solidFill>
                            <a:schemeClr val="tx1"/>
                          </a:solidFill>
                          <a:effectLst/>
                          <a:latin typeface="Arial" pitchFamily="34" charset="0"/>
                          <a:cs typeface="Times New Roman" pitchFamily="18" charset="0"/>
                        </a:rPr>
                        <a:t>Sanskar</a:t>
                      </a:r>
                      <a:r>
                        <a:rPr kumimoji="0" lang="en-US" sz="1400" b="1" i="0" u="none" strike="noStrike" cap="none" normalizeH="0" baseline="0" dirty="0">
                          <a:ln>
                            <a:noFill/>
                          </a:ln>
                          <a:solidFill>
                            <a:schemeClr val="tx1"/>
                          </a:solidFill>
                          <a:effectLst/>
                          <a:latin typeface="Arial" pitchFamily="34" charset="0"/>
                          <a:cs typeface="Times New Roman" pitchFamily="18" charset="0"/>
                        </a:rPr>
                        <a:t>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10" name="Rectangle 22">
            <a:extLst>
              <a:ext uri="{FF2B5EF4-FFF2-40B4-BE49-F238E27FC236}">
                <a16:creationId xmlns:a16="http://schemas.microsoft.com/office/drawing/2014/main" xmlns="" id="{F74A7A72-A65D-4F2C-8064-C2F86B223707}"/>
              </a:ext>
            </a:extLst>
          </p:cNvPr>
          <p:cNvSpPr>
            <a:spLocks noChangeArrowheads="1"/>
          </p:cNvSpPr>
          <p:nvPr/>
        </p:nvSpPr>
        <p:spPr bwMode="auto">
          <a:xfrm rot="20967641">
            <a:off x="49213" y="2751177"/>
            <a:ext cx="5791200" cy="1107996"/>
          </a:xfrm>
          <a:prstGeom prst="rect">
            <a:avLst/>
          </a:prstGeom>
          <a:solidFill>
            <a:srgbClr val="FFC000"/>
          </a:solidFill>
          <a:ln w="9525">
            <a:noFill/>
            <a:miter lim="800000"/>
            <a:headEnd/>
            <a:tailEnd/>
          </a:ln>
          <a:effectLst>
            <a:outerShdw blurRad="50800" dist="50800" dir="5400000" algn="ctr" rotWithShape="0">
              <a:schemeClr val="tx1"/>
            </a:outerShdw>
          </a:effectLst>
        </p:spPr>
        <p:txBody>
          <a:bodyPr>
            <a:spAutoFit/>
          </a:bodyPr>
          <a:lstStyle/>
          <a:p>
            <a:pPr marL="685800" lvl="1" indent="-457200" eaLnBrk="1" hangingPunct="1">
              <a:buFont typeface="Wingdings" pitchFamily="2" charset="2"/>
              <a:buNone/>
              <a:defRPr/>
            </a:pPr>
            <a:r>
              <a:rPr lang="en-US" sz="2200" dirty="0">
                <a:solidFill>
                  <a:prstClr val="black"/>
                </a:solidFill>
              </a:rPr>
              <a:t>NATURAL CHARACTERISTIC</a:t>
            </a:r>
          </a:p>
          <a:p>
            <a:pPr marL="685800" lvl="1" indent="-457200" eaLnBrk="1" hangingPunct="1">
              <a:buFont typeface="Wingdings" pitchFamily="2" charset="2"/>
              <a:buNone/>
              <a:defRPr/>
            </a:pPr>
            <a:r>
              <a:rPr lang="en-US" sz="2200" dirty="0" err="1">
                <a:solidFill>
                  <a:prstClr val="black"/>
                </a:solidFill>
              </a:rPr>
              <a:t>Recognises</a:t>
            </a:r>
            <a:r>
              <a:rPr lang="en-US" sz="2200" dirty="0">
                <a:solidFill>
                  <a:prstClr val="black"/>
                </a:solidFill>
              </a:rPr>
              <a:t> it's relationship, </a:t>
            </a:r>
          </a:p>
          <a:p>
            <a:pPr marL="685800" lvl="1" indent="-457200" eaLnBrk="1" hangingPunct="1">
              <a:buFont typeface="Wingdings" pitchFamily="2" charset="2"/>
              <a:buNone/>
              <a:defRPr/>
            </a:pPr>
            <a:r>
              <a:rPr lang="en-US" sz="2200" dirty="0">
                <a:solidFill>
                  <a:prstClr val="black"/>
                </a:solidFill>
              </a:rPr>
              <a:t>    Fulfills its relationship with every other unit</a:t>
            </a:r>
            <a:endParaRPr lang="en-US" dirty="0">
              <a:solidFill>
                <a:prstClr val="black"/>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Knowledge of Existence – Harmony(CO4)</a:t>
            </a:r>
            <a:endParaRPr lang="en-US" sz="3200" b="1" dirty="0">
              <a:latin typeface="Arial" pitchFamily="34" charset="0"/>
              <a:cs typeface="Arial" pitchFamily="34" charset="0"/>
            </a:endParaRPr>
          </a:p>
        </p:txBody>
      </p:sp>
      <p:sp>
        <p:nvSpPr>
          <p:cNvPr id="6" name="Date Placeholder 5"/>
          <p:cNvSpPr>
            <a:spLocks noGrp="1"/>
          </p:cNvSpPr>
          <p:nvPr>
            <p:ph type="dt" sz="half" idx="10"/>
          </p:nvPr>
        </p:nvSpPr>
        <p:spPr/>
        <p:txBody>
          <a:bodyPr/>
          <a:lstStyle/>
          <a:p>
            <a:fld id="{1285D36B-03B6-4011-95FA-8EBCE3AB6C6E}" type="datetime1">
              <a:rPr lang="en-US" smtClean="0"/>
              <a:pPr/>
              <a:t>06/25/21</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51</a:t>
            </a:fld>
            <a:endParaRPr lang="en-US"/>
          </a:p>
        </p:txBody>
      </p:sp>
      <p:sp>
        <p:nvSpPr>
          <p:cNvPr id="8" name="Footer Placeholder 7"/>
          <p:cNvSpPr>
            <a:spLocks noGrp="1"/>
          </p:cNvSpPr>
          <p:nvPr>
            <p:ph type="ftr" sz="quarter" idx="11"/>
          </p:nvPr>
        </p:nvSpPr>
        <p:spPr>
          <a:xfrm>
            <a:off x="2714612" y="6356350"/>
            <a:ext cx="5500726" cy="365125"/>
          </a:xfrm>
        </p:spPr>
        <p:txBody>
          <a:bodyPr/>
          <a:lstStyle/>
          <a:p>
            <a:r>
              <a:rPr lang="fi-FI" smtClean="0"/>
              <a:t>SHYAM  LAL SHARMA             KOE069 UHV-2               Unit -4</a:t>
            </a:r>
            <a:endParaRPr lang="en-US" dirty="0"/>
          </a:p>
        </p:txBody>
      </p:sp>
      <p:graphicFrame>
        <p:nvGraphicFramePr>
          <p:cNvPr id="9" name="Table 8">
            <a:extLst>
              <a:ext uri="{FF2B5EF4-FFF2-40B4-BE49-F238E27FC236}">
                <a16:creationId xmlns:a16="http://schemas.microsoft.com/office/drawing/2014/main" xmlns="" id="{9D5A1EFF-9F90-4B31-B01C-A7C112DCF870}"/>
              </a:ext>
            </a:extLst>
          </p:cNvPr>
          <p:cNvGraphicFramePr>
            <a:graphicFrameLocks noGrp="1"/>
          </p:cNvGraphicFramePr>
          <p:nvPr/>
        </p:nvGraphicFramePr>
        <p:xfrm>
          <a:off x="-32" y="857232"/>
          <a:ext cx="9072593" cy="5304925"/>
        </p:xfrm>
        <a:graphic>
          <a:graphicData uri="http://schemas.openxmlformats.org/drawingml/2006/table">
            <a:tbl>
              <a:tblPr/>
              <a:tblGrid>
                <a:gridCol w="878907">
                  <a:extLst>
                    <a:ext uri="{9D8B030D-6E8A-4147-A177-3AD203B41FA5}">
                      <a16:colId xmlns:a16="http://schemas.microsoft.com/office/drawing/2014/main" xmlns="" val="20000"/>
                    </a:ext>
                  </a:extLst>
                </a:gridCol>
                <a:gridCol w="860006">
                  <a:extLst>
                    <a:ext uri="{9D8B030D-6E8A-4147-A177-3AD203B41FA5}">
                      <a16:colId xmlns:a16="http://schemas.microsoft.com/office/drawing/2014/main" xmlns="" val="20001"/>
                    </a:ext>
                  </a:extLst>
                </a:gridCol>
                <a:gridCol w="1814519">
                  <a:extLst>
                    <a:ext uri="{9D8B030D-6E8A-4147-A177-3AD203B41FA5}">
                      <a16:colId xmlns:a16="http://schemas.microsoft.com/office/drawing/2014/main" xmlns="" val="20002"/>
                    </a:ext>
                  </a:extLst>
                </a:gridCol>
                <a:gridCol w="1877523">
                  <a:extLst>
                    <a:ext uri="{9D8B030D-6E8A-4147-A177-3AD203B41FA5}">
                      <a16:colId xmlns:a16="http://schemas.microsoft.com/office/drawing/2014/main" xmlns="" val="20003"/>
                    </a:ext>
                  </a:extLst>
                </a:gridCol>
                <a:gridCol w="2053934">
                  <a:extLst>
                    <a:ext uri="{9D8B030D-6E8A-4147-A177-3AD203B41FA5}">
                      <a16:colId xmlns:a16="http://schemas.microsoft.com/office/drawing/2014/main" xmlns="" val="20004"/>
                    </a:ext>
                  </a:extLst>
                </a:gridCol>
                <a:gridCol w="1587704">
                  <a:extLst>
                    <a:ext uri="{9D8B030D-6E8A-4147-A177-3AD203B41FA5}">
                      <a16:colId xmlns:a16="http://schemas.microsoft.com/office/drawing/2014/main" xmlns="" val="20005"/>
                    </a:ext>
                  </a:extLst>
                </a:gridCol>
              </a:tblGrid>
              <a:tr h="84482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ORDERS </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Arial" pitchFamily="34" charset="0"/>
                          <a:cs typeface="Times New Roman" pitchFamily="18" charset="0"/>
                        </a:rPr>
                        <a:t>4</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UNITS</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ACTIVITY</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INNATENESS</a:t>
                      </a:r>
                      <a:endParaRPr kumimoji="0" lang="en-US" sz="1400"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(Self-</a:t>
                      </a:r>
                      <a:r>
                        <a:rPr kumimoji="0" lang="en-US" sz="1400" b="0" i="0" u="none" strike="noStrike" cap="none" normalizeH="0" baseline="0" dirty="0" err="1">
                          <a:ln>
                            <a:noFill/>
                          </a:ln>
                          <a:solidFill>
                            <a:schemeClr val="tx1"/>
                          </a:solidFill>
                          <a:effectLst/>
                          <a:latin typeface="Arial" pitchFamily="34" charset="0"/>
                          <a:cs typeface="Arial" pitchFamily="34" charset="0"/>
                        </a:rPr>
                        <a:t>organisation</a:t>
                      </a:r>
                      <a:r>
                        <a:rPr kumimoji="0" lang="en-US" sz="1400" b="0" i="0" u="none" strike="noStrike" cap="none" normalizeH="0" baseline="0" dirty="0">
                          <a:ln>
                            <a:noFill/>
                          </a:ln>
                          <a:solidFill>
                            <a:schemeClr val="tx1"/>
                          </a:solidFill>
                          <a:effectLst/>
                          <a:latin typeface="Arial" pitchFamily="34" charset="0"/>
                          <a:cs typeface="Arial" pitchFamily="34" charset="0"/>
                        </a:rPr>
                        <a:t>)</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NATURAL CHARACTERISTIC</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cs typeface="Arial" pitchFamily="34" charset="0"/>
                        </a:rPr>
                        <a:t>(Participation)</a:t>
                      </a: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INHERITANCE</a:t>
                      </a:r>
                      <a:endParaRPr kumimoji="0" lang="en-US" sz="1200" b="0"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EECE1"/>
                    </a:solidFill>
                  </a:tcPr>
                </a:tc>
                <a:extLst>
                  <a:ext uri="{0D108BD9-81ED-4DB2-BD59-A6C34878D82A}">
                    <a16:rowId xmlns:a16="http://schemas.microsoft.com/office/drawing/2014/main" xmlns="" val="10000"/>
                  </a:ext>
                </a:extLst>
              </a:tr>
              <a:tr h="640904">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Physical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Soil, Metal</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Formation - Deformation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Existence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Composition-Decomposition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Constitution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4462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Bio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Plants, Trees</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Respiration</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 Growth</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Nurture-Worsen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a:ln>
                            <a:noFill/>
                          </a:ln>
                          <a:solidFill>
                            <a:srgbClr val="002060"/>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Seed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0695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Animals,  Birds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Cruelty, Non-cruelty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lumMod val="40000"/>
                        <a:lumOff val="6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Breed based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53448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Human Beings</a:t>
                      </a:r>
                      <a:r>
                        <a:rPr kumimoji="0" lang="fr-FR"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r>
                        <a:rPr kumimoji="0" lang="en-US" sz="1400" b="1" i="0" u="none" strike="noStrike" cap="none" normalizeH="0" baseline="0" dirty="0">
                          <a:ln>
                            <a:noFill/>
                          </a:ln>
                          <a:solidFill>
                            <a:schemeClr val="tx1"/>
                          </a:solidFill>
                          <a:effectLst/>
                          <a:latin typeface="Kruti Dev 010" pitchFamily="2" charset="0"/>
                          <a:ea typeface="Times New Roman" pitchFamily="18" charset="0"/>
                          <a:cs typeface="Arial" pitchFamily="34"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Imaging, </a:t>
                      </a:r>
                      <a:r>
                        <a:rPr kumimoji="0" lang="en-US" sz="1400" b="1" i="0" u="none" strike="noStrike" cap="none" normalizeH="0" baseline="0" dirty="0" err="1">
                          <a:ln>
                            <a:noFill/>
                          </a:ln>
                          <a:solidFill>
                            <a:schemeClr val="tx1"/>
                          </a:solidFill>
                          <a:effectLst/>
                          <a:latin typeface="Arial" pitchFamily="34" charset="0"/>
                          <a:cs typeface="Times New Roman" pitchFamily="18" charset="0"/>
                        </a:rPr>
                        <a:t>Analysing</a:t>
                      </a:r>
                      <a:r>
                        <a:rPr kumimoji="0" lang="en-US" sz="1400" b="1" i="0" u="none" strike="noStrike" cap="none" normalizeH="0" baseline="0" dirty="0">
                          <a:ln>
                            <a:noFill/>
                          </a:ln>
                          <a:solidFill>
                            <a:schemeClr val="tx1"/>
                          </a:solidFill>
                          <a:effectLst/>
                          <a:latin typeface="Arial" pitchFamily="34" charset="0"/>
                          <a:cs typeface="Times New Roman" pitchFamily="18" charset="0"/>
                        </a:rPr>
                        <a:t>, Selecting/Tasting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Potential for Contemplation, Understanding &amp; </a:t>
                      </a:r>
                      <a:r>
                        <a:rPr kumimoji="0" lang="en-US" sz="1400" b="1" i="0" u="none" strike="noStrike" cap="none" normalizeH="0" baseline="0" dirty="0" err="1">
                          <a:ln>
                            <a:noFill/>
                          </a:ln>
                          <a:solidFill>
                            <a:schemeClr val="tx1"/>
                          </a:solidFill>
                          <a:effectLst/>
                          <a:latin typeface="Arial" pitchFamily="34" charset="0"/>
                          <a:cs typeface="Times New Roman" pitchFamily="18" charset="0"/>
                        </a:rPr>
                        <a:t>Realisation</a:t>
                      </a:r>
                      <a:r>
                        <a:rPr kumimoji="0" lang="en-US" sz="1400" b="1" i="0" u="none" strike="noStrike" cap="none" normalizeH="0" baseline="0" dirty="0">
                          <a:ln>
                            <a:noFill/>
                          </a:ln>
                          <a:solidFill>
                            <a:schemeClr val="tx1"/>
                          </a:solidFill>
                          <a:effectLst/>
                          <a:latin typeface="Arial" pitchFamily="34" charset="0"/>
                          <a:cs typeface="Times New Roman" pitchFamily="18" charset="0"/>
                        </a:rPr>
                        <a:t>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Will to live with continuous happiness in I</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Feeling &amp; Thought </a:t>
                      </a:r>
                      <a:endParaRPr kumimoji="0" lang="en-US" sz="1400" b="1" i="0" u="none" strike="noStrike" cap="none" normalizeH="0" baseline="0" dirty="0">
                        <a:ln>
                          <a:noFill/>
                        </a:ln>
                        <a:solidFill>
                          <a:schemeClr val="tx1"/>
                        </a:solidFill>
                        <a:effectLst/>
                        <a:latin typeface="Kruti Dev 010" pitchFamily="2"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Calibri"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Calibri" pitchFamily="34" charset="0"/>
                        </a:rPr>
                        <a:t>Right Understanding </a:t>
                      </a:r>
                      <a:endParaRPr kumimoji="0" lang="en-US" sz="1100" b="1" i="0" u="none" strike="noStrike" cap="none" normalizeH="0" baseline="0" dirty="0">
                        <a:ln>
                          <a:noFill/>
                        </a:ln>
                        <a:solidFill>
                          <a:schemeClr val="tx1"/>
                        </a:solidFill>
                        <a:effectLst/>
                        <a:latin typeface="Kruti Dev 010" pitchFamily="2"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 " in body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a:ln>
                          <a:noFill/>
                        </a:ln>
                        <a:solidFill>
                          <a:schemeClr val="tx1"/>
                        </a:solidFill>
                        <a:effectLst/>
                        <a:latin typeface="Arial" pitchFamily="34"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Perseverance, </a:t>
                      </a:r>
                      <a:r>
                        <a:rPr kumimoji="0" lang="en-US" sz="1400" b="1" i="0" u="none" strike="noStrike" cap="none" normalizeH="0" baseline="0" dirty="0" err="1">
                          <a:ln>
                            <a:noFill/>
                          </a:ln>
                          <a:solidFill>
                            <a:schemeClr val="tx1"/>
                          </a:solidFill>
                          <a:effectLst/>
                          <a:latin typeface="Arial" pitchFamily="34" charset="0"/>
                          <a:cs typeface="Times New Roman" pitchFamily="18" charset="0"/>
                        </a:rPr>
                        <a:t>Bravity</a:t>
                      </a:r>
                      <a:r>
                        <a:rPr kumimoji="0" lang="en-US" sz="1400" b="1" i="0" u="none" strike="noStrike" cap="none" normalizeH="0" baseline="0" dirty="0">
                          <a:ln>
                            <a:noFill/>
                          </a:ln>
                          <a:solidFill>
                            <a:schemeClr val="tx1"/>
                          </a:solidFill>
                          <a:effectLst/>
                          <a:latin typeface="Arial" pitchFamily="34" charset="0"/>
                          <a:cs typeface="Times New Roman" pitchFamily="18" charset="0"/>
                        </a:rPr>
                        <a:t>, Generosity… in I </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cs typeface="Times New Roman" pitchFamily="18" charset="0"/>
                        </a:rPr>
                        <a:t>Education-</a:t>
                      </a:r>
                      <a:r>
                        <a:rPr kumimoji="0" lang="en-US" sz="1400" b="1" i="0" u="none" strike="noStrike" cap="none" normalizeH="0" baseline="0" dirty="0" err="1">
                          <a:ln>
                            <a:noFill/>
                          </a:ln>
                          <a:solidFill>
                            <a:schemeClr val="tx1"/>
                          </a:solidFill>
                          <a:effectLst/>
                          <a:latin typeface="Arial" pitchFamily="34" charset="0"/>
                          <a:cs typeface="Times New Roman" pitchFamily="18" charset="0"/>
                        </a:rPr>
                        <a:t>Sanskar</a:t>
                      </a:r>
                      <a:r>
                        <a:rPr kumimoji="0" lang="en-US" sz="1400" b="1" i="0" u="none" strike="noStrike" cap="none" normalizeH="0" baseline="0" dirty="0">
                          <a:ln>
                            <a:noFill/>
                          </a:ln>
                          <a:solidFill>
                            <a:schemeClr val="tx1"/>
                          </a:solidFill>
                          <a:effectLst/>
                          <a:latin typeface="Arial" pitchFamily="34" charset="0"/>
                          <a:cs typeface="Times New Roman" pitchFamily="18" charset="0"/>
                        </a:rPr>
                        <a:t> based</a:t>
                      </a: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1" i="0" u="none" strike="noStrike" cap="none" normalizeH="0" baseline="0" dirty="0">
                        <a:ln>
                          <a:noFill/>
                        </a:ln>
                        <a:solidFill>
                          <a:schemeClr val="tx1"/>
                        </a:solidFill>
                        <a:effectLst/>
                        <a:latin typeface="Times New Roman" pitchFamily="18" charset="0"/>
                        <a:cs typeface="Times New Roman" pitchFamily="18" charset="0"/>
                      </a:endParaRPr>
                    </a:p>
                  </a:txBody>
                  <a:tcPr marL="33618" marR="33618" marT="0" marB="0"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cxnSp>
        <p:nvCxnSpPr>
          <p:cNvPr id="18" name="Straight Arrow Connector 17">
            <a:extLst>
              <a:ext uri="{FF2B5EF4-FFF2-40B4-BE49-F238E27FC236}">
                <a16:creationId xmlns:a16="http://schemas.microsoft.com/office/drawing/2014/main" xmlns="" id="{656270BD-1951-4625-93B7-B178445E4E7D}"/>
              </a:ext>
            </a:extLst>
          </p:cNvPr>
          <p:cNvCxnSpPr/>
          <p:nvPr/>
        </p:nvCxnSpPr>
        <p:spPr>
          <a:xfrm rot="5400000" flipH="1" flipV="1">
            <a:off x="4302919" y="5099856"/>
            <a:ext cx="2286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xmlns="" id="{7AEF14AD-E905-4184-B23C-D30CED64C792}"/>
              </a:ext>
            </a:extLst>
          </p:cNvPr>
          <p:cNvCxnSpPr/>
          <p:nvPr/>
        </p:nvCxnSpPr>
        <p:spPr>
          <a:xfrm rot="5400000" flipH="1" flipV="1">
            <a:off x="4304507" y="4742666"/>
            <a:ext cx="228600" cy="158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xmlns="" id="{184D0996-1096-4E8E-9D61-8E46AD6DE120}"/>
              </a:ext>
            </a:extLst>
          </p:cNvPr>
          <p:cNvCxnSpPr/>
          <p:nvPr/>
        </p:nvCxnSpPr>
        <p:spPr>
          <a:xfrm rot="5400000" flipH="1" flipV="1">
            <a:off x="4344194" y="5504670"/>
            <a:ext cx="152400"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xmlns="" id="{920ADF0E-4101-4AF9-9D65-972F87C23B09}"/>
              </a:ext>
            </a:extLst>
          </p:cNvPr>
          <p:cNvCxnSpPr/>
          <p:nvPr/>
        </p:nvCxnSpPr>
        <p:spPr>
          <a:xfrm rot="10800000">
            <a:off x="4419600" y="5643578"/>
            <a:ext cx="3938614"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CD31BE50-D1CE-4765-889F-0DDBFF9BF5AA}"/>
              </a:ext>
            </a:extLst>
          </p:cNvPr>
          <p:cNvCxnSpPr/>
          <p:nvPr/>
        </p:nvCxnSpPr>
        <p:spPr>
          <a:xfrm>
            <a:off x="5091138" y="4572008"/>
            <a:ext cx="3124200" cy="158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xmlns="" id="{ED858EF6-18EC-4B10-ADEE-D3998291D292}"/>
              </a:ext>
            </a:extLst>
          </p:cNvPr>
          <p:cNvCxnSpPr/>
          <p:nvPr/>
        </p:nvCxnSpPr>
        <p:spPr>
          <a:xfrm rot="5400000">
            <a:off x="8074051" y="4784733"/>
            <a:ext cx="427038" cy="15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36"/>
          <p:cNvSpPr txBox="1">
            <a:spLocks noChangeArrowheads="1"/>
          </p:cNvSpPr>
          <p:nvPr/>
        </p:nvSpPr>
        <p:spPr bwMode="auto">
          <a:xfrm>
            <a:off x="7667636" y="4989520"/>
            <a:ext cx="1066800" cy="738187"/>
          </a:xfrm>
          <a:prstGeom prst="rect">
            <a:avLst/>
          </a:prstGeom>
          <a:solidFill>
            <a:schemeClr val="bg1"/>
          </a:solidFill>
          <a:ln w="9525">
            <a:noFill/>
            <a:miter lim="800000"/>
            <a:headEnd/>
            <a:tailEnd/>
          </a:ln>
        </p:spPr>
        <p:txBody>
          <a:bodyPr>
            <a:spAutoFit/>
          </a:bodyPr>
          <a:lstStyle/>
          <a:p>
            <a:pPr algn="ctr" eaLnBrk="1" hangingPunct="1"/>
            <a:r>
              <a:rPr lang="en-US" altLang="en-US" sz="1400">
                <a:solidFill>
                  <a:srgbClr val="FF0000"/>
                </a:solidFill>
              </a:rPr>
              <a:t>Human Education-sanskar</a:t>
            </a:r>
          </a:p>
        </p:txBody>
      </p:sp>
      <p:sp>
        <p:nvSpPr>
          <p:cNvPr id="26" name="TextBox 36"/>
          <p:cNvSpPr txBox="1">
            <a:spLocks noChangeArrowheads="1"/>
          </p:cNvSpPr>
          <p:nvPr/>
        </p:nvSpPr>
        <p:spPr bwMode="auto">
          <a:xfrm>
            <a:off x="6143636" y="4429132"/>
            <a:ext cx="1600200" cy="307975"/>
          </a:xfrm>
          <a:prstGeom prst="rect">
            <a:avLst/>
          </a:prstGeom>
          <a:solidFill>
            <a:schemeClr val="bg1"/>
          </a:solidFill>
          <a:ln w="9525">
            <a:noFill/>
            <a:miter lim="800000"/>
            <a:headEnd/>
            <a:tailEnd/>
          </a:ln>
        </p:spPr>
        <p:txBody>
          <a:bodyPr>
            <a:spAutoFit/>
          </a:bodyPr>
          <a:lstStyle/>
          <a:p>
            <a:pPr algn="ctr" eaLnBrk="1" hangingPunct="1"/>
            <a:r>
              <a:rPr lang="en-US" altLang="en-US" sz="1400">
                <a:solidFill>
                  <a:srgbClr val="FF0000"/>
                </a:solidFill>
              </a:rPr>
              <a:t>Next Generation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21444DC7-4168-499A-905C-C171B1B93A01}"/>
              </a:ext>
            </a:extLst>
          </p:cNvPr>
          <p:cNvGraphicFramePr>
            <a:graphicFrameLocks noGrp="1"/>
          </p:cNvGraphicFramePr>
          <p:nvPr>
            <p:extLst>
              <p:ext uri="{D42A27DB-BD31-4B8C-83A1-F6EECF244321}">
                <p14:modId xmlns:p14="http://schemas.microsoft.com/office/powerpoint/2010/main" xmlns="" val="4008667175"/>
              </p:ext>
            </p:extLst>
          </p:nvPr>
        </p:nvGraphicFramePr>
        <p:xfrm>
          <a:off x="609600" y="982833"/>
          <a:ext cx="8534400" cy="4093993"/>
        </p:xfrm>
        <a:graphic>
          <a:graphicData uri="http://schemas.openxmlformats.org/drawingml/2006/table">
            <a:tbl>
              <a:tblPr/>
              <a:tblGrid>
                <a:gridCol w="388227">
                  <a:extLst>
                    <a:ext uri="{9D8B030D-6E8A-4147-A177-3AD203B41FA5}">
                      <a16:colId xmlns:a16="http://schemas.microsoft.com/office/drawing/2014/main" xmlns="" val="20000"/>
                    </a:ext>
                  </a:extLst>
                </a:gridCol>
                <a:gridCol w="1592973">
                  <a:extLst>
                    <a:ext uri="{9D8B030D-6E8A-4147-A177-3AD203B41FA5}">
                      <a16:colId xmlns:a16="http://schemas.microsoft.com/office/drawing/2014/main" xmlns="" val="20001"/>
                    </a:ext>
                  </a:extLst>
                </a:gridCol>
                <a:gridCol w="1981200">
                  <a:extLst>
                    <a:ext uri="{9D8B030D-6E8A-4147-A177-3AD203B41FA5}">
                      <a16:colId xmlns:a16="http://schemas.microsoft.com/office/drawing/2014/main" xmlns="" val="20002"/>
                    </a:ext>
                  </a:extLst>
                </a:gridCol>
                <a:gridCol w="2245397">
                  <a:extLst>
                    <a:ext uri="{9D8B030D-6E8A-4147-A177-3AD203B41FA5}">
                      <a16:colId xmlns:a16="http://schemas.microsoft.com/office/drawing/2014/main" xmlns="" val="20003"/>
                    </a:ext>
                  </a:extLst>
                </a:gridCol>
                <a:gridCol w="2326603">
                  <a:extLst>
                    <a:ext uri="{9D8B030D-6E8A-4147-A177-3AD203B41FA5}">
                      <a16:colId xmlns:a16="http://schemas.microsoft.com/office/drawing/2014/main" xmlns="" val="20004"/>
                    </a:ext>
                  </a:extLst>
                </a:gridCol>
              </a:tblGrid>
              <a:tr h="674599">
                <a:tc>
                  <a:txBody>
                    <a:bodyPr/>
                    <a:lstStyle/>
                    <a:p>
                      <a:pPr marL="0" marR="0">
                        <a:spcBef>
                          <a:spcPts val="0"/>
                        </a:spcBef>
                        <a:spcAft>
                          <a:spcPts val="0"/>
                        </a:spcAft>
                      </a:pPr>
                      <a:endParaRPr lang="en-US" sz="1800" b="1" dirty="0">
                        <a:latin typeface="Times New Roman"/>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2000" b="1" dirty="0">
                          <a:latin typeface="Arial"/>
                          <a:ea typeface="Times New Roman"/>
                        </a:rPr>
                        <a:t>Power</a:t>
                      </a:r>
                    </a:p>
                    <a:p>
                      <a:pPr marL="0" marR="0" algn="ctr">
                        <a:spcBef>
                          <a:spcPts val="0"/>
                        </a:spcBef>
                        <a:spcAft>
                          <a:spcPts val="0"/>
                        </a:spcAft>
                      </a:pPr>
                      <a:endParaRPr lang="en-US" sz="2400" b="1" kern="1200" dirty="0">
                        <a:solidFill>
                          <a:srgbClr val="002060"/>
                        </a:solidFill>
                        <a:latin typeface="Kruti Dev 010"/>
                        <a:ea typeface="Times New Roman"/>
                        <a:cs typeface="Arial"/>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1800" b="1" dirty="0">
                          <a:latin typeface="Arial"/>
                          <a:ea typeface="Times New Roman"/>
                        </a:rPr>
                        <a:t>Dynamic Activity</a:t>
                      </a:r>
                    </a:p>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1800" b="1" kern="1200" dirty="0">
                          <a:solidFill>
                            <a:schemeClr val="tx1"/>
                          </a:solidFill>
                          <a:latin typeface="Arial"/>
                          <a:ea typeface="Times New Roman"/>
                          <a:cs typeface="+mn-cs"/>
                        </a:rPr>
                        <a:t>State  Activity</a:t>
                      </a:r>
                    </a:p>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endParaRPr lang="en-US" sz="2400" b="1" kern="1200" dirty="0">
                        <a:solidFill>
                          <a:schemeClr val="tx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0"/>
                  </a:ext>
                </a:extLst>
              </a:tr>
              <a:tr h="674599">
                <a:tc>
                  <a:txBody>
                    <a:bodyPr/>
                    <a:lstStyle/>
                    <a:p>
                      <a:pPr marL="0" marR="0" algn="r">
                        <a:spcBef>
                          <a:spcPts val="0"/>
                        </a:spcBef>
                        <a:spcAft>
                          <a:spcPts val="0"/>
                        </a:spcAft>
                      </a:pPr>
                      <a:r>
                        <a:rPr lang="en-US" sz="2000" b="1">
                          <a:latin typeface="Arial"/>
                          <a:ea typeface="Times New Roman"/>
                        </a:rPr>
                        <a:t>1.</a:t>
                      </a:r>
                      <a:endParaRPr lang="en-US" sz="1800" b="1">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800" b="1" dirty="0">
                        <a:solidFill>
                          <a:schemeClr val="tx1"/>
                        </a:solidFill>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2000" b="1" kern="1200" dirty="0">
                          <a:solidFill>
                            <a:schemeClr val="bg1"/>
                          </a:solidFill>
                          <a:latin typeface="Arial"/>
                          <a:ea typeface="Calibri"/>
                          <a:cs typeface="+mn-cs"/>
                        </a:rPr>
                        <a:t>Authentication</a:t>
                      </a:r>
                    </a:p>
                    <a:p>
                      <a:pPr marL="0" algn="l" defTabSz="914400" rtl="0" eaLnBrk="1" latinLnBrk="0" hangingPunct="1"/>
                      <a:r>
                        <a:rPr lang="en-US" sz="2400" b="1" kern="1200" dirty="0" err="1">
                          <a:solidFill>
                            <a:schemeClr val="bg1"/>
                          </a:solidFill>
                          <a:latin typeface="Kruti Dev 010"/>
                          <a:ea typeface="Times New Roman"/>
                          <a:cs typeface="Arial"/>
                        </a:rPr>
                        <a:t>Áek.k</a:t>
                      </a:r>
                      <a:endParaRPr lang="en-US" sz="2400" b="1" kern="1200" dirty="0">
                        <a:solidFill>
                          <a:schemeClr val="bg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a:spcBef>
                          <a:spcPts val="0"/>
                        </a:spcBef>
                        <a:spcAft>
                          <a:spcPts val="0"/>
                        </a:spcAft>
                      </a:pPr>
                      <a:r>
                        <a:rPr lang="en-US" sz="2000" b="1" dirty="0">
                          <a:solidFill>
                            <a:schemeClr val="bg1"/>
                          </a:solidFill>
                          <a:latin typeface="Arial"/>
                          <a:ea typeface="Calibri"/>
                        </a:rPr>
                        <a:t>Realization</a:t>
                      </a:r>
                      <a:r>
                        <a:rPr lang="en-US" sz="1200" b="1" dirty="0">
                          <a:solidFill>
                            <a:schemeClr val="bg1"/>
                          </a:solidFill>
                          <a:latin typeface="Calibri"/>
                          <a:ea typeface="Calibri"/>
                        </a:rPr>
                        <a:t> </a:t>
                      </a:r>
                    </a:p>
                    <a:p>
                      <a:pPr marL="0" marR="0">
                        <a:spcBef>
                          <a:spcPts val="0"/>
                        </a:spcBef>
                        <a:spcAft>
                          <a:spcPts val="0"/>
                        </a:spcAft>
                      </a:pPr>
                      <a:r>
                        <a:rPr lang="en-US" sz="2400" b="1" kern="1200" dirty="0" err="1">
                          <a:solidFill>
                            <a:schemeClr val="bg1"/>
                          </a:solidFill>
                          <a:latin typeface="Kruti Dev 010"/>
                          <a:ea typeface="Times New Roman"/>
                          <a:cs typeface="Arial"/>
                        </a:rPr>
                        <a:t>vuqHko</a:t>
                      </a:r>
                      <a:endParaRPr lang="en-US" sz="1800" b="1" dirty="0">
                        <a:solidFill>
                          <a:schemeClr val="bg1"/>
                        </a:solidFill>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1"/>
                  </a:ext>
                </a:extLst>
              </a:tr>
              <a:tr h="658012">
                <a:tc>
                  <a:txBody>
                    <a:bodyPr/>
                    <a:lstStyle/>
                    <a:p>
                      <a:r>
                        <a:rPr lang="en-US" sz="2000" b="1" dirty="0">
                          <a:latin typeface="Arial"/>
                          <a:ea typeface="Calibri"/>
                        </a:rPr>
                        <a:t>2.</a:t>
                      </a:r>
                      <a:r>
                        <a:rPr lang="en-US" sz="1200" b="1" dirty="0">
                          <a:latin typeface="Calibri"/>
                          <a:ea typeface="Calibri"/>
                        </a:rPr>
                        <a:t>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800" b="1" dirty="0">
                        <a:solidFill>
                          <a:schemeClr val="tx1"/>
                        </a:solidFill>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2000" b="1" kern="1200" dirty="0">
                          <a:solidFill>
                            <a:schemeClr val="bg1"/>
                          </a:solidFill>
                          <a:latin typeface="Arial"/>
                          <a:ea typeface="Calibri"/>
                          <a:cs typeface="+mn-cs"/>
                        </a:rPr>
                        <a:t>Determination</a:t>
                      </a:r>
                    </a:p>
                    <a:p>
                      <a:r>
                        <a:rPr lang="en-US" sz="2400" b="1" kern="1200" dirty="0" err="1">
                          <a:solidFill>
                            <a:schemeClr val="bg1"/>
                          </a:solidFill>
                          <a:latin typeface="Kruti Dev 010"/>
                          <a:ea typeface="Times New Roman"/>
                          <a:cs typeface="Arial"/>
                        </a:rPr>
                        <a:t>ladYi</a:t>
                      </a:r>
                      <a:endParaRPr lang="en-US" sz="2400" b="1" kern="1200" dirty="0">
                        <a:solidFill>
                          <a:schemeClr val="bg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a:spcBef>
                          <a:spcPts val="0"/>
                        </a:spcBef>
                        <a:spcAft>
                          <a:spcPts val="0"/>
                        </a:spcAft>
                      </a:pPr>
                      <a:r>
                        <a:rPr lang="en-US" sz="2000" b="1" dirty="0">
                          <a:solidFill>
                            <a:schemeClr val="bg1"/>
                          </a:solidFill>
                          <a:latin typeface="Arial"/>
                          <a:ea typeface="Times New Roman"/>
                        </a:rPr>
                        <a:t>Understanding</a:t>
                      </a:r>
                      <a:endParaRPr lang="en-US" sz="1800" b="1" dirty="0">
                        <a:solidFill>
                          <a:schemeClr val="bg1"/>
                        </a:solidFill>
                        <a:latin typeface="Times New Roman"/>
                        <a:ea typeface="Times New Roman"/>
                      </a:endParaRPr>
                    </a:p>
                    <a:p>
                      <a:pPr marL="0" marR="0">
                        <a:spcBef>
                          <a:spcPts val="0"/>
                        </a:spcBef>
                        <a:spcAft>
                          <a:spcPts val="0"/>
                        </a:spcAft>
                      </a:pPr>
                      <a:r>
                        <a:rPr lang="en-US" sz="2400" b="1" kern="1200" dirty="0" err="1">
                          <a:solidFill>
                            <a:schemeClr val="bg1"/>
                          </a:solidFill>
                          <a:latin typeface="Kruti Dev 010"/>
                          <a:ea typeface="Times New Roman"/>
                          <a:cs typeface="Arial"/>
                        </a:rPr>
                        <a:t>cks</a:t>
                      </a:r>
                      <a:r>
                        <a:rPr lang="en-US" sz="2400" b="1" kern="1200" dirty="0">
                          <a:solidFill>
                            <a:schemeClr val="bg1"/>
                          </a:solidFill>
                          <a:latin typeface="Kruti Dev 010"/>
                          <a:ea typeface="Times New Roman"/>
                          <a:cs typeface="Arial"/>
                        </a:rPr>
                        <a:t>/k</a:t>
                      </a:r>
                      <a:endParaRPr lang="en-US" sz="1800" b="1" dirty="0">
                        <a:solidFill>
                          <a:schemeClr val="bg1"/>
                        </a:solidFill>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2"/>
                  </a:ext>
                </a:extLst>
              </a:tr>
              <a:tr h="729076">
                <a:tc>
                  <a:txBody>
                    <a:bodyPr/>
                    <a:lstStyle/>
                    <a:p>
                      <a:pPr marL="0" marR="0" algn="r">
                        <a:spcBef>
                          <a:spcPts val="0"/>
                        </a:spcBef>
                        <a:spcAft>
                          <a:spcPts val="0"/>
                        </a:spcAft>
                      </a:pPr>
                      <a:r>
                        <a:rPr lang="en-US" sz="2000" b="1" dirty="0">
                          <a:latin typeface="Arial"/>
                          <a:ea typeface="Times New Roman"/>
                        </a:rPr>
                        <a:t>3.</a:t>
                      </a:r>
                      <a:endParaRPr lang="en-US" sz="1800" b="1" dirty="0">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Desire</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Imaging</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bg1"/>
                          </a:solidFill>
                          <a:latin typeface="Arial"/>
                          <a:ea typeface="Times New Roman"/>
                          <a:cs typeface="+mn-cs"/>
                        </a:rPr>
                        <a:t>Contemplation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a:solidFill>
                          <a:schemeClr val="bg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endParaRPr lang="en-US" sz="20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3"/>
                  </a:ext>
                </a:extLst>
              </a:tr>
              <a:tr h="665834">
                <a:tc>
                  <a:txBody>
                    <a:bodyPr/>
                    <a:lstStyle/>
                    <a:p>
                      <a:pPr marL="0" marR="0" algn="r">
                        <a:spcBef>
                          <a:spcPts val="0"/>
                        </a:spcBef>
                        <a:spcAft>
                          <a:spcPts val="0"/>
                        </a:spcAft>
                      </a:pPr>
                      <a:r>
                        <a:rPr lang="en-US" sz="2000" b="1">
                          <a:latin typeface="Arial"/>
                          <a:ea typeface="Times New Roman"/>
                        </a:rPr>
                        <a:t>4.</a:t>
                      </a:r>
                      <a:endParaRPr lang="en-US" sz="1800" b="1">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Thought</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err="1">
                          <a:latin typeface="Arial"/>
                          <a:ea typeface="Times New Roman"/>
                        </a:rPr>
                        <a:t>Analysing</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l" defTabSz="914400" rtl="0" eaLnBrk="1" latinLnBrk="0" hangingPunct="1">
                        <a:spcBef>
                          <a:spcPts val="0"/>
                        </a:spcBef>
                        <a:spcAft>
                          <a:spcPts val="0"/>
                        </a:spcAft>
                      </a:pPr>
                      <a:r>
                        <a:rPr lang="en-US" sz="2000" b="1" kern="1200" dirty="0">
                          <a:solidFill>
                            <a:schemeClr val="tx1"/>
                          </a:solidFill>
                          <a:latin typeface="Arial"/>
                          <a:ea typeface="Times New Roman"/>
                          <a:cs typeface="+mn-cs"/>
                        </a:rPr>
                        <a:t>Comparing</a:t>
                      </a:r>
                    </a:p>
                    <a:p>
                      <a:pPr marL="0" marR="0" algn="l" defTabSz="914400" rtl="0" eaLnBrk="1" latinLnBrk="0" hangingPunct="1">
                        <a:spcBef>
                          <a:spcPts val="0"/>
                        </a:spcBef>
                        <a:spcAft>
                          <a:spcPts val="0"/>
                        </a:spcAft>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l" defTabSz="914400" rtl="0" eaLnBrk="1" latinLnBrk="0" hangingPunct="1">
                        <a:spcBef>
                          <a:spcPts val="0"/>
                        </a:spcBef>
                        <a:spcAft>
                          <a:spcPts val="0"/>
                        </a:spcAft>
                      </a:pPr>
                      <a:endParaRPr lang="en-US" sz="2000" b="1" kern="1200" dirty="0">
                        <a:solidFill>
                          <a:schemeClr val="tx1"/>
                        </a:solidFill>
                        <a:latin typeface="Arial"/>
                        <a:ea typeface="Times New Roman"/>
                        <a:cs typeface="+mn-cs"/>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4"/>
                  </a:ext>
                </a:extLst>
              </a:tr>
              <a:tr h="674599">
                <a:tc>
                  <a:txBody>
                    <a:bodyPr/>
                    <a:lstStyle/>
                    <a:p>
                      <a:pPr marL="0" marR="0" algn="r">
                        <a:spcBef>
                          <a:spcPts val="0"/>
                        </a:spcBef>
                        <a:spcAft>
                          <a:spcPts val="0"/>
                        </a:spcAft>
                      </a:pPr>
                      <a:r>
                        <a:rPr lang="en-US" sz="2000" b="1">
                          <a:latin typeface="Arial"/>
                          <a:ea typeface="Times New Roman"/>
                        </a:rPr>
                        <a:t>5.</a:t>
                      </a:r>
                      <a:endParaRPr lang="en-US" sz="1800" b="1">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Expectation</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Selecting</a:t>
                      </a:r>
                      <a:endParaRPr lang="en-US" sz="18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spcBef>
                          <a:spcPts val="0"/>
                        </a:spcBef>
                        <a:spcAft>
                          <a:spcPts val="0"/>
                        </a:spcAft>
                      </a:pPr>
                      <a:r>
                        <a:rPr lang="en-US" sz="2000" b="1" kern="1200" dirty="0">
                          <a:solidFill>
                            <a:schemeClr val="tx1"/>
                          </a:solidFill>
                          <a:latin typeface="Arial"/>
                          <a:ea typeface="Times New Roman"/>
                          <a:cs typeface="+mn-cs"/>
                        </a:rPr>
                        <a:t>Tasting</a:t>
                      </a:r>
                    </a:p>
                    <a:p>
                      <a:pPr marL="0" marR="0">
                        <a:spcBef>
                          <a:spcPts val="0"/>
                        </a:spcBef>
                        <a:spcAft>
                          <a:spcPts val="0"/>
                        </a:spcAft>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spcBef>
                          <a:spcPts val="0"/>
                        </a:spcBef>
                        <a:spcAft>
                          <a:spcPts val="0"/>
                        </a:spcAft>
                      </a:pPr>
                      <a:endParaRPr lang="en-US" sz="1800" b="1" dirty="0">
                        <a:solidFill>
                          <a:schemeClr val="tx1"/>
                        </a:solidFill>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5"/>
                  </a:ext>
                </a:extLst>
              </a:tr>
            </a:tbl>
          </a:graphicData>
        </a:graphic>
      </p:graphicFrame>
      <p:sp>
        <p:nvSpPr>
          <p:cNvPr id="15403" name="Rectangle 8"/>
          <p:cNvSpPr>
            <a:spLocks noChangeArrowheads="1"/>
          </p:cNvSpPr>
          <p:nvPr/>
        </p:nvSpPr>
        <p:spPr bwMode="auto">
          <a:xfrm rot="-5400000">
            <a:off x="-136524" y="1976437"/>
            <a:ext cx="1008062" cy="830263"/>
          </a:xfrm>
          <a:prstGeom prst="rect">
            <a:avLst/>
          </a:prstGeom>
          <a:noFill/>
          <a:ln w="9525">
            <a:noFill/>
            <a:miter lim="800000"/>
            <a:headEnd/>
            <a:tailEnd/>
          </a:ln>
        </p:spPr>
        <p:txBody>
          <a:bodyPr wrap="none">
            <a:spAutoFit/>
          </a:bodyPr>
          <a:lstStyle/>
          <a:p>
            <a:pPr eaLnBrk="1" hangingPunct="1"/>
            <a:r>
              <a:rPr lang="en-US" altLang="en-US" sz="2000">
                <a:solidFill>
                  <a:srgbClr val="000000"/>
                </a:solidFill>
              </a:rPr>
              <a:t>Self (I) </a:t>
            </a:r>
          </a:p>
          <a:p>
            <a:pPr eaLnBrk="1" hangingPunct="1"/>
            <a:r>
              <a:rPr lang="en-US" altLang="en-US" sz="2800">
                <a:solidFill>
                  <a:srgbClr val="1E00AA"/>
                </a:solidFill>
                <a:latin typeface="Kruti Dev 010" pitchFamily="2" charset="0"/>
              </a:rPr>
              <a:t>eSa</a:t>
            </a:r>
            <a:r>
              <a:rPr lang="en-US" altLang="en-US" sz="2400">
                <a:solidFill>
                  <a:srgbClr val="000000"/>
                </a:solidFill>
                <a:latin typeface="Kruti Dev 010" pitchFamily="2" charset="0"/>
              </a:rPr>
              <a:t> </a:t>
            </a:r>
            <a:endParaRPr lang="en-US" altLang="en-US" sz="2000">
              <a:solidFill>
                <a:srgbClr val="000000"/>
              </a:solidFill>
            </a:endParaRPr>
          </a:p>
        </p:txBody>
      </p:sp>
      <p:sp>
        <p:nvSpPr>
          <p:cNvPr id="15404" name="Rectangle 10"/>
          <p:cNvSpPr>
            <a:spLocks noChangeArrowheads="1"/>
          </p:cNvSpPr>
          <p:nvPr/>
        </p:nvSpPr>
        <p:spPr bwMode="auto">
          <a:xfrm>
            <a:off x="0" y="5105400"/>
            <a:ext cx="766557" cy="400110"/>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Body </a:t>
            </a:r>
          </a:p>
        </p:txBody>
      </p:sp>
      <p:cxnSp>
        <p:nvCxnSpPr>
          <p:cNvPr id="13" name="Straight Connector 12">
            <a:extLst>
              <a:ext uri="{FF2B5EF4-FFF2-40B4-BE49-F238E27FC236}">
                <a16:creationId xmlns:a16="http://schemas.microsoft.com/office/drawing/2014/main" xmlns="" id="{DC64B4B7-56D8-4F31-9260-1213D31BAD63}"/>
              </a:ext>
            </a:extLst>
          </p:cNvPr>
          <p:cNvCxnSpPr/>
          <p:nvPr/>
        </p:nvCxnSpPr>
        <p:spPr>
          <a:xfrm rot="10800000">
            <a:off x="0" y="5083175"/>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06" name="Rectangle 13"/>
          <p:cNvSpPr>
            <a:spLocks noChangeArrowheads="1"/>
          </p:cNvSpPr>
          <p:nvPr/>
        </p:nvSpPr>
        <p:spPr bwMode="auto">
          <a:xfrm>
            <a:off x="1828800" y="5312647"/>
            <a:ext cx="1271502" cy="830997"/>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Behaviour</a:t>
            </a:r>
            <a:endParaRPr lang="en-US" altLang="en-US" sz="2800" dirty="0">
              <a:solidFill>
                <a:srgbClr val="1E00AA"/>
              </a:solidFill>
              <a:latin typeface="Kruti Dev 010" pitchFamily="2" charset="0"/>
            </a:endParaRPr>
          </a:p>
          <a:p>
            <a:pPr eaLnBrk="1" hangingPunct="1"/>
            <a:r>
              <a:rPr lang="en-US" altLang="en-US" sz="2000" dirty="0">
                <a:solidFill>
                  <a:srgbClr val="000000"/>
                </a:solidFill>
              </a:rPr>
              <a:t>Human</a:t>
            </a:r>
            <a:r>
              <a:rPr lang="en-US" altLang="en-US" sz="2800" dirty="0">
                <a:solidFill>
                  <a:srgbClr val="000000"/>
                </a:solidFill>
              </a:rPr>
              <a:t> </a:t>
            </a:r>
            <a:endParaRPr lang="en-US" altLang="en-US" sz="2800" dirty="0">
              <a:solidFill>
                <a:srgbClr val="1E00AA"/>
              </a:solidFill>
              <a:latin typeface="Kruti Dev 010" pitchFamily="2" charset="0"/>
            </a:endParaRPr>
          </a:p>
        </p:txBody>
      </p:sp>
      <p:sp>
        <p:nvSpPr>
          <p:cNvPr id="15407" name="Rectangle 14"/>
          <p:cNvSpPr>
            <a:spLocks noChangeArrowheads="1"/>
          </p:cNvSpPr>
          <p:nvPr/>
        </p:nvSpPr>
        <p:spPr bwMode="auto">
          <a:xfrm>
            <a:off x="4114800" y="5271987"/>
            <a:ext cx="1683153" cy="800219"/>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Work </a:t>
            </a:r>
            <a:endParaRPr lang="en-US" altLang="en-US" sz="2800" dirty="0">
              <a:solidFill>
                <a:srgbClr val="1E00AA"/>
              </a:solidFill>
              <a:latin typeface="Kruti Dev 010" pitchFamily="2" charset="0"/>
            </a:endParaRPr>
          </a:p>
          <a:p>
            <a:pPr eaLnBrk="1" hangingPunct="1"/>
            <a:endParaRPr lang="en-US" altLang="en-US" sz="600" dirty="0">
              <a:solidFill>
                <a:srgbClr val="000000"/>
              </a:solidFill>
            </a:endParaRPr>
          </a:p>
          <a:p>
            <a:pPr eaLnBrk="1" hangingPunct="1"/>
            <a:r>
              <a:rPr lang="en-US" altLang="en-US" sz="2000" dirty="0">
                <a:solidFill>
                  <a:srgbClr val="000000"/>
                </a:solidFill>
              </a:rPr>
              <a:t>Rest of Nature</a:t>
            </a:r>
          </a:p>
        </p:txBody>
      </p:sp>
      <p:cxnSp>
        <p:nvCxnSpPr>
          <p:cNvPr id="15" name="Straight Connector 14">
            <a:extLst>
              <a:ext uri="{FF2B5EF4-FFF2-40B4-BE49-F238E27FC236}">
                <a16:creationId xmlns:a16="http://schemas.microsoft.com/office/drawing/2014/main" xmlns="" id="{2A1AF35F-C185-4EDC-8390-2C501DC2E832}"/>
              </a:ext>
            </a:extLst>
          </p:cNvPr>
          <p:cNvCxnSpPr/>
          <p:nvPr/>
        </p:nvCxnSpPr>
        <p:spPr>
          <a:xfrm rot="10800000">
            <a:off x="0" y="1479550"/>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2CCEC93-B079-4667-AFD6-270C8C0303A9}"/>
              </a:ext>
            </a:extLst>
          </p:cNvPr>
          <p:cNvCxnSpPr/>
          <p:nvPr/>
        </p:nvCxnSpPr>
        <p:spPr>
          <a:xfrm rot="10800000">
            <a:off x="0" y="5724525"/>
            <a:ext cx="9144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10" name="Rectangle 10"/>
          <p:cNvSpPr>
            <a:spLocks noChangeArrowheads="1"/>
          </p:cNvSpPr>
          <p:nvPr/>
        </p:nvSpPr>
        <p:spPr bwMode="auto">
          <a:xfrm>
            <a:off x="0" y="5715000"/>
            <a:ext cx="1676400" cy="400110"/>
          </a:xfrm>
          <a:prstGeom prst="rect">
            <a:avLst/>
          </a:prstGeom>
          <a:noFill/>
          <a:ln w="9525">
            <a:noFill/>
            <a:miter lim="800000"/>
            <a:headEnd/>
            <a:tailEnd/>
          </a:ln>
        </p:spPr>
        <p:txBody>
          <a:bodyPr>
            <a:spAutoFit/>
          </a:bodyPr>
          <a:lstStyle/>
          <a:p>
            <a:pPr eaLnBrk="1" hangingPunct="1"/>
            <a:r>
              <a:rPr lang="en-US" altLang="en-US" sz="2000" dirty="0">
                <a:solidFill>
                  <a:srgbClr val="000000"/>
                </a:solidFill>
              </a:rPr>
              <a:t>Other </a:t>
            </a:r>
          </a:p>
        </p:txBody>
      </p:sp>
      <p:sp>
        <p:nvSpPr>
          <p:cNvPr id="15411" name="Rectangle 14"/>
          <p:cNvSpPr>
            <a:spLocks noChangeArrowheads="1"/>
          </p:cNvSpPr>
          <p:nvPr/>
        </p:nvSpPr>
        <p:spPr bwMode="auto">
          <a:xfrm>
            <a:off x="6172200" y="5294313"/>
            <a:ext cx="1767279" cy="830997"/>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Participation </a:t>
            </a:r>
            <a:endParaRPr lang="en-US" altLang="en-US" sz="2800" dirty="0">
              <a:solidFill>
                <a:srgbClr val="000000"/>
              </a:solidFill>
            </a:endParaRPr>
          </a:p>
          <a:p>
            <a:pPr eaLnBrk="1" hangingPunct="1"/>
            <a:r>
              <a:rPr lang="en-US" altLang="en-US" sz="2000" dirty="0">
                <a:solidFill>
                  <a:srgbClr val="000000"/>
                </a:solidFill>
              </a:rPr>
              <a:t>in larger </a:t>
            </a:r>
            <a:r>
              <a:rPr lang="en-US" altLang="en-US" sz="2000" dirty="0" err="1">
                <a:solidFill>
                  <a:srgbClr val="000000"/>
                </a:solidFill>
              </a:rPr>
              <a:t>Order</a:t>
            </a:r>
            <a:r>
              <a:rPr lang="en-US" altLang="en-US" sz="2800" dirty="0" err="1">
                <a:solidFill>
                  <a:srgbClr val="1E00AA"/>
                </a:solidFill>
                <a:latin typeface="Kruti Dev 010" pitchFamily="2" charset="0"/>
              </a:rPr>
              <a:t>sa</a:t>
            </a:r>
            <a:endParaRPr lang="en-US" altLang="en-US" sz="2800" dirty="0">
              <a:solidFill>
                <a:srgbClr val="1E00AA"/>
              </a:solidFill>
              <a:latin typeface="Kruti Dev 010" pitchFamily="2" charset="0"/>
            </a:endParaRPr>
          </a:p>
        </p:txBody>
      </p:sp>
      <p:sp>
        <p:nvSpPr>
          <p:cNvPr id="25" name="Oval 5">
            <a:extLst>
              <a:ext uri="{FF2B5EF4-FFF2-40B4-BE49-F238E27FC236}">
                <a16:creationId xmlns:a16="http://schemas.microsoft.com/office/drawing/2014/main" xmlns="" id="{67A30416-9408-42FF-89B2-EE49C33FF0F2}"/>
              </a:ext>
            </a:extLst>
          </p:cNvPr>
          <p:cNvSpPr/>
          <p:nvPr/>
        </p:nvSpPr>
        <p:spPr bwMode="auto">
          <a:xfrm>
            <a:off x="6172200" y="1503363"/>
            <a:ext cx="6096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prstClr val="black"/>
                </a:solidFill>
              </a:rPr>
              <a:t>B1</a:t>
            </a:r>
          </a:p>
        </p:txBody>
      </p:sp>
      <p:sp>
        <p:nvSpPr>
          <p:cNvPr id="26" name="Oval 5">
            <a:extLst>
              <a:ext uri="{FF2B5EF4-FFF2-40B4-BE49-F238E27FC236}">
                <a16:creationId xmlns:a16="http://schemas.microsoft.com/office/drawing/2014/main" xmlns="" id="{B72170FC-313D-4550-A40C-DF2C0DCC0BE6}"/>
              </a:ext>
            </a:extLst>
          </p:cNvPr>
          <p:cNvSpPr/>
          <p:nvPr/>
        </p:nvSpPr>
        <p:spPr bwMode="auto">
          <a:xfrm>
            <a:off x="6172200" y="3678238"/>
            <a:ext cx="6096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prstClr val="black"/>
                </a:solidFill>
              </a:rPr>
              <a:t>B2</a:t>
            </a:r>
          </a:p>
        </p:txBody>
      </p:sp>
      <p:sp>
        <p:nvSpPr>
          <p:cNvPr id="15414" name="Rectangle 8"/>
          <p:cNvSpPr>
            <a:spLocks noChangeArrowheads="1"/>
          </p:cNvSpPr>
          <p:nvPr/>
        </p:nvSpPr>
        <p:spPr bwMode="auto">
          <a:xfrm>
            <a:off x="-71470" y="619109"/>
            <a:ext cx="2022475" cy="523875"/>
          </a:xfrm>
          <a:prstGeom prst="rect">
            <a:avLst/>
          </a:prstGeom>
          <a:noFill/>
          <a:ln w="9525">
            <a:noFill/>
            <a:miter lim="800000"/>
            <a:headEnd/>
            <a:tailEnd/>
          </a:ln>
        </p:spPr>
        <p:txBody>
          <a:bodyPr>
            <a:spAutoFit/>
          </a:bodyPr>
          <a:lstStyle/>
          <a:p>
            <a:pPr eaLnBrk="1" hangingPunct="1"/>
            <a:r>
              <a:rPr lang="en-US" altLang="en-US" sz="2000" dirty="0">
                <a:solidFill>
                  <a:srgbClr val="000000"/>
                </a:solidFill>
              </a:rPr>
              <a:t>Space </a:t>
            </a:r>
            <a:r>
              <a:rPr lang="en-US" altLang="en-US" sz="2800" dirty="0">
                <a:solidFill>
                  <a:srgbClr val="1E00AA"/>
                </a:solidFill>
                <a:latin typeface="Kruti Dev 010" pitchFamily="2" charset="0"/>
              </a:rPr>
              <a:t>“</a:t>
            </a:r>
            <a:r>
              <a:rPr lang="en-US" altLang="en-US" sz="2800" dirty="0" err="1">
                <a:solidFill>
                  <a:srgbClr val="1E00AA"/>
                </a:solidFill>
                <a:latin typeface="Kruti Dev 010" pitchFamily="2" charset="0"/>
              </a:rPr>
              <a:t>kwU</a:t>
            </a:r>
            <a:r>
              <a:rPr lang="en-US" altLang="en-US" sz="2800" dirty="0">
                <a:solidFill>
                  <a:srgbClr val="1E00AA"/>
                </a:solidFill>
                <a:latin typeface="Kruti Dev 010" pitchFamily="2" charset="0"/>
              </a:rPr>
              <a:t>;</a:t>
            </a:r>
          </a:p>
        </p:txBody>
      </p:sp>
      <p:grpSp>
        <p:nvGrpSpPr>
          <p:cNvPr id="2" name="Group 41"/>
          <p:cNvGrpSpPr>
            <a:grpSpLocks/>
          </p:cNvGrpSpPr>
          <p:nvPr/>
        </p:nvGrpSpPr>
        <p:grpSpPr bwMode="auto">
          <a:xfrm>
            <a:off x="2514600" y="5029200"/>
            <a:ext cx="4268788" cy="423863"/>
            <a:chOff x="2514600" y="4986670"/>
            <a:chExt cx="4267994" cy="423530"/>
          </a:xfrm>
        </p:grpSpPr>
        <p:cxnSp>
          <p:nvCxnSpPr>
            <p:cNvPr id="21" name="Straight Connector 20">
              <a:extLst>
                <a:ext uri="{FF2B5EF4-FFF2-40B4-BE49-F238E27FC236}">
                  <a16:creationId xmlns:a16="http://schemas.microsoft.com/office/drawing/2014/main" xmlns="" id="{C465B46D-665C-4460-997F-D4F88B72321F}"/>
                </a:ext>
              </a:extLst>
            </p:cNvPr>
            <p:cNvCxnSpPr/>
            <p:nvPr/>
          </p:nvCxnSpPr>
          <p:spPr>
            <a:xfrm rot="5400000">
              <a:off x="4457407" y="5295990"/>
              <a:ext cx="228420" cy="0"/>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A7BE4F11-2128-4657-B5C0-DFF7072F228A}"/>
                </a:ext>
              </a:extLst>
            </p:cNvPr>
            <p:cNvCxnSpPr/>
            <p:nvPr/>
          </p:nvCxnSpPr>
          <p:spPr>
            <a:xfrm rot="5400000">
              <a:off x="6667590" y="5295196"/>
              <a:ext cx="228420" cy="1588"/>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9BAB40A5-AA9D-41A6-B6F0-E6D8984D9CED}"/>
                </a:ext>
              </a:extLst>
            </p:cNvPr>
            <p:cNvCxnSpPr/>
            <p:nvPr/>
          </p:nvCxnSpPr>
          <p:spPr>
            <a:xfrm rot="5400000">
              <a:off x="2401184" y="5295196"/>
              <a:ext cx="228420" cy="1588"/>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E53B6627-E4C4-4251-B282-C1C85FBBCB47}"/>
                </a:ext>
              </a:extLst>
            </p:cNvPr>
            <p:cNvCxnSpPr/>
            <p:nvPr/>
          </p:nvCxnSpPr>
          <p:spPr>
            <a:xfrm>
              <a:off x="2514600" y="5181780"/>
              <a:ext cx="4266406" cy="158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xmlns="" id="{548887F8-1F80-44FD-95E5-041ADA37D025}"/>
                </a:ext>
              </a:extLst>
            </p:cNvPr>
            <p:cNvCxnSpPr/>
            <p:nvPr/>
          </p:nvCxnSpPr>
          <p:spPr>
            <a:xfrm rot="5400000">
              <a:off x="3483646" y="5084225"/>
              <a:ext cx="195110" cy="0"/>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xmlns="" id="{924D1CCE-0467-4F5D-98B6-9CA434289957}"/>
              </a:ext>
            </a:extLst>
          </p:cNvPr>
          <p:cNvCxnSpPr/>
          <p:nvPr/>
        </p:nvCxnSpPr>
        <p:spPr>
          <a:xfrm>
            <a:off x="2590800" y="2998785"/>
            <a:ext cx="1981200" cy="158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401BB4B8-7764-414C-BC54-358F0708F916}"/>
              </a:ext>
            </a:extLst>
          </p:cNvPr>
          <p:cNvCxnSpPr/>
          <p:nvPr/>
        </p:nvCxnSpPr>
        <p:spPr>
          <a:xfrm>
            <a:off x="4551363" y="3713165"/>
            <a:ext cx="2286000" cy="158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xmlns="" id="{1804C6BE-3FAB-4A09-AF12-DDFA20CF651F}"/>
              </a:ext>
            </a:extLst>
          </p:cNvPr>
          <p:cNvCxnSpPr/>
          <p:nvPr/>
        </p:nvCxnSpPr>
        <p:spPr>
          <a:xfrm rot="16200000" flipH="1">
            <a:off x="4097338" y="3367089"/>
            <a:ext cx="8382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DF272AF7-53B2-4CCC-9B07-CD8B7B8294F1}"/>
              </a:ext>
            </a:extLst>
          </p:cNvPr>
          <p:cNvCxnSpPr/>
          <p:nvPr/>
        </p:nvCxnSpPr>
        <p:spPr>
          <a:xfrm rot="10800000" flipV="1">
            <a:off x="4267200" y="3276600"/>
            <a:ext cx="30480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22EE158E-7399-4F1A-9EB5-4DE933CD8066}"/>
              </a:ext>
            </a:extLst>
          </p:cNvPr>
          <p:cNvCxnSpPr/>
          <p:nvPr/>
        </p:nvCxnSpPr>
        <p:spPr>
          <a:xfrm rot="10800000">
            <a:off x="0" y="998520"/>
            <a:ext cx="9144000" cy="1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Group 27"/>
          <p:cNvGrpSpPr>
            <a:grpSpLocks/>
          </p:cNvGrpSpPr>
          <p:nvPr/>
        </p:nvGrpSpPr>
        <p:grpSpPr bwMode="auto">
          <a:xfrm>
            <a:off x="6858000" y="1752600"/>
            <a:ext cx="2286000" cy="1504950"/>
            <a:chOff x="6858000" y="1274134"/>
            <a:chExt cx="2286000" cy="1505130"/>
          </a:xfrm>
        </p:grpSpPr>
        <p:sp>
          <p:nvSpPr>
            <p:cNvPr id="15422" name="Rectangle 28"/>
            <p:cNvSpPr>
              <a:spLocks noChangeArrowheads="1"/>
            </p:cNvSpPr>
            <p:nvPr/>
          </p:nvSpPr>
          <p:spPr bwMode="auto">
            <a:xfrm>
              <a:off x="6934200" y="1295400"/>
              <a:ext cx="2209800" cy="1477505"/>
            </a:xfrm>
            <a:prstGeom prst="rect">
              <a:avLst/>
            </a:prstGeom>
            <a:solidFill>
              <a:srgbClr val="FFC000"/>
            </a:solidFill>
            <a:ln w="9525">
              <a:noFill/>
              <a:miter lim="800000"/>
              <a:headEnd/>
              <a:tailEnd/>
            </a:ln>
          </p:spPr>
          <p:txBody>
            <a:bodyPr>
              <a:spAutoFit/>
            </a:bodyPr>
            <a:lstStyle/>
            <a:p>
              <a:pPr eaLnBrk="1" hangingPunct="1"/>
              <a:r>
                <a:rPr lang="en-US" altLang="en-US" b="1" dirty="0">
                  <a:solidFill>
                    <a:srgbClr val="000000"/>
                  </a:solidFill>
                  <a:ea typeface="Times New Roman" pitchFamily="18" charset="0"/>
                  <a:cs typeface="Arial" pitchFamily="34" charset="0"/>
                </a:rPr>
                <a:t>Clarity of Harmony in Nature, </a:t>
              </a:r>
            </a:p>
            <a:p>
              <a:pPr eaLnBrk="1" hangingPunct="1"/>
              <a:r>
                <a:rPr lang="en-US" altLang="en-US" b="1" dirty="0">
                  <a:solidFill>
                    <a:srgbClr val="000000"/>
                  </a:solidFill>
                  <a:ea typeface="Times New Roman" pitchFamily="18" charset="0"/>
                  <a:cs typeface="Arial" pitchFamily="34" charset="0"/>
                </a:rPr>
                <a:t>Self-</a:t>
              </a:r>
              <a:r>
                <a:rPr lang="en-US" altLang="en-US" b="1" dirty="0" err="1">
                  <a:solidFill>
                    <a:srgbClr val="000000"/>
                  </a:solidFill>
                  <a:ea typeface="Times New Roman" pitchFamily="18" charset="0"/>
                  <a:cs typeface="Arial" pitchFamily="34" charset="0"/>
                </a:rPr>
                <a:t>organisation</a:t>
              </a:r>
              <a:r>
                <a:rPr lang="en-US" altLang="en-US" b="1" dirty="0">
                  <a:solidFill>
                    <a:srgbClr val="000000"/>
                  </a:solidFill>
                  <a:ea typeface="Times New Roman" pitchFamily="18" charset="0"/>
                  <a:cs typeface="Arial" pitchFamily="34" charset="0"/>
                </a:rPr>
                <a:t>, Innateness</a:t>
              </a:r>
              <a:endParaRPr lang="en-US" altLang="en-US" dirty="0">
                <a:solidFill>
                  <a:srgbClr val="000000"/>
                </a:solidFill>
                <a:ea typeface="Times New Roman" pitchFamily="18" charset="0"/>
                <a:cs typeface="Arial" pitchFamily="34" charset="0"/>
              </a:endParaRPr>
            </a:p>
          </p:txBody>
        </p:sp>
        <p:sp>
          <p:nvSpPr>
            <p:cNvPr id="30" name="Left Brace 29">
              <a:extLst>
                <a:ext uri="{FF2B5EF4-FFF2-40B4-BE49-F238E27FC236}">
                  <a16:creationId xmlns:a16="http://schemas.microsoft.com/office/drawing/2014/main" xmlns="" id="{6C49CFB9-B6AE-4539-AB81-F5C8020DFD8F}"/>
                </a:ext>
              </a:extLst>
            </p:cNvPr>
            <p:cNvSpPr/>
            <p:nvPr/>
          </p:nvSpPr>
          <p:spPr>
            <a:xfrm>
              <a:off x="6858000" y="1274134"/>
              <a:ext cx="152400" cy="1505130"/>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solidFill>
                  <a:prstClr val="black"/>
                </a:solidFill>
              </a:endParaRPr>
            </a:p>
          </p:txBody>
        </p:sp>
      </p:grpSp>
      <p:sp>
        <p:nvSpPr>
          <p:cNvPr id="31" name="Date Placeholder 30"/>
          <p:cNvSpPr>
            <a:spLocks noGrp="1"/>
          </p:cNvSpPr>
          <p:nvPr>
            <p:ph type="dt" sz="half" idx="10"/>
          </p:nvPr>
        </p:nvSpPr>
        <p:spPr/>
        <p:txBody>
          <a:bodyPr/>
          <a:lstStyle/>
          <a:p>
            <a:fld id="{EE096A64-E580-45B1-A1F5-F1135F129CF2}" type="datetime1">
              <a:rPr lang="en-US" smtClean="0"/>
              <a:pPr/>
              <a:t>06/25/21</a:t>
            </a:fld>
            <a:endParaRPr lang="en-US"/>
          </a:p>
        </p:txBody>
      </p:sp>
      <p:sp>
        <p:nvSpPr>
          <p:cNvPr id="32" name="Slide Number Placeholder 31"/>
          <p:cNvSpPr>
            <a:spLocks noGrp="1"/>
          </p:cNvSpPr>
          <p:nvPr>
            <p:ph type="sldNum" sz="quarter" idx="12"/>
          </p:nvPr>
        </p:nvSpPr>
        <p:spPr/>
        <p:txBody>
          <a:bodyPr/>
          <a:lstStyle/>
          <a:p>
            <a:fld id="{B6F15528-21DE-4FAA-801E-634DDDAF4B2B}" type="slidenum">
              <a:rPr lang="en-US" smtClean="0"/>
              <a:pPr/>
              <a:t>52</a:t>
            </a:fld>
            <a:endParaRPr lang="en-US"/>
          </a:p>
        </p:txBody>
      </p:sp>
      <p:sp>
        <p:nvSpPr>
          <p:cNvPr id="33" name="Footer Placeholder 32"/>
          <p:cNvSpPr>
            <a:spLocks noGrp="1"/>
          </p:cNvSpPr>
          <p:nvPr>
            <p:ph type="ftr" sz="quarter" idx="11"/>
          </p:nvPr>
        </p:nvSpPr>
        <p:spPr>
          <a:xfrm>
            <a:off x="2500298" y="6356350"/>
            <a:ext cx="5500726" cy="365125"/>
          </a:xfrm>
        </p:spPr>
        <p:txBody>
          <a:bodyPr/>
          <a:lstStyle/>
          <a:p>
            <a:r>
              <a:rPr lang="fi-FI" smtClean="0"/>
              <a:t>SHYAM  LAL SHARMA             KOE069 UHV-2               Unit -4</a:t>
            </a:r>
            <a:endParaRPr lang="en-US" dirty="0"/>
          </a:p>
        </p:txBody>
      </p:sp>
      <p:sp>
        <p:nvSpPr>
          <p:cNvPr id="3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Knowledge of Human Being (CO4)</a:t>
            </a:r>
            <a:endParaRPr lang="en-US" sz="3200" b="1" dirty="0">
              <a:latin typeface="Arial" pitchFamily="34" charset="0"/>
              <a:cs typeface="Arial" pitchFamily="34" charset="0"/>
            </a:endParaRPr>
          </a:p>
        </p:txBody>
      </p:sp>
      <p:pic>
        <p:nvPicPr>
          <p:cNvPr id="40"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xmlns="" id="{21444DC7-4168-499A-905C-C171B1B93A01}"/>
              </a:ext>
            </a:extLst>
          </p:cNvPr>
          <p:cNvGraphicFramePr>
            <a:graphicFrameLocks noGrp="1"/>
          </p:cNvGraphicFramePr>
          <p:nvPr>
            <p:extLst>
              <p:ext uri="{D42A27DB-BD31-4B8C-83A1-F6EECF244321}">
                <p14:modId xmlns:p14="http://schemas.microsoft.com/office/powerpoint/2010/main" xmlns="" val="80237843"/>
              </p:ext>
            </p:extLst>
          </p:nvPr>
        </p:nvGraphicFramePr>
        <p:xfrm>
          <a:off x="609600" y="982833"/>
          <a:ext cx="8534400" cy="4093993"/>
        </p:xfrm>
        <a:graphic>
          <a:graphicData uri="http://schemas.openxmlformats.org/drawingml/2006/table">
            <a:tbl>
              <a:tblPr/>
              <a:tblGrid>
                <a:gridCol w="388227">
                  <a:extLst>
                    <a:ext uri="{9D8B030D-6E8A-4147-A177-3AD203B41FA5}">
                      <a16:colId xmlns:a16="http://schemas.microsoft.com/office/drawing/2014/main" xmlns="" val="20000"/>
                    </a:ext>
                  </a:extLst>
                </a:gridCol>
                <a:gridCol w="1592973">
                  <a:extLst>
                    <a:ext uri="{9D8B030D-6E8A-4147-A177-3AD203B41FA5}">
                      <a16:colId xmlns:a16="http://schemas.microsoft.com/office/drawing/2014/main" xmlns="" val="20001"/>
                    </a:ext>
                  </a:extLst>
                </a:gridCol>
                <a:gridCol w="1981200">
                  <a:extLst>
                    <a:ext uri="{9D8B030D-6E8A-4147-A177-3AD203B41FA5}">
                      <a16:colId xmlns:a16="http://schemas.microsoft.com/office/drawing/2014/main" xmlns="" val="20002"/>
                    </a:ext>
                  </a:extLst>
                </a:gridCol>
                <a:gridCol w="2245397">
                  <a:extLst>
                    <a:ext uri="{9D8B030D-6E8A-4147-A177-3AD203B41FA5}">
                      <a16:colId xmlns:a16="http://schemas.microsoft.com/office/drawing/2014/main" xmlns="" val="20003"/>
                    </a:ext>
                  </a:extLst>
                </a:gridCol>
                <a:gridCol w="2326603">
                  <a:extLst>
                    <a:ext uri="{9D8B030D-6E8A-4147-A177-3AD203B41FA5}">
                      <a16:colId xmlns:a16="http://schemas.microsoft.com/office/drawing/2014/main" xmlns="" val="20004"/>
                    </a:ext>
                  </a:extLst>
                </a:gridCol>
              </a:tblGrid>
              <a:tr h="674599">
                <a:tc>
                  <a:txBody>
                    <a:bodyPr/>
                    <a:lstStyle/>
                    <a:p>
                      <a:pPr marL="0" marR="0">
                        <a:spcBef>
                          <a:spcPts val="0"/>
                        </a:spcBef>
                        <a:spcAft>
                          <a:spcPts val="0"/>
                        </a:spcAft>
                      </a:pPr>
                      <a:endParaRPr lang="en-US" sz="1800" b="1" dirty="0">
                        <a:latin typeface="Times New Roman"/>
                        <a:ea typeface="Times New Roman"/>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2000" b="1" dirty="0">
                          <a:latin typeface="Arial"/>
                          <a:ea typeface="Times New Roman"/>
                        </a:rPr>
                        <a:t>Power</a:t>
                      </a:r>
                    </a:p>
                    <a:p>
                      <a:pPr marL="0" marR="0" algn="ctr">
                        <a:spcBef>
                          <a:spcPts val="0"/>
                        </a:spcBef>
                        <a:spcAft>
                          <a:spcPts val="0"/>
                        </a:spcAft>
                      </a:pPr>
                      <a:endParaRPr lang="en-US" sz="2400" b="1" kern="1200" dirty="0">
                        <a:solidFill>
                          <a:srgbClr val="002060"/>
                        </a:solidFill>
                        <a:latin typeface="Kruti Dev 010"/>
                        <a:ea typeface="Times New Roman"/>
                        <a:cs typeface="Arial"/>
                      </a:endParaRP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1800" b="1" dirty="0">
                          <a:latin typeface="Arial"/>
                          <a:ea typeface="Times New Roman"/>
                        </a:rPr>
                        <a:t>Dynamic Activity</a:t>
                      </a:r>
                    </a:p>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r>
                        <a:rPr lang="en-US" sz="1800" b="1" kern="1200" dirty="0">
                          <a:solidFill>
                            <a:schemeClr val="tx1"/>
                          </a:solidFill>
                          <a:latin typeface="Arial"/>
                          <a:ea typeface="Times New Roman"/>
                          <a:cs typeface="+mn-cs"/>
                        </a:rPr>
                        <a:t>State  Activity</a:t>
                      </a:r>
                    </a:p>
                    <a:p>
                      <a:pPr marL="0" marR="0" indent="0" algn="ctr" defTabSz="914400" rtl="0" eaLnBrk="1" fontAlgn="auto" latinLnBrk="0" hangingPunct="1">
                        <a:lnSpc>
                          <a:spcPct val="100000"/>
                        </a:lnSpc>
                        <a:spcBef>
                          <a:spcPts val="0"/>
                        </a:spcBef>
                        <a:spcAft>
                          <a:spcPts val="0"/>
                        </a:spcAft>
                        <a:buClrTx/>
                        <a:buSzTx/>
                        <a:buFontTx/>
                        <a:buNone/>
                        <a:tabLst/>
                        <a:defRPr/>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EEECE1"/>
                    </a:solidFill>
                  </a:tcPr>
                </a:tc>
                <a:tc>
                  <a:txBody>
                    <a:bodyPr/>
                    <a:lstStyle/>
                    <a:p>
                      <a:pPr marL="0" marR="0" algn="ctr">
                        <a:spcBef>
                          <a:spcPts val="0"/>
                        </a:spcBef>
                        <a:spcAft>
                          <a:spcPts val="0"/>
                        </a:spcAft>
                      </a:pPr>
                      <a:endParaRPr lang="en-US" sz="2400" b="1" kern="1200" dirty="0">
                        <a:solidFill>
                          <a:schemeClr val="tx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0"/>
                  </a:ext>
                </a:extLst>
              </a:tr>
              <a:tr h="674599">
                <a:tc>
                  <a:txBody>
                    <a:bodyPr/>
                    <a:lstStyle/>
                    <a:p>
                      <a:pPr marL="0" marR="0" algn="r">
                        <a:spcBef>
                          <a:spcPts val="0"/>
                        </a:spcBef>
                        <a:spcAft>
                          <a:spcPts val="0"/>
                        </a:spcAft>
                      </a:pPr>
                      <a:r>
                        <a:rPr lang="en-US" sz="2000" b="1">
                          <a:latin typeface="Arial"/>
                          <a:ea typeface="Times New Roman"/>
                        </a:rPr>
                        <a:t>1.</a:t>
                      </a:r>
                      <a:endParaRPr lang="en-US" sz="1800" b="1">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800" b="1" dirty="0">
                        <a:solidFill>
                          <a:schemeClr val="tx1"/>
                        </a:solidFill>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2000" b="1" kern="1200" dirty="0">
                          <a:solidFill>
                            <a:schemeClr val="bg1"/>
                          </a:solidFill>
                          <a:latin typeface="Arial"/>
                          <a:ea typeface="Calibri"/>
                          <a:cs typeface="+mn-cs"/>
                        </a:rPr>
                        <a:t>Authentication</a:t>
                      </a:r>
                    </a:p>
                    <a:p>
                      <a:pPr marL="0" algn="l" defTabSz="914400" rtl="0" eaLnBrk="1" latinLnBrk="0" hangingPunct="1"/>
                      <a:r>
                        <a:rPr lang="en-US" sz="2400" b="1" kern="1200" dirty="0" err="1">
                          <a:solidFill>
                            <a:schemeClr val="bg1"/>
                          </a:solidFill>
                          <a:latin typeface="Kruti Dev 010"/>
                          <a:ea typeface="Times New Roman"/>
                          <a:cs typeface="Arial"/>
                        </a:rPr>
                        <a:t>Áek.k</a:t>
                      </a:r>
                      <a:endParaRPr lang="en-US" sz="2400" b="1" kern="1200" dirty="0">
                        <a:solidFill>
                          <a:schemeClr val="bg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a:spcBef>
                          <a:spcPts val="0"/>
                        </a:spcBef>
                        <a:spcAft>
                          <a:spcPts val="0"/>
                        </a:spcAft>
                      </a:pPr>
                      <a:r>
                        <a:rPr lang="en-US" sz="2000" b="1" dirty="0">
                          <a:solidFill>
                            <a:schemeClr val="bg1"/>
                          </a:solidFill>
                          <a:latin typeface="Arial"/>
                          <a:ea typeface="Calibri"/>
                        </a:rPr>
                        <a:t>Realization</a:t>
                      </a:r>
                      <a:r>
                        <a:rPr lang="en-US" sz="1200" b="1" dirty="0">
                          <a:solidFill>
                            <a:schemeClr val="bg1"/>
                          </a:solidFill>
                          <a:latin typeface="Calibri"/>
                          <a:ea typeface="Calibri"/>
                        </a:rPr>
                        <a:t> </a:t>
                      </a:r>
                    </a:p>
                    <a:p>
                      <a:pPr marL="0" marR="0">
                        <a:spcBef>
                          <a:spcPts val="0"/>
                        </a:spcBef>
                        <a:spcAft>
                          <a:spcPts val="0"/>
                        </a:spcAft>
                      </a:pPr>
                      <a:r>
                        <a:rPr lang="en-US" sz="2400" b="1" kern="1200" dirty="0" err="1">
                          <a:solidFill>
                            <a:schemeClr val="bg1"/>
                          </a:solidFill>
                          <a:latin typeface="Kruti Dev 010"/>
                          <a:ea typeface="Times New Roman"/>
                          <a:cs typeface="Arial"/>
                        </a:rPr>
                        <a:t>vuqHko</a:t>
                      </a:r>
                      <a:endParaRPr lang="en-US" sz="1800" b="1" dirty="0">
                        <a:solidFill>
                          <a:schemeClr val="bg1"/>
                        </a:solidFill>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1"/>
                  </a:ext>
                </a:extLst>
              </a:tr>
              <a:tr h="658012">
                <a:tc>
                  <a:txBody>
                    <a:bodyPr/>
                    <a:lstStyle/>
                    <a:p>
                      <a:r>
                        <a:rPr lang="en-US" sz="2000" b="1" dirty="0">
                          <a:latin typeface="Arial"/>
                          <a:ea typeface="Calibri"/>
                        </a:rPr>
                        <a:t>2.</a:t>
                      </a:r>
                      <a:r>
                        <a:rPr lang="en-US" sz="1200" b="1" dirty="0">
                          <a:latin typeface="Calibri"/>
                          <a:ea typeface="Calibri"/>
                        </a:rPr>
                        <a:t> </a:t>
                      </a: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800" b="1" dirty="0">
                        <a:solidFill>
                          <a:schemeClr val="tx1"/>
                        </a:solidFill>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r>
                        <a:rPr lang="en-US" sz="2000" b="1" kern="1200" dirty="0">
                          <a:solidFill>
                            <a:schemeClr val="bg1"/>
                          </a:solidFill>
                          <a:latin typeface="Arial"/>
                          <a:ea typeface="Calibri"/>
                          <a:cs typeface="+mn-cs"/>
                        </a:rPr>
                        <a:t>Determination</a:t>
                      </a:r>
                    </a:p>
                    <a:p>
                      <a:r>
                        <a:rPr lang="en-US" sz="2400" b="1" kern="1200" dirty="0" err="1">
                          <a:solidFill>
                            <a:schemeClr val="bg1"/>
                          </a:solidFill>
                          <a:latin typeface="Kruti Dev 010"/>
                          <a:ea typeface="Times New Roman"/>
                          <a:cs typeface="Arial"/>
                        </a:rPr>
                        <a:t>ladYi</a:t>
                      </a:r>
                      <a:endParaRPr lang="en-US" sz="2400" b="1" kern="1200" dirty="0">
                        <a:solidFill>
                          <a:schemeClr val="bg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a:spcBef>
                          <a:spcPts val="0"/>
                        </a:spcBef>
                        <a:spcAft>
                          <a:spcPts val="0"/>
                        </a:spcAft>
                      </a:pPr>
                      <a:r>
                        <a:rPr lang="en-US" sz="2000" b="1" dirty="0">
                          <a:solidFill>
                            <a:schemeClr val="bg1"/>
                          </a:solidFill>
                          <a:latin typeface="Arial"/>
                          <a:ea typeface="Times New Roman"/>
                        </a:rPr>
                        <a:t>Understanding</a:t>
                      </a:r>
                      <a:endParaRPr lang="en-US" sz="1800" b="1" dirty="0">
                        <a:solidFill>
                          <a:schemeClr val="bg1"/>
                        </a:solidFill>
                        <a:latin typeface="Times New Roman"/>
                        <a:ea typeface="Times New Roman"/>
                      </a:endParaRPr>
                    </a:p>
                    <a:p>
                      <a:pPr marL="0" marR="0">
                        <a:spcBef>
                          <a:spcPts val="0"/>
                        </a:spcBef>
                        <a:spcAft>
                          <a:spcPts val="0"/>
                        </a:spcAft>
                      </a:pPr>
                      <a:r>
                        <a:rPr lang="en-US" sz="2400" b="1" kern="1200" dirty="0" err="1">
                          <a:solidFill>
                            <a:schemeClr val="bg1"/>
                          </a:solidFill>
                          <a:latin typeface="Kruti Dev 010"/>
                          <a:ea typeface="Times New Roman"/>
                          <a:cs typeface="Arial"/>
                        </a:rPr>
                        <a:t>cks</a:t>
                      </a:r>
                      <a:r>
                        <a:rPr lang="en-US" sz="2400" b="1" kern="1200" dirty="0">
                          <a:solidFill>
                            <a:schemeClr val="bg1"/>
                          </a:solidFill>
                          <a:latin typeface="Kruti Dev 010"/>
                          <a:ea typeface="Times New Roman"/>
                          <a:cs typeface="Arial"/>
                        </a:rPr>
                        <a:t>/k</a:t>
                      </a:r>
                      <a:endParaRPr lang="en-US" sz="1800" b="1" dirty="0">
                        <a:solidFill>
                          <a:schemeClr val="bg1"/>
                        </a:solidFill>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20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2"/>
                  </a:ext>
                </a:extLst>
              </a:tr>
              <a:tr h="729076">
                <a:tc>
                  <a:txBody>
                    <a:bodyPr/>
                    <a:lstStyle/>
                    <a:p>
                      <a:pPr marL="0" marR="0" algn="r">
                        <a:spcBef>
                          <a:spcPts val="0"/>
                        </a:spcBef>
                        <a:spcAft>
                          <a:spcPts val="0"/>
                        </a:spcAft>
                      </a:pPr>
                      <a:r>
                        <a:rPr lang="en-US" sz="2000" b="1" dirty="0">
                          <a:latin typeface="Arial"/>
                          <a:ea typeface="Times New Roman"/>
                        </a:rPr>
                        <a:t>3.</a:t>
                      </a:r>
                      <a:endParaRPr lang="en-US" sz="1800" b="1" dirty="0">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Desire</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Imaging</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bg1"/>
                          </a:solidFill>
                          <a:latin typeface="Arial"/>
                          <a:ea typeface="Times New Roman"/>
                          <a:cs typeface="+mn-cs"/>
                        </a:rPr>
                        <a:t>Contemplation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400" b="1" kern="1200" dirty="0">
                        <a:solidFill>
                          <a:schemeClr val="bg1"/>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0080"/>
                    </a:solidFill>
                  </a:tcPr>
                </a:tc>
                <a:tc>
                  <a:txBody>
                    <a:bodyPr/>
                    <a:lstStyle/>
                    <a:p>
                      <a:endParaRPr lang="en-US" sz="20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3"/>
                  </a:ext>
                </a:extLst>
              </a:tr>
              <a:tr h="665834">
                <a:tc>
                  <a:txBody>
                    <a:bodyPr/>
                    <a:lstStyle/>
                    <a:p>
                      <a:pPr marL="0" marR="0" algn="r">
                        <a:spcBef>
                          <a:spcPts val="0"/>
                        </a:spcBef>
                        <a:spcAft>
                          <a:spcPts val="0"/>
                        </a:spcAft>
                      </a:pPr>
                      <a:r>
                        <a:rPr lang="en-US" sz="2000" b="1">
                          <a:latin typeface="Arial"/>
                          <a:ea typeface="Times New Roman"/>
                        </a:rPr>
                        <a:t>4.</a:t>
                      </a:r>
                      <a:endParaRPr lang="en-US" sz="1800" b="1">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Thought</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err="1">
                          <a:latin typeface="Arial"/>
                          <a:ea typeface="Times New Roman"/>
                        </a:rPr>
                        <a:t>Analysing</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l" defTabSz="914400" rtl="0" eaLnBrk="1" latinLnBrk="0" hangingPunct="1">
                        <a:spcBef>
                          <a:spcPts val="0"/>
                        </a:spcBef>
                        <a:spcAft>
                          <a:spcPts val="0"/>
                        </a:spcAft>
                      </a:pPr>
                      <a:r>
                        <a:rPr lang="en-US" sz="2000" b="1" kern="1200" dirty="0">
                          <a:solidFill>
                            <a:schemeClr val="tx1"/>
                          </a:solidFill>
                          <a:latin typeface="Arial"/>
                          <a:ea typeface="Times New Roman"/>
                          <a:cs typeface="+mn-cs"/>
                        </a:rPr>
                        <a:t>Comparing</a:t>
                      </a:r>
                    </a:p>
                    <a:p>
                      <a:pPr marL="0" marR="0" algn="l" defTabSz="914400" rtl="0" eaLnBrk="1" latinLnBrk="0" hangingPunct="1">
                        <a:spcBef>
                          <a:spcPts val="0"/>
                        </a:spcBef>
                        <a:spcAft>
                          <a:spcPts val="0"/>
                        </a:spcAft>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lgn="l" defTabSz="914400" rtl="0" eaLnBrk="1" latinLnBrk="0" hangingPunct="1">
                        <a:spcBef>
                          <a:spcPts val="0"/>
                        </a:spcBef>
                        <a:spcAft>
                          <a:spcPts val="0"/>
                        </a:spcAft>
                      </a:pPr>
                      <a:endParaRPr lang="en-US" sz="2000" b="1" kern="1200" dirty="0">
                        <a:solidFill>
                          <a:schemeClr val="tx1"/>
                        </a:solidFill>
                        <a:latin typeface="Arial"/>
                        <a:ea typeface="Times New Roman"/>
                        <a:cs typeface="+mn-cs"/>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4"/>
                  </a:ext>
                </a:extLst>
              </a:tr>
              <a:tr h="674599">
                <a:tc>
                  <a:txBody>
                    <a:bodyPr/>
                    <a:lstStyle/>
                    <a:p>
                      <a:pPr marL="0" marR="0" algn="r">
                        <a:spcBef>
                          <a:spcPts val="0"/>
                        </a:spcBef>
                        <a:spcAft>
                          <a:spcPts val="0"/>
                        </a:spcAft>
                      </a:pPr>
                      <a:r>
                        <a:rPr lang="en-US" sz="2000" b="1">
                          <a:latin typeface="Arial"/>
                          <a:ea typeface="Times New Roman"/>
                        </a:rPr>
                        <a:t>5.</a:t>
                      </a:r>
                      <a:endParaRPr lang="en-US" sz="1800" b="1">
                        <a:latin typeface="Times New Roman"/>
                        <a:ea typeface="Times New Roman"/>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Expectation</a:t>
                      </a:r>
                      <a:endParaRPr lang="en-US" sz="1800" b="1" dirty="0">
                        <a:latin typeface="Times New Roman"/>
                        <a:ea typeface="Times New Roman"/>
                      </a:endParaRPr>
                    </a:p>
                    <a:p>
                      <a:pPr marL="0" marR="0">
                        <a:spcBef>
                          <a:spcPts val="0"/>
                        </a:spcBef>
                        <a:spcAft>
                          <a:spcPts val="0"/>
                        </a:spcAft>
                      </a:pPr>
                      <a:endParaRPr lang="en-US" sz="1800" b="1" dirty="0">
                        <a:latin typeface="Times New Roman"/>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b="1" dirty="0">
                          <a:latin typeface="Arial"/>
                          <a:ea typeface="Times New Roman"/>
                        </a:rPr>
                        <a:t>Selecting</a:t>
                      </a:r>
                      <a:endParaRPr lang="en-US" sz="1800" b="1" dirty="0">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spcBef>
                          <a:spcPts val="0"/>
                        </a:spcBef>
                        <a:spcAft>
                          <a:spcPts val="0"/>
                        </a:spcAft>
                      </a:pPr>
                      <a:r>
                        <a:rPr lang="en-US" sz="2000" b="1" kern="1200" dirty="0">
                          <a:solidFill>
                            <a:schemeClr val="tx1"/>
                          </a:solidFill>
                          <a:latin typeface="Arial"/>
                          <a:ea typeface="Times New Roman"/>
                          <a:cs typeface="+mn-cs"/>
                        </a:rPr>
                        <a:t>Tasting</a:t>
                      </a:r>
                    </a:p>
                    <a:p>
                      <a:pPr marL="0" marR="0">
                        <a:spcBef>
                          <a:spcPts val="0"/>
                        </a:spcBef>
                        <a:spcAft>
                          <a:spcPts val="0"/>
                        </a:spcAft>
                      </a:pPr>
                      <a:endParaRPr lang="en-US" sz="2400" b="1" kern="1200" dirty="0">
                        <a:solidFill>
                          <a:srgbClr val="002060"/>
                        </a:solidFill>
                        <a:latin typeface="Kruti Dev 010"/>
                        <a:ea typeface="Times New Roman"/>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marR="0">
                        <a:spcBef>
                          <a:spcPts val="0"/>
                        </a:spcBef>
                        <a:spcAft>
                          <a:spcPts val="0"/>
                        </a:spcAft>
                      </a:pPr>
                      <a:endParaRPr lang="en-US" sz="1800" b="1" dirty="0">
                        <a:solidFill>
                          <a:schemeClr val="tx1"/>
                        </a:solidFill>
                        <a:latin typeface="Times New Roman"/>
                        <a:ea typeface="Times New Roman"/>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005"/>
                  </a:ext>
                </a:extLst>
              </a:tr>
            </a:tbl>
          </a:graphicData>
        </a:graphic>
      </p:graphicFrame>
      <p:sp>
        <p:nvSpPr>
          <p:cNvPr id="15403" name="Rectangle 8"/>
          <p:cNvSpPr>
            <a:spLocks noChangeArrowheads="1"/>
          </p:cNvSpPr>
          <p:nvPr/>
        </p:nvSpPr>
        <p:spPr bwMode="auto">
          <a:xfrm rot="-5400000">
            <a:off x="-136524" y="1976437"/>
            <a:ext cx="1008062" cy="830263"/>
          </a:xfrm>
          <a:prstGeom prst="rect">
            <a:avLst/>
          </a:prstGeom>
          <a:noFill/>
          <a:ln w="9525">
            <a:noFill/>
            <a:miter lim="800000"/>
            <a:headEnd/>
            <a:tailEnd/>
          </a:ln>
        </p:spPr>
        <p:txBody>
          <a:bodyPr wrap="none">
            <a:spAutoFit/>
          </a:bodyPr>
          <a:lstStyle/>
          <a:p>
            <a:pPr eaLnBrk="1" hangingPunct="1"/>
            <a:r>
              <a:rPr lang="en-US" altLang="en-US" sz="2000">
                <a:solidFill>
                  <a:srgbClr val="000000"/>
                </a:solidFill>
              </a:rPr>
              <a:t>Self (I) </a:t>
            </a:r>
          </a:p>
          <a:p>
            <a:pPr eaLnBrk="1" hangingPunct="1"/>
            <a:r>
              <a:rPr lang="en-US" altLang="en-US" sz="2800">
                <a:solidFill>
                  <a:srgbClr val="1E00AA"/>
                </a:solidFill>
                <a:latin typeface="Kruti Dev 010" pitchFamily="2" charset="0"/>
              </a:rPr>
              <a:t>eSa</a:t>
            </a:r>
            <a:r>
              <a:rPr lang="en-US" altLang="en-US" sz="2400">
                <a:solidFill>
                  <a:srgbClr val="000000"/>
                </a:solidFill>
                <a:latin typeface="Kruti Dev 010" pitchFamily="2" charset="0"/>
              </a:rPr>
              <a:t> </a:t>
            </a:r>
            <a:endParaRPr lang="en-US" altLang="en-US" sz="2000">
              <a:solidFill>
                <a:srgbClr val="000000"/>
              </a:solidFill>
            </a:endParaRPr>
          </a:p>
        </p:txBody>
      </p:sp>
      <p:sp>
        <p:nvSpPr>
          <p:cNvPr id="15404" name="Rectangle 10"/>
          <p:cNvSpPr>
            <a:spLocks noChangeArrowheads="1"/>
          </p:cNvSpPr>
          <p:nvPr/>
        </p:nvSpPr>
        <p:spPr bwMode="auto">
          <a:xfrm>
            <a:off x="0" y="5105400"/>
            <a:ext cx="766557" cy="400110"/>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Body </a:t>
            </a:r>
          </a:p>
        </p:txBody>
      </p:sp>
      <p:cxnSp>
        <p:nvCxnSpPr>
          <p:cNvPr id="13" name="Straight Connector 12">
            <a:extLst>
              <a:ext uri="{FF2B5EF4-FFF2-40B4-BE49-F238E27FC236}">
                <a16:creationId xmlns:a16="http://schemas.microsoft.com/office/drawing/2014/main" xmlns="" id="{DC64B4B7-56D8-4F31-9260-1213D31BAD63}"/>
              </a:ext>
            </a:extLst>
          </p:cNvPr>
          <p:cNvCxnSpPr/>
          <p:nvPr/>
        </p:nvCxnSpPr>
        <p:spPr>
          <a:xfrm rot="10800000">
            <a:off x="0" y="5083175"/>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06" name="Rectangle 13"/>
          <p:cNvSpPr>
            <a:spLocks noChangeArrowheads="1"/>
          </p:cNvSpPr>
          <p:nvPr/>
        </p:nvSpPr>
        <p:spPr bwMode="auto">
          <a:xfrm>
            <a:off x="1828800" y="5312647"/>
            <a:ext cx="1271502" cy="830997"/>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Behaviour</a:t>
            </a:r>
            <a:endParaRPr lang="en-US" altLang="en-US" sz="2800" dirty="0">
              <a:solidFill>
                <a:srgbClr val="1E00AA"/>
              </a:solidFill>
              <a:latin typeface="Kruti Dev 010" pitchFamily="2" charset="0"/>
            </a:endParaRPr>
          </a:p>
          <a:p>
            <a:pPr eaLnBrk="1" hangingPunct="1"/>
            <a:r>
              <a:rPr lang="en-US" altLang="en-US" sz="2000" dirty="0">
                <a:solidFill>
                  <a:srgbClr val="000000"/>
                </a:solidFill>
              </a:rPr>
              <a:t>Human</a:t>
            </a:r>
            <a:r>
              <a:rPr lang="en-US" altLang="en-US" sz="2800" dirty="0">
                <a:solidFill>
                  <a:srgbClr val="000000"/>
                </a:solidFill>
              </a:rPr>
              <a:t> </a:t>
            </a:r>
            <a:endParaRPr lang="en-US" altLang="en-US" sz="2800" dirty="0">
              <a:solidFill>
                <a:srgbClr val="1E00AA"/>
              </a:solidFill>
              <a:latin typeface="Kruti Dev 010" pitchFamily="2" charset="0"/>
            </a:endParaRPr>
          </a:p>
        </p:txBody>
      </p:sp>
      <p:sp>
        <p:nvSpPr>
          <p:cNvPr id="15407" name="Rectangle 14"/>
          <p:cNvSpPr>
            <a:spLocks noChangeArrowheads="1"/>
          </p:cNvSpPr>
          <p:nvPr/>
        </p:nvSpPr>
        <p:spPr bwMode="auto">
          <a:xfrm>
            <a:off x="4114800" y="5271987"/>
            <a:ext cx="1683153" cy="800219"/>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Work </a:t>
            </a:r>
            <a:endParaRPr lang="en-US" altLang="en-US" sz="2800" dirty="0">
              <a:solidFill>
                <a:srgbClr val="1E00AA"/>
              </a:solidFill>
              <a:latin typeface="Kruti Dev 010" pitchFamily="2" charset="0"/>
            </a:endParaRPr>
          </a:p>
          <a:p>
            <a:pPr eaLnBrk="1" hangingPunct="1"/>
            <a:endParaRPr lang="en-US" altLang="en-US" sz="600" dirty="0">
              <a:solidFill>
                <a:srgbClr val="000000"/>
              </a:solidFill>
            </a:endParaRPr>
          </a:p>
          <a:p>
            <a:pPr eaLnBrk="1" hangingPunct="1"/>
            <a:r>
              <a:rPr lang="en-US" altLang="en-US" sz="2000" dirty="0">
                <a:solidFill>
                  <a:srgbClr val="000000"/>
                </a:solidFill>
              </a:rPr>
              <a:t>Rest of Nature</a:t>
            </a:r>
          </a:p>
        </p:txBody>
      </p:sp>
      <p:cxnSp>
        <p:nvCxnSpPr>
          <p:cNvPr id="15" name="Straight Connector 14">
            <a:extLst>
              <a:ext uri="{FF2B5EF4-FFF2-40B4-BE49-F238E27FC236}">
                <a16:creationId xmlns:a16="http://schemas.microsoft.com/office/drawing/2014/main" xmlns="" id="{2A1AF35F-C185-4EDC-8390-2C501DC2E832}"/>
              </a:ext>
            </a:extLst>
          </p:cNvPr>
          <p:cNvCxnSpPr/>
          <p:nvPr/>
        </p:nvCxnSpPr>
        <p:spPr>
          <a:xfrm rot="10800000">
            <a:off x="0" y="1479550"/>
            <a:ext cx="22098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12CCEC93-B079-4667-AFD6-270C8C0303A9}"/>
              </a:ext>
            </a:extLst>
          </p:cNvPr>
          <p:cNvCxnSpPr/>
          <p:nvPr/>
        </p:nvCxnSpPr>
        <p:spPr>
          <a:xfrm rot="10800000">
            <a:off x="0" y="5724525"/>
            <a:ext cx="9144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410" name="Rectangle 10"/>
          <p:cNvSpPr>
            <a:spLocks noChangeArrowheads="1"/>
          </p:cNvSpPr>
          <p:nvPr/>
        </p:nvSpPr>
        <p:spPr bwMode="auto">
          <a:xfrm>
            <a:off x="0" y="5715000"/>
            <a:ext cx="1676400" cy="400110"/>
          </a:xfrm>
          <a:prstGeom prst="rect">
            <a:avLst/>
          </a:prstGeom>
          <a:noFill/>
          <a:ln w="9525">
            <a:noFill/>
            <a:miter lim="800000"/>
            <a:headEnd/>
            <a:tailEnd/>
          </a:ln>
        </p:spPr>
        <p:txBody>
          <a:bodyPr>
            <a:spAutoFit/>
          </a:bodyPr>
          <a:lstStyle/>
          <a:p>
            <a:pPr eaLnBrk="1" hangingPunct="1"/>
            <a:r>
              <a:rPr lang="en-US" altLang="en-US" sz="2000" dirty="0">
                <a:solidFill>
                  <a:srgbClr val="000000"/>
                </a:solidFill>
              </a:rPr>
              <a:t>Other </a:t>
            </a:r>
          </a:p>
        </p:txBody>
      </p:sp>
      <p:sp>
        <p:nvSpPr>
          <p:cNvPr id="15411" name="Rectangle 14"/>
          <p:cNvSpPr>
            <a:spLocks noChangeArrowheads="1"/>
          </p:cNvSpPr>
          <p:nvPr/>
        </p:nvSpPr>
        <p:spPr bwMode="auto">
          <a:xfrm>
            <a:off x="6172200" y="5294313"/>
            <a:ext cx="1767279" cy="830997"/>
          </a:xfrm>
          <a:prstGeom prst="rect">
            <a:avLst/>
          </a:prstGeom>
          <a:noFill/>
          <a:ln w="9525">
            <a:noFill/>
            <a:miter lim="800000"/>
            <a:headEnd/>
            <a:tailEnd/>
          </a:ln>
        </p:spPr>
        <p:txBody>
          <a:bodyPr wrap="none">
            <a:spAutoFit/>
          </a:bodyPr>
          <a:lstStyle/>
          <a:p>
            <a:pPr eaLnBrk="1" hangingPunct="1"/>
            <a:r>
              <a:rPr lang="en-US" altLang="en-US" sz="2000" dirty="0">
                <a:solidFill>
                  <a:srgbClr val="000000"/>
                </a:solidFill>
              </a:rPr>
              <a:t>Participation </a:t>
            </a:r>
            <a:endParaRPr lang="en-US" altLang="en-US" sz="2800" dirty="0">
              <a:solidFill>
                <a:srgbClr val="000000"/>
              </a:solidFill>
            </a:endParaRPr>
          </a:p>
          <a:p>
            <a:pPr eaLnBrk="1" hangingPunct="1"/>
            <a:r>
              <a:rPr lang="en-US" altLang="en-US" sz="2000" dirty="0">
                <a:solidFill>
                  <a:srgbClr val="000000"/>
                </a:solidFill>
              </a:rPr>
              <a:t>in larger </a:t>
            </a:r>
            <a:r>
              <a:rPr lang="en-US" altLang="en-US" sz="2000" dirty="0" err="1">
                <a:solidFill>
                  <a:srgbClr val="000000"/>
                </a:solidFill>
              </a:rPr>
              <a:t>Order</a:t>
            </a:r>
            <a:r>
              <a:rPr lang="en-US" altLang="en-US" sz="2800" dirty="0" err="1">
                <a:solidFill>
                  <a:srgbClr val="1E00AA"/>
                </a:solidFill>
                <a:latin typeface="Kruti Dev 010" pitchFamily="2" charset="0"/>
              </a:rPr>
              <a:t>sa</a:t>
            </a:r>
            <a:endParaRPr lang="en-US" altLang="en-US" sz="2800" dirty="0">
              <a:solidFill>
                <a:srgbClr val="1E00AA"/>
              </a:solidFill>
              <a:latin typeface="Kruti Dev 010" pitchFamily="2" charset="0"/>
            </a:endParaRPr>
          </a:p>
        </p:txBody>
      </p:sp>
      <p:sp>
        <p:nvSpPr>
          <p:cNvPr id="25" name="Oval 5">
            <a:extLst>
              <a:ext uri="{FF2B5EF4-FFF2-40B4-BE49-F238E27FC236}">
                <a16:creationId xmlns:a16="http://schemas.microsoft.com/office/drawing/2014/main" xmlns="" id="{67A30416-9408-42FF-89B2-EE49C33FF0F2}"/>
              </a:ext>
            </a:extLst>
          </p:cNvPr>
          <p:cNvSpPr/>
          <p:nvPr/>
        </p:nvSpPr>
        <p:spPr bwMode="auto">
          <a:xfrm>
            <a:off x="6172200" y="1503363"/>
            <a:ext cx="6096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prstClr val="black"/>
                </a:solidFill>
              </a:rPr>
              <a:t>B1</a:t>
            </a:r>
          </a:p>
        </p:txBody>
      </p:sp>
      <p:sp>
        <p:nvSpPr>
          <p:cNvPr id="26" name="Oval 5">
            <a:extLst>
              <a:ext uri="{FF2B5EF4-FFF2-40B4-BE49-F238E27FC236}">
                <a16:creationId xmlns:a16="http://schemas.microsoft.com/office/drawing/2014/main" xmlns="" id="{B72170FC-313D-4550-A40C-DF2C0DCC0BE6}"/>
              </a:ext>
            </a:extLst>
          </p:cNvPr>
          <p:cNvSpPr/>
          <p:nvPr/>
        </p:nvSpPr>
        <p:spPr bwMode="auto">
          <a:xfrm>
            <a:off x="6172200" y="3678238"/>
            <a:ext cx="6096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dirty="0">
                <a:solidFill>
                  <a:prstClr val="black"/>
                </a:solidFill>
              </a:rPr>
              <a:t>B2</a:t>
            </a:r>
          </a:p>
        </p:txBody>
      </p:sp>
      <p:sp>
        <p:nvSpPr>
          <p:cNvPr id="15414" name="Rectangle 8"/>
          <p:cNvSpPr>
            <a:spLocks noChangeArrowheads="1"/>
          </p:cNvSpPr>
          <p:nvPr/>
        </p:nvSpPr>
        <p:spPr bwMode="auto">
          <a:xfrm>
            <a:off x="-71470" y="619109"/>
            <a:ext cx="2022475" cy="523875"/>
          </a:xfrm>
          <a:prstGeom prst="rect">
            <a:avLst/>
          </a:prstGeom>
          <a:noFill/>
          <a:ln w="9525">
            <a:noFill/>
            <a:miter lim="800000"/>
            <a:headEnd/>
            <a:tailEnd/>
          </a:ln>
        </p:spPr>
        <p:txBody>
          <a:bodyPr>
            <a:spAutoFit/>
          </a:bodyPr>
          <a:lstStyle/>
          <a:p>
            <a:pPr eaLnBrk="1" hangingPunct="1"/>
            <a:r>
              <a:rPr lang="en-US" altLang="en-US" sz="2000" dirty="0">
                <a:solidFill>
                  <a:srgbClr val="000000"/>
                </a:solidFill>
              </a:rPr>
              <a:t>Space </a:t>
            </a:r>
            <a:r>
              <a:rPr lang="en-US" altLang="en-US" sz="2800" dirty="0">
                <a:solidFill>
                  <a:srgbClr val="1E00AA"/>
                </a:solidFill>
                <a:latin typeface="Kruti Dev 010" pitchFamily="2" charset="0"/>
              </a:rPr>
              <a:t>“</a:t>
            </a:r>
            <a:r>
              <a:rPr lang="en-US" altLang="en-US" sz="2800" dirty="0" err="1">
                <a:solidFill>
                  <a:srgbClr val="1E00AA"/>
                </a:solidFill>
                <a:latin typeface="Kruti Dev 010" pitchFamily="2" charset="0"/>
              </a:rPr>
              <a:t>kwU</a:t>
            </a:r>
            <a:r>
              <a:rPr lang="en-US" altLang="en-US" sz="2800" dirty="0">
                <a:solidFill>
                  <a:srgbClr val="1E00AA"/>
                </a:solidFill>
                <a:latin typeface="Kruti Dev 010" pitchFamily="2" charset="0"/>
              </a:rPr>
              <a:t>;</a:t>
            </a:r>
          </a:p>
        </p:txBody>
      </p:sp>
      <p:grpSp>
        <p:nvGrpSpPr>
          <p:cNvPr id="2" name="Group 41"/>
          <p:cNvGrpSpPr>
            <a:grpSpLocks/>
          </p:cNvGrpSpPr>
          <p:nvPr/>
        </p:nvGrpSpPr>
        <p:grpSpPr bwMode="auto">
          <a:xfrm>
            <a:off x="2514600" y="5029200"/>
            <a:ext cx="4268788" cy="423863"/>
            <a:chOff x="2514600" y="4986670"/>
            <a:chExt cx="4267994" cy="423530"/>
          </a:xfrm>
        </p:grpSpPr>
        <p:cxnSp>
          <p:nvCxnSpPr>
            <p:cNvPr id="21" name="Straight Connector 20">
              <a:extLst>
                <a:ext uri="{FF2B5EF4-FFF2-40B4-BE49-F238E27FC236}">
                  <a16:creationId xmlns:a16="http://schemas.microsoft.com/office/drawing/2014/main" xmlns="" id="{C465B46D-665C-4460-997F-D4F88B72321F}"/>
                </a:ext>
              </a:extLst>
            </p:cNvPr>
            <p:cNvCxnSpPr/>
            <p:nvPr/>
          </p:nvCxnSpPr>
          <p:spPr>
            <a:xfrm rot="5400000">
              <a:off x="4457407" y="5295990"/>
              <a:ext cx="228420" cy="0"/>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xmlns="" id="{A7BE4F11-2128-4657-B5C0-DFF7072F228A}"/>
                </a:ext>
              </a:extLst>
            </p:cNvPr>
            <p:cNvCxnSpPr/>
            <p:nvPr/>
          </p:nvCxnSpPr>
          <p:spPr>
            <a:xfrm rot="5400000">
              <a:off x="6667590" y="5295196"/>
              <a:ext cx="228420" cy="1588"/>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xmlns="" id="{9BAB40A5-AA9D-41A6-B6F0-E6D8984D9CED}"/>
                </a:ext>
              </a:extLst>
            </p:cNvPr>
            <p:cNvCxnSpPr/>
            <p:nvPr/>
          </p:nvCxnSpPr>
          <p:spPr>
            <a:xfrm rot="5400000">
              <a:off x="2401184" y="5295196"/>
              <a:ext cx="228420" cy="1588"/>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xmlns="" id="{E53B6627-E4C4-4251-B282-C1C85FBBCB47}"/>
                </a:ext>
              </a:extLst>
            </p:cNvPr>
            <p:cNvCxnSpPr/>
            <p:nvPr/>
          </p:nvCxnSpPr>
          <p:spPr>
            <a:xfrm>
              <a:off x="2514600" y="5181780"/>
              <a:ext cx="4266406" cy="158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xmlns="" id="{548887F8-1F80-44FD-95E5-041ADA37D025}"/>
                </a:ext>
              </a:extLst>
            </p:cNvPr>
            <p:cNvCxnSpPr/>
            <p:nvPr/>
          </p:nvCxnSpPr>
          <p:spPr>
            <a:xfrm rot="5400000">
              <a:off x="3483646" y="5084225"/>
              <a:ext cx="195110" cy="0"/>
            </a:xfrm>
            <a:prstGeom prst="line">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xmlns="" id="{924D1CCE-0467-4F5D-98B6-9CA434289957}"/>
              </a:ext>
            </a:extLst>
          </p:cNvPr>
          <p:cNvCxnSpPr/>
          <p:nvPr/>
        </p:nvCxnSpPr>
        <p:spPr>
          <a:xfrm>
            <a:off x="2590800" y="2998785"/>
            <a:ext cx="1981200" cy="158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xmlns="" id="{401BB4B8-7764-414C-BC54-358F0708F916}"/>
              </a:ext>
            </a:extLst>
          </p:cNvPr>
          <p:cNvCxnSpPr/>
          <p:nvPr/>
        </p:nvCxnSpPr>
        <p:spPr>
          <a:xfrm>
            <a:off x="4551363" y="3713165"/>
            <a:ext cx="2286000" cy="1587"/>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xmlns="" id="{1804C6BE-3FAB-4A09-AF12-DDFA20CF651F}"/>
              </a:ext>
            </a:extLst>
          </p:cNvPr>
          <p:cNvCxnSpPr/>
          <p:nvPr/>
        </p:nvCxnSpPr>
        <p:spPr>
          <a:xfrm rot="16200000" flipH="1">
            <a:off x="4097338" y="3367089"/>
            <a:ext cx="8382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xmlns="" id="{DF272AF7-53B2-4CCC-9B07-CD8B7B8294F1}"/>
              </a:ext>
            </a:extLst>
          </p:cNvPr>
          <p:cNvCxnSpPr/>
          <p:nvPr/>
        </p:nvCxnSpPr>
        <p:spPr>
          <a:xfrm rot="10800000" flipV="1">
            <a:off x="4267200" y="3276600"/>
            <a:ext cx="304800"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xmlns="" id="{22EE158E-7399-4F1A-9EB5-4DE933CD8066}"/>
              </a:ext>
            </a:extLst>
          </p:cNvPr>
          <p:cNvCxnSpPr/>
          <p:nvPr/>
        </p:nvCxnSpPr>
        <p:spPr>
          <a:xfrm rot="10800000">
            <a:off x="0" y="998520"/>
            <a:ext cx="9144000" cy="15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Date Placeholder 30"/>
          <p:cNvSpPr>
            <a:spLocks noGrp="1"/>
          </p:cNvSpPr>
          <p:nvPr>
            <p:ph type="dt" sz="half" idx="10"/>
          </p:nvPr>
        </p:nvSpPr>
        <p:spPr/>
        <p:txBody>
          <a:bodyPr/>
          <a:lstStyle/>
          <a:p>
            <a:fld id="{50241149-5CA7-4B21-B986-6AE3A1B5FA58}" type="datetime1">
              <a:rPr lang="en-US" smtClean="0"/>
              <a:pPr/>
              <a:t>06/25/21</a:t>
            </a:fld>
            <a:endParaRPr lang="en-US"/>
          </a:p>
        </p:txBody>
      </p:sp>
      <p:sp>
        <p:nvSpPr>
          <p:cNvPr id="32" name="Slide Number Placeholder 31"/>
          <p:cNvSpPr>
            <a:spLocks noGrp="1"/>
          </p:cNvSpPr>
          <p:nvPr>
            <p:ph type="sldNum" sz="quarter" idx="12"/>
          </p:nvPr>
        </p:nvSpPr>
        <p:spPr/>
        <p:txBody>
          <a:bodyPr/>
          <a:lstStyle/>
          <a:p>
            <a:fld id="{B6F15528-21DE-4FAA-801E-634DDDAF4B2B}" type="slidenum">
              <a:rPr lang="en-US" smtClean="0"/>
              <a:pPr/>
              <a:t>53</a:t>
            </a:fld>
            <a:endParaRPr lang="en-US"/>
          </a:p>
        </p:txBody>
      </p:sp>
      <p:sp>
        <p:nvSpPr>
          <p:cNvPr id="33" name="Footer Placeholder 32"/>
          <p:cNvSpPr>
            <a:spLocks noGrp="1"/>
          </p:cNvSpPr>
          <p:nvPr>
            <p:ph type="ftr" sz="quarter" idx="11"/>
          </p:nvPr>
        </p:nvSpPr>
        <p:spPr>
          <a:xfrm>
            <a:off x="2500298" y="6356350"/>
            <a:ext cx="5500726" cy="365125"/>
          </a:xfrm>
        </p:spPr>
        <p:txBody>
          <a:bodyPr/>
          <a:lstStyle/>
          <a:p>
            <a:r>
              <a:rPr lang="fi-FI" smtClean="0"/>
              <a:t>SHYAM  LAL SHARMA             KOE069 UHV-2               Unit -4</a:t>
            </a:r>
            <a:endParaRPr lang="en-US" dirty="0"/>
          </a:p>
        </p:txBody>
      </p:sp>
      <p:sp>
        <p:nvSpPr>
          <p:cNvPr id="35" name="Title 1"/>
          <p:cNvSpPr txBox="1">
            <a:spLocks/>
          </p:cNvSpPr>
          <p:nvPr/>
        </p:nvSpPr>
        <p:spPr>
          <a:xfrm>
            <a:off x="1371600" y="0"/>
            <a:ext cx="7772400" cy="78579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altLang="en-US" sz="3200" dirty="0">
                <a:latin typeface="Arial" pitchFamily="34" charset="0"/>
                <a:cs typeface="Arial" pitchFamily="34" charset="0"/>
              </a:rPr>
              <a:t>Knowledge of Human Being (CO4)</a:t>
            </a:r>
            <a:endParaRPr lang="en-US" sz="3200" b="1" dirty="0">
              <a:latin typeface="Arial" pitchFamily="34" charset="0"/>
              <a:cs typeface="Arial" pitchFamily="34" charset="0"/>
            </a:endParaRPr>
          </a:p>
        </p:txBody>
      </p:sp>
      <p:pic>
        <p:nvPicPr>
          <p:cNvPr id="40" name="Picture 2" descr="E:\NIET\Project\xLogo11.png.pagespeed.ic.pydHLuCQEZ.png"/>
          <p:cNvPicPr>
            <a:picLocks noChangeAspect="1" noChangeArrowheads="1"/>
          </p:cNvPicPr>
          <p:nvPr/>
        </p:nvPicPr>
        <p:blipFill>
          <a:blip r:embed="rId2"/>
          <a:srcRect/>
          <a:stretch>
            <a:fillRect/>
          </a:stretch>
        </p:blipFill>
        <p:spPr bwMode="auto">
          <a:xfrm>
            <a:off x="0" y="0"/>
            <a:ext cx="1447800" cy="642918"/>
          </a:xfrm>
          <a:prstGeom prst="rect">
            <a:avLst/>
          </a:prstGeom>
          <a:noFill/>
        </p:spPr>
      </p:pic>
      <p:sp>
        <p:nvSpPr>
          <p:cNvPr id="34" name="Rectangle 31"/>
          <p:cNvSpPr>
            <a:spLocks noChangeArrowheads="1"/>
          </p:cNvSpPr>
          <p:nvPr/>
        </p:nvSpPr>
        <p:spPr bwMode="auto">
          <a:xfrm>
            <a:off x="6934200" y="2675561"/>
            <a:ext cx="2209800" cy="1753571"/>
          </a:xfrm>
          <a:prstGeom prst="rect">
            <a:avLst/>
          </a:prstGeom>
          <a:solidFill>
            <a:srgbClr val="FFC000"/>
          </a:solidFill>
          <a:ln w="9525">
            <a:noFill/>
            <a:miter lim="800000"/>
            <a:headEnd/>
            <a:tailEnd/>
          </a:ln>
        </p:spPr>
        <p:txBody>
          <a:bodyPr>
            <a:spAutoFit/>
          </a:bodyPr>
          <a:lstStyle/>
          <a:p>
            <a:pPr eaLnBrk="1" hangingPunct="1"/>
            <a:r>
              <a:rPr lang="en-US" altLang="en-US" b="1" dirty="0">
                <a:solidFill>
                  <a:srgbClr val="000000"/>
                </a:solidFill>
                <a:ea typeface="Times New Roman" pitchFamily="18" charset="0"/>
                <a:cs typeface="Arial" pitchFamily="34" charset="0"/>
              </a:rPr>
              <a:t>Clarity of Relationship, Natural Characteristic,</a:t>
            </a:r>
          </a:p>
          <a:p>
            <a:pPr eaLnBrk="1" hangingPunct="1"/>
            <a:r>
              <a:rPr lang="en-US" altLang="en-US" b="1" dirty="0">
                <a:solidFill>
                  <a:srgbClr val="000000"/>
                </a:solidFill>
                <a:ea typeface="Times New Roman" pitchFamily="18" charset="0"/>
                <a:cs typeface="Arial" pitchFamily="34" charset="0"/>
              </a:rPr>
              <a:t>Participation in Larger Order</a:t>
            </a:r>
            <a:endParaRPr lang="en-US" altLang="en-US" dirty="0">
              <a:solidFill>
                <a:srgbClr val="000000"/>
              </a:solidFill>
              <a:ea typeface="Times New Roman" pitchFamily="18" charset="0"/>
              <a:cs typeface="Arial" pitchFamily="34" charset="0"/>
            </a:endParaRPr>
          </a:p>
        </p:txBody>
      </p:sp>
      <p:grpSp>
        <p:nvGrpSpPr>
          <p:cNvPr id="4" name="Group 30"/>
          <p:cNvGrpSpPr>
            <a:grpSpLocks/>
          </p:cNvGrpSpPr>
          <p:nvPr/>
        </p:nvGrpSpPr>
        <p:grpSpPr bwMode="auto">
          <a:xfrm>
            <a:off x="6858000" y="2654307"/>
            <a:ext cx="2286000" cy="1774825"/>
            <a:chOff x="6858000" y="1274134"/>
            <a:chExt cx="2286000" cy="1775802"/>
          </a:xfrm>
        </p:grpSpPr>
        <p:sp>
          <p:nvSpPr>
            <p:cNvPr id="42" name="Rectangle 31"/>
            <p:cNvSpPr>
              <a:spLocks noChangeArrowheads="1"/>
            </p:cNvSpPr>
            <p:nvPr/>
          </p:nvSpPr>
          <p:spPr bwMode="auto">
            <a:xfrm>
              <a:off x="6934200" y="1295400"/>
              <a:ext cx="2209800" cy="1754536"/>
            </a:xfrm>
            <a:prstGeom prst="rect">
              <a:avLst/>
            </a:prstGeom>
            <a:solidFill>
              <a:srgbClr val="FFC000"/>
            </a:solidFill>
            <a:ln w="9525">
              <a:noFill/>
              <a:miter lim="800000"/>
              <a:headEnd/>
              <a:tailEnd/>
            </a:ln>
          </p:spPr>
          <p:txBody>
            <a:bodyPr>
              <a:spAutoFit/>
            </a:bodyPr>
            <a:lstStyle/>
            <a:p>
              <a:pPr eaLnBrk="1" hangingPunct="1"/>
              <a:r>
                <a:rPr lang="en-US" altLang="en-US" b="1" dirty="0">
                  <a:solidFill>
                    <a:srgbClr val="000000"/>
                  </a:solidFill>
                  <a:ea typeface="Times New Roman" pitchFamily="18" charset="0"/>
                  <a:cs typeface="Arial" pitchFamily="34" charset="0"/>
                </a:rPr>
                <a:t>Clarity of Relationship, Natural Characteristic,</a:t>
              </a:r>
            </a:p>
            <a:p>
              <a:pPr eaLnBrk="1" hangingPunct="1"/>
              <a:r>
                <a:rPr lang="en-US" altLang="en-US" b="1" dirty="0">
                  <a:solidFill>
                    <a:srgbClr val="000000"/>
                  </a:solidFill>
                  <a:ea typeface="Times New Roman" pitchFamily="18" charset="0"/>
                  <a:cs typeface="Arial" pitchFamily="34" charset="0"/>
                </a:rPr>
                <a:t>Participation in Larger Order</a:t>
              </a:r>
              <a:endParaRPr lang="en-US" altLang="en-US" dirty="0">
                <a:solidFill>
                  <a:srgbClr val="000000"/>
                </a:solidFill>
                <a:ea typeface="Times New Roman" pitchFamily="18" charset="0"/>
                <a:cs typeface="Arial" pitchFamily="34" charset="0"/>
              </a:endParaRPr>
            </a:p>
          </p:txBody>
        </p:sp>
        <p:sp>
          <p:nvSpPr>
            <p:cNvPr id="43" name="Left Brace 42">
              <a:extLst>
                <a:ext uri="{FF2B5EF4-FFF2-40B4-BE49-F238E27FC236}">
                  <a16:creationId xmlns:a16="http://schemas.microsoft.com/office/drawing/2014/main" xmlns="" id="{ECF849B8-B050-47C3-BEB4-280D777E0880}"/>
                </a:ext>
              </a:extLst>
            </p:cNvPr>
            <p:cNvSpPr/>
            <p:nvPr/>
          </p:nvSpPr>
          <p:spPr>
            <a:xfrm>
              <a:off x="6858000" y="1274134"/>
              <a:ext cx="152400" cy="1734504"/>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solidFill>
                  <a:prstClr val="black"/>
                </a:solidFill>
              </a:endParaRPr>
            </a:p>
          </p:txBody>
        </p:sp>
      </p:gr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DE372D6-991E-4878-92F8-C3C9CEABF136}"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dirty="0">
                <a:latin typeface="Arial" pitchFamily="34" charset="0"/>
                <a:cs typeface="Arial" pitchFamily="34" charset="0"/>
              </a:rPr>
              <a:t>Daily Quiz</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
        <p:nvSpPr>
          <p:cNvPr id="10" name="Content Placeholder 9"/>
          <p:cNvSpPr>
            <a:spLocks noGrp="1"/>
          </p:cNvSpPr>
          <p:nvPr>
            <p:ph idx="1"/>
          </p:nvPr>
        </p:nvSpPr>
        <p:spPr>
          <a:xfrm>
            <a:off x="357158" y="1071546"/>
            <a:ext cx="8429684" cy="5153440"/>
          </a:xfrm>
        </p:spPr>
        <p:txBody>
          <a:bodyPr>
            <a:normAutofit/>
          </a:bodyPr>
          <a:lstStyle/>
          <a:p>
            <a:pPr marL="457200" lvl="0" indent="-457200" algn="just">
              <a:buFont typeface="+mj-lt"/>
              <a:buAutoNum type="arabicPeriod"/>
            </a:pPr>
            <a:r>
              <a:rPr lang="en-IN" sz="2200" dirty="0">
                <a:latin typeface="Arial" pitchFamily="34" charset="0"/>
                <a:cs typeface="Arial" pitchFamily="34" charset="0"/>
              </a:rPr>
              <a:t>__________ implies that each unit of the four orders is related to each other and enriching to each other.</a:t>
            </a:r>
          </a:p>
          <a:p>
            <a:pPr marL="457200" lvl="0" indent="-457200" algn="just">
              <a:buFont typeface="+mj-lt"/>
              <a:buAutoNum type="arabicPeriod"/>
            </a:pPr>
            <a:endParaRPr lang="en-IN" sz="2200" dirty="0">
              <a:latin typeface="Arial" pitchFamily="34" charset="0"/>
              <a:cs typeface="Arial" pitchFamily="34" charset="0"/>
            </a:endParaRPr>
          </a:p>
          <a:p>
            <a:pPr marL="457200" lvl="0" indent="-457200" algn="just">
              <a:buFont typeface="+mj-lt"/>
              <a:buAutoNum type="arabicPeriod"/>
            </a:pPr>
            <a:r>
              <a:rPr lang="en-US" sz="2200" dirty="0">
                <a:latin typeface="Arial" pitchFamily="34" charset="0"/>
                <a:cs typeface="Arial" pitchFamily="34" charset="0"/>
              </a:rPr>
              <a:t>There are two kind of realities in existence- _______ &amp; _____.</a:t>
            </a:r>
          </a:p>
          <a:p>
            <a:pPr marL="457200" lvl="0" indent="-457200" algn="just">
              <a:buFont typeface="+mj-lt"/>
              <a:buAutoNum type="arabicPeriod"/>
            </a:pPr>
            <a:endParaRPr lang="en-US" sz="2200" dirty="0">
              <a:latin typeface="Arial" pitchFamily="34" charset="0"/>
              <a:cs typeface="Arial" pitchFamily="34" charset="0"/>
            </a:endParaRPr>
          </a:p>
          <a:p>
            <a:pPr marL="457200" lvl="0" indent="-457200" algn="just">
              <a:buFont typeface="+mj-lt"/>
              <a:buAutoNum type="arabicPeriod"/>
            </a:pPr>
            <a:r>
              <a:rPr lang="en-IN" sz="2200" dirty="0">
                <a:latin typeface="Arial" pitchFamily="34" charset="0"/>
                <a:cs typeface="Arial" pitchFamily="34" charset="0"/>
              </a:rPr>
              <a:t>The basic activities of plant order are  __________.</a:t>
            </a:r>
          </a:p>
          <a:p>
            <a:pPr marL="457200" lvl="0" indent="-457200" algn="just">
              <a:buFont typeface="+mj-lt"/>
              <a:buAutoNum type="arabicPeriod"/>
            </a:pPr>
            <a:endParaRPr lang="en-IN" sz="2200" dirty="0">
              <a:latin typeface="Arial" pitchFamily="34" charset="0"/>
              <a:cs typeface="Arial" pitchFamily="34" charset="0"/>
            </a:endParaRPr>
          </a:p>
          <a:p>
            <a:pPr marL="457200" lvl="0" indent="-457200" algn="just">
              <a:buFont typeface="+mj-lt"/>
              <a:buAutoNum type="arabicPeriod"/>
            </a:pPr>
            <a:r>
              <a:rPr lang="en-IN" sz="2200" dirty="0">
                <a:latin typeface="Arial" pitchFamily="34" charset="0"/>
                <a:cs typeface="Arial" pitchFamily="34" charset="0"/>
              </a:rPr>
              <a:t>There is already a basic harmony in nature everywhere. We just have to recognize it and live it.(True/False)</a:t>
            </a:r>
          </a:p>
          <a:p>
            <a:pPr marL="457200" lvl="0" indent="-457200" algn="just">
              <a:buFont typeface="+mj-lt"/>
              <a:buAutoNum type="arabicPeriod"/>
            </a:pPr>
            <a:endParaRPr lang="en-IN" sz="2200" dirty="0">
              <a:latin typeface="Arial" pitchFamily="34" charset="0"/>
              <a:cs typeface="Arial" pitchFamily="34" charset="0"/>
            </a:endParaRPr>
          </a:p>
          <a:p>
            <a:pPr marL="457200" indent="-457200" algn="just">
              <a:buFont typeface="+mj-lt"/>
              <a:buAutoNum type="arabicPeriod"/>
            </a:pPr>
            <a:r>
              <a:rPr lang="en-IN" sz="2200" dirty="0">
                <a:effectLst/>
                <a:latin typeface="Arial" panose="020B0604020202020204" pitchFamily="34" charset="0"/>
                <a:ea typeface="Calibri" panose="020F0502020204030204" pitchFamily="34" charset="0"/>
                <a:cs typeface="Arial" panose="020B0604020202020204" pitchFamily="34" charset="0"/>
              </a:rPr>
              <a:t>Working for right understanding as the first priority followed </a:t>
            </a:r>
            <a:r>
              <a:rPr lang="en-IN" sz="2200" spc="15" dirty="0">
                <a:effectLst/>
                <a:latin typeface="Arial" panose="020B0604020202020204" pitchFamily="34" charset="0"/>
                <a:ea typeface="Calibri" panose="020F0502020204030204" pitchFamily="34" charset="0"/>
                <a:cs typeface="Arial" panose="020B0604020202020204" pitchFamily="34" charset="0"/>
              </a:rPr>
              <a:t>by </a:t>
            </a:r>
            <a:r>
              <a:rPr lang="en-IN" sz="2200" dirty="0">
                <a:effectLst/>
                <a:latin typeface="Arial" panose="020B0604020202020204" pitchFamily="34" charset="0"/>
                <a:ea typeface="Calibri" panose="020F0502020204030204" pitchFamily="34" charset="0"/>
                <a:cs typeface="Arial" panose="020B0604020202020204" pitchFamily="34" charset="0"/>
              </a:rPr>
              <a:t>relationship and physical facilities implies living with _________.</a:t>
            </a:r>
          </a:p>
          <a:p>
            <a:pPr marL="457200" lvl="0" indent="-457200" algn="just">
              <a:buFont typeface="+mj-lt"/>
              <a:buAutoNum type="arabicPeriod"/>
            </a:pPr>
            <a:endParaRPr lang="en-IN" sz="2200" dirty="0">
              <a:latin typeface="Arial" pitchFamily="34" charset="0"/>
              <a:cs typeface="Arial" pitchFamily="34" charset="0"/>
            </a:endParaRPr>
          </a:p>
          <a:p>
            <a:pPr marL="457200" indent="-457200" algn="just">
              <a:buFont typeface="+mj-lt"/>
              <a:buAutoNum type="arabicPeriod"/>
            </a:pPr>
            <a:endParaRPr lang="en-IN" sz="2200" dirty="0">
              <a:latin typeface="Arial" pitchFamily="34" charset="0"/>
              <a:cs typeface="Arial" pitchFamily="34" charset="0"/>
            </a:endParaRPr>
          </a:p>
          <a:p>
            <a:pPr marL="457200" lvl="0" indent="-457200" algn="just">
              <a:buFont typeface="+mj-lt"/>
              <a:buAutoNum type="arabicPeriod"/>
            </a:pPr>
            <a:endParaRPr lang="en-IN" sz="2200" dirty="0">
              <a:latin typeface="Arial" pitchFamily="34" charset="0"/>
              <a:cs typeface="Arial" pitchFamily="34" charset="0"/>
            </a:endParaRPr>
          </a:p>
          <a:p>
            <a:pPr marL="457200" indent="-457200" algn="just">
              <a:buFont typeface="+mj-lt"/>
              <a:buAutoNum type="arabicPeriod"/>
            </a:pPr>
            <a:endParaRPr lang="en-IN" sz="2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406" y="974723"/>
            <a:ext cx="9072594" cy="4597417"/>
          </a:xfrm>
        </p:spPr>
        <p:txBody>
          <a:bodyPr>
            <a:noAutofit/>
          </a:bodyPr>
          <a:lstStyle/>
          <a:p>
            <a:pPr algn="just">
              <a:spcAft>
                <a:spcPts val="1200"/>
              </a:spcAft>
              <a:buFont typeface="Wingdings" pitchFamily="2" charset="2"/>
              <a:buChar char="§"/>
              <a:defRPr/>
            </a:pPr>
            <a:r>
              <a:rPr lang="en-US" altLang="en-US" sz="2200" dirty="0">
                <a:latin typeface="Arial" pitchFamily="34" charset="0"/>
                <a:cs typeface="Arial" pitchFamily="34" charset="0"/>
              </a:rPr>
              <a:t>Fulfilment of  Role of human being in entire existence leads to Continuous Happiness. This role fulfilled by activating the realization (activity of self).  </a:t>
            </a:r>
          </a:p>
          <a:p>
            <a:pPr algn="just">
              <a:spcAft>
                <a:spcPts val="1200"/>
              </a:spcAft>
              <a:buFont typeface="Wingdings" pitchFamily="2" charset="2"/>
              <a:buChar char="§"/>
              <a:defRPr/>
            </a:pPr>
            <a:r>
              <a:rPr lang="en-US" altLang="en-US" sz="2200" dirty="0">
                <a:solidFill>
                  <a:srgbClr val="000000"/>
                </a:solidFill>
                <a:latin typeface="Arial" pitchFamily="34" charset="0"/>
                <a:ea typeface="Times New Roman" pitchFamily="18" charset="0"/>
                <a:cs typeface="Arial" pitchFamily="34" charset="0"/>
              </a:rPr>
              <a:t>Block B2 of self gives Clarity of Relationship, Natural Characteristic, Participation in Larger Order.</a:t>
            </a:r>
          </a:p>
          <a:p>
            <a:pPr algn="just">
              <a:spcAft>
                <a:spcPts val="1200"/>
              </a:spcAft>
              <a:buFont typeface="Wingdings" pitchFamily="2" charset="2"/>
              <a:buChar char="§"/>
              <a:defRPr/>
            </a:pPr>
            <a:r>
              <a:rPr lang="en-US" altLang="en-US" sz="2200" dirty="0">
                <a:solidFill>
                  <a:srgbClr val="000000"/>
                </a:solidFill>
                <a:latin typeface="Arial" pitchFamily="34" charset="0"/>
                <a:ea typeface="Times New Roman" pitchFamily="18" charset="0"/>
                <a:cs typeface="Arial" pitchFamily="34" charset="0"/>
              </a:rPr>
              <a:t>Block B21 of self Clarity of Harmony in Nature, Self-</a:t>
            </a:r>
            <a:r>
              <a:rPr lang="en-US" altLang="en-US" sz="2200" dirty="0" err="1">
                <a:solidFill>
                  <a:srgbClr val="000000"/>
                </a:solidFill>
                <a:latin typeface="Arial" pitchFamily="34" charset="0"/>
                <a:ea typeface="Times New Roman" pitchFamily="18" charset="0"/>
                <a:cs typeface="Arial" pitchFamily="34" charset="0"/>
              </a:rPr>
              <a:t>organisation</a:t>
            </a:r>
            <a:r>
              <a:rPr lang="en-US" altLang="en-US" sz="2200" dirty="0">
                <a:solidFill>
                  <a:srgbClr val="000000"/>
                </a:solidFill>
                <a:latin typeface="Arial" pitchFamily="34" charset="0"/>
                <a:ea typeface="Times New Roman" pitchFamily="18" charset="0"/>
                <a:cs typeface="Arial" pitchFamily="34" charset="0"/>
              </a:rPr>
              <a:t>, Innateness</a:t>
            </a: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altLang="en-US" sz="2200" dirty="0">
              <a:latin typeface="Arial" pitchFamily="34" charset="0"/>
              <a:cs typeface="Arial" pitchFamily="34" charset="0"/>
            </a:endParaRPr>
          </a:p>
          <a:p>
            <a:pPr algn="just">
              <a:spcAft>
                <a:spcPts val="1200"/>
              </a:spcAft>
              <a:buFont typeface="Wingdings" pitchFamily="2" charset="2"/>
              <a:buChar char="§"/>
              <a:defRPr/>
            </a:pPr>
            <a:endParaRPr lang="en-IN" sz="2200" dirty="0">
              <a:latin typeface="Arial" pitchFamily="34" charset="0"/>
              <a:cs typeface="Arial" pitchFamily="34" charset="0"/>
            </a:endParaRPr>
          </a:p>
          <a:p>
            <a:pPr algn="just">
              <a:buFont typeface="Wingdings" pitchFamily="2" charset="2"/>
              <a:buChar char="§"/>
              <a:defRPr/>
            </a:pPr>
            <a:endParaRPr lang="en-IN"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A17E7652-4314-44D7-AC99-9FA5866BC935}"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Recap of</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Topic </a:t>
            </a:r>
            <a:r>
              <a:rPr lang="en-US" sz="3200" dirty="0">
                <a:latin typeface="Arial" pitchFamily="34" charset="0"/>
                <a:cs typeface="Arial" pitchFamily="34" charset="0"/>
              </a:rPr>
              <a:t>5</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lstStyle/>
          <a:p>
            <a:pPr>
              <a:buNone/>
            </a:pPr>
            <a:r>
              <a:rPr lang="en-US" sz="2400" b="1" dirty="0" err="1">
                <a:latin typeface="Times New Roman" pitchFamily="18" charset="0"/>
                <a:cs typeface="Times New Roman" pitchFamily="18" charset="0"/>
              </a:rPr>
              <a:t>Youtube</a:t>
            </a:r>
            <a:r>
              <a:rPr lang="en-US" sz="2400" b="1" dirty="0">
                <a:latin typeface="Times New Roman" pitchFamily="18" charset="0"/>
                <a:cs typeface="Times New Roman" pitchFamily="18" charset="0"/>
              </a:rPr>
              <a:t>/other  Video Links</a:t>
            </a:r>
          </a:p>
          <a:p>
            <a:pPr>
              <a:buFont typeface="Wingdings" pitchFamily="2" charset="2"/>
              <a:buChar char="§"/>
            </a:pPr>
            <a:r>
              <a:rPr lang="en-IN" sz="2400" dirty="0">
                <a:hlinkClick r:id="rId2"/>
              </a:rPr>
              <a:t>https://www.youtube.com/watch?v=nFAa4t1d0TA</a:t>
            </a:r>
            <a:endParaRPr lang="en-IN" sz="2400" dirty="0"/>
          </a:p>
          <a:p>
            <a:pPr>
              <a:buFont typeface="Wingdings" pitchFamily="2" charset="2"/>
              <a:buChar char="§"/>
            </a:pPr>
            <a:r>
              <a:rPr lang="en-IN" sz="2400" dirty="0">
                <a:hlinkClick r:id="rId3"/>
              </a:rPr>
              <a:t>https://www.youtube.com/watch?v=Cnw1nK3K5qk</a:t>
            </a:r>
            <a:endParaRPr lang="en-IN" sz="2400" dirty="0"/>
          </a:p>
          <a:p>
            <a:pPr>
              <a:buFont typeface="Wingdings" pitchFamily="2" charset="2"/>
              <a:buChar char="§"/>
            </a:pPr>
            <a:r>
              <a:rPr lang="en-IN" sz="2400" dirty="0">
                <a:hlinkClick r:id="rId4"/>
              </a:rPr>
              <a:t>https://www.youtube.com/watch?v=0CHNLEnZurs</a:t>
            </a:r>
            <a:endParaRPr lang="en-IN" sz="2400" dirty="0"/>
          </a:p>
          <a:p>
            <a:pPr>
              <a:buFont typeface="Wingdings" pitchFamily="2" charset="2"/>
              <a:buChar char="§"/>
            </a:pPr>
            <a:r>
              <a:rPr lang="en-IN" sz="2400" dirty="0">
                <a:hlinkClick r:id="rId5"/>
              </a:rPr>
              <a:t>https://www.youtube.com/watch?v=xl0XErERtUg&amp;list=PLWDeKF97v9SP_Kt6jqzA3pZ3yA7g_OAQz&amp;index=6</a:t>
            </a:r>
            <a:endParaRPr lang="en-IN" sz="2400" dirty="0"/>
          </a:p>
        </p:txBody>
      </p:sp>
      <p:sp>
        <p:nvSpPr>
          <p:cNvPr id="4" name="Date Placeholder 3"/>
          <p:cNvSpPr>
            <a:spLocks noGrp="1"/>
          </p:cNvSpPr>
          <p:nvPr>
            <p:ph type="dt" sz="half" idx="10"/>
          </p:nvPr>
        </p:nvSpPr>
        <p:spPr/>
        <p:txBody>
          <a:bodyPr/>
          <a:lstStyle/>
          <a:p>
            <a:fld id="{CDA83363-BCD1-464A-8528-6B12C1E45AFD}"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371600" y="0"/>
            <a:ext cx="7772400" cy="100010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dk1"/>
                </a:solidFill>
                <a:effectLst/>
                <a:uLnTx/>
                <a:uFillTx/>
                <a:latin typeface="Arial" pitchFamily="34" charset="0"/>
                <a:cs typeface="Arial" pitchFamily="34" charset="0"/>
              </a:rPr>
              <a:t>Faculty Video</a:t>
            </a:r>
            <a:r>
              <a:rPr kumimoji="0" lang="en-US" sz="3200" b="0" i="0" u="none" strike="noStrike" kern="1200" cap="none" spc="0" normalizeH="0" noProof="0" dirty="0">
                <a:ln>
                  <a:noFill/>
                </a:ln>
                <a:solidFill>
                  <a:schemeClr val="dk1"/>
                </a:solidFill>
                <a:effectLst/>
                <a:uLnTx/>
                <a:uFillTx/>
                <a:latin typeface="Arial" pitchFamily="34" charset="0"/>
                <a:cs typeface="Arial" pitchFamily="34" charset="0"/>
              </a:rPr>
              <a:t> Links, </a:t>
            </a:r>
            <a:r>
              <a:rPr kumimoji="0" lang="en-US" sz="3200" b="0" i="0" u="none" strike="noStrike" kern="1200" cap="none" spc="0" normalizeH="0" noProof="0" dirty="0" err="1">
                <a:ln>
                  <a:noFill/>
                </a:ln>
                <a:solidFill>
                  <a:schemeClr val="dk1"/>
                </a:solidFill>
                <a:effectLst/>
                <a:uLnTx/>
                <a:uFillTx/>
                <a:latin typeface="Arial" pitchFamily="34" charset="0"/>
                <a:cs typeface="Arial" pitchFamily="34" charset="0"/>
              </a:rPr>
              <a:t>Youtube</a:t>
            </a:r>
            <a:r>
              <a:rPr kumimoji="0" lang="en-US" sz="3200" b="0" i="0" u="none" strike="noStrike" kern="1200" cap="none" spc="0" normalizeH="0" noProof="0" dirty="0">
                <a:ln>
                  <a:noFill/>
                </a:ln>
                <a:solidFill>
                  <a:schemeClr val="dk1"/>
                </a:solidFill>
                <a:effectLst/>
                <a:uLnTx/>
                <a:uFillTx/>
                <a:latin typeface="Arial" pitchFamily="34" charset="0"/>
                <a:cs typeface="Arial" pitchFamily="34" charset="0"/>
              </a:rPr>
              <a:t> &amp; NPTEL Video Links and Online Courses Details  </a:t>
            </a:r>
            <a:endParaRPr kumimoji="0" lang="en-US" sz="3200" b="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6"/>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974723"/>
            <a:ext cx="8405842" cy="4597417"/>
          </a:xfrm>
        </p:spPr>
        <p:txBody>
          <a:bodyPr>
            <a:noAutofit/>
          </a:bodyPr>
          <a:lstStyle/>
          <a:p>
            <a:pPr algn="just">
              <a:buNone/>
            </a:pPr>
            <a:r>
              <a:rPr lang="en-US" sz="2200" dirty="0">
                <a:latin typeface="Arial" pitchFamily="34" charset="0"/>
                <a:cs typeface="Arial" pitchFamily="34" charset="0"/>
              </a:rPr>
              <a:t>Q.1- What is the Role of Human Being  in this Ever-expressive Co-existence.</a:t>
            </a:r>
            <a:r>
              <a:rPr lang="en-US" sz="2200" b="1" dirty="0">
                <a:latin typeface="Arial" pitchFamily="34" charset="0"/>
                <a:cs typeface="Arial" pitchFamily="34" charset="0"/>
              </a:rPr>
              <a:t>CO4</a:t>
            </a:r>
          </a:p>
          <a:p>
            <a:pPr algn="just">
              <a:buNone/>
            </a:pPr>
            <a:endParaRPr lang="en-IN" sz="2000" dirty="0">
              <a:latin typeface="Arial" pitchFamily="34" charset="0"/>
              <a:cs typeface="Arial" pitchFamily="34" charset="0"/>
            </a:endParaRPr>
          </a:p>
          <a:p>
            <a:pPr algn="just">
              <a:buNone/>
            </a:pPr>
            <a:r>
              <a:rPr lang="en-US" sz="2200" dirty="0">
                <a:latin typeface="Arial" pitchFamily="34" charset="0"/>
                <a:cs typeface="Arial" pitchFamily="34" charset="0"/>
              </a:rPr>
              <a:t>Q.2-How the  Co-existence express in Nature . What are the four orders of nature? Briefly explain them.  </a:t>
            </a:r>
            <a:r>
              <a:rPr lang="en-US" sz="2200" b="1" dirty="0">
                <a:latin typeface="Arial" pitchFamily="34" charset="0"/>
                <a:cs typeface="Arial" pitchFamily="34" charset="0"/>
              </a:rPr>
              <a:t>CO4</a:t>
            </a:r>
          </a:p>
          <a:p>
            <a:pPr algn="just">
              <a:buNone/>
            </a:pPr>
            <a:endParaRPr lang="en-IN" sz="2000" dirty="0">
              <a:latin typeface="Arial" pitchFamily="34" charset="0"/>
              <a:cs typeface="Arial" pitchFamily="34" charset="0"/>
            </a:endParaRPr>
          </a:p>
          <a:p>
            <a:pPr algn="just">
              <a:buNone/>
            </a:pPr>
            <a:r>
              <a:rPr lang="en-US" sz="2200" dirty="0">
                <a:latin typeface="Arial" pitchFamily="34" charset="0"/>
                <a:cs typeface="Arial" pitchFamily="34" charset="0"/>
              </a:rPr>
              <a:t>Q.3- Explain the Innateness, natural characteristics and </a:t>
            </a:r>
            <a:r>
              <a:rPr lang="en-US" sz="2200" dirty="0" err="1">
                <a:latin typeface="Arial" pitchFamily="34" charset="0"/>
                <a:cs typeface="Arial" pitchFamily="34" charset="0"/>
              </a:rPr>
              <a:t>Inheritence</a:t>
            </a:r>
            <a:r>
              <a:rPr lang="en-US" sz="2200" dirty="0">
                <a:latin typeface="Arial" pitchFamily="34" charset="0"/>
                <a:cs typeface="Arial" pitchFamily="34" charset="0"/>
              </a:rPr>
              <a:t>. </a:t>
            </a:r>
            <a:r>
              <a:rPr lang="en-US" sz="2200" b="1" dirty="0">
                <a:latin typeface="Arial" pitchFamily="34" charset="0"/>
                <a:cs typeface="Arial" pitchFamily="34" charset="0"/>
              </a:rPr>
              <a:t>CO4</a:t>
            </a:r>
          </a:p>
          <a:p>
            <a:pPr algn="just">
              <a:buNone/>
            </a:pPr>
            <a:endParaRPr lang="en-IN" sz="2000" dirty="0">
              <a:latin typeface="Arial" pitchFamily="34" charset="0"/>
              <a:cs typeface="Arial" pitchFamily="34" charset="0"/>
            </a:endParaRPr>
          </a:p>
          <a:p>
            <a:pPr algn="just">
              <a:buNone/>
            </a:pPr>
            <a:r>
              <a:rPr lang="en-US" sz="2200" dirty="0">
                <a:latin typeface="Arial" pitchFamily="34" charset="0"/>
                <a:cs typeface="Arial" pitchFamily="34" charset="0"/>
              </a:rPr>
              <a:t>Q.4-What do you mean by realization within.</a:t>
            </a:r>
            <a:r>
              <a:rPr lang="en-US" sz="2200" b="1" dirty="0">
                <a:latin typeface="Arial" pitchFamily="34" charset="0"/>
                <a:cs typeface="Arial" pitchFamily="34" charset="0"/>
              </a:rPr>
              <a:t>CO4</a:t>
            </a:r>
          </a:p>
          <a:p>
            <a:pPr algn="just">
              <a:buNone/>
            </a:pPr>
            <a:endParaRPr lang="en-IN" sz="2200" dirty="0">
              <a:latin typeface="Arial" pitchFamily="34" charset="0"/>
              <a:cs typeface="Arial" pitchFamily="34" charset="0"/>
            </a:endParaRPr>
          </a:p>
          <a:p>
            <a:pPr algn="just">
              <a:buNone/>
            </a:pPr>
            <a:r>
              <a:rPr lang="en-US" sz="2200" dirty="0">
                <a:latin typeface="Arial" pitchFamily="34" charset="0"/>
                <a:cs typeface="Arial" pitchFamily="34" charset="0"/>
              </a:rPr>
              <a:t>Q.5-How will you show interconnectedness and mutual fulfilment in four order of nature with examples</a:t>
            </a:r>
            <a:r>
              <a:rPr lang="en-US" sz="2200" b="1" dirty="0">
                <a:latin typeface="Arial" pitchFamily="34" charset="0"/>
                <a:cs typeface="Arial" pitchFamily="34" charset="0"/>
              </a:rPr>
              <a:t>? CO4</a:t>
            </a:r>
            <a:endParaRPr lang="en-IN" sz="2200" dirty="0">
              <a:latin typeface="Arial" pitchFamily="34" charset="0"/>
              <a:cs typeface="Arial" pitchFamily="34" charset="0"/>
            </a:endParaRPr>
          </a:p>
          <a:p>
            <a:pPr marL="457200" lvl="0" indent="-457200" algn="just">
              <a:buNone/>
            </a:pPr>
            <a:endParaRPr lang="en-IN" sz="2200" dirty="0">
              <a:latin typeface="Arial" pitchFamily="34" charset="0"/>
              <a:cs typeface="Arial" pitchFamily="34" charset="0"/>
            </a:endParaRPr>
          </a:p>
          <a:p>
            <a:pPr marL="457200" lvl="0" indent="-457200" algn="just">
              <a:buFont typeface="+mj-lt"/>
              <a:buAutoNum type="arabicPeriod"/>
            </a:pPr>
            <a:endParaRPr lang="en-IN" sz="2200" dirty="0">
              <a:latin typeface="Arial" pitchFamily="34" charset="0"/>
              <a:cs typeface="Arial" pitchFamily="34" charset="0"/>
            </a:endParaRPr>
          </a:p>
          <a:p>
            <a:pPr lvl="0" algn="just"/>
            <a:endParaRPr lang="en-IN" sz="2200" dirty="0">
              <a:latin typeface="Arial" pitchFamily="34" charset="0"/>
              <a:cs typeface="Arial" pitchFamily="34" charset="0"/>
            </a:endParaRPr>
          </a:p>
          <a:p>
            <a:pPr algn="just"/>
            <a:endParaRPr lang="en-US"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CB3F06C8-AE99-414A-A3F4-CF37C895DBB8}"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Weekly</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Assignment</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Footer Placeholder 12"/>
          <p:cNvSpPr>
            <a:spLocks noGrp="1"/>
          </p:cNvSpPr>
          <p:nvPr>
            <p:ph type="ftr" sz="quarter" idx="11"/>
          </p:nvPr>
        </p:nvSpPr>
        <p:spPr>
          <a:xfrm>
            <a:off x="2857488" y="6357958"/>
            <a:ext cx="5286412" cy="365125"/>
          </a:xfrm>
        </p:spPr>
        <p:txBody>
          <a:bodyPr/>
          <a:lstStyle/>
          <a:p>
            <a:r>
              <a:rPr lang="fi-FI" smtClean="0"/>
              <a:t>SHYAM  LAL SHARMA             KOE069 UHV-2               Unit -4</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857232"/>
            <a:ext cx="8477280" cy="4668839"/>
          </a:xfrm>
        </p:spPr>
        <p:txBody>
          <a:bodyPr>
            <a:noAutofit/>
          </a:bodyPr>
          <a:lstStyle/>
          <a:p>
            <a:pPr marL="457200" lvl="0" indent="-457200">
              <a:buFont typeface="+mj-lt"/>
              <a:buAutoNum type="arabicPeriod"/>
            </a:pPr>
            <a:r>
              <a:rPr lang="en-IN" sz="2200" dirty="0">
                <a:latin typeface="Arial" pitchFamily="34" charset="0"/>
                <a:cs typeface="Arial" pitchFamily="34" charset="0"/>
              </a:rPr>
              <a:t>The material units are transformable, and their composition keeps on  changing, hence these       are </a:t>
            </a:r>
          </a:p>
          <a:p>
            <a:pPr lvl="0">
              <a:buNone/>
            </a:pPr>
            <a:r>
              <a:rPr lang="en-IN" sz="2200" dirty="0">
                <a:latin typeface="Arial" pitchFamily="34" charset="0"/>
                <a:cs typeface="Arial" pitchFamily="34" charset="0"/>
              </a:rPr>
              <a:t>     (a) </a:t>
            </a:r>
            <a:r>
              <a:rPr lang="en-IN" sz="2200" dirty="0" err="1">
                <a:latin typeface="Arial" pitchFamily="34" charset="0"/>
                <a:cs typeface="Arial" pitchFamily="34" charset="0"/>
              </a:rPr>
              <a:t>Gathansheel</a:t>
            </a:r>
            <a:r>
              <a:rPr lang="en-IN" sz="2200" dirty="0">
                <a:latin typeface="Arial" pitchFamily="34" charset="0"/>
                <a:cs typeface="Arial" pitchFamily="34" charset="0"/>
              </a:rPr>
              <a:t>        		(b) </a:t>
            </a:r>
            <a:r>
              <a:rPr lang="en-IN" sz="2200" dirty="0" err="1">
                <a:latin typeface="Arial" pitchFamily="34" charset="0"/>
                <a:cs typeface="Arial" pitchFamily="34" charset="0"/>
              </a:rPr>
              <a:t>Gathanpurna</a:t>
            </a:r>
            <a:endParaRPr lang="en-IN" sz="2200" dirty="0">
              <a:latin typeface="Arial" pitchFamily="34" charset="0"/>
              <a:cs typeface="Arial" pitchFamily="34" charset="0"/>
            </a:endParaRPr>
          </a:p>
          <a:p>
            <a:pPr lvl="0">
              <a:buNone/>
            </a:pPr>
            <a:r>
              <a:rPr lang="en-IN" sz="2200" dirty="0">
                <a:latin typeface="Arial" pitchFamily="34" charset="0"/>
                <a:cs typeface="Arial" pitchFamily="34" charset="0"/>
              </a:rPr>
              <a:t>     (c)  </a:t>
            </a:r>
            <a:r>
              <a:rPr lang="en-IN" sz="2200" dirty="0" err="1">
                <a:latin typeface="Arial" pitchFamily="34" charset="0"/>
                <a:cs typeface="Arial" pitchFamily="34" charset="0"/>
              </a:rPr>
              <a:t>Kriyapurnata</a:t>
            </a:r>
            <a:r>
              <a:rPr lang="en-IN" sz="2200" dirty="0">
                <a:latin typeface="Arial" pitchFamily="34" charset="0"/>
                <a:cs typeface="Arial" pitchFamily="34" charset="0"/>
              </a:rPr>
              <a:t>			(d) </a:t>
            </a:r>
            <a:r>
              <a:rPr lang="en-IN" sz="2200" dirty="0" err="1">
                <a:latin typeface="Arial" pitchFamily="34" charset="0"/>
                <a:cs typeface="Arial" pitchFamily="34" charset="0"/>
              </a:rPr>
              <a:t>Acharanpurnata</a:t>
            </a:r>
            <a:endParaRPr lang="en-IN" sz="2200" dirty="0">
              <a:latin typeface="Arial" pitchFamily="34" charset="0"/>
              <a:cs typeface="Arial" pitchFamily="34" charset="0"/>
            </a:endParaRPr>
          </a:p>
          <a:p>
            <a:pPr lvl="0">
              <a:buNone/>
            </a:pPr>
            <a:r>
              <a:rPr lang="en-IN" sz="2200" dirty="0">
                <a:latin typeface="Arial" pitchFamily="34" charset="0"/>
                <a:cs typeface="Arial" pitchFamily="34" charset="0"/>
              </a:rPr>
              <a:t>2.  __________ implies that each unit of the four orders is related to each other and enriching to each other.</a:t>
            </a:r>
          </a:p>
          <a:p>
            <a:pPr lvl="0">
              <a:buNone/>
            </a:pPr>
            <a:r>
              <a:rPr lang="en-IN" sz="2200" dirty="0">
                <a:latin typeface="Arial" pitchFamily="34" charset="0"/>
                <a:cs typeface="Arial" pitchFamily="34" charset="0"/>
              </a:rPr>
              <a:t>    (a) Mutual </a:t>
            </a:r>
            <a:r>
              <a:rPr lang="en-IN" sz="2200" dirty="0" err="1">
                <a:latin typeface="Arial" pitchFamily="34" charset="0"/>
                <a:cs typeface="Arial" pitchFamily="34" charset="0"/>
              </a:rPr>
              <a:t>Prospertity</a:t>
            </a:r>
            <a:r>
              <a:rPr lang="en-IN" sz="2200" dirty="0">
                <a:latin typeface="Arial" pitchFamily="34" charset="0"/>
                <a:cs typeface="Arial" pitchFamily="34" charset="0"/>
              </a:rPr>
              <a:t>		 (b) </a:t>
            </a:r>
            <a:r>
              <a:rPr lang="en-IN" sz="2200" dirty="0" err="1">
                <a:latin typeface="Arial" pitchFamily="34" charset="0"/>
                <a:cs typeface="Arial" pitchFamily="34" charset="0"/>
              </a:rPr>
              <a:t>Fulfillment</a:t>
            </a:r>
            <a:endParaRPr lang="en-IN" sz="2200" dirty="0">
              <a:latin typeface="Arial" pitchFamily="34" charset="0"/>
              <a:cs typeface="Arial" pitchFamily="34" charset="0"/>
            </a:endParaRPr>
          </a:p>
          <a:p>
            <a:pPr lvl="0">
              <a:buNone/>
            </a:pPr>
            <a:r>
              <a:rPr lang="en-IN" sz="2200" dirty="0">
                <a:latin typeface="Arial" pitchFamily="34" charset="0"/>
                <a:cs typeface="Arial" pitchFamily="34" charset="0"/>
              </a:rPr>
              <a:t>    (c) Right Understanding		 (d) Mutual </a:t>
            </a:r>
            <a:r>
              <a:rPr lang="en-IN" sz="2200" dirty="0" err="1">
                <a:latin typeface="Arial" pitchFamily="34" charset="0"/>
                <a:cs typeface="Arial" pitchFamily="34" charset="0"/>
              </a:rPr>
              <a:t>fulfillment</a:t>
            </a:r>
            <a:endParaRPr lang="en-IN" sz="2200" dirty="0">
              <a:latin typeface="Arial" pitchFamily="34" charset="0"/>
              <a:cs typeface="Arial" pitchFamily="34" charset="0"/>
            </a:endParaRPr>
          </a:p>
          <a:p>
            <a:pPr>
              <a:buNone/>
            </a:pPr>
            <a:r>
              <a:rPr lang="en-IN" sz="2200" dirty="0">
                <a:latin typeface="Arial" pitchFamily="34" charset="0"/>
                <a:cs typeface="Arial" pitchFamily="34" charset="0"/>
              </a:rPr>
              <a:t>3.</a:t>
            </a:r>
            <a:r>
              <a:rPr lang="en-US" sz="2200" dirty="0">
                <a:latin typeface="Arial" pitchFamily="34" charset="0"/>
                <a:cs typeface="Arial" pitchFamily="34" charset="0"/>
              </a:rPr>
              <a:t> In space __________ is available.</a:t>
            </a:r>
          </a:p>
          <a:p>
            <a:pPr lvl="0">
              <a:buNone/>
            </a:pPr>
            <a:r>
              <a:rPr lang="en-US" sz="2200" dirty="0">
                <a:latin typeface="Arial" pitchFamily="34" charset="0"/>
                <a:cs typeface="Arial" pitchFamily="34" charset="0"/>
              </a:rPr>
              <a:t>    (a) Self- organization</a:t>
            </a:r>
            <a:r>
              <a:rPr lang="en-IN" sz="2200" dirty="0">
                <a:latin typeface="Arial" pitchFamily="34" charset="0"/>
                <a:cs typeface="Arial" pitchFamily="34" charset="0"/>
              </a:rPr>
              <a:t>			(b) </a:t>
            </a:r>
            <a:r>
              <a:rPr lang="en-US" sz="2200" dirty="0">
                <a:latin typeface="Arial" pitchFamily="34" charset="0"/>
                <a:cs typeface="Arial" pitchFamily="34" charset="0"/>
              </a:rPr>
              <a:t>Self-regulation</a:t>
            </a:r>
            <a:endParaRPr lang="en-IN" sz="2200" dirty="0">
              <a:latin typeface="Arial" pitchFamily="34" charset="0"/>
              <a:cs typeface="Arial" pitchFamily="34" charset="0"/>
            </a:endParaRPr>
          </a:p>
          <a:p>
            <a:pPr lvl="0">
              <a:buNone/>
            </a:pPr>
            <a:r>
              <a:rPr lang="en-US" sz="2200" dirty="0">
                <a:latin typeface="Arial" pitchFamily="34" charset="0"/>
                <a:cs typeface="Arial" pitchFamily="34" charset="0"/>
              </a:rPr>
              <a:t>    (c) Right understanding</a:t>
            </a:r>
            <a:r>
              <a:rPr lang="en-IN" sz="2200" dirty="0">
                <a:latin typeface="Arial" pitchFamily="34" charset="0"/>
                <a:cs typeface="Arial" pitchFamily="34" charset="0"/>
              </a:rPr>
              <a:t>			(d) None of above </a:t>
            </a:r>
            <a:br>
              <a:rPr lang="en-IN" sz="2200" dirty="0">
                <a:latin typeface="Arial" pitchFamily="34" charset="0"/>
                <a:cs typeface="Arial" pitchFamily="34" charset="0"/>
              </a:rPr>
            </a:br>
            <a:endParaRPr lang="en-IN"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43FCE1BF-0914-4DDE-BAAA-8537C238701C}"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MCQ</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s</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285984" y="6356350"/>
            <a:ext cx="5500726" cy="501650"/>
          </a:xfrm>
        </p:spPr>
        <p:txBody>
          <a:bodyPr/>
          <a:lstStyle/>
          <a:p>
            <a:r>
              <a:rPr lang="fi-FI" smtClean="0"/>
              <a:t>SHYAM  LAL SHARMA             KOE069 UHV-2               Unit -4</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28" y="1046177"/>
            <a:ext cx="8229600" cy="4525963"/>
          </a:xfrm>
        </p:spPr>
        <p:txBody>
          <a:bodyPr>
            <a:noAutofit/>
          </a:bodyPr>
          <a:lstStyle/>
          <a:p>
            <a:pPr lvl="0">
              <a:buNone/>
            </a:pPr>
            <a:r>
              <a:rPr lang="en-IN" sz="2200" dirty="0">
                <a:latin typeface="Arial" pitchFamily="34" charset="0"/>
                <a:cs typeface="Arial" pitchFamily="34" charset="0"/>
              </a:rPr>
              <a:t> 4. Conformance of material order is-</a:t>
            </a:r>
          </a:p>
          <a:p>
            <a:pPr lvl="0" fontAlgn="base">
              <a:buNone/>
            </a:pPr>
            <a:r>
              <a:rPr lang="en-IN" sz="2200" dirty="0">
                <a:latin typeface="Arial" pitchFamily="34" charset="0"/>
                <a:cs typeface="Arial" pitchFamily="34" charset="0"/>
              </a:rPr>
              <a:t>    (a) Seed conformance		(b)Breed conformance</a:t>
            </a:r>
          </a:p>
          <a:p>
            <a:pPr lvl="0" fontAlgn="base">
              <a:buNone/>
            </a:pPr>
            <a:r>
              <a:rPr lang="en-IN" sz="2200" dirty="0">
                <a:latin typeface="Arial" pitchFamily="34" charset="0"/>
                <a:cs typeface="Arial" pitchFamily="34" charset="0"/>
              </a:rPr>
              <a:t>    (c) Constitutional conformance	 (d)None of above </a:t>
            </a:r>
          </a:p>
          <a:p>
            <a:pPr marL="457200" indent="-457200">
              <a:buFont typeface="+mj-lt"/>
              <a:buAutoNum type="arabicPeriod" startAt="4"/>
            </a:pPr>
            <a:endParaRPr lang="en-IN" sz="2200" dirty="0">
              <a:latin typeface="Arial" pitchFamily="34" charset="0"/>
              <a:cs typeface="Arial" pitchFamily="34" charset="0"/>
            </a:endParaRPr>
          </a:p>
          <a:p>
            <a:pPr lvl="0">
              <a:buNone/>
            </a:pPr>
            <a:r>
              <a:rPr lang="en-IN" sz="2200" dirty="0">
                <a:latin typeface="Arial" pitchFamily="34" charset="0"/>
                <a:cs typeface="Arial" pitchFamily="34" charset="0"/>
              </a:rPr>
              <a:t>5.In animals only the activity of  _________ is predominant.</a:t>
            </a:r>
          </a:p>
          <a:p>
            <a:pPr lvl="0">
              <a:buNone/>
            </a:pPr>
            <a:r>
              <a:rPr lang="en-IN" sz="2200" dirty="0">
                <a:latin typeface="Arial" pitchFamily="34" charset="0"/>
                <a:cs typeface="Arial" pitchFamily="34" charset="0"/>
              </a:rPr>
              <a:t>    (a) Selection			(b) Respiration</a:t>
            </a:r>
          </a:p>
          <a:p>
            <a:pPr lvl="0">
              <a:buNone/>
            </a:pPr>
            <a:r>
              <a:rPr lang="en-IN" sz="2200" dirty="0">
                <a:latin typeface="Arial" pitchFamily="34" charset="0"/>
                <a:cs typeface="Arial" pitchFamily="34" charset="0"/>
              </a:rPr>
              <a:t>    (c)Selection/Taste	         		(d)None of these</a:t>
            </a:r>
          </a:p>
          <a:p>
            <a:pPr lvl="0">
              <a:buNone/>
            </a:pPr>
            <a:r>
              <a:rPr lang="en-US" sz="2200" dirty="0">
                <a:latin typeface="Arial" pitchFamily="34" charset="0"/>
                <a:cs typeface="Arial" pitchFamily="34" charset="0"/>
              </a:rPr>
              <a:t>6. ________ is Commitment for helping the other to understand harmony &amp; to live in harmony at all 4 levels.</a:t>
            </a:r>
            <a:endParaRPr lang="en-IN" sz="2200" dirty="0">
              <a:latin typeface="Arial" pitchFamily="34" charset="0"/>
              <a:cs typeface="Arial" pitchFamily="34" charset="0"/>
            </a:endParaRPr>
          </a:p>
          <a:p>
            <a:pPr lvl="0">
              <a:buNone/>
            </a:pPr>
            <a:r>
              <a:rPr lang="en-IN" sz="2200" dirty="0">
                <a:latin typeface="Arial" pitchFamily="34" charset="0"/>
                <a:cs typeface="Arial" pitchFamily="34" charset="0"/>
              </a:rPr>
              <a:t>     </a:t>
            </a:r>
            <a:r>
              <a:rPr lang="en-US" sz="2200" dirty="0">
                <a:latin typeface="Arial" pitchFamily="34" charset="0"/>
                <a:cs typeface="Arial" pitchFamily="34" charset="0"/>
              </a:rPr>
              <a:t>(a)</a:t>
            </a:r>
            <a:r>
              <a:rPr lang="en-US" sz="2200" dirty="0" err="1">
                <a:latin typeface="Arial" pitchFamily="34" charset="0"/>
                <a:cs typeface="Arial" pitchFamily="34" charset="0"/>
              </a:rPr>
              <a:t>Bravity</a:t>
            </a:r>
            <a:r>
              <a:rPr lang="en-IN" sz="2200" dirty="0">
                <a:latin typeface="Arial" pitchFamily="34" charset="0"/>
                <a:cs typeface="Arial" pitchFamily="34" charset="0"/>
              </a:rPr>
              <a:t> 		   		(b)</a:t>
            </a:r>
            <a:r>
              <a:rPr lang="en-US" sz="2200" dirty="0">
                <a:latin typeface="Arial" pitchFamily="34" charset="0"/>
                <a:cs typeface="Arial" pitchFamily="34" charset="0"/>
              </a:rPr>
              <a:t>Wisdom</a:t>
            </a:r>
            <a:endParaRPr lang="en-IN" sz="2200" dirty="0">
              <a:latin typeface="Arial" pitchFamily="34" charset="0"/>
              <a:cs typeface="Arial" pitchFamily="34" charset="0"/>
            </a:endParaRPr>
          </a:p>
          <a:p>
            <a:pPr lvl="0">
              <a:buNone/>
            </a:pPr>
            <a:r>
              <a:rPr lang="en-IN" sz="2200" dirty="0">
                <a:latin typeface="Arial" pitchFamily="34" charset="0"/>
                <a:cs typeface="Arial" pitchFamily="34" charset="0"/>
              </a:rPr>
              <a:t>      </a:t>
            </a:r>
            <a:r>
              <a:rPr lang="en-US" sz="2200" dirty="0">
                <a:latin typeface="Arial" pitchFamily="34" charset="0"/>
                <a:cs typeface="Arial" pitchFamily="34" charset="0"/>
              </a:rPr>
              <a:t>(c)</a:t>
            </a:r>
            <a:r>
              <a:rPr lang="en-US" sz="2200" dirty="0" err="1">
                <a:latin typeface="Arial" pitchFamily="34" charset="0"/>
                <a:cs typeface="Arial" pitchFamily="34" charset="0"/>
              </a:rPr>
              <a:t>Perseverence</a:t>
            </a:r>
            <a:r>
              <a:rPr lang="en-US" sz="2200" dirty="0">
                <a:latin typeface="Arial" pitchFamily="34" charset="0"/>
                <a:cs typeface="Arial" pitchFamily="34" charset="0"/>
              </a:rPr>
              <a:t>			</a:t>
            </a:r>
            <a:r>
              <a:rPr lang="en-IN" sz="2200" dirty="0">
                <a:latin typeface="Arial" pitchFamily="34" charset="0"/>
                <a:cs typeface="Arial" pitchFamily="34" charset="0"/>
              </a:rPr>
              <a:t> (d)</a:t>
            </a:r>
            <a:r>
              <a:rPr lang="en-US" sz="2200" dirty="0">
                <a:latin typeface="Arial" pitchFamily="34" charset="0"/>
                <a:cs typeface="Arial" pitchFamily="34" charset="0"/>
              </a:rPr>
              <a:t>All of these</a:t>
            </a:r>
            <a:endParaRPr lang="en-IN" sz="2200" dirty="0">
              <a:latin typeface="Arial" pitchFamily="34" charset="0"/>
              <a:cs typeface="Arial" pitchFamily="34" charset="0"/>
            </a:endParaRPr>
          </a:p>
          <a:p>
            <a:pPr lvl="1"/>
            <a:r>
              <a:rPr lang="en-US" sz="2200" dirty="0">
                <a:latin typeface="Arial" pitchFamily="34" charset="0"/>
                <a:cs typeface="Arial" pitchFamily="34" charset="0"/>
              </a:rPr>
              <a:t> </a:t>
            </a:r>
            <a:endParaRPr lang="en-IN" sz="2200" dirty="0">
              <a:latin typeface="Arial" pitchFamily="34" charset="0"/>
              <a:cs typeface="Arial" pitchFamily="34" charset="0"/>
            </a:endParaRPr>
          </a:p>
          <a:p>
            <a:r>
              <a:rPr lang="en-US" sz="2200" dirty="0">
                <a:latin typeface="Arial" pitchFamily="34" charset="0"/>
                <a:cs typeface="Arial" pitchFamily="34" charset="0"/>
              </a:rPr>
              <a:t> </a:t>
            </a:r>
            <a:endParaRPr lang="en-IN" sz="2200" dirty="0">
              <a:latin typeface="Arial" pitchFamily="34" charset="0"/>
              <a:cs typeface="Arial" pitchFamily="34" charset="0"/>
            </a:endParaRPr>
          </a:p>
          <a:p>
            <a:pPr marL="457200" indent="-457200">
              <a:buFont typeface="+mj-lt"/>
              <a:buAutoNum type="arabicPeriod" startAt="4"/>
            </a:pPr>
            <a:endParaRPr lang="en-IN"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C9D848C8-90DD-4BA1-B268-BEA8A5BBCDE2}"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MCQ</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s</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357422" y="6356350"/>
            <a:ext cx="5429288" cy="501650"/>
          </a:xfrm>
        </p:spPr>
        <p:txBody>
          <a:bodyPr/>
          <a:lstStyle/>
          <a:p>
            <a:r>
              <a:rPr lang="fi-FI" smtClean="0"/>
              <a:t>SHYAM  LAL SHARMA             KOE069 UHV-2               Unit -4</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1143000"/>
            <a:ext cx="8477280" cy="4525963"/>
          </a:xfrm>
        </p:spPr>
        <p:txBody>
          <a:bodyPr>
            <a:normAutofit/>
          </a:bodyPr>
          <a:lstStyle/>
          <a:p>
            <a:pPr algn="just">
              <a:buFont typeface="Wingdings" pitchFamily="2" charset="2"/>
              <a:buChar char="§"/>
            </a:pPr>
            <a:r>
              <a:rPr lang="en-IN" sz="2200" dirty="0">
                <a:latin typeface="Arial" pitchFamily="34" charset="0"/>
                <a:cs typeface="Arial" pitchFamily="34" charset="0"/>
                <a:hlinkClick r:id="rId2"/>
              </a:rPr>
              <a:t>https://abesit.in/library/download/B.Tech./Sem.7/2019-20/UNDERSTANDING-THE-HUMAN-BEING-COMPREHENSIVELY-KOE-069.pdf</a:t>
            </a:r>
            <a:endParaRPr lang="en-IN" sz="2200" dirty="0">
              <a:latin typeface="Arial" pitchFamily="34" charset="0"/>
              <a:cs typeface="Arial" pitchFamily="34" charset="0"/>
            </a:endParaRPr>
          </a:p>
          <a:p>
            <a:pPr algn="just">
              <a:buNone/>
            </a:pPr>
            <a:endParaRPr lang="en-US" sz="2200" dirty="0">
              <a:latin typeface="Arial" pitchFamily="34" charset="0"/>
              <a:cs typeface="Arial" pitchFamily="34" charset="0"/>
            </a:endParaRPr>
          </a:p>
          <a:p>
            <a:pPr algn="just">
              <a:buFont typeface="Wingdings" pitchFamily="2" charset="2"/>
              <a:buChar char="§"/>
            </a:pPr>
            <a:r>
              <a:rPr lang="en-IN" sz="2200" dirty="0">
                <a:latin typeface="Arial" pitchFamily="34" charset="0"/>
                <a:cs typeface="Arial" pitchFamily="34" charset="0"/>
                <a:hlinkClick r:id="rId3"/>
              </a:rPr>
              <a:t>https://abesit.in/library/download/B.Tech./Sem.3/2018-19/UNIVERSAL-HUMAN-VALUES-AND-PROFESSIONAL-ETHICS-RVE-301.pdf</a:t>
            </a:r>
            <a:endParaRPr lang="en-IN" sz="2200" dirty="0">
              <a:latin typeface="Arial" pitchFamily="34" charset="0"/>
              <a:cs typeface="Arial" pitchFamily="34" charset="0"/>
            </a:endParaRPr>
          </a:p>
          <a:p>
            <a:pPr algn="just">
              <a:buNone/>
            </a:pPr>
            <a:endParaRPr lang="en-IN" sz="2200" dirty="0">
              <a:latin typeface="Arial" pitchFamily="34" charset="0"/>
              <a:cs typeface="Arial" pitchFamily="34" charset="0"/>
            </a:endParaRPr>
          </a:p>
          <a:p>
            <a:pPr algn="just">
              <a:buFont typeface="Wingdings" pitchFamily="2" charset="2"/>
              <a:buChar char="§"/>
            </a:pPr>
            <a:r>
              <a:rPr lang="en-IN" sz="2200" dirty="0">
                <a:latin typeface="Arial" pitchFamily="34" charset="0"/>
                <a:cs typeface="Arial" pitchFamily="34" charset="0"/>
                <a:hlinkClick r:id="rId4"/>
              </a:rPr>
              <a:t>https://abesit.in/library/download/B.Tech./Sem.3/2017-18/UNIVERSAL-HUMAN-VALUES-PROFESSIONAL-ETHICS-RVE-301.pdf</a:t>
            </a:r>
            <a:endParaRPr lang="en-US" sz="2200" dirty="0">
              <a:latin typeface="Arial" pitchFamily="34" charset="0"/>
              <a:cs typeface="Arial" pitchFamily="34" charset="0"/>
            </a:endParaRPr>
          </a:p>
          <a:p>
            <a:pPr algn="just">
              <a:buNone/>
            </a:pPr>
            <a:endParaRPr lang="en-US" sz="2200"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D35B0C78-ABAB-47D6-A0AE-DE7696943A23}"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rPr>
              <a:t>Old</a:t>
            </a:r>
            <a:r>
              <a:rPr kumimoji="0" lang="en-US" sz="3200" i="0" u="none" strike="noStrike" kern="1200" cap="none" spc="0" normalizeH="0" noProof="0" dirty="0">
                <a:ln>
                  <a:noFill/>
                </a:ln>
                <a:solidFill>
                  <a:schemeClr val="dk1"/>
                </a:solidFill>
                <a:effectLst/>
                <a:uLnTx/>
                <a:uFillTx/>
                <a:latin typeface="Arial" pitchFamily="34" charset="0"/>
                <a:cs typeface="Arial" pitchFamily="34" charset="0"/>
              </a:rPr>
              <a:t> Question Papers</a:t>
            </a:r>
            <a:endParaRPr kumimoji="0" lang="en-US" sz="32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5"/>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285984" y="6356350"/>
            <a:ext cx="5500726" cy="501650"/>
          </a:xfrm>
        </p:spPr>
        <p:txBody>
          <a:bodyPr/>
          <a:lstStyle/>
          <a:p>
            <a:r>
              <a:rPr lang="fi-FI" smtClean="0"/>
              <a:t>SHYAM  LAL SHARMA             KOE069 UHV-2               Unit -4</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974739"/>
            <a:ext cx="8572560" cy="4525963"/>
          </a:xfrm>
        </p:spPr>
        <p:txBody>
          <a:bodyPr>
            <a:noAutofit/>
          </a:bodyPr>
          <a:lstStyle/>
          <a:p>
            <a:pPr marL="457200" lvl="0" indent="-457200" algn="just">
              <a:buFont typeface="+mj-lt"/>
              <a:buAutoNum type="arabicPeriod"/>
            </a:pPr>
            <a:r>
              <a:rPr lang="en-US" sz="2200" dirty="0">
                <a:latin typeface="Arial" pitchFamily="34" charset="0"/>
                <a:cs typeface="Arial" pitchFamily="34" charset="0"/>
              </a:rPr>
              <a:t>List the four dimensions of human being</a:t>
            </a:r>
            <a:r>
              <a:rPr lang="en-US" sz="2200" b="1" dirty="0">
                <a:latin typeface="Arial" pitchFamily="34" charset="0"/>
                <a:cs typeface="Arial" pitchFamily="34" charset="0"/>
              </a:rPr>
              <a:t>. </a:t>
            </a:r>
            <a:r>
              <a:rPr lang="en-IN" sz="2200" b="1" dirty="0">
                <a:latin typeface="Arial" pitchFamily="34" charset="0"/>
                <a:cs typeface="Arial" pitchFamily="34" charset="0"/>
              </a:rPr>
              <a:t>2 marks</a:t>
            </a:r>
          </a:p>
          <a:p>
            <a:pPr marL="457200" indent="-457200" algn="just">
              <a:buFont typeface="+mj-lt"/>
              <a:buAutoNum type="arabicPeriod"/>
            </a:pPr>
            <a:r>
              <a:rPr lang="en-IN" sz="2200" dirty="0">
                <a:latin typeface="Arial" pitchFamily="34" charset="0"/>
                <a:cs typeface="Arial" pitchFamily="34" charset="0"/>
              </a:rPr>
              <a:t>Explain this statement- Self is central to human existence.        </a:t>
            </a:r>
            <a:r>
              <a:rPr lang="en-IN" sz="2200" b="1" dirty="0">
                <a:latin typeface="Arial" pitchFamily="34" charset="0"/>
                <a:cs typeface="Arial" pitchFamily="34" charset="0"/>
              </a:rPr>
              <a:t>2 marks</a:t>
            </a:r>
          </a:p>
          <a:p>
            <a:pPr marL="457200" indent="-457200" algn="just">
              <a:buFont typeface="+mj-lt"/>
              <a:buAutoNum type="arabicPeriod"/>
            </a:pPr>
            <a:r>
              <a:rPr lang="en-IN" sz="2200" dirty="0">
                <a:latin typeface="Arial" pitchFamily="34" charset="0"/>
                <a:cs typeface="Arial" pitchFamily="34" charset="0"/>
              </a:rPr>
              <a:t>How does the dimension of thoughts differ from the dimension of realisation? What is the process to activate this . </a:t>
            </a:r>
            <a:r>
              <a:rPr lang="en-US" sz="2200" dirty="0">
                <a:latin typeface="Arial" pitchFamily="34" charset="0"/>
                <a:cs typeface="Arial" pitchFamily="34" charset="0"/>
              </a:rPr>
              <a:t> </a:t>
            </a:r>
            <a:r>
              <a:rPr lang="en-US" sz="2200" b="1" dirty="0">
                <a:latin typeface="Arial" pitchFamily="34" charset="0"/>
                <a:cs typeface="Arial" pitchFamily="34" charset="0"/>
              </a:rPr>
              <a:t>5 marks</a:t>
            </a:r>
          </a:p>
          <a:p>
            <a:pPr marL="457200" indent="-457200" algn="just">
              <a:buFont typeface="+mj-lt"/>
              <a:buAutoNum type="arabicPeriod" startAt="4"/>
            </a:pPr>
            <a:r>
              <a:rPr lang="en-IN" sz="2200" dirty="0">
                <a:latin typeface="Arial" pitchFamily="34" charset="0"/>
                <a:cs typeface="Arial" pitchFamily="34" charset="0"/>
              </a:rPr>
              <a:t>Describe precisely how the imaging in the self gets transformed with contemplation. </a:t>
            </a:r>
            <a:r>
              <a:rPr lang="en-US" sz="2200" b="1" dirty="0">
                <a:latin typeface="Arial" pitchFamily="34" charset="0"/>
                <a:cs typeface="Arial" pitchFamily="34" charset="0"/>
              </a:rPr>
              <a:t>3 marks</a:t>
            </a:r>
          </a:p>
          <a:p>
            <a:pPr marL="457200" indent="-457200" algn="just">
              <a:buAutoNum type="arabicPlain" startAt="5"/>
            </a:pPr>
            <a:r>
              <a:rPr lang="en-US" sz="2200" dirty="0">
                <a:latin typeface="Arial" pitchFamily="34" charset="0"/>
                <a:cs typeface="Arial" pitchFamily="34" charset="0"/>
              </a:rPr>
              <a:t>Personal transformation leads to social transformation evaluate this statement with example </a:t>
            </a:r>
            <a:r>
              <a:rPr lang="en-US" sz="2200" b="1" dirty="0">
                <a:latin typeface="Arial" pitchFamily="34" charset="0"/>
                <a:cs typeface="Arial" pitchFamily="34" charset="0"/>
              </a:rPr>
              <a:t>.   6marks</a:t>
            </a:r>
          </a:p>
          <a:p>
            <a:pPr marL="457200" indent="-457200" algn="just">
              <a:buAutoNum type="arabicPlain" startAt="5"/>
            </a:pPr>
            <a:r>
              <a:rPr lang="en-US" sz="2200" dirty="0">
                <a:latin typeface="Arial" pitchFamily="34" charset="0"/>
                <a:cs typeface="Arial" pitchFamily="34" charset="0"/>
              </a:rPr>
              <a:t>Define existence? Show that existence is in a form of co-existence</a:t>
            </a:r>
            <a:r>
              <a:rPr lang="en-US" sz="2200" b="1" dirty="0">
                <a:latin typeface="Arial" pitchFamily="34" charset="0"/>
                <a:cs typeface="Arial" pitchFamily="34" charset="0"/>
              </a:rPr>
              <a:t>. 5 marks</a:t>
            </a:r>
          </a:p>
          <a:p>
            <a:pPr marL="457200" indent="-457200" algn="just">
              <a:buFont typeface="Arial" pitchFamily="34" charset="0"/>
              <a:buAutoNum type="arabicPlain" startAt="5"/>
            </a:pPr>
            <a:r>
              <a:rPr lang="en-US" sz="2400" dirty="0"/>
              <a:t>By understanding the human being is not just the body, but a co-existence of Self and Body, list some of the qualitative shifts in living of a human being.</a:t>
            </a:r>
            <a:r>
              <a:rPr lang="en-US" sz="2400" b="1" dirty="0">
                <a:latin typeface="Arial" pitchFamily="34" charset="0"/>
                <a:cs typeface="Arial" pitchFamily="34" charset="0"/>
              </a:rPr>
              <a:t> 5 marks</a:t>
            </a:r>
            <a:endParaRPr lang="en-IN" sz="2400" dirty="0"/>
          </a:p>
          <a:p>
            <a:pPr marL="457200" indent="-457200" algn="just">
              <a:buAutoNum type="arabicPlain" startAt="5"/>
            </a:pPr>
            <a:endParaRPr lang="en-US" sz="2200" b="1" dirty="0">
              <a:latin typeface="Arial" pitchFamily="34" charset="0"/>
              <a:cs typeface="Arial" pitchFamily="34" charset="0"/>
            </a:endParaRPr>
          </a:p>
        </p:txBody>
      </p:sp>
      <p:sp>
        <p:nvSpPr>
          <p:cNvPr id="4" name="Date Placeholder 3"/>
          <p:cNvSpPr>
            <a:spLocks noGrp="1"/>
          </p:cNvSpPr>
          <p:nvPr>
            <p:ph type="dt" sz="half" idx="10"/>
          </p:nvPr>
        </p:nvSpPr>
        <p:spPr/>
        <p:txBody>
          <a:bodyPr/>
          <a:lstStyle/>
          <a:p>
            <a:fld id="{9512732F-5700-495F-84C8-587BE61A59EE}" type="datetime1">
              <a:rPr lang="en-US" smtClean="0"/>
              <a:pPr/>
              <a:t>06/25/21</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7" name="Title 1"/>
          <p:cNvSpPr txBox="1">
            <a:spLocks/>
          </p:cNvSpPr>
          <p:nvPr/>
        </p:nvSpPr>
        <p:spPr>
          <a:xfrm>
            <a:off x="1371600" y="1"/>
            <a:ext cx="7772400" cy="85723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dirty="0">
                <a:latin typeface="Arial" pitchFamily="34" charset="0"/>
                <a:cs typeface="Arial" pitchFamily="34" charset="0"/>
              </a:rPr>
              <a:t>Expected Questions for University Exam </a:t>
            </a:r>
            <a:endParaRPr kumimoji="0" lang="en-US" sz="280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Footer Placeholder 9"/>
          <p:cNvSpPr>
            <a:spLocks noGrp="1"/>
          </p:cNvSpPr>
          <p:nvPr>
            <p:ph type="ftr" sz="quarter" idx="11"/>
          </p:nvPr>
        </p:nvSpPr>
        <p:spPr>
          <a:xfrm>
            <a:off x="2214546" y="6356350"/>
            <a:ext cx="5786478" cy="501650"/>
          </a:xfrm>
        </p:spPr>
        <p:txBody>
          <a:bodyPr/>
          <a:lstStyle/>
          <a:p>
            <a:r>
              <a:rPr lang="fi-FI" smtClean="0"/>
              <a:t>SHYAM  LAL SHARMA             KOE069 UHV-2               Unit -4</a:t>
            </a:r>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AAA59E8-432E-4F40-B20E-D53B816313F7}"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1" i="0" u="none" strike="noStrike" kern="1200" cap="none" spc="0" normalizeH="0" baseline="0" noProof="0" dirty="0">
                <a:ln>
                  <a:noFill/>
                </a:ln>
                <a:solidFill>
                  <a:schemeClr val="dk1"/>
                </a:solidFill>
                <a:effectLst/>
                <a:uLnTx/>
                <a:uFillTx/>
                <a:latin typeface="Arial" pitchFamily="34" charset="0"/>
                <a:cs typeface="Arial" pitchFamily="34" charset="0"/>
              </a:rPr>
              <a:t>Summary</a:t>
            </a: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10" name="Rectangle 9"/>
          <p:cNvSpPr/>
          <p:nvPr/>
        </p:nvSpPr>
        <p:spPr>
          <a:xfrm>
            <a:off x="285720" y="928670"/>
            <a:ext cx="8643998" cy="5170646"/>
          </a:xfrm>
          <a:prstGeom prst="rect">
            <a:avLst/>
          </a:prstGeom>
        </p:spPr>
        <p:txBody>
          <a:bodyPr wrap="square">
            <a:spAutoFit/>
          </a:bodyPr>
          <a:lstStyle/>
          <a:p>
            <a:pPr algn="just">
              <a:buFont typeface="Wingdings" pitchFamily="2" charset="2"/>
              <a:buChar char="§"/>
              <a:defRPr/>
            </a:pPr>
            <a:r>
              <a:rPr lang="en-GB" sz="2200" dirty="0">
                <a:latin typeface="Arial" pitchFamily="34" charset="0"/>
                <a:cs typeface="Arial" pitchFamily="34" charset="0"/>
              </a:rPr>
              <a:t>    There is a relationship of mutual fulfilment amongst these 4    orders. So far,  the first 3 orders are mutually fulfilling for each other as well as for human beings</a:t>
            </a:r>
          </a:p>
          <a:p>
            <a:pPr algn="just">
              <a:buFont typeface="Symbol" pitchFamily="18" charset="2"/>
              <a:buNone/>
              <a:defRPr/>
            </a:pPr>
            <a:endParaRPr lang="en-GB" sz="2200" dirty="0">
              <a:latin typeface="Arial" pitchFamily="34" charset="0"/>
              <a:cs typeface="Arial" pitchFamily="34" charset="0"/>
            </a:endParaRPr>
          </a:p>
          <a:p>
            <a:pPr algn="just">
              <a:buFont typeface="Wingdings" pitchFamily="2" charset="2"/>
              <a:buChar char="§"/>
              <a:defRPr/>
            </a:pPr>
            <a:r>
              <a:rPr lang="en-GB" sz="2200" dirty="0">
                <a:latin typeface="Arial" pitchFamily="34" charset="0"/>
                <a:cs typeface="Arial" pitchFamily="34" charset="0"/>
              </a:rPr>
              <a:t>   It is naturally acceptable to human beings to be fulfilling for all the orders. </a:t>
            </a:r>
          </a:p>
          <a:p>
            <a:pPr algn="just">
              <a:buFont typeface="Wingdings" pitchFamily="2" charset="2"/>
              <a:buChar char="§"/>
              <a:defRPr/>
            </a:pPr>
            <a:r>
              <a:rPr lang="en-GB" sz="2200" dirty="0">
                <a:latin typeface="Arial" pitchFamily="34" charset="0"/>
                <a:cs typeface="Arial" pitchFamily="34" charset="0"/>
              </a:rPr>
              <a:t>   Human beings need to understand this mutual fulfilment; only with this understanding will human beings be able to live with mutual fulfilment.</a:t>
            </a:r>
          </a:p>
          <a:p>
            <a:pPr algn="just">
              <a:buFont typeface="Wingdings" pitchFamily="2" charset="2"/>
              <a:buChar char="§"/>
              <a:defRPr/>
            </a:pPr>
            <a:r>
              <a:rPr lang="en-GB" sz="2200" dirty="0">
                <a:latin typeface="Arial" pitchFamily="34" charset="0"/>
                <a:cs typeface="Arial" pitchFamily="34" charset="0"/>
              </a:rPr>
              <a:t>    Existence is in the form of co-existence. It is ever present</a:t>
            </a:r>
          </a:p>
          <a:p>
            <a:pPr algn="just">
              <a:buFont typeface="Symbol" pitchFamily="18" charset="2"/>
              <a:buNone/>
              <a:defRPr/>
            </a:pPr>
            <a:r>
              <a:rPr lang="en-GB" sz="2200" dirty="0">
                <a:latin typeface="Arial" pitchFamily="34" charset="0"/>
                <a:cs typeface="Arial" pitchFamily="34" charset="0"/>
              </a:rPr>
              <a:t>      (Existence = 	Co- Existence   =  Units submerged in Space)</a:t>
            </a:r>
          </a:p>
          <a:p>
            <a:pPr lvl="1" algn="just">
              <a:buFont typeface="Wingdings" pitchFamily="2" charset="2"/>
              <a:buNone/>
              <a:defRPr/>
            </a:pPr>
            <a:r>
              <a:rPr lang="en-GB" sz="2200" dirty="0">
                <a:latin typeface="Arial" pitchFamily="34" charset="0"/>
                <a:cs typeface="Arial" pitchFamily="34" charset="0"/>
              </a:rPr>
              <a:t> </a:t>
            </a:r>
          </a:p>
          <a:p>
            <a:pPr algn="just">
              <a:buFont typeface="Wingdings" pitchFamily="2" charset="2"/>
              <a:buChar char="§"/>
              <a:defRPr/>
            </a:pPr>
            <a:r>
              <a:rPr lang="en-GB" sz="2200" dirty="0">
                <a:latin typeface="Arial" pitchFamily="34" charset="0"/>
                <a:cs typeface="Arial" pitchFamily="34" charset="0"/>
              </a:rPr>
              <a:t>    Every unit in existence is related with every other unit in existence in a mutually fulfilling manner</a:t>
            </a:r>
          </a:p>
          <a:p>
            <a:pPr marL="457200" indent="-457200" algn="just">
              <a:buFont typeface="Wingdings" pitchFamily="2" charset="2"/>
              <a:buChar char="§"/>
            </a:pPr>
            <a:endParaRPr lang="en-US" sz="2200" dirty="0">
              <a:latin typeface="Arial" pitchFamily="34" charset="0"/>
              <a:cs typeface="Arial" pitchFamily="34" charset="0"/>
            </a:endParaRPr>
          </a:p>
        </p:txBody>
      </p:sp>
      <p:sp>
        <p:nvSpPr>
          <p:cNvPr id="11" name="Footer Placeholder 10"/>
          <p:cNvSpPr>
            <a:spLocks noGrp="1"/>
          </p:cNvSpPr>
          <p:nvPr>
            <p:ph type="ftr" sz="quarter" idx="11"/>
          </p:nvPr>
        </p:nvSpPr>
        <p:spPr>
          <a:xfrm>
            <a:off x="2500298" y="6356350"/>
            <a:ext cx="5500726" cy="501650"/>
          </a:xfrm>
        </p:spPr>
        <p:txBody>
          <a:bodyPr/>
          <a:lstStyle/>
          <a:p>
            <a:r>
              <a:rPr lang="fi-FI" smtClean="0"/>
              <a:t>SHYAM  LAL SHARMA             KOE069 UHV-2               Unit -4</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F214B4A-7FA1-4CA8-AACC-79B617187BA3}" type="datetime1">
              <a:rPr lang="en-US" smtClean="0"/>
              <a:pPr/>
              <a:t>06/25/21</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fi-FI" smtClean="0"/>
              <a:t>SHYAM  LAL SHARMA             KOE069 UHV-2               Unit -4</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latin typeface="Arial" pitchFamily="34" charset="0"/>
                <a:cs typeface="Arial" pitchFamily="34" charset="0"/>
              </a:rPr>
              <a:t>References</a:t>
            </a:r>
            <a:endParaRPr kumimoji="0" lang="en-US" sz="3200" b="0" i="0" u="none" strike="noStrike" kern="1200" cap="none" spc="0" normalizeH="0" baseline="0" noProof="0" dirty="0">
              <a:ln>
                <a:noFill/>
              </a:ln>
              <a:solidFill>
                <a:schemeClr val="dk1"/>
              </a:solidFill>
              <a:effectLst/>
              <a:uLnTx/>
              <a:uFillTx/>
              <a:latin typeface="Arial" pitchFamily="34" charset="0"/>
              <a:cs typeface="Arial" pitchFamily="34" charset="0"/>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228600" y="1127641"/>
            <a:ext cx="8915400" cy="4087273"/>
          </a:xfrm>
          <a:prstGeom prst="rect">
            <a:avLst/>
          </a:prstGeom>
          <a:noFill/>
        </p:spPr>
        <p:txBody>
          <a:bodyPr wrap="square" lIns="91440" tIns="45720" rIns="91440" bIns="45720">
            <a:spAutoFit/>
          </a:bodyPr>
          <a:lstStyle/>
          <a:p>
            <a:pPr marL="457200" indent="-457200" algn="just">
              <a:buAutoNum type="arabicPeriod"/>
            </a:pPr>
            <a:r>
              <a:rPr lang="en-IN" sz="2200" dirty="0">
                <a:latin typeface="Arial" pitchFamily="34" charset="0"/>
                <a:cs typeface="Arial" pitchFamily="34" charset="0"/>
              </a:rPr>
              <a:t>A Foundation Course in Human Values and Profession Ethics (Text Book and Teachers’ Manual), R. R. Gaur, R. </a:t>
            </a:r>
            <a:r>
              <a:rPr lang="en-IN" sz="2200" dirty="0" err="1">
                <a:latin typeface="Arial" pitchFamily="34" charset="0"/>
                <a:cs typeface="Arial" pitchFamily="34" charset="0"/>
              </a:rPr>
              <a:t>Sangal</a:t>
            </a:r>
            <a:r>
              <a:rPr lang="en-IN" sz="2200" dirty="0">
                <a:latin typeface="Arial" pitchFamily="34" charset="0"/>
                <a:cs typeface="Arial" pitchFamily="34" charset="0"/>
              </a:rPr>
              <a:t>, G. P. </a:t>
            </a:r>
            <a:r>
              <a:rPr lang="en-IN" sz="2200" dirty="0" err="1">
                <a:latin typeface="Arial" pitchFamily="34" charset="0"/>
                <a:cs typeface="Arial" pitchFamily="34" charset="0"/>
              </a:rPr>
              <a:t>Bagaria</a:t>
            </a:r>
            <a:r>
              <a:rPr lang="en-IN" sz="2200" dirty="0">
                <a:latin typeface="Arial" pitchFamily="34" charset="0"/>
                <a:cs typeface="Arial" pitchFamily="34" charset="0"/>
              </a:rPr>
              <a:t> (2010), Excel </a:t>
            </a:r>
            <a:r>
              <a:rPr lang="en-IN" sz="2200" dirty="0" err="1">
                <a:latin typeface="Arial" pitchFamily="34" charset="0"/>
                <a:cs typeface="Arial" pitchFamily="34" charset="0"/>
              </a:rPr>
              <a:t>Books,New</a:t>
            </a:r>
            <a:r>
              <a:rPr lang="en-IN" sz="2200" dirty="0">
                <a:latin typeface="Arial" pitchFamily="34" charset="0"/>
                <a:cs typeface="Arial" pitchFamily="34" charset="0"/>
              </a:rPr>
              <a:t> Delhi [ISBN 978-8-174-46781-2]</a:t>
            </a:r>
          </a:p>
          <a:p>
            <a:pPr marL="457200" indent="-457200" algn="just">
              <a:buAutoNum type="arabicPeriod"/>
            </a:pPr>
            <a:r>
              <a:rPr lang="en-IN" sz="2200" dirty="0" err="1">
                <a:latin typeface="Arial" pitchFamily="34" charset="0"/>
                <a:cs typeface="Arial" pitchFamily="34" charset="0"/>
              </a:rPr>
              <a:t>Avartansheel</a:t>
            </a:r>
            <a:r>
              <a:rPr lang="en-IN" sz="2200" dirty="0">
                <a:latin typeface="Arial" pitchFamily="34" charset="0"/>
                <a:cs typeface="Arial" pitchFamily="34" charset="0"/>
              </a:rPr>
              <a:t> </a:t>
            </a:r>
            <a:r>
              <a:rPr lang="en-IN" sz="2200" dirty="0" err="1">
                <a:latin typeface="Arial" pitchFamily="34" charset="0"/>
                <a:cs typeface="Arial" pitchFamily="34" charset="0"/>
              </a:rPr>
              <a:t>Arthshastra</a:t>
            </a:r>
            <a:r>
              <a:rPr lang="en-IN" sz="2200" dirty="0">
                <a:latin typeface="Arial" pitchFamily="34" charset="0"/>
                <a:cs typeface="Arial" pitchFamily="34" charset="0"/>
              </a:rPr>
              <a:t>, A. </a:t>
            </a:r>
            <a:r>
              <a:rPr lang="en-IN" sz="2200" dirty="0" err="1">
                <a:latin typeface="Arial" pitchFamily="34" charset="0"/>
                <a:cs typeface="Arial" pitchFamily="34" charset="0"/>
              </a:rPr>
              <a:t>Nagraj</a:t>
            </a:r>
            <a:r>
              <a:rPr lang="en-IN" sz="2200" dirty="0">
                <a:latin typeface="Arial" pitchFamily="34" charset="0"/>
                <a:cs typeface="Arial" pitchFamily="34" charset="0"/>
              </a:rPr>
              <a:t>, </a:t>
            </a:r>
            <a:r>
              <a:rPr lang="en-IN" sz="2200" dirty="0" err="1">
                <a:latin typeface="Arial" pitchFamily="34" charset="0"/>
                <a:cs typeface="Arial" pitchFamily="34" charset="0"/>
              </a:rPr>
              <a:t>Divya</a:t>
            </a:r>
            <a:r>
              <a:rPr lang="en-IN" sz="2200" dirty="0">
                <a:latin typeface="Arial" pitchFamily="34" charset="0"/>
                <a:cs typeface="Arial" pitchFamily="34" charset="0"/>
              </a:rPr>
              <a:t> Path </a:t>
            </a:r>
            <a:r>
              <a:rPr lang="en-IN" sz="2200" dirty="0" err="1">
                <a:latin typeface="Arial" pitchFamily="34" charset="0"/>
                <a:cs typeface="Arial" pitchFamily="34" charset="0"/>
              </a:rPr>
              <a:t>Sansthan</a:t>
            </a:r>
            <a:r>
              <a:rPr lang="en-IN" sz="2200" dirty="0">
                <a:latin typeface="Arial" pitchFamily="34" charset="0"/>
                <a:cs typeface="Arial" pitchFamily="34" charset="0"/>
              </a:rPr>
              <a:t>, </a:t>
            </a:r>
            <a:r>
              <a:rPr lang="en-IN" sz="2200" dirty="0" err="1">
                <a:latin typeface="Arial" pitchFamily="34" charset="0"/>
                <a:cs typeface="Arial" pitchFamily="34" charset="0"/>
              </a:rPr>
              <a:t>Amarkantak</a:t>
            </a:r>
            <a:r>
              <a:rPr lang="en-IN" sz="2200" dirty="0">
                <a:latin typeface="Arial" pitchFamily="34" charset="0"/>
                <a:cs typeface="Arial" pitchFamily="34" charset="0"/>
              </a:rPr>
              <a:t>, India</a:t>
            </a:r>
          </a:p>
          <a:p>
            <a:pPr marL="457200" indent="-457200" algn="just">
              <a:buAutoNum type="arabicPeriod"/>
            </a:pPr>
            <a:r>
              <a:rPr lang="en-IN" sz="2200" dirty="0">
                <a:latin typeface="Arial" pitchFamily="34" charset="0"/>
                <a:cs typeface="Arial" pitchFamily="34" charset="0"/>
              </a:rPr>
              <a:t>Economy of Permanence – (a quest for social order based on non-violence), J.</a:t>
            </a:r>
          </a:p>
          <a:p>
            <a:pPr marL="457200" indent="-457200" algn="just">
              <a:buAutoNum type="arabicPeriod"/>
            </a:pPr>
            <a:r>
              <a:rPr lang="fi-FI" sz="2200" dirty="0">
                <a:latin typeface="Arial" pitchFamily="34" charset="0"/>
                <a:cs typeface="Arial" pitchFamily="34" charset="0"/>
              </a:rPr>
              <a:t>C. Kumarappa (2010), Sarva-Seva-Sangh-Prakashan, Varansi, India</a:t>
            </a:r>
          </a:p>
          <a:p>
            <a:pPr marL="457200" indent="-457200">
              <a:buAutoNum type="arabicPeriod"/>
            </a:pPr>
            <a:r>
              <a:rPr lang="en-IN" sz="2200" dirty="0">
                <a:latin typeface="Arial" pitchFamily="34" charset="0"/>
                <a:cs typeface="Arial" pitchFamily="34" charset="0"/>
              </a:rPr>
              <a:t>Slow is Beautiful, Cecile Andrews http://www.newsociety.com/Books/S/Slowis-Beautiful)</a:t>
            </a:r>
            <a:endParaRPr lang="en-US" sz="2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Arial" pitchFamily="34" charset="0"/>
              <a:cs typeface="Arial" pitchFamily="34" charset="0"/>
            </a:endParaRPr>
          </a:p>
        </p:txBody>
      </p:sp>
    </p:spTree>
    <p:extLst>
      <p:ext uri="{BB962C8B-B14F-4D97-AF65-F5344CB8AC3E}">
        <p14:creationId xmlns:p14="http://schemas.microsoft.com/office/powerpoint/2010/main" xmlns="" val="15823262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82E4683-E825-4B3E-AB94-F055F08DD011}" type="datetime1">
              <a:rPr lang="en-US" smtClean="0"/>
              <a:pPr/>
              <a:t>06/25/21</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2400" b="0" i="0" u="none" strike="noStrike" kern="1200" cap="none" spc="0" normalizeH="0" baseline="0" noProof="0" dirty="0">
              <a:ln>
                <a:noFill/>
              </a:ln>
              <a:solidFill>
                <a:schemeClr val="dk1"/>
              </a:solidFill>
              <a:effectLst/>
              <a:uLnTx/>
              <a:uFillTx/>
              <a:latin typeface="+mn-lt"/>
              <a:ea typeface="+mn-ea"/>
              <a:cs typeface="+mn-cs"/>
            </a:endParaRPr>
          </a:p>
        </p:txBody>
      </p:sp>
      <p:pic>
        <p:nvPicPr>
          <p:cNvPr id="8" name="Picture 2" descr="E:\NIET\Project\xLogo11.png.pagespeed.ic.pydHLuCQEZ.png"/>
          <p:cNvPicPr>
            <a:picLocks noChangeAspect="1" noChangeArrowheads="1"/>
          </p:cNvPicPr>
          <p:nvPr/>
        </p:nvPicPr>
        <p:blipFill>
          <a:blip r:embed="rId2"/>
          <a:srcRect/>
          <a:stretch>
            <a:fillRect/>
          </a:stretch>
        </p:blipFill>
        <p:spPr bwMode="auto">
          <a:xfrm>
            <a:off x="0" y="0"/>
            <a:ext cx="1447800" cy="817163"/>
          </a:xfrm>
          <a:prstGeom prst="rect">
            <a:avLst/>
          </a:prstGeom>
          <a:noFill/>
        </p:spPr>
      </p:pic>
      <p:sp>
        <p:nvSpPr>
          <p:cNvPr id="9" name="Content Placeholder 8"/>
          <p:cNvSpPr>
            <a:spLocks noGrp="1"/>
          </p:cNvSpPr>
          <p:nvPr>
            <p:ph idx="1"/>
          </p:nvPr>
        </p:nvSpPr>
        <p:spPr>
          <a:xfrm>
            <a:off x="533400" y="1143000"/>
            <a:ext cx="8229600" cy="4525963"/>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1" name="Footer Placeholder 10"/>
          <p:cNvSpPr>
            <a:spLocks noGrp="1"/>
          </p:cNvSpPr>
          <p:nvPr>
            <p:ph type="ftr" sz="quarter" idx="11"/>
          </p:nvPr>
        </p:nvSpPr>
        <p:spPr>
          <a:xfrm>
            <a:off x="2786050" y="6286520"/>
            <a:ext cx="5429288" cy="571480"/>
          </a:xfrm>
        </p:spPr>
        <p:txBody>
          <a:bodyPr/>
          <a:lstStyle/>
          <a:p>
            <a:r>
              <a:rPr lang="fi-FI" smtClean="0"/>
              <a:t>SHYAM  LAL SHARMA             KOE069 UHV-2               Unit -4</a:t>
            </a:r>
            <a:endParaRPr lang="en-US" dirty="0"/>
          </a:p>
        </p:txBody>
      </p:sp>
    </p:spTree>
    <p:extLst>
      <p:ext uri="{BB962C8B-B14F-4D97-AF65-F5344CB8AC3E}">
        <p14:creationId xmlns:p14="http://schemas.microsoft.com/office/powerpoint/2010/main" xmlns="" val="2555220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14079</TotalTime>
  <Words>4149</Words>
  <Application>Microsoft Office PowerPoint</Application>
  <PresentationFormat>On-screen Show (4:3)</PresentationFormat>
  <Paragraphs>1256</Paragraphs>
  <Slides>64</Slides>
  <Notes>3</Notes>
  <HiddenSlides>0</HiddenSlides>
  <MMClips>0</MMClips>
  <ScaleCrop>false</ScaleCrop>
  <HeadingPairs>
    <vt:vector size="4" baseType="variant">
      <vt:variant>
        <vt:lpstr>Theme</vt:lpstr>
      </vt:variant>
      <vt:variant>
        <vt:i4>1</vt:i4>
      </vt:variant>
      <vt:variant>
        <vt:lpstr>Slide Titles</vt:lpstr>
      </vt:variant>
      <vt:variant>
        <vt:i4>64</vt:i4>
      </vt:variant>
    </vt:vector>
  </HeadingPairs>
  <TitlesOfParts>
    <vt:vector size="65" baseType="lpstr">
      <vt:lpstr>Office Theme</vt:lpstr>
      <vt:lpstr>Noida Institute of Engineering and Technology, Greater Noida</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SHYAM LAL SHARMA</cp:lastModifiedBy>
  <cp:revision>569</cp:revision>
  <dcterms:created xsi:type="dcterms:W3CDTF">2006-08-16T00:00:00Z</dcterms:created>
  <dcterms:modified xsi:type="dcterms:W3CDTF">2021-06-25T04:21:35Z</dcterms:modified>
</cp:coreProperties>
</file>