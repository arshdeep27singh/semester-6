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86" r:id="rId1"/>
  </p:sldMasterIdLst>
  <p:notesMasterIdLst>
    <p:notesMasterId r:id="rId145"/>
  </p:notesMasterIdLst>
  <p:sldIdLst>
    <p:sldId id="389" r:id="rId2"/>
    <p:sldId id="257" r:id="rId3"/>
    <p:sldId id="395" r:id="rId4"/>
    <p:sldId id="259" r:id="rId5"/>
    <p:sldId id="416" r:id="rId6"/>
    <p:sldId id="417" r:id="rId7"/>
    <p:sldId id="418" r:id="rId8"/>
    <p:sldId id="419" r:id="rId9"/>
    <p:sldId id="420" r:id="rId10"/>
    <p:sldId id="421" r:id="rId11"/>
    <p:sldId id="422" r:id="rId12"/>
    <p:sldId id="423" r:id="rId13"/>
    <p:sldId id="424" r:id="rId14"/>
    <p:sldId id="425" r:id="rId15"/>
    <p:sldId id="426" r:id="rId16"/>
    <p:sldId id="427" r:id="rId17"/>
    <p:sldId id="428" r:id="rId18"/>
    <p:sldId id="429" r:id="rId19"/>
    <p:sldId id="430" r:id="rId20"/>
    <p:sldId id="431" r:id="rId21"/>
    <p:sldId id="432" r:id="rId22"/>
    <p:sldId id="433"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 id="295" r:id="rId57"/>
    <p:sldId id="296" r:id="rId58"/>
    <p:sldId id="297" r:id="rId59"/>
    <p:sldId id="298" r:id="rId60"/>
    <p:sldId id="299" r:id="rId61"/>
    <p:sldId id="388" r:id="rId62"/>
    <p:sldId id="301" r:id="rId63"/>
    <p:sldId id="302" r:id="rId64"/>
    <p:sldId id="303" r:id="rId65"/>
    <p:sldId id="304" r:id="rId66"/>
    <p:sldId id="305" r:id="rId67"/>
    <p:sldId id="306" r:id="rId68"/>
    <p:sldId id="307" r:id="rId69"/>
    <p:sldId id="308" r:id="rId70"/>
    <p:sldId id="397"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2" r:id="rId124"/>
    <p:sldId id="383" r:id="rId125"/>
    <p:sldId id="384" r:id="rId126"/>
    <p:sldId id="385" r:id="rId127"/>
    <p:sldId id="386" r:id="rId128"/>
    <p:sldId id="398" r:id="rId129"/>
    <p:sldId id="399" r:id="rId130"/>
    <p:sldId id="400" r:id="rId131"/>
    <p:sldId id="401" r:id="rId132"/>
    <p:sldId id="402" r:id="rId133"/>
    <p:sldId id="403" r:id="rId134"/>
    <p:sldId id="404" r:id="rId135"/>
    <p:sldId id="405" r:id="rId136"/>
    <p:sldId id="406" r:id="rId137"/>
    <p:sldId id="434" r:id="rId138"/>
    <p:sldId id="435" r:id="rId139"/>
    <p:sldId id="436" r:id="rId140"/>
    <p:sldId id="437" r:id="rId141"/>
    <p:sldId id="407" r:id="rId142"/>
    <p:sldId id="408" r:id="rId143"/>
    <p:sldId id="409" r:id="rId144"/>
  </p:sldIdLst>
  <p:sldSz cx="100584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A873BE-290F-4A59-901A-E886FAB6C9FB}" v="1" dt="2022-04-29T15:56:50.8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2" autoAdjust="0"/>
    <p:restoredTop sz="94660"/>
  </p:normalViewPr>
  <p:slideViewPr>
    <p:cSldViewPr snapToGrid="0">
      <p:cViewPr varScale="1">
        <p:scale>
          <a:sx n="52" d="100"/>
          <a:sy n="52" d="100"/>
        </p:scale>
        <p:origin x="1560" y="84"/>
      </p:cViewPr>
      <p:guideLst/>
    </p:cSldViewPr>
  </p:slideViewPr>
  <p:notesTextViewPr>
    <p:cViewPr>
      <p:scale>
        <a:sx n="1" d="1"/>
        <a:sy n="1" d="1"/>
      </p:scale>
      <p:origin x="0" y="0"/>
    </p:cViewPr>
  </p:notesTextViewPr>
  <p:sorterViewPr>
    <p:cViewPr>
      <p:scale>
        <a:sx n="100" d="100"/>
        <a:sy n="100" d="100"/>
      </p:scale>
      <p:origin x="0" y="-773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ableStyles" Target="tableStyle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microsoft.com/office/2016/11/relationships/changesInfo" Target="changesInfos/changesInfo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nna" userId="58800b1c-5b9f-4417-9e7c-90ffec793d3b" providerId="ADAL" clId="{1CA873BE-290F-4A59-901A-E886FAB6C9FB}"/>
    <pc:docChg chg="custSel modSld">
      <pc:chgData name="Tamanna" userId="58800b1c-5b9f-4417-9e7c-90ffec793d3b" providerId="ADAL" clId="{1CA873BE-290F-4A59-901A-E886FAB6C9FB}" dt="2022-04-29T15:56:39.710" v="1" actId="478"/>
      <pc:docMkLst>
        <pc:docMk/>
      </pc:docMkLst>
      <pc:sldChg chg="delSp mod">
        <pc:chgData name="Tamanna" userId="58800b1c-5b9f-4417-9e7c-90ffec793d3b" providerId="ADAL" clId="{1CA873BE-290F-4A59-901A-E886FAB6C9FB}" dt="2022-04-29T15:56:39.710" v="1" actId="478"/>
        <pc:sldMkLst>
          <pc:docMk/>
          <pc:sldMk cId="3056312254" sldId="389"/>
        </pc:sldMkLst>
        <pc:spChg chg="del">
          <ac:chgData name="Tamanna" userId="58800b1c-5b9f-4417-9e7c-90ffec793d3b" providerId="ADAL" clId="{1CA873BE-290F-4A59-901A-E886FAB6C9FB}" dt="2022-04-29T15:56:39.710" v="1" actId="478"/>
          <ac:spMkLst>
            <pc:docMk/>
            <pc:sldMk cId="3056312254" sldId="389"/>
            <ac:spMk id="6" creationId="{00000000-0000-0000-0000-000000000000}"/>
          </ac:spMkLst>
        </pc:spChg>
        <pc:picChg chg="del">
          <ac:chgData name="Tamanna" userId="58800b1c-5b9f-4417-9e7c-90ffec793d3b" providerId="ADAL" clId="{1CA873BE-290F-4A59-901A-E886FAB6C9FB}" dt="2022-04-29T15:56:35.386" v="0" actId="478"/>
          <ac:picMkLst>
            <pc:docMk/>
            <pc:sldMk cId="3056312254" sldId="389"/>
            <ac:picMk id="11"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0BF8DC-D8AB-4F39-B188-E86DA2A3F66B}" type="datetimeFigureOut">
              <a:rPr lang="en-US" smtClean="0"/>
              <a:t>4/29/2022</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BA48EE-0B03-4C2D-B46A-A837AACF857F}" type="slidenum">
              <a:rPr lang="en-US" smtClean="0"/>
              <a:t>‹#›</a:t>
            </a:fld>
            <a:endParaRPr lang="en-US"/>
          </a:p>
        </p:txBody>
      </p:sp>
    </p:spTree>
    <p:extLst>
      <p:ext uri="{BB962C8B-B14F-4D97-AF65-F5344CB8AC3E}">
        <p14:creationId xmlns:p14="http://schemas.microsoft.com/office/powerpoint/2010/main" val="362197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29880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a:headEnd/>
            <a:tailEnd/>
          </a:ln>
        </p:spPr>
      </p:sp>
      <p:sp>
        <p:nvSpPr>
          <p:cNvPr id="40963" name="Notes Placeholder 2"/>
          <p:cNvSpPr txBox="1">
            <a:spLocks noGrp="1"/>
          </p:cNvSpPr>
          <p:nvPr>
            <p:ph type="body" idx="1"/>
          </p:nvPr>
        </p:nvSpPr>
        <p:spPr>
          <a:ln/>
        </p:spPr>
        <p:txBody>
          <a:bodyPr/>
          <a:lstStyle/>
          <a:p>
            <a:endParaRPr lang="en-IN">
              <a:latin typeface="Arial" panose="020B0604020202020204" pitchFamily="34" charset="0"/>
              <a:cs typeface="Arial" panose="020B0604020202020204" pitchFamily="34" charset="0"/>
            </a:endParaRPr>
          </a:p>
        </p:txBody>
      </p:sp>
      <p:sp>
        <p:nvSpPr>
          <p:cNvPr id="409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2623C85A-2892-488F-AB8A-EE4C21D643AF}" type="slidenum">
              <a:rPr lang="en-US" sz="1200" smtClean="0">
                <a:latin typeface="Calibri" panose="020F0502020204030204" pitchFamily="34" charset="0"/>
                <a:cs typeface="Calibri" panose="020F0502020204030204" pitchFamily="34" charset="0"/>
                <a:sym typeface="Calibri" panose="020F0502020204030204" pitchFamily="34" charset="0"/>
              </a:rPr>
              <a:pPr/>
              <a:t>5</a:t>
            </a:fld>
            <a:endParaRPr lang="en-US" sz="1200">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1788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Image Placeholder 1"/>
          <p:cNvSpPr>
            <a:spLocks noGrp="1" noRot="1" noChangeAspect="1" noTextEdit="1"/>
          </p:cNvSpPr>
          <p:nvPr>
            <p:ph type="sldImg"/>
          </p:nvPr>
        </p:nvSpPr>
        <p:spPr>
          <a:ln>
            <a:headEnd/>
            <a:tailEnd/>
          </a:ln>
        </p:spPr>
      </p:sp>
      <p:sp>
        <p:nvSpPr>
          <p:cNvPr id="240643" name="Notes Placeholder 2"/>
          <p:cNvSpPr txBox="1">
            <a:spLocks noGrp="1"/>
          </p:cNvSpPr>
          <p:nvPr>
            <p:ph type="body" idx="1"/>
          </p:nvPr>
        </p:nvSpPr>
        <p:spPr>
          <a:ln/>
        </p:spPr>
        <p:txBody>
          <a:bodyPr/>
          <a:lstStyle/>
          <a:p>
            <a:endParaRPr lang="en-US">
              <a:latin typeface="Arial" pitchFamily="34" charset="0"/>
              <a:cs typeface="Arial" pitchFamily="34" charset="0"/>
            </a:endParaRPr>
          </a:p>
        </p:txBody>
      </p:sp>
      <p:sp>
        <p:nvSpPr>
          <p:cNvPr id="240644" name="Slide Number Placeholder 3"/>
          <p:cNvSpPr>
            <a:spLocks noGrp="1"/>
          </p:cNvSpPr>
          <p:nvPr>
            <p:ph type="sldNum" sz="quarter" idx="12"/>
          </p:nvPr>
        </p:nvSpPr>
        <p:spPr>
          <a:noFill/>
        </p:spPr>
        <p:txBody>
          <a:bodyPr/>
          <a:lstStyle/>
          <a:p>
            <a:pPr>
              <a:buFont typeface="Arial" pitchFamily="34" charset="0"/>
              <a:buNone/>
            </a:pPr>
            <a:fld id="{5E06B982-9095-4965-9F6C-B43A78ECB672}" type="slidenum">
              <a:rPr lang="en-US" smtClean="0"/>
              <a:pPr>
                <a:buFont typeface="Arial" pitchFamily="34" charset="0"/>
                <a:buNone/>
              </a:pPr>
              <a:t>7</a:t>
            </a:fld>
            <a:endParaRPr lang="en-US"/>
          </a:p>
        </p:txBody>
      </p:sp>
    </p:spTree>
    <p:extLst>
      <p:ext uri="{BB962C8B-B14F-4D97-AF65-F5344CB8AC3E}">
        <p14:creationId xmlns:p14="http://schemas.microsoft.com/office/powerpoint/2010/main" val="1375157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6BA48EE-0B03-4C2D-B46A-A837AACF857F}" type="slidenum">
              <a:rPr lang="en-US" smtClean="0"/>
              <a:t>20</a:t>
            </a:fld>
            <a:endParaRPr lang="en-US"/>
          </a:p>
        </p:txBody>
      </p:sp>
    </p:spTree>
    <p:extLst>
      <p:ext uri="{BB962C8B-B14F-4D97-AF65-F5344CB8AC3E}">
        <p14:creationId xmlns:p14="http://schemas.microsoft.com/office/powerpoint/2010/main" val="180779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45010" y="1"/>
            <a:ext cx="8613391" cy="645374"/>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6D8020-ABE7-4CF8-84EB-2D3C77AD9E57}" type="datetime1">
              <a:rPr lang="en-US" smtClean="0"/>
              <a:t>4/29/2022</a:t>
            </a:fld>
            <a:endParaRPr lang="en-US"/>
          </a:p>
        </p:txBody>
      </p:sp>
      <p:sp>
        <p:nvSpPr>
          <p:cNvPr id="5" name="Footer Placeholder 4"/>
          <p:cNvSpPr>
            <a:spLocks noGrp="1"/>
          </p:cNvSpPr>
          <p:nvPr>
            <p:ph type="ftr" sz="quarter" idx="11"/>
          </p:nvPr>
        </p:nvSpPr>
        <p:spPr/>
        <p:txBody>
          <a:bodyPr/>
          <a:lstStyle/>
          <a:p>
            <a:r>
              <a:rPr lang="fi-FI"/>
              <a:t>Tamanna           KCS 603                  CN               Unit 5</a:t>
            </a:r>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3717063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07948" y="0"/>
            <a:ext cx="8550452" cy="660393"/>
          </a:xfrm>
        </p:spPr>
        <p:txBody>
          <a:bodyPr wrap="square" anchor="b">
            <a:normAutofit/>
          </a:bodyPr>
          <a:lstStyle>
            <a:lvl1pPr>
              <a:defRPr sz="3300"/>
            </a:lvl1pPr>
          </a:lstStyle>
          <a:p>
            <a:r>
              <a:rPr lang="en-US"/>
              <a:t>Click to edit Master title style</a:t>
            </a:r>
            <a:endParaRPr lang="en-US" dirty="0"/>
          </a:p>
        </p:txBody>
      </p:sp>
      <p:sp>
        <p:nvSpPr>
          <p:cNvPr id="3" name="Text Placeholder 2"/>
          <p:cNvSpPr>
            <a:spLocks noGrp="1"/>
          </p:cNvSpPr>
          <p:nvPr>
            <p:ph type="body" idx="1"/>
          </p:nvPr>
        </p:nvSpPr>
        <p:spPr>
          <a:xfrm>
            <a:off x="378517" y="957416"/>
            <a:ext cx="9552157" cy="464743"/>
          </a:xfrm>
        </p:spPr>
        <p:txBody>
          <a:bodyPr/>
          <a:lstStyle>
            <a:lvl1pPr marL="0" indent="0" algn="just">
              <a:buNone/>
              <a:defRPr sz="242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559F95-195A-4006-AB3D-9D89B43ED3BE}" type="datetime1">
              <a:rPr lang="en-US" smtClean="0"/>
              <a:t>4/29/2022</a:t>
            </a:fld>
            <a:endParaRPr lang="en-US"/>
          </a:p>
        </p:txBody>
      </p:sp>
      <p:sp>
        <p:nvSpPr>
          <p:cNvPr id="5" name="Footer Placeholder 4"/>
          <p:cNvSpPr>
            <a:spLocks noGrp="1"/>
          </p:cNvSpPr>
          <p:nvPr>
            <p:ph type="ftr" sz="quarter" idx="11"/>
          </p:nvPr>
        </p:nvSpPr>
        <p:spPr/>
        <p:txBody>
          <a:bodyPr/>
          <a:lstStyle/>
          <a:p>
            <a:r>
              <a:rPr lang="fi-FI"/>
              <a:t>Tamanna           KCS 603                  CN               Unit 5</a:t>
            </a:r>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2323672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5844" y="0"/>
            <a:ext cx="8542556" cy="600923"/>
          </a:xfrm>
        </p:spPr>
        <p:txBody>
          <a:bodyPr anchor="b">
            <a:normAutofit/>
          </a:bodyPr>
          <a:lstStyle>
            <a:lvl1pPr>
              <a:defRPr sz="33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464743"/>
          </a:xfrm>
        </p:spPr>
        <p:txBody>
          <a:bodyPr anchor="t"/>
          <a:lstStyle>
            <a:lvl1pPr marL="0" indent="0">
              <a:buNone/>
              <a:defRPr sz="24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357545" y="1119083"/>
            <a:ext cx="3244096" cy="464743"/>
          </a:xfrm>
        </p:spPr>
        <p:txBody>
          <a:bodyPr/>
          <a:lstStyle>
            <a:lvl1pPr marL="0" indent="0">
              <a:buNone/>
              <a:defRPr sz="242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C8AB24A0-EF99-45B8-818C-513CB43422BA}" type="datetime1">
              <a:rPr lang="en-US" smtClean="0"/>
              <a:t>4/29/2022</a:t>
            </a:fld>
            <a:endParaRPr lang="en-US"/>
          </a:p>
        </p:txBody>
      </p:sp>
      <p:sp>
        <p:nvSpPr>
          <p:cNvPr id="6" name="Footer Placeholder 5"/>
          <p:cNvSpPr>
            <a:spLocks noGrp="1"/>
          </p:cNvSpPr>
          <p:nvPr>
            <p:ph type="ftr" sz="quarter" idx="11"/>
          </p:nvPr>
        </p:nvSpPr>
        <p:spPr/>
        <p:txBody>
          <a:bodyPr/>
          <a:lstStyle/>
          <a:p>
            <a:r>
              <a:rPr lang="fi-FI"/>
              <a:t>Tamanna           KCS 603                  CN               Unit 5</a:t>
            </a:r>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2203986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NIE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1D5A9C-9905-436D-8278-622F6F77034B}" type="datetime1">
              <a:rPr lang="en-US" smtClean="0"/>
              <a:t>4/29/2022</a:t>
            </a:fld>
            <a:endParaRPr lang="en-US" dirty="0"/>
          </a:p>
        </p:txBody>
      </p:sp>
      <p:sp>
        <p:nvSpPr>
          <p:cNvPr id="3" name="Footer Placeholder 2"/>
          <p:cNvSpPr>
            <a:spLocks noGrp="1"/>
          </p:cNvSpPr>
          <p:nvPr>
            <p:ph type="ftr" sz="quarter" idx="11"/>
          </p:nvPr>
        </p:nvSpPr>
        <p:spPr/>
        <p:txBody>
          <a:bodyPr/>
          <a:lstStyle/>
          <a:p>
            <a:r>
              <a:rPr lang="fi-FI"/>
              <a:t>Tamanna           KCS 603                  CN               Unit 5</a:t>
            </a:r>
            <a:endParaRPr lang="en-US" dirty="0"/>
          </a:p>
        </p:txBody>
      </p:sp>
      <p:sp>
        <p:nvSpPr>
          <p:cNvPr id="4" name="Slide Number Placeholder 3"/>
          <p:cNvSpPr>
            <a:spLocks noGrp="1"/>
          </p:cNvSpPr>
          <p:nvPr>
            <p:ph type="sldNum" sz="quarter" idx="12"/>
          </p:nvPr>
        </p:nvSpPr>
        <p:spPr/>
        <p:txBody>
          <a:bodyPr/>
          <a:lstStyle/>
          <a:p>
            <a:fld id="{A0B67B60-8227-4ECE-9065-6110C6EB035F}"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8" name="Text Placeholder 2"/>
          <p:cNvSpPr>
            <a:spLocks noGrp="1"/>
          </p:cNvSpPr>
          <p:nvPr>
            <p:ph type="body" idx="1"/>
          </p:nvPr>
        </p:nvSpPr>
        <p:spPr>
          <a:xfrm>
            <a:off x="378517" y="957416"/>
            <a:ext cx="9552157" cy="464743"/>
          </a:xfrm>
        </p:spPr>
        <p:txBody>
          <a:bodyPr/>
          <a:lstStyle>
            <a:lvl1pPr marL="0" indent="0" algn="just">
              <a:buNone/>
              <a:defRPr sz="242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113680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7948" y="0"/>
            <a:ext cx="8550452" cy="660393"/>
          </a:xfrm>
        </p:spPr>
        <p:txBody>
          <a:bodyPr wrap="square" anchor="b">
            <a:normAutofit/>
          </a:bodyPr>
          <a:lstStyle>
            <a:lvl1pPr>
              <a:defRPr sz="3300"/>
            </a:lvl1pPr>
          </a:lstStyle>
          <a:p>
            <a:r>
              <a:rPr lang="en-US"/>
              <a:t>Click to edit Master title style</a:t>
            </a:r>
            <a:endParaRPr lang="en-US" dirty="0"/>
          </a:p>
        </p:txBody>
      </p:sp>
      <p:sp>
        <p:nvSpPr>
          <p:cNvPr id="3" name="Text Placeholder 2"/>
          <p:cNvSpPr>
            <a:spLocks noGrp="1"/>
          </p:cNvSpPr>
          <p:nvPr>
            <p:ph type="body" idx="1"/>
          </p:nvPr>
        </p:nvSpPr>
        <p:spPr>
          <a:xfrm>
            <a:off x="378517" y="957416"/>
            <a:ext cx="9552157" cy="464743"/>
          </a:xfrm>
        </p:spPr>
        <p:txBody>
          <a:bodyPr/>
          <a:lstStyle>
            <a:lvl1pPr marL="0" indent="0" algn="just">
              <a:buNone/>
              <a:defRPr sz="242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91515" y="7203865"/>
            <a:ext cx="1135998" cy="413808"/>
          </a:xfrm>
        </p:spPr>
        <p:txBody>
          <a:bodyPr/>
          <a:lstStyle/>
          <a:p>
            <a:fld id="{1D402A91-4202-4151-8E48-5BAEE5DDDD89}" type="datetime1">
              <a:rPr lang="en-US" smtClean="0"/>
              <a:t>4/29/2022</a:t>
            </a:fld>
            <a:endParaRPr lang="en-US"/>
          </a:p>
        </p:txBody>
      </p:sp>
      <p:sp>
        <p:nvSpPr>
          <p:cNvPr id="5" name="Footer Placeholder 4"/>
          <p:cNvSpPr>
            <a:spLocks noGrp="1"/>
          </p:cNvSpPr>
          <p:nvPr>
            <p:ph type="ftr" sz="quarter" idx="11"/>
          </p:nvPr>
        </p:nvSpPr>
        <p:spPr>
          <a:xfrm>
            <a:off x="2380016" y="7203865"/>
            <a:ext cx="5581704" cy="413808"/>
          </a:xfrm>
        </p:spPr>
        <p:txBody>
          <a:bodyPr/>
          <a:lstStyle/>
          <a:p>
            <a:r>
              <a:rPr lang="fi-FI"/>
              <a:t>Tamanna           KCS 603                  CN               Unit 5</a:t>
            </a:r>
            <a:endParaRPr lang="en-US"/>
          </a:p>
        </p:txBody>
      </p:sp>
      <p:sp>
        <p:nvSpPr>
          <p:cNvPr id="6" name="Slide Number Placeholder 5"/>
          <p:cNvSpPr>
            <a:spLocks noGrp="1"/>
          </p:cNvSpPr>
          <p:nvPr>
            <p:ph type="sldNum" sz="quarter" idx="12"/>
          </p:nvPr>
        </p:nvSpPr>
        <p:spPr>
          <a:xfrm>
            <a:off x="8740892" y="7189268"/>
            <a:ext cx="625994" cy="413808"/>
          </a:xfrm>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270123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
    <p:spTree>
      <p:nvGrpSpPr>
        <p:cNvPr id="1" name=""/>
        <p:cNvGrpSpPr/>
        <p:nvPr/>
      </p:nvGrpSpPr>
      <p:grpSpPr>
        <a:xfrm>
          <a:off x="0" y="0"/>
          <a:ext cx="0" cy="0"/>
          <a:chOff x="0" y="0"/>
          <a:chExt cx="0" cy="0"/>
        </a:xfrm>
      </p:grpSpPr>
      <p:sp>
        <p:nvSpPr>
          <p:cNvPr id="2" name="Title 1"/>
          <p:cNvSpPr>
            <a:spLocks noGrp="1"/>
          </p:cNvSpPr>
          <p:nvPr>
            <p:ph type="title"/>
          </p:nvPr>
        </p:nvSpPr>
        <p:spPr>
          <a:xfrm>
            <a:off x="1507948" y="0"/>
            <a:ext cx="8550452" cy="660393"/>
          </a:xfrm>
        </p:spPr>
        <p:txBody>
          <a:bodyPr wrap="square" anchor="b">
            <a:normAutofit/>
          </a:bodyPr>
          <a:lstStyle>
            <a:lvl1pPr>
              <a:defRPr sz="3300"/>
            </a:lvl1pPr>
          </a:lstStyle>
          <a:p>
            <a:r>
              <a:rPr lang="en-US"/>
              <a:t>Click to edit Master title style</a:t>
            </a:r>
            <a:endParaRPr lang="en-US" dirty="0"/>
          </a:p>
        </p:txBody>
      </p:sp>
      <p:sp>
        <p:nvSpPr>
          <p:cNvPr id="3" name="Text Placeholder 2"/>
          <p:cNvSpPr>
            <a:spLocks noGrp="1"/>
          </p:cNvSpPr>
          <p:nvPr>
            <p:ph type="body" idx="1"/>
          </p:nvPr>
        </p:nvSpPr>
        <p:spPr>
          <a:xfrm>
            <a:off x="378517" y="957416"/>
            <a:ext cx="9552157" cy="464743"/>
          </a:xfrm>
        </p:spPr>
        <p:txBody>
          <a:bodyPr/>
          <a:lstStyle>
            <a:lvl1pPr marL="0" indent="0" algn="just">
              <a:buNone/>
              <a:defRPr sz="242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91515" y="7203865"/>
            <a:ext cx="1135998" cy="413808"/>
          </a:xfrm>
        </p:spPr>
        <p:txBody>
          <a:bodyPr/>
          <a:lstStyle/>
          <a:p>
            <a:fld id="{A2A4ED6B-C284-4141-AF03-C96C01016F7C}" type="datetime1">
              <a:rPr lang="en-US" smtClean="0"/>
              <a:t>4/29/2022</a:t>
            </a:fld>
            <a:endParaRPr lang="en-US"/>
          </a:p>
        </p:txBody>
      </p:sp>
      <p:sp>
        <p:nvSpPr>
          <p:cNvPr id="5" name="Footer Placeholder 4"/>
          <p:cNvSpPr>
            <a:spLocks noGrp="1"/>
          </p:cNvSpPr>
          <p:nvPr>
            <p:ph type="ftr" sz="quarter" idx="11"/>
          </p:nvPr>
        </p:nvSpPr>
        <p:spPr>
          <a:xfrm>
            <a:off x="2380016" y="7203865"/>
            <a:ext cx="5581704" cy="413808"/>
          </a:xfrm>
        </p:spPr>
        <p:txBody>
          <a:bodyPr/>
          <a:lstStyle/>
          <a:p>
            <a:r>
              <a:rPr lang="fi-FI"/>
              <a:t>Tamanna           KCS 603                  CN               Unit 5</a:t>
            </a:r>
            <a:endParaRPr lang="en-US"/>
          </a:p>
        </p:txBody>
      </p:sp>
      <p:sp>
        <p:nvSpPr>
          <p:cNvPr id="6" name="Slide Number Placeholder 5"/>
          <p:cNvSpPr>
            <a:spLocks noGrp="1"/>
          </p:cNvSpPr>
          <p:nvPr>
            <p:ph type="sldNum" sz="quarter" idx="12"/>
          </p:nvPr>
        </p:nvSpPr>
        <p:spPr>
          <a:xfrm>
            <a:off x="8740892" y="7189268"/>
            <a:ext cx="625994" cy="413808"/>
          </a:xfrm>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184685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p:spPr>
        <p:txBody>
          <a:bodyPr/>
          <a:lstStyle/>
          <a:p>
            <a:r>
              <a:rPr lang="en-US"/>
              <a:t>Click to edit Master title style</a:t>
            </a:r>
          </a:p>
        </p:txBody>
      </p:sp>
      <p:sp>
        <p:nvSpPr>
          <p:cNvPr id="3" name="Subtitle 2"/>
          <p:cNvSpPr>
            <a:spLocks noGrp="1"/>
          </p:cNvSpPr>
          <p:nvPr>
            <p:ph type="subTitle" idx="1"/>
          </p:nvPr>
        </p:nvSpPr>
        <p:spPr>
          <a:xfrm>
            <a:off x="1508760" y="4404360"/>
            <a:ext cx="7040880" cy="464743"/>
          </a:xfrm>
        </p:spPr>
        <p:txBody>
          <a:bodyPr/>
          <a:lstStyle>
            <a:lvl1pPr marL="0" indent="0" algn="ctr">
              <a:buNone/>
              <a:defRPr>
                <a:solidFill>
                  <a:schemeClr val="tx1">
                    <a:tint val="75000"/>
                  </a:schemeClr>
                </a:solidFill>
              </a:defRPr>
            </a:lvl1pPr>
            <a:lvl2pPr marL="502920" indent="0" algn="ctr">
              <a:buNone/>
              <a:defRPr>
                <a:solidFill>
                  <a:schemeClr val="tx1">
                    <a:tint val="75000"/>
                  </a:schemeClr>
                </a:solidFill>
              </a:defRPr>
            </a:lvl2pPr>
            <a:lvl3pPr marL="1005840" indent="0" algn="ctr">
              <a:buNone/>
              <a:defRPr>
                <a:solidFill>
                  <a:schemeClr val="tx1">
                    <a:tint val="75000"/>
                  </a:schemeClr>
                </a:solidFill>
              </a:defRPr>
            </a:lvl3pPr>
            <a:lvl4pPr marL="1508760" indent="0" algn="ctr">
              <a:buNone/>
              <a:defRPr>
                <a:solidFill>
                  <a:schemeClr val="tx1">
                    <a:tint val="75000"/>
                  </a:schemeClr>
                </a:solidFill>
              </a:defRPr>
            </a:lvl4pPr>
            <a:lvl5pPr marL="2011680" indent="0" algn="ctr">
              <a:buNone/>
              <a:defRPr>
                <a:solidFill>
                  <a:schemeClr val="tx1">
                    <a:tint val="75000"/>
                  </a:schemeClr>
                </a:solidFill>
              </a:defRPr>
            </a:lvl5pPr>
            <a:lvl6pPr marL="2514600" indent="0" algn="ctr">
              <a:buNone/>
              <a:defRPr>
                <a:solidFill>
                  <a:schemeClr val="tx1">
                    <a:tint val="75000"/>
                  </a:schemeClr>
                </a:solidFill>
              </a:defRPr>
            </a:lvl6pPr>
            <a:lvl7pPr marL="3017520" indent="0" algn="ctr">
              <a:buNone/>
              <a:defRPr>
                <a:solidFill>
                  <a:schemeClr val="tx1">
                    <a:tint val="75000"/>
                  </a:schemeClr>
                </a:solidFill>
              </a:defRPr>
            </a:lvl7pPr>
            <a:lvl8pPr marL="3520440" indent="0" algn="ctr">
              <a:buNone/>
              <a:defRPr>
                <a:solidFill>
                  <a:schemeClr val="tx1">
                    <a:tint val="75000"/>
                  </a:schemeClr>
                </a:solidFill>
              </a:defRPr>
            </a:lvl8pPr>
            <a:lvl9pPr marL="402336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FE182D-3DA5-491E-A7BE-0F1C936339C1}" type="datetime1">
              <a:rPr lang="en-US" smtClean="0"/>
              <a:t>4/29/2022</a:t>
            </a:fld>
            <a:endParaRPr lang="en-US"/>
          </a:p>
        </p:txBody>
      </p:sp>
      <p:sp>
        <p:nvSpPr>
          <p:cNvPr id="5" name="Footer Placeholder 4"/>
          <p:cNvSpPr>
            <a:spLocks noGrp="1"/>
          </p:cNvSpPr>
          <p:nvPr>
            <p:ph type="ftr" sz="quarter" idx="11"/>
          </p:nvPr>
        </p:nvSpPr>
        <p:spPr/>
        <p:txBody>
          <a:bodyPr/>
          <a:lstStyle/>
          <a:p>
            <a:r>
              <a:rPr lang="fi-FI"/>
              <a:t>Tamanna           KCS 603                  CN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4664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DCCAFC-3C35-4C07-8FE9-83B6E0F47A96}" type="datetime1">
              <a:rPr lang="en-US" smtClean="0"/>
              <a:t>4/29/2022</a:t>
            </a:fld>
            <a:endParaRPr lang="en-US"/>
          </a:p>
        </p:txBody>
      </p:sp>
      <p:sp>
        <p:nvSpPr>
          <p:cNvPr id="3" name="Footer Placeholder 2"/>
          <p:cNvSpPr>
            <a:spLocks noGrp="1"/>
          </p:cNvSpPr>
          <p:nvPr>
            <p:ph type="ftr" sz="quarter" idx="11"/>
          </p:nvPr>
        </p:nvSpPr>
        <p:spPr/>
        <p:txBody>
          <a:bodyPr/>
          <a:lstStyle/>
          <a:p>
            <a:r>
              <a:rPr lang="fi-FI"/>
              <a:t>Tamanna           KCS 603                  CN               Unit 5</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7666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45010" y="1"/>
            <a:ext cx="8613391" cy="645374"/>
          </a:xfrm>
          <a:prstGeom prst="rect">
            <a:avLst/>
          </a:prstGeom>
          <a:solidFill>
            <a:srgbClr val="B7EEFF"/>
          </a:solidFill>
        </p:spPr>
        <p:txBody>
          <a:bodyPr vert="horz" wrap="square"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64014" y="1207873"/>
            <a:ext cx="9097717" cy="2313796"/>
          </a:xfrm>
          <a:prstGeom prst="rect">
            <a:avLst/>
          </a:prstGeom>
        </p:spPr>
        <p:txBody>
          <a:bodyPr vert="horz" wrap="square" lIns="91440" tIns="45720" rIns="91440" bIns="4572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91515" y="7203865"/>
            <a:ext cx="1135998"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66444FA2-2662-467B-9D54-70A9DA14FE72}" type="datetime1">
              <a:rPr lang="en-US" smtClean="0"/>
              <a:t>4/29/2022</a:t>
            </a:fld>
            <a:endParaRPr lang="en-US" dirty="0"/>
          </a:p>
        </p:txBody>
      </p:sp>
      <p:sp>
        <p:nvSpPr>
          <p:cNvPr id="5" name="Footer Placeholder 4"/>
          <p:cNvSpPr>
            <a:spLocks noGrp="1"/>
          </p:cNvSpPr>
          <p:nvPr>
            <p:ph type="ftr" sz="quarter" idx="3"/>
          </p:nvPr>
        </p:nvSpPr>
        <p:spPr>
          <a:xfrm>
            <a:off x="2380016" y="7203865"/>
            <a:ext cx="5581704" cy="413808"/>
          </a:xfrm>
          <a:prstGeom prst="rect">
            <a:avLst/>
          </a:prstGeom>
        </p:spPr>
        <p:txBody>
          <a:bodyPr vert="horz" lIns="91440" tIns="45720" rIns="91440" bIns="45720" rtlCol="0" anchor="ctr">
            <a:normAutofit/>
          </a:bodyPr>
          <a:lstStyle>
            <a:lvl1pPr algn="ctr">
              <a:defRPr sz="1320">
                <a:solidFill>
                  <a:schemeClr val="tx1">
                    <a:tint val="75000"/>
                  </a:schemeClr>
                </a:solidFill>
              </a:defRPr>
            </a:lvl1pPr>
          </a:lstStyle>
          <a:p>
            <a:r>
              <a:rPr lang="fi-FI"/>
              <a:t>Tamanna           KCS 603                  CN               Unit 5</a:t>
            </a:r>
            <a:endParaRPr lang="en-US" dirty="0"/>
          </a:p>
        </p:txBody>
      </p:sp>
      <p:sp>
        <p:nvSpPr>
          <p:cNvPr id="6" name="Slide Number Placeholder 5"/>
          <p:cNvSpPr>
            <a:spLocks noGrp="1"/>
          </p:cNvSpPr>
          <p:nvPr>
            <p:ph type="sldNum" sz="quarter" idx="4"/>
          </p:nvPr>
        </p:nvSpPr>
        <p:spPr>
          <a:xfrm>
            <a:off x="8740892" y="7189268"/>
            <a:ext cx="625994"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A0B67B60-8227-4ECE-9065-6110C6EB035F}" type="slidenum">
              <a:rPr lang="en-US" smtClean="0"/>
              <a:pPr/>
              <a:t>‹#›</a:t>
            </a:fld>
            <a:endParaRPr lang="en-US" dirty="0"/>
          </a:p>
        </p:txBody>
      </p:sp>
      <p:pic>
        <p:nvPicPr>
          <p:cNvPr id="8" name="Picture 2" descr="E:\NIET\Project\xLogo11.png.pagespeed.ic.pydHLuCQEZ.png"/>
          <p:cNvPicPr>
            <a:picLocks noChangeAspect="1" noChangeArrowheads="1"/>
          </p:cNvPicPr>
          <p:nvPr/>
        </p:nvPicPr>
        <p:blipFill>
          <a:blip r:embed="rId10"/>
          <a:srcRect/>
          <a:stretch>
            <a:fillRect/>
          </a:stretch>
        </p:blipFill>
        <p:spPr bwMode="auto">
          <a:xfrm>
            <a:off x="0" y="1"/>
            <a:ext cx="1592580" cy="926118"/>
          </a:xfrm>
          <a:prstGeom prst="rect">
            <a:avLst/>
          </a:prstGeom>
          <a:noFill/>
        </p:spPr>
      </p:pic>
    </p:spTree>
    <p:extLst>
      <p:ext uri="{BB962C8B-B14F-4D97-AF65-F5344CB8AC3E}">
        <p14:creationId xmlns:p14="http://schemas.microsoft.com/office/powerpoint/2010/main" val="3405984106"/>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Lst>
  <p:hf hdr="0" ftr="0"/>
  <p:txStyles>
    <p:titleStyle>
      <a:lvl1pPr algn="ctr" defTabSz="10058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251460" indent="-251460" algn="just" defTabSz="1005840" rtl="0" eaLnBrk="1" latinLnBrk="0" hangingPunct="1">
        <a:lnSpc>
          <a:spcPct val="100000"/>
        </a:lnSpc>
        <a:spcBef>
          <a:spcPts val="1100"/>
        </a:spcBef>
        <a:buFont typeface="Arial" panose="020B0604020202020204" pitchFamily="34" charset="0"/>
        <a:buChar char="•"/>
        <a:defRPr sz="2420" kern="1200">
          <a:solidFill>
            <a:schemeClr val="tx1"/>
          </a:solidFill>
          <a:latin typeface="+mn-lt"/>
          <a:ea typeface="+mn-ea"/>
          <a:cs typeface="+mn-cs"/>
        </a:defRPr>
      </a:lvl1pPr>
      <a:lvl2pPr marL="754380" indent="-251460" algn="just" defTabSz="1005840" rtl="0" eaLnBrk="1" latinLnBrk="0" hangingPunct="1">
        <a:lnSpc>
          <a:spcPct val="100000"/>
        </a:lnSpc>
        <a:spcBef>
          <a:spcPts val="550"/>
        </a:spcBef>
        <a:buFont typeface="Arial" panose="020B0604020202020204" pitchFamily="34" charset="0"/>
        <a:buChar char="•"/>
        <a:defRPr sz="2420" kern="1200">
          <a:solidFill>
            <a:schemeClr val="tx1"/>
          </a:solidFill>
          <a:latin typeface="+mn-lt"/>
          <a:ea typeface="+mn-ea"/>
          <a:cs typeface="+mn-cs"/>
        </a:defRPr>
      </a:lvl2pPr>
      <a:lvl3pPr marL="1257300" indent="-251460" algn="just" defTabSz="1005840" rtl="0" eaLnBrk="1" latinLnBrk="0" hangingPunct="1">
        <a:lnSpc>
          <a:spcPct val="100000"/>
        </a:lnSpc>
        <a:spcBef>
          <a:spcPts val="550"/>
        </a:spcBef>
        <a:buFont typeface="Arial" panose="020B0604020202020204" pitchFamily="34" charset="0"/>
        <a:buChar char="•"/>
        <a:defRPr sz="2420" kern="1200">
          <a:solidFill>
            <a:schemeClr val="tx1"/>
          </a:solidFill>
          <a:latin typeface="+mn-lt"/>
          <a:ea typeface="+mn-ea"/>
          <a:cs typeface="+mn-cs"/>
        </a:defRPr>
      </a:lvl3pPr>
      <a:lvl4pPr marL="1760220" indent="-251460" algn="just" defTabSz="1005840" rtl="0" eaLnBrk="1" latinLnBrk="0" hangingPunct="1">
        <a:lnSpc>
          <a:spcPct val="100000"/>
        </a:lnSpc>
        <a:spcBef>
          <a:spcPts val="550"/>
        </a:spcBef>
        <a:buFont typeface="Arial" panose="020B0604020202020204" pitchFamily="34" charset="0"/>
        <a:buChar char="•"/>
        <a:defRPr sz="2420" kern="1200">
          <a:solidFill>
            <a:schemeClr val="tx1"/>
          </a:solidFill>
          <a:latin typeface="+mn-lt"/>
          <a:ea typeface="+mn-ea"/>
          <a:cs typeface="+mn-cs"/>
        </a:defRPr>
      </a:lvl4pPr>
      <a:lvl5pPr marL="2263140" indent="-251460" algn="just" defTabSz="1005840" rtl="0" eaLnBrk="1" latinLnBrk="0" hangingPunct="1">
        <a:lnSpc>
          <a:spcPct val="100000"/>
        </a:lnSpc>
        <a:spcBef>
          <a:spcPts val="550"/>
        </a:spcBef>
        <a:buFont typeface="Arial" panose="020B0604020202020204" pitchFamily="34" charset="0"/>
        <a:buChar char="•"/>
        <a:defRPr sz="242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6.xml"/><Relationship Id="rId6" Type="http://schemas.openxmlformats.org/officeDocument/2006/relationships/hyperlink" Target="mailto:reapient@asco.com" TargetMode="External"/><Relationship Id="rId5" Type="http://schemas.openxmlformats.org/officeDocument/2006/relationships/image" Target="../media/image12.jpeg"/><Relationship Id="rId4" Type="http://schemas.openxmlformats.org/officeDocument/2006/relationships/image" Target="../media/image11.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3" Type="http://schemas.openxmlformats.org/officeDocument/2006/relationships/hyperlink" Target="https://www.youtube.com/watch?v=qZlMS4yJM-E" TargetMode="External"/><Relationship Id="rId2" Type="http://schemas.openxmlformats.org/officeDocument/2006/relationships/hyperlink" Target="https://www.youtube.com/watch?v=JsUzPkOxZfA" TargetMode="External"/><Relationship Id="rId1" Type="http://schemas.openxmlformats.org/officeDocument/2006/relationships/slideLayout" Target="../slideLayouts/slideLayout6.xml"/><Relationship Id="rId5" Type="http://schemas.openxmlformats.org/officeDocument/2006/relationships/hyperlink" Target="https://www.youtube.com/watch?v=RsQ1tFLwldY" TargetMode="External"/><Relationship Id="rId4" Type="http://schemas.openxmlformats.org/officeDocument/2006/relationships/hyperlink" Target="https://www.youtube.com/watch?v=mpQZVYPuDGU"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3" Type="http://schemas.openxmlformats.org/officeDocument/2006/relationships/hyperlink" Target="https://drive.google.com/open?id=1oFmw__qC7wdUP85gUkKbkohZvd9Vopm_" TargetMode="External"/><Relationship Id="rId2" Type="http://schemas.openxmlformats.org/officeDocument/2006/relationships/hyperlink" Target="https://drive.google.com/open?id=17OUMNnX0kFDc9UB8tx8qd8zyEj7lCD5P" TargetMode="External"/><Relationship Id="rId1" Type="http://schemas.openxmlformats.org/officeDocument/2006/relationships/slideLayout" Target="../slideLayouts/slideLayout6.xml"/><Relationship Id="rId6" Type="http://schemas.openxmlformats.org/officeDocument/2006/relationships/hyperlink" Target="https://drive.google.com/open?id=1tjERKPwEA9icWcQTBZQnKUq_ttqBDeo5" TargetMode="External"/><Relationship Id="rId5" Type="http://schemas.openxmlformats.org/officeDocument/2006/relationships/hyperlink" Target="https://drive.google.com/open?id=1ljNxmZP1_pl10rbxJvK6xB1ybG7AMuqU" TargetMode="External"/><Relationship Id="rId4" Type="http://schemas.openxmlformats.org/officeDocument/2006/relationships/hyperlink" Target="https://drive.google.com/open?id=1eDrOkj2wVsxdTZPb7-A78YuYn16HC1ob" TargetMode="Externa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92580" y="1120140"/>
            <a:ext cx="7040880" cy="1844040"/>
          </a:xfrm>
        </p:spPr>
        <p:style>
          <a:lnRef idx="2">
            <a:schemeClr val="accent5"/>
          </a:lnRef>
          <a:fillRef idx="1">
            <a:schemeClr val="lt1"/>
          </a:fillRef>
          <a:effectRef idx="0">
            <a:schemeClr val="accent5"/>
          </a:effectRef>
          <a:fontRef idx="minor">
            <a:schemeClr val="dk1"/>
          </a:fontRef>
        </p:style>
        <p:txBody>
          <a:bodyPr>
            <a:normAutofit/>
          </a:bodyPr>
          <a:lstStyle/>
          <a:p>
            <a:r>
              <a:rPr lang="en-US" sz="3080" b="1" dirty="0">
                <a:solidFill>
                  <a:schemeClr val="tx1"/>
                </a:solidFill>
              </a:rPr>
              <a:t>Application Layer</a:t>
            </a:r>
          </a:p>
        </p:txBody>
      </p:sp>
      <p:sp>
        <p:nvSpPr>
          <p:cNvPr id="9" name="Date Placeholder 8"/>
          <p:cNvSpPr>
            <a:spLocks noGrp="1"/>
          </p:cNvSpPr>
          <p:nvPr>
            <p:ph type="dt" sz="half" idx="10"/>
          </p:nvPr>
        </p:nvSpPr>
        <p:spPr>
          <a:xfrm>
            <a:off x="419100" y="7256463"/>
            <a:ext cx="2346960" cy="401638"/>
          </a:xfrm>
        </p:spPr>
        <p:txBody>
          <a:bodyPr/>
          <a:lstStyle/>
          <a:p>
            <a:fld id="{4419CD4B-09D1-48FB-AB3E-AC615DC133C0}" type="datetime1">
              <a:rPr lang="en-US" smtClean="0"/>
              <a:t>4/29/2022</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419100" y="6652260"/>
            <a:ext cx="586740" cy="586740"/>
          </a:xfrm>
          <a:prstGeom prst="rect">
            <a:avLst/>
          </a:prstGeom>
          <a:noFill/>
        </p:spPr>
      </p:pic>
      <p:sp>
        <p:nvSpPr>
          <p:cNvPr id="12" name="Subtitle 2"/>
          <p:cNvSpPr txBox="1">
            <a:spLocks/>
          </p:cNvSpPr>
          <p:nvPr/>
        </p:nvSpPr>
        <p:spPr>
          <a:xfrm>
            <a:off x="167640" y="3383280"/>
            <a:ext cx="2263140" cy="586740"/>
          </a:xfrm>
          <a:prstGeom prst="rect">
            <a:avLst/>
          </a:prstGeom>
        </p:spPr>
        <p:style>
          <a:lnRef idx="2">
            <a:schemeClr val="accent5"/>
          </a:lnRef>
          <a:fillRef idx="1">
            <a:schemeClr val="lt1"/>
          </a:fillRef>
          <a:effectRef idx="0">
            <a:schemeClr val="accent5"/>
          </a:effectRef>
          <a:fontRef idx="minor">
            <a:schemeClr val="dk1"/>
          </a:fontRef>
        </p:style>
        <p:txBody>
          <a:bodyPr vert="horz" lIns="100584" tIns="50292" rIns="100584" bIns="50292" rtlCol="0">
            <a:normAutofit/>
          </a:bodyPr>
          <a:lstStyle/>
          <a:p>
            <a:pPr algn="ctr" defTabSz="1005840">
              <a:spcBef>
                <a:spcPct val="20000"/>
              </a:spcBef>
              <a:defRPr/>
            </a:pPr>
            <a:r>
              <a:rPr lang="en-US" sz="2750" dirty="0">
                <a:solidFill>
                  <a:schemeClr val="tx1"/>
                </a:solidFill>
              </a:rPr>
              <a:t>Unit: 5</a:t>
            </a:r>
          </a:p>
        </p:txBody>
      </p:sp>
      <p:sp>
        <p:nvSpPr>
          <p:cNvPr id="14" name="Subtitle 2"/>
          <p:cNvSpPr txBox="1">
            <a:spLocks/>
          </p:cNvSpPr>
          <p:nvPr/>
        </p:nvSpPr>
        <p:spPr>
          <a:xfrm>
            <a:off x="167640" y="4305300"/>
            <a:ext cx="4610100" cy="922020"/>
          </a:xfrm>
          <a:prstGeom prst="rect">
            <a:avLst/>
          </a:prstGeom>
        </p:spPr>
        <p:style>
          <a:lnRef idx="2">
            <a:schemeClr val="accent5"/>
          </a:lnRef>
          <a:fillRef idx="1">
            <a:schemeClr val="lt1"/>
          </a:fillRef>
          <a:effectRef idx="0">
            <a:schemeClr val="accent5"/>
          </a:effectRef>
          <a:fontRef idx="minor">
            <a:schemeClr val="dk1"/>
          </a:fontRef>
        </p:style>
        <p:txBody>
          <a:bodyPr vert="horz" lIns="100584" tIns="50292" rIns="100584" bIns="50292" rtlCol="0">
            <a:noAutofit/>
          </a:bodyPr>
          <a:lstStyle/>
          <a:p>
            <a:pPr lvl="0" algn="ctr">
              <a:spcBef>
                <a:spcPct val="20000"/>
              </a:spcBef>
              <a:defRPr/>
            </a:pPr>
            <a:r>
              <a:rPr lang="en-US" sz="2640" dirty="0">
                <a:solidFill>
                  <a:schemeClr val="tx1"/>
                </a:solidFill>
              </a:rPr>
              <a:t>Computer Networks</a:t>
            </a:r>
          </a:p>
          <a:p>
            <a:pPr lvl="0" algn="ctr">
              <a:spcBef>
                <a:spcPct val="20000"/>
              </a:spcBef>
              <a:defRPr/>
            </a:pPr>
            <a:r>
              <a:rPr lang="en-US" sz="2640" dirty="0">
                <a:solidFill>
                  <a:schemeClr val="tx1"/>
                </a:solidFill>
              </a:rPr>
              <a:t>KCS 603</a:t>
            </a:r>
          </a:p>
        </p:txBody>
      </p:sp>
      <p:sp>
        <p:nvSpPr>
          <p:cNvPr id="15" name="Subtitle 2"/>
          <p:cNvSpPr txBox="1">
            <a:spLocks/>
          </p:cNvSpPr>
          <p:nvPr/>
        </p:nvSpPr>
        <p:spPr>
          <a:xfrm>
            <a:off x="167640" y="5478780"/>
            <a:ext cx="4610100" cy="922020"/>
          </a:xfrm>
          <a:prstGeom prst="rect">
            <a:avLst/>
          </a:prstGeom>
        </p:spPr>
        <p:style>
          <a:lnRef idx="2">
            <a:schemeClr val="accent5"/>
          </a:lnRef>
          <a:fillRef idx="1">
            <a:schemeClr val="lt1"/>
          </a:fillRef>
          <a:effectRef idx="0">
            <a:schemeClr val="accent5"/>
          </a:effectRef>
          <a:fontRef idx="minor">
            <a:schemeClr val="dk1"/>
          </a:fontRef>
        </p:style>
        <p:txBody>
          <a:bodyPr vert="horz" lIns="100584" tIns="50292" rIns="100584" bIns="50292" rtlCol="0">
            <a:normAutofit/>
          </a:bodyPr>
          <a:lstStyle/>
          <a:p>
            <a:pPr algn="ctr" defTabSz="1005840">
              <a:spcBef>
                <a:spcPct val="20000"/>
              </a:spcBef>
              <a:defRPr/>
            </a:pPr>
            <a:br>
              <a:rPr lang="en-US" sz="2200" dirty="0">
                <a:solidFill>
                  <a:schemeClr val="tx1"/>
                </a:solidFill>
              </a:rPr>
            </a:br>
            <a:r>
              <a:rPr lang="en-US" sz="2640" dirty="0">
                <a:solidFill>
                  <a:schemeClr val="tx1"/>
                </a:solidFill>
              </a:rPr>
              <a:t>B Tech 6</a:t>
            </a:r>
            <a:r>
              <a:rPr lang="en-US" sz="2640" baseline="30000" dirty="0">
                <a:solidFill>
                  <a:schemeClr val="tx1"/>
                </a:solidFill>
              </a:rPr>
              <a:t>th</a:t>
            </a:r>
            <a:r>
              <a:rPr lang="en-US" sz="2640" dirty="0">
                <a:solidFill>
                  <a:schemeClr val="tx1"/>
                </a:solidFill>
              </a:rPr>
              <a:t> </a:t>
            </a:r>
            <a:r>
              <a:rPr lang="en-US" sz="2640" dirty="0" err="1">
                <a:solidFill>
                  <a:schemeClr val="tx1"/>
                </a:solidFill>
              </a:rPr>
              <a:t>Sem</a:t>
            </a:r>
            <a:endParaRPr lang="en-US" sz="2640" dirty="0">
              <a:solidFill>
                <a:schemeClr val="tx1"/>
              </a:solidFill>
            </a:endParaRPr>
          </a:p>
        </p:txBody>
      </p:sp>
      <p:sp>
        <p:nvSpPr>
          <p:cNvPr id="16" name="Title 1"/>
          <p:cNvSpPr txBox="1">
            <a:spLocks/>
          </p:cNvSpPr>
          <p:nvPr/>
        </p:nvSpPr>
        <p:spPr>
          <a:xfrm>
            <a:off x="1507948" y="0"/>
            <a:ext cx="8550452" cy="784860"/>
          </a:xfrm>
          <a:prstGeom prst="rect">
            <a:avLst/>
          </a:prstGeom>
          <a:solidFill>
            <a:srgbClr val="B7EEFF"/>
          </a:solidFill>
        </p:spPr>
        <p:txBody>
          <a:bodyPr vert="horz" wrap="square" lIns="91440" tIns="45720" rIns="91440" bIns="45720" rtlCol="0" anchor="ctr">
            <a:normAutofit fontScale="92500" lnSpcReduction="20000"/>
          </a:bodyPr>
          <a:lstStyle>
            <a:lvl1pPr algn="ctr" defTabSz="100584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a:t>Noida Institute of Engineering and Technology, Greater Noida</a:t>
            </a:r>
            <a:endParaRPr lang="en-US" sz="3200" dirty="0"/>
          </a:p>
        </p:txBody>
      </p:sp>
    </p:spTree>
    <p:extLst>
      <p:ext uri="{BB962C8B-B14F-4D97-AF65-F5344CB8AC3E}">
        <p14:creationId xmlns:p14="http://schemas.microsoft.com/office/powerpoint/2010/main" val="3056312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0728" y="990599"/>
            <a:ext cx="7470992" cy="5692833"/>
          </a:xfrm>
          <a:prstGeom prst="rect">
            <a:avLst/>
          </a:prstGeom>
        </p:spPr>
        <p:txBody>
          <a:bodyPr lIns="0" tIns="0" rIns="0" bIns="0">
            <a:noAutofit/>
          </a:bodyPr>
          <a:lstStyle/>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Evaluation Scheme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Syllabus</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Branch wise syllabus</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Course Objective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Course Outcome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Program Outcome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CO-PO Mapping</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PSO</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CO- PSO Mapping</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PEO</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Result analysis</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Paper template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Prerequisites</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Introduction to subject</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Unit objective</a:t>
            </a:r>
            <a:r>
              <a:rPr lang="en-US" sz="1600" dirty="0"/>
              <a:t>	</a:t>
            </a:r>
          </a:p>
          <a:p>
            <a:pPr marL="342900" indent="-342900">
              <a:buFont typeface="Arial" panose="020B0604020202020204" pitchFamily="34" charset="0"/>
              <a:buChar char="•"/>
            </a:pPr>
            <a:r>
              <a:rPr lang="en-US" sz="1600" dirty="0">
                <a:latin typeface="Calibri"/>
              </a:rPr>
              <a:t>APPLICATION LAYER - OSI MODEL </a:t>
            </a:r>
          </a:p>
          <a:p>
            <a:pPr marL="800100" lvl="1" indent="-342900">
              <a:buFont typeface="Arial" panose="020B0604020202020204" pitchFamily="34" charset="0"/>
              <a:buChar char="•"/>
            </a:pPr>
            <a:r>
              <a:rPr lang="en-US" sz="1600" dirty="0"/>
              <a:t>Topic Objective </a:t>
            </a:r>
          </a:p>
          <a:p>
            <a:pPr marL="800100" lvl="1" indent="-342900">
              <a:buFont typeface="Arial" panose="020B0604020202020204" pitchFamily="34" charset="0"/>
              <a:buChar char="•"/>
            </a:pPr>
            <a:r>
              <a:rPr lang="en-US" sz="1600" dirty="0">
                <a:latin typeface="Calibri"/>
              </a:rPr>
              <a:t>Functions of Application Layer </a:t>
            </a:r>
          </a:p>
          <a:p>
            <a:pPr marL="800100" lvl="1" indent="-342900">
              <a:buFont typeface="Arial" panose="020B0604020202020204" pitchFamily="34" charset="0"/>
              <a:buChar char="•"/>
            </a:pPr>
            <a:r>
              <a:rPr lang="en-US" sz="1600" dirty="0">
                <a:latin typeface="Calibri"/>
              </a:rPr>
              <a:t>Design Issues with Application Layer </a:t>
            </a:r>
          </a:p>
          <a:p>
            <a:pPr marL="800100" lvl="1" indent="-342900">
              <a:buFont typeface="Arial" panose="020B0604020202020204" pitchFamily="34" charset="0"/>
              <a:buChar char="•"/>
            </a:pPr>
            <a:r>
              <a:rPr lang="en-US" sz="1600" dirty="0">
                <a:latin typeface="Calibri"/>
              </a:rPr>
              <a:t>Network Application Architecture </a:t>
            </a:r>
          </a:p>
          <a:p>
            <a:pPr marL="800100" lvl="1" indent="-342900">
              <a:buFont typeface="Arial" panose="020B0604020202020204" pitchFamily="34" charset="0"/>
              <a:buChar char="•"/>
            </a:pPr>
            <a:r>
              <a:rPr lang="en-US" sz="1600" dirty="0">
                <a:latin typeface="Calibri"/>
              </a:rPr>
              <a:t>Client And Server Model </a:t>
            </a:r>
          </a:p>
        </p:txBody>
      </p:sp>
      <p:sp>
        <p:nvSpPr>
          <p:cNvPr id="3" name="Date Placeholder 2"/>
          <p:cNvSpPr>
            <a:spLocks noGrp="1"/>
          </p:cNvSpPr>
          <p:nvPr>
            <p:ph type="dt" sz="half" idx="10"/>
          </p:nvPr>
        </p:nvSpPr>
        <p:spPr/>
        <p:txBody>
          <a:bodyPr/>
          <a:lstStyle/>
          <a:p>
            <a:fld id="{2365A2C0-A46B-408E-B890-EF51E3C35F89}"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a:t>
            </a:fld>
            <a:endParaRPr lang="en-US"/>
          </a:p>
        </p:txBody>
      </p:sp>
      <p:sp>
        <p:nvSpPr>
          <p:cNvPr id="6" name="Title 1"/>
          <p:cNvSpPr>
            <a:spLocks noGrp="1"/>
          </p:cNvSpPr>
          <p:nvPr>
            <p:ph type="title"/>
          </p:nvPr>
        </p:nvSpPr>
        <p:spPr>
          <a:xfrm>
            <a:off x="1507948" y="0"/>
            <a:ext cx="8550452" cy="532015"/>
          </a:xfrm>
        </p:spPr>
        <p:txBody>
          <a:bodyPr>
            <a:normAutofit/>
          </a:bodyPr>
          <a:lstStyle/>
          <a:p>
            <a:r>
              <a:rPr lang="en-US" sz="3200" dirty="0"/>
              <a:t>TABLE OF CONTENTS</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6279" y="990600"/>
            <a:ext cx="7560618" cy="5709458"/>
          </a:xfrm>
          <a:prstGeom prst="rect">
            <a:avLst/>
          </a:prstGeom>
        </p:spPr>
        <p:txBody>
          <a:bodyPr lIns="0" tIns="0" rIns="0" bIns="0">
            <a:noAutofit/>
          </a:bodyPr>
          <a:lstStyle/>
          <a:p>
            <a:pPr marL="800100" lvl="1" indent="-342900">
              <a:buFont typeface="Arial" panose="020B0604020202020204" pitchFamily="34" charset="0"/>
              <a:buChar char="•"/>
            </a:pPr>
            <a:r>
              <a:rPr lang="en-US" sz="1600" dirty="0"/>
              <a:t>Virtual Terminal</a:t>
            </a:r>
          </a:p>
          <a:p>
            <a:pPr marL="800100" lvl="1" indent="-342900">
              <a:buFont typeface="Arial" panose="020B0604020202020204" pitchFamily="34" charset="0"/>
              <a:buChar char="•"/>
            </a:pPr>
            <a:r>
              <a:rPr lang="en-US" sz="1600" dirty="0"/>
              <a:t>NETWORK VIRTUAL TERMINAL (NVT)</a:t>
            </a:r>
          </a:p>
          <a:p>
            <a:pPr marL="800100" lvl="1" indent="-342900">
              <a:buFont typeface="Arial" panose="020B0604020202020204" pitchFamily="34" charset="0"/>
              <a:buChar char="•"/>
            </a:pPr>
            <a:r>
              <a:rPr lang="en-US" sz="1600" dirty="0"/>
              <a:t>MAIL SERVICES </a:t>
            </a:r>
          </a:p>
          <a:p>
            <a:pPr marL="800100" lvl="1" indent="-342900">
              <a:buFont typeface="Arial" panose="020B0604020202020204" pitchFamily="34" charset="0"/>
              <a:buChar char="•"/>
            </a:pPr>
            <a:r>
              <a:rPr lang="en-US" sz="1600" dirty="0"/>
              <a:t>ADDRESSING </a:t>
            </a:r>
          </a:p>
          <a:p>
            <a:pPr marL="800100" lvl="1" indent="-342900">
              <a:buFont typeface="Arial" panose="020B0604020202020204" pitchFamily="34" charset="0"/>
              <a:buChar char="•"/>
            </a:pPr>
            <a:r>
              <a:rPr lang="en-US" sz="1600" dirty="0"/>
              <a:t>DIRECTORY SERVICES</a:t>
            </a:r>
          </a:p>
          <a:p>
            <a:pPr marL="800100" lvl="1" indent="-342900">
              <a:buFont typeface="Arial" panose="020B0604020202020204" pitchFamily="34" charset="0"/>
              <a:buChar char="•"/>
            </a:pPr>
            <a:r>
              <a:rPr lang="en-US" sz="1600" dirty="0"/>
              <a:t>FTAM (File Transfer Access and Management)</a:t>
            </a:r>
            <a:endParaRPr lang="en-US" sz="1600" dirty="0">
              <a:latin typeface="Calibri"/>
            </a:endParaRPr>
          </a:p>
          <a:p>
            <a:pPr marL="342900" indent="-342900">
              <a:lnSpc>
                <a:spcPts val="3648"/>
              </a:lnSpc>
              <a:buFont typeface="Arial" panose="020B0604020202020204" pitchFamily="34" charset="0"/>
              <a:buChar char="•"/>
            </a:pPr>
            <a:r>
              <a:rPr lang="en-US" sz="1600" dirty="0">
                <a:latin typeface="Calibri"/>
              </a:rPr>
              <a:t>APPLICATION PROTOCOLS</a:t>
            </a:r>
          </a:p>
          <a:p>
            <a:pPr marL="800100" lvl="1" indent="-342900">
              <a:buFont typeface="Arial" panose="020B0604020202020204" pitchFamily="34" charset="0"/>
              <a:buChar char="•"/>
            </a:pPr>
            <a:r>
              <a:rPr lang="en-US" sz="1600" dirty="0"/>
              <a:t>Topic Objective &amp; Recap of previous topic</a:t>
            </a:r>
          </a:p>
          <a:p>
            <a:pPr marL="800100" lvl="1" indent="-342900">
              <a:buFont typeface="Arial" panose="020B0604020202020204" pitchFamily="34" charset="0"/>
              <a:buChar char="•"/>
            </a:pPr>
            <a:r>
              <a:rPr lang="en-US" sz="1600" dirty="0">
                <a:latin typeface="Calibri"/>
              </a:rPr>
              <a:t>DNS</a:t>
            </a:r>
          </a:p>
          <a:p>
            <a:pPr marL="800100" lvl="1" indent="-342900">
              <a:buFont typeface="Arial" panose="020B0604020202020204" pitchFamily="34" charset="0"/>
              <a:buChar char="•"/>
            </a:pPr>
            <a:r>
              <a:rPr lang="en-US" sz="1600" dirty="0">
                <a:latin typeface="Calibri"/>
              </a:rPr>
              <a:t>FTP</a:t>
            </a:r>
          </a:p>
          <a:p>
            <a:pPr marL="800100" lvl="1" indent="-342900">
              <a:buFont typeface="Arial" panose="020B0604020202020204" pitchFamily="34" charset="0"/>
              <a:buChar char="•"/>
            </a:pPr>
            <a:r>
              <a:rPr lang="en-US" sz="1600" dirty="0">
                <a:latin typeface="Calibri"/>
              </a:rPr>
              <a:t>TELNET</a:t>
            </a:r>
          </a:p>
          <a:p>
            <a:pPr marL="800100" lvl="1" indent="-342900">
              <a:buFont typeface="Arial" panose="020B0604020202020204" pitchFamily="34" charset="0"/>
              <a:buChar char="•"/>
            </a:pPr>
            <a:r>
              <a:rPr lang="en-US" sz="1600" dirty="0">
                <a:latin typeface="Calibri"/>
              </a:rPr>
              <a:t>SMTP</a:t>
            </a:r>
          </a:p>
          <a:p>
            <a:pPr marL="800100" lvl="1" indent="-342900">
              <a:buFont typeface="Arial" panose="020B0604020202020204" pitchFamily="34" charset="0"/>
              <a:buChar char="•"/>
            </a:pPr>
            <a:r>
              <a:rPr lang="en-US" sz="1600" dirty="0">
                <a:latin typeface="Calibri"/>
              </a:rPr>
              <a:t>SNMP</a:t>
            </a:r>
          </a:p>
          <a:p>
            <a:pPr marL="800100" lvl="1" indent="-342900">
              <a:buFont typeface="Arial" panose="020B0604020202020204" pitchFamily="34" charset="0"/>
              <a:buChar char="•"/>
            </a:pPr>
            <a:r>
              <a:rPr lang="en-US" sz="1600" dirty="0">
                <a:latin typeface="Calibri"/>
              </a:rPr>
              <a:t>HTTP</a:t>
            </a:r>
          </a:p>
          <a:p>
            <a:pPr marL="800100" lvl="1" indent="-342900">
              <a:buFont typeface="Arial" panose="020B0604020202020204" pitchFamily="34" charset="0"/>
              <a:buChar char="•"/>
            </a:pPr>
            <a:r>
              <a:rPr lang="en-US" sz="1600" dirty="0">
                <a:latin typeface="Calibri"/>
              </a:rPr>
              <a:t>Other Application Layer Protocols</a:t>
            </a:r>
          </a:p>
          <a:p>
            <a:pPr marL="342900" indent="-342900">
              <a:buFont typeface="Arial" panose="020B0604020202020204" pitchFamily="34" charset="0"/>
              <a:buChar char="•"/>
            </a:pPr>
            <a:r>
              <a:rPr lang="en-US" sz="1600" dirty="0"/>
              <a:t>Appendix</a:t>
            </a:r>
          </a:p>
          <a:p>
            <a:pPr marL="342900" indent="-342900">
              <a:buFont typeface="Arial" panose="020B0604020202020204" pitchFamily="34" charset="0"/>
              <a:buChar char="•"/>
            </a:pPr>
            <a:r>
              <a:rPr lang="en-US" sz="1600" dirty="0"/>
              <a:t>Video Links</a:t>
            </a:r>
          </a:p>
          <a:p>
            <a:pPr marL="342900" indent="-342900">
              <a:buFont typeface="Arial" panose="020B0604020202020204" pitchFamily="34" charset="0"/>
              <a:buChar char="•"/>
            </a:pPr>
            <a:r>
              <a:rPr lang="en-US" sz="1600" dirty="0"/>
              <a:t>Quiz</a:t>
            </a:r>
          </a:p>
          <a:p>
            <a:pPr marL="342900" indent="-342900">
              <a:buFont typeface="Arial" panose="020B0604020202020204" pitchFamily="34" charset="0"/>
              <a:buChar char="•"/>
            </a:pPr>
            <a:r>
              <a:rPr lang="en-US" sz="1600" dirty="0"/>
              <a:t>Weekly assignment</a:t>
            </a:r>
          </a:p>
          <a:p>
            <a:pPr marL="342900" indent="-342900">
              <a:buFont typeface="Arial" panose="020B0604020202020204" pitchFamily="34" charset="0"/>
              <a:buChar char="•"/>
            </a:pPr>
            <a:r>
              <a:rPr lang="en-US" sz="1600" dirty="0"/>
              <a:t>MCQ</a:t>
            </a:r>
          </a:p>
          <a:p>
            <a:pPr marL="342900" indent="-342900">
              <a:buFont typeface="Arial" panose="020B0604020202020204" pitchFamily="34" charset="0"/>
              <a:buChar char="•"/>
            </a:pPr>
            <a:r>
              <a:rPr lang="en-US" sz="1600" dirty="0"/>
              <a:t>Glossary Questions</a:t>
            </a:r>
          </a:p>
          <a:p>
            <a:pPr marL="342900" indent="-342900">
              <a:buFont typeface="Arial" panose="020B0604020202020204" pitchFamily="34" charset="0"/>
              <a:buChar char="•"/>
            </a:pPr>
            <a:r>
              <a:rPr lang="en-US" sz="1600" dirty="0"/>
              <a:t>Old Question papers</a:t>
            </a:r>
          </a:p>
          <a:p>
            <a:pPr marL="342900" indent="-342900">
              <a:buFont typeface="Arial" panose="020B0604020202020204" pitchFamily="34" charset="0"/>
              <a:buChar char="•"/>
            </a:pPr>
            <a:endParaRPr lang="en-US" sz="1600" dirty="0">
              <a:latin typeface="Calibri"/>
            </a:endParaRPr>
          </a:p>
          <a:p>
            <a:pPr lvl="1"/>
            <a:endParaRPr lang="en-US" sz="1600" dirty="0">
              <a:latin typeface="Calibri"/>
            </a:endParaRPr>
          </a:p>
          <a:p>
            <a:pPr lvl="1"/>
            <a:endParaRPr lang="en-US" sz="1600" dirty="0">
              <a:latin typeface="Calibri"/>
            </a:endParaRPr>
          </a:p>
        </p:txBody>
      </p:sp>
      <p:sp>
        <p:nvSpPr>
          <p:cNvPr id="3" name="Date Placeholder 2"/>
          <p:cNvSpPr>
            <a:spLocks noGrp="1"/>
          </p:cNvSpPr>
          <p:nvPr>
            <p:ph type="dt" sz="half" idx="10"/>
          </p:nvPr>
        </p:nvSpPr>
        <p:spPr/>
        <p:txBody>
          <a:bodyPr/>
          <a:lstStyle/>
          <a:p>
            <a:fld id="{A412088D-0493-468C-8A4E-45CE8092A6B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a:t>
            </a:fld>
            <a:endParaRPr lang="en-US"/>
          </a:p>
        </p:txBody>
      </p:sp>
      <p:sp>
        <p:nvSpPr>
          <p:cNvPr id="6" name="Title 1"/>
          <p:cNvSpPr>
            <a:spLocks noGrp="1"/>
          </p:cNvSpPr>
          <p:nvPr>
            <p:ph type="title"/>
          </p:nvPr>
        </p:nvSpPr>
        <p:spPr>
          <a:xfrm>
            <a:off x="1507948" y="0"/>
            <a:ext cx="8550452" cy="532015"/>
          </a:xfrm>
        </p:spPr>
        <p:txBody>
          <a:bodyPr>
            <a:normAutofit/>
          </a:bodyPr>
          <a:lstStyle/>
          <a:p>
            <a:r>
              <a:rPr lang="en-US" sz="3200" dirty="0"/>
              <a:t>TABLE OF CONTENTS</a:t>
            </a:r>
          </a:p>
        </p:txBody>
      </p:sp>
    </p:spTree>
    <p:extLst>
      <p:ext uri="{BB962C8B-B14F-4D97-AF65-F5344CB8AC3E}">
        <p14:creationId xmlns:p14="http://schemas.microsoft.com/office/powerpoint/2010/main" val="2208805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148579" y="1182218"/>
            <a:ext cx="7790469" cy="5709458"/>
          </a:xfrm>
          <a:prstGeom prst="rect">
            <a:avLst/>
          </a:prstGeom>
        </p:spPr>
        <p:txBody>
          <a:bodyPr lIns="0" tIns="0" rIns="0" bIns="0">
            <a:noAutofit/>
          </a:bodyPr>
          <a:lstStyle/>
          <a:p>
            <a:pPr marL="342900" indent="-342900">
              <a:buFont typeface="Arial" panose="020B0604020202020204" pitchFamily="34" charset="0"/>
              <a:buChar char="•"/>
            </a:pPr>
            <a:r>
              <a:rPr lang="en-US" sz="2200" dirty="0"/>
              <a:t>Expected Questions in University exams</a:t>
            </a:r>
          </a:p>
          <a:p>
            <a:pPr marL="342900" indent="-342900">
              <a:buFont typeface="Arial" panose="020B0604020202020204" pitchFamily="34" charset="0"/>
              <a:buChar char="•"/>
            </a:pPr>
            <a:r>
              <a:rPr lang="en-US" sz="2200" dirty="0"/>
              <a:t>Summary</a:t>
            </a:r>
          </a:p>
          <a:p>
            <a:pPr marL="342900" indent="-342900">
              <a:buFont typeface="Arial" panose="020B0604020202020204" pitchFamily="34" charset="0"/>
              <a:buChar char="•"/>
            </a:pPr>
            <a:r>
              <a:rPr lang="en-US" sz="2200" dirty="0"/>
              <a:t>Text book</a:t>
            </a:r>
          </a:p>
          <a:p>
            <a:pPr marL="342900" indent="-342900">
              <a:buFont typeface="Arial" panose="020B0604020202020204" pitchFamily="34" charset="0"/>
              <a:buChar char="•"/>
            </a:pPr>
            <a:r>
              <a:rPr lang="en-US" sz="2200" dirty="0"/>
              <a:t>Reference</a:t>
            </a:r>
          </a:p>
          <a:p>
            <a:pPr marL="342900" indent="-342900">
              <a:buFont typeface="Arial" panose="020B0604020202020204" pitchFamily="34" charset="0"/>
              <a:buChar char="•"/>
            </a:pPr>
            <a:endParaRPr lang="en-US" sz="2200" dirty="0">
              <a:latin typeface="Calibri"/>
            </a:endParaRPr>
          </a:p>
          <a:p>
            <a:pPr lvl="1"/>
            <a:endParaRPr lang="en-US" sz="2200" dirty="0">
              <a:latin typeface="Calibri"/>
            </a:endParaRPr>
          </a:p>
          <a:p>
            <a:pPr lvl="1"/>
            <a:endParaRPr lang="en-US" sz="2200" dirty="0">
              <a:latin typeface="Calibri"/>
            </a:endParaRPr>
          </a:p>
        </p:txBody>
      </p:sp>
      <p:sp>
        <p:nvSpPr>
          <p:cNvPr id="3" name="Date Placeholder 2"/>
          <p:cNvSpPr>
            <a:spLocks noGrp="1"/>
          </p:cNvSpPr>
          <p:nvPr>
            <p:ph type="dt" sz="half" idx="10"/>
          </p:nvPr>
        </p:nvSpPr>
        <p:spPr/>
        <p:txBody>
          <a:bodyPr/>
          <a:lstStyle/>
          <a:p>
            <a:fld id="{09FD29A3-49A5-4560-948E-4700D11735CD}"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a:t>
            </a:fld>
            <a:endParaRPr lang="en-US"/>
          </a:p>
        </p:txBody>
      </p:sp>
      <p:sp>
        <p:nvSpPr>
          <p:cNvPr id="6" name="Title 1"/>
          <p:cNvSpPr>
            <a:spLocks noGrp="1"/>
          </p:cNvSpPr>
          <p:nvPr>
            <p:ph type="title"/>
          </p:nvPr>
        </p:nvSpPr>
        <p:spPr>
          <a:xfrm>
            <a:off x="1507948" y="0"/>
            <a:ext cx="8550452" cy="532015"/>
          </a:xfrm>
        </p:spPr>
        <p:txBody>
          <a:bodyPr>
            <a:normAutofit/>
          </a:bodyPr>
          <a:lstStyle/>
          <a:p>
            <a:r>
              <a:rPr lang="en-US" sz="3200" dirty="0"/>
              <a:t>TABLE OF CONTENTS</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6960" y="116047"/>
            <a:ext cx="7711440" cy="876618"/>
          </a:xfrm>
          <a:solidFill>
            <a:srgbClr val="B7EEFF"/>
          </a:solidFill>
        </p:spPr>
        <p:style>
          <a:lnRef idx="1">
            <a:schemeClr val="accent5"/>
          </a:lnRef>
          <a:fillRef idx="2">
            <a:schemeClr val="accent5"/>
          </a:fillRef>
          <a:effectRef idx="1">
            <a:schemeClr val="accent5"/>
          </a:effectRef>
          <a:fontRef idx="minor">
            <a:schemeClr val="dk1"/>
          </a:fontRef>
        </p:style>
        <p:txBody>
          <a:bodyPr rtlCol="0"/>
          <a:lstStyle/>
          <a:p>
            <a:pPr>
              <a:buFont typeface="Arial" charset="0"/>
              <a:buNone/>
              <a:defRPr/>
            </a:pPr>
            <a:r>
              <a:rPr lang="en-US" sz="3080" dirty="0">
                <a:latin typeface="Times New Roman" pitchFamily="18" charset="0"/>
                <a:cs typeface="Times New Roman" pitchFamily="18" charset="0"/>
                <a:sym typeface="Arial" charset="0"/>
              </a:rPr>
              <a:t>Evaluation Scheme</a:t>
            </a:r>
            <a:endParaRPr lang="en-IN" sz="3080" dirty="0">
              <a:latin typeface="Times New Roman" pitchFamily="18" charset="0"/>
              <a:cs typeface="Times New Roman" pitchFamily="18" charset="0"/>
              <a:sym typeface="Arial" charset="0"/>
            </a:endParaRPr>
          </a:p>
        </p:txBody>
      </p:sp>
      <p:sp>
        <p:nvSpPr>
          <p:cNvPr id="39939" name="Rectangle 7"/>
          <p:cNvSpPr>
            <a:spLocks noChangeArrowheads="1"/>
          </p:cNvSpPr>
          <p:nvPr/>
        </p:nvSpPr>
        <p:spPr bwMode="auto">
          <a:xfrm>
            <a:off x="225267" y="1155065"/>
            <a:ext cx="9070023"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hangingPunct="1">
              <a:buClrTx/>
              <a:buFontTx/>
              <a:buNone/>
              <a:defRPr/>
            </a:pPr>
            <a:r>
              <a:rPr lang="en-US" sz="2640" dirty="0">
                <a:latin typeface="Times New Roman" panose="02020603050405020304" pitchFamily="18" charset="0"/>
                <a:cs typeface="Times New Roman" panose="02020603050405020304" pitchFamily="18" charset="0"/>
              </a:rPr>
              <a:t>        </a:t>
            </a:r>
          </a:p>
        </p:txBody>
      </p:sp>
      <p:sp>
        <p:nvSpPr>
          <p:cNvPr id="39940" name="Date Placeholder 6"/>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5E379D05-B630-4484-BDF1-F120126F95FD}" type="datetime1">
              <a:rPr lang="en-US" sz="132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39941" name="Slide Number Placeholder 7"/>
          <p:cNvSpPr>
            <a:spLocks noGrp="1"/>
          </p:cNvSpPr>
          <p:nvPr>
            <p:ph type="sldNum" sz="quarter" idx="4294967295"/>
          </p:nvPr>
        </p:nvSpPr>
        <p:spPr>
          <a:xfrm>
            <a:off x="7208520" y="7106285"/>
            <a:ext cx="2346960" cy="4016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C7FAFD75-C369-404B-8901-03CF49A01E66}" type="slidenum">
              <a:rPr lang="en-US" sz="132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5</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39943"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267" y="114300"/>
            <a:ext cx="1739265" cy="932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p:nvPr/>
        </p:nvPicPr>
        <p:blipFill>
          <a:blip r:embed="rId4"/>
          <a:srcRect/>
          <a:stretch>
            <a:fillRect/>
          </a:stretch>
        </p:blipFill>
        <p:spPr bwMode="auto">
          <a:xfrm>
            <a:off x="586740" y="992664"/>
            <a:ext cx="9052560" cy="6162516"/>
          </a:xfrm>
          <a:prstGeom prst="rect">
            <a:avLst/>
          </a:prstGeom>
          <a:noFill/>
          <a:ln w="9525">
            <a:noFill/>
            <a:miter lim="800000"/>
            <a:headEnd/>
            <a:tailEnd/>
          </a:ln>
        </p:spPr>
      </p:pic>
    </p:spTree>
    <p:extLst>
      <p:ext uri="{BB962C8B-B14F-4D97-AF65-F5344CB8AC3E}">
        <p14:creationId xmlns:p14="http://schemas.microsoft.com/office/powerpoint/2010/main" val="866721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508430815"/>
              </p:ext>
            </p:extLst>
          </p:nvPr>
        </p:nvGraphicFramePr>
        <p:xfrm>
          <a:off x="251460" y="963652"/>
          <a:ext cx="9555480" cy="6247688"/>
        </p:xfrm>
        <a:graphic>
          <a:graphicData uri="http://schemas.openxmlformats.org/drawingml/2006/table">
            <a:tbl>
              <a:tblPr firstRow="1" firstCol="1" bandRow="1">
                <a:tableStyleId>{5C22544A-7EE6-4342-B048-85BDC9FD1C3A}</a:tableStyleId>
              </a:tblPr>
              <a:tblGrid>
                <a:gridCol w="586740">
                  <a:extLst>
                    <a:ext uri="{9D8B030D-6E8A-4147-A177-3AD203B41FA5}">
                      <a16:colId xmlns:a16="http://schemas.microsoft.com/office/drawing/2014/main" val="3653803457"/>
                    </a:ext>
                  </a:extLst>
                </a:gridCol>
                <a:gridCol w="8968740">
                  <a:extLst>
                    <a:ext uri="{9D8B030D-6E8A-4147-A177-3AD203B41FA5}">
                      <a16:colId xmlns:a16="http://schemas.microsoft.com/office/drawing/2014/main" val="1504710162"/>
                    </a:ext>
                  </a:extLst>
                </a:gridCol>
              </a:tblGrid>
              <a:tr h="251840">
                <a:tc>
                  <a:txBody>
                    <a:bodyPr/>
                    <a:lstStyle/>
                    <a:p>
                      <a:pPr marL="0" marR="0">
                        <a:lnSpc>
                          <a:spcPct val="115000"/>
                        </a:lnSpc>
                        <a:spcBef>
                          <a:spcPts val="0"/>
                        </a:spcBef>
                        <a:spcAft>
                          <a:spcPts val="0"/>
                        </a:spcAft>
                      </a:pPr>
                      <a:r>
                        <a:rPr lang="en-US" sz="1300" dirty="0">
                          <a:effectLst/>
                        </a:rPr>
                        <a:t>Unit</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nSpc>
                          <a:spcPct val="115000"/>
                        </a:lnSpc>
                        <a:spcBef>
                          <a:spcPts val="0"/>
                        </a:spcBef>
                        <a:spcAft>
                          <a:spcPts val="0"/>
                        </a:spcAft>
                      </a:pPr>
                      <a:r>
                        <a:rPr lang="en-US" sz="1300">
                          <a:effectLst/>
                        </a:rPr>
                        <a:t>Topic</a:t>
                      </a:r>
                      <a:endParaRPr lang="en-US" sz="120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296037876"/>
                  </a:ext>
                </a:extLst>
              </a:tr>
              <a:tr h="1850746">
                <a:tc>
                  <a:txBody>
                    <a:bodyPr/>
                    <a:lstStyle/>
                    <a:p>
                      <a:pPr marL="0" marR="0" algn="just">
                        <a:lnSpc>
                          <a:spcPct val="115000"/>
                        </a:lnSpc>
                        <a:spcBef>
                          <a:spcPts val="0"/>
                        </a:spcBef>
                        <a:spcAft>
                          <a:spcPts val="0"/>
                        </a:spcAft>
                      </a:pPr>
                      <a:r>
                        <a:rPr lang="en-US" sz="1300" b="0">
                          <a:effectLst/>
                        </a:rPr>
                        <a:t>I </a:t>
                      </a:r>
                      <a:endParaRPr lang="en-US" sz="1200" b="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just">
                        <a:lnSpc>
                          <a:spcPct val="115000"/>
                        </a:lnSpc>
                        <a:spcBef>
                          <a:spcPts val="0"/>
                        </a:spcBef>
                        <a:spcAft>
                          <a:spcPts val="0"/>
                        </a:spcAft>
                      </a:pPr>
                      <a:r>
                        <a:rPr lang="en-US" sz="1800" b="0" kern="1200" dirty="0">
                          <a:solidFill>
                            <a:schemeClr val="dk1"/>
                          </a:solidFill>
                          <a:effectLst/>
                          <a:latin typeface="+mn-lt"/>
                          <a:ea typeface="+mn-ea"/>
                          <a:cs typeface="+mn-cs"/>
                        </a:rPr>
                        <a:t>Introductory Concepts: Goals and applications of networks, Categories of networks, Organization of the Internet, ISP, Network structure and architecture (layering principles, services, protocols and standards), The OSI reference model, TCP/IP protocol suite, Network devices and components. Physical Layer: Network topology design, Types of connections, Transmission media, Signal transmission and encoding, Network performance and transmission impairments, Switching techniques and multiplexing.</a:t>
                      </a:r>
                      <a:endParaRPr lang="en-US" sz="1800" b="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2369317437"/>
                  </a:ext>
                </a:extLst>
              </a:tr>
              <a:tr h="1233830">
                <a:tc>
                  <a:txBody>
                    <a:bodyPr/>
                    <a:lstStyle/>
                    <a:p>
                      <a:pPr marL="0" marR="0" algn="just">
                        <a:lnSpc>
                          <a:spcPct val="115000"/>
                        </a:lnSpc>
                        <a:spcBef>
                          <a:spcPts val="0"/>
                        </a:spcBef>
                        <a:spcAft>
                          <a:spcPts val="0"/>
                        </a:spcAft>
                      </a:pPr>
                      <a:r>
                        <a:rPr lang="en-US" sz="1300">
                          <a:effectLst/>
                        </a:rPr>
                        <a:t>II </a:t>
                      </a:r>
                      <a:endParaRPr lang="en-US" sz="1200">
                        <a:effectLst/>
                      </a:endParaRPr>
                    </a:p>
                    <a:p>
                      <a:pPr marL="0" marR="0" algn="just">
                        <a:lnSpc>
                          <a:spcPct val="115000"/>
                        </a:lnSpc>
                        <a:spcBef>
                          <a:spcPts val="0"/>
                        </a:spcBef>
                        <a:spcAft>
                          <a:spcPts val="0"/>
                        </a:spcAft>
                      </a:pPr>
                      <a:r>
                        <a:rPr lang="en-US" sz="1300">
                          <a:effectLst/>
                        </a:rPr>
                        <a:t> </a:t>
                      </a:r>
                      <a:endParaRPr lang="en-US" sz="120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just">
                        <a:lnSpc>
                          <a:spcPct val="115000"/>
                        </a:lnSpc>
                        <a:spcBef>
                          <a:spcPts val="0"/>
                        </a:spcBef>
                        <a:spcAft>
                          <a:spcPts val="0"/>
                        </a:spcAft>
                      </a:pPr>
                      <a:r>
                        <a:rPr lang="en-US" sz="1800" kern="1200" dirty="0">
                          <a:solidFill>
                            <a:schemeClr val="dk1"/>
                          </a:solidFill>
                          <a:effectLst/>
                          <a:latin typeface="+mn-lt"/>
                          <a:ea typeface="+mn-ea"/>
                          <a:cs typeface="+mn-cs"/>
                        </a:rPr>
                        <a:t>Link layer: Framing, Error Detection and Correction, Flow control (Elementary Data Link Protocols, Sliding Window protocols). Medium Access Control and Local Area Networks: Channel allocation, Multiple access protocols, LAN standards, Link layer switches &amp; bridges (learning bridge and spanning tree algorithms).</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3120622754"/>
                  </a:ext>
                </a:extLst>
              </a:tr>
              <a:tr h="925373">
                <a:tc>
                  <a:txBody>
                    <a:bodyPr/>
                    <a:lstStyle/>
                    <a:p>
                      <a:pPr marL="0" marR="0" algn="just">
                        <a:lnSpc>
                          <a:spcPct val="115000"/>
                        </a:lnSpc>
                        <a:spcBef>
                          <a:spcPts val="0"/>
                        </a:spcBef>
                        <a:spcAft>
                          <a:spcPts val="0"/>
                        </a:spcAft>
                      </a:pPr>
                      <a:r>
                        <a:rPr lang="en-US" sz="1300">
                          <a:effectLst/>
                        </a:rPr>
                        <a:t>III</a:t>
                      </a:r>
                      <a:endParaRPr lang="en-US" sz="120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just">
                        <a:lnSpc>
                          <a:spcPct val="115000"/>
                        </a:lnSpc>
                        <a:spcBef>
                          <a:spcPts val="0"/>
                        </a:spcBef>
                        <a:spcAft>
                          <a:spcPts val="0"/>
                        </a:spcAft>
                      </a:pPr>
                      <a:r>
                        <a:rPr lang="en-US" sz="1800" kern="1200" dirty="0">
                          <a:solidFill>
                            <a:schemeClr val="dk1"/>
                          </a:solidFill>
                          <a:effectLst/>
                          <a:latin typeface="+mn-lt"/>
                          <a:ea typeface="+mn-ea"/>
                          <a:cs typeface="+mn-cs"/>
                        </a:rPr>
                        <a:t>Network Layer: Point-to-point networks, Logical addressing, Basic internetworking (IP, CIDR, ARP, RARP, DHCP, ICMP), Routing, forwarding and delivery, Static and dynamic routing, Routing algorithms and protocols, Congestion control algorithms, IPv6.</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2870703379"/>
                  </a:ext>
                </a:extLst>
              </a:tr>
              <a:tr h="1022528">
                <a:tc>
                  <a:txBody>
                    <a:bodyPr/>
                    <a:lstStyle/>
                    <a:p>
                      <a:pPr marL="0" marR="0" algn="just">
                        <a:lnSpc>
                          <a:spcPct val="115000"/>
                        </a:lnSpc>
                        <a:spcBef>
                          <a:spcPts val="0"/>
                        </a:spcBef>
                        <a:spcAft>
                          <a:spcPts val="0"/>
                        </a:spcAft>
                      </a:pPr>
                      <a:r>
                        <a:rPr lang="en-US" sz="1300" b="0">
                          <a:effectLst/>
                        </a:rPr>
                        <a:t>IV </a:t>
                      </a:r>
                      <a:endParaRPr lang="en-US" sz="1200" b="0">
                        <a:effectLst/>
                      </a:endParaRPr>
                    </a:p>
                    <a:p>
                      <a:pPr marL="0" marR="0" algn="just">
                        <a:lnSpc>
                          <a:spcPct val="115000"/>
                        </a:lnSpc>
                        <a:spcBef>
                          <a:spcPts val="0"/>
                        </a:spcBef>
                        <a:spcAft>
                          <a:spcPts val="0"/>
                        </a:spcAft>
                      </a:pPr>
                      <a:r>
                        <a:rPr lang="en-US" sz="1300" b="0">
                          <a:effectLst/>
                        </a:rPr>
                        <a:t> </a:t>
                      </a:r>
                      <a:endParaRPr lang="en-US" sz="1200" b="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just">
                        <a:lnSpc>
                          <a:spcPct val="115000"/>
                        </a:lnSpc>
                        <a:spcBef>
                          <a:spcPts val="0"/>
                        </a:spcBef>
                        <a:spcAft>
                          <a:spcPts val="0"/>
                        </a:spcAft>
                      </a:pPr>
                      <a:r>
                        <a:rPr lang="en-US" sz="1800" b="0" kern="1200" dirty="0">
                          <a:solidFill>
                            <a:schemeClr val="dk1"/>
                          </a:solidFill>
                          <a:effectLst/>
                          <a:latin typeface="+mn-lt"/>
                          <a:ea typeface="+mn-ea"/>
                          <a:cs typeface="+mn-cs"/>
                        </a:rPr>
                        <a:t>Transport Layer: Process-to-process delivery, Transport layer protocols (UDP and TCP), Multiplexing, Connection management, Flow control and retransmission, Window management, TCP Congestion control, Quality of service.</a:t>
                      </a:r>
                      <a:endParaRPr lang="en-US" sz="1800" b="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2573241202"/>
                  </a:ext>
                </a:extLst>
              </a:tr>
              <a:tr h="925373">
                <a:tc>
                  <a:txBody>
                    <a:bodyPr/>
                    <a:lstStyle/>
                    <a:p>
                      <a:pPr marL="0" marR="0" algn="just">
                        <a:lnSpc>
                          <a:spcPct val="115000"/>
                        </a:lnSpc>
                        <a:spcBef>
                          <a:spcPts val="0"/>
                        </a:spcBef>
                        <a:spcAft>
                          <a:spcPts val="0"/>
                        </a:spcAft>
                      </a:pPr>
                      <a:r>
                        <a:rPr lang="en-US" sz="1300" b="1">
                          <a:effectLst/>
                        </a:rPr>
                        <a:t>V </a:t>
                      </a:r>
                      <a:endParaRPr lang="en-US" sz="1200" b="1">
                        <a:effectLst/>
                      </a:endParaRPr>
                    </a:p>
                    <a:p>
                      <a:pPr marL="0" marR="0" algn="just">
                        <a:lnSpc>
                          <a:spcPct val="115000"/>
                        </a:lnSpc>
                        <a:spcBef>
                          <a:spcPts val="0"/>
                        </a:spcBef>
                        <a:spcAft>
                          <a:spcPts val="0"/>
                        </a:spcAft>
                      </a:pPr>
                      <a:r>
                        <a:rPr lang="en-US" sz="1300" b="1">
                          <a:effectLst/>
                        </a:rPr>
                        <a:t> </a:t>
                      </a:r>
                      <a:endParaRPr lang="en-US" sz="1200" b="1">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just">
                        <a:lnSpc>
                          <a:spcPct val="115000"/>
                        </a:lnSpc>
                        <a:spcBef>
                          <a:spcPts val="0"/>
                        </a:spcBef>
                        <a:spcAft>
                          <a:spcPts val="0"/>
                        </a:spcAft>
                      </a:pPr>
                      <a:r>
                        <a:rPr lang="en-US" sz="1800" b="1" kern="1200" dirty="0">
                          <a:solidFill>
                            <a:schemeClr val="dk1"/>
                          </a:solidFill>
                          <a:effectLst/>
                          <a:latin typeface="+mn-lt"/>
                          <a:ea typeface="+mn-ea"/>
                          <a:cs typeface="+mn-cs"/>
                        </a:rPr>
                        <a:t>Application Layer: Domain Name System, World Wide Web and Hyper Text Transfer Protocol, Electronic mail, File Transfer Protocol, Remote login, Network management, Data compression, Cryptography – basic concepts.</a:t>
                      </a:r>
                      <a:endParaRPr lang="en-US" sz="1800" b="1"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3912995172"/>
                  </a:ext>
                </a:extLst>
              </a:tr>
            </a:tbl>
          </a:graphicData>
        </a:graphic>
      </p:graphicFrame>
      <p:sp>
        <p:nvSpPr>
          <p:cNvPr id="4" name="Date Placeholder 3"/>
          <p:cNvSpPr>
            <a:spLocks noGrp="1"/>
          </p:cNvSpPr>
          <p:nvPr>
            <p:ph type="dt" sz="half" idx="10"/>
          </p:nvPr>
        </p:nvSpPr>
        <p:spPr/>
        <p:txBody>
          <a:bodyPr/>
          <a:lstStyle/>
          <a:p>
            <a:fld id="{10E3C40E-22E0-46B2-AFB6-F3C01C4FD9CB}"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508760" y="114300"/>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algn="ctr" defTabSz="1005840">
              <a:spcBef>
                <a:spcPct val="0"/>
              </a:spcBef>
              <a:defRPr/>
            </a:pPr>
            <a:r>
              <a:rPr lang="en-US" sz="3300" dirty="0"/>
              <a:t>Syllabus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spTree>
    <p:extLst>
      <p:ext uri="{BB962C8B-B14F-4D97-AF65-F5344CB8AC3E}">
        <p14:creationId xmlns:p14="http://schemas.microsoft.com/office/powerpoint/2010/main" val="754126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p:cNvSpPr>
            <a:spLocks noGrp="1"/>
          </p:cNvSpPr>
          <p:nvPr>
            <p:ph type="dt" sz="quarter" idx="11"/>
          </p:nvPr>
        </p:nvSpPr>
        <p:spPr>
          <a:xfrm>
            <a:off x="-335280" y="7106285"/>
            <a:ext cx="3185160" cy="401638"/>
          </a:xfrm>
          <a:noFill/>
        </p:spPr>
        <p:txBody>
          <a:bodyPr/>
          <a:lstStyle/>
          <a:p>
            <a:pPr>
              <a:buFont typeface="Arial" pitchFamily="34" charset="0"/>
              <a:buNone/>
            </a:pPr>
            <a:fld id="{210A14F8-87FE-45B2-B233-1726F6D3A270}" type="datetime1">
              <a:rPr lang="en-US" smtClean="0"/>
              <a:t>4/29/2022</a:t>
            </a:fld>
            <a:endParaRPr lang="en-US" dirty="0"/>
          </a:p>
        </p:txBody>
      </p:sp>
      <p:sp>
        <p:nvSpPr>
          <p:cNvPr id="10244" name="Slide Number Placeholder 5"/>
          <p:cNvSpPr>
            <a:spLocks noGrp="1"/>
          </p:cNvSpPr>
          <p:nvPr>
            <p:ph type="sldNum" sz="quarter" idx="4294967295"/>
          </p:nvPr>
        </p:nvSpPr>
        <p:spPr>
          <a:xfrm>
            <a:off x="6845300" y="7106285"/>
            <a:ext cx="3185160" cy="401638"/>
          </a:xfrm>
          <a:prstGeom prst="rect">
            <a:avLst/>
          </a:prstGeom>
          <a:noFill/>
        </p:spPr>
        <p:txBody>
          <a:bodyPr/>
          <a:lstStyle/>
          <a:p>
            <a:pPr algn="ctr">
              <a:buSzPts val="1400"/>
              <a:buFont typeface="Arial" pitchFamily="34" charset="0"/>
              <a:buNone/>
            </a:pPr>
            <a:fld id="{C37AE07E-7BC9-49E1-822A-83DAB9ECD80E}" type="slidenum">
              <a:rPr lang="en-US" smtClean="0"/>
              <a:pPr algn="ctr">
                <a:buSzPts val="1400"/>
                <a:buFont typeface="Arial" pitchFamily="34" charset="0"/>
                <a:buNone/>
              </a:pPr>
              <a:t>7</a:t>
            </a:fld>
            <a:endParaRPr lang="en-US"/>
          </a:p>
        </p:txBody>
      </p:sp>
      <p:sp>
        <p:nvSpPr>
          <p:cNvPr id="7" name="Title 1"/>
          <p:cNvSpPr txBox="1">
            <a:spLocks/>
          </p:cNvSpPr>
          <p:nvPr/>
        </p:nvSpPr>
        <p:spPr>
          <a:xfrm>
            <a:off x="1676400" y="114300"/>
            <a:ext cx="8382000" cy="75438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300" dirty="0">
                <a:sym typeface="Arial" charset="0"/>
              </a:rPr>
              <a:t>Branch wise Applications</a:t>
            </a:r>
          </a:p>
        </p:txBody>
      </p:sp>
      <p:sp>
        <p:nvSpPr>
          <p:cNvPr id="10246" name="TextBox 7"/>
          <p:cNvSpPr txBox="1">
            <a:spLocks noChangeArrowheads="1"/>
          </p:cNvSpPr>
          <p:nvPr/>
        </p:nvSpPr>
        <p:spPr bwMode="auto">
          <a:xfrm>
            <a:off x="502920" y="1287780"/>
            <a:ext cx="9075262" cy="5221942"/>
          </a:xfrm>
          <a:prstGeom prst="rect">
            <a:avLst/>
          </a:prstGeom>
          <a:noFill/>
          <a:ln w="9525">
            <a:noFill/>
            <a:miter lim="800000"/>
            <a:headEnd/>
            <a:tailEnd/>
          </a:ln>
        </p:spPr>
        <p:txBody>
          <a:bodyPr wrap="square">
            <a:spAutoFit/>
          </a:bodyPr>
          <a:lstStyle/>
          <a:p>
            <a:pPr marL="502920" indent="-502920">
              <a:buFont typeface="Arial" panose="020B0604020202020204" pitchFamily="34" charset="0"/>
              <a:buChar char="•"/>
            </a:pPr>
            <a:r>
              <a:rPr lang="en-US" sz="3080" dirty="0"/>
              <a:t>Resource Sharing</a:t>
            </a:r>
          </a:p>
          <a:p>
            <a:pPr marL="502920" indent="-502920">
              <a:buFont typeface="Arial" panose="020B0604020202020204" pitchFamily="34" charset="0"/>
              <a:buChar char="•"/>
            </a:pPr>
            <a:r>
              <a:rPr lang="en-US" sz="3080" dirty="0"/>
              <a:t>Server-Client model:</a:t>
            </a:r>
          </a:p>
          <a:p>
            <a:pPr marL="502920" indent="-502920">
              <a:buFont typeface="Arial" panose="020B0604020202020204" pitchFamily="34" charset="0"/>
              <a:buChar char="•"/>
            </a:pPr>
            <a:r>
              <a:rPr lang="en-US" sz="3080" dirty="0"/>
              <a:t>Communication Medium:</a:t>
            </a:r>
          </a:p>
          <a:p>
            <a:pPr marL="502920" indent="-502920">
              <a:buFont typeface="Arial" panose="020B0604020202020204" pitchFamily="34" charset="0"/>
              <a:buChar char="•"/>
            </a:pPr>
            <a:r>
              <a:rPr lang="en-US" sz="3080" dirty="0"/>
              <a:t>Access to remote information</a:t>
            </a:r>
          </a:p>
          <a:p>
            <a:pPr marL="502920" indent="-502920">
              <a:buFont typeface="Arial" panose="020B0604020202020204" pitchFamily="34" charset="0"/>
              <a:buChar char="•"/>
            </a:pPr>
            <a:r>
              <a:rPr lang="en-US" sz="3080" dirty="0"/>
              <a:t>Person-to-person communication</a:t>
            </a:r>
          </a:p>
          <a:p>
            <a:pPr marL="502920" indent="-502920">
              <a:buFont typeface="Arial" panose="020B0604020202020204" pitchFamily="34" charset="0"/>
              <a:buChar char="•"/>
            </a:pPr>
            <a:r>
              <a:rPr lang="en-US" sz="3080" dirty="0"/>
              <a:t>Electronic commerce</a:t>
            </a:r>
          </a:p>
          <a:p>
            <a:pPr marL="502920" indent="-502920">
              <a:spcBef>
                <a:spcPts val="399"/>
              </a:spcBef>
              <a:spcAft>
                <a:spcPct val="0"/>
              </a:spcAft>
              <a:buClr>
                <a:srgbClr val="000000"/>
              </a:buClr>
              <a:buFont typeface="Arial" panose="020B0604020202020204" pitchFamily="34" charset="0"/>
              <a:buChar char="•"/>
            </a:pPr>
            <a:r>
              <a:rPr lang="en-US" sz="3080" dirty="0">
                <a:cs typeface="Times New Roman" pitchFamily="18" charset="0"/>
              </a:rPr>
              <a:t>Cloud-based Applications</a:t>
            </a:r>
          </a:p>
          <a:p>
            <a:pPr marL="502920" indent="-502920">
              <a:spcBef>
                <a:spcPct val="0"/>
              </a:spcBef>
              <a:buFont typeface="Arial" panose="020B0604020202020204" pitchFamily="34" charset="0"/>
              <a:buChar char="•"/>
            </a:pPr>
            <a:r>
              <a:rPr lang="en-US" sz="3080" dirty="0">
                <a:solidFill>
                  <a:srgbClr val="000000"/>
                </a:solidFill>
                <a:cs typeface="Times New Roman" panose="02020603050405020304" pitchFamily="18" charset="0"/>
              </a:rPr>
              <a:t>AI and Expert System</a:t>
            </a:r>
          </a:p>
          <a:p>
            <a:pPr marL="502920" indent="-502920">
              <a:spcBef>
                <a:spcPct val="0"/>
              </a:spcBef>
              <a:buFont typeface="Arial" panose="020B0604020202020204" pitchFamily="34" charset="0"/>
              <a:buChar char="•"/>
            </a:pPr>
            <a:r>
              <a:rPr lang="en-US" sz="3080" dirty="0">
                <a:solidFill>
                  <a:srgbClr val="000000"/>
                </a:solidFill>
                <a:cs typeface="Times New Roman" panose="02020603050405020304" pitchFamily="18" charset="0"/>
              </a:rPr>
              <a:t>Neural Networks and parallel programming</a:t>
            </a:r>
          </a:p>
          <a:p>
            <a:pPr marL="502920" indent="-502920">
              <a:spcBef>
                <a:spcPct val="0"/>
              </a:spcBef>
              <a:buFont typeface="Arial" panose="020B0604020202020204" pitchFamily="34" charset="0"/>
              <a:buChar char="•"/>
            </a:pPr>
            <a:r>
              <a:rPr lang="en-US" sz="3080" dirty="0">
                <a:solidFill>
                  <a:srgbClr val="000000"/>
                </a:solidFill>
                <a:cs typeface="Times New Roman" panose="02020603050405020304" pitchFamily="18" charset="0"/>
              </a:rPr>
              <a:t>Decision support and office automation systems etc.</a:t>
            </a:r>
          </a:p>
          <a:p>
            <a:endParaRPr lang="en-US" sz="2200" dirty="0"/>
          </a:p>
        </p:txBody>
      </p:sp>
    </p:spTree>
    <p:extLst>
      <p:ext uri="{BB962C8B-B14F-4D97-AF65-F5344CB8AC3E}">
        <p14:creationId xmlns:p14="http://schemas.microsoft.com/office/powerpoint/2010/main" val="2855127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6740" y="1371601"/>
            <a:ext cx="9052560" cy="4978559"/>
          </a:xfrm>
        </p:spPr>
        <p:txBody>
          <a:bodyPr>
            <a:normAutofit/>
          </a:bodyPr>
          <a:lstStyle/>
          <a:p>
            <a:pPr marL="0" indent="0">
              <a:buNone/>
            </a:pPr>
            <a:r>
              <a:rPr lang="en-US" dirty="0"/>
              <a:t>To develop an understanding of </a:t>
            </a:r>
          </a:p>
          <a:p>
            <a:pPr algn="just"/>
            <a:r>
              <a:rPr lang="en-US" dirty="0"/>
              <a:t>To understand computer networking basics</a:t>
            </a:r>
            <a:r>
              <a:rPr lang="en-US" b="1" dirty="0"/>
              <a:t>.</a:t>
            </a:r>
          </a:p>
          <a:p>
            <a:pPr algn="just"/>
            <a:r>
              <a:rPr lang="en-US" dirty="0"/>
              <a:t>To understand different components of computer networks.</a:t>
            </a:r>
          </a:p>
          <a:p>
            <a:pPr algn="just"/>
            <a:r>
              <a:rPr lang="en-US" dirty="0"/>
              <a:t>To study and understand various protocols.</a:t>
            </a:r>
          </a:p>
          <a:p>
            <a:pPr algn="just"/>
            <a:r>
              <a:rPr lang="en-US" dirty="0"/>
              <a:t>The standard models for the layered approach to communication between autonomous machines in a network.</a:t>
            </a:r>
          </a:p>
          <a:p>
            <a:pPr algn="just"/>
            <a:r>
              <a:rPr lang="en-US" b="1" dirty="0"/>
              <a:t>To study and understand the main characteristics of data transmission across various physical link types. </a:t>
            </a:r>
          </a:p>
        </p:txBody>
      </p:sp>
      <p:sp>
        <p:nvSpPr>
          <p:cNvPr id="4" name="Date Placeholder 3"/>
          <p:cNvSpPr>
            <a:spLocks noGrp="1"/>
          </p:cNvSpPr>
          <p:nvPr>
            <p:ph type="dt" sz="half" idx="10"/>
          </p:nvPr>
        </p:nvSpPr>
        <p:spPr/>
        <p:txBody>
          <a:bodyPr/>
          <a:lstStyle/>
          <a:p>
            <a:fld id="{8A8856B3-8278-4621-AA76-BFB97FAB9393}"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508760" y="114302"/>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algn="ctr" defTabSz="1005840">
              <a:spcBef>
                <a:spcPct val="0"/>
              </a:spcBef>
              <a:defRPr/>
            </a:pPr>
            <a:r>
              <a:rPr lang="en-US" sz="3300" dirty="0"/>
              <a:t>Course Objective</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spTree>
    <p:extLst>
      <p:ext uri="{BB962C8B-B14F-4D97-AF65-F5344CB8AC3E}">
        <p14:creationId xmlns:p14="http://schemas.microsoft.com/office/powerpoint/2010/main" val="2686046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83F373-82F0-49A5-9DB3-13841D0FC036}"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508760" y="114300"/>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algn="ctr" defTabSz="1005840">
              <a:spcBef>
                <a:spcPct val="0"/>
              </a:spcBef>
              <a:defRPr/>
            </a:pPr>
            <a:r>
              <a:rPr lang="en-US" sz="3300" dirty="0"/>
              <a:t>Course Outcome</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sp>
        <p:nvSpPr>
          <p:cNvPr id="3" name="TextBox 2"/>
          <p:cNvSpPr txBox="1"/>
          <p:nvPr/>
        </p:nvSpPr>
        <p:spPr>
          <a:xfrm>
            <a:off x="165222" y="987520"/>
            <a:ext cx="5773440" cy="430887"/>
          </a:xfrm>
          <a:prstGeom prst="rect">
            <a:avLst/>
          </a:prstGeom>
          <a:noFill/>
        </p:spPr>
        <p:txBody>
          <a:bodyPr wrap="none" rtlCol="0">
            <a:spAutoFit/>
          </a:bodyPr>
          <a:lstStyle/>
          <a:p>
            <a:r>
              <a:rPr lang="en-US" sz="2200" dirty="0"/>
              <a:t>At the end of the course, the student will be able</a:t>
            </a:r>
          </a:p>
        </p:txBody>
      </p:sp>
      <p:graphicFrame>
        <p:nvGraphicFramePr>
          <p:cNvPr id="5" name="Table 4">
            <a:extLst>
              <a:ext uri="{FF2B5EF4-FFF2-40B4-BE49-F238E27FC236}">
                <a16:creationId xmlns:a16="http://schemas.microsoft.com/office/drawing/2014/main" id="{17149DD7-4484-47EC-AD6C-757022E06522}"/>
              </a:ext>
            </a:extLst>
          </p:cNvPr>
          <p:cNvGraphicFramePr>
            <a:graphicFrameLocks noGrp="1"/>
          </p:cNvGraphicFramePr>
          <p:nvPr>
            <p:extLst>
              <p:ext uri="{D42A27DB-BD31-4B8C-83A1-F6EECF244321}">
                <p14:modId xmlns:p14="http://schemas.microsoft.com/office/powerpoint/2010/main" val="1063308249"/>
              </p:ext>
            </p:extLst>
          </p:nvPr>
        </p:nvGraphicFramePr>
        <p:xfrm>
          <a:off x="251460" y="1536307"/>
          <a:ext cx="9467601" cy="5562931"/>
        </p:xfrm>
        <a:graphic>
          <a:graphicData uri="http://schemas.openxmlformats.org/drawingml/2006/table">
            <a:tbl>
              <a:tblPr firstRow="1" firstCol="1" bandRow="1">
                <a:tableStyleId>{5C22544A-7EE6-4342-B048-85BDC9FD1C3A}</a:tableStyleId>
              </a:tblPr>
              <a:tblGrid>
                <a:gridCol w="1116291">
                  <a:extLst>
                    <a:ext uri="{9D8B030D-6E8A-4147-A177-3AD203B41FA5}">
                      <a16:colId xmlns:a16="http://schemas.microsoft.com/office/drawing/2014/main" val="1619956433"/>
                    </a:ext>
                  </a:extLst>
                </a:gridCol>
                <a:gridCol w="7024258">
                  <a:extLst>
                    <a:ext uri="{9D8B030D-6E8A-4147-A177-3AD203B41FA5}">
                      <a16:colId xmlns:a16="http://schemas.microsoft.com/office/drawing/2014/main" val="2417093939"/>
                    </a:ext>
                  </a:extLst>
                </a:gridCol>
                <a:gridCol w="1327052">
                  <a:extLst>
                    <a:ext uri="{9D8B030D-6E8A-4147-A177-3AD203B41FA5}">
                      <a16:colId xmlns:a16="http://schemas.microsoft.com/office/drawing/2014/main" val="3701425690"/>
                    </a:ext>
                  </a:extLst>
                </a:gridCol>
              </a:tblGrid>
              <a:tr h="824230">
                <a:tc gridSpan="2">
                  <a:txBody>
                    <a:bodyPr/>
                    <a:lstStyle/>
                    <a:p>
                      <a:pPr marL="0" marR="0" algn="just">
                        <a:lnSpc>
                          <a:spcPts val="1265"/>
                        </a:lnSpc>
                        <a:spcBef>
                          <a:spcPts val="0"/>
                        </a:spcBef>
                        <a:spcAft>
                          <a:spcPts val="1000"/>
                        </a:spcAft>
                      </a:pPr>
                      <a:r>
                        <a:rPr lang="en-US" sz="1500" dirty="0">
                          <a:effectLst/>
                        </a:rPr>
                        <a:t> </a:t>
                      </a:r>
                    </a:p>
                    <a:p>
                      <a:pPr marL="0" marR="0" algn="just">
                        <a:lnSpc>
                          <a:spcPts val="1265"/>
                        </a:lnSpc>
                        <a:spcBef>
                          <a:spcPts val="0"/>
                        </a:spcBef>
                        <a:spcAft>
                          <a:spcPts val="1000"/>
                        </a:spcAft>
                      </a:pPr>
                      <a:r>
                        <a:rPr lang="en-US" sz="1500" dirty="0">
                          <a:effectLst/>
                        </a:rPr>
                        <a:t>Course Outcomes (CO)</a:t>
                      </a:r>
                    </a:p>
                    <a:p>
                      <a:pPr marL="0" marR="0" algn="just">
                        <a:lnSpc>
                          <a:spcPts val="1265"/>
                        </a:lnSpc>
                        <a:spcBef>
                          <a:spcPts val="0"/>
                        </a:spcBef>
                        <a:spcAft>
                          <a:spcPts val="1000"/>
                        </a:spcAft>
                      </a:pPr>
                      <a:r>
                        <a:rPr lang="en-US" sz="1500" dirty="0">
                          <a:effectLst/>
                        </a:rPr>
                        <a:t> </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tc hMerge="1">
                  <a:txBody>
                    <a:bodyPr/>
                    <a:lstStyle/>
                    <a:p>
                      <a:endParaRPr lang="en-US"/>
                    </a:p>
                  </a:txBody>
                  <a:tcPr/>
                </a:tc>
                <a:tc>
                  <a:txBody>
                    <a:bodyPr/>
                    <a:lstStyle/>
                    <a:p>
                      <a:r>
                        <a:rPr lang="en-US" sz="1500" dirty="0">
                          <a:effectLst/>
                        </a:rPr>
                        <a:t>Bloom’s Knowledge Level (KL)</a:t>
                      </a:r>
                      <a:endParaRPr lang="en-US" sz="2200" dirty="0"/>
                    </a:p>
                  </a:txBody>
                  <a:tcPr marL="22284" marR="22284" marT="0" marB="0" anchor="ctr"/>
                </a:tc>
                <a:extLst>
                  <a:ext uri="{0D108BD9-81ED-4DB2-BD59-A6C34878D82A}">
                    <a16:rowId xmlns:a16="http://schemas.microsoft.com/office/drawing/2014/main" val="609850592"/>
                  </a:ext>
                </a:extLst>
              </a:tr>
              <a:tr h="1311794">
                <a:tc>
                  <a:txBody>
                    <a:bodyPr/>
                    <a:lstStyle/>
                    <a:p>
                      <a:pPr marL="0" marR="0">
                        <a:lnSpc>
                          <a:spcPts val="1265"/>
                        </a:lnSpc>
                        <a:spcBef>
                          <a:spcPts val="0"/>
                        </a:spcBef>
                        <a:spcAft>
                          <a:spcPts val="1000"/>
                        </a:spcAft>
                      </a:pPr>
                      <a:r>
                        <a:rPr lang="en-US" sz="1500" b="0" dirty="0">
                          <a:effectLst/>
                        </a:rPr>
                        <a:t>C603.1</a:t>
                      </a:r>
                      <a:endParaRPr lang="en-US" sz="1500" b="0"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nchor="ctr"/>
                </a:tc>
                <a:tc>
                  <a:txBody>
                    <a:bodyPr/>
                    <a:lstStyle/>
                    <a:p>
                      <a:pPr marL="0" marR="0" algn="just">
                        <a:lnSpc>
                          <a:spcPct val="115000"/>
                        </a:lnSpc>
                        <a:spcBef>
                          <a:spcPts val="0"/>
                        </a:spcBef>
                        <a:spcAft>
                          <a:spcPts val="1000"/>
                        </a:spcAft>
                      </a:pPr>
                      <a:r>
                        <a:rPr lang="en-US" sz="1500" b="0" dirty="0">
                          <a:effectLst/>
                        </a:rPr>
                        <a:t>Explain basic concepts, OSI reference model, services and role of each layer of OSI model and TCP/IP, networks devices and transmission media, Analog and digital data transmission</a:t>
                      </a:r>
                      <a:endParaRPr lang="en-US" sz="1500" b="0"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tc>
                  <a:txBody>
                    <a:bodyPr/>
                    <a:lstStyle/>
                    <a:p>
                      <a:pPr marL="0" marR="0" algn="just">
                        <a:lnSpc>
                          <a:spcPct val="115000"/>
                        </a:lnSpc>
                        <a:spcBef>
                          <a:spcPts val="0"/>
                        </a:spcBef>
                        <a:spcAft>
                          <a:spcPts val="1000"/>
                        </a:spcAft>
                      </a:pPr>
                      <a:r>
                        <a:rPr lang="en-US" sz="1500" b="0" dirty="0">
                          <a:effectLst/>
                        </a:rPr>
                        <a:t>K1, K2</a:t>
                      </a:r>
                      <a:endParaRPr lang="en-US" sz="1500" b="0"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extLst>
                  <a:ext uri="{0D108BD9-81ED-4DB2-BD59-A6C34878D82A}">
                    <a16:rowId xmlns:a16="http://schemas.microsoft.com/office/drawing/2014/main" val="3355778335"/>
                  </a:ext>
                </a:extLst>
              </a:tr>
              <a:tr h="560099">
                <a:tc>
                  <a:txBody>
                    <a:bodyPr/>
                    <a:lstStyle/>
                    <a:p>
                      <a:pPr marL="0" marR="0">
                        <a:lnSpc>
                          <a:spcPct val="115000"/>
                        </a:lnSpc>
                        <a:spcBef>
                          <a:spcPts val="0"/>
                        </a:spcBef>
                        <a:spcAft>
                          <a:spcPts val="1000"/>
                        </a:spcAft>
                      </a:pPr>
                      <a:r>
                        <a:rPr lang="en-US" sz="1500">
                          <a:effectLst/>
                        </a:rPr>
                        <a:t>C603.2</a:t>
                      </a:r>
                      <a:endParaRPr lang="en-US" sz="150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nchor="ctr"/>
                </a:tc>
                <a:tc>
                  <a:txBody>
                    <a:bodyPr/>
                    <a:lstStyle/>
                    <a:p>
                      <a:pPr marL="0" marR="0" algn="just">
                        <a:lnSpc>
                          <a:spcPct val="115000"/>
                        </a:lnSpc>
                        <a:spcBef>
                          <a:spcPts val="0"/>
                        </a:spcBef>
                        <a:spcAft>
                          <a:spcPts val="1000"/>
                        </a:spcAft>
                      </a:pPr>
                      <a:r>
                        <a:rPr lang="en-US" sz="1500" dirty="0">
                          <a:effectLst/>
                        </a:rPr>
                        <a:t>Apply channel allocation, framing, error and flow control techniques.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tc>
                  <a:txBody>
                    <a:bodyPr/>
                    <a:lstStyle/>
                    <a:p>
                      <a:pPr marL="0" marR="0" algn="just">
                        <a:lnSpc>
                          <a:spcPct val="115000"/>
                        </a:lnSpc>
                        <a:spcBef>
                          <a:spcPts val="0"/>
                        </a:spcBef>
                        <a:spcAft>
                          <a:spcPts val="1000"/>
                        </a:spcAft>
                      </a:pPr>
                      <a:r>
                        <a:rPr lang="en-US" sz="1500" dirty="0">
                          <a:effectLst/>
                        </a:rPr>
                        <a:t> K3</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extLst>
                  <a:ext uri="{0D108BD9-81ED-4DB2-BD59-A6C34878D82A}">
                    <a16:rowId xmlns:a16="http://schemas.microsoft.com/office/drawing/2014/main" val="1945834857"/>
                  </a:ext>
                </a:extLst>
              </a:tr>
              <a:tr h="685381">
                <a:tc>
                  <a:txBody>
                    <a:bodyPr/>
                    <a:lstStyle/>
                    <a:p>
                      <a:pPr marL="0" marR="0">
                        <a:lnSpc>
                          <a:spcPct val="115000"/>
                        </a:lnSpc>
                        <a:spcBef>
                          <a:spcPts val="0"/>
                        </a:spcBef>
                        <a:spcAft>
                          <a:spcPts val="1000"/>
                        </a:spcAft>
                      </a:pPr>
                      <a:r>
                        <a:rPr lang="en-US" sz="1500">
                          <a:effectLst/>
                        </a:rPr>
                        <a:t>C603.3</a:t>
                      </a:r>
                      <a:endParaRPr lang="en-US" sz="150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nchor="ctr"/>
                </a:tc>
                <a:tc>
                  <a:txBody>
                    <a:bodyPr/>
                    <a:lstStyle/>
                    <a:p>
                      <a:pPr marL="0" marR="0" algn="just">
                        <a:lnSpc>
                          <a:spcPct val="115000"/>
                        </a:lnSpc>
                        <a:spcBef>
                          <a:spcPts val="0"/>
                        </a:spcBef>
                        <a:spcAft>
                          <a:spcPts val="1000"/>
                        </a:spcAft>
                      </a:pPr>
                      <a:r>
                        <a:rPr lang="en-US" sz="1500">
                          <a:effectLst/>
                        </a:rPr>
                        <a:t>Describe the functions of Network Layer i.e. Logical addressing, subnetting &amp; Routing Mechanism</a:t>
                      </a:r>
                      <a:endParaRPr lang="en-US" sz="150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tc>
                  <a:txBody>
                    <a:bodyPr/>
                    <a:lstStyle/>
                    <a:p>
                      <a:pPr marL="0" marR="0" algn="just">
                        <a:lnSpc>
                          <a:spcPct val="115000"/>
                        </a:lnSpc>
                        <a:spcBef>
                          <a:spcPts val="0"/>
                        </a:spcBef>
                        <a:spcAft>
                          <a:spcPts val="1000"/>
                        </a:spcAft>
                      </a:pPr>
                      <a:r>
                        <a:rPr lang="en-US" sz="1500" dirty="0">
                          <a:effectLst/>
                        </a:rPr>
                        <a:t>K2, K3</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extLst>
                  <a:ext uri="{0D108BD9-81ED-4DB2-BD59-A6C34878D82A}">
                    <a16:rowId xmlns:a16="http://schemas.microsoft.com/office/drawing/2014/main" val="4286733592"/>
                  </a:ext>
                </a:extLst>
              </a:tr>
              <a:tr h="935947">
                <a:tc>
                  <a:txBody>
                    <a:bodyPr/>
                    <a:lstStyle/>
                    <a:p>
                      <a:pPr marL="0" marR="0">
                        <a:lnSpc>
                          <a:spcPct val="115000"/>
                        </a:lnSpc>
                        <a:spcBef>
                          <a:spcPts val="0"/>
                        </a:spcBef>
                        <a:spcAft>
                          <a:spcPts val="1000"/>
                        </a:spcAft>
                      </a:pPr>
                      <a:r>
                        <a:rPr lang="en-US" sz="1500" b="0">
                          <a:effectLst/>
                        </a:rPr>
                        <a:t>C603.4</a:t>
                      </a:r>
                      <a:endParaRPr lang="en-US" sz="1500" b="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nchor="ctr"/>
                </a:tc>
                <a:tc>
                  <a:txBody>
                    <a:bodyPr/>
                    <a:lstStyle/>
                    <a:p>
                      <a:pPr marL="0" marR="0" algn="just">
                        <a:lnSpc>
                          <a:spcPct val="115000"/>
                        </a:lnSpc>
                        <a:spcBef>
                          <a:spcPts val="0"/>
                        </a:spcBef>
                        <a:spcAft>
                          <a:spcPts val="1000"/>
                        </a:spcAft>
                      </a:pPr>
                      <a:r>
                        <a:rPr lang="en-US" sz="1500" b="0">
                          <a:effectLst/>
                        </a:rPr>
                        <a:t>Explain the different Transport Layer function i.e. Port addressing, Connection Management, Error control and Flow control mechanism.</a:t>
                      </a:r>
                      <a:endParaRPr lang="en-US" sz="1500" b="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tc>
                  <a:txBody>
                    <a:bodyPr/>
                    <a:lstStyle/>
                    <a:p>
                      <a:pPr marL="0" marR="0" algn="just">
                        <a:lnSpc>
                          <a:spcPct val="115000"/>
                        </a:lnSpc>
                        <a:spcBef>
                          <a:spcPts val="0"/>
                        </a:spcBef>
                        <a:spcAft>
                          <a:spcPts val="1000"/>
                        </a:spcAft>
                      </a:pPr>
                      <a:r>
                        <a:rPr lang="en-US" sz="1500" b="0" dirty="0">
                          <a:effectLst/>
                        </a:rPr>
                        <a:t>K2, K3</a:t>
                      </a:r>
                      <a:endParaRPr lang="en-US" sz="1500" b="0"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extLst>
                  <a:ext uri="{0D108BD9-81ED-4DB2-BD59-A6C34878D82A}">
                    <a16:rowId xmlns:a16="http://schemas.microsoft.com/office/drawing/2014/main" val="3135048432"/>
                  </a:ext>
                </a:extLst>
              </a:tr>
              <a:tr h="560099">
                <a:tc>
                  <a:txBody>
                    <a:bodyPr/>
                    <a:lstStyle/>
                    <a:p>
                      <a:pPr marL="0" marR="0">
                        <a:lnSpc>
                          <a:spcPct val="115000"/>
                        </a:lnSpc>
                        <a:spcBef>
                          <a:spcPts val="0"/>
                        </a:spcBef>
                        <a:spcAft>
                          <a:spcPts val="1000"/>
                        </a:spcAft>
                      </a:pPr>
                      <a:r>
                        <a:rPr lang="en-US" sz="1500" b="1">
                          <a:effectLst/>
                        </a:rPr>
                        <a:t>C603.5</a:t>
                      </a:r>
                      <a:endParaRPr lang="en-US" sz="1500" b="1">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nchor="ctr"/>
                </a:tc>
                <a:tc>
                  <a:txBody>
                    <a:bodyPr/>
                    <a:lstStyle/>
                    <a:p>
                      <a:pPr marL="0" marR="0" algn="just">
                        <a:lnSpc>
                          <a:spcPct val="115000"/>
                        </a:lnSpc>
                        <a:spcBef>
                          <a:spcPts val="0"/>
                        </a:spcBef>
                        <a:spcAft>
                          <a:spcPts val="600"/>
                        </a:spcAft>
                      </a:pPr>
                      <a:r>
                        <a:rPr lang="en-US" sz="1500" b="1">
                          <a:effectLst/>
                        </a:rPr>
                        <a:t>Explain the functions offered by session and presentation layer and their Implementation.</a:t>
                      </a:r>
                      <a:endParaRPr lang="en-US" sz="1500" b="1">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tc>
                  <a:txBody>
                    <a:bodyPr/>
                    <a:lstStyle/>
                    <a:p>
                      <a:pPr marL="0" marR="0">
                        <a:lnSpc>
                          <a:spcPct val="115000"/>
                        </a:lnSpc>
                        <a:spcBef>
                          <a:spcPts val="0"/>
                        </a:spcBef>
                        <a:spcAft>
                          <a:spcPts val="1000"/>
                        </a:spcAft>
                      </a:pPr>
                      <a:r>
                        <a:rPr lang="en-US" sz="1500" b="1" dirty="0">
                          <a:effectLst/>
                        </a:rPr>
                        <a:t>K2, K3</a:t>
                      </a:r>
                      <a:endParaRPr lang="en-US" sz="1500" b="1"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extLst>
                  <a:ext uri="{0D108BD9-81ED-4DB2-BD59-A6C34878D82A}">
                    <a16:rowId xmlns:a16="http://schemas.microsoft.com/office/drawing/2014/main" val="3110489644"/>
                  </a:ext>
                </a:extLst>
              </a:tr>
              <a:tr h="685381">
                <a:tc>
                  <a:txBody>
                    <a:bodyPr/>
                    <a:lstStyle/>
                    <a:p>
                      <a:pPr marL="0" marR="0">
                        <a:lnSpc>
                          <a:spcPct val="115000"/>
                        </a:lnSpc>
                        <a:spcBef>
                          <a:spcPts val="0"/>
                        </a:spcBef>
                        <a:spcAft>
                          <a:spcPts val="1000"/>
                        </a:spcAft>
                      </a:pPr>
                      <a:r>
                        <a:rPr lang="en-US" sz="1500" b="1">
                          <a:effectLst/>
                        </a:rPr>
                        <a:t>C603.6</a:t>
                      </a:r>
                      <a:endParaRPr lang="en-US" sz="1500" b="1">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nchor="ctr"/>
                </a:tc>
                <a:tc>
                  <a:txBody>
                    <a:bodyPr/>
                    <a:lstStyle/>
                    <a:p>
                      <a:pPr marL="0" marR="0" algn="just">
                        <a:lnSpc>
                          <a:spcPct val="115000"/>
                        </a:lnSpc>
                        <a:spcBef>
                          <a:spcPts val="0"/>
                        </a:spcBef>
                        <a:spcAft>
                          <a:spcPts val="600"/>
                        </a:spcAft>
                      </a:pPr>
                      <a:r>
                        <a:rPr lang="en-US" sz="1500" b="1" dirty="0">
                          <a:effectLst/>
                        </a:rPr>
                        <a:t>Explain the different protocols used at application layer i.e. HTTP, SNMP, SMTP, FTP, TELNET and VPN.</a:t>
                      </a:r>
                      <a:endParaRPr lang="en-US" sz="1500" b="1"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tc>
                  <a:txBody>
                    <a:bodyPr/>
                    <a:lstStyle/>
                    <a:p>
                      <a:pPr marL="0" marR="0">
                        <a:lnSpc>
                          <a:spcPct val="115000"/>
                        </a:lnSpc>
                        <a:spcBef>
                          <a:spcPts val="0"/>
                        </a:spcBef>
                        <a:spcAft>
                          <a:spcPts val="1000"/>
                        </a:spcAft>
                      </a:pPr>
                      <a:r>
                        <a:rPr lang="en-US" sz="1500" b="1" dirty="0">
                          <a:effectLst/>
                        </a:rPr>
                        <a:t>K2</a:t>
                      </a:r>
                      <a:endParaRPr lang="en-US" sz="1500" b="1" dirty="0">
                        <a:effectLst/>
                        <a:latin typeface="Calibri" panose="020F0502020204030204" pitchFamily="34" charset="0"/>
                        <a:ea typeface="Calibri" panose="020F0502020204030204" pitchFamily="34" charset="0"/>
                        <a:cs typeface="Mangal" panose="02040503050203030202" pitchFamily="18" charset="0"/>
                      </a:endParaRPr>
                    </a:p>
                  </a:txBody>
                  <a:tcPr marL="22284" marR="22284" marT="0" marB="0"/>
                </a:tc>
                <a:extLst>
                  <a:ext uri="{0D108BD9-81ED-4DB2-BD59-A6C34878D82A}">
                    <a16:rowId xmlns:a16="http://schemas.microsoft.com/office/drawing/2014/main" val="458386191"/>
                  </a:ext>
                </a:extLst>
              </a:tr>
            </a:tbl>
          </a:graphicData>
        </a:graphic>
      </p:graphicFrame>
      <p:sp>
        <p:nvSpPr>
          <p:cNvPr id="9" name="Ink 12">
            <a:extLst>
              <a:ext uri="{FF2B5EF4-FFF2-40B4-BE49-F238E27FC236}">
                <a16:creationId xmlns:a16="http://schemas.microsoft.com/office/drawing/2014/main" id="{569A3245-6708-47A4-B159-0F991CA6955B}"/>
              </a:ext>
            </a:extLst>
          </p:cNvPr>
          <p:cNvSpPr>
            <a:spLocks noRot="1" noChangeAspect="1" noEditPoints="1" noChangeArrowheads="1" noChangeShapeType="1" noTextEdit="1"/>
          </p:cNvSpPr>
          <p:nvPr/>
        </p:nvSpPr>
        <p:spPr bwMode="auto">
          <a:xfrm>
            <a:off x="4726200" y="1886399"/>
            <a:ext cx="86474" cy="20955"/>
          </a:xfrm>
          <a:prstGeom prst="rect">
            <a:avLst/>
          </a:prstGeom>
          <a:noFill/>
          <a:ln w="18000" cap="rnd" algn="ctr">
            <a:solidFill>
              <a:srgbClr val="000000"/>
            </a:solidFill>
            <a:miter lim="800000"/>
            <a:headEnd/>
            <a:tailEnd/>
          </a:ln>
          <a:extLst>
            <a:ext uri="{909E8E84-426E-40DD-AFC4-6F175D3DCCD1}">
              <a14:hiddenFill xmlns:a14="http://schemas.microsoft.com/office/drawing/2010/main">
                <a:noFill/>
              </a14:hiddenFill>
            </a:ext>
          </a:extLst>
        </p:spPr>
        <p:txBody>
          <a:bodyPr vert="horz" wrap="square" lIns="100584" tIns="50292" rIns="100584" bIns="50292" numCol="1" anchor="t" anchorCtr="0" compatLnSpc="1">
            <a:prstTxWarp prst="textNoShape">
              <a:avLst/>
            </a:prstTxWarp>
          </a:bodyPr>
          <a:lstStyle/>
          <a:p>
            <a:endParaRPr lang="en-US" sz="1980"/>
          </a:p>
        </p:txBody>
      </p:sp>
    </p:spTree>
    <p:extLst>
      <p:ext uri="{BB962C8B-B14F-4D97-AF65-F5344CB8AC3E}">
        <p14:creationId xmlns:p14="http://schemas.microsoft.com/office/powerpoint/2010/main" val="3129792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7100253" y="7106285"/>
            <a:ext cx="3185160" cy="401638"/>
          </a:xfrm>
          <a:prstGeom prst="rect">
            <a:avLst/>
          </a:prstGeom>
        </p:spPr>
        <p:txBody>
          <a:bodyPr/>
          <a:lstStyle/>
          <a:p>
            <a:pPr marL="41910" algn="ctr">
              <a:buSzPts val="1400"/>
              <a:defRPr/>
            </a:pPr>
            <a:fld id="{BB683F2C-7975-43FF-956B-FFB87A0E5681}" type="slidenum">
              <a:rPr lang="en-US" spc="-6"/>
              <a:pPr marL="41910" algn="ctr">
                <a:buSzPts val="1400"/>
                <a:defRPr/>
              </a:pPr>
              <a:t>10</a:t>
            </a:fld>
            <a:endParaRPr lang="en-US" spc="-6" dirty="0"/>
          </a:p>
        </p:txBody>
      </p:sp>
      <p:sp>
        <p:nvSpPr>
          <p:cNvPr id="3" name="object 7"/>
          <p:cNvSpPr txBox="1">
            <a:spLocks noChangeArrowheads="1"/>
          </p:cNvSpPr>
          <p:nvPr/>
        </p:nvSpPr>
        <p:spPr bwMode="auto">
          <a:xfrm>
            <a:off x="586740" y="1072992"/>
            <a:ext cx="9136380" cy="6107378"/>
          </a:xfrm>
          <a:prstGeom prst="rect">
            <a:avLst/>
          </a:prstGeom>
          <a:noFill/>
          <a:ln w="9525">
            <a:noFill/>
            <a:miter lim="800000"/>
            <a:headEnd/>
            <a:tailEnd/>
          </a:ln>
        </p:spPr>
        <p:txBody>
          <a:bodyPr lIns="0" tIns="13272" rIns="0" bIns="0">
            <a:spAutoFit/>
          </a:bodyPr>
          <a:lstStyle/>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1. Engineering knowledge</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2. Problem analysis</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3. Design/development of solutions</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4. Conduct investigations of complex problems</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5. Modern tool usage</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6. The engineer and society</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7. Environment and sustainability </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8. Ethics</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9. Individual and team work </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10. Communication</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11. Project management and finance </a:t>
            </a:r>
          </a:p>
          <a:p>
            <a:pPr marL="13970">
              <a:lnSpc>
                <a:spcPct val="150000"/>
              </a:lnSpc>
              <a:buClr>
                <a:srgbClr val="0AD0D9"/>
              </a:buClr>
              <a:buSzPct val="95000"/>
              <a:tabLst>
                <a:tab pos="314325" algn="l"/>
              </a:tabLst>
            </a:pPr>
            <a:r>
              <a:rPr lang="en-US" sz="2200" dirty="0">
                <a:latin typeface="Times New Roman" pitchFamily="18" charset="0"/>
                <a:cs typeface="Times New Roman" pitchFamily="18" charset="0"/>
              </a:rPr>
              <a:t>12. Life-long learning</a:t>
            </a:r>
          </a:p>
        </p:txBody>
      </p:sp>
      <p:sp>
        <p:nvSpPr>
          <p:cNvPr id="14340" name="Date Placeholder 4"/>
          <p:cNvSpPr>
            <a:spLocks noGrp="1"/>
          </p:cNvSpPr>
          <p:nvPr>
            <p:ph type="dt" sz="quarter" idx="11"/>
          </p:nvPr>
        </p:nvSpPr>
        <p:spPr>
          <a:xfrm>
            <a:off x="-335280" y="7106285"/>
            <a:ext cx="3185160" cy="401638"/>
          </a:xfrm>
          <a:noFill/>
        </p:spPr>
        <p:txBody>
          <a:bodyPr/>
          <a:lstStyle/>
          <a:p>
            <a:pPr>
              <a:buFont typeface="Arial" pitchFamily="34" charset="0"/>
              <a:buNone/>
            </a:pPr>
            <a:fld id="{7F64B7D3-F6C2-48CB-896A-3B67B3862EB8}" type="datetime1">
              <a:rPr lang="en-US" smtClean="0"/>
              <a:t>4/29/2022</a:t>
            </a:fld>
            <a:endParaRPr lang="en-US" dirty="0"/>
          </a:p>
        </p:txBody>
      </p:sp>
      <p:sp>
        <p:nvSpPr>
          <p:cNvPr id="11" name="Title 1"/>
          <p:cNvSpPr txBox="1">
            <a:spLocks/>
          </p:cNvSpPr>
          <p:nvPr/>
        </p:nvSpPr>
        <p:spPr>
          <a:xfrm>
            <a:off x="1508760" y="58420"/>
            <a:ext cx="8549640" cy="75438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80" dirty="0"/>
              <a:t>Program Outcome</a:t>
            </a:r>
          </a:p>
        </p:txBody>
      </p:sp>
    </p:spTree>
    <p:extLst>
      <p:ext uri="{BB962C8B-B14F-4D97-AF65-F5344CB8AC3E}">
        <p14:creationId xmlns:p14="http://schemas.microsoft.com/office/powerpoint/2010/main" val="101301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1000"/>
                                        <p:tgtEl>
                                          <p:spTgt spid="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1000"/>
                                        <p:tgtEl>
                                          <p:spTgt spid="3">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ox(in)">
                                      <p:cBhvr>
                                        <p:cTn id="13" dur="1000"/>
                                        <p:tgtEl>
                                          <p:spTgt spid="3">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ox(in)">
                                      <p:cBhvr>
                                        <p:cTn id="16" dur="1000"/>
                                        <p:tgtEl>
                                          <p:spTgt spid="3">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ox(in)">
                                      <p:cBhvr>
                                        <p:cTn id="19" dur="1000"/>
                                        <p:tgtEl>
                                          <p:spTgt spid="3">
                                            <p:txEl>
                                              <p:pRg st="4" end="4"/>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1000"/>
                                        <p:tgtEl>
                                          <p:spTgt spid="3">
                                            <p:txEl>
                                              <p:pRg st="5" end="5"/>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box(in)">
                                      <p:cBhvr>
                                        <p:cTn id="25" dur="1000"/>
                                        <p:tgtEl>
                                          <p:spTgt spid="3">
                                            <p:txEl>
                                              <p:pRg st="6" end="6"/>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box(in)">
                                      <p:cBhvr>
                                        <p:cTn id="28" dur="1000"/>
                                        <p:tgtEl>
                                          <p:spTgt spid="3">
                                            <p:txEl>
                                              <p:pRg st="7" end="7"/>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ox(in)">
                                      <p:cBhvr>
                                        <p:cTn id="31" dur="1000"/>
                                        <p:tgtEl>
                                          <p:spTgt spid="3">
                                            <p:txEl>
                                              <p:pRg st="8" end="8"/>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box(in)">
                                      <p:cBhvr>
                                        <p:cTn id="34" dur="1000"/>
                                        <p:tgtEl>
                                          <p:spTgt spid="3">
                                            <p:txEl>
                                              <p:pRg st="9" end="9"/>
                                            </p:txEl>
                                          </p:spTgt>
                                        </p:tgtEl>
                                      </p:cBhvr>
                                    </p:animEffect>
                                  </p:childTnLst>
                                </p:cTn>
                              </p:par>
                              <p:par>
                                <p:cTn id="35" presetID="4" presetClass="entr" presetSubtype="16"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box(in)">
                                      <p:cBhvr>
                                        <p:cTn id="37" dur="1000"/>
                                        <p:tgtEl>
                                          <p:spTgt spid="3">
                                            <p:txEl>
                                              <p:pRg st="10" end="10"/>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box(in)">
                                      <p:cBhvr>
                                        <p:cTn id="40" dur="1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4C8DD6-221B-45FA-8836-EBAA86F7B4AD}"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508760" y="114300"/>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algn="ctr" defTabSz="1005840">
              <a:spcBef>
                <a:spcPct val="0"/>
              </a:spcBef>
              <a:defRPr/>
            </a:pPr>
            <a:r>
              <a:rPr lang="en-US" sz="3300" dirty="0"/>
              <a:t>CO-PO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sp>
        <p:nvSpPr>
          <p:cNvPr id="3" name="Rectangle 2"/>
          <p:cNvSpPr/>
          <p:nvPr/>
        </p:nvSpPr>
        <p:spPr>
          <a:xfrm>
            <a:off x="335280" y="1121536"/>
            <a:ext cx="9220200" cy="837152"/>
          </a:xfrm>
          <a:prstGeom prst="rect">
            <a:avLst/>
          </a:prstGeom>
        </p:spPr>
        <p:txBody>
          <a:bodyPr wrap="square">
            <a:spAutoFit/>
          </a:bodyPr>
          <a:lstStyle/>
          <a:p>
            <a:r>
              <a:rPr lang="en-US" sz="2420" dirty="0"/>
              <a:t>The highlighted text shows the mapping of course outcome with PO mapping of this unit</a:t>
            </a:r>
          </a:p>
        </p:txBody>
      </p:sp>
      <p:graphicFrame>
        <p:nvGraphicFramePr>
          <p:cNvPr id="5" name="Table 4">
            <a:extLst>
              <a:ext uri="{FF2B5EF4-FFF2-40B4-BE49-F238E27FC236}">
                <a16:creationId xmlns:a16="http://schemas.microsoft.com/office/drawing/2014/main" id="{92A2E854-38C1-42E3-87DB-0E6B83F78F43}"/>
              </a:ext>
            </a:extLst>
          </p:cNvPr>
          <p:cNvGraphicFramePr>
            <a:graphicFrameLocks noGrp="1"/>
          </p:cNvGraphicFramePr>
          <p:nvPr>
            <p:extLst>
              <p:ext uri="{D42A27DB-BD31-4B8C-83A1-F6EECF244321}">
                <p14:modId xmlns:p14="http://schemas.microsoft.com/office/powerpoint/2010/main" val="1907055735"/>
              </p:ext>
            </p:extLst>
          </p:nvPr>
        </p:nvGraphicFramePr>
        <p:xfrm>
          <a:off x="502920" y="2220778"/>
          <a:ext cx="9052568" cy="4015580"/>
        </p:xfrm>
        <a:graphic>
          <a:graphicData uri="http://schemas.openxmlformats.org/drawingml/2006/table">
            <a:tbl>
              <a:tblPr>
                <a:tableStyleId>{5C22544A-7EE6-4342-B048-85BDC9FD1C3A}</a:tableStyleId>
              </a:tblPr>
              <a:tblGrid>
                <a:gridCol w="906524">
                  <a:extLst>
                    <a:ext uri="{9D8B030D-6E8A-4147-A177-3AD203B41FA5}">
                      <a16:colId xmlns:a16="http://schemas.microsoft.com/office/drawing/2014/main" val="2876465"/>
                    </a:ext>
                  </a:extLst>
                </a:gridCol>
                <a:gridCol w="637556">
                  <a:extLst>
                    <a:ext uri="{9D8B030D-6E8A-4147-A177-3AD203B41FA5}">
                      <a16:colId xmlns:a16="http://schemas.microsoft.com/office/drawing/2014/main" val="3309866898"/>
                    </a:ext>
                  </a:extLst>
                </a:gridCol>
                <a:gridCol w="637556">
                  <a:extLst>
                    <a:ext uri="{9D8B030D-6E8A-4147-A177-3AD203B41FA5}">
                      <a16:colId xmlns:a16="http://schemas.microsoft.com/office/drawing/2014/main" val="604357778"/>
                    </a:ext>
                  </a:extLst>
                </a:gridCol>
                <a:gridCol w="637556">
                  <a:extLst>
                    <a:ext uri="{9D8B030D-6E8A-4147-A177-3AD203B41FA5}">
                      <a16:colId xmlns:a16="http://schemas.microsoft.com/office/drawing/2014/main" val="404532838"/>
                    </a:ext>
                  </a:extLst>
                </a:gridCol>
                <a:gridCol w="637556">
                  <a:extLst>
                    <a:ext uri="{9D8B030D-6E8A-4147-A177-3AD203B41FA5}">
                      <a16:colId xmlns:a16="http://schemas.microsoft.com/office/drawing/2014/main" val="2816727184"/>
                    </a:ext>
                  </a:extLst>
                </a:gridCol>
                <a:gridCol w="637556">
                  <a:extLst>
                    <a:ext uri="{9D8B030D-6E8A-4147-A177-3AD203B41FA5}">
                      <a16:colId xmlns:a16="http://schemas.microsoft.com/office/drawing/2014/main" val="350641593"/>
                    </a:ext>
                  </a:extLst>
                </a:gridCol>
                <a:gridCol w="637556">
                  <a:extLst>
                    <a:ext uri="{9D8B030D-6E8A-4147-A177-3AD203B41FA5}">
                      <a16:colId xmlns:a16="http://schemas.microsoft.com/office/drawing/2014/main" val="820382517"/>
                    </a:ext>
                  </a:extLst>
                </a:gridCol>
                <a:gridCol w="637556">
                  <a:extLst>
                    <a:ext uri="{9D8B030D-6E8A-4147-A177-3AD203B41FA5}">
                      <a16:colId xmlns:a16="http://schemas.microsoft.com/office/drawing/2014/main" val="3001624649"/>
                    </a:ext>
                  </a:extLst>
                </a:gridCol>
                <a:gridCol w="637556">
                  <a:extLst>
                    <a:ext uri="{9D8B030D-6E8A-4147-A177-3AD203B41FA5}">
                      <a16:colId xmlns:a16="http://schemas.microsoft.com/office/drawing/2014/main" val="1212302725"/>
                    </a:ext>
                  </a:extLst>
                </a:gridCol>
                <a:gridCol w="637556">
                  <a:extLst>
                    <a:ext uri="{9D8B030D-6E8A-4147-A177-3AD203B41FA5}">
                      <a16:colId xmlns:a16="http://schemas.microsoft.com/office/drawing/2014/main" val="1447834389"/>
                    </a:ext>
                  </a:extLst>
                </a:gridCol>
                <a:gridCol w="759814">
                  <a:extLst>
                    <a:ext uri="{9D8B030D-6E8A-4147-A177-3AD203B41FA5}">
                      <a16:colId xmlns:a16="http://schemas.microsoft.com/office/drawing/2014/main" val="3072358136"/>
                    </a:ext>
                  </a:extLst>
                </a:gridCol>
                <a:gridCol w="759814">
                  <a:extLst>
                    <a:ext uri="{9D8B030D-6E8A-4147-A177-3AD203B41FA5}">
                      <a16:colId xmlns:a16="http://schemas.microsoft.com/office/drawing/2014/main" val="65430144"/>
                    </a:ext>
                  </a:extLst>
                </a:gridCol>
                <a:gridCol w="888412">
                  <a:extLst>
                    <a:ext uri="{9D8B030D-6E8A-4147-A177-3AD203B41FA5}">
                      <a16:colId xmlns:a16="http://schemas.microsoft.com/office/drawing/2014/main" val="797170723"/>
                    </a:ext>
                  </a:extLst>
                </a:gridCol>
              </a:tblGrid>
              <a:tr h="472882">
                <a:tc gridSpan="9">
                  <a:txBody>
                    <a:bodyPr/>
                    <a:lstStyle/>
                    <a:p>
                      <a:pPr marL="0" marR="0" algn="ctr">
                        <a:lnSpc>
                          <a:spcPct val="115000"/>
                        </a:lnSpc>
                        <a:spcBef>
                          <a:spcPts val="0"/>
                        </a:spcBef>
                        <a:spcAft>
                          <a:spcPts val="1000"/>
                        </a:spcAft>
                      </a:pPr>
                      <a:r>
                        <a:rPr lang="en-US" sz="2200" b="1" dirty="0">
                          <a:effectLst/>
                        </a:rPr>
                        <a:t>                                       </a:t>
                      </a:r>
                      <a:r>
                        <a:rPr lang="en-US" sz="2000" b="1" dirty="0">
                          <a:effectLst/>
                        </a:rPr>
                        <a:t>Computer Networks (KCS-603)</a:t>
                      </a:r>
                      <a:endParaRPr lang="en-US" sz="20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algn="ctr">
                        <a:lnSpc>
                          <a:spcPct val="115000"/>
                        </a:lnSpc>
                        <a:spcBef>
                          <a:spcPts val="0"/>
                        </a:spcBef>
                        <a:spcAft>
                          <a:spcPts val="1000"/>
                        </a:spcAft>
                      </a:pPr>
                      <a:r>
                        <a:rPr lang="en-US" sz="2000" b="1" dirty="0">
                          <a:effectLst/>
                        </a:rPr>
                        <a:t>Year of Study: 2021-22</a:t>
                      </a:r>
                      <a:endParaRPr lang="en-US" sz="20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1222877"/>
                  </a:ext>
                </a:extLst>
              </a:tr>
              <a:tr h="424652">
                <a:tc>
                  <a:txBody>
                    <a:bodyPr/>
                    <a:lstStyle/>
                    <a:p>
                      <a:pPr marL="0" marR="0">
                        <a:lnSpc>
                          <a:spcPct val="115000"/>
                        </a:lnSpc>
                        <a:spcBef>
                          <a:spcPts val="0"/>
                        </a:spcBef>
                        <a:spcAft>
                          <a:spcPts val="1000"/>
                        </a:spcAft>
                      </a:pPr>
                      <a:r>
                        <a:rPr lang="en-US" sz="2000" b="1" dirty="0">
                          <a:effectLst/>
                        </a:rPr>
                        <a:t>CO</a:t>
                      </a: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dirty="0">
                          <a:effectLst/>
                        </a:rPr>
                        <a:t>PO1</a:t>
                      </a: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dirty="0">
                          <a:effectLst/>
                        </a:rPr>
                        <a:t>PO2</a:t>
                      </a: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dirty="0">
                          <a:effectLst/>
                        </a:rPr>
                        <a:t>PO3 </a:t>
                      </a: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dirty="0">
                          <a:effectLst/>
                        </a:rPr>
                        <a:t>PO4</a:t>
                      </a: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PO5</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PO6</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PO7</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PO8</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PO9</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PO10</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PO11</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PO12</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extLst>
                  <a:ext uri="{0D108BD9-81ED-4DB2-BD59-A6C34878D82A}">
                    <a16:rowId xmlns:a16="http://schemas.microsoft.com/office/drawing/2014/main" val="713021920"/>
                  </a:ext>
                </a:extLst>
              </a:tr>
              <a:tr h="424652">
                <a:tc>
                  <a:txBody>
                    <a:bodyPr/>
                    <a:lstStyle/>
                    <a:p>
                      <a:pPr marL="0" marR="0">
                        <a:lnSpc>
                          <a:spcPct val="115000"/>
                        </a:lnSpc>
                        <a:spcBef>
                          <a:spcPts val="0"/>
                        </a:spcBef>
                        <a:spcAft>
                          <a:spcPts val="1000"/>
                        </a:spcAft>
                      </a:pPr>
                      <a:r>
                        <a:rPr lang="en-US" sz="2000" b="1" dirty="0">
                          <a:solidFill>
                            <a:schemeClr val="tx1"/>
                          </a:solidFill>
                          <a:effectLst/>
                        </a:rPr>
                        <a:t>C603.1</a:t>
                      </a:r>
                      <a:endParaRPr lang="en-US" sz="31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3</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2</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3</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2</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1</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1</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 </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 </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2</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3</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extLst>
                  <a:ext uri="{0D108BD9-81ED-4DB2-BD59-A6C34878D82A}">
                    <a16:rowId xmlns:a16="http://schemas.microsoft.com/office/drawing/2014/main" val="2476319542"/>
                  </a:ext>
                </a:extLst>
              </a:tr>
              <a:tr h="424652">
                <a:tc>
                  <a:txBody>
                    <a:bodyPr/>
                    <a:lstStyle/>
                    <a:p>
                      <a:pPr marL="0" marR="0">
                        <a:lnSpc>
                          <a:spcPct val="115000"/>
                        </a:lnSpc>
                        <a:spcBef>
                          <a:spcPts val="0"/>
                        </a:spcBef>
                        <a:spcAft>
                          <a:spcPts val="1000"/>
                        </a:spcAft>
                      </a:pPr>
                      <a:r>
                        <a:rPr lang="en-US" sz="2000" b="1">
                          <a:effectLst/>
                        </a:rPr>
                        <a:t>C603.2</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effectLst/>
                        </a:rPr>
                        <a:t>3</a:t>
                      </a:r>
                      <a:endParaRPr lang="en-US" sz="31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3</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2</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2</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3</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2</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effectLst/>
                        </a:rPr>
                        <a:t> </a:t>
                      </a:r>
                      <a:endParaRPr lang="en-US" sz="31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effectLst/>
                        </a:rPr>
                        <a:t>1</a:t>
                      </a:r>
                      <a:endParaRPr lang="en-US" sz="31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 </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 </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1</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3</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extLst>
                  <a:ext uri="{0D108BD9-81ED-4DB2-BD59-A6C34878D82A}">
                    <a16:rowId xmlns:a16="http://schemas.microsoft.com/office/drawing/2014/main" val="1432717834"/>
                  </a:ext>
                </a:extLst>
              </a:tr>
              <a:tr h="424652">
                <a:tc>
                  <a:txBody>
                    <a:bodyPr/>
                    <a:lstStyle/>
                    <a:p>
                      <a:pPr marL="0" marR="0">
                        <a:lnSpc>
                          <a:spcPct val="115000"/>
                        </a:lnSpc>
                        <a:spcBef>
                          <a:spcPts val="0"/>
                        </a:spcBef>
                        <a:spcAft>
                          <a:spcPts val="1000"/>
                        </a:spcAft>
                      </a:pPr>
                      <a:r>
                        <a:rPr lang="en-US" sz="2000" b="1">
                          <a:effectLst/>
                        </a:rPr>
                        <a:t>C603.3</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effectLst/>
                        </a:rPr>
                        <a:t>3</a:t>
                      </a:r>
                      <a:endParaRPr lang="en-US" sz="31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effectLst/>
                        </a:rPr>
                        <a:t>2</a:t>
                      </a:r>
                      <a:endParaRPr lang="en-US" sz="31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1</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 </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1</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2</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 </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effectLst/>
                        </a:rPr>
                        <a:t>1</a:t>
                      </a:r>
                      <a:endParaRPr lang="en-US" sz="31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effectLst/>
                        </a:rPr>
                        <a:t>2</a:t>
                      </a:r>
                      <a:endParaRPr lang="en-US" sz="31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effectLst/>
                        </a:rPr>
                        <a:t> </a:t>
                      </a:r>
                      <a:endParaRPr lang="en-US" sz="31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1</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effectLst/>
                        </a:rPr>
                        <a:t>3</a:t>
                      </a:r>
                      <a:endParaRPr lang="en-US" sz="31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extLst>
                  <a:ext uri="{0D108BD9-81ED-4DB2-BD59-A6C34878D82A}">
                    <a16:rowId xmlns:a16="http://schemas.microsoft.com/office/drawing/2014/main" val="1474397049"/>
                  </a:ext>
                </a:extLst>
              </a:tr>
              <a:tr h="424652">
                <a:tc>
                  <a:txBody>
                    <a:bodyPr/>
                    <a:lstStyle/>
                    <a:p>
                      <a:pPr marL="0" marR="0">
                        <a:lnSpc>
                          <a:spcPct val="115000"/>
                        </a:lnSpc>
                        <a:spcBef>
                          <a:spcPts val="0"/>
                        </a:spcBef>
                        <a:spcAft>
                          <a:spcPts val="1000"/>
                        </a:spcAft>
                      </a:pPr>
                      <a:r>
                        <a:rPr lang="en-US" sz="2000" b="1">
                          <a:solidFill>
                            <a:schemeClr val="tx1"/>
                          </a:solidFill>
                          <a:effectLst/>
                        </a:rPr>
                        <a:t>C603.4</a:t>
                      </a:r>
                      <a:endParaRPr lang="en-US" sz="31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chemeClr val="tx1"/>
                          </a:solidFill>
                          <a:effectLst/>
                        </a:rPr>
                        <a:t>2</a:t>
                      </a:r>
                      <a:endParaRPr lang="en-US" sz="31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chemeClr val="tx1"/>
                          </a:solidFill>
                          <a:effectLst/>
                        </a:rPr>
                        <a:t>2</a:t>
                      </a:r>
                      <a:endParaRPr lang="en-US" sz="31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chemeClr val="tx1"/>
                          </a:solidFill>
                          <a:effectLst/>
                        </a:rPr>
                        <a:t>1</a:t>
                      </a:r>
                      <a:endParaRPr lang="en-US" sz="31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chemeClr val="tx1"/>
                          </a:solidFill>
                          <a:effectLst/>
                        </a:rPr>
                        <a:t> </a:t>
                      </a:r>
                      <a:endParaRPr lang="en-US" sz="31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chemeClr val="tx1"/>
                          </a:solidFill>
                          <a:effectLst/>
                        </a:rPr>
                        <a:t>1</a:t>
                      </a:r>
                      <a:endParaRPr lang="en-US" sz="31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chemeClr val="tx1"/>
                          </a:solidFill>
                          <a:effectLst/>
                        </a:rPr>
                        <a:t> </a:t>
                      </a:r>
                      <a:endParaRPr lang="en-US" sz="31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chemeClr val="tx1"/>
                          </a:solidFill>
                          <a:effectLst/>
                        </a:rPr>
                        <a:t> </a:t>
                      </a:r>
                      <a:endParaRPr lang="en-US" sz="31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chemeClr val="tx1"/>
                          </a:solidFill>
                          <a:effectLst/>
                        </a:rPr>
                        <a:t>1</a:t>
                      </a:r>
                      <a:endParaRPr lang="en-US" sz="31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chemeClr val="tx1"/>
                          </a:solidFill>
                          <a:effectLst/>
                        </a:rPr>
                        <a:t>1</a:t>
                      </a:r>
                      <a:endParaRPr lang="en-US" sz="31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chemeClr val="tx1"/>
                          </a:solidFill>
                          <a:effectLst/>
                        </a:rPr>
                        <a:t> </a:t>
                      </a:r>
                      <a:endParaRPr lang="en-US" sz="31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chemeClr val="tx1"/>
                          </a:solidFill>
                          <a:effectLst/>
                        </a:rPr>
                        <a:t>1</a:t>
                      </a:r>
                      <a:endParaRPr lang="en-US" sz="31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chemeClr val="tx1"/>
                          </a:solidFill>
                          <a:effectLst/>
                        </a:rPr>
                        <a:t>3</a:t>
                      </a:r>
                      <a:endParaRPr lang="en-US" sz="31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extLst>
                  <a:ext uri="{0D108BD9-81ED-4DB2-BD59-A6C34878D82A}">
                    <a16:rowId xmlns:a16="http://schemas.microsoft.com/office/drawing/2014/main" val="2306718333"/>
                  </a:ext>
                </a:extLst>
              </a:tr>
              <a:tr h="424652">
                <a:tc>
                  <a:txBody>
                    <a:bodyPr/>
                    <a:lstStyle/>
                    <a:p>
                      <a:pPr marL="0" marR="0">
                        <a:lnSpc>
                          <a:spcPct val="115000"/>
                        </a:lnSpc>
                        <a:spcBef>
                          <a:spcPts val="0"/>
                        </a:spcBef>
                        <a:spcAft>
                          <a:spcPts val="1000"/>
                        </a:spcAft>
                      </a:pPr>
                      <a:r>
                        <a:rPr lang="en-US" sz="2000" b="1">
                          <a:solidFill>
                            <a:srgbClr val="FF0000"/>
                          </a:solidFill>
                          <a:effectLst/>
                        </a:rPr>
                        <a:t>C603.5</a:t>
                      </a:r>
                      <a:endParaRPr lang="en-US" sz="3100" b="1">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2</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2</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2</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 </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1</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1</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3</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extLst>
                  <a:ext uri="{0D108BD9-81ED-4DB2-BD59-A6C34878D82A}">
                    <a16:rowId xmlns:a16="http://schemas.microsoft.com/office/drawing/2014/main" val="2539282766"/>
                  </a:ext>
                </a:extLst>
              </a:tr>
              <a:tr h="454985">
                <a:tc>
                  <a:txBody>
                    <a:bodyPr/>
                    <a:lstStyle/>
                    <a:p>
                      <a:pPr marL="0" marR="0">
                        <a:lnSpc>
                          <a:spcPct val="115000"/>
                        </a:lnSpc>
                        <a:spcBef>
                          <a:spcPts val="0"/>
                        </a:spcBef>
                        <a:spcAft>
                          <a:spcPts val="1000"/>
                        </a:spcAft>
                      </a:pPr>
                      <a:r>
                        <a:rPr lang="en-US" sz="2000" b="1">
                          <a:solidFill>
                            <a:srgbClr val="FF0000"/>
                          </a:solidFill>
                          <a:effectLst/>
                        </a:rPr>
                        <a:t>C603.6</a:t>
                      </a:r>
                      <a:endParaRPr lang="en-US" sz="3100" b="1">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2</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1</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 </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 </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a:solidFill>
                            <a:srgbClr val="FF0000"/>
                          </a:solidFill>
                          <a:effectLst/>
                        </a:rPr>
                        <a:t>3</a:t>
                      </a:r>
                      <a:endParaRPr lang="en-US" sz="31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2</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3</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1</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 </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1</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0" dirty="0">
                          <a:solidFill>
                            <a:srgbClr val="FF0000"/>
                          </a:solidFill>
                          <a:effectLst/>
                        </a:rPr>
                        <a:t>3</a:t>
                      </a:r>
                      <a:endParaRPr lang="en-US" sz="31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extLst>
                  <a:ext uri="{0D108BD9-81ED-4DB2-BD59-A6C34878D82A}">
                    <a16:rowId xmlns:a16="http://schemas.microsoft.com/office/drawing/2014/main" val="2956718796"/>
                  </a:ext>
                </a:extLst>
              </a:tr>
              <a:tr h="539801">
                <a:tc>
                  <a:txBody>
                    <a:bodyPr/>
                    <a:lstStyle/>
                    <a:p>
                      <a:pPr marL="0" marR="0" algn="ctr">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a:effectLst/>
                        </a:rPr>
                        <a:t> </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dirty="0">
                          <a:effectLst/>
                        </a:rPr>
                        <a:t> </a:t>
                      </a: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r>
                        <a:rPr lang="en-US" sz="2000" b="1" dirty="0">
                          <a:effectLst/>
                        </a:rPr>
                        <a:t> </a:t>
                      </a: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nSpc>
                          <a:spcPct val="115000"/>
                        </a:lnSpc>
                        <a:spcBef>
                          <a:spcPts val="0"/>
                        </a:spcBef>
                        <a:spcAft>
                          <a:spcPts val="1000"/>
                        </a:spcAft>
                      </a:pP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extLst>
                  <a:ext uri="{0D108BD9-81ED-4DB2-BD59-A6C34878D82A}">
                    <a16:rowId xmlns:a16="http://schemas.microsoft.com/office/drawing/2014/main" val="3619982716"/>
                  </a:ext>
                </a:extLst>
              </a:tr>
            </a:tbl>
          </a:graphicData>
        </a:graphic>
      </p:graphicFrame>
    </p:spTree>
    <p:extLst>
      <p:ext uri="{BB962C8B-B14F-4D97-AF65-F5344CB8AC3E}">
        <p14:creationId xmlns:p14="http://schemas.microsoft.com/office/powerpoint/2010/main" val="3694475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3"/>
          <p:cNvSpPr>
            <a:spLocks noGrp="1"/>
          </p:cNvSpPr>
          <p:nvPr>
            <p:ph type="dt" sz="quarter" idx="11"/>
          </p:nvPr>
        </p:nvSpPr>
        <p:spPr>
          <a:xfrm>
            <a:off x="-419100" y="7106285"/>
            <a:ext cx="3185160" cy="401638"/>
          </a:xfrm>
          <a:noFill/>
        </p:spPr>
        <p:txBody>
          <a:bodyPr/>
          <a:lstStyle/>
          <a:p>
            <a:pPr>
              <a:buFont typeface="Arial" pitchFamily="34" charset="0"/>
              <a:buNone/>
            </a:pPr>
            <a:fld id="{6B4F4D9B-8642-4200-9116-E019F21AA251}" type="datetime1">
              <a:rPr lang="en-US" smtClean="0"/>
              <a:t>4/29/2022</a:t>
            </a:fld>
            <a:endParaRPr lang="en-US" dirty="0"/>
          </a:p>
        </p:txBody>
      </p:sp>
      <p:sp>
        <p:nvSpPr>
          <p:cNvPr id="16388" name="Slide Number Placeholder 5"/>
          <p:cNvSpPr>
            <a:spLocks noGrp="1"/>
          </p:cNvSpPr>
          <p:nvPr>
            <p:ph type="sldNum" sz="quarter" idx="4294967295"/>
          </p:nvPr>
        </p:nvSpPr>
        <p:spPr>
          <a:xfrm>
            <a:off x="7124700" y="7071360"/>
            <a:ext cx="3185160" cy="401638"/>
          </a:xfrm>
          <a:prstGeom prst="rect">
            <a:avLst/>
          </a:prstGeom>
          <a:noFill/>
        </p:spPr>
        <p:txBody>
          <a:bodyPr/>
          <a:lstStyle/>
          <a:p>
            <a:pPr algn="ctr">
              <a:buSzPts val="1400"/>
              <a:buFont typeface="Arial" pitchFamily="34" charset="0"/>
              <a:buNone/>
            </a:pPr>
            <a:fld id="{1B2CB8C9-E049-47A2-B4DB-85F386C44A86}" type="slidenum">
              <a:rPr lang="en-US" smtClean="0"/>
              <a:pPr algn="ctr">
                <a:buSzPts val="1400"/>
                <a:buFont typeface="Arial" pitchFamily="34" charset="0"/>
                <a:buNone/>
              </a:pPr>
              <a:t>12</a:t>
            </a:fld>
            <a:endParaRPr lang="en-US" dirty="0"/>
          </a:p>
        </p:txBody>
      </p:sp>
      <p:sp>
        <p:nvSpPr>
          <p:cNvPr id="7" name="Title 1"/>
          <p:cNvSpPr txBox="1">
            <a:spLocks/>
          </p:cNvSpPr>
          <p:nvPr/>
        </p:nvSpPr>
        <p:spPr>
          <a:xfrm>
            <a:off x="1508760" y="58420"/>
            <a:ext cx="8549640" cy="75438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520" dirty="0">
                <a:latin typeface="Calibri" panose="020F0502020204030204" pitchFamily="34" charset="0"/>
                <a:ea typeface="Calibri" panose="020F0502020204030204" pitchFamily="34" charset="0"/>
                <a:cs typeface="Mangal" panose="02040503050203030202" pitchFamily="18" charset="0"/>
              </a:rPr>
              <a:t>Program Specific Outcomes</a:t>
            </a:r>
            <a:endParaRPr lang="en-US" sz="3520" dirty="0"/>
          </a:p>
        </p:txBody>
      </p:sp>
      <p:sp>
        <p:nvSpPr>
          <p:cNvPr id="9" name="Content Placeholder 8"/>
          <p:cNvSpPr>
            <a:spLocks noGrp="1"/>
          </p:cNvSpPr>
          <p:nvPr>
            <p:ph idx="1"/>
          </p:nvPr>
        </p:nvSpPr>
        <p:spPr>
          <a:xfrm>
            <a:off x="502920" y="1371601"/>
            <a:ext cx="9052560" cy="5481479"/>
          </a:xfrm>
        </p:spPr>
        <p:txBody>
          <a:bodyPr>
            <a:normAutofit lnSpcReduction="10000"/>
          </a:bodyPr>
          <a:lstStyle/>
          <a:p>
            <a:pPr algn="just">
              <a:lnSpc>
                <a:spcPct val="150000"/>
              </a:lnSpc>
              <a:buFont typeface="Wingdings" pitchFamily="2" charset="2"/>
              <a:buChar char="§"/>
              <a:defRPr/>
            </a:pPr>
            <a:r>
              <a:rPr lang="en-US" sz="2200" b="1" dirty="0"/>
              <a:t>PSO1: </a:t>
            </a:r>
            <a:r>
              <a:rPr lang="en-US" sz="2200" dirty="0"/>
              <a:t>Work as a software developer, database administrator, tester or networking engineer for providing solutions to the real world and industrial problems.</a:t>
            </a:r>
            <a:endParaRPr lang="en-IN" sz="2200" dirty="0"/>
          </a:p>
          <a:p>
            <a:pPr algn="just">
              <a:lnSpc>
                <a:spcPct val="150000"/>
              </a:lnSpc>
              <a:buFont typeface="Wingdings" pitchFamily="2" charset="2"/>
              <a:buChar char="§"/>
              <a:defRPr/>
            </a:pPr>
            <a:r>
              <a:rPr lang="en-US" sz="2200" b="1" dirty="0"/>
              <a:t>PSO2:</a:t>
            </a:r>
            <a:r>
              <a:rPr lang="en-US" sz="2200" dirty="0"/>
              <a:t>Apply core subjects of information technology related to data structure and algorithm, software engineering, web technology, operating system, database and networking to solve complex IT problems.</a:t>
            </a:r>
            <a:endParaRPr lang="en-IN" sz="2200" dirty="0"/>
          </a:p>
          <a:p>
            <a:pPr algn="just">
              <a:lnSpc>
                <a:spcPct val="150000"/>
              </a:lnSpc>
              <a:buFont typeface="Wingdings" pitchFamily="2" charset="2"/>
              <a:buChar char="§"/>
              <a:defRPr/>
            </a:pPr>
            <a:r>
              <a:rPr lang="en-US" sz="2200" b="1" dirty="0"/>
              <a:t>PSO3: </a:t>
            </a:r>
            <a:r>
              <a:rPr lang="en-US" sz="2200" dirty="0"/>
              <a:t>Practice multi-disciplinary and modern computing techniques by lifelong learning to establish innovative career.</a:t>
            </a:r>
            <a:endParaRPr lang="en-IN" sz="2200" dirty="0"/>
          </a:p>
          <a:p>
            <a:pPr algn="just">
              <a:lnSpc>
                <a:spcPct val="150000"/>
              </a:lnSpc>
              <a:buFont typeface="Wingdings" pitchFamily="2" charset="2"/>
              <a:buChar char="§"/>
              <a:defRPr/>
            </a:pPr>
            <a:r>
              <a:rPr lang="en-US" sz="2200" b="1" dirty="0"/>
              <a:t>PSO4:</a:t>
            </a:r>
            <a:r>
              <a:rPr lang="en-US" sz="2200" dirty="0"/>
              <a:t> Work in a team or individual to manage projects with ethical concern to be a successful employee or employer in IT industry. 	</a:t>
            </a:r>
          </a:p>
          <a:p>
            <a:pPr marL="0" indent="0">
              <a:buFont typeface="Wingdings" pitchFamily="2" charset="2"/>
              <a:buChar char="§"/>
              <a:defRPr/>
            </a:pPr>
            <a:endParaRPr lang="en-US" dirty="0"/>
          </a:p>
        </p:txBody>
      </p:sp>
    </p:spTree>
    <p:extLst>
      <p:ext uri="{BB962C8B-B14F-4D97-AF65-F5344CB8AC3E}">
        <p14:creationId xmlns:p14="http://schemas.microsoft.com/office/powerpoint/2010/main" val="98589211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9">
                                            <p:txEl>
                                              <p:pRg st="0" end="0"/>
                                            </p:txEl>
                                          </p:spTgt>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9">
                                            <p:txEl>
                                              <p:pRg st="1" end="1"/>
                                            </p:txEl>
                                          </p:spTgt>
                                        </p:tgtEl>
                                        <p:attrNameLst>
                                          <p:attrName>r</p:attrName>
                                        </p:attrNameLst>
                                      </p:cBhvr>
                                    </p:animRot>
                                  </p:childTnLst>
                                </p:cTn>
                              </p:par>
                              <p:par>
                                <p:cTn id="9" presetID="8" presetClass="emph" presetSubtype="0" fill="hold" nodeType="withEffect">
                                  <p:stCondLst>
                                    <p:cond delay="0"/>
                                  </p:stCondLst>
                                  <p:childTnLst>
                                    <p:animRot by="21600000">
                                      <p:cBhvr>
                                        <p:cTn id="10" dur="1000" fill="hold"/>
                                        <p:tgtEl>
                                          <p:spTgt spid="9">
                                            <p:txEl>
                                              <p:pRg st="2" end="2"/>
                                            </p:txEl>
                                          </p:spTgt>
                                        </p:tgtEl>
                                        <p:attrNameLst>
                                          <p:attrName>r</p:attrName>
                                        </p:attrNameLst>
                                      </p:cBhvr>
                                    </p:animRot>
                                  </p:childTnLst>
                                </p:cTn>
                              </p:par>
                              <p:par>
                                <p:cTn id="11" presetID="8" presetClass="emph" presetSubtype="0" fill="hold" nodeType="withEffect">
                                  <p:stCondLst>
                                    <p:cond delay="0"/>
                                  </p:stCondLst>
                                  <p:childTnLst>
                                    <p:animRot by="21600000">
                                      <p:cBhvr>
                                        <p:cTn id="12" dur="1000" fill="hold"/>
                                        <p:tgtEl>
                                          <p:spTgt spid="9">
                                            <p:txEl>
                                              <p:pRg st="3" end="3"/>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C362080-1FC5-486A-8459-8D600A195299}"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508760" y="114300"/>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algn="ctr" defTabSz="1005840">
              <a:spcBef>
                <a:spcPct val="0"/>
              </a:spcBef>
              <a:defRPr/>
            </a:pPr>
            <a:r>
              <a:rPr lang="en-US" sz="3300" dirty="0"/>
              <a:t>CO-PSO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sp>
        <p:nvSpPr>
          <p:cNvPr id="2" name="Rectangle 1"/>
          <p:cNvSpPr/>
          <p:nvPr/>
        </p:nvSpPr>
        <p:spPr>
          <a:xfrm>
            <a:off x="838200" y="1270515"/>
            <a:ext cx="8130540" cy="837152"/>
          </a:xfrm>
          <a:prstGeom prst="rect">
            <a:avLst/>
          </a:prstGeom>
        </p:spPr>
        <p:txBody>
          <a:bodyPr wrap="square">
            <a:spAutoFit/>
          </a:bodyPr>
          <a:lstStyle/>
          <a:p>
            <a:r>
              <a:rPr lang="en-US" sz="2420" dirty="0"/>
              <a:t>The highlighted text shows the mapping of course outcome with PSO mapping of this unit</a:t>
            </a:r>
          </a:p>
        </p:txBody>
      </p:sp>
      <p:graphicFrame>
        <p:nvGraphicFramePr>
          <p:cNvPr id="5" name="Table 4">
            <a:extLst>
              <a:ext uri="{FF2B5EF4-FFF2-40B4-BE49-F238E27FC236}">
                <a16:creationId xmlns:a16="http://schemas.microsoft.com/office/drawing/2014/main" id="{E943DE84-ADE2-484B-BC50-BEDB6FDCAD7B}"/>
              </a:ext>
            </a:extLst>
          </p:cNvPr>
          <p:cNvGraphicFramePr>
            <a:graphicFrameLocks noGrp="1"/>
          </p:cNvGraphicFramePr>
          <p:nvPr>
            <p:extLst>
              <p:ext uri="{D42A27DB-BD31-4B8C-83A1-F6EECF244321}">
                <p14:modId xmlns:p14="http://schemas.microsoft.com/office/powerpoint/2010/main" val="3511776981"/>
              </p:ext>
            </p:extLst>
          </p:nvPr>
        </p:nvGraphicFramePr>
        <p:xfrm>
          <a:off x="1257301" y="2628900"/>
          <a:ext cx="7208521" cy="3229163"/>
        </p:xfrm>
        <a:graphic>
          <a:graphicData uri="http://schemas.openxmlformats.org/drawingml/2006/table">
            <a:tbl>
              <a:tblPr>
                <a:tableStyleId>{5C22544A-7EE6-4342-B048-85BDC9FD1C3A}</a:tableStyleId>
              </a:tblPr>
              <a:tblGrid>
                <a:gridCol w="1012855">
                  <a:extLst>
                    <a:ext uri="{9D8B030D-6E8A-4147-A177-3AD203B41FA5}">
                      <a16:colId xmlns:a16="http://schemas.microsoft.com/office/drawing/2014/main" val="267634843"/>
                    </a:ext>
                  </a:extLst>
                </a:gridCol>
                <a:gridCol w="1529787">
                  <a:extLst>
                    <a:ext uri="{9D8B030D-6E8A-4147-A177-3AD203B41FA5}">
                      <a16:colId xmlns:a16="http://schemas.microsoft.com/office/drawing/2014/main" val="2529222846"/>
                    </a:ext>
                  </a:extLst>
                </a:gridCol>
                <a:gridCol w="1555293">
                  <a:extLst>
                    <a:ext uri="{9D8B030D-6E8A-4147-A177-3AD203B41FA5}">
                      <a16:colId xmlns:a16="http://schemas.microsoft.com/office/drawing/2014/main" val="1707190809"/>
                    </a:ext>
                  </a:extLst>
                </a:gridCol>
                <a:gridCol w="1555293">
                  <a:extLst>
                    <a:ext uri="{9D8B030D-6E8A-4147-A177-3AD203B41FA5}">
                      <a16:colId xmlns:a16="http://schemas.microsoft.com/office/drawing/2014/main" val="3972204929"/>
                    </a:ext>
                  </a:extLst>
                </a:gridCol>
                <a:gridCol w="1555293">
                  <a:extLst>
                    <a:ext uri="{9D8B030D-6E8A-4147-A177-3AD203B41FA5}">
                      <a16:colId xmlns:a16="http://schemas.microsoft.com/office/drawing/2014/main" val="2799673150"/>
                    </a:ext>
                  </a:extLst>
                </a:gridCol>
              </a:tblGrid>
              <a:tr h="461309">
                <a:tc>
                  <a:txBody>
                    <a:bodyPr/>
                    <a:lstStyle/>
                    <a:p>
                      <a:pPr marL="0" marR="0" algn="ctr">
                        <a:lnSpc>
                          <a:spcPct val="115000"/>
                        </a:lnSpc>
                        <a:spcBef>
                          <a:spcPts val="0"/>
                        </a:spcBef>
                        <a:spcAft>
                          <a:spcPts val="1000"/>
                        </a:spcAft>
                      </a:pPr>
                      <a:r>
                        <a:rPr lang="en-US" sz="2200" b="1" dirty="0">
                          <a:effectLst/>
                        </a:rPr>
                        <a:t>CO</a:t>
                      </a:r>
                      <a:endParaRPr lang="en-US" sz="3100" b="1"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200" b="1">
                          <a:effectLst/>
                        </a:rPr>
                        <a:t>PSO1</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200" b="1">
                          <a:effectLst/>
                        </a:rPr>
                        <a:t>PSO2</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200" b="1">
                          <a:effectLst/>
                        </a:rPr>
                        <a:t>PSO3</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ctr">
                        <a:lnSpc>
                          <a:spcPct val="115000"/>
                        </a:lnSpc>
                        <a:spcBef>
                          <a:spcPts val="0"/>
                        </a:spcBef>
                        <a:spcAft>
                          <a:spcPts val="1000"/>
                        </a:spcAft>
                      </a:pPr>
                      <a:r>
                        <a:rPr lang="en-US" sz="2200" b="1">
                          <a:effectLst/>
                        </a:rPr>
                        <a:t>PSO4</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2970429222"/>
                  </a:ext>
                </a:extLst>
              </a:tr>
              <a:tr h="461309">
                <a:tc>
                  <a:txBody>
                    <a:bodyPr/>
                    <a:lstStyle/>
                    <a:p>
                      <a:pPr marL="0" marR="0" algn="ctr">
                        <a:lnSpc>
                          <a:spcPct val="115000"/>
                        </a:lnSpc>
                        <a:spcBef>
                          <a:spcPts val="0"/>
                        </a:spcBef>
                        <a:spcAft>
                          <a:spcPts val="1000"/>
                        </a:spcAft>
                      </a:pPr>
                      <a:r>
                        <a:rPr lang="en-US" sz="2000" b="1">
                          <a:solidFill>
                            <a:schemeClr val="tx1"/>
                          </a:solidFill>
                          <a:effectLst/>
                        </a:rPr>
                        <a:t>C603.1</a:t>
                      </a:r>
                      <a:endParaRPr lang="en-US" sz="31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solidFill>
                            <a:schemeClr val="tx1"/>
                          </a:solidFill>
                          <a:effectLst/>
                        </a:rPr>
                        <a:t>3</a:t>
                      </a:r>
                      <a:endParaRPr lang="en-US" sz="26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a:solidFill>
                            <a:schemeClr val="tx1"/>
                          </a:solidFill>
                          <a:effectLst/>
                        </a:rPr>
                        <a:t>3</a:t>
                      </a:r>
                      <a:endParaRPr lang="en-US" sz="26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a:solidFill>
                            <a:schemeClr val="tx1"/>
                          </a:solidFill>
                          <a:effectLst/>
                        </a:rPr>
                        <a:t>2</a:t>
                      </a:r>
                      <a:endParaRPr lang="en-US" sz="26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ctr">
                        <a:lnSpc>
                          <a:spcPct val="115000"/>
                        </a:lnSpc>
                        <a:spcBef>
                          <a:spcPts val="0"/>
                        </a:spcBef>
                        <a:spcAft>
                          <a:spcPts val="1000"/>
                        </a:spcAft>
                      </a:pPr>
                      <a:r>
                        <a:rPr lang="en-US" sz="2000" b="0" dirty="0">
                          <a:solidFill>
                            <a:schemeClr val="tx1"/>
                          </a:solidFill>
                          <a:effectLst/>
                        </a:rPr>
                        <a:t>1</a:t>
                      </a:r>
                      <a:endParaRPr lang="en-US" sz="26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354999902"/>
                  </a:ext>
                </a:extLst>
              </a:tr>
              <a:tr h="461309">
                <a:tc>
                  <a:txBody>
                    <a:bodyPr/>
                    <a:lstStyle/>
                    <a:p>
                      <a:pPr marL="0" marR="0" algn="ctr">
                        <a:lnSpc>
                          <a:spcPct val="115000"/>
                        </a:lnSpc>
                        <a:spcBef>
                          <a:spcPts val="0"/>
                        </a:spcBef>
                        <a:spcAft>
                          <a:spcPts val="1000"/>
                        </a:spcAft>
                      </a:pPr>
                      <a:r>
                        <a:rPr lang="en-US" sz="2000" b="1">
                          <a:effectLst/>
                        </a:rPr>
                        <a:t>C603.2</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effectLst/>
                        </a:rPr>
                        <a:t>3</a:t>
                      </a:r>
                      <a:endParaRPr lang="en-US" sz="26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effectLst/>
                        </a:rPr>
                        <a:t>3</a:t>
                      </a:r>
                      <a:endParaRPr lang="en-US" sz="26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effectLst/>
                        </a:rPr>
                        <a:t>2</a:t>
                      </a:r>
                      <a:endParaRPr lang="en-US" sz="2600" b="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ctr">
                        <a:lnSpc>
                          <a:spcPct val="115000"/>
                        </a:lnSpc>
                        <a:spcBef>
                          <a:spcPts val="0"/>
                        </a:spcBef>
                        <a:spcAft>
                          <a:spcPts val="1000"/>
                        </a:spcAft>
                      </a:pPr>
                      <a:r>
                        <a:rPr lang="en-US" sz="2000" b="0" dirty="0">
                          <a:effectLst/>
                        </a:rPr>
                        <a:t>1</a:t>
                      </a:r>
                      <a:endParaRPr lang="en-US" sz="2600" b="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2929648040"/>
                  </a:ext>
                </a:extLst>
              </a:tr>
              <a:tr h="461309">
                <a:tc>
                  <a:txBody>
                    <a:bodyPr/>
                    <a:lstStyle/>
                    <a:p>
                      <a:pPr marL="0" marR="0" algn="ctr">
                        <a:lnSpc>
                          <a:spcPct val="115000"/>
                        </a:lnSpc>
                        <a:spcBef>
                          <a:spcPts val="0"/>
                        </a:spcBef>
                        <a:spcAft>
                          <a:spcPts val="1000"/>
                        </a:spcAft>
                      </a:pPr>
                      <a:r>
                        <a:rPr lang="en-US" sz="2000" b="1">
                          <a:effectLst/>
                        </a:rPr>
                        <a:t>C603.3</a:t>
                      </a:r>
                      <a:endParaRPr lang="en-US" sz="3100" b="1">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effectLst/>
                        </a:rPr>
                        <a:t>3</a:t>
                      </a:r>
                      <a:endParaRPr lang="en-US" sz="2600" b="0" dirty="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a:effectLst/>
                        </a:rPr>
                        <a:t>3</a:t>
                      </a:r>
                      <a:endParaRPr lang="en-US" sz="2600" b="0">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effectLst/>
                        </a:rPr>
                        <a:t>2</a:t>
                      </a:r>
                      <a:endParaRPr lang="en-US" sz="2600" b="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ctr">
                        <a:lnSpc>
                          <a:spcPct val="115000"/>
                        </a:lnSpc>
                        <a:spcBef>
                          <a:spcPts val="0"/>
                        </a:spcBef>
                        <a:spcAft>
                          <a:spcPts val="1000"/>
                        </a:spcAft>
                      </a:pPr>
                      <a:r>
                        <a:rPr lang="en-US" sz="2000" b="0" dirty="0">
                          <a:effectLst/>
                        </a:rPr>
                        <a:t>1</a:t>
                      </a:r>
                      <a:endParaRPr lang="en-US" sz="2600" b="0" dirty="0">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1758595258"/>
                  </a:ext>
                </a:extLst>
              </a:tr>
              <a:tr h="461309">
                <a:tc>
                  <a:txBody>
                    <a:bodyPr/>
                    <a:lstStyle/>
                    <a:p>
                      <a:pPr marL="0" marR="0" algn="ctr">
                        <a:lnSpc>
                          <a:spcPct val="115000"/>
                        </a:lnSpc>
                        <a:spcBef>
                          <a:spcPts val="0"/>
                        </a:spcBef>
                        <a:spcAft>
                          <a:spcPts val="1000"/>
                        </a:spcAft>
                      </a:pPr>
                      <a:r>
                        <a:rPr lang="en-US" sz="2000" b="1" dirty="0">
                          <a:solidFill>
                            <a:schemeClr val="tx1"/>
                          </a:solidFill>
                          <a:effectLst/>
                        </a:rPr>
                        <a:t>C603.4</a:t>
                      </a:r>
                      <a:endParaRPr lang="en-US" sz="31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solidFill>
                            <a:schemeClr val="tx1"/>
                          </a:solidFill>
                          <a:effectLst/>
                        </a:rPr>
                        <a:t>3</a:t>
                      </a:r>
                      <a:endParaRPr lang="en-US" sz="26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solidFill>
                            <a:schemeClr val="tx1"/>
                          </a:solidFill>
                          <a:effectLst/>
                        </a:rPr>
                        <a:t>3</a:t>
                      </a:r>
                      <a:endParaRPr lang="en-US" sz="26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a:solidFill>
                            <a:schemeClr val="tx1"/>
                          </a:solidFill>
                          <a:effectLst/>
                        </a:rPr>
                        <a:t>1</a:t>
                      </a:r>
                      <a:endParaRPr lang="en-US" sz="26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ctr">
                        <a:lnSpc>
                          <a:spcPct val="115000"/>
                        </a:lnSpc>
                        <a:spcBef>
                          <a:spcPts val="0"/>
                        </a:spcBef>
                        <a:spcAft>
                          <a:spcPts val="1000"/>
                        </a:spcAft>
                      </a:pPr>
                      <a:r>
                        <a:rPr lang="en-US" sz="2000" b="0" dirty="0">
                          <a:solidFill>
                            <a:schemeClr val="tx1"/>
                          </a:solidFill>
                          <a:effectLst/>
                        </a:rPr>
                        <a:t>1</a:t>
                      </a:r>
                      <a:endParaRPr lang="en-US" sz="26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682700873"/>
                  </a:ext>
                </a:extLst>
              </a:tr>
              <a:tr h="461309">
                <a:tc>
                  <a:txBody>
                    <a:bodyPr/>
                    <a:lstStyle/>
                    <a:p>
                      <a:pPr marL="0" marR="0" algn="ctr">
                        <a:lnSpc>
                          <a:spcPct val="115000"/>
                        </a:lnSpc>
                        <a:spcBef>
                          <a:spcPts val="0"/>
                        </a:spcBef>
                        <a:spcAft>
                          <a:spcPts val="1000"/>
                        </a:spcAft>
                      </a:pPr>
                      <a:r>
                        <a:rPr lang="en-US" sz="2000" b="1" dirty="0">
                          <a:solidFill>
                            <a:srgbClr val="FF0000"/>
                          </a:solidFill>
                          <a:effectLst/>
                        </a:rPr>
                        <a:t>C603.5</a:t>
                      </a:r>
                      <a:endParaRPr lang="en-US" sz="3100" b="1"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solidFill>
                            <a:srgbClr val="FF0000"/>
                          </a:solidFill>
                          <a:effectLst/>
                        </a:rPr>
                        <a:t>3</a:t>
                      </a:r>
                      <a:endParaRPr lang="en-US" sz="26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solidFill>
                            <a:srgbClr val="FF0000"/>
                          </a:solidFill>
                          <a:effectLst/>
                        </a:rPr>
                        <a:t>3</a:t>
                      </a:r>
                      <a:endParaRPr lang="en-US" sz="26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solidFill>
                            <a:srgbClr val="FF0000"/>
                          </a:solidFill>
                          <a:effectLst/>
                        </a:rPr>
                        <a:t>1</a:t>
                      </a:r>
                      <a:endParaRPr lang="en-US" sz="26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ctr">
                        <a:lnSpc>
                          <a:spcPct val="115000"/>
                        </a:lnSpc>
                        <a:spcBef>
                          <a:spcPts val="0"/>
                        </a:spcBef>
                        <a:spcAft>
                          <a:spcPts val="1000"/>
                        </a:spcAft>
                      </a:pPr>
                      <a:r>
                        <a:rPr lang="en-US" sz="2000" b="0" dirty="0">
                          <a:solidFill>
                            <a:srgbClr val="FF0000"/>
                          </a:solidFill>
                          <a:effectLst/>
                        </a:rPr>
                        <a:t>1</a:t>
                      </a:r>
                      <a:endParaRPr lang="en-US" sz="26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2416745750"/>
                  </a:ext>
                </a:extLst>
              </a:tr>
              <a:tr h="461309">
                <a:tc>
                  <a:txBody>
                    <a:bodyPr/>
                    <a:lstStyle/>
                    <a:p>
                      <a:pPr marL="0" marR="0" algn="ctr">
                        <a:lnSpc>
                          <a:spcPct val="115000"/>
                        </a:lnSpc>
                        <a:spcBef>
                          <a:spcPts val="0"/>
                        </a:spcBef>
                        <a:spcAft>
                          <a:spcPts val="1000"/>
                        </a:spcAft>
                      </a:pPr>
                      <a:r>
                        <a:rPr lang="en-US" sz="2000" b="1">
                          <a:solidFill>
                            <a:srgbClr val="FF0000"/>
                          </a:solidFill>
                          <a:effectLst/>
                        </a:rPr>
                        <a:t>C603.6</a:t>
                      </a:r>
                      <a:endParaRPr lang="en-US" sz="3100" b="1">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a:solidFill>
                            <a:srgbClr val="FF0000"/>
                          </a:solidFill>
                          <a:effectLst/>
                        </a:rPr>
                        <a:t>3</a:t>
                      </a:r>
                      <a:endParaRPr lang="en-US" sz="26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a:solidFill>
                            <a:srgbClr val="FF0000"/>
                          </a:solidFill>
                          <a:effectLst/>
                        </a:rPr>
                        <a:t>3</a:t>
                      </a:r>
                      <a:endParaRPr lang="en-US" sz="26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1946" marR="75438" marT="0" marB="0"/>
                </a:tc>
                <a:tc>
                  <a:txBody>
                    <a:bodyPr/>
                    <a:lstStyle/>
                    <a:p>
                      <a:pPr marL="0" marR="0" algn="ctr">
                        <a:lnSpc>
                          <a:spcPct val="115000"/>
                        </a:lnSpc>
                        <a:spcBef>
                          <a:spcPts val="0"/>
                        </a:spcBef>
                        <a:spcAft>
                          <a:spcPts val="1000"/>
                        </a:spcAft>
                      </a:pPr>
                      <a:r>
                        <a:rPr lang="en-US" sz="2000" b="0" dirty="0">
                          <a:solidFill>
                            <a:srgbClr val="FF0000"/>
                          </a:solidFill>
                          <a:effectLst/>
                        </a:rPr>
                        <a:t>1</a:t>
                      </a:r>
                      <a:endParaRPr lang="en-US" sz="26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tc>
                  <a:txBody>
                    <a:bodyPr/>
                    <a:lstStyle/>
                    <a:p>
                      <a:pPr marL="0" marR="0" algn="ctr">
                        <a:lnSpc>
                          <a:spcPct val="115000"/>
                        </a:lnSpc>
                        <a:spcBef>
                          <a:spcPts val="0"/>
                        </a:spcBef>
                        <a:spcAft>
                          <a:spcPts val="1000"/>
                        </a:spcAft>
                      </a:pPr>
                      <a:r>
                        <a:rPr lang="en-US" sz="2000" b="0" dirty="0">
                          <a:solidFill>
                            <a:srgbClr val="FF0000"/>
                          </a:solidFill>
                          <a:effectLst/>
                        </a:rPr>
                        <a:t>1</a:t>
                      </a:r>
                      <a:endParaRPr lang="en-US" sz="26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75438" marR="75438" marT="0" marB="0"/>
                </a:tc>
                <a:extLst>
                  <a:ext uri="{0D108BD9-81ED-4DB2-BD59-A6C34878D82A}">
                    <a16:rowId xmlns:a16="http://schemas.microsoft.com/office/drawing/2014/main" val="2860625230"/>
                  </a:ext>
                </a:extLst>
              </a:tr>
            </a:tbl>
          </a:graphicData>
        </a:graphic>
      </p:graphicFrame>
    </p:spTree>
    <p:extLst>
      <p:ext uri="{BB962C8B-B14F-4D97-AF65-F5344CB8AC3E}">
        <p14:creationId xmlns:p14="http://schemas.microsoft.com/office/powerpoint/2010/main" val="252574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p:cNvSpPr>
            <a:spLocks noGrp="1"/>
          </p:cNvSpPr>
          <p:nvPr>
            <p:ph type="dt" sz="quarter" idx="11"/>
          </p:nvPr>
        </p:nvSpPr>
        <p:spPr>
          <a:xfrm>
            <a:off x="-335280" y="7106285"/>
            <a:ext cx="3185160" cy="401638"/>
          </a:xfrm>
          <a:noFill/>
        </p:spPr>
        <p:txBody>
          <a:bodyPr/>
          <a:lstStyle/>
          <a:p>
            <a:pPr>
              <a:buFont typeface="Arial" pitchFamily="34" charset="0"/>
              <a:buNone/>
            </a:pPr>
            <a:fld id="{9DB4DAED-6F4C-4DA5-8AF2-BF4FE7867667}" type="datetime1">
              <a:rPr lang="en-US" smtClean="0"/>
              <a:t>4/29/2022</a:t>
            </a:fld>
            <a:endParaRPr lang="en-US" dirty="0"/>
          </a:p>
        </p:txBody>
      </p:sp>
      <p:sp>
        <p:nvSpPr>
          <p:cNvPr id="18436" name="Slide Number Placeholder 5"/>
          <p:cNvSpPr>
            <a:spLocks noGrp="1"/>
          </p:cNvSpPr>
          <p:nvPr>
            <p:ph type="sldNum" sz="quarter" idx="4294967295"/>
          </p:nvPr>
        </p:nvSpPr>
        <p:spPr>
          <a:xfrm>
            <a:off x="7711440" y="7071360"/>
            <a:ext cx="3185160" cy="401638"/>
          </a:xfrm>
          <a:prstGeom prst="rect">
            <a:avLst/>
          </a:prstGeom>
          <a:noFill/>
        </p:spPr>
        <p:txBody>
          <a:bodyPr/>
          <a:lstStyle/>
          <a:p>
            <a:pPr algn="ctr">
              <a:buSzPts val="1400"/>
              <a:buFont typeface="Arial" pitchFamily="34" charset="0"/>
              <a:buNone/>
            </a:pPr>
            <a:fld id="{6F692E7C-C16B-49AB-A058-F00558280870}" type="slidenum">
              <a:rPr lang="en-US" smtClean="0"/>
              <a:pPr algn="ctr">
                <a:buSzPts val="1400"/>
                <a:buFont typeface="Arial" pitchFamily="34" charset="0"/>
                <a:buNone/>
              </a:pPr>
              <a:t>14</a:t>
            </a:fld>
            <a:endParaRPr lang="en-US" dirty="0"/>
          </a:p>
        </p:txBody>
      </p:sp>
      <p:sp>
        <p:nvSpPr>
          <p:cNvPr id="7" name="Title 1"/>
          <p:cNvSpPr txBox="1">
            <a:spLocks/>
          </p:cNvSpPr>
          <p:nvPr/>
        </p:nvSpPr>
        <p:spPr>
          <a:xfrm>
            <a:off x="1508760" y="130890"/>
            <a:ext cx="8549640" cy="75438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080" dirty="0"/>
              <a:t>Program Educational Objectives </a:t>
            </a:r>
          </a:p>
        </p:txBody>
      </p:sp>
      <p:sp>
        <p:nvSpPr>
          <p:cNvPr id="9" name="Content Placeholder 8"/>
          <p:cNvSpPr txBox="1">
            <a:spLocks noGrp="1"/>
          </p:cNvSpPr>
          <p:nvPr>
            <p:ph idx="1"/>
          </p:nvPr>
        </p:nvSpPr>
        <p:spPr>
          <a:xfrm>
            <a:off x="502920" y="1371601"/>
            <a:ext cx="9052560" cy="5481479"/>
          </a:xfrm>
        </p:spPr>
        <p:txBody>
          <a:bodyPr>
            <a:normAutofit/>
          </a:bodyPr>
          <a:lstStyle/>
          <a:p>
            <a:pPr>
              <a:spcBef>
                <a:spcPts val="399"/>
              </a:spcBef>
              <a:spcAft>
                <a:spcPct val="0"/>
              </a:spcAft>
              <a:buClr>
                <a:srgbClr val="000000"/>
              </a:buClr>
            </a:pPr>
            <a:r>
              <a:rPr lang="en-US" sz="2200" b="1" dirty="0">
                <a:cs typeface="Arial" pitchFamily="34" charset="0"/>
              </a:rPr>
              <a:t>PEO1: </a:t>
            </a:r>
            <a:r>
              <a:rPr lang="en-US" sz="2200" dirty="0">
                <a:cs typeface="Arial" pitchFamily="34" charset="0"/>
              </a:rPr>
              <a:t>able to apply sound knowledge in the field of information technology to fulfill the needs of IT industry.</a:t>
            </a:r>
          </a:p>
          <a:p>
            <a:pPr>
              <a:spcBef>
                <a:spcPts val="399"/>
              </a:spcBef>
              <a:spcAft>
                <a:spcPct val="0"/>
              </a:spcAft>
              <a:buClr>
                <a:srgbClr val="000000"/>
              </a:buClr>
              <a:buNone/>
            </a:pPr>
            <a:endParaRPr lang="en-IN" sz="2200" dirty="0">
              <a:cs typeface="Arial" pitchFamily="34" charset="0"/>
            </a:endParaRPr>
          </a:p>
          <a:p>
            <a:pPr>
              <a:spcBef>
                <a:spcPts val="399"/>
              </a:spcBef>
              <a:spcAft>
                <a:spcPct val="0"/>
              </a:spcAft>
              <a:buClr>
                <a:srgbClr val="000000"/>
              </a:buClr>
            </a:pPr>
            <a:r>
              <a:rPr lang="en-US" sz="2200" b="1" dirty="0">
                <a:cs typeface="Arial" pitchFamily="34" charset="0"/>
              </a:rPr>
              <a:t>PEO2: </a:t>
            </a:r>
            <a:r>
              <a:rPr lang="en-US" sz="2200" dirty="0">
                <a:cs typeface="Arial" pitchFamily="34" charset="0"/>
              </a:rPr>
              <a:t>able to design innovative and interdisciplinary systems through latest digital      technologies.</a:t>
            </a:r>
          </a:p>
          <a:p>
            <a:pPr>
              <a:spcBef>
                <a:spcPts val="399"/>
              </a:spcBef>
              <a:spcAft>
                <a:spcPct val="0"/>
              </a:spcAft>
              <a:buClr>
                <a:srgbClr val="000000"/>
              </a:buClr>
              <a:buNone/>
            </a:pPr>
            <a:endParaRPr lang="en-IN" sz="2200" dirty="0">
              <a:cs typeface="Arial" pitchFamily="34" charset="0"/>
            </a:endParaRPr>
          </a:p>
          <a:p>
            <a:pPr>
              <a:spcBef>
                <a:spcPts val="399"/>
              </a:spcBef>
              <a:spcAft>
                <a:spcPct val="0"/>
              </a:spcAft>
              <a:buClr>
                <a:srgbClr val="000000"/>
              </a:buClr>
            </a:pPr>
            <a:r>
              <a:rPr lang="en-US" sz="2200" b="1" dirty="0">
                <a:cs typeface="Arial" pitchFamily="34" charset="0"/>
              </a:rPr>
              <a:t>PEO3: </a:t>
            </a:r>
            <a:r>
              <a:rPr lang="en-US" sz="2200" dirty="0">
                <a:cs typeface="Arial" pitchFamily="34" charset="0"/>
              </a:rPr>
              <a:t>able to inculcate professional and social ethics, team work and leadership for serving the society.</a:t>
            </a:r>
          </a:p>
          <a:p>
            <a:pPr>
              <a:spcBef>
                <a:spcPts val="399"/>
              </a:spcBef>
              <a:spcAft>
                <a:spcPct val="0"/>
              </a:spcAft>
              <a:buClr>
                <a:srgbClr val="000000"/>
              </a:buClr>
            </a:pPr>
            <a:endParaRPr lang="en-IN" sz="2200" dirty="0">
              <a:cs typeface="Arial" pitchFamily="34" charset="0"/>
            </a:endParaRPr>
          </a:p>
          <a:p>
            <a:pPr>
              <a:spcBef>
                <a:spcPts val="399"/>
              </a:spcBef>
              <a:spcAft>
                <a:spcPct val="0"/>
              </a:spcAft>
              <a:buClr>
                <a:srgbClr val="000000"/>
              </a:buClr>
            </a:pPr>
            <a:r>
              <a:rPr lang="en-US" sz="2200" b="1" dirty="0">
                <a:cs typeface="Arial" pitchFamily="34" charset="0"/>
              </a:rPr>
              <a:t>PEO4:</a:t>
            </a:r>
            <a:r>
              <a:rPr lang="en-US" sz="2200" dirty="0">
                <a:cs typeface="Arial" pitchFamily="34" charset="0"/>
              </a:rPr>
              <a:t> able to inculcate lifelong learning in the field of computing for successful career in organizations and R&amp;D sectors.</a:t>
            </a:r>
            <a:endParaRPr lang="en-IN" sz="2200" dirty="0">
              <a:cs typeface="Arial" pitchFamily="34" charset="0"/>
            </a:endParaRPr>
          </a:p>
        </p:txBody>
      </p:sp>
    </p:spTree>
    <p:extLst>
      <p:ext uri="{BB962C8B-B14F-4D97-AF65-F5344CB8AC3E}">
        <p14:creationId xmlns:p14="http://schemas.microsoft.com/office/powerpoint/2010/main" val="342668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9">
                                            <p:txEl>
                                              <p:pRg st="0" end="0"/>
                                            </p:txEl>
                                          </p:spTgt>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9">
                                            <p:txEl>
                                              <p:pRg st="2" end="2"/>
                                            </p:txEl>
                                          </p:spTgt>
                                        </p:tgtEl>
                                        <p:attrNameLst>
                                          <p:attrName>r</p:attrName>
                                        </p:attrNameLst>
                                      </p:cBhvr>
                                    </p:animRot>
                                  </p:childTnLst>
                                </p:cTn>
                              </p:par>
                              <p:par>
                                <p:cTn id="9" presetID="8" presetClass="emph" presetSubtype="0" fill="hold" nodeType="withEffect">
                                  <p:stCondLst>
                                    <p:cond delay="0"/>
                                  </p:stCondLst>
                                  <p:childTnLst>
                                    <p:animRot by="21600000">
                                      <p:cBhvr>
                                        <p:cTn id="10" dur="1000" fill="hold"/>
                                        <p:tgtEl>
                                          <p:spTgt spid="9">
                                            <p:txEl>
                                              <p:pRg st="4" end="4"/>
                                            </p:txEl>
                                          </p:spTgt>
                                        </p:tgtEl>
                                        <p:attrNameLst>
                                          <p:attrName>r</p:attrName>
                                        </p:attrNameLst>
                                      </p:cBhvr>
                                    </p:animRot>
                                  </p:childTnLst>
                                </p:cTn>
                              </p:par>
                              <p:par>
                                <p:cTn id="11" presetID="8" presetClass="emph" presetSubtype="0" fill="hold" nodeType="withEffect">
                                  <p:stCondLst>
                                    <p:cond delay="0"/>
                                  </p:stCondLst>
                                  <p:childTnLst>
                                    <p:animRot by="21600000">
                                      <p:cBhvr>
                                        <p:cTn id="12" dur="1000" fill="hold"/>
                                        <p:tgtEl>
                                          <p:spTgt spid="9">
                                            <p:txEl>
                                              <p:pRg st="6" end="6"/>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3"/>
          <p:cNvSpPr>
            <a:spLocks noGrp="1"/>
          </p:cNvSpPr>
          <p:nvPr>
            <p:ph type="dt" sz="quarter" idx="11"/>
          </p:nvPr>
        </p:nvSpPr>
        <p:spPr>
          <a:xfrm>
            <a:off x="-83820" y="7106285"/>
            <a:ext cx="3185160" cy="401638"/>
          </a:xfrm>
          <a:noFill/>
        </p:spPr>
        <p:txBody>
          <a:bodyPr/>
          <a:lstStyle/>
          <a:p>
            <a:pPr>
              <a:buFont typeface="Arial" pitchFamily="34" charset="0"/>
              <a:buNone/>
            </a:pPr>
            <a:fld id="{CBBDF393-2B98-4485-A9D7-E8E2BA15D1ED}" type="datetime1">
              <a:rPr lang="en-US" smtClean="0"/>
              <a:t>4/29/2022</a:t>
            </a:fld>
            <a:endParaRPr lang="en-US" dirty="0"/>
          </a:p>
        </p:txBody>
      </p:sp>
      <p:sp>
        <p:nvSpPr>
          <p:cNvPr id="19459" name="Slide Number Placeholder 5"/>
          <p:cNvSpPr>
            <a:spLocks noGrp="1"/>
          </p:cNvSpPr>
          <p:nvPr>
            <p:ph type="sldNum" sz="quarter" idx="4294967295"/>
          </p:nvPr>
        </p:nvSpPr>
        <p:spPr>
          <a:xfrm>
            <a:off x="6904673" y="7106285"/>
            <a:ext cx="3185160" cy="401638"/>
          </a:xfrm>
          <a:prstGeom prst="rect">
            <a:avLst/>
          </a:prstGeom>
          <a:noFill/>
        </p:spPr>
        <p:txBody>
          <a:bodyPr/>
          <a:lstStyle/>
          <a:p>
            <a:pPr algn="ctr">
              <a:buSzPts val="1400"/>
              <a:buFont typeface="Arial" pitchFamily="34" charset="0"/>
              <a:buNone/>
            </a:pPr>
            <a:fld id="{8AED6ABA-C854-4A55-9311-B6E6F591AB13}" type="slidenum">
              <a:rPr lang="en-US" smtClean="0"/>
              <a:pPr algn="ctr">
                <a:buSzPts val="1400"/>
                <a:buFont typeface="Arial" pitchFamily="34" charset="0"/>
                <a:buNone/>
              </a:pPr>
              <a:t>15</a:t>
            </a:fld>
            <a:endParaRPr lang="en-US"/>
          </a:p>
        </p:txBody>
      </p:sp>
      <p:sp>
        <p:nvSpPr>
          <p:cNvPr id="7" name="Title 1"/>
          <p:cNvSpPr txBox="1">
            <a:spLocks/>
          </p:cNvSpPr>
          <p:nvPr/>
        </p:nvSpPr>
        <p:spPr>
          <a:xfrm>
            <a:off x="1508760" y="145733"/>
            <a:ext cx="8549640" cy="754381"/>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lstStyle/>
          <a:p>
            <a:pPr algn="ctr">
              <a:defRPr/>
            </a:pPr>
            <a:r>
              <a:rPr lang="en-US" sz="3300" dirty="0"/>
              <a:t>Result Analysis </a:t>
            </a:r>
          </a:p>
          <a:p>
            <a:pPr algn="ctr">
              <a:defRPr/>
            </a:pPr>
            <a:endParaRPr lang="en-US" sz="2640" dirty="0"/>
          </a:p>
        </p:txBody>
      </p:sp>
      <p:sp>
        <p:nvSpPr>
          <p:cNvPr id="19461" name="Rectangle 1"/>
          <p:cNvSpPr>
            <a:spLocks noChangeArrowheads="1"/>
          </p:cNvSpPr>
          <p:nvPr/>
        </p:nvSpPr>
        <p:spPr bwMode="auto">
          <a:xfrm>
            <a:off x="670560" y="2214036"/>
            <a:ext cx="8801100" cy="1514261"/>
          </a:xfrm>
          <a:prstGeom prst="rect">
            <a:avLst/>
          </a:prstGeom>
          <a:noFill/>
          <a:ln w="9525">
            <a:noFill/>
            <a:miter lim="800000"/>
            <a:headEnd/>
            <a:tailEnd/>
          </a:ln>
        </p:spPr>
        <p:txBody>
          <a:bodyPr anchor="ctr">
            <a:spAutoFit/>
          </a:bodyPr>
          <a:lstStyle/>
          <a:p>
            <a:pPr marL="502920" indent="-502920">
              <a:buFont typeface="Arial" pitchFamily="34" charset="0"/>
              <a:buChar char="•"/>
            </a:pPr>
            <a:r>
              <a:rPr lang="en-US" sz="3080" dirty="0">
                <a:cs typeface="Times New Roman" pitchFamily="18" charset="0"/>
              </a:rPr>
              <a:t>Computer Networks Result of 2020-21: 96.97%</a:t>
            </a:r>
          </a:p>
          <a:p>
            <a:pPr marL="502920" indent="-502920"/>
            <a:endParaRPr lang="en-US" sz="3080" dirty="0">
              <a:cs typeface="Times New Roman" pitchFamily="18" charset="0"/>
            </a:endParaRPr>
          </a:p>
          <a:p>
            <a:pPr marL="502920" indent="-502920">
              <a:buFont typeface="Arial" pitchFamily="34" charset="0"/>
              <a:buChar char="•"/>
            </a:pPr>
            <a:r>
              <a:rPr lang="en-US" sz="3080" dirty="0">
                <a:cs typeface="Times New Roman" pitchFamily="18" charset="0"/>
              </a:rPr>
              <a:t>Average Marks: 54.33 </a:t>
            </a:r>
            <a:endParaRPr lang="en-US" sz="3080" dirty="0"/>
          </a:p>
        </p:txBody>
      </p:sp>
    </p:spTree>
    <p:extLst>
      <p:ext uri="{BB962C8B-B14F-4D97-AF65-F5344CB8AC3E}">
        <p14:creationId xmlns:p14="http://schemas.microsoft.com/office/powerpoint/2010/main" val="3435965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Date Placeholder 3"/>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25D7F40F-5DFF-473B-BE55-42B49513E7BA}" type="datetime1">
              <a:rPr lang="en-US" sz="132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821340" y="114300"/>
            <a:ext cx="7985601" cy="1023303"/>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N" sz="3520" dirty="0">
                <a:latin typeface="Times New Roman" pitchFamily="18" charset="0"/>
                <a:cs typeface="Times New Roman" pitchFamily="18" charset="0"/>
                <a:sym typeface="Arial" charset="0"/>
              </a:rPr>
              <a:t>End Semester Question Paper Template </a:t>
            </a:r>
            <a:endParaRPr lang="en-US" sz="3520" dirty="0">
              <a:latin typeface="Times New Roman" pitchFamily="18" charset="0"/>
              <a:cs typeface="Times New Roman" pitchFamily="18" charset="0"/>
              <a:sym typeface="Arial" charset="0"/>
            </a:endParaRPr>
          </a:p>
        </p:txBody>
      </p:sp>
      <p:sp>
        <p:nvSpPr>
          <p:cNvPr id="63492" name="Rectangle 2"/>
          <p:cNvSpPr>
            <a:spLocks noChangeArrowheads="1"/>
          </p:cNvSpPr>
          <p:nvPr/>
        </p:nvSpPr>
        <p:spPr bwMode="auto">
          <a:xfrm>
            <a:off x="1" y="-35887"/>
            <a:ext cx="184731" cy="80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sz="1540"/>
            </a:br>
            <a:endParaRPr lang="en-US" altLang="en-US" sz="1540"/>
          </a:p>
          <a:p>
            <a:pPr eaLnBrk="1" hangingPunct="1">
              <a:buClrTx/>
              <a:buFontTx/>
              <a:buNone/>
            </a:pPr>
            <a:endParaRPr lang="en-US" altLang="en-US" sz="1540"/>
          </a:p>
        </p:txBody>
      </p:sp>
      <p:sp>
        <p:nvSpPr>
          <p:cNvPr id="2" name="Content Placeholder 1"/>
          <p:cNvSpPr>
            <a:spLocks noGrp="1"/>
          </p:cNvSpPr>
          <p:nvPr>
            <p:ph idx="1"/>
          </p:nvPr>
        </p:nvSpPr>
        <p:spPr>
          <a:xfrm>
            <a:off x="502920" y="1462406"/>
            <a:ext cx="9052560" cy="4126771"/>
          </a:xfrm>
        </p:spPr>
        <p:txBody>
          <a:bodyPr/>
          <a:lstStyle/>
          <a:p>
            <a:pPr marL="0" indent="0" algn="ctr">
              <a:buNone/>
              <a:defRPr/>
            </a:pPr>
            <a:r>
              <a:rPr lang="en-IN" sz="2200" dirty="0">
                <a:sym typeface="Arial" charset="0"/>
              </a:rPr>
              <a:t>B TECH </a:t>
            </a:r>
          </a:p>
          <a:p>
            <a:pPr marL="0" indent="0" algn="ctr">
              <a:buNone/>
              <a:defRPr/>
            </a:pPr>
            <a:r>
              <a:rPr lang="en-IN" sz="2200" dirty="0">
                <a:sym typeface="Arial" charset="0"/>
              </a:rPr>
              <a:t>(SEM-V) THEORY EXAMINATION 20__-20__</a:t>
            </a:r>
          </a:p>
          <a:p>
            <a:pPr marL="0" indent="0" algn="ctr">
              <a:buNone/>
              <a:defRPr/>
            </a:pPr>
            <a:r>
              <a:rPr lang="en-IN" sz="2200" dirty="0">
                <a:sym typeface="Arial" charset="0"/>
              </a:rPr>
              <a:t>OBJECT ORIENTED SYSTEM DESIGN</a:t>
            </a:r>
          </a:p>
          <a:p>
            <a:pPr marL="0" indent="0">
              <a:buNone/>
              <a:defRPr/>
            </a:pPr>
            <a:r>
              <a:rPr lang="en-IN" sz="2200" b="1" dirty="0">
                <a:sym typeface="Arial" charset="0"/>
              </a:rPr>
              <a:t>Time: 3 Hours                                                                                    Total Marks: 100 </a:t>
            </a:r>
          </a:p>
          <a:p>
            <a:pPr marL="0" indent="0">
              <a:buNone/>
              <a:defRPr/>
            </a:pPr>
            <a:r>
              <a:rPr lang="en-IN" sz="2200" b="1" i="1" dirty="0">
                <a:sym typeface="Arial" charset="0"/>
              </a:rPr>
              <a:t>Note: 1. Attempt all Sections. If require any missing data; then choose suitably.</a:t>
            </a:r>
          </a:p>
          <a:p>
            <a:pPr marL="0" indent="0" algn="ctr">
              <a:buNone/>
              <a:defRPr/>
            </a:pPr>
            <a:r>
              <a:rPr lang="en-IN" sz="2200" b="1" dirty="0">
                <a:sym typeface="Arial" charset="0"/>
              </a:rPr>
              <a:t>SECTION A </a:t>
            </a:r>
          </a:p>
          <a:p>
            <a:pPr indent="-502920">
              <a:buFont typeface="Arial" panose="020B0604020202020204" pitchFamily="34" charset="0"/>
              <a:buAutoNum type="arabicPeriod"/>
              <a:defRPr/>
            </a:pPr>
            <a:r>
              <a:rPr lang="en-IN" sz="2200" b="1" dirty="0">
                <a:sym typeface="Arial" charset="0"/>
              </a:rPr>
              <a:t>Attempt all questions in brief.                                                        2 x 10 = 20</a:t>
            </a:r>
          </a:p>
          <a:p>
            <a:pPr marL="0" indent="0">
              <a:buNone/>
              <a:defRPr/>
            </a:pPr>
            <a:endParaRPr lang="en-IN" sz="2200" b="1" i="1" dirty="0">
              <a:sym typeface="Arial" charset="0"/>
            </a:endParaRPr>
          </a:p>
        </p:txBody>
      </p:sp>
      <p:graphicFrame>
        <p:nvGraphicFramePr>
          <p:cNvPr id="3" name="Table 2"/>
          <p:cNvGraphicFramePr>
            <a:graphicFrameLocks noGrp="1"/>
          </p:cNvGraphicFramePr>
          <p:nvPr/>
        </p:nvGraphicFramePr>
        <p:xfrm>
          <a:off x="670560" y="4640580"/>
          <a:ext cx="8717280" cy="25146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gridCol w="922020">
                  <a:extLst>
                    <a:ext uri="{9D8B030D-6E8A-4147-A177-3AD203B41FA5}">
                      <a16:colId xmlns:a16="http://schemas.microsoft.com/office/drawing/2014/main" val="20002"/>
                    </a:ext>
                  </a:extLst>
                </a:gridCol>
                <a:gridCol w="922020">
                  <a:extLst>
                    <a:ext uri="{9D8B030D-6E8A-4147-A177-3AD203B41FA5}">
                      <a16:colId xmlns:a16="http://schemas.microsoft.com/office/drawing/2014/main" val="20003"/>
                    </a:ext>
                  </a:extLst>
                </a:gridCol>
              </a:tblGrid>
              <a:tr h="432511">
                <a:tc>
                  <a:txBody>
                    <a:bodyPr/>
                    <a:lstStyle/>
                    <a:p>
                      <a:r>
                        <a:rPr lang="en-IN" sz="2200" dirty="0" err="1">
                          <a:solidFill>
                            <a:schemeClr val="tx1"/>
                          </a:solidFill>
                        </a:rPr>
                        <a:t>Q.No</a:t>
                      </a:r>
                      <a:r>
                        <a:rPr lang="en-IN" sz="2200" dirty="0">
                          <a:solidFill>
                            <a:schemeClr val="tx1"/>
                          </a:solidFill>
                        </a:rPr>
                        <a:t>.</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200" dirty="0">
                          <a:solidFill>
                            <a:schemeClr val="tx1"/>
                          </a:solidFill>
                        </a:rPr>
                        <a:t>Question </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solidFill>
                            <a:schemeClr val="tx1"/>
                          </a:solidFill>
                        </a:rPr>
                        <a:t>Marks </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200" dirty="0">
                          <a:solidFill>
                            <a:schemeClr val="tx1"/>
                          </a:solidFill>
                        </a:rPr>
                        <a:t>CO</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32511">
                <a:tc>
                  <a:txBody>
                    <a:bodyPr/>
                    <a:lstStyle/>
                    <a:p>
                      <a:r>
                        <a:rPr lang="en-IN" sz="2200" dirty="0"/>
                        <a:t>1</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t>2</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2511">
                <a:tc>
                  <a:txBody>
                    <a:bodyPr/>
                    <a:lstStyle/>
                    <a:p>
                      <a:r>
                        <a:rPr lang="en-IN" sz="2200" dirty="0"/>
                        <a:t>2</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t>2</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2511">
                <a:tc>
                  <a:txBody>
                    <a:bodyPr/>
                    <a:lstStyle/>
                    <a:p>
                      <a:r>
                        <a:rPr lang="en-IN" sz="2200" dirty="0"/>
                        <a:t>.</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t>.</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2511">
                <a:tc>
                  <a:txBody>
                    <a:bodyPr/>
                    <a:lstStyle/>
                    <a:p>
                      <a:r>
                        <a:rPr lang="en-IN" sz="2200" dirty="0"/>
                        <a:t>10</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t>2</a:t>
                      </a:r>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84" marR="100584"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63527" name="Slide Number Placeholder 12"/>
          <p:cNvSpPr>
            <a:spLocks noGrp="1"/>
          </p:cNvSpPr>
          <p:nvPr>
            <p:ph type="sldNum" sz="quarter" idx="4294967295"/>
          </p:nvPr>
        </p:nvSpPr>
        <p:spPr>
          <a:xfrm>
            <a:off x="7208520" y="7106285"/>
            <a:ext cx="2346960" cy="4016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6625CA01-AB80-4C90-8780-F5B20760A97F}" type="slidenum">
              <a:rPr lang="en-US" sz="132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16</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63528"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
            <a:ext cx="1739265" cy="932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5156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Date Placeholder 3"/>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51501F82-D266-4D4F-BD66-D2771890F803}" type="datetime1">
              <a:rPr lang="en-US" sz="132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924368" y="114300"/>
            <a:ext cx="7882573" cy="932498"/>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N" sz="3300" dirty="0">
                <a:latin typeface="Times New Roman" pitchFamily="18" charset="0"/>
                <a:cs typeface="Times New Roman" pitchFamily="18" charset="0"/>
                <a:sym typeface="Arial" charset="0"/>
              </a:rPr>
              <a:t>End Semester Question Paper Templates </a:t>
            </a:r>
            <a:endParaRPr lang="en-US" sz="3300" dirty="0">
              <a:latin typeface="Times New Roman" pitchFamily="18" charset="0"/>
              <a:cs typeface="Times New Roman" pitchFamily="18" charset="0"/>
              <a:sym typeface="Arial" charset="0"/>
            </a:endParaRPr>
          </a:p>
        </p:txBody>
      </p:sp>
      <p:sp>
        <p:nvSpPr>
          <p:cNvPr id="64516" name="Rectangle 2"/>
          <p:cNvSpPr>
            <a:spLocks noChangeArrowheads="1"/>
          </p:cNvSpPr>
          <p:nvPr/>
        </p:nvSpPr>
        <p:spPr bwMode="auto">
          <a:xfrm>
            <a:off x="1" y="-35887"/>
            <a:ext cx="184731" cy="80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sz="1540"/>
            </a:br>
            <a:endParaRPr lang="en-US" altLang="en-US" sz="1540"/>
          </a:p>
          <a:p>
            <a:pPr eaLnBrk="1" hangingPunct="1">
              <a:buClrTx/>
              <a:buFontTx/>
              <a:buNone/>
            </a:pPr>
            <a:endParaRPr lang="en-US" altLang="en-US" sz="1540"/>
          </a:p>
        </p:txBody>
      </p:sp>
      <p:sp>
        <p:nvSpPr>
          <p:cNvPr id="64517" name="Content Placeholder 1"/>
          <p:cNvSpPr txBox="1">
            <a:spLocks noGrp="1"/>
          </p:cNvSpPr>
          <p:nvPr>
            <p:ph idx="1"/>
          </p:nvPr>
        </p:nvSpPr>
        <p:spPr>
          <a:xfrm>
            <a:off x="502920" y="1462406"/>
            <a:ext cx="9052560" cy="3939540"/>
          </a:xfrm>
        </p:spPr>
        <p:txBody>
          <a:bodyPr/>
          <a:lstStyle/>
          <a:p>
            <a:pPr marL="0" indent="0" algn="ctr">
              <a:spcBef>
                <a:spcPts val="399"/>
              </a:spcBef>
              <a:spcAft>
                <a:spcPct val="0"/>
              </a:spcAft>
              <a:buClr>
                <a:srgbClr val="000000"/>
              </a:buClr>
              <a:buNone/>
            </a:pPr>
            <a:r>
              <a:rPr lang="en-IN" sz="2200" b="1">
                <a:latin typeface="Arial" panose="020B0604020202020204" pitchFamily="34" charset="0"/>
                <a:cs typeface="Arial" panose="020B0604020202020204" pitchFamily="34" charset="0"/>
              </a:rPr>
              <a:t>SECTION B </a:t>
            </a:r>
          </a:p>
          <a:p>
            <a:pPr marL="0" indent="0">
              <a:spcBef>
                <a:spcPts val="399"/>
              </a:spcBef>
              <a:spcAft>
                <a:spcPct val="0"/>
              </a:spcAft>
              <a:buClr>
                <a:srgbClr val="000000"/>
              </a:buClr>
              <a:buNone/>
            </a:pPr>
            <a:r>
              <a:rPr lang="en-IN" sz="2200" b="1">
                <a:latin typeface="Arial" panose="020B0604020202020204" pitchFamily="34" charset="0"/>
                <a:cs typeface="Arial" panose="020B0604020202020204" pitchFamily="34" charset="0"/>
              </a:rPr>
              <a:t>2. Attempt any three of the following:                               3 x 10 = 30</a:t>
            </a: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lgn="ctr">
              <a:spcBef>
                <a:spcPts val="399"/>
              </a:spcBef>
              <a:spcAft>
                <a:spcPct val="0"/>
              </a:spcAft>
              <a:buClr>
                <a:srgbClr val="000000"/>
              </a:buClr>
              <a:buNone/>
            </a:pPr>
            <a:r>
              <a:rPr lang="en-IN" sz="2200" b="1">
                <a:latin typeface="Arial" panose="020B0604020202020204" pitchFamily="34" charset="0"/>
                <a:cs typeface="Arial" panose="020B0604020202020204" pitchFamily="34" charset="0"/>
              </a:rPr>
              <a:t> SECTION C</a:t>
            </a:r>
          </a:p>
          <a:p>
            <a:pPr marL="0" indent="0">
              <a:spcBef>
                <a:spcPts val="399"/>
              </a:spcBef>
              <a:spcAft>
                <a:spcPct val="0"/>
              </a:spcAft>
              <a:buClr>
                <a:srgbClr val="000000"/>
              </a:buClr>
              <a:buNone/>
            </a:pPr>
            <a:r>
              <a:rPr lang="en-IN" sz="2200" b="1">
                <a:latin typeface="Arial" panose="020B0604020202020204" pitchFamily="34" charset="0"/>
                <a:cs typeface="Arial" panose="020B0604020202020204" pitchFamily="34" charset="0"/>
              </a:rPr>
              <a:t>3. Attempt any one part of the following:                          1 x 10 = 10    </a:t>
            </a:r>
            <a:endParaRPr lang="en-IN" sz="2200" b="1" i="1">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786934458"/>
              </p:ext>
            </p:extLst>
          </p:nvPr>
        </p:nvGraphicFramePr>
        <p:xfrm>
          <a:off x="811848" y="2441893"/>
          <a:ext cx="8622982" cy="2514600"/>
        </p:xfrm>
        <a:graphic>
          <a:graphicData uri="http://schemas.openxmlformats.org/drawingml/2006/table">
            <a:tbl>
              <a:tblPr firstRow="1" bandRow="1">
                <a:tableStyleId>{5C22544A-7EE6-4342-B048-85BDC9FD1C3A}</a:tableStyleId>
              </a:tblPr>
              <a:tblGrid>
                <a:gridCol w="994960">
                  <a:extLst>
                    <a:ext uri="{9D8B030D-6E8A-4147-A177-3AD203B41FA5}">
                      <a16:colId xmlns:a16="http://schemas.microsoft.com/office/drawing/2014/main" val="20000"/>
                    </a:ext>
                  </a:extLst>
                </a:gridCol>
                <a:gridCol w="5803930">
                  <a:extLst>
                    <a:ext uri="{9D8B030D-6E8A-4147-A177-3AD203B41FA5}">
                      <a16:colId xmlns:a16="http://schemas.microsoft.com/office/drawing/2014/main" val="20001"/>
                    </a:ext>
                  </a:extLst>
                </a:gridCol>
                <a:gridCol w="912046">
                  <a:extLst>
                    <a:ext uri="{9D8B030D-6E8A-4147-A177-3AD203B41FA5}">
                      <a16:colId xmlns:a16="http://schemas.microsoft.com/office/drawing/2014/main" val="20002"/>
                    </a:ext>
                  </a:extLst>
                </a:gridCol>
                <a:gridCol w="912046">
                  <a:extLst>
                    <a:ext uri="{9D8B030D-6E8A-4147-A177-3AD203B41FA5}">
                      <a16:colId xmlns:a16="http://schemas.microsoft.com/office/drawing/2014/main" val="20003"/>
                    </a:ext>
                  </a:extLst>
                </a:gridCol>
              </a:tblGrid>
              <a:tr h="764438">
                <a:tc>
                  <a:txBody>
                    <a:bodyPr/>
                    <a:lstStyle/>
                    <a:p>
                      <a:r>
                        <a:rPr lang="en-IN" sz="2200" dirty="0" err="1">
                          <a:solidFill>
                            <a:schemeClr val="tx1"/>
                          </a:solidFill>
                        </a:rPr>
                        <a:t>Q.No</a:t>
                      </a:r>
                      <a:r>
                        <a:rPr lang="en-IN" sz="2200" dirty="0">
                          <a:solidFill>
                            <a:schemeClr val="tx1"/>
                          </a:solidFill>
                        </a:rPr>
                        <a:t>.</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200" dirty="0">
                          <a:solidFill>
                            <a:schemeClr val="tx1"/>
                          </a:solidFill>
                        </a:rPr>
                        <a:t>Question </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solidFill>
                            <a:schemeClr val="tx1"/>
                          </a:solidFill>
                        </a:rPr>
                        <a:t>Marks </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200" dirty="0">
                          <a:solidFill>
                            <a:schemeClr val="tx1"/>
                          </a:solidFill>
                        </a:rPr>
                        <a:t>CO</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32511">
                <a:tc>
                  <a:txBody>
                    <a:bodyPr/>
                    <a:lstStyle/>
                    <a:p>
                      <a:r>
                        <a:rPr lang="en-IN" sz="2200" dirty="0"/>
                        <a:t>1</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t>10</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2511">
                <a:tc>
                  <a:txBody>
                    <a:bodyPr/>
                    <a:lstStyle/>
                    <a:p>
                      <a:r>
                        <a:rPr lang="en-IN" sz="2200" dirty="0"/>
                        <a:t>2</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t>10</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2511">
                <a:tc>
                  <a:txBody>
                    <a:bodyPr/>
                    <a:lstStyle/>
                    <a:p>
                      <a:r>
                        <a:rPr lang="en-IN" sz="2200" dirty="0"/>
                        <a:t>.</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t>.</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2511">
                <a:tc>
                  <a:txBody>
                    <a:bodyPr/>
                    <a:lstStyle/>
                    <a:p>
                      <a:r>
                        <a:rPr lang="en-IN" sz="2200" dirty="0"/>
                        <a:t>5</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200" dirty="0"/>
                        <a:t>10</a:t>
                      </a:r>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200" dirty="0"/>
                    </a:p>
                  </a:txBody>
                  <a:tcPr marL="100591" marR="100591" marT="50292" marB="502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1023303" y="5559108"/>
          <a:ext cx="8785384" cy="1526223"/>
        </p:xfrm>
        <a:graphic>
          <a:graphicData uri="http://schemas.openxmlformats.org/drawingml/2006/table">
            <a:tbl>
              <a:tblPr firstRow="1" bandRow="1">
                <a:tableStyleId>{5C22544A-7EE6-4342-B048-85BDC9FD1C3A}</a:tableStyleId>
              </a:tblPr>
              <a:tblGrid>
                <a:gridCol w="1013698">
                  <a:extLst>
                    <a:ext uri="{9D8B030D-6E8A-4147-A177-3AD203B41FA5}">
                      <a16:colId xmlns:a16="http://schemas.microsoft.com/office/drawing/2014/main" val="20000"/>
                    </a:ext>
                  </a:extLst>
                </a:gridCol>
                <a:gridCol w="5913240">
                  <a:extLst>
                    <a:ext uri="{9D8B030D-6E8A-4147-A177-3AD203B41FA5}">
                      <a16:colId xmlns:a16="http://schemas.microsoft.com/office/drawing/2014/main" val="20001"/>
                    </a:ext>
                  </a:extLst>
                </a:gridCol>
                <a:gridCol w="929223">
                  <a:extLst>
                    <a:ext uri="{9D8B030D-6E8A-4147-A177-3AD203B41FA5}">
                      <a16:colId xmlns:a16="http://schemas.microsoft.com/office/drawing/2014/main" val="20002"/>
                    </a:ext>
                  </a:extLst>
                </a:gridCol>
                <a:gridCol w="929223">
                  <a:extLst>
                    <a:ext uri="{9D8B030D-6E8A-4147-A177-3AD203B41FA5}">
                      <a16:colId xmlns:a16="http://schemas.microsoft.com/office/drawing/2014/main" val="20003"/>
                    </a:ext>
                  </a:extLst>
                </a:gridCol>
              </a:tblGrid>
              <a:tr h="712273">
                <a:tc>
                  <a:txBody>
                    <a:bodyPr/>
                    <a:lstStyle/>
                    <a:p>
                      <a:r>
                        <a:rPr lang="en-IN" sz="2000" dirty="0" err="1">
                          <a:solidFill>
                            <a:schemeClr val="tx1"/>
                          </a:solidFill>
                        </a:rPr>
                        <a:t>Q.No</a:t>
                      </a:r>
                      <a:r>
                        <a:rPr lang="en-IN" sz="2000" dirty="0">
                          <a:solidFill>
                            <a:schemeClr val="tx1"/>
                          </a:solidFill>
                        </a:rPr>
                        <a:t>.</a:t>
                      </a:r>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Question </a:t>
                      </a:r>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solidFill>
                            <a:schemeClr val="tx1"/>
                          </a:solidFill>
                        </a:rPr>
                        <a:t>Marks </a:t>
                      </a:r>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CO</a:t>
                      </a:r>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6975">
                <a:tc>
                  <a:txBody>
                    <a:bodyPr/>
                    <a:lstStyle/>
                    <a:p>
                      <a:r>
                        <a:rPr lang="en-IN" sz="2000" dirty="0"/>
                        <a:t>1</a:t>
                      </a:r>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6975">
                <a:tc>
                  <a:txBody>
                    <a:bodyPr/>
                    <a:lstStyle/>
                    <a:p>
                      <a:r>
                        <a:rPr lang="en-IN" sz="2000" dirty="0"/>
                        <a:t>2</a:t>
                      </a:r>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3" marR="100583" marT="50252" marB="502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4573" name="Slide Number Placeholder 11"/>
          <p:cNvSpPr>
            <a:spLocks noGrp="1"/>
          </p:cNvSpPr>
          <p:nvPr>
            <p:ph type="sldNum" sz="quarter" idx="4294967295"/>
          </p:nvPr>
        </p:nvSpPr>
        <p:spPr>
          <a:xfrm>
            <a:off x="7208520" y="7106285"/>
            <a:ext cx="2346960" cy="4016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E6A2E554-3B68-4B18-B719-788ED463D08D}" type="slidenum">
              <a:rPr lang="en-US" sz="132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17</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64574"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
            <a:ext cx="1739265" cy="932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4479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Date Placeholder 3"/>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A9C89EFA-3A20-4821-BC3E-44C9D4D0E289}" type="datetime1">
              <a:rPr lang="en-US" sz="132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786415" y="114300"/>
            <a:ext cx="8020526" cy="918528"/>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N" sz="3520" dirty="0">
                <a:latin typeface="Times New Roman" pitchFamily="18" charset="0"/>
                <a:cs typeface="Times New Roman" pitchFamily="18" charset="0"/>
                <a:sym typeface="Arial" charset="0"/>
              </a:rPr>
              <a:t>End Semester Question Paper Templates </a:t>
            </a:r>
            <a:endParaRPr lang="en-US" sz="3520" dirty="0">
              <a:latin typeface="Times New Roman" pitchFamily="18" charset="0"/>
              <a:cs typeface="Times New Roman" pitchFamily="18" charset="0"/>
              <a:sym typeface="Arial" charset="0"/>
            </a:endParaRPr>
          </a:p>
        </p:txBody>
      </p:sp>
      <p:sp>
        <p:nvSpPr>
          <p:cNvPr id="65540" name="Rectangle 2"/>
          <p:cNvSpPr>
            <a:spLocks noChangeArrowheads="1"/>
          </p:cNvSpPr>
          <p:nvPr/>
        </p:nvSpPr>
        <p:spPr bwMode="auto">
          <a:xfrm>
            <a:off x="1" y="-35887"/>
            <a:ext cx="184731" cy="80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sz="1540"/>
            </a:br>
            <a:endParaRPr lang="en-US" altLang="en-US" sz="1540"/>
          </a:p>
          <a:p>
            <a:pPr eaLnBrk="1" hangingPunct="1">
              <a:buClrTx/>
              <a:buFontTx/>
              <a:buNone/>
            </a:pPr>
            <a:endParaRPr lang="en-US" altLang="en-US" sz="1540"/>
          </a:p>
        </p:txBody>
      </p:sp>
      <p:sp>
        <p:nvSpPr>
          <p:cNvPr id="65541" name="Content Placeholder 1"/>
          <p:cNvSpPr txBox="1">
            <a:spLocks noGrp="1"/>
          </p:cNvSpPr>
          <p:nvPr>
            <p:ph idx="1"/>
          </p:nvPr>
        </p:nvSpPr>
        <p:spPr>
          <a:xfrm>
            <a:off x="590233" y="1120141"/>
            <a:ext cx="8965248" cy="4719241"/>
          </a:xfrm>
        </p:spPr>
        <p:txBody>
          <a:bodyPr/>
          <a:lstStyle/>
          <a:p>
            <a:pPr marL="0" indent="0">
              <a:spcBef>
                <a:spcPts val="399"/>
              </a:spcBef>
              <a:spcAft>
                <a:spcPct val="0"/>
              </a:spcAft>
              <a:buClr>
                <a:srgbClr val="000000"/>
              </a:buClr>
              <a:buNone/>
            </a:pPr>
            <a:r>
              <a:rPr lang="en-IN" sz="2200" b="1">
                <a:latin typeface="Arial" panose="020B0604020202020204" pitchFamily="34" charset="0"/>
                <a:cs typeface="Arial" panose="020B0604020202020204" pitchFamily="34" charset="0"/>
              </a:rPr>
              <a:t>4. Attempt any one part of the following:                          1 x 10 = 10</a:t>
            </a: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r>
              <a:rPr lang="en-IN" sz="2200" b="1">
                <a:latin typeface="Arial" panose="020B0604020202020204" pitchFamily="34" charset="0"/>
                <a:cs typeface="Arial" panose="020B0604020202020204" pitchFamily="34" charset="0"/>
              </a:rPr>
              <a:t>5. Attempt any one part of the following:                          1 x 10 = 10  </a:t>
            </a: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r>
              <a:rPr lang="en-IN" sz="2200" b="1">
                <a:latin typeface="Arial" panose="020B0604020202020204" pitchFamily="34" charset="0"/>
                <a:cs typeface="Arial" panose="020B0604020202020204" pitchFamily="34" charset="0"/>
              </a:rPr>
              <a:t> 6. Attempt any one part of the following:                        1 x 10 = 10    </a:t>
            </a:r>
            <a:endParaRPr lang="en-IN" sz="2200" b="1" i="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i="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i="1">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nvGraphicFramePr>
        <p:xfrm>
          <a:off x="831215" y="1727835"/>
          <a:ext cx="8846503" cy="1336703"/>
        </p:xfrm>
        <a:graphic>
          <a:graphicData uri="http://schemas.openxmlformats.org/drawingml/2006/table">
            <a:tbl>
              <a:tblPr firstRow="1" bandRow="1">
                <a:tableStyleId>{5C22544A-7EE6-4342-B048-85BDC9FD1C3A}</a:tableStyleId>
              </a:tblPr>
              <a:tblGrid>
                <a:gridCol w="1020749">
                  <a:extLst>
                    <a:ext uri="{9D8B030D-6E8A-4147-A177-3AD203B41FA5}">
                      <a16:colId xmlns:a16="http://schemas.microsoft.com/office/drawing/2014/main" val="20000"/>
                    </a:ext>
                  </a:extLst>
                </a:gridCol>
                <a:gridCol w="5954378">
                  <a:extLst>
                    <a:ext uri="{9D8B030D-6E8A-4147-A177-3AD203B41FA5}">
                      <a16:colId xmlns:a16="http://schemas.microsoft.com/office/drawing/2014/main" val="20001"/>
                    </a:ext>
                  </a:extLst>
                </a:gridCol>
                <a:gridCol w="935688">
                  <a:extLst>
                    <a:ext uri="{9D8B030D-6E8A-4147-A177-3AD203B41FA5}">
                      <a16:colId xmlns:a16="http://schemas.microsoft.com/office/drawing/2014/main" val="20002"/>
                    </a:ext>
                  </a:extLst>
                </a:gridCol>
                <a:gridCol w="935688">
                  <a:extLst>
                    <a:ext uri="{9D8B030D-6E8A-4147-A177-3AD203B41FA5}">
                      <a16:colId xmlns:a16="http://schemas.microsoft.com/office/drawing/2014/main" val="20003"/>
                    </a:ext>
                  </a:extLst>
                </a:gridCol>
              </a:tblGrid>
              <a:tr h="526099">
                <a:tc>
                  <a:txBody>
                    <a:bodyPr/>
                    <a:lstStyle/>
                    <a:p>
                      <a:r>
                        <a:rPr lang="en-IN" sz="2000" dirty="0" err="1">
                          <a:solidFill>
                            <a:schemeClr val="tx1"/>
                          </a:solidFill>
                        </a:rPr>
                        <a:t>Q.No</a:t>
                      </a:r>
                      <a:r>
                        <a:rPr lang="en-IN" sz="2000" dirty="0">
                          <a:solidFill>
                            <a:schemeClr val="tx1"/>
                          </a:solidFill>
                        </a:rPr>
                        <a:t>.</a:t>
                      </a:r>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Question </a:t>
                      </a:r>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solidFill>
                            <a:schemeClr val="tx1"/>
                          </a:solidFill>
                        </a:rPr>
                        <a:t>Marks </a:t>
                      </a:r>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CO</a:t>
                      </a:r>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2271">
                <a:tc>
                  <a:txBody>
                    <a:bodyPr/>
                    <a:lstStyle/>
                    <a:p>
                      <a:r>
                        <a:rPr lang="en-IN" sz="2000" dirty="0"/>
                        <a:t>1</a:t>
                      </a:r>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2271">
                <a:tc>
                  <a:txBody>
                    <a:bodyPr/>
                    <a:lstStyle/>
                    <a:p>
                      <a:r>
                        <a:rPr lang="en-IN" sz="2000" dirty="0"/>
                        <a:t>2</a:t>
                      </a:r>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94" marR="100594" marT="50251" marB="50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850425" y="3479324"/>
          <a:ext cx="8774905" cy="1215822"/>
        </p:xfrm>
        <a:graphic>
          <a:graphicData uri="http://schemas.openxmlformats.org/drawingml/2006/table">
            <a:tbl>
              <a:tblPr firstRow="1" bandRow="1">
                <a:tableStyleId>{5C22544A-7EE6-4342-B048-85BDC9FD1C3A}</a:tableStyleId>
              </a:tblPr>
              <a:tblGrid>
                <a:gridCol w="1012488">
                  <a:extLst>
                    <a:ext uri="{9D8B030D-6E8A-4147-A177-3AD203B41FA5}">
                      <a16:colId xmlns:a16="http://schemas.microsoft.com/office/drawing/2014/main" val="20000"/>
                    </a:ext>
                  </a:extLst>
                </a:gridCol>
                <a:gridCol w="5906187">
                  <a:extLst>
                    <a:ext uri="{9D8B030D-6E8A-4147-A177-3AD203B41FA5}">
                      <a16:colId xmlns:a16="http://schemas.microsoft.com/office/drawing/2014/main" val="20001"/>
                    </a:ext>
                  </a:extLst>
                </a:gridCol>
                <a:gridCol w="928115">
                  <a:extLst>
                    <a:ext uri="{9D8B030D-6E8A-4147-A177-3AD203B41FA5}">
                      <a16:colId xmlns:a16="http://schemas.microsoft.com/office/drawing/2014/main" val="20002"/>
                    </a:ext>
                  </a:extLst>
                </a:gridCol>
                <a:gridCol w="928115">
                  <a:extLst>
                    <a:ext uri="{9D8B030D-6E8A-4147-A177-3AD203B41FA5}">
                      <a16:colId xmlns:a16="http://schemas.microsoft.com/office/drawing/2014/main" val="20003"/>
                    </a:ext>
                  </a:extLst>
                </a:gridCol>
              </a:tblGrid>
              <a:tr h="402226">
                <a:tc>
                  <a:txBody>
                    <a:bodyPr/>
                    <a:lstStyle/>
                    <a:p>
                      <a:r>
                        <a:rPr lang="en-IN" sz="2000" dirty="0" err="1">
                          <a:solidFill>
                            <a:schemeClr val="tx1"/>
                          </a:solidFill>
                        </a:rPr>
                        <a:t>Q.No</a:t>
                      </a:r>
                      <a:r>
                        <a:rPr lang="en-IN" sz="2000" dirty="0">
                          <a:solidFill>
                            <a:schemeClr val="tx1"/>
                          </a:solidFill>
                        </a:rPr>
                        <a:t>.</a:t>
                      </a:r>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Question </a:t>
                      </a:r>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solidFill>
                            <a:schemeClr val="tx1"/>
                          </a:solidFill>
                        </a:rPr>
                        <a:t>Marks </a:t>
                      </a:r>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CO</a:t>
                      </a:r>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2226">
                <a:tc>
                  <a:txBody>
                    <a:bodyPr/>
                    <a:lstStyle/>
                    <a:p>
                      <a:r>
                        <a:rPr lang="en-IN" sz="2000" dirty="0"/>
                        <a:t>1</a:t>
                      </a:r>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2226">
                <a:tc>
                  <a:txBody>
                    <a:bodyPr/>
                    <a:lstStyle/>
                    <a:p>
                      <a:r>
                        <a:rPr lang="en-IN" sz="2000" dirty="0"/>
                        <a:t>2</a:t>
                      </a:r>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2" marR="100582" marT="50237" marB="5023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883603" y="5178425"/>
          <a:ext cx="8514714" cy="1716566"/>
        </p:xfrm>
        <a:graphic>
          <a:graphicData uri="http://schemas.openxmlformats.org/drawingml/2006/table">
            <a:tbl>
              <a:tblPr firstRow="1" bandRow="1">
                <a:tableStyleId>{5C22544A-7EE6-4342-B048-85BDC9FD1C3A}</a:tableStyleId>
              </a:tblPr>
              <a:tblGrid>
                <a:gridCol w="982467">
                  <a:extLst>
                    <a:ext uri="{9D8B030D-6E8A-4147-A177-3AD203B41FA5}">
                      <a16:colId xmlns:a16="http://schemas.microsoft.com/office/drawing/2014/main" val="20000"/>
                    </a:ext>
                  </a:extLst>
                </a:gridCol>
                <a:gridCol w="5731059">
                  <a:extLst>
                    <a:ext uri="{9D8B030D-6E8A-4147-A177-3AD203B41FA5}">
                      <a16:colId xmlns:a16="http://schemas.microsoft.com/office/drawing/2014/main" val="20001"/>
                    </a:ext>
                  </a:extLst>
                </a:gridCol>
                <a:gridCol w="900594">
                  <a:extLst>
                    <a:ext uri="{9D8B030D-6E8A-4147-A177-3AD203B41FA5}">
                      <a16:colId xmlns:a16="http://schemas.microsoft.com/office/drawing/2014/main" val="20002"/>
                    </a:ext>
                  </a:extLst>
                </a:gridCol>
                <a:gridCol w="900594">
                  <a:extLst>
                    <a:ext uri="{9D8B030D-6E8A-4147-A177-3AD203B41FA5}">
                      <a16:colId xmlns:a16="http://schemas.microsoft.com/office/drawing/2014/main" val="20003"/>
                    </a:ext>
                  </a:extLst>
                </a:gridCol>
              </a:tblGrid>
              <a:tr h="801104">
                <a:tc>
                  <a:txBody>
                    <a:bodyPr/>
                    <a:lstStyle/>
                    <a:p>
                      <a:r>
                        <a:rPr lang="en-IN" sz="2000" dirty="0" err="1">
                          <a:solidFill>
                            <a:schemeClr val="tx1"/>
                          </a:solidFill>
                        </a:rPr>
                        <a:t>Q.No</a:t>
                      </a:r>
                      <a:r>
                        <a:rPr lang="en-IN" sz="2000" dirty="0">
                          <a:solidFill>
                            <a:schemeClr val="tx1"/>
                          </a:solidFill>
                        </a:rPr>
                        <a:t>.</a:t>
                      </a:r>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Question </a:t>
                      </a:r>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solidFill>
                            <a:schemeClr val="tx1"/>
                          </a:solidFill>
                        </a:rPr>
                        <a:t>Marks </a:t>
                      </a:r>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CO</a:t>
                      </a:r>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57731">
                <a:tc>
                  <a:txBody>
                    <a:bodyPr/>
                    <a:lstStyle/>
                    <a:p>
                      <a:r>
                        <a:rPr lang="en-IN" sz="2000" dirty="0"/>
                        <a:t>1</a:t>
                      </a:r>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731">
                <a:tc>
                  <a:txBody>
                    <a:bodyPr/>
                    <a:lstStyle/>
                    <a:p>
                      <a:r>
                        <a:rPr lang="en-IN" sz="2000" dirty="0"/>
                        <a:t>2</a:t>
                      </a:r>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84" marR="100584" marT="50239" marB="502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5608" name="Slide Number Placeholder 12"/>
          <p:cNvSpPr>
            <a:spLocks noGrp="1"/>
          </p:cNvSpPr>
          <p:nvPr>
            <p:ph type="sldNum" sz="quarter" idx="4294967295"/>
          </p:nvPr>
        </p:nvSpPr>
        <p:spPr>
          <a:xfrm>
            <a:off x="7208520" y="7106285"/>
            <a:ext cx="2346960" cy="4016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BEE873E6-5358-43BC-AC95-2B669541F710}" type="slidenum">
              <a:rPr lang="en-US" sz="132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18</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65610"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
            <a:ext cx="1739265" cy="932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9676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Date Placeholder 3"/>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A2E2B1C5-848B-4150-8880-DDDF08C7FF3F}" type="datetime1">
              <a:rPr lang="en-US" sz="132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508760" y="114300"/>
            <a:ext cx="8298180" cy="1040765"/>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IN" sz="3520" dirty="0">
                <a:latin typeface="Times New Roman" pitchFamily="18" charset="0"/>
                <a:cs typeface="Times New Roman" pitchFamily="18" charset="0"/>
                <a:sym typeface="Arial" charset="0"/>
              </a:rPr>
              <a:t>End Semester Question Paper Templates </a:t>
            </a:r>
            <a:endParaRPr lang="en-US" sz="3520" dirty="0">
              <a:latin typeface="Times New Roman" pitchFamily="18" charset="0"/>
              <a:cs typeface="Times New Roman" pitchFamily="18" charset="0"/>
              <a:sym typeface="Arial" charset="0"/>
            </a:endParaRPr>
          </a:p>
        </p:txBody>
      </p:sp>
      <p:sp>
        <p:nvSpPr>
          <p:cNvPr id="66564" name="Rectangle 2"/>
          <p:cNvSpPr>
            <a:spLocks noChangeArrowheads="1"/>
          </p:cNvSpPr>
          <p:nvPr/>
        </p:nvSpPr>
        <p:spPr bwMode="auto">
          <a:xfrm>
            <a:off x="1" y="-35887"/>
            <a:ext cx="184731" cy="80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sz="1540"/>
            </a:br>
            <a:endParaRPr lang="en-US" altLang="en-US" sz="1540"/>
          </a:p>
          <a:p>
            <a:pPr eaLnBrk="1" hangingPunct="1">
              <a:buClrTx/>
              <a:buFontTx/>
              <a:buNone/>
            </a:pPr>
            <a:endParaRPr lang="en-US" altLang="en-US" sz="1540"/>
          </a:p>
        </p:txBody>
      </p:sp>
      <p:sp>
        <p:nvSpPr>
          <p:cNvPr id="66565" name="Content Placeholder 1"/>
          <p:cNvSpPr txBox="1">
            <a:spLocks noGrp="1"/>
          </p:cNvSpPr>
          <p:nvPr>
            <p:ph idx="1"/>
          </p:nvPr>
        </p:nvSpPr>
        <p:spPr>
          <a:xfrm>
            <a:off x="502920" y="1462406"/>
            <a:ext cx="9052560" cy="2769989"/>
          </a:xfrm>
        </p:spPr>
        <p:txBody>
          <a:bodyPr/>
          <a:lstStyle/>
          <a:p>
            <a:pPr marL="0" indent="0">
              <a:spcBef>
                <a:spcPts val="399"/>
              </a:spcBef>
              <a:spcAft>
                <a:spcPct val="0"/>
              </a:spcAft>
              <a:buClr>
                <a:srgbClr val="000000"/>
              </a:buClr>
              <a:buNone/>
            </a:pPr>
            <a:r>
              <a:rPr lang="en-IN" sz="2200" b="1">
                <a:latin typeface="Arial" panose="020B0604020202020204" pitchFamily="34" charset="0"/>
                <a:cs typeface="Arial" panose="020B0604020202020204" pitchFamily="34" charset="0"/>
              </a:rPr>
              <a:t>7. Attempt any one part of the following:                           1 x 10 = 10</a:t>
            </a: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i="1">
              <a:latin typeface="Arial" panose="020B0604020202020204" pitchFamily="34" charset="0"/>
              <a:cs typeface="Arial" panose="020B0604020202020204" pitchFamily="34" charset="0"/>
            </a:endParaRPr>
          </a:p>
          <a:p>
            <a:pPr marL="0" indent="0">
              <a:spcBef>
                <a:spcPts val="399"/>
              </a:spcBef>
              <a:spcAft>
                <a:spcPct val="0"/>
              </a:spcAft>
              <a:buClr>
                <a:srgbClr val="000000"/>
              </a:buClr>
              <a:buNone/>
            </a:pPr>
            <a:endParaRPr lang="en-IN" sz="2200" b="1" i="1">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nvGraphicFramePr>
        <p:xfrm>
          <a:off x="935990" y="2298859"/>
          <a:ext cx="8612506" cy="1514751"/>
        </p:xfrm>
        <a:graphic>
          <a:graphicData uri="http://schemas.openxmlformats.org/drawingml/2006/table">
            <a:tbl>
              <a:tblPr firstRow="1" bandRow="1">
                <a:tableStyleId>{5C22544A-7EE6-4342-B048-85BDC9FD1C3A}</a:tableStyleId>
              </a:tblPr>
              <a:tblGrid>
                <a:gridCol w="993751">
                  <a:extLst>
                    <a:ext uri="{9D8B030D-6E8A-4147-A177-3AD203B41FA5}">
                      <a16:colId xmlns:a16="http://schemas.microsoft.com/office/drawing/2014/main" val="20000"/>
                    </a:ext>
                  </a:extLst>
                </a:gridCol>
                <a:gridCol w="5796879">
                  <a:extLst>
                    <a:ext uri="{9D8B030D-6E8A-4147-A177-3AD203B41FA5}">
                      <a16:colId xmlns:a16="http://schemas.microsoft.com/office/drawing/2014/main" val="20001"/>
                    </a:ext>
                  </a:extLst>
                </a:gridCol>
                <a:gridCol w="910938">
                  <a:extLst>
                    <a:ext uri="{9D8B030D-6E8A-4147-A177-3AD203B41FA5}">
                      <a16:colId xmlns:a16="http://schemas.microsoft.com/office/drawing/2014/main" val="20002"/>
                    </a:ext>
                  </a:extLst>
                </a:gridCol>
                <a:gridCol w="910938">
                  <a:extLst>
                    <a:ext uri="{9D8B030D-6E8A-4147-A177-3AD203B41FA5}">
                      <a16:colId xmlns:a16="http://schemas.microsoft.com/office/drawing/2014/main" val="20003"/>
                    </a:ext>
                  </a:extLst>
                </a:gridCol>
              </a:tblGrid>
              <a:tr h="704123">
                <a:tc>
                  <a:txBody>
                    <a:bodyPr/>
                    <a:lstStyle/>
                    <a:p>
                      <a:r>
                        <a:rPr lang="en-IN" sz="2000" dirty="0" err="1">
                          <a:solidFill>
                            <a:schemeClr val="tx1"/>
                          </a:solidFill>
                        </a:rPr>
                        <a:t>Q.No</a:t>
                      </a:r>
                      <a:r>
                        <a:rPr lang="en-IN" sz="2000" dirty="0">
                          <a:solidFill>
                            <a:schemeClr val="tx1"/>
                          </a:solidFill>
                        </a:rPr>
                        <a:t>.</a:t>
                      </a:r>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Question </a:t>
                      </a:r>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solidFill>
                            <a:schemeClr val="tx1"/>
                          </a:solidFill>
                        </a:rPr>
                        <a:t>Marks </a:t>
                      </a:r>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rPr>
                        <a:t>CO</a:t>
                      </a:r>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2318">
                <a:tc>
                  <a:txBody>
                    <a:bodyPr/>
                    <a:lstStyle/>
                    <a:p>
                      <a:r>
                        <a:rPr lang="en-IN" sz="2000" dirty="0"/>
                        <a:t>1</a:t>
                      </a:r>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2318">
                <a:tc>
                  <a:txBody>
                    <a:bodyPr/>
                    <a:lstStyle/>
                    <a:p>
                      <a:r>
                        <a:rPr lang="en-IN" sz="2000" dirty="0"/>
                        <a:t>2</a:t>
                      </a:r>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dirty="0"/>
                        <a:t>10</a:t>
                      </a:r>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2000" dirty="0"/>
                    </a:p>
                  </a:txBody>
                  <a:tcPr marL="100590" marR="100590" marT="50257" marB="50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6588" name="Slide Number Placeholder 10"/>
          <p:cNvSpPr>
            <a:spLocks noGrp="1"/>
          </p:cNvSpPr>
          <p:nvPr>
            <p:ph type="sldNum" sz="quarter" idx="4294967295"/>
          </p:nvPr>
        </p:nvSpPr>
        <p:spPr>
          <a:xfrm>
            <a:off x="7208520" y="7106285"/>
            <a:ext cx="2346960" cy="4016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817245" indent="-314325">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25730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76022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63140" indent="-251460">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6606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6898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77190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274820" indent="-251460" eaLnBrk="0" fontAlgn="base" hangingPunct="0">
              <a:spcBef>
                <a:spcPct val="0"/>
              </a:spcBef>
              <a:spcAft>
                <a:spcPct val="0"/>
              </a:spcAft>
              <a:buClr>
                <a:srgbClr val="000000"/>
              </a:buClr>
              <a:buFont typeface="Arial" panose="020B0604020202020204" pitchFamily="34" charset="0"/>
              <a:buChar char="»"/>
              <a:defRPr sz="154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CA10AF63-ABA1-4339-839E-459EC0F713B7}" type="slidenum">
              <a:rPr lang="en-US" sz="132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19</a:t>
            </a:fld>
            <a:endParaRPr lang="en-US" sz="132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66590"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
            <a:ext cx="1526223" cy="932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0742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6740" y="1371601"/>
            <a:ext cx="9052560" cy="4978559"/>
          </a:xfrm>
        </p:spPr>
        <p:txBody>
          <a:bodyPr>
            <a:normAutofit/>
          </a:bodyPr>
          <a:lstStyle/>
          <a:p>
            <a:r>
              <a:rPr lang="en-US" dirty="0">
                <a:latin typeface="+mj-lt"/>
              </a:rPr>
              <a:t>The student should have knowledge of</a:t>
            </a:r>
          </a:p>
          <a:p>
            <a:pPr lvl="1"/>
            <a:r>
              <a:rPr lang="en-US" dirty="0">
                <a:latin typeface="+mj-lt"/>
              </a:rPr>
              <a:t>Networking</a:t>
            </a:r>
          </a:p>
          <a:p>
            <a:pPr lvl="1"/>
            <a:r>
              <a:rPr lang="en-US" dirty="0">
                <a:latin typeface="+mj-lt"/>
              </a:rPr>
              <a:t>Layout of computer  </a:t>
            </a:r>
          </a:p>
          <a:p>
            <a:pPr lvl="1"/>
            <a:r>
              <a:rPr lang="en-US" dirty="0">
                <a:latin typeface="+mj-lt"/>
              </a:rPr>
              <a:t>Hardware</a:t>
            </a:r>
          </a:p>
          <a:p>
            <a:r>
              <a:rPr lang="en-US" dirty="0"/>
              <a:t>The basic knowledge of C</a:t>
            </a:r>
          </a:p>
        </p:txBody>
      </p:sp>
      <p:sp>
        <p:nvSpPr>
          <p:cNvPr id="4" name="Date Placeholder 3"/>
          <p:cNvSpPr>
            <a:spLocks noGrp="1"/>
          </p:cNvSpPr>
          <p:nvPr>
            <p:ph type="dt" sz="half" idx="10"/>
          </p:nvPr>
        </p:nvSpPr>
        <p:spPr/>
        <p:txBody>
          <a:bodyPr/>
          <a:lstStyle/>
          <a:p>
            <a:fld id="{C92DC4A7-571D-4E5E-8EA6-7461DEE223C1}"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1508760" y="114300"/>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algn="ctr" defTabSz="1005840">
              <a:spcBef>
                <a:spcPct val="0"/>
              </a:spcBef>
              <a:defRPr/>
            </a:pPr>
            <a:r>
              <a:rPr lang="en-US" sz="3300" dirty="0"/>
              <a:t>Prerequisite</a:t>
            </a:r>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114301"/>
            <a:ext cx="1592580" cy="898879"/>
          </a:xfrm>
          <a:prstGeom prst="rect">
            <a:avLst/>
          </a:prstGeom>
          <a:noFill/>
        </p:spPr>
      </p:pic>
    </p:spTree>
    <p:extLst>
      <p:ext uri="{BB962C8B-B14F-4D97-AF65-F5344CB8AC3E}">
        <p14:creationId xmlns:p14="http://schemas.microsoft.com/office/powerpoint/2010/main" val="1089844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3"/>
          <p:cNvSpPr>
            <a:spLocks noGrp="1"/>
          </p:cNvSpPr>
          <p:nvPr>
            <p:ph type="dt" sz="quarter" idx="11"/>
          </p:nvPr>
        </p:nvSpPr>
        <p:spPr>
          <a:noFill/>
        </p:spPr>
        <p:txBody>
          <a:bodyPr/>
          <a:lstStyle/>
          <a:p>
            <a:pPr>
              <a:buFont typeface="Arial" pitchFamily="34" charset="0"/>
              <a:buNone/>
            </a:pPr>
            <a:fld id="{3134A82E-413A-42C4-8BD2-37C4BD750741}" type="datetime1">
              <a:rPr lang="en-US" smtClean="0"/>
              <a:t>4/29/2022</a:t>
            </a:fld>
            <a:endParaRPr lang="en-US"/>
          </a:p>
        </p:txBody>
      </p:sp>
      <p:sp>
        <p:nvSpPr>
          <p:cNvPr id="23556" name="Slide Number Placeholder 5"/>
          <p:cNvSpPr>
            <a:spLocks noGrp="1"/>
          </p:cNvSpPr>
          <p:nvPr>
            <p:ph type="sldNum" sz="quarter" idx="4294967295"/>
          </p:nvPr>
        </p:nvSpPr>
        <p:spPr>
          <a:xfrm>
            <a:off x="7147402" y="7106285"/>
            <a:ext cx="3185160" cy="401638"/>
          </a:xfrm>
          <a:prstGeom prst="rect">
            <a:avLst/>
          </a:prstGeom>
          <a:noFill/>
        </p:spPr>
        <p:txBody>
          <a:bodyPr/>
          <a:lstStyle/>
          <a:p>
            <a:pPr algn="ctr">
              <a:buSzPts val="1400"/>
              <a:buFont typeface="Arial" pitchFamily="34" charset="0"/>
              <a:buNone/>
            </a:pPr>
            <a:fld id="{C9D35AC0-4A6C-4D49-B3C2-AC8A74D5F449}" type="slidenum">
              <a:rPr lang="en-US" smtClean="0"/>
              <a:pPr algn="ctr">
                <a:buSzPts val="1400"/>
                <a:buFont typeface="Arial" pitchFamily="34" charset="0"/>
                <a:buNone/>
              </a:pPr>
              <a:t>21</a:t>
            </a:fld>
            <a:endParaRPr lang="en-US"/>
          </a:p>
        </p:txBody>
      </p:sp>
      <p:sp>
        <p:nvSpPr>
          <p:cNvPr id="7" name="Title 1"/>
          <p:cNvSpPr txBox="1">
            <a:spLocks/>
          </p:cNvSpPr>
          <p:nvPr/>
        </p:nvSpPr>
        <p:spPr>
          <a:xfrm>
            <a:off x="1592580" y="114300"/>
            <a:ext cx="8465820" cy="75438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300" dirty="0"/>
              <a:t>Brief Introduction to Subject </a:t>
            </a:r>
          </a:p>
        </p:txBody>
      </p:sp>
      <p:sp>
        <p:nvSpPr>
          <p:cNvPr id="23558" name="Text Placeholder 9"/>
          <p:cNvSpPr txBox="1">
            <a:spLocks noGrp="1"/>
          </p:cNvSpPr>
          <p:nvPr>
            <p:ph type="body" idx="1"/>
          </p:nvPr>
        </p:nvSpPr>
        <p:spPr>
          <a:xfrm>
            <a:off x="520383" y="1111409"/>
            <a:ext cx="9052560" cy="5888355"/>
          </a:xfrm>
        </p:spPr>
        <p:txBody>
          <a:bodyPr>
            <a:normAutofit/>
          </a:bodyPr>
          <a:lstStyle/>
          <a:p>
            <a:pPr>
              <a:spcBef>
                <a:spcPts val="399"/>
              </a:spcBef>
              <a:spcAft>
                <a:spcPct val="0"/>
              </a:spcAft>
              <a:buClr>
                <a:srgbClr val="000000"/>
              </a:buClr>
            </a:pPr>
            <a:r>
              <a:rPr lang="en-US" sz="2200" dirty="0"/>
              <a:t> </a:t>
            </a:r>
            <a:r>
              <a:rPr lang="en-US" sz="2640" dirty="0"/>
              <a:t>Computer network is a group of devices connected with each other through a transmission medium such as wires, cables etc. </a:t>
            </a:r>
          </a:p>
          <a:p>
            <a:pPr>
              <a:spcBef>
                <a:spcPts val="399"/>
              </a:spcBef>
              <a:spcAft>
                <a:spcPct val="0"/>
              </a:spcAft>
              <a:buClr>
                <a:srgbClr val="000000"/>
              </a:buClr>
            </a:pPr>
            <a:endParaRPr lang="en-US" sz="2640" dirty="0"/>
          </a:p>
          <a:p>
            <a:pPr>
              <a:spcBef>
                <a:spcPts val="399"/>
              </a:spcBef>
              <a:spcAft>
                <a:spcPct val="0"/>
              </a:spcAft>
              <a:buClr>
                <a:srgbClr val="000000"/>
              </a:buClr>
            </a:pPr>
            <a:r>
              <a:rPr lang="en-US" sz="2640" dirty="0"/>
              <a:t>These devices can be computers, printers, scanners, Fax machines etc. </a:t>
            </a:r>
          </a:p>
          <a:p>
            <a:pPr>
              <a:spcBef>
                <a:spcPts val="399"/>
              </a:spcBef>
              <a:spcAft>
                <a:spcPct val="0"/>
              </a:spcAft>
              <a:buClr>
                <a:srgbClr val="000000"/>
              </a:buClr>
            </a:pPr>
            <a:endParaRPr lang="en-US" sz="2640" dirty="0"/>
          </a:p>
          <a:p>
            <a:pPr>
              <a:spcBef>
                <a:spcPts val="399"/>
              </a:spcBef>
              <a:spcAft>
                <a:spcPct val="0"/>
              </a:spcAft>
              <a:buClr>
                <a:srgbClr val="000000"/>
              </a:buClr>
            </a:pPr>
            <a:r>
              <a:rPr lang="en-US" sz="2640" dirty="0"/>
              <a:t>The purpose of having computer network is to send and receive data stored in other devices over the network.</a:t>
            </a:r>
            <a:endParaRPr lang="en-US" sz="2640" u="sng" dirty="0">
              <a:solidFill>
                <a:srgbClr val="0000FF"/>
              </a:solidFill>
              <a:latin typeface="Arial" pitchFamily="34" charset="0"/>
              <a:cs typeface="Arial" pitchFamily="34" charset="0"/>
            </a:endParaRPr>
          </a:p>
        </p:txBody>
      </p:sp>
    </p:spTree>
    <p:extLst>
      <p:ext uri="{BB962C8B-B14F-4D97-AF65-F5344CB8AC3E}">
        <p14:creationId xmlns:p14="http://schemas.microsoft.com/office/powerpoint/2010/main" val="3620870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4789" y="1112254"/>
            <a:ext cx="9552157" cy="5317353"/>
          </a:xfrm>
        </p:spPr>
        <p:txBody>
          <a:bodyPr/>
          <a:lstStyle/>
          <a:p>
            <a:pPr marL="377190" indent="-377190">
              <a:buFont typeface="Arial" panose="020B0604020202020204" pitchFamily="34" charset="0"/>
              <a:buChar char="•"/>
            </a:pPr>
            <a:r>
              <a:rPr lang="en-US" dirty="0"/>
              <a:t>To develop an understanding of </a:t>
            </a:r>
          </a:p>
          <a:p>
            <a:pPr marL="377190" indent="-377190">
              <a:buFont typeface="Arial" panose="020B0604020202020204" pitchFamily="34" charset="0"/>
              <a:buChar char="•"/>
            </a:pPr>
            <a:r>
              <a:rPr lang="en-US" dirty="0"/>
              <a:t>Computer networking basics, </a:t>
            </a:r>
          </a:p>
          <a:p>
            <a:pPr marL="377190" indent="-377190">
              <a:buFont typeface="Arial" panose="020B0604020202020204" pitchFamily="34" charset="0"/>
              <a:buChar char="•"/>
            </a:pPr>
            <a:r>
              <a:rPr lang="en-US" dirty="0"/>
              <a:t>To understand different components of computer networks, </a:t>
            </a:r>
          </a:p>
          <a:p>
            <a:pPr marL="377190" indent="-377190">
              <a:buFont typeface="Arial" panose="020B0604020202020204" pitchFamily="34" charset="0"/>
              <a:buChar char="•"/>
            </a:pPr>
            <a:r>
              <a:rPr lang="en-US" dirty="0"/>
              <a:t>Various protocols, </a:t>
            </a:r>
          </a:p>
          <a:p>
            <a:pPr marL="377190" indent="-377190">
              <a:buFont typeface="Arial" panose="020B0604020202020204" pitchFamily="34" charset="0"/>
              <a:buChar char="•"/>
            </a:pPr>
            <a:r>
              <a:rPr lang="en-US" dirty="0"/>
              <a:t>The standard models for the layered approach to communication between autonomous machines in a network, </a:t>
            </a:r>
          </a:p>
          <a:p>
            <a:pPr marL="377190" indent="-377190">
              <a:buFont typeface="Arial" panose="020B0604020202020204" pitchFamily="34" charset="0"/>
              <a:buChar char="•"/>
            </a:pPr>
            <a:r>
              <a:rPr lang="en-US" b="1" dirty="0"/>
              <a:t>And the main characteristics of data transmission across various physical link types. </a:t>
            </a:r>
          </a:p>
          <a:p>
            <a:endParaRPr lang="en-US" dirty="0"/>
          </a:p>
          <a:p>
            <a:pPr marL="377190" indent="-377190">
              <a:buFont typeface="Wingdings" panose="05000000000000000000" pitchFamily="2" charset="2"/>
              <a:buChar char="§"/>
            </a:pPr>
            <a:endParaRPr lang="en-US" dirty="0"/>
          </a:p>
          <a:p>
            <a:endParaRPr lang="en-US" dirty="0"/>
          </a:p>
        </p:txBody>
      </p:sp>
      <p:sp>
        <p:nvSpPr>
          <p:cNvPr id="4" name="Date Placeholder 3"/>
          <p:cNvSpPr>
            <a:spLocks noGrp="1"/>
          </p:cNvSpPr>
          <p:nvPr>
            <p:ph type="dt" sz="half" idx="10"/>
          </p:nvPr>
        </p:nvSpPr>
        <p:spPr/>
        <p:txBody>
          <a:bodyPr/>
          <a:lstStyle/>
          <a:p>
            <a:fld id="{32B84630-DDE1-40C6-BC38-C251AADD6CFF}"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22</a:t>
            </a:fld>
            <a:endParaRPr lang="en-US"/>
          </a:p>
        </p:txBody>
      </p:sp>
      <p:sp>
        <p:nvSpPr>
          <p:cNvPr id="7" name="Title 1"/>
          <p:cNvSpPr>
            <a:spLocks noGrp="1"/>
          </p:cNvSpPr>
          <p:nvPr>
            <p:ph type="title"/>
          </p:nvPr>
        </p:nvSpPr>
        <p:spPr>
          <a:xfrm>
            <a:off x="1507948" y="114300"/>
            <a:ext cx="8550452" cy="640970"/>
          </a:xfrm>
        </p:spPr>
        <p:txBody>
          <a:bodyPr/>
          <a:lstStyle/>
          <a:p>
            <a:r>
              <a:rPr lang="en-US" dirty="0"/>
              <a:t>Course Objective / Unit Objective</a:t>
            </a:r>
          </a:p>
        </p:txBody>
      </p:sp>
      <p:pic>
        <p:nvPicPr>
          <p:cNvPr id="2" name="course objectiv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070332" y="5074919"/>
            <a:ext cx="670560" cy="670560"/>
          </a:xfrm>
          <a:prstGeom prst="rect">
            <a:avLst/>
          </a:prstGeom>
        </p:spPr>
      </p:pic>
    </p:spTree>
    <p:extLst>
      <p:ext uri="{BB962C8B-B14F-4D97-AF65-F5344CB8AC3E}">
        <p14:creationId xmlns:p14="http://schemas.microsoft.com/office/powerpoint/2010/main" val="22823499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7850"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187952" y="4279392"/>
            <a:ext cx="1511808" cy="384048"/>
          </a:xfrm>
          <a:prstGeom prst="rect">
            <a:avLst/>
          </a:prstGeom>
        </p:spPr>
        <p:txBody>
          <a:bodyPr wrap="none" lIns="0" tIns="0" rIns="0" bIns="0">
            <a:noAutofit/>
          </a:bodyPr>
          <a:lstStyle/>
          <a:p>
            <a:pPr indent="0" algn="r"/>
            <a:endParaRPr lang="en-US" sz="4100" b="1" spc="-50" dirty="0">
              <a:latin typeface="Calibri"/>
            </a:endParaRPr>
          </a:p>
        </p:txBody>
      </p:sp>
      <p:sp>
        <p:nvSpPr>
          <p:cNvPr id="3" name="Date Placeholder 2"/>
          <p:cNvSpPr>
            <a:spLocks noGrp="1"/>
          </p:cNvSpPr>
          <p:nvPr>
            <p:ph type="dt" sz="half" idx="10"/>
          </p:nvPr>
        </p:nvSpPr>
        <p:spPr/>
        <p:txBody>
          <a:bodyPr/>
          <a:lstStyle/>
          <a:p>
            <a:fld id="{429E0586-E3C2-4ACD-BECC-3665D6DE248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23</a:t>
            </a:fld>
            <a:endParaRPr lang="en-US"/>
          </a:p>
        </p:txBody>
      </p:sp>
      <p:sp>
        <p:nvSpPr>
          <p:cNvPr id="7" name="Title 6"/>
          <p:cNvSpPr>
            <a:spLocks noGrp="1"/>
          </p:cNvSpPr>
          <p:nvPr>
            <p:ph type="title"/>
          </p:nvPr>
        </p:nvSpPr>
        <p:spPr/>
        <p:txBody>
          <a:bodyPr/>
          <a:lstStyle/>
          <a:p>
            <a:r>
              <a:rPr lang="en-US" dirty="0"/>
              <a:t>Topic Objective - Application Layer ( CO1)</a:t>
            </a:r>
          </a:p>
        </p:txBody>
      </p:sp>
      <p:sp>
        <p:nvSpPr>
          <p:cNvPr id="8" name="Rectangle 7"/>
          <p:cNvSpPr/>
          <p:nvPr/>
        </p:nvSpPr>
        <p:spPr>
          <a:xfrm>
            <a:off x="259080" y="984504"/>
            <a:ext cx="9357360" cy="5151120"/>
          </a:xfrm>
          <a:prstGeom prst="rect">
            <a:avLst/>
          </a:prstGeom>
        </p:spPr>
        <p:txBody>
          <a:bodyPr lIns="0" tIns="0" rIns="0" bIns="0">
            <a:noAutofit/>
          </a:bodyPr>
          <a:lstStyle/>
          <a:p>
            <a:pPr marL="342900" indent="-342900" algn="just">
              <a:lnSpc>
                <a:spcPts val="2808"/>
              </a:lnSpc>
              <a:spcAft>
                <a:spcPts val="420"/>
              </a:spcAft>
              <a:buFont typeface="Arial" panose="020B0604020202020204" pitchFamily="34" charset="0"/>
              <a:buChar char="•"/>
            </a:pPr>
            <a:r>
              <a:rPr lang="en-US" sz="2200" dirty="0">
                <a:latin typeface="Calibri"/>
              </a:rPr>
              <a:t>To understand the Application layer </a:t>
            </a:r>
          </a:p>
          <a:p>
            <a:pPr marL="342900" indent="-342900" algn="just">
              <a:lnSpc>
                <a:spcPts val="2808"/>
              </a:lnSpc>
              <a:spcAft>
                <a:spcPts val="420"/>
              </a:spcAft>
              <a:buFont typeface="Arial" panose="020B0604020202020204" pitchFamily="34" charset="0"/>
              <a:buChar char="•"/>
            </a:pPr>
            <a:r>
              <a:rPr lang="en-US" sz="2200" dirty="0">
                <a:latin typeface="Calibri"/>
              </a:rPr>
              <a:t>Services provided by the layer</a:t>
            </a:r>
          </a:p>
          <a:p>
            <a:pPr marL="342900" indent="-342900" algn="just">
              <a:lnSpc>
                <a:spcPts val="2808"/>
              </a:lnSpc>
              <a:spcAft>
                <a:spcPts val="420"/>
              </a:spcAft>
              <a:buFont typeface="Arial" panose="020B0604020202020204" pitchFamily="34" charset="0"/>
              <a:buChar char="•"/>
            </a:pPr>
            <a:r>
              <a:rPr lang="en-US" sz="2200" dirty="0">
                <a:latin typeface="Calibri"/>
              </a:rPr>
              <a:t>Protocols supported </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984504"/>
            <a:ext cx="9357360" cy="5151120"/>
          </a:xfrm>
          <a:prstGeom prst="rect">
            <a:avLst/>
          </a:prstGeom>
        </p:spPr>
        <p:txBody>
          <a:bodyPr lIns="0" tIns="0" rIns="0" bIns="0">
            <a:noAutofit/>
          </a:bodyPr>
          <a:lstStyle/>
          <a:p>
            <a:pPr indent="482600" algn="just">
              <a:lnSpc>
                <a:spcPts val="2808"/>
              </a:lnSpc>
              <a:spcAft>
                <a:spcPts val="420"/>
              </a:spcAft>
            </a:pPr>
            <a:r>
              <a:rPr lang="en-US" sz="2200" dirty="0">
                <a:latin typeface="Calibri"/>
              </a:rPr>
              <a:t>It is the top most layer of OSI Model. Manipulation of data (information) in various ways is done in this layer which enables user or software to get access to the network. Some services provided by this layer includes: E-Mail, transferring files, distributing the results to user, directory services, network resources, etc.</a:t>
            </a:r>
          </a:p>
          <a:p>
            <a:pPr indent="482600" algn="just">
              <a:lnSpc>
                <a:spcPts val="2808"/>
              </a:lnSpc>
              <a:spcAft>
                <a:spcPts val="420"/>
              </a:spcAft>
            </a:pPr>
            <a:r>
              <a:rPr lang="en-US" sz="2200" dirty="0">
                <a:latin typeface="Calibri"/>
              </a:rPr>
              <a:t>The Application Layer contains a variety of protocols that are commonly needed by users. One widely-used application protocol is </a:t>
            </a:r>
            <a:r>
              <a:rPr lang="en-US" sz="2300" b="1" dirty="0">
                <a:latin typeface="Calibri"/>
              </a:rPr>
              <a:t>HTTP (</a:t>
            </a:r>
            <a:r>
              <a:rPr lang="en-US" sz="2300" b="1" dirty="0" err="1">
                <a:latin typeface="Calibri"/>
              </a:rPr>
              <a:t>HyperText</a:t>
            </a:r>
            <a:r>
              <a:rPr lang="en-US" sz="2300" b="1" dirty="0">
                <a:latin typeface="Calibri"/>
              </a:rPr>
              <a:t> Transfer Protocol)</a:t>
            </a:r>
            <a:r>
              <a:rPr lang="en-US" sz="2200" dirty="0">
                <a:latin typeface="Calibri"/>
              </a:rPr>
              <a:t>, which is the basis for the World Wide Web. When a browser wants a web page, it sends the name of the page it wants to the server using HTTP. The server then sends the page back.</a:t>
            </a:r>
          </a:p>
          <a:p>
            <a:pPr indent="0" algn="just">
              <a:lnSpc>
                <a:spcPts val="2808"/>
              </a:lnSpc>
            </a:pPr>
            <a:r>
              <a:rPr lang="en-US" sz="2200" dirty="0">
                <a:latin typeface="Calibri"/>
              </a:rPr>
              <a:t>Other Application protocols that are used are: </a:t>
            </a:r>
            <a:r>
              <a:rPr lang="en-US" sz="2300" b="1" dirty="0">
                <a:latin typeface="Calibri"/>
              </a:rPr>
              <a:t>File Transfer Protocol (FTP)</a:t>
            </a:r>
            <a:r>
              <a:rPr lang="en-US" sz="2200" dirty="0">
                <a:latin typeface="Calibri"/>
              </a:rPr>
              <a:t>, </a:t>
            </a:r>
            <a:r>
              <a:rPr lang="en-US" sz="2300" b="1" dirty="0">
                <a:latin typeface="Calibri"/>
              </a:rPr>
              <a:t>Trivial File Transfer Protocol (TFTP)</a:t>
            </a:r>
            <a:r>
              <a:rPr lang="en-US" sz="2200" dirty="0">
                <a:latin typeface="Calibri"/>
              </a:rPr>
              <a:t>, </a:t>
            </a:r>
            <a:r>
              <a:rPr lang="en-US" sz="2300" b="1" dirty="0">
                <a:latin typeface="Calibri"/>
              </a:rPr>
              <a:t>Simple Mail Transfer Protocol (SMTP)</a:t>
            </a:r>
            <a:r>
              <a:rPr lang="en-US" sz="2200" dirty="0">
                <a:latin typeface="Calibri"/>
              </a:rPr>
              <a:t>, </a:t>
            </a:r>
            <a:r>
              <a:rPr lang="en-US" sz="2300" b="1" dirty="0">
                <a:latin typeface="Calibri"/>
              </a:rPr>
              <a:t>TELNET</a:t>
            </a:r>
            <a:r>
              <a:rPr lang="en-US" sz="2200" dirty="0">
                <a:latin typeface="Calibri"/>
              </a:rPr>
              <a:t>, </a:t>
            </a:r>
            <a:r>
              <a:rPr lang="en-US" sz="2300" b="1" dirty="0">
                <a:latin typeface="Calibri"/>
              </a:rPr>
              <a:t>Domain Name System (DNS) </a:t>
            </a:r>
            <a:r>
              <a:rPr lang="en-US" sz="2200" dirty="0">
                <a:latin typeface="Calibri"/>
              </a:rPr>
              <a:t>etc.</a:t>
            </a:r>
          </a:p>
        </p:txBody>
      </p:sp>
      <p:sp>
        <p:nvSpPr>
          <p:cNvPr id="3" name="Date Placeholder 2"/>
          <p:cNvSpPr>
            <a:spLocks noGrp="1"/>
          </p:cNvSpPr>
          <p:nvPr>
            <p:ph type="dt" sz="half" idx="10"/>
          </p:nvPr>
        </p:nvSpPr>
        <p:spPr/>
        <p:txBody>
          <a:bodyPr/>
          <a:lstStyle/>
          <a:p>
            <a:fld id="{ED505BE9-31BA-4C5C-9D21-BFDED9759E06}"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24</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5696" y="914400"/>
            <a:ext cx="8634984" cy="5120640"/>
          </a:xfrm>
          <a:prstGeom prst="rect">
            <a:avLst/>
          </a:prstGeom>
        </p:spPr>
      </p:pic>
      <p:sp>
        <p:nvSpPr>
          <p:cNvPr id="3" name="Date Placeholder 2"/>
          <p:cNvSpPr>
            <a:spLocks noGrp="1"/>
          </p:cNvSpPr>
          <p:nvPr>
            <p:ph type="dt" sz="half" idx="10"/>
          </p:nvPr>
        </p:nvSpPr>
        <p:spPr/>
        <p:txBody>
          <a:bodyPr/>
          <a:lstStyle/>
          <a:p>
            <a:fld id="{DF839451-0E68-4112-8D00-54F03BADF94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25</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72312"/>
            <a:ext cx="3678936" cy="289560"/>
          </a:xfrm>
          <a:prstGeom prst="rect">
            <a:avLst/>
          </a:prstGeom>
        </p:spPr>
        <p:txBody>
          <a:bodyPr wrap="none" lIns="0" tIns="0" rIns="0" bIns="0">
            <a:noAutofit/>
          </a:bodyPr>
          <a:lstStyle/>
          <a:p>
            <a:pPr indent="0"/>
            <a:r>
              <a:rPr lang="en-US" sz="2300" b="1">
                <a:latin typeface="Calibri"/>
              </a:rPr>
              <a:t>Functions of Application Layer</a:t>
            </a:r>
          </a:p>
        </p:txBody>
      </p:sp>
      <p:sp>
        <p:nvSpPr>
          <p:cNvPr id="3" name="Rectangle 2"/>
          <p:cNvSpPr/>
          <p:nvPr/>
        </p:nvSpPr>
        <p:spPr>
          <a:xfrm>
            <a:off x="274320" y="1813560"/>
            <a:ext cx="9339072" cy="4745736"/>
          </a:xfrm>
          <a:prstGeom prst="rect">
            <a:avLst/>
          </a:prstGeom>
        </p:spPr>
        <p:txBody>
          <a:bodyPr lIns="0" tIns="0" rIns="0" bIns="0">
            <a:noAutofit/>
          </a:bodyPr>
          <a:lstStyle/>
          <a:p>
            <a:pPr marL="254000" indent="-254000" algn="just">
              <a:lnSpc>
                <a:spcPts val="2808"/>
              </a:lnSpc>
              <a:spcAft>
                <a:spcPts val="210"/>
              </a:spcAft>
            </a:pPr>
            <a:r>
              <a:rPr lang="en-US" sz="2200">
                <a:latin typeface="Calibri"/>
              </a:rPr>
              <a:t>1. </a:t>
            </a:r>
            <a:r>
              <a:rPr lang="en-US" sz="2300" b="1">
                <a:latin typeface="Calibri"/>
              </a:rPr>
              <a:t>Network Virtual Terminal: </a:t>
            </a:r>
            <a:r>
              <a:rPr lang="en-US" sz="2200">
                <a:latin typeface="Calibri"/>
              </a:rPr>
              <a:t>It allows a user to log on to a remote host. The application creates software emulation of a terminal at the remote host. User's computer talks to the software terminal which in turn talks to the host and vice versa. Then the remote host believes it is communicating with one of its own terminals and allows user to log on.</a:t>
            </a:r>
          </a:p>
          <a:p>
            <a:pPr marL="254000" indent="-254000" algn="just">
              <a:spcAft>
                <a:spcPts val="1050"/>
              </a:spcAft>
            </a:pPr>
            <a:r>
              <a:rPr lang="en-US" sz="2200">
                <a:latin typeface="Calibri"/>
              </a:rPr>
              <a:t>2. </a:t>
            </a:r>
            <a:r>
              <a:rPr lang="en-US" sz="2300" b="1">
                <a:latin typeface="Calibri"/>
              </a:rPr>
              <a:t>Mail Services: </a:t>
            </a:r>
            <a:r>
              <a:rPr lang="en-US" sz="2200">
                <a:latin typeface="Calibri"/>
              </a:rPr>
              <a:t>This layer provides the basis for E-mail forwarding and storage.</a:t>
            </a:r>
          </a:p>
          <a:p>
            <a:pPr marL="254000" indent="-254000" algn="just">
              <a:lnSpc>
                <a:spcPts val="2808"/>
              </a:lnSpc>
              <a:spcAft>
                <a:spcPts val="210"/>
              </a:spcAft>
            </a:pPr>
            <a:r>
              <a:rPr lang="en-US" sz="2200">
                <a:latin typeface="Calibri"/>
              </a:rPr>
              <a:t>3. </a:t>
            </a:r>
            <a:r>
              <a:rPr lang="en-US" sz="2300" b="1">
                <a:latin typeface="Calibri"/>
              </a:rPr>
              <a:t>Addressing: </a:t>
            </a:r>
            <a:r>
              <a:rPr lang="en-US" sz="2200">
                <a:latin typeface="Calibri"/>
              </a:rPr>
              <a:t>To obtain communication between client and server, there is a need for addressing. When a client made a request to the server, the request contains the server address and its own address. The server response to the client request, the request contains the destination address, i.e., client address. To achieve this kind of addressing, DNS is used.</a:t>
            </a:r>
          </a:p>
          <a:p>
            <a:pPr marL="254000" indent="-254000" algn="just">
              <a:lnSpc>
                <a:spcPts val="2808"/>
              </a:lnSpc>
            </a:pPr>
            <a:r>
              <a:rPr lang="en-US" sz="2200">
                <a:latin typeface="Calibri"/>
              </a:rPr>
              <a:t>4. </a:t>
            </a:r>
            <a:r>
              <a:rPr lang="en-US" sz="2300" b="1">
                <a:latin typeface="Calibri"/>
              </a:rPr>
              <a:t>Directory Services: </a:t>
            </a:r>
            <a:r>
              <a:rPr lang="en-US" sz="2200">
                <a:latin typeface="Calibri"/>
              </a:rPr>
              <a:t>This layer provides access for global information about various services.</a:t>
            </a:r>
          </a:p>
        </p:txBody>
      </p:sp>
      <p:sp>
        <p:nvSpPr>
          <p:cNvPr id="4" name="Date Placeholder 3"/>
          <p:cNvSpPr>
            <a:spLocks noGrp="1"/>
          </p:cNvSpPr>
          <p:nvPr>
            <p:ph type="dt" sz="half" idx="10"/>
          </p:nvPr>
        </p:nvSpPr>
        <p:spPr/>
        <p:txBody>
          <a:bodyPr/>
          <a:lstStyle/>
          <a:p>
            <a:fld id="{282A8387-26FA-49F5-98B3-B52192E26A53}"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26</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80416" y="969264"/>
            <a:ext cx="9332976" cy="1005840"/>
          </a:xfrm>
          <a:prstGeom prst="rect">
            <a:avLst/>
          </a:prstGeom>
        </p:spPr>
        <p:txBody>
          <a:bodyPr lIns="0" tIns="0" rIns="0" bIns="0">
            <a:noAutofit/>
          </a:bodyPr>
          <a:lstStyle/>
          <a:p>
            <a:pPr marL="244856" indent="-254000" algn="just">
              <a:lnSpc>
                <a:spcPts val="2808"/>
              </a:lnSpc>
              <a:spcAft>
                <a:spcPts val="2730"/>
              </a:spcAft>
            </a:pPr>
            <a:r>
              <a:rPr lang="en-US" sz="2200">
                <a:latin typeface="Calibri"/>
              </a:rPr>
              <a:t>5.</a:t>
            </a:r>
            <a:r>
              <a:rPr lang="en-US" sz="2300" b="1">
                <a:latin typeface="Calibri"/>
              </a:rPr>
              <a:t>File Transfer, Access and Management (FTAM): </a:t>
            </a:r>
            <a:r>
              <a:rPr lang="en-US" sz="2200">
                <a:latin typeface="Calibri"/>
              </a:rPr>
              <a:t>It is a standard mechanism to access files and manages it. Users can access files in a remote computer and manage it. They can also retrieve files from a remote computer.</a:t>
            </a:r>
          </a:p>
        </p:txBody>
      </p:sp>
      <p:sp>
        <p:nvSpPr>
          <p:cNvPr id="3" name="Rectangle 2"/>
          <p:cNvSpPr/>
          <p:nvPr/>
        </p:nvSpPr>
        <p:spPr>
          <a:xfrm>
            <a:off x="277368" y="2554224"/>
            <a:ext cx="4413504" cy="286512"/>
          </a:xfrm>
          <a:prstGeom prst="rect">
            <a:avLst/>
          </a:prstGeom>
        </p:spPr>
        <p:txBody>
          <a:bodyPr wrap="none" lIns="0" tIns="0" rIns="0" bIns="0">
            <a:noAutofit/>
          </a:bodyPr>
          <a:lstStyle/>
          <a:p>
            <a:pPr marL="247904" indent="-254000" algn="just">
              <a:spcBef>
                <a:spcPts val="2730"/>
              </a:spcBef>
              <a:spcAft>
                <a:spcPts val="3360"/>
              </a:spcAft>
            </a:pPr>
            <a:r>
              <a:rPr lang="en-US" sz="2300" b="1">
                <a:latin typeface="Calibri"/>
              </a:rPr>
              <a:t>Design Issues with Application Layer</a:t>
            </a:r>
          </a:p>
        </p:txBody>
      </p:sp>
      <p:sp>
        <p:nvSpPr>
          <p:cNvPr id="4" name="Rectangle 3"/>
          <p:cNvSpPr/>
          <p:nvPr/>
        </p:nvSpPr>
        <p:spPr>
          <a:xfrm>
            <a:off x="271272" y="3410712"/>
            <a:ext cx="9342120" cy="2554224"/>
          </a:xfrm>
          <a:prstGeom prst="rect">
            <a:avLst/>
          </a:prstGeom>
        </p:spPr>
        <p:txBody>
          <a:bodyPr lIns="0" tIns="0" rIns="0" bIns="0">
            <a:noAutofit/>
          </a:bodyPr>
          <a:lstStyle/>
          <a:p>
            <a:pPr indent="254000" algn="just">
              <a:lnSpc>
                <a:spcPts val="2784"/>
              </a:lnSpc>
              <a:spcBef>
                <a:spcPts val="3360"/>
              </a:spcBef>
              <a:spcAft>
                <a:spcPts val="840"/>
              </a:spcAft>
            </a:pPr>
            <a:r>
              <a:rPr lang="en-US" sz="2200">
                <a:latin typeface="Calibri"/>
              </a:rPr>
              <a:t>There are commonly reoccurring problems that occur in the design and implementation of Application Layer protocols and can be addressed by patterns from several different pattern languages:</a:t>
            </a:r>
          </a:p>
          <a:p>
            <a:pPr marR="1422400" indent="0">
              <a:lnSpc>
                <a:spcPts val="2784"/>
              </a:lnSpc>
            </a:pPr>
            <a:r>
              <a:rPr lang="en-US" sz="2200">
                <a:latin typeface="Calibri"/>
              </a:rPr>
              <a:t>. Pattern Language for Application-level Communication Protocols . Service Design Patterns . Patterns of Enterprise Application Architecture . Pattern-Oriented Software Architecture</a:t>
            </a:r>
          </a:p>
        </p:txBody>
      </p:sp>
      <p:sp>
        <p:nvSpPr>
          <p:cNvPr id="5" name="Date Placeholder 4"/>
          <p:cNvSpPr>
            <a:spLocks noGrp="1"/>
          </p:cNvSpPr>
          <p:nvPr>
            <p:ph type="dt" sz="half" idx="10"/>
          </p:nvPr>
        </p:nvSpPr>
        <p:spPr/>
        <p:txBody>
          <a:bodyPr/>
          <a:lstStyle/>
          <a:p>
            <a:fld id="{E3E7379A-F055-47F2-8F83-F3E9F58A0AFB}"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27</a:t>
            </a:fld>
            <a:endParaRPr lang="en-US"/>
          </a:p>
        </p:txBody>
      </p:sp>
      <p:sp>
        <p:nvSpPr>
          <p:cNvPr id="8"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895600" y="975360"/>
            <a:ext cx="4093464" cy="286512"/>
          </a:xfrm>
          <a:prstGeom prst="rect">
            <a:avLst/>
          </a:prstGeom>
        </p:spPr>
        <p:txBody>
          <a:bodyPr wrap="none" lIns="0" tIns="0" rIns="0" bIns="0">
            <a:noAutofit/>
          </a:bodyPr>
          <a:lstStyle/>
          <a:p>
            <a:pPr indent="0"/>
            <a:r>
              <a:rPr lang="en-US" sz="2300" b="1">
                <a:latin typeface="Calibri"/>
              </a:rPr>
              <a:t>Network Application Architecture</a:t>
            </a:r>
          </a:p>
        </p:txBody>
      </p:sp>
      <p:sp>
        <p:nvSpPr>
          <p:cNvPr id="3" name="Rectangle 2"/>
          <p:cNvSpPr/>
          <p:nvPr/>
        </p:nvSpPr>
        <p:spPr>
          <a:xfrm>
            <a:off x="259080" y="1505712"/>
            <a:ext cx="9354312" cy="4212336"/>
          </a:xfrm>
          <a:prstGeom prst="rect">
            <a:avLst/>
          </a:prstGeom>
        </p:spPr>
        <p:txBody>
          <a:bodyPr lIns="0" tIns="0" rIns="0" bIns="0">
            <a:noAutofit/>
          </a:bodyPr>
          <a:lstStyle/>
          <a:p>
            <a:pPr indent="0" algn="just">
              <a:lnSpc>
                <a:spcPts val="2808"/>
              </a:lnSpc>
              <a:spcAft>
                <a:spcPts val="840"/>
              </a:spcAft>
            </a:pPr>
            <a:r>
              <a:rPr lang="en-US" sz="2200">
                <a:latin typeface="Calibri"/>
              </a:rPr>
              <a:t>Application architecture is different from the network architecture. The network architecture is fixed and provides a set of services to applications. The application architecture, on the other hand, is designed by the application developer and defines how the application should be structured over the various end systems.</a:t>
            </a:r>
          </a:p>
          <a:p>
            <a:pPr indent="0" algn="just">
              <a:spcAft>
                <a:spcPts val="1680"/>
              </a:spcAft>
            </a:pPr>
            <a:r>
              <a:rPr lang="en-US" sz="2300" b="1">
                <a:latin typeface="Calibri"/>
              </a:rPr>
              <a:t>Application architecture is of two types:</a:t>
            </a:r>
          </a:p>
          <a:p>
            <a:pPr marL="482600" indent="-215900" algn="just">
              <a:lnSpc>
                <a:spcPts val="2784"/>
              </a:lnSpc>
            </a:pPr>
            <a:r>
              <a:rPr lang="en-US" sz="2300" b="1">
                <a:latin typeface="Calibri"/>
              </a:rPr>
              <a:t>1. Client-server architecture: </a:t>
            </a:r>
            <a:r>
              <a:rPr lang="en-US" sz="2200">
                <a:latin typeface="Calibri"/>
              </a:rPr>
              <a:t>An application program running on the local machine sends a request to another application program is known as a client, and a program that serves a request is known as a server. For example, when a web server receives a request from the client host, it responds to the request to the client host.</a:t>
            </a:r>
          </a:p>
        </p:txBody>
      </p:sp>
      <p:sp>
        <p:nvSpPr>
          <p:cNvPr id="4" name="Date Placeholder 3"/>
          <p:cNvSpPr>
            <a:spLocks noGrp="1"/>
          </p:cNvSpPr>
          <p:nvPr>
            <p:ph type="dt" sz="half" idx="10"/>
          </p:nvPr>
        </p:nvSpPr>
        <p:spPr/>
        <p:txBody>
          <a:bodyPr/>
          <a:lstStyle/>
          <a:p>
            <a:fld id="{DF2E37C1-929E-4634-B63E-1A6CC6C5ACE3}"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28</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8224" y="972312"/>
            <a:ext cx="9345168" cy="225552"/>
          </a:xfrm>
          <a:prstGeom prst="rect">
            <a:avLst/>
          </a:prstGeom>
        </p:spPr>
        <p:txBody>
          <a:bodyPr wrap="none" lIns="0" tIns="0" rIns="0" bIns="0">
            <a:noAutofit/>
          </a:bodyPr>
          <a:lstStyle/>
          <a:p>
            <a:pPr indent="0"/>
            <a:r>
              <a:rPr lang="en-US" sz="2300" b="1">
                <a:latin typeface="Calibri"/>
              </a:rPr>
              <a:t>Characteristics of Client-server architecture:</a:t>
            </a:r>
          </a:p>
        </p:txBody>
      </p:sp>
      <p:sp>
        <p:nvSpPr>
          <p:cNvPr id="3" name="Rectangle 2"/>
          <p:cNvSpPr/>
          <p:nvPr/>
        </p:nvSpPr>
        <p:spPr>
          <a:xfrm>
            <a:off x="268224" y="1533144"/>
            <a:ext cx="9345168" cy="3828288"/>
          </a:xfrm>
          <a:prstGeom prst="rect">
            <a:avLst/>
          </a:prstGeom>
        </p:spPr>
        <p:txBody>
          <a:bodyPr lIns="0" tIns="0" rIns="0" bIns="0">
            <a:noAutofit/>
          </a:bodyPr>
          <a:lstStyle/>
          <a:p>
            <a:pPr marL="482600" indent="-241300" algn="just">
              <a:lnSpc>
                <a:spcPts val="2784"/>
              </a:lnSpc>
            </a:pPr>
            <a:r>
              <a:rPr lang="en-US" sz="2200">
                <a:latin typeface="Calibri"/>
              </a:rPr>
              <a:t>. In Client-server architecture, clients do not directly communicate with each other. For example, in a web application, two browsers do not directly communicate with each other.</a:t>
            </a:r>
          </a:p>
          <a:p>
            <a:pPr marL="482600" indent="-241300" algn="just">
              <a:lnSpc>
                <a:spcPts val="2784"/>
              </a:lnSpc>
              <a:spcAft>
                <a:spcPts val="840"/>
              </a:spcAft>
            </a:pPr>
            <a:r>
              <a:rPr lang="en-US" sz="2200">
                <a:latin typeface="Calibri"/>
              </a:rPr>
              <a:t>. A server is fixed, well-known address known as IP address because the server is always on while the client can always contact the server by sending a packet to the sender's IP address.</a:t>
            </a:r>
          </a:p>
          <a:p>
            <a:pPr indent="0" algn="just">
              <a:spcAft>
                <a:spcPts val="1680"/>
              </a:spcAft>
            </a:pPr>
            <a:r>
              <a:rPr lang="en-US" sz="2300" b="1">
                <a:latin typeface="Calibri"/>
              </a:rPr>
              <a:t>Disadvantage of Client-server architecture:</a:t>
            </a:r>
          </a:p>
          <a:p>
            <a:pPr indent="0" algn="just">
              <a:lnSpc>
                <a:spcPts val="2808"/>
              </a:lnSpc>
            </a:pPr>
            <a:r>
              <a:rPr lang="en-US" sz="2200">
                <a:latin typeface="Calibri"/>
              </a:rPr>
              <a:t>It is a single-server based architecture which is incapable of holding all the requests from the clients. For example, a social networking site can become overwhelmed when there is only one server exists.</a:t>
            </a:r>
          </a:p>
        </p:txBody>
      </p:sp>
      <p:sp>
        <p:nvSpPr>
          <p:cNvPr id="4" name="Date Placeholder 3"/>
          <p:cNvSpPr>
            <a:spLocks noGrp="1"/>
          </p:cNvSpPr>
          <p:nvPr>
            <p:ph type="dt" sz="half" idx="10"/>
          </p:nvPr>
        </p:nvSpPr>
        <p:spPr/>
        <p:txBody>
          <a:bodyPr/>
          <a:lstStyle/>
          <a:p>
            <a:fld id="{C5CC7C54-BEAA-4E15-A1B4-366F3EF72D39}"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29</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8224" y="969264"/>
            <a:ext cx="9348216" cy="6208776"/>
          </a:xfrm>
          <a:prstGeom prst="rect">
            <a:avLst/>
          </a:prstGeom>
        </p:spPr>
        <p:txBody>
          <a:bodyPr lIns="0" tIns="0" rIns="0" bIns="0">
            <a:noAutofit/>
          </a:bodyPr>
          <a:lstStyle/>
          <a:p>
            <a:pPr marL="482600" indent="-241300" algn="just">
              <a:lnSpc>
                <a:spcPts val="2808"/>
              </a:lnSpc>
              <a:spcAft>
                <a:spcPts val="840"/>
              </a:spcAft>
            </a:pPr>
            <a:r>
              <a:rPr lang="en-US" sz="2300" b="1">
                <a:latin typeface="Calibri"/>
              </a:rPr>
              <a:t>2. P2P (peer-to-peer) architecture: </a:t>
            </a:r>
            <a:r>
              <a:rPr lang="en-US" sz="2200">
                <a:latin typeface="Calibri"/>
              </a:rPr>
              <a:t>It has no dedicated server in a data center. The peers are the computers which are not owned by the service provider. Most of the peers reside in the homes, offices, schools, and universities. The peers communicate with each other without passing the information through a dedicated server, this architecture is known as peer-to-peer architecture. The applications based on P2P architecture includes file sharing and internet telephony.</a:t>
            </a:r>
          </a:p>
          <a:p>
            <a:pPr indent="0">
              <a:spcAft>
                <a:spcPts val="1470"/>
              </a:spcAft>
            </a:pPr>
            <a:r>
              <a:rPr lang="en-US" sz="2300" b="1">
                <a:latin typeface="Calibri"/>
              </a:rPr>
              <a:t>Features of P2P architecture</a:t>
            </a:r>
          </a:p>
          <a:p>
            <a:pPr marL="482600" indent="-241300" algn="just">
              <a:lnSpc>
                <a:spcPts val="2784"/>
              </a:lnSpc>
            </a:pPr>
            <a:r>
              <a:rPr lang="en-US" sz="2200">
                <a:latin typeface="Calibri"/>
              </a:rPr>
              <a:t>. </a:t>
            </a:r>
            <a:r>
              <a:rPr lang="en-US" sz="2300" b="1">
                <a:latin typeface="Calibri"/>
              </a:rPr>
              <a:t>Self scalability: </a:t>
            </a:r>
            <a:r>
              <a:rPr lang="en-US" sz="2200">
                <a:latin typeface="Calibri"/>
              </a:rPr>
              <a:t>In a file sharing system, although each peer generates a workload by requesting the files, each peer also adds a service capacity by distributing the files to the peer.</a:t>
            </a:r>
          </a:p>
          <a:p>
            <a:pPr marL="482600" indent="-241300" algn="just">
              <a:lnSpc>
                <a:spcPts val="2784"/>
              </a:lnSpc>
              <a:spcAft>
                <a:spcPts val="840"/>
              </a:spcAft>
            </a:pPr>
            <a:r>
              <a:rPr lang="en-US" sz="2200">
                <a:latin typeface="Calibri"/>
              </a:rPr>
              <a:t>. </a:t>
            </a:r>
            <a:r>
              <a:rPr lang="en-US" sz="2300" b="1">
                <a:latin typeface="Calibri"/>
              </a:rPr>
              <a:t>Cost-effective: </a:t>
            </a:r>
            <a:r>
              <a:rPr lang="en-US" sz="2200">
                <a:latin typeface="Calibri"/>
              </a:rPr>
              <a:t>It is cost-effective as it does not require significant server infrastructure and server bandwidth.</a:t>
            </a:r>
          </a:p>
          <a:p>
            <a:pPr indent="0">
              <a:spcAft>
                <a:spcPts val="1470"/>
              </a:spcAft>
            </a:pPr>
            <a:r>
              <a:rPr lang="en-US" sz="2300" b="1">
                <a:latin typeface="Calibri"/>
              </a:rPr>
              <a:t>Client and Server processes</a:t>
            </a:r>
          </a:p>
          <a:p>
            <a:pPr marL="482600" indent="-241300" algn="just">
              <a:lnSpc>
                <a:spcPts val="2808"/>
              </a:lnSpc>
            </a:pPr>
            <a:r>
              <a:rPr lang="en-US" sz="2200">
                <a:latin typeface="Calibri"/>
              </a:rPr>
              <a:t>. A network application consists of a pair of processes that send the messages to each other over a network.</a:t>
            </a:r>
          </a:p>
        </p:txBody>
      </p:sp>
      <p:sp>
        <p:nvSpPr>
          <p:cNvPr id="3" name="Date Placeholder 2"/>
          <p:cNvSpPr>
            <a:spLocks noGrp="1"/>
          </p:cNvSpPr>
          <p:nvPr>
            <p:ph type="dt" sz="half" idx="10"/>
          </p:nvPr>
        </p:nvSpPr>
        <p:spPr/>
        <p:txBody>
          <a:bodyPr/>
          <a:lstStyle/>
          <a:p>
            <a:fld id="{DABE2871-06CC-4206-9A0E-5876EB10297E}"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30</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0728" y="972312"/>
            <a:ext cx="9116568" cy="2785872"/>
          </a:xfrm>
          <a:prstGeom prst="rect">
            <a:avLst/>
          </a:prstGeom>
        </p:spPr>
        <p:txBody>
          <a:bodyPr lIns="0" tIns="0" rIns="0" bIns="0">
            <a:noAutofit/>
          </a:bodyPr>
          <a:lstStyle/>
          <a:p>
            <a:pPr marL="254000" indent="-254000" algn="just">
              <a:lnSpc>
                <a:spcPts val="2808"/>
              </a:lnSpc>
            </a:pPr>
            <a:r>
              <a:rPr lang="en-US" sz="2200">
                <a:latin typeface="Calibri"/>
              </a:rPr>
              <a:t>. In P2P file-sharing system, a file is transferred from a process in one peer to a process in another peer. We label one of the two processes as the client and another process as the server.</a:t>
            </a:r>
          </a:p>
          <a:p>
            <a:pPr marL="254000" indent="-254000" algn="just">
              <a:lnSpc>
                <a:spcPts val="2808"/>
              </a:lnSpc>
            </a:pPr>
            <a:r>
              <a:rPr lang="en-US" sz="2200">
                <a:latin typeface="Calibri"/>
              </a:rPr>
              <a:t>. With P2P file sharing, the peer which is downloading the file is known as a client, and the peer which is uploading the file is known as a server. However, we have observed in some applications such as P2P file sharing; a process can be both as a client and server. Therefore, we can say that a process can both download and upload the files.</a:t>
            </a:r>
          </a:p>
        </p:txBody>
      </p:sp>
      <p:sp>
        <p:nvSpPr>
          <p:cNvPr id="3" name="Date Placeholder 2"/>
          <p:cNvSpPr>
            <a:spLocks noGrp="1"/>
          </p:cNvSpPr>
          <p:nvPr>
            <p:ph type="dt" sz="half" idx="10"/>
          </p:nvPr>
        </p:nvSpPr>
        <p:spPr/>
        <p:txBody>
          <a:bodyPr/>
          <a:lstStyle/>
          <a:p>
            <a:fld id="{9D9BD070-C52D-4E0A-9672-C66CF854C29A}"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31</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43912" y="4273296"/>
            <a:ext cx="3575304" cy="2776728"/>
          </a:xfrm>
          <a:prstGeom prst="rect">
            <a:avLst/>
          </a:prstGeom>
        </p:spPr>
      </p:pic>
      <p:sp>
        <p:nvSpPr>
          <p:cNvPr id="3" name="Rectangle 2"/>
          <p:cNvSpPr/>
          <p:nvPr/>
        </p:nvSpPr>
        <p:spPr>
          <a:xfrm>
            <a:off x="3453384" y="975360"/>
            <a:ext cx="2965704" cy="237744"/>
          </a:xfrm>
          <a:prstGeom prst="rect">
            <a:avLst/>
          </a:prstGeom>
        </p:spPr>
        <p:txBody>
          <a:bodyPr wrap="none" lIns="0" tIns="0" rIns="0" bIns="0">
            <a:noAutofit/>
          </a:bodyPr>
          <a:lstStyle/>
          <a:p>
            <a:pPr indent="0"/>
            <a:r>
              <a:rPr lang="en-US" sz="2300" b="1">
                <a:latin typeface="Calibri"/>
              </a:rPr>
              <a:t>Client And Server Model</a:t>
            </a:r>
          </a:p>
        </p:txBody>
      </p:sp>
      <p:sp>
        <p:nvSpPr>
          <p:cNvPr id="4" name="Rectangle 3"/>
          <p:cNvSpPr/>
          <p:nvPr/>
        </p:nvSpPr>
        <p:spPr>
          <a:xfrm>
            <a:off x="490728" y="1737360"/>
            <a:ext cx="9125712" cy="2069592"/>
          </a:xfrm>
          <a:prstGeom prst="rect">
            <a:avLst/>
          </a:prstGeom>
        </p:spPr>
        <p:txBody>
          <a:bodyPr lIns="0" tIns="0" rIns="0" bIns="0">
            <a:noAutofit/>
          </a:bodyPr>
          <a:lstStyle/>
          <a:p>
            <a:pPr marL="254000" indent="-254000" algn="just">
              <a:lnSpc>
                <a:spcPts val="2808"/>
              </a:lnSpc>
            </a:pPr>
            <a:r>
              <a:rPr lang="en-US" sz="2200">
                <a:latin typeface="Calibri"/>
              </a:rPr>
              <a:t>. A client and server networking model is a model in which computers such as servers provide the network services to the other computers such as clients to perform a user based tasks. This model is known as client-server networking model.</a:t>
            </a:r>
          </a:p>
          <a:p>
            <a:pPr marL="254000" indent="-254000" algn="just">
              <a:lnSpc>
                <a:spcPts val="2808"/>
              </a:lnSpc>
              <a:spcAft>
                <a:spcPts val="1260"/>
              </a:spcAft>
            </a:pPr>
            <a:r>
              <a:rPr lang="en-US" sz="2200">
                <a:latin typeface="Calibri"/>
              </a:rPr>
              <a:t>. The application programs using the client-server model should follow the given below strategies:</a:t>
            </a:r>
          </a:p>
        </p:txBody>
      </p:sp>
      <p:sp>
        <p:nvSpPr>
          <p:cNvPr id="5" name="Rectangle 4"/>
          <p:cNvSpPr/>
          <p:nvPr/>
        </p:nvSpPr>
        <p:spPr>
          <a:xfrm>
            <a:off x="2417064" y="4011168"/>
            <a:ext cx="3310128" cy="161544"/>
          </a:xfrm>
          <a:prstGeom prst="rect">
            <a:avLst/>
          </a:prstGeom>
        </p:spPr>
        <p:txBody>
          <a:bodyPr wrap="none" lIns="0" tIns="0" rIns="0" bIns="0">
            <a:noAutofit/>
          </a:bodyPr>
          <a:lstStyle/>
          <a:p>
            <a:pPr indent="0" algn="just"/>
            <a:r>
              <a:rPr lang="en-US" sz="1300">
                <a:latin typeface="Arial"/>
              </a:rPr>
              <a:t>Client    Server</a:t>
            </a:r>
          </a:p>
        </p:txBody>
      </p:sp>
      <p:sp>
        <p:nvSpPr>
          <p:cNvPr id="6" name="Date Placeholder 5"/>
          <p:cNvSpPr>
            <a:spLocks noGrp="1"/>
          </p:cNvSpPr>
          <p:nvPr>
            <p:ph type="dt" sz="half" idx="10"/>
          </p:nvPr>
        </p:nvSpPr>
        <p:spPr/>
        <p:txBody>
          <a:bodyPr/>
          <a:lstStyle/>
          <a:p>
            <a:fld id="{4990AF11-A6C7-4CE2-90CB-FDC911BB7B0A}"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32</a:t>
            </a:fld>
            <a:endParaRPr lang="en-US"/>
          </a:p>
        </p:txBody>
      </p:sp>
      <p:sp>
        <p:nvSpPr>
          <p:cNvPr id="9"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0728" y="975360"/>
            <a:ext cx="9122664" cy="5279136"/>
          </a:xfrm>
          <a:prstGeom prst="rect">
            <a:avLst/>
          </a:prstGeom>
        </p:spPr>
        <p:txBody>
          <a:bodyPr lIns="0" tIns="0" rIns="0" bIns="0">
            <a:noAutofit/>
          </a:bodyPr>
          <a:lstStyle/>
          <a:p>
            <a:pPr marL="254000" indent="-254000" algn="just">
              <a:lnSpc>
                <a:spcPts val="2784"/>
              </a:lnSpc>
            </a:pPr>
            <a:r>
              <a:rPr lang="en-US" sz="2200">
                <a:latin typeface="Calibri"/>
              </a:rPr>
              <a:t>. An application program is known as a client program, running on the local machine that requests for a service from an application program known as a server program, running on the remote machine.</a:t>
            </a:r>
          </a:p>
          <a:p>
            <a:pPr marL="254000" indent="-254000" algn="just">
              <a:lnSpc>
                <a:spcPts val="2784"/>
              </a:lnSpc>
            </a:pPr>
            <a:r>
              <a:rPr lang="en-US" sz="2200">
                <a:latin typeface="Calibri"/>
              </a:rPr>
              <a:t>. A client program runs only when it requests for a service from the server while the server program runs all time as it does not know when its service is required.</a:t>
            </a:r>
          </a:p>
          <a:p>
            <a:pPr marL="254000" indent="-254000" algn="just">
              <a:lnSpc>
                <a:spcPts val="2784"/>
              </a:lnSpc>
            </a:pPr>
            <a:r>
              <a:rPr lang="en-US" sz="2200">
                <a:latin typeface="Calibri"/>
              </a:rPr>
              <a:t>. A server provides a service for many clients not just for a single client. Therefore, we can say that client-server follows the many-to-one relationship. Many clients can use the service of one server.</a:t>
            </a:r>
          </a:p>
          <a:p>
            <a:pPr marL="254000" indent="-254000" algn="just">
              <a:lnSpc>
                <a:spcPts val="2784"/>
              </a:lnSpc>
            </a:pPr>
            <a:r>
              <a:rPr lang="en-US" sz="2200">
                <a:latin typeface="Calibri"/>
              </a:rPr>
              <a:t>. Services are required frequently, and many users have a specific client-server application program. For example, the client-server application program allows the user to access the files, send e-mail, and so on. If the services are more customized, then we should have one generic application program that allows the user to access the services available on the remote computer.</a:t>
            </a:r>
          </a:p>
        </p:txBody>
      </p:sp>
      <p:sp>
        <p:nvSpPr>
          <p:cNvPr id="3" name="Date Placeholder 2"/>
          <p:cNvSpPr>
            <a:spLocks noGrp="1"/>
          </p:cNvSpPr>
          <p:nvPr>
            <p:ph type="dt" sz="half" idx="10"/>
          </p:nvPr>
        </p:nvSpPr>
        <p:spPr/>
        <p:txBody>
          <a:bodyPr/>
          <a:lstStyle/>
          <a:p>
            <a:fld id="{47639AD0-D7F8-4DFF-9658-B9DB96CC0090}"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33</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8224" y="975360"/>
            <a:ext cx="719328" cy="237744"/>
          </a:xfrm>
          <a:prstGeom prst="rect">
            <a:avLst/>
          </a:prstGeom>
        </p:spPr>
        <p:txBody>
          <a:bodyPr wrap="none" lIns="0" tIns="0" rIns="0" bIns="0">
            <a:noAutofit/>
          </a:bodyPr>
          <a:lstStyle/>
          <a:p>
            <a:pPr indent="0" algn="just">
              <a:spcAft>
                <a:spcPts val="1890"/>
              </a:spcAft>
            </a:pPr>
            <a:r>
              <a:rPr lang="en-US" sz="2300" b="1">
                <a:latin typeface="Calibri"/>
              </a:rPr>
              <a:t>Client</a:t>
            </a:r>
          </a:p>
        </p:txBody>
      </p:sp>
      <p:sp>
        <p:nvSpPr>
          <p:cNvPr id="3" name="Rectangle 2"/>
          <p:cNvSpPr/>
          <p:nvPr/>
        </p:nvSpPr>
        <p:spPr>
          <a:xfrm>
            <a:off x="262128" y="1536192"/>
            <a:ext cx="9351264" cy="4416552"/>
          </a:xfrm>
          <a:prstGeom prst="rect">
            <a:avLst/>
          </a:prstGeom>
        </p:spPr>
        <p:txBody>
          <a:bodyPr lIns="0" tIns="0" rIns="0" bIns="0">
            <a:noAutofit/>
          </a:bodyPr>
          <a:lstStyle/>
          <a:p>
            <a:pPr indent="0" algn="just">
              <a:lnSpc>
                <a:spcPts val="2784"/>
              </a:lnSpc>
              <a:spcBef>
                <a:spcPts val="1890"/>
              </a:spcBef>
              <a:spcAft>
                <a:spcPts val="840"/>
              </a:spcAft>
            </a:pPr>
            <a:r>
              <a:rPr lang="en-US" sz="2200" dirty="0">
                <a:latin typeface="Calibri"/>
              </a:rPr>
              <a:t>A client is a program that runs on the local machine requesting service from the server. A client program is a finite program means that the service started by the user and terminates when the service is completed.</a:t>
            </a:r>
          </a:p>
          <a:p>
            <a:pPr indent="0" algn="just">
              <a:spcAft>
                <a:spcPts val="1890"/>
              </a:spcAft>
            </a:pPr>
            <a:r>
              <a:rPr lang="en-US" sz="2300" b="1" dirty="0">
                <a:latin typeface="Calibri"/>
              </a:rPr>
              <a:t>Server</a:t>
            </a:r>
          </a:p>
          <a:p>
            <a:pPr indent="0" algn="just">
              <a:lnSpc>
                <a:spcPts val="2808"/>
              </a:lnSpc>
              <a:spcAft>
                <a:spcPts val="840"/>
              </a:spcAft>
            </a:pPr>
            <a:r>
              <a:rPr lang="en-US" sz="2200" dirty="0">
                <a:latin typeface="Calibri"/>
              </a:rPr>
              <a:t>A server is a program that runs on the remote machine providing services to the clients. When the client requests for a service, then the server opens the door for the incoming requests, but it never initiates the service.</a:t>
            </a:r>
          </a:p>
          <a:p>
            <a:pPr indent="0" algn="just">
              <a:lnSpc>
                <a:spcPts val="2808"/>
              </a:lnSpc>
            </a:pPr>
            <a:r>
              <a:rPr lang="en-US" sz="2200" dirty="0">
                <a:latin typeface="Calibri"/>
              </a:rPr>
              <a:t>A server program is an infinite program means that when it starts, it runs infinitely unless the problem arises. The server waits for the incoming requests from the clients. When the request arrives at the server, then it responds to the request.</a:t>
            </a:r>
          </a:p>
        </p:txBody>
      </p:sp>
      <p:sp>
        <p:nvSpPr>
          <p:cNvPr id="4" name="Date Placeholder 3"/>
          <p:cNvSpPr>
            <a:spLocks noGrp="1"/>
          </p:cNvSpPr>
          <p:nvPr>
            <p:ph type="dt" sz="half" idx="10"/>
          </p:nvPr>
        </p:nvSpPr>
        <p:spPr/>
        <p:txBody>
          <a:bodyPr/>
          <a:lstStyle/>
          <a:p>
            <a:fld id="{255401DA-CD88-4CD4-9087-DDF2D03181AA}"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34</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972312"/>
            <a:ext cx="9363456" cy="274320"/>
          </a:xfrm>
          <a:prstGeom prst="rect">
            <a:avLst/>
          </a:prstGeom>
        </p:spPr>
        <p:txBody>
          <a:bodyPr wrap="none" lIns="0" tIns="0" rIns="0" bIns="0">
            <a:noAutofit/>
          </a:bodyPr>
          <a:lstStyle/>
          <a:p>
            <a:pPr indent="0"/>
            <a:r>
              <a:rPr lang="en-US" sz="2300" b="1">
                <a:latin typeface="Calibri"/>
              </a:rPr>
              <a:t>Advantages of Client-server networks:</a:t>
            </a:r>
          </a:p>
        </p:txBody>
      </p:sp>
      <p:sp>
        <p:nvSpPr>
          <p:cNvPr id="3" name="Rectangle 2"/>
          <p:cNvSpPr/>
          <p:nvPr/>
        </p:nvSpPr>
        <p:spPr>
          <a:xfrm>
            <a:off x="259080" y="1484376"/>
            <a:ext cx="9363456" cy="3346704"/>
          </a:xfrm>
          <a:prstGeom prst="rect">
            <a:avLst/>
          </a:prstGeom>
        </p:spPr>
        <p:txBody>
          <a:bodyPr lIns="0" tIns="0" rIns="0" bIns="0">
            <a:noAutofit/>
          </a:bodyPr>
          <a:lstStyle/>
          <a:p>
            <a:pPr marL="482600" indent="-228600">
              <a:lnSpc>
                <a:spcPts val="2808"/>
              </a:lnSpc>
              <a:spcAft>
                <a:spcPts val="210"/>
              </a:spcAft>
            </a:pPr>
            <a:r>
              <a:rPr lang="en-US" sz="2300" b="1" dirty="0">
                <a:latin typeface="Calibri"/>
              </a:rPr>
              <a:t>. Centralized: </a:t>
            </a:r>
            <a:r>
              <a:rPr lang="en-US" sz="2200" dirty="0">
                <a:latin typeface="Calibri"/>
              </a:rPr>
              <a:t>Centralized back-up is possible in client-server networks, i.e., all the data is stored in a server.</a:t>
            </a:r>
          </a:p>
          <a:p>
            <a:pPr marL="482600" indent="-228600">
              <a:lnSpc>
                <a:spcPts val="2832"/>
              </a:lnSpc>
              <a:spcAft>
                <a:spcPts val="210"/>
              </a:spcAft>
            </a:pPr>
            <a:r>
              <a:rPr lang="en-US" sz="2300" b="1" dirty="0">
                <a:latin typeface="Calibri"/>
              </a:rPr>
              <a:t>. Security: </a:t>
            </a:r>
            <a:r>
              <a:rPr lang="en-US" sz="2200" dirty="0">
                <a:latin typeface="Calibri"/>
              </a:rPr>
              <a:t>These networks are more secure as all the shared resources are centrally administered.</a:t>
            </a:r>
          </a:p>
          <a:p>
            <a:pPr marL="482600" indent="-228600">
              <a:lnSpc>
                <a:spcPts val="2808"/>
              </a:lnSpc>
              <a:spcAft>
                <a:spcPts val="210"/>
              </a:spcAft>
            </a:pPr>
            <a:r>
              <a:rPr lang="en-US" sz="2300" b="1" dirty="0">
                <a:latin typeface="Calibri"/>
              </a:rPr>
              <a:t>. Performance: </a:t>
            </a:r>
            <a:r>
              <a:rPr lang="en-US" sz="2200" dirty="0">
                <a:latin typeface="Calibri"/>
              </a:rPr>
              <a:t>The use of the dedicated server increases the speed of sharing resources. This increases the performance of the overall system.</a:t>
            </a:r>
          </a:p>
          <a:p>
            <a:pPr marL="482600" indent="-228600">
              <a:lnSpc>
                <a:spcPts val="2808"/>
              </a:lnSpc>
            </a:pPr>
            <a:r>
              <a:rPr lang="en-US" sz="2300" b="1" dirty="0">
                <a:latin typeface="Calibri"/>
              </a:rPr>
              <a:t>. Scalability: </a:t>
            </a:r>
            <a:r>
              <a:rPr lang="en-US" sz="2200" dirty="0">
                <a:latin typeface="Calibri"/>
              </a:rPr>
              <a:t>We can increase the number of clients and servers separately,</a:t>
            </a:r>
          </a:p>
          <a:p>
            <a:pPr marL="482600" indent="0" algn="just">
              <a:lnSpc>
                <a:spcPts val="2808"/>
              </a:lnSpc>
            </a:pPr>
            <a:r>
              <a:rPr lang="en-US" sz="2200" dirty="0">
                <a:latin typeface="Calibri"/>
              </a:rPr>
              <a:t>i.e., the new element can be added, or we can add a new node in a network at any time.</a:t>
            </a:r>
          </a:p>
        </p:txBody>
      </p:sp>
      <p:sp>
        <p:nvSpPr>
          <p:cNvPr id="4" name="Date Placeholder 3"/>
          <p:cNvSpPr>
            <a:spLocks noGrp="1"/>
          </p:cNvSpPr>
          <p:nvPr>
            <p:ph type="dt" sz="half" idx="10"/>
          </p:nvPr>
        </p:nvSpPr>
        <p:spPr/>
        <p:txBody>
          <a:bodyPr/>
          <a:lstStyle/>
          <a:p>
            <a:fld id="{95D7B748-A607-4102-A32D-6BACAB005002}"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35</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72312"/>
            <a:ext cx="9336024" cy="274320"/>
          </a:xfrm>
          <a:prstGeom prst="rect">
            <a:avLst/>
          </a:prstGeom>
        </p:spPr>
        <p:txBody>
          <a:bodyPr wrap="none" lIns="0" tIns="0" rIns="0" bIns="0">
            <a:noAutofit/>
          </a:bodyPr>
          <a:lstStyle/>
          <a:p>
            <a:pPr indent="0"/>
            <a:r>
              <a:rPr lang="en-US" sz="2300" b="1">
                <a:latin typeface="Calibri"/>
              </a:rPr>
              <a:t>Disadvantages of Client-Server network:</a:t>
            </a:r>
          </a:p>
        </p:txBody>
      </p:sp>
      <p:sp>
        <p:nvSpPr>
          <p:cNvPr id="3" name="Rectangle 2"/>
          <p:cNvSpPr/>
          <p:nvPr/>
        </p:nvSpPr>
        <p:spPr>
          <a:xfrm>
            <a:off x="277368" y="1472184"/>
            <a:ext cx="9336024" cy="3843528"/>
          </a:xfrm>
          <a:prstGeom prst="rect">
            <a:avLst/>
          </a:prstGeom>
        </p:spPr>
        <p:txBody>
          <a:bodyPr lIns="0" tIns="0" rIns="0" bIns="0">
            <a:noAutofit/>
          </a:bodyPr>
          <a:lstStyle/>
          <a:p>
            <a:pPr marL="469900" indent="-241300" algn="just">
              <a:lnSpc>
                <a:spcPts val="2808"/>
              </a:lnSpc>
            </a:pPr>
            <a:r>
              <a:rPr lang="en-US" sz="2200">
                <a:latin typeface="Calibri"/>
              </a:rPr>
              <a:t>. </a:t>
            </a:r>
            <a:r>
              <a:rPr lang="en-US" sz="2300" b="1">
                <a:latin typeface="Calibri"/>
              </a:rPr>
              <a:t>Traffic Congestion </a:t>
            </a:r>
            <a:r>
              <a:rPr lang="en-US" sz="2200">
                <a:latin typeface="Calibri"/>
              </a:rPr>
              <a:t>is a big problem in Client/Server networks. When a large number of clients send requests to the same server may cause the problem of Traffic congestion.</a:t>
            </a:r>
          </a:p>
          <a:p>
            <a:pPr marL="469900" indent="-241300" algn="just">
              <a:lnSpc>
                <a:spcPts val="2808"/>
              </a:lnSpc>
            </a:pPr>
            <a:r>
              <a:rPr lang="en-US" sz="2200">
                <a:latin typeface="Calibri"/>
              </a:rPr>
              <a:t>. It does not have a robustness of a network, i.e., when the server is down, then the client requests cannot be met.</a:t>
            </a:r>
          </a:p>
          <a:p>
            <a:pPr marL="469900" indent="-241300" algn="just">
              <a:lnSpc>
                <a:spcPts val="2808"/>
              </a:lnSpc>
            </a:pPr>
            <a:r>
              <a:rPr lang="en-US" sz="2200">
                <a:latin typeface="Calibri"/>
              </a:rPr>
              <a:t>. A client/server network is very decisive. Sometimes, regular computer hardware does not serve a certain number of clients. In such situations, specific hardware is required at the server side to complete the work.</a:t>
            </a:r>
          </a:p>
          <a:p>
            <a:pPr marL="469900" indent="-241300" algn="just">
              <a:lnSpc>
                <a:spcPts val="2808"/>
              </a:lnSpc>
            </a:pPr>
            <a:r>
              <a:rPr lang="en-US" sz="2200">
                <a:latin typeface="Calibri"/>
              </a:rPr>
              <a:t>. Sometimes the resources exist in the server but may not exist in the client. For example, If the application is web, then we cannot take the print out directly on printers without taking out the print view window on the web.</a:t>
            </a:r>
          </a:p>
        </p:txBody>
      </p:sp>
      <p:sp>
        <p:nvSpPr>
          <p:cNvPr id="4" name="Date Placeholder 3"/>
          <p:cNvSpPr>
            <a:spLocks noGrp="1"/>
          </p:cNvSpPr>
          <p:nvPr>
            <p:ph type="dt" sz="half" idx="10"/>
          </p:nvPr>
        </p:nvSpPr>
        <p:spPr/>
        <p:txBody>
          <a:bodyPr/>
          <a:lstStyle/>
          <a:p>
            <a:fld id="{D4F120D4-7B36-4453-AADF-4BA060C8E606}"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36</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944112" y="975360"/>
            <a:ext cx="1978152" cy="237744"/>
          </a:xfrm>
          <a:prstGeom prst="rect">
            <a:avLst/>
          </a:prstGeom>
        </p:spPr>
        <p:txBody>
          <a:bodyPr wrap="none" lIns="0" tIns="0" rIns="0" bIns="0">
            <a:noAutofit/>
          </a:bodyPr>
          <a:lstStyle/>
          <a:p>
            <a:pPr indent="0"/>
            <a:r>
              <a:rPr lang="en-US" sz="2300" b="1">
                <a:latin typeface="Calibri"/>
              </a:rPr>
              <a:t>Virtual Terminal</a:t>
            </a:r>
          </a:p>
        </p:txBody>
      </p:sp>
      <p:sp>
        <p:nvSpPr>
          <p:cNvPr id="3" name="Rectangle 2"/>
          <p:cNvSpPr/>
          <p:nvPr/>
        </p:nvSpPr>
        <p:spPr>
          <a:xfrm>
            <a:off x="280416" y="1831848"/>
            <a:ext cx="8153400" cy="292608"/>
          </a:xfrm>
          <a:prstGeom prst="rect">
            <a:avLst/>
          </a:prstGeom>
        </p:spPr>
        <p:txBody>
          <a:bodyPr wrap="none" lIns="0" tIns="0" rIns="0" bIns="0">
            <a:noAutofit/>
          </a:bodyPr>
          <a:lstStyle/>
          <a:p>
            <a:pPr indent="0">
              <a:spcAft>
                <a:spcPts val="3780"/>
              </a:spcAft>
            </a:pPr>
            <a:r>
              <a:rPr lang="en-US" sz="2200">
                <a:latin typeface="Calibri"/>
              </a:rPr>
              <a:t>In open systems, a virtual terminal (VT) is an application service that:</a:t>
            </a:r>
          </a:p>
        </p:txBody>
      </p:sp>
      <p:sp>
        <p:nvSpPr>
          <p:cNvPr id="4" name="Rectangle 3"/>
          <p:cNvSpPr/>
          <p:nvPr/>
        </p:nvSpPr>
        <p:spPr>
          <a:xfrm>
            <a:off x="493776" y="2755392"/>
            <a:ext cx="9128760" cy="2426208"/>
          </a:xfrm>
          <a:prstGeom prst="rect">
            <a:avLst/>
          </a:prstGeom>
        </p:spPr>
        <p:txBody>
          <a:bodyPr lIns="0" tIns="0" rIns="0" bIns="0">
            <a:noAutofit/>
          </a:bodyPr>
          <a:lstStyle/>
          <a:p>
            <a:pPr marL="250952" indent="-228600">
              <a:lnSpc>
                <a:spcPts val="2784"/>
              </a:lnSpc>
              <a:spcBef>
                <a:spcPts val="3780"/>
              </a:spcBef>
            </a:pPr>
            <a:r>
              <a:rPr lang="en-US" sz="2200">
                <a:latin typeface="Calibri"/>
              </a:rPr>
              <a:t>1. Allows host terminals on a multi-user network to interact with other hosts regardless of terminal type and characteristics,</a:t>
            </a:r>
          </a:p>
          <a:p>
            <a:pPr marL="250952" indent="-228600">
              <a:lnSpc>
                <a:spcPts val="2784"/>
              </a:lnSpc>
            </a:pPr>
            <a:r>
              <a:rPr lang="en-US" sz="2200">
                <a:latin typeface="Calibri"/>
              </a:rPr>
              <a:t>2. Allows remote log-on by local area network managers for the purpose of management,</a:t>
            </a:r>
          </a:p>
          <a:p>
            <a:pPr marL="250952" indent="-228600">
              <a:lnSpc>
                <a:spcPts val="2784"/>
              </a:lnSpc>
            </a:pPr>
            <a:r>
              <a:rPr lang="en-US" sz="2200">
                <a:latin typeface="Calibri"/>
              </a:rPr>
              <a:t>3. Allows users to access information from another host processor for transaction processing,</a:t>
            </a:r>
          </a:p>
          <a:p>
            <a:pPr indent="254000" algn="just">
              <a:lnSpc>
                <a:spcPts val="2784"/>
              </a:lnSpc>
              <a:spcAft>
                <a:spcPts val="2940"/>
              </a:spcAft>
            </a:pPr>
            <a:r>
              <a:rPr lang="en-US" sz="2200">
                <a:latin typeface="Calibri"/>
              </a:rPr>
              <a:t>4.Serves as a backup facility.</a:t>
            </a:r>
          </a:p>
        </p:txBody>
      </p:sp>
      <p:sp>
        <p:nvSpPr>
          <p:cNvPr id="5" name="Rectangle 4"/>
          <p:cNvSpPr/>
          <p:nvPr/>
        </p:nvSpPr>
        <p:spPr>
          <a:xfrm>
            <a:off x="262128" y="5809488"/>
            <a:ext cx="9342120" cy="1356360"/>
          </a:xfrm>
          <a:prstGeom prst="rect">
            <a:avLst/>
          </a:prstGeom>
        </p:spPr>
        <p:txBody>
          <a:bodyPr lIns="0" tIns="0" rIns="0" bIns="0">
            <a:noAutofit/>
          </a:bodyPr>
          <a:lstStyle/>
          <a:p>
            <a:pPr indent="254000" algn="just">
              <a:lnSpc>
                <a:spcPts val="2784"/>
              </a:lnSpc>
              <a:spcBef>
                <a:spcPts val="2940"/>
              </a:spcBef>
            </a:pPr>
            <a:r>
              <a:rPr lang="en-US" sz="2200">
                <a:latin typeface="Calibri"/>
              </a:rPr>
              <a:t>They are also called Virtual Console, are emulated text terminals, using the keyboard and monitor of a personal computer or workstation. The word "text" is key since virtual consoles are not GUI terminals and they do not run inside a graphical interface. Virtual consoles are found on all GNU/Linux systems, even</a:t>
            </a:r>
          </a:p>
        </p:txBody>
      </p:sp>
      <p:sp>
        <p:nvSpPr>
          <p:cNvPr id="6" name="Date Placeholder 5"/>
          <p:cNvSpPr>
            <a:spLocks noGrp="1"/>
          </p:cNvSpPr>
          <p:nvPr>
            <p:ph type="dt" sz="half" idx="10"/>
          </p:nvPr>
        </p:nvSpPr>
        <p:spPr/>
        <p:txBody>
          <a:bodyPr/>
          <a:lstStyle/>
          <a:p>
            <a:fld id="{2303852E-2C71-45ED-804B-AE85B4455D9C}"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37</a:t>
            </a:fld>
            <a:endParaRPr lang="en-US"/>
          </a:p>
        </p:txBody>
      </p:sp>
      <p:sp>
        <p:nvSpPr>
          <p:cNvPr id="9"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8224" y="972312"/>
            <a:ext cx="9329928" cy="1106424"/>
          </a:xfrm>
          <a:prstGeom prst="rect">
            <a:avLst/>
          </a:prstGeom>
        </p:spPr>
        <p:txBody>
          <a:bodyPr lIns="0" tIns="0" rIns="0" bIns="0">
            <a:noAutofit/>
          </a:bodyPr>
          <a:lstStyle/>
          <a:p>
            <a:pPr indent="0" algn="just">
              <a:lnSpc>
                <a:spcPts val="2808"/>
              </a:lnSpc>
              <a:spcAft>
                <a:spcPts val="420"/>
              </a:spcAft>
            </a:pPr>
            <a:r>
              <a:rPr lang="en-US" sz="2200">
                <a:latin typeface="Calibri"/>
              </a:rPr>
              <a:t>on systems which don't have a desktop environment or graphical system installed. They are primarily used to access and interact with servers.</a:t>
            </a:r>
          </a:p>
          <a:p>
            <a:pPr indent="254000" algn="just">
              <a:spcAft>
                <a:spcPts val="3780"/>
              </a:spcAft>
            </a:pPr>
            <a:r>
              <a:rPr lang="en-US" sz="2200">
                <a:latin typeface="Calibri"/>
              </a:rPr>
              <a:t>PuTTY is an example of a virtual terminal.</a:t>
            </a:r>
          </a:p>
        </p:txBody>
      </p:sp>
      <p:sp>
        <p:nvSpPr>
          <p:cNvPr id="3" name="Rectangle 2"/>
          <p:cNvSpPr/>
          <p:nvPr/>
        </p:nvSpPr>
        <p:spPr>
          <a:xfrm>
            <a:off x="277368" y="2703576"/>
            <a:ext cx="9336024" cy="954024"/>
          </a:xfrm>
          <a:prstGeom prst="rect">
            <a:avLst/>
          </a:prstGeom>
        </p:spPr>
        <p:txBody>
          <a:bodyPr lIns="0" tIns="0" rIns="0" bIns="0">
            <a:noAutofit/>
          </a:bodyPr>
          <a:lstStyle/>
          <a:p>
            <a:pPr indent="254000" algn="just">
              <a:lnSpc>
                <a:spcPts val="2808"/>
              </a:lnSpc>
              <a:spcBef>
                <a:spcPts val="3780"/>
              </a:spcBef>
            </a:pPr>
            <a:r>
              <a:rPr lang="en-US" sz="2200">
                <a:latin typeface="Calibri"/>
              </a:rPr>
              <a:t>ITU-T defines a virtual terminal protocol based on the OSI application layer protocols. However, the virtual terminal protocol is not widely used on the Internet.</a:t>
            </a:r>
          </a:p>
        </p:txBody>
      </p:sp>
      <p:sp>
        <p:nvSpPr>
          <p:cNvPr id="4" name="Date Placeholder 3"/>
          <p:cNvSpPr>
            <a:spLocks noGrp="1"/>
          </p:cNvSpPr>
          <p:nvPr>
            <p:ph type="dt" sz="half" idx="10"/>
          </p:nvPr>
        </p:nvSpPr>
        <p:spPr/>
        <p:txBody>
          <a:bodyPr/>
          <a:lstStyle/>
          <a:p>
            <a:fld id="{23759CFB-E940-4154-90A7-2B0F3FF6AC54}"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38</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31520" y="1316736"/>
            <a:ext cx="8766048" cy="4934712"/>
          </a:xfrm>
          <a:prstGeom prst="rect">
            <a:avLst/>
          </a:prstGeom>
        </p:spPr>
      </p:pic>
      <p:sp>
        <p:nvSpPr>
          <p:cNvPr id="3" name="Rectangle 2"/>
          <p:cNvSpPr/>
          <p:nvPr/>
        </p:nvSpPr>
        <p:spPr>
          <a:xfrm>
            <a:off x="2697480" y="969264"/>
            <a:ext cx="4486656" cy="292608"/>
          </a:xfrm>
          <a:prstGeom prst="rect">
            <a:avLst/>
          </a:prstGeom>
        </p:spPr>
        <p:txBody>
          <a:bodyPr wrap="none" lIns="0" tIns="0" rIns="0" bIns="0">
            <a:noAutofit/>
          </a:bodyPr>
          <a:lstStyle/>
          <a:p>
            <a:pPr indent="0"/>
            <a:r>
              <a:rPr lang="en-US" sz="2200" b="1" dirty="0">
                <a:latin typeface="Calibri"/>
              </a:rPr>
              <a:t>NETWORK VIRTUAL TERMINAL (NVT)</a:t>
            </a:r>
          </a:p>
        </p:txBody>
      </p:sp>
      <p:sp>
        <p:nvSpPr>
          <p:cNvPr id="4" name="Rectangle 3"/>
          <p:cNvSpPr/>
          <p:nvPr/>
        </p:nvSpPr>
        <p:spPr>
          <a:xfrm>
            <a:off x="1182624" y="6455664"/>
            <a:ext cx="8418576" cy="597408"/>
          </a:xfrm>
          <a:prstGeom prst="rect">
            <a:avLst/>
          </a:prstGeom>
        </p:spPr>
        <p:txBody>
          <a:bodyPr lIns="0" tIns="0" rIns="0" bIns="0">
            <a:noAutofit/>
          </a:bodyPr>
          <a:lstStyle/>
          <a:p>
            <a:pPr marL="241300" indent="-215900">
              <a:lnSpc>
                <a:spcPts val="2808"/>
              </a:lnSpc>
              <a:spcBef>
                <a:spcPts val="1050"/>
              </a:spcBef>
            </a:pPr>
            <a:r>
              <a:rPr lang="en-US" sz="2200">
                <a:latin typeface="Calibri"/>
              </a:rPr>
              <a:t>• The network virtual terminal is an interface that defines how data and commands are sent across the network.</a:t>
            </a:r>
          </a:p>
        </p:txBody>
      </p:sp>
      <p:sp>
        <p:nvSpPr>
          <p:cNvPr id="5" name="Date Placeholder 4"/>
          <p:cNvSpPr>
            <a:spLocks noGrp="1"/>
          </p:cNvSpPr>
          <p:nvPr>
            <p:ph type="dt" sz="half" idx="10"/>
          </p:nvPr>
        </p:nvSpPr>
        <p:spPr/>
        <p:txBody>
          <a:bodyPr/>
          <a:lstStyle/>
          <a:p>
            <a:fld id="{5E4AD414-11EB-4A67-A85D-7AA73B024B4F}"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39</a:t>
            </a:fld>
            <a:endParaRPr lang="en-US"/>
          </a:p>
        </p:txBody>
      </p:sp>
      <p:sp>
        <p:nvSpPr>
          <p:cNvPr id="8"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182624" y="987552"/>
            <a:ext cx="8427720" cy="3529584"/>
          </a:xfrm>
          <a:prstGeom prst="rect">
            <a:avLst/>
          </a:prstGeom>
        </p:spPr>
        <p:txBody>
          <a:bodyPr lIns="0" tIns="0" rIns="0" bIns="0">
            <a:noAutofit/>
          </a:bodyPr>
          <a:lstStyle/>
          <a:p>
            <a:pPr marL="241300" indent="-215900" algn="just">
              <a:lnSpc>
                <a:spcPts val="2808"/>
              </a:lnSpc>
            </a:pPr>
            <a:r>
              <a:rPr lang="en-US" sz="2200">
                <a:latin typeface="Calibri"/>
              </a:rPr>
              <a:t>•    In today's world, systems are heterogeneous. For example, the operating system accepts a special combination of characters such as end-of-file token running a DOS operating system </a:t>
            </a:r>
            <a:r>
              <a:rPr lang="en-US" sz="2300" i="1">
                <a:latin typeface="Calibri"/>
              </a:rPr>
              <a:t>ctrl+z</a:t>
            </a:r>
            <a:r>
              <a:rPr lang="en-US" sz="2200">
                <a:latin typeface="Calibri"/>
              </a:rPr>
              <a:t> while the token running a UNIX operating system is </a:t>
            </a:r>
            <a:r>
              <a:rPr lang="en-US" sz="2300" i="1">
                <a:latin typeface="Calibri"/>
              </a:rPr>
              <a:t>ctrl+d.</a:t>
            </a:r>
          </a:p>
          <a:p>
            <a:pPr marL="241300" indent="-215900" algn="just">
              <a:lnSpc>
                <a:spcPts val="2784"/>
              </a:lnSpc>
            </a:pPr>
            <a:r>
              <a:rPr lang="en-US" sz="2300" i="1">
                <a:latin typeface="Calibri"/>
              </a:rPr>
              <a:t>•</a:t>
            </a:r>
            <a:r>
              <a:rPr lang="en-US" sz="2200">
                <a:latin typeface="Calibri"/>
              </a:rPr>
              <a:t>    TELNET solves this issue by defining a universal interface known as network virtual interface.</a:t>
            </a:r>
          </a:p>
          <a:p>
            <a:pPr marL="241300" indent="-215900" algn="just">
              <a:lnSpc>
                <a:spcPts val="2808"/>
              </a:lnSpc>
            </a:pPr>
            <a:r>
              <a:rPr lang="en-US" sz="2200">
                <a:latin typeface="Calibri"/>
              </a:rPr>
              <a:t>•    The TELNET client translates the characters that come from the local terminal into NVT form and then delivers them to the network. The Telnet server then translates the data from NVT form into a form which can be understandable by a remote computer.</a:t>
            </a:r>
          </a:p>
        </p:txBody>
      </p:sp>
      <p:sp>
        <p:nvSpPr>
          <p:cNvPr id="3" name="Date Placeholder 2"/>
          <p:cNvSpPr>
            <a:spLocks noGrp="1"/>
          </p:cNvSpPr>
          <p:nvPr>
            <p:ph type="dt" sz="half" idx="10"/>
          </p:nvPr>
        </p:nvSpPr>
        <p:spPr/>
        <p:txBody>
          <a:bodyPr/>
          <a:lstStyle/>
          <a:p>
            <a:fld id="{7B6B3BC4-1EF0-42D3-93E0-D5F1AEDE6A6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40</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026408" y="984504"/>
            <a:ext cx="1837944" cy="228600"/>
          </a:xfrm>
          <a:prstGeom prst="rect">
            <a:avLst/>
          </a:prstGeom>
        </p:spPr>
        <p:txBody>
          <a:bodyPr wrap="none" lIns="0" tIns="0" rIns="0" bIns="0">
            <a:noAutofit/>
          </a:bodyPr>
          <a:lstStyle/>
          <a:p>
            <a:pPr indent="0"/>
            <a:r>
              <a:rPr lang="en-US" sz="2300" b="1">
                <a:latin typeface="Calibri"/>
              </a:rPr>
              <a:t>MAIL SERVICES</a:t>
            </a:r>
          </a:p>
        </p:txBody>
      </p:sp>
      <p:sp>
        <p:nvSpPr>
          <p:cNvPr id="3" name="Rectangle 2"/>
          <p:cNvSpPr/>
          <p:nvPr/>
        </p:nvSpPr>
        <p:spPr>
          <a:xfrm>
            <a:off x="496824" y="2042160"/>
            <a:ext cx="9119616" cy="3627120"/>
          </a:xfrm>
          <a:prstGeom prst="rect">
            <a:avLst/>
          </a:prstGeom>
        </p:spPr>
        <p:txBody>
          <a:bodyPr lIns="0" tIns="0" rIns="0" bIns="0">
            <a:noAutofit/>
          </a:bodyPr>
          <a:lstStyle/>
          <a:p>
            <a:pPr indent="254000" algn="just">
              <a:lnSpc>
                <a:spcPts val="2784"/>
              </a:lnSpc>
              <a:spcAft>
                <a:spcPts val="840"/>
              </a:spcAft>
            </a:pPr>
            <a:r>
              <a:rPr lang="en-US" sz="2200" dirty="0">
                <a:latin typeface="Calibri"/>
              </a:rPr>
              <a:t>Email is a store-and-forward method of sending, storing, and retrieving electronic messages across a network. Email messages are stored in databases on mail servers. ISPs often maintain mail servers that support many different customer accounts.</a:t>
            </a:r>
          </a:p>
          <a:p>
            <a:pPr indent="254000" algn="just">
              <a:lnSpc>
                <a:spcPts val="2808"/>
              </a:lnSpc>
            </a:pPr>
            <a:r>
              <a:rPr lang="en-US" sz="2200" dirty="0">
                <a:latin typeface="Calibri"/>
              </a:rPr>
              <a:t>Email clients communicate with mail servers to send and receive email. Mail servers communicate with other mail servers to transport messages from one domain to another. An email client does not communicate directly with another email client when sending email. Instead, both clients rely on the mail server to transport messages. This is true even when both users are in the same domain.</a:t>
            </a:r>
          </a:p>
        </p:txBody>
      </p:sp>
      <p:sp>
        <p:nvSpPr>
          <p:cNvPr id="4" name="Date Placeholder 3"/>
          <p:cNvSpPr>
            <a:spLocks noGrp="1"/>
          </p:cNvSpPr>
          <p:nvPr>
            <p:ph type="dt" sz="half" idx="10"/>
          </p:nvPr>
        </p:nvSpPr>
        <p:spPr/>
        <p:txBody>
          <a:bodyPr/>
          <a:lstStyle/>
          <a:p>
            <a:fld id="{0BAE6E39-8719-4FD6-819A-3DA093616663}"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41</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84632" y="972312"/>
            <a:ext cx="9131808" cy="3627120"/>
          </a:xfrm>
          <a:prstGeom prst="rect">
            <a:avLst/>
          </a:prstGeom>
        </p:spPr>
        <p:txBody>
          <a:bodyPr lIns="0" tIns="0" rIns="0" bIns="0">
            <a:noAutofit/>
          </a:bodyPr>
          <a:lstStyle/>
          <a:p>
            <a:pPr indent="266700" algn="just">
              <a:lnSpc>
                <a:spcPts val="2808"/>
              </a:lnSpc>
              <a:spcAft>
                <a:spcPts val="840"/>
              </a:spcAft>
            </a:pPr>
            <a:r>
              <a:rPr lang="en-US" sz="2200">
                <a:latin typeface="Calibri"/>
              </a:rPr>
              <a:t>Email clients send messages to the email server configured in the application settings. When the server receives the message, it checks to see if the recipient domain is located on its local database. If it is not, it sends a DNS request to determine the IP address of the mail server for the destination domain. The email is then forwarded to the appropriate server.</a:t>
            </a:r>
          </a:p>
          <a:p>
            <a:pPr indent="266700" algn="just">
              <a:lnSpc>
                <a:spcPts val="2808"/>
              </a:lnSpc>
              <a:spcAft>
                <a:spcPts val="840"/>
              </a:spcAft>
            </a:pPr>
            <a:r>
              <a:rPr lang="en-US" sz="2200">
                <a:latin typeface="Calibri"/>
              </a:rPr>
              <a:t>Email supports three separate protocols for operation: Simple Mail Transfer Protocol (</a:t>
            </a:r>
            <a:r>
              <a:rPr lang="en-US" sz="2300" b="1">
                <a:latin typeface="Calibri"/>
              </a:rPr>
              <a:t>SMTP</a:t>
            </a:r>
            <a:r>
              <a:rPr lang="en-US" sz="2200">
                <a:latin typeface="Calibri"/>
              </a:rPr>
              <a:t>), Post Office Protocol (</a:t>
            </a:r>
            <a:r>
              <a:rPr lang="en-US" sz="2300" b="1">
                <a:latin typeface="Calibri"/>
              </a:rPr>
              <a:t>POP</a:t>
            </a:r>
            <a:r>
              <a:rPr lang="en-US" sz="2200">
                <a:latin typeface="Calibri"/>
              </a:rPr>
              <a:t>), and Internet Message Access Protocol (</a:t>
            </a:r>
            <a:r>
              <a:rPr lang="en-US" sz="2300" b="1">
                <a:latin typeface="Calibri"/>
              </a:rPr>
              <a:t>IMAP</a:t>
            </a:r>
            <a:r>
              <a:rPr lang="en-US" sz="2200">
                <a:latin typeface="Calibri"/>
              </a:rPr>
              <a:t>). </a:t>
            </a:r>
            <a:r>
              <a:rPr lang="en-US" sz="2300" b="1" u="sng">
                <a:latin typeface="Calibri"/>
              </a:rPr>
              <a:t>The application layer process</a:t>
            </a:r>
            <a:r>
              <a:rPr lang="en-US" sz="2300" b="1">
                <a:latin typeface="Calibri"/>
              </a:rPr>
              <a:t> </a:t>
            </a:r>
            <a:r>
              <a:rPr lang="en-US" sz="2200">
                <a:latin typeface="Calibri"/>
              </a:rPr>
              <a:t>that sends mail, uses SMTP. This is the case if sending from a client to a server, as well as when sending from one server to another.</a:t>
            </a:r>
          </a:p>
        </p:txBody>
      </p:sp>
      <p:sp>
        <p:nvSpPr>
          <p:cNvPr id="3" name="Rectangle 2"/>
          <p:cNvSpPr/>
          <p:nvPr/>
        </p:nvSpPr>
        <p:spPr>
          <a:xfrm>
            <a:off x="505968" y="4895088"/>
            <a:ext cx="9107424" cy="646176"/>
          </a:xfrm>
          <a:prstGeom prst="rect">
            <a:avLst/>
          </a:prstGeom>
        </p:spPr>
        <p:txBody>
          <a:bodyPr lIns="0" tIns="0" rIns="0" bIns="0">
            <a:noAutofit/>
          </a:bodyPr>
          <a:lstStyle/>
          <a:p>
            <a:pPr indent="266700" algn="just">
              <a:lnSpc>
                <a:spcPts val="2808"/>
              </a:lnSpc>
              <a:spcBef>
                <a:spcPts val="840"/>
              </a:spcBef>
            </a:pPr>
            <a:r>
              <a:rPr lang="en-US" sz="2200">
                <a:latin typeface="Calibri"/>
              </a:rPr>
              <a:t>A client retrieves email, however, using one of two application layer protocols: POP or IMAP.</a:t>
            </a:r>
          </a:p>
        </p:txBody>
      </p:sp>
      <p:sp>
        <p:nvSpPr>
          <p:cNvPr id="4" name="Date Placeholder 3"/>
          <p:cNvSpPr>
            <a:spLocks noGrp="1"/>
          </p:cNvSpPr>
          <p:nvPr>
            <p:ph type="dt" sz="half" idx="10"/>
          </p:nvPr>
        </p:nvSpPr>
        <p:spPr/>
        <p:txBody>
          <a:bodyPr/>
          <a:lstStyle/>
          <a:p>
            <a:fld id="{B517F7F9-9849-47F1-9BAB-D4095E60F7AB}"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42</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74136" y="1130808"/>
            <a:ext cx="1286256" cy="1301496"/>
          </a:xfrm>
          <a:prstGeom prst="rect">
            <a:avLst/>
          </a:prstGeom>
        </p:spPr>
      </p:pic>
      <p:pic>
        <p:nvPicPr>
          <p:cNvPr id="3" name="Picture 2"/>
          <p:cNvPicPr>
            <a:picLocks noChangeAspect="1"/>
          </p:cNvPicPr>
          <p:nvPr/>
        </p:nvPicPr>
        <p:blipFill>
          <a:blip r:embed="rId3"/>
          <a:stretch>
            <a:fillRect/>
          </a:stretch>
        </p:blipFill>
        <p:spPr>
          <a:xfrm>
            <a:off x="4663440" y="935736"/>
            <a:ext cx="1935480" cy="1496568"/>
          </a:xfrm>
          <a:prstGeom prst="rect">
            <a:avLst/>
          </a:prstGeom>
        </p:spPr>
      </p:pic>
      <p:pic>
        <p:nvPicPr>
          <p:cNvPr id="4" name="Picture 3"/>
          <p:cNvPicPr>
            <a:picLocks noChangeAspect="1"/>
          </p:cNvPicPr>
          <p:nvPr/>
        </p:nvPicPr>
        <p:blipFill>
          <a:blip r:embed="rId4"/>
          <a:stretch>
            <a:fillRect/>
          </a:stretch>
        </p:blipFill>
        <p:spPr>
          <a:xfrm>
            <a:off x="1871472" y="2490216"/>
            <a:ext cx="2977896" cy="4120896"/>
          </a:xfrm>
          <a:prstGeom prst="rect">
            <a:avLst/>
          </a:prstGeom>
        </p:spPr>
      </p:pic>
      <p:pic>
        <p:nvPicPr>
          <p:cNvPr id="5" name="Picture 4"/>
          <p:cNvPicPr>
            <a:picLocks noChangeAspect="1"/>
          </p:cNvPicPr>
          <p:nvPr/>
        </p:nvPicPr>
        <p:blipFill>
          <a:blip r:embed="rId5"/>
          <a:stretch>
            <a:fillRect/>
          </a:stretch>
        </p:blipFill>
        <p:spPr>
          <a:xfrm>
            <a:off x="5059680" y="2423160"/>
            <a:ext cx="2993136" cy="4169664"/>
          </a:xfrm>
          <a:prstGeom prst="rect">
            <a:avLst/>
          </a:prstGeom>
        </p:spPr>
      </p:pic>
      <p:sp>
        <p:nvSpPr>
          <p:cNvPr id="6" name="Rectangle 5"/>
          <p:cNvSpPr/>
          <p:nvPr/>
        </p:nvSpPr>
        <p:spPr>
          <a:xfrm>
            <a:off x="2432304" y="1786128"/>
            <a:ext cx="883920" cy="469392"/>
          </a:xfrm>
          <a:prstGeom prst="rect">
            <a:avLst/>
          </a:prstGeom>
        </p:spPr>
        <p:txBody>
          <a:bodyPr lIns="0" tIns="0" rIns="0" bIns="0">
            <a:noAutofit/>
          </a:bodyPr>
          <a:lstStyle/>
          <a:p>
            <a:pPr indent="0" algn="r">
              <a:spcAft>
                <a:spcPts val="630"/>
              </a:spcAft>
            </a:pPr>
            <a:r>
              <a:rPr lang="en-US" sz="1400" b="1" spc="-50">
                <a:solidFill>
                  <a:srgbClr val="515151"/>
                </a:solidFill>
                <a:latin typeface="Calibri"/>
              </a:rPr>
              <a:t>ISP A</a:t>
            </a:r>
          </a:p>
          <a:p>
            <a:pPr indent="0" algn="r"/>
            <a:r>
              <a:rPr lang="en-US" sz="1400" b="1" spc="-50">
                <a:solidFill>
                  <a:srgbClr val="7F7F7F"/>
                </a:solidFill>
                <a:latin typeface="Calibri"/>
              </a:rPr>
              <a:t>Mail Server</a:t>
            </a:r>
          </a:p>
        </p:txBody>
      </p:sp>
      <p:sp>
        <p:nvSpPr>
          <p:cNvPr id="7" name="Rectangle 6"/>
          <p:cNvSpPr/>
          <p:nvPr/>
        </p:nvSpPr>
        <p:spPr>
          <a:xfrm>
            <a:off x="6669024" y="1801368"/>
            <a:ext cx="911352" cy="472440"/>
          </a:xfrm>
          <a:prstGeom prst="rect">
            <a:avLst/>
          </a:prstGeom>
        </p:spPr>
        <p:txBody>
          <a:bodyPr lIns="0" tIns="0" rIns="0" bIns="0">
            <a:noAutofit/>
          </a:bodyPr>
          <a:lstStyle/>
          <a:p>
            <a:pPr indent="0">
              <a:spcAft>
                <a:spcPts val="630"/>
              </a:spcAft>
            </a:pPr>
            <a:r>
              <a:rPr lang="en-US" sz="1400" b="1" spc="-50">
                <a:solidFill>
                  <a:srgbClr val="515151"/>
                </a:solidFill>
                <a:latin typeface="Calibri"/>
              </a:rPr>
              <a:t>ISP B</a:t>
            </a:r>
          </a:p>
          <a:p>
            <a:pPr indent="0"/>
            <a:r>
              <a:rPr lang="en-US" sz="1400" b="1" spc="-50">
                <a:solidFill>
                  <a:srgbClr val="7F7F7F"/>
                </a:solidFill>
                <a:latin typeface="Calibri"/>
              </a:rPr>
              <a:t>Mail Server</a:t>
            </a:r>
          </a:p>
        </p:txBody>
      </p:sp>
      <p:sp>
        <p:nvSpPr>
          <p:cNvPr id="8" name="Rectangle 7"/>
          <p:cNvSpPr/>
          <p:nvPr/>
        </p:nvSpPr>
        <p:spPr>
          <a:xfrm>
            <a:off x="3182112" y="3681984"/>
            <a:ext cx="463296" cy="140208"/>
          </a:xfrm>
          <a:prstGeom prst="rect">
            <a:avLst/>
          </a:prstGeom>
        </p:spPr>
        <p:txBody>
          <a:bodyPr wrap="none" lIns="0" tIns="0" rIns="0" bIns="0">
            <a:noAutofit/>
          </a:bodyPr>
          <a:lstStyle/>
          <a:p>
            <a:pPr indent="0"/>
            <a:r>
              <a:rPr lang="en-US" sz="1500" b="1" spc="-100">
                <a:solidFill>
                  <a:srgbClr val="676767"/>
                </a:solidFill>
                <a:latin typeface="Courier New"/>
              </a:rPr>
              <a:t>SMTP</a:t>
            </a:r>
          </a:p>
        </p:txBody>
      </p:sp>
      <p:sp>
        <p:nvSpPr>
          <p:cNvPr id="9" name="Rectangle 8"/>
          <p:cNvSpPr/>
          <p:nvPr/>
        </p:nvSpPr>
        <p:spPr>
          <a:xfrm>
            <a:off x="6541008" y="3681984"/>
            <a:ext cx="1091184" cy="140208"/>
          </a:xfrm>
          <a:prstGeom prst="rect">
            <a:avLst/>
          </a:prstGeom>
        </p:spPr>
        <p:txBody>
          <a:bodyPr wrap="none" lIns="0" tIns="0" rIns="0" bIns="0">
            <a:noAutofit/>
          </a:bodyPr>
          <a:lstStyle/>
          <a:p>
            <a:pPr indent="0"/>
            <a:r>
              <a:rPr lang="en-US" sz="1400" b="1" spc="-50">
                <a:solidFill>
                  <a:srgbClr val="7F7F7F"/>
                </a:solidFill>
                <a:latin typeface="Calibri"/>
              </a:rPr>
              <a:t>IMAP or POP3</a:t>
            </a:r>
          </a:p>
        </p:txBody>
      </p:sp>
      <p:sp>
        <p:nvSpPr>
          <p:cNvPr id="10" name="Rectangle 9"/>
          <p:cNvSpPr/>
          <p:nvPr/>
        </p:nvSpPr>
        <p:spPr>
          <a:xfrm>
            <a:off x="4791456" y="4169664"/>
            <a:ext cx="566928" cy="134112"/>
          </a:xfrm>
          <a:prstGeom prst="rect">
            <a:avLst/>
          </a:prstGeom>
        </p:spPr>
        <p:txBody>
          <a:bodyPr wrap="none" lIns="0" tIns="0" rIns="0" bIns="0">
            <a:noAutofit/>
          </a:bodyPr>
          <a:lstStyle/>
          <a:p>
            <a:pPr indent="0"/>
            <a:r>
              <a:rPr lang="en-US" sz="1300" b="1" spc="-100">
                <a:solidFill>
                  <a:srgbClr val="6A7B7B"/>
                </a:solidFill>
                <a:latin typeface="Calibri"/>
              </a:rPr>
              <a:t>internet</a:t>
            </a:r>
          </a:p>
        </p:txBody>
      </p:sp>
      <p:sp>
        <p:nvSpPr>
          <p:cNvPr id="11" name="Rectangle 10"/>
          <p:cNvSpPr/>
          <p:nvPr/>
        </p:nvSpPr>
        <p:spPr>
          <a:xfrm>
            <a:off x="3547872" y="6050280"/>
            <a:ext cx="2627376" cy="320040"/>
          </a:xfrm>
          <a:prstGeom prst="rect">
            <a:avLst/>
          </a:prstGeom>
          <a:solidFill>
            <a:srgbClr val="CDE9EA"/>
          </a:solidFill>
        </p:spPr>
        <p:txBody>
          <a:bodyPr lIns="0" tIns="0" rIns="0" bIns="0">
            <a:noAutofit/>
          </a:bodyPr>
          <a:lstStyle/>
          <a:p>
            <a:pPr indent="0">
              <a:spcAft>
                <a:spcPts val="420"/>
              </a:spcAft>
            </a:pPr>
            <a:r>
              <a:rPr lang="en-US" sz="1400" b="1" spc="-50">
                <a:solidFill>
                  <a:srgbClr val="6A7B7B"/>
                </a:solidFill>
                <a:latin typeface="Calibri"/>
              </a:rPr>
              <a:t>Send to </a:t>
            </a:r>
            <a:r>
              <a:rPr lang="en-US" sz="1400" b="1" spc="-50">
                <a:solidFill>
                  <a:srgbClr val="6A7B7B"/>
                </a:solidFill>
                <a:latin typeface="Calibri"/>
                <a:hlinkClick r:id="rId6"/>
              </a:rPr>
              <a:t>reapient@asco.com</a:t>
            </a:r>
          </a:p>
          <a:p>
            <a:pPr marL="850900" indent="0"/>
            <a:r>
              <a:rPr lang="en-US" sz="400">
                <a:latin typeface="Calibri"/>
              </a:rPr>
              <a:t>— - -</a:t>
            </a:r>
          </a:p>
        </p:txBody>
      </p:sp>
      <p:sp>
        <p:nvSpPr>
          <p:cNvPr id="12" name="Rectangle 11"/>
          <p:cNvSpPr/>
          <p:nvPr/>
        </p:nvSpPr>
        <p:spPr>
          <a:xfrm>
            <a:off x="1941576" y="6687312"/>
            <a:ext cx="579120" cy="176784"/>
          </a:xfrm>
          <a:prstGeom prst="rect">
            <a:avLst/>
          </a:prstGeom>
        </p:spPr>
        <p:txBody>
          <a:bodyPr wrap="none" lIns="0" tIns="0" rIns="0" bIns="0">
            <a:noAutofit/>
          </a:bodyPr>
          <a:lstStyle/>
          <a:p>
            <a:pPr indent="0"/>
            <a:r>
              <a:rPr lang="en-US" sz="1400" b="1" spc="-50">
                <a:solidFill>
                  <a:srgbClr val="7F7F7F"/>
                </a:solidFill>
                <a:latin typeface="Calibri"/>
              </a:rPr>
              <a:t>Sender</a:t>
            </a:r>
          </a:p>
        </p:txBody>
      </p:sp>
      <p:sp>
        <p:nvSpPr>
          <p:cNvPr id="13" name="Rectangle 12"/>
          <p:cNvSpPr/>
          <p:nvPr/>
        </p:nvSpPr>
        <p:spPr>
          <a:xfrm>
            <a:off x="7208520" y="6687312"/>
            <a:ext cx="728472" cy="210312"/>
          </a:xfrm>
          <a:prstGeom prst="rect">
            <a:avLst/>
          </a:prstGeom>
        </p:spPr>
        <p:txBody>
          <a:bodyPr wrap="none" lIns="0" tIns="0" rIns="0" bIns="0">
            <a:noAutofit/>
          </a:bodyPr>
          <a:lstStyle/>
          <a:p>
            <a:pPr indent="0"/>
            <a:r>
              <a:rPr lang="en-US" sz="1400" b="1" spc="-50">
                <a:solidFill>
                  <a:srgbClr val="7F7F7F"/>
                </a:solidFill>
                <a:latin typeface="Calibri"/>
              </a:rPr>
              <a:t>Recipient</a:t>
            </a:r>
          </a:p>
        </p:txBody>
      </p:sp>
      <p:sp>
        <p:nvSpPr>
          <p:cNvPr id="14" name="Date Placeholder 13"/>
          <p:cNvSpPr>
            <a:spLocks noGrp="1"/>
          </p:cNvSpPr>
          <p:nvPr>
            <p:ph type="dt" sz="half" idx="10"/>
          </p:nvPr>
        </p:nvSpPr>
        <p:spPr/>
        <p:txBody>
          <a:bodyPr/>
          <a:lstStyle/>
          <a:p>
            <a:fld id="{88AA0346-47ED-46A5-98CB-B6FB9C6AC56C}" type="datetime1">
              <a:rPr lang="en-US" smtClean="0"/>
              <a:t>4/29/2022</a:t>
            </a:fld>
            <a:endParaRPr lang="en-US"/>
          </a:p>
        </p:txBody>
      </p:sp>
      <p:sp>
        <p:nvSpPr>
          <p:cNvPr id="16" name="Slide Number Placeholder 15"/>
          <p:cNvSpPr>
            <a:spLocks noGrp="1"/>
          </p:cNvSpPr>
          <p:nvPr>
            <p:ph type="sldNum" sz="quarter" idx="12"/>
          </p:nvPr>
        </p:nvSpPr>
        <p:spPr/>
        <p:txBody>
          <a:bodyPr/>
          <a:lstStyle/>
          <a:p>
            <a:fld id="{A0B67B60-8227-4ECE-9065-6110C6EB035F}" type="slidenum">
              <a:rPr lang="en-US" smtClean="0"/>
              <a:t>43</a:t>
            </a:fld>
            <a:endParaRPr lang="en-US"/>
          </a:p>
        </p:txBody>
      </p:sp>
      <p:sp>
        <p:nvSpPr>
          <p:cNvPr id="1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3776" y="972312"/>
            <a:ext cx="9122664" cy="5486400"/>
          </a:xfrm>
          <a:prstGeom prst="rect">
            <a:avLst/>
          </a:prstGeom>
        </p:spPr>
        <p:txBody>
          <a:bodyPr lIns="0" tIns="0" rIns="0" bIns="0">
            <a:noAutofit/>
          </a:bodyPr>
          <a:lstStyle/>
          <a:p>
            <a:pPr indent="0">
              <a:spcAft>
                <a:spcPts val="1890"/>
              </a:spcAft>
            </a:pPr>
            <a:r>
              <a:rPr lang="en-US" sz="2300" b="1">
                <a:latin typeface="Calibri"/>
              </a:rPr>
              <a:t>Simple Mail Transfer Protocol</a:t>
            </a:r>
          </a:p>
          <a:p>
            <a:pPr indent="241300" algn="just">
              <a:lnSpc>
                <a:spcPts val="2808"/>
              </a:lnSpc>
              <a:spcAft>
                <a:spcPts val="840"/>
              </a:spcAft>
            </a:pPr>
            <a:r>
              <a:rPr lang="en-US" sz="2200">
                <a:latin typeface="Calibri"/>
              </a:rPr>
              <a:t>Simple Mail Transfer Protocol (SMTP) transfers mail reliably and efficiently. For SMTP applications to work properly, the mail message must be formatted properly and SMTP processes must be running on both the client and server.</a:t>
            </a:r>
          </a:p>
          <a:p>
            <a:pPr indent="241300" algn="just">
              <a:lnSpc>
                <a:spcPts val="2808"/>
              </a:lnSpc>
              <a:spcAft>
                <a:spcPts val="840"/>
              </a:spcAft>
            </a:pPr>
            <a:r>
              <a:rPr lang="en-US" sz="2200">
                <a:latin typeface="Calibri"/>
              </a:rPr>
              <a:t>SMTP message formats require a message header and a message body. While the message body can contain any amount of text, the message header must have a properly formatted recipient email address and a sender address. Any other header information is optional.</a:t>
            </a:r>
          </a:p>
          <a:p>
            <a:pPr indent="241300" algn="just">
              <a:lnSpc>
                <a:spcPts val="2784"/>
              </a:lnSpc>
            </a:pPr>
            <a:r>
              <a:rPr lang="en-US" sz="2200">
                <a:latin typeface="Calibri"/>
              </a:rPr>
              <a:t>When a client sends email, the client SMTP process connects with a server SMTP process on well-known port 25. After the connection is made, the client attempts to send the email to the server across the connection. When the server receives the message, it either places the message in a local account, if the recipient is local, or forwards the message using the same SMTP connection process to another mail server for delivery.</a:t>
            </a:r>
          </a:p>
        </p:txBody>
      </p:sp>
      <p:sp>
        <p:nvSpPr>
          <p:cNvPr id="3" name="Date Placeholder 2"/>
          <p:cNvSpPr>
            <a:spLocks noGrp="1"/>
          </p:cNvSpPr>
          <p:nvPr>
            <p:ph type="dt" sz="half" idx="10"/>
          </p:nvPr>
        </p:nvSpPr>
        <p:spPr/>
        <p:txBody>
          <a:bodyPr/>
          <a:lstStyle/>
          <a:p>
            <a:fld id="{05A5B0D9-0048-4051-A7B2-4D59F629514A}"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44</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0728" y="975360"/>
            <a:ext cx="9119616" cy="1712976"/>
          </a:xfrm>
          <a:prstGeom prst="rect">
            <a:avLst/>
          </a:prstGeom>
        </p:spPr>
        <p:txBody>
          <a:bodyPr lIns="0" tIns="0" rIns="0" bIns="0">
            <a:noAutofit/>
          </a:bodyPr>
          <a:lstStyle/>
          <a:p>
            <a:pPr indent="241300" algn="just">
              <a:lnSpc>
                <a:spcPts val="2808"/>
              </a:lnSpc>
              <a:spcAft>
                <a:spcPts val="3570"/>
              </a:spcAft>
            </a:pPr>
            <a:r>
              <a:rPr lang="en-US" sz="2200">
                <a:latin typeface="Calibri"/>
              </a:rPr>
              <a:t>The destination email server may not be online or may be busy when email messages are sent. Therefore, SMTP spools messages to be sent at a later time. Periodically, the server checks the queue for messages and attempts to send them again. If the message is still not delivered after a predetermined expiration time, it is returned to the sender as undeliverable.</a:t>
            </a:r>
          </a:p>
        </p:txBody>
      </p:sp>
      <p:sp>
        <p:nvSpPr>
          <p:cNvPr id="3" name="Rectangle 2"/>
          <p:cNvSpPr/>
          <p:nvPr/>
        </p:nvSpPr>
        <p:spPr>
          <a:xfrm>
            <a:off x="490728" y="3419856"/>
            <a:ext cx="9116568" cy="3834384"/>
          </a:xfrm>
          <a:prstGeom prst="rect">
            <a:avLst/>
          </a:prstGeom>
        </p:spPr>
        <p:txBody>
          <a:bodyPr lIns="0" tIns="0" rIns="0" bIns="0">
            <a:noAutofit/>
          </a:bodyPr>
          <a:lstStyle/>
          <a:p>
            <a:pPr indent="0">
              <a:spcBef>
                <a:spcPts val="3570"/>
              </a:spcBef>
              <a:spcAft>
                <a:spcPts val="1890"/>
              </a:spcAft>
            </a:pPr>
            <a:r>
              <a:rPr lang="en-US" sz="2300" b="1" dirty="0">
                <a:latin typeface="Calibri"/>
              </a:rPr>
              <a:t>Post Office Protocol</a:t>
            </a:r>
          </a:p>
          <a:p>
            <a:pPr indent="241300" algn="just">
              <a:lnSpc>
                <a:spcPts val="2808"/>
              </a:lnSpc>
              <a:spcAft>
                <a:spcPts val="840"/>
              </a:spcAft>
            </a:pPr>
            <a:r>
              <a:rPr lang="en-US" sz="2200" dirty="0">
                <a:latin typeface="Calibri"/>
              </a:rPr>
              <a:t>Post Office Protocol (POP) enables a workstation to retrieve mail from a mail server. With POP, mail is downloaded from the server to the client and then deleted on the server.</a:t>
            </a:r>
          </a:p>
          <a:p>
            <a:pPr indent="241300" algn="just">
              <a:lnSpc>
                <a:spcPts val="2808"/>
              </a:lnSpc>
            </a:pPr>
            <a:r>
              <a:rPr lang="en-US" sz="2200" dirty="0">
                <a:latin typeface="Calibri"/>
              </a:rPr>
              <a:t>The server starts the POP service by passively listening on TCP port 110 for client connection requests. When a client wants to make use of the service, it sends a request to establish a TCP connection with the server. When the connection is established, the POP server sends a greeting. The client and POP server then exchange commands and responses until the connection is closed or aborted.</a:t>
            </a:r>
          </a:p>
        </p:txBody>
      </p:sp>
      <p:sp>
        <p:nvSpPr>
          <p:cNvPr id="4" name="Date Placeholder 3"/>
          <p:cNvSpPr>
            <a:spLocks noGrp="1"/>
          </p:cNvSpPr>
          <p:nvPr>
            <p:ph type="dt" sz="half" idx="10"/>
          </p:nvPr>
        </p:nvSpPr>
        <p:spPr/>
        <p:txBody>
          <a:bodyPr/>
          <a:lstStyle/>
          <a:p>
            <a:fld id="{B3104E83-C620-4561-A2B3-292D69435F06}"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45</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84632" y="972312"/>
            <a:ext cx="9131808" cy="6022848"/>
          </a:xfrm>
          <a:prstGeom prst="rect">
            <a:avLst/>
          </a:prstGeom>
        </p:spPr>
        <p:txBody>
          <a:bodyPr lIns="0" tIns="0" rIns="0" bIns="0">
            <a:noAutofit/>
          </a:bodyPr>
          <a:lstStyle/>
          <a:p>
            <a:pPr indent="266700" algn="just">
              <a:lnSpc>
                <a:spcPts val="2808"/>
              </a:lnSpc>
              <a:spcAft>
                <a:spcPts val="840"/>
              </a:spcAft>
            </a:pPr>
            <a:r>
              <a:rPr lang="en-US" sz="2200">
                <a:latin typeface="Calibri"/>
              </a:rPr>
              <a:t>Because email messages are downloaded to the client and removed from the server, there is not a centralized location where email messages are kept. Because POP does not store messages, it is undesirable for a small business that needs a centralized backup solution.</a:t>
            </a:r>
          </a:p>
          <a:p>
            <a:pPr indent="266700" algn="just">
              <a:lnSpc>
                <a:spcPts val="2832"/>
              </a:lnSpc>
              <a:spcAft>
                <a:spcPts val="840"/>
              </a:spcAft>
            </a:pPr>
            <a:r>
              <a:rPr lang="en-US" sz="2200">
                <a:latin typeface="Calibri"/>
              </a:rPr>
              <a:t>POP3 is desirable for an ISP, because it alleviates their responsibility for managing large amounts of storage for their email servers.</a:t>
            </a:r>
          </a:p>
          <a:p>
            <a:pPr indent="0">
              <a:spcAft>
                <a:spcPts val="1890"/>
              </a:spcAft>
            </a:pPr>
            <a:r>
              <a:rPr lang="en-US" sz="2300" b="1">
                <a:latin typeface="Calibri"/>
              </a:rPr>
              <a:t>Internet Message Access Protocol</a:t>
            </a:r>
          </a:p>
          <a:p>
            <a:pPr indent="266700" algn="just">
              <a:lnSpc>
                <a:spcPts val="2808"/>
              </a:lnSpc>
              <a:spcAft>
                <a:spcPts val="840"/>
              </a:spcAft>
            </a:pPr>
            <a:r>
              <a:rPr lang="en-US" sz="2200">
                <a:latin typeface="Calibri"/>
              </a:rPr>
              <a:t>Internet Message Access Protocol (IMAP) is another protocol that describes a method to retrieve email messages. However, unlike POP, when the user connects to an IMAP-capable server, copies of the messages are downloaded to the client application. The original messages are kept on the server until manually deleted. Users view copies of the messages in their email client software.</a:t>
            </a:r>
          </a:p>
          <a:p>
            <a:pPr indent="266700" algn="just">
              <a:lnSpc>
                <a:spcPts val="2784"/>
              </a:lnSpc>
            </a:pPr>
            <a:r>
              <a:rPr lang="en-US" sz="2200">
                <a:latin typeface="Calibri"/>
              </a:rPr>
              <a:t>Users can create a file hierarchy on the server to organize and store mail. That file structure is duplicated on the email client as well. When a user</a:t>
            </a:r>
          </a:p>
        </p:txBody>
      </p:sp>
      <p:sp>
        <p:nvSpPr>
          <p:cNvPr id="3" name="Date Placeholder 2"/>
          <p:cNvSpPr>
            <a:spLocks noGrp="1"/>
          </p:cNvSpPr>
          <p:nvPr>
            <p:ph type="dt" sz="half" idx="10"/>
          </p:nvPr>
        </p:nvSpPr>
        <p:spPr/>
        <p:txBody>
          <a:bodyPr/>
          <a:lstStyle/>
          <a:p>
            <a:fld id="{CE3FDE79-DE37-4B66-86D3-2F68517B04BE}"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46</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84632" y="975360"/>
            <a:ext cx="9128760" cy="4565904"/>
          </a:xfrm>
          <a:prstGeom prst="rect">
            <a:avLst/>
          </a:prstGeom>
        </p:spPr>
        <p:txBody>
          <a:bodyPr lIns="0" tIns="0" rIns="0" bIns="0">
            <a:noAutofit/>
          </a:bodyPr>
          <a:lstStyle/>
          <a:p>
            <a:pPr indent="0" algn="just">
              <a:lnSpc>
                <a:spcPts val="2784"/>
              </a:lnSpc>
              <a:spcAft>
                <a:spcPts val="840"/>
              </a:spcAft>
            </a:pPr>
            <a:r>
              <a:rPr lang="en-US" sz="2200">
                <a:latin typeface="Calibri"/>
              </a:rPr>
              <a:t>decides to delete a message, the server synchronizes that action and deletes the message from the server.</a:t>
            </a:r>
          </a:p>
          <a:p>
            <a:pPr indent="266700" algn="just">
              <a:lnSpc>
                <a:spcPts val="2784"/>
              </a:lnSpc>
              <a:spcAft>
                <a:spcPts val="840"/>
              </a:spcAft>
            </a:pPr>
            <a:r>
              <a:rPr lang="en-US" sz="2200">
                <a:latin typeface="Calibri"/>
              </a:rPr>
              <a:t>For small- to medium-sized businesses, there are many advantages to using IMAP. IMAP can provide long-term storage of email messages on mail servers and allows for centralized backup. It also enables employees to access email messages from multiple locations, using different devices or client software. The mailbox folder structure that a user expects to see is available for viewing regardless of how the user accesses the mailbox.</a:t>
            </a:r>
          </a:p>
          <a:p>
            <a:pPr indent="266700" algn="just">
              <a:lnSpc>
                <a:spcPts val="2808"/>
              </a:lnSpc>
            </a:pPr>
            <a:r>
              <a:rPr lang="en-US" sz="2200">
                <a:latin typeface="Calibri"/>
              </a:rPr>
              <a:t>For an ISP, IMAP may not be the protocol of choice. It can be expensive to purchase and maintain the disk space to support the large number of stored emails. Additionally, if customers expect their mailboxes to be backed up routinely, that can further increase the costs to the ISP.</a:t>
            </a:r>
          </a:p>
        </p:txBody>
      </p:sp>
      <p:sp>
        <p:nvSpPr>
          <p:cNvPr id="3" name="Date Placeholder 2"/>
          <p:cNvSpPr>
            <a:spLocks noGrp="1"/>
          </p:cNvSpPr>
          <p:nvPr>
            <p:ph type="dt" sz="half" idx="10"/>
          </p:nvPr>
        </p:nvSpPr>
        <p:spPr/>
        <p:txBody>
          <a:bodyPr/>
          <a:lstStyle/>
          <a:p>
            <a:fld id="{C1CEA6A2-C134-449F-98D3-737DCC4E4C8E}"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47</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0352" y="944880"/>
            <a:ext cx="8272272" cy="5535168"/>
          </a:xfrm>
          <a:prstGeom prst="rect">
            <a:avLst/>
          </a:prstGeom>
        </p:spPr>
      </p:pic>
      <p:sp>
        <p:nvSpPr>
          <p:cNvPr id="3" name="Date Placeholder 2"/>
          <p:cNvSpPr>
            <a:spLocks noGrp="1"/>
          </p:cNvSpPr>
          <p:nvPr>
            <p:ph type="dt" sz="half" idx="10"/>
          </p:nvPr>
        </p:nvSpPr>
        <p:spPr/>
        <p:txBody>
          <a:bodyPr/>
          <a:lstStyle/>
          <a:p>
            <a:fld id="{8CDB9B3A-16A6-448B-9574-26BFBC70E2F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48</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4130040" y="984504"/>
            <a:ext cx="1600200" cy="228600"/>
          </a:xfrm>
          <a:prstGeom prst="rect">
            <a:avLst/>
          </a:prstGeom>
        </p:spPr>
        <p:txBody>
          <a:bodyPr wrap="none" lIns="0" tIns="0" rIns="0" bIns="0">
            <a:noAutofit/>
          </a:bodyPr>
          <a:lstStyle/>
          <a:p>
            <a:pPr indent="0"/>
            <a:r>
              <a:rPr lang="en-US" sz="2300" b="1">
                <a:latin typeface="Calibri"/>
              </a:rPr>
              <a:t>ADDRESSING</a:t>
            </a:r>
          </a:p>
        </p:txBody>
      </p:sp>
      <p:sp>
        <p:nvSpPr>
          <p:cNvPr id="4" name="Rectangle 3"/>
          <p:cNvSpPr/>
          <p:nvPr/>
        </p:nvSpPr>
        <p:spPr>
          <a:xfrm>
            <a:off x="259080" y="1853184"/>
            <a:ext cx="9351264" cy="1368552"/>
          </a:xfrm>
          <a:prstGeom prst="rect">
            <a:avLst/>
          </a:prstGeom>
        </p:spPr>
        <p:txBody>
          <a:bodyPr lIns="0" tIns="0" rIns="0" bIns="0">
            <a:noAutofit/>
          </a:bodyPr>
          <a:lstStyle/>
          <a:p>
            <a:pPr indent="495300" algn="just">
              <a:lnSpc>
                <a:spcPts val="2784"/>
              </a:lnSpc>
            </a:pPr>
            <a:r>
              <a:rPr lang="en-US" sz="2200">
                <a:latin typeface="Calibri"/>
              </a:rPr>
              <a:t>Four levels of addresses are used in an internet employing the TCP/IP protocols: physical address, logical address, port address, and application-specific address. Each address is related to a one layer in the TCP/IP architecture, as shown in the following Figure.</a:t>
            </a:r>
          </a:p>
        </p:txBody>
      </p:sp>
      <p:sp>
        <p:nvSpPr>
          <p:cNvPr id="5" name="Date Placeholder 4"/>
          <p:cNvSpPr>
            <a:spLocks noGrp="1"/>
          </p:cNvSpPr>
          <p:nvPr>
            <p:ph type="dt" sz="half" idx="10"/>
          </p:nvPr>
        </p:nvSpPr>
        <p:spPr/>
        <p:txBody>
          <a:bodyPr/>
          <a:lstStyle/>
          <a:p>
            <a:fld id="{9DEA3B78-684D-47B2-8423-1878BA358E1D}"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49</a:t>
            </a:fld>
            <a:endParaRPr lang="en-US"/>
          </a:p>
        </p:txBody>
      </p:sp>
      <p:sp>
        <p:nvSpPr>
          <p:cNvPr id="8"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pic>
        <p:nvPicPr>
          <p:cNvPr id="9" name="Picture 8"/>
          <p:cNvPicPr/>
          <p:nvPr/>
        </p:nvPicPr>
        <p:blipFill>
          <a:blip r:embed="rId2"/>
          <a:stretch>
            <a:fillRect/>
          </a:stretch>
        </p:blipFill>
        <p:spPr>
          <a:xfrm>
            <a:off x="1827512" y="3221736"/>
            <a:ext cx="6134207" cy="3967532"/>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2984" y="975360"/>
            <a:ext cx="9357360" cy="271272"/>
          </a:xfrm>
          <a:prstGeom prst="rect">
            <a:avLst/>
          </a:prstGeom>
        </p:spPr>
        <p:txBody>
          <a:bodyPr wrap="none" lIns="0" tIns="0" rIns="0" bIns="0">
            <a:noAutofit/>
          </a:bodyPr>
          <a:lstStyle/>
          <a:p>
            <a:pPr indent="0"/>
            <a:r>
              <a:rPr lang="en-US" sz="2300" b="1">
                <a:latin typeface="Calibri"/>
              </a:rPr>
              <a:t>Physical Addresses</a:t>
            </a:r>
          </a:p>
        </p:txBody>
      </p:sp>
      <p:sp>
        <p:nvSpPr>
          <p:cNvPr id="3" name="Rectangle 2"/>
          <p:cNvSpPr/>
          <p:nvPr/>
        </p:nvSpPr>
        <p:spPr>
          <a:xfrm>
            <a:off x="252984" y="1447800"/>
            <a:ext cx="9357360" cy="2795016"/>
          </a:xfrm>
          <a:prstGeom prst="rect">
            <a:avLst/>
          </a:prstGeom>
        </p:spPr>
        <p:txBody>
          <a:bodyPr lIns="0" tIns="0" rIns="0" bIns="0">
            <a:noAutofit/>
          </a:bodyPr>
          <a:lstStyle/>
          <a:p>
            <a:pPr indent="495300" algn="just">
              <a:lnSpc>
                <a:spcPts val="2808"/>
              </a:lnSpc>
              <a:spcAft>
                <a:spcPts val="210"/>
              </a:spcAft>
            </a:pPr>
            <a:r>
              <a:rPr lang="en-US" sz="2200" dirty="0">
                <a:latin typeface="Calibri"/>
              </a:rPr>
              <a:t>The physical address, also known as the link address, is the address of a node as defined by its LAN or WAN. It is included in the frame used by the data link layer. It is the lowest-level address. The size and format of these addresses vary depending on the network. For example, Ethernet uses a 6-byte (48-bit) physical address that is imprinted on the network interface card (NIC).</a:t>
            </a:r>
          </a:p>
          <a:p>
            <a:pPr indent="495300" algn="just">
              <a:lnSpc>
                <a:spcPts val="2808"/>
              </a:lnSpc>
              <a:spcAft>
                <a:spcPts val="2100"/>
              </a:spcAft>
            </a:pPr>
            <a:r>
              <a:rPr lang="en-US" sz="2200" dirty="0">
                <a:latin typeface="Calibri"/>
              </a:rPr>
              <a:t>Most local area networks use a 48-bit (6-byte) physical address written as 12 hexadecimal digits; every byte (2 hexadecimal digits) is separated by a colon, as shown below.</a:t>
            </a:r>
          </a:p>
        </p:txBody>
      </p:sp>
      <p:sp>
        <p:nvSpPr>
          <p:cNvPr id="5" name="Rectangle 4"/>
          <p:cNvSpPr/>
          <p:nvPr/>
        </p:nvSpPr>
        <p:spPr>
          <a:xfrm>
            <a:off x="256032" y="5995416"/>
            <a:ext cx="9348216" cy="1106424"/>
          </a:xfrm>
          <a:prstGeom prst="rect">
            <a:avLst/>
          </a:prstGeom>
        </p:spPr>
        <p:txBody>
          <a:bodyPr lIns="0" tIns="0" rIns="0" bIns="0">
            <a:noAutofit/>
          </a:bodyPr>
          <a:lstStyle/>
          <a:p>
            <a:pPr indent="0">
              <a:spcBef>
                <a:spcPts val="3990"/>
              </a:spcBef>
              <a:spcAft>
                <a:spcPts val="1260"/>
              </a:spcAft>
            </a:pPr>
            <a:r>
              <a:rPr lang="en-US" sz="2200" b="1" dirty="0">
                <a:latin typeface="Calibri"/>
              </a:rPr>
              <a:t>Example (1)</a:t>
            </a:r>
          </a:p>
          <a:p>
            <a:pPr indent="495300" algn="just">
              <a:lnSpc>
                <a:spcPts val="2832"/>
              </a:lnSpc>
            </a:pPr>
            <a:r>
              <a:rPr lang="en-US" sz="2200" dirty="0">
                <a:latin typeface="Calibri"/>
              </a:rPr>
              <a:t>In Figure below a node with physical address 10 sends a frame to a node with physical address 87. The two nodes are connected by a link (a LAN). At the</a:t>
            </a:r>
          </a:p>
        </p:txBody>
      </p:sp>
      <p:sp>
        <p:nvSpPr>
          <p:cNvPr id="6" name="Date Placeholder 5"/>
          <p:cNvSpPr>
            <a:spLocks noGrp="1"/>
          </p:cNvSpPr>
          <p:nvPr>
            <p:ph type="dt" sz="half" idx="10"/>
          </p:nvPr>
        </p:nvSpPr>
        <p:spPr/>
        <p:txBody>
          <a:bodyPr/>
          <a:lstStyle/>
          <a:p>
            <a:fld id="{06AB1661-6473-459B-80FC-48BB69BC5A98}"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50</a:t>
            </a:fld>
            <a:endParaRPr lang="en-US"/>
          </a:p>
        </p:txBody>
      </p:sp>
      <p:sp>
        <p:nvSpPr>
          <p:cNvPr id="9"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pic>
        <p:nvPicPr>
          <p:cNvPr id="10" name="Picture 9"/>
          <p:cNvPicPr/>
          <p:nvPr/>
        </p:nvPicPr>
        <p:blipFill>
          <a:blip r:embed="rId2"/>
          <a:stretch>
            <a:fillRect/>
          </a:stretch>
        </p:blipFill>
        <p:spPr>
          <a:xfrm>
            <a:off x="1827513" y="4443984"/>
            <a:ext cx="5936574" cy="926038"/>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46888" y="969264"/>
            <a:ext cx="9363456" cy="5361432"/>
          </a:xfrm>
          <a:prstGeom prst="rect">
            <a:avLst/>
          </a:prstGeom>
        </p:spPr>
        <p:txBody>
          <a:bodyPr lIns="0" tIns="0" rIns="0" bIns="0">
            <a:noAutofit/>
          </a:bodyPr>
          <a:lstStyle/>
          <a:p>
            <a:pPr indent="0" algn="just">
              <a:lnSpc>
                <a:spcPts val="2784"/>
              </a:lnSpc>
              <a:spcAft>
                <a:spcPts val="210"/>
              </a:spcAft>
            </a:pPr>
            <a:r>
              <a:rPr lang="en-US" sz="2200">
                <a:latin typeface="Calibri"/>
              </a:rPr>
              <a:t>data link layer, this frame contains physical (link) addresses in the header. These are the only addresses needed. The rest of the header contains other information needed at this level. The trailer usually contains extra bits needed for error detection. The data link layer at the sender receives data from an upper layer. It encapsulates the data in a frame, adding a header and a trailer. The header, among other pieces of information, carries the receiver and the sender physical (link) addresses.</a:t>
            </a:r>
          </a:p>
          <a:p>
            <a:pPr indent="508000" algn="just">
              <a:lnSpc>
                <a:spcPts val="2808"/>
              </a:lnSpc>
            </a:pPr>
            <a:r>
              <a:rPr lang="en-US" sz="2200">
                <a:latin typeface="Calibri"/>
              </a:rPr>
              <a:t>Note that in most data link protocols, the destination address 87 in this case, comes before the source address (10 in this case). The frame is propagated through the LAN. Each station with a physical address other than 87 drops the frame because the destination address in the frame does not match its own physical address. The intended destination computer, however, finds a match between the destination address in the frame and its own physical address. The frame is checked, the header and trailer are dropped, and the data part is decapsulated and delivered to the upper layer.</a:t>
            </a:r>
          </a:p>
        </p:txBody>
      </p:sp>
      <p:sp>
        <p:nvSpPr>
          <p:cNvPr id="3" name="Date Placeholder 2"/>
          <p:cNvSpPr>
            <a:spLocks noGrp="1"/>
          </p:cNvSpPr>
          <p:nvPr>
            <p:ph type="dt" sz="half" idx="10"/>
          </p:nvPr>
        </p:nvSpPr>
        <p:spPr/>
        <p:txBody>
          <a:bodyPr/>
          <a:lstStyle/>
          <a:p>
            <a:fld id="{5AB64B8F-EBD0-43F9-85C4-78E1B528D5F2}"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51</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C1CC276-75D4-472D-875D-C4E5A05F7C1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52</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pic>
        <p:nvPicPr>
          <p:cNvPr id="7" name="Picture 6"/>
          <p:cNvPicPr/>
          <p:nvPr/>
        </p:nvPicPr>
        <p:blipFill>
          <a:blip r:embed="rId2"/>
          <a:stretch>
            <a:fillRect/>
          </a:stretch>
        </p:blipFill>
        <p:spPr>
          <a:xfrm>
            <a:off x="718502" y="1166812"/>
            <a:ext cx="8621395" cy="543877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252984" y="975360"/>
            <a:ext cx="9345168" cy="271272"/>
          </a:xfrm>
          <a:prstGeom prst="rect">
            <a:avLst/>
          </a:prstGeom>
        </p:spPr>
        <p:txBody>
          <a:bodyPr wrap="none" lIns="0" tIns="0" rIns="0" bIns="0">
            <a:noAutofit/>
          </a:bodyPr>
          <a:lstStyle/>
          <a:p>
            <a:pPr indent="0"/>
            <a:r>
              <a:rPr lang="en-US" sz="2300" b="1">
                <a:latin typeface="Calibri"/>
              </a:rPr>
              <a:t>Unicast, Multicast, and Broadcast Physical Addresses</a:t>
            </a:r>
          </a:p>
        </p:txBody>
      </p:sp>
      <p:sp>
        <p:nvSpPr>
          <p:cNvPr id="4" name="Rectangle 3"/>
          <p:cNvSpPr/>
          <p:nvPr/>
        </p:nvSpPr>
        <p:spPr>
          <a:xfrm>
            <a:off x="252984" y="1447800"/>
            <a:ext cx="9345168" cy="987552"/>
          </a:xfrm>
          <a:prstGeom prst="rect">
            <a:avLst/>
          </a:prstGeom>
        </p:spPr>
        <p:txBody>
          <a:bodyPr lIns="0" tIns="0" rIns="0" bIns="0">
            <a:noAutofit/>
          </a:bodyPr>
          <a:lstStyle/>
          <a:p>
            <a:pPr indent="495300" algn="just">
              <a:lnSpc>
                <a:spcPts val="2808"/>
              </a:lnSpc>
              <a:spcAft>
                <a:spcPts val="420"/>
              </a:spcAft>
            </a:pPr>
            <a:r>
              <a:rPr lang="en-US" sz="2200">
                <a:latin typeface="Calibri"/>
              </a:rPr>
              <a:t>Physical addresses can be either unicast (one single recipient), multicast (a group of recipients), or broadcast (to be received by all systems in the network). Some networks support all three addresses.</a:t>
            </a:r>
          </a:p>
        </p:txBody>
      </p:sp>
      <p:sp>
        <p:nvSpPr>
          <p:cNvPr id="5" name="Rectangle 4"/>
          <p:cNvSpPr/>
          <p:nvPr/>
        </p:nvSpPr>
        <p:spPr>
          <a:xfrm>
            <a:off x="259080" y="2602992"/>
            <a:ext cx="9357360" cy="1002792"/>
          </a:xfrm>
          <a:prstGeom prst="rect">
            <a:avLst/>
          </a:prstGeom>
        </p:spPr>
        <p:txBody>
          <a:bodyPr lIns="0" tIns="0" rIns="0" bIns="0">
            <a:noAutofit/>
          </a:bodyPr>
          <a:lstStyle/>
          <a:p>
            <a:pPr indent="495300" algn="just">
              <a:lnSpc>
                <a:spcPts val="2808"/>
              </a:lnSpc>
              <a:spcBef>
                <a:spcPts val="420"/>
              </a:spcBef>
            </a:pPr>
            <a:r>
              <a:rPr lang="en-US" sz="2200">
                <a:latin typeface="Calibri"/>
              </a:rPr>
              <a:t>A source address is always a unicast address—the frame comes from only one station. The destination address, however, can be unicast, multicast, or broadcast. The least significant bit of the first byte defines the type of address.</a:t>
            </a:r>
          </a:p>
        </p:txBody>
      </p:sp>
      <p:sp>
        <p:nvSpPr>
          <p:cNvPr id="6" name="Rectangle 5"/>
          <p:cNvSpPr/>
          <p:nvPr/>
        </p:nvSpPr>
        <p:spPr>
          <a:xfrm>
            <a:off x="725424" y="5660136"/>
            <a:ext cx="6861048" cy="1310640"/>
          </a:xfrm>
          <a:prstGeom prst="rect">
            <a:avLst/>
          </a:prstGeom>
        </p:spPr>
        <p:txBody>
          <a:bodyPr lIns="0" tIns="0" rIns="0" bIns="0">
            <a:noAutofit/>
          </a:bodyPr>
          <a:lstStyle/>
          <a:p>
            <a:pPr indent="495300" algn="just">
              <a:lnSpc>
                <a:spcPts val="2808"/>
              </a:lnSpc>
              <a:spcBef>
                <a:spcPts val="3360"/>
              </a:spcBef>
            </a:pPr>
            <a:r>
              <a:rPr lang="en-US" sz="2200">
                <a:latin typeface="Calibri"/>
              </a:rPr>
              <a:t>Q: Define the type of the following destination addresses:</a:t>
            </a:r>
          </a:p>
          <a:p>
            <a:pPr marL="403860" indent="0" algn="just">
              <a:lnSpc>
                <a:spcPts val="2808"/>
              </a:lnSpc>
            </a:pPr>
            <a:r>
              <a:rPr lang="en-US" sz="1200">
                <a:latin typeface="Georgia"/>
              </a:rPr>
              <a:t>1.</a:t>
            </a:r>
            <a:r>
              <a:rPr lang="en-US" sz="2200">
                <a:latin typeface="Calibri"/>
              </a:rPr>
              <a:t>    4A:30:10:21:10:1A</a:t>
            </a:r>
          </a:p>
          <a:p>
            <a:pPr marL="403860" indent="0" algn="just">
              <a:lnSpc>
                <a:spcPts val="2808"/>
              </a:lnSpc>
            </a:pPr>
            <a:r>
              <a:rPr lang="en-US" sz="1200">
                <a:latin typeface="Georgia"/>
              </a:rPr>
              <a:t>2.</a:t>
            </a:r>
            <a:r>
              <a:rPr lang="en-US" sz="2200">
                <a:latin typeface="Calibri"/>
              </a:rPr>
              <a:t>    47:20:1B:2E:08:EE</a:t>
            </a:r>
          </a:p>
          <a:p>
            <a:pPr marL="403860" indent="0" algn="just">
              <a:lnSpc>
                <a:spcPts val="2808"/>
              </a:lnSpc>
            </a:pPr>
            <a:r>
              <a:rPr lang="en-US" sz="1200">
                <a:latin typeface="Georgia"/>
              </a:rPr>
              <a:t>3.</a:t>
            </a:r>
            <a:r>
              <a:rPr lang="en-US" sz="2200">
                <a:latin typeface="Calibri"/>
              </a:rPr>
              <a:t>    FF:FF:FF:FF:FF:FF</a:t>
            </a:r>
          </a:p>
        </p:txBody>
      </p:sp>
      <p:sp>
        <p:nvSpPr>
          <p:cNvPr id="7" name="Date Placeholder 6"/>
          <p:cNvSpPr>
            <a:spLocks noGrp="1"/>
          </p:cNvSpPr>
          <p:nvPr>
            <p:ph type="dt" sz="half" idx="10"/>
          </p:nvPr>
        </p:nvSpPr>
        <p:spPr/>
        <p:txBody>
          <a:bodyPr/>
          <a:lstStyle/>
          <a:p>
            <a:fld id="{6C322901-D13C-42A7-ADF8-5D199CBCEAAB}" type="datetime1">
              <a:rPr lang="en-US" smtClean="0"/>
              <a:t>4/29/2022</a:t>
            </a:fld>
            <a:endParaRPr lang="en-US"/>
          </a:p>
        </p:txBody>
      </p:sp>
      <p:sp>
        <p:nvSpPr>
          <p:cNvPr id="9" name="Slide Number Placeholder 8"/>
          <p:cNvSpPr>
            <a:spLocks noGrp="1"/>
          </p:cNvSpPr>
          <p:nvPr>
            <p:ph type="sldNum" sz="quarter" idx="12"/>
          </p:nvPr>
        </p:nvSpPr>
        <p:spPr/>
        <p:txBody>
          <a:bodyPr/>
          <a:lstStyle/>
          <a:p>
            <a:fld id="{A0B67B60-8227-4ECE-9065-6110C6EB035F}" type="slidenum">
              <a:rPr lang="en-US" smtClean="0"/>
              <a:t>53</a:t>
            </a:fld>
            <a:endParaRPr lang="en-US"/>
          </a:p>
        </p:txBody>
      </p:sp>
      <p:sp>
        <p:nvSpPr>
          <p:cNvPr id="10"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pic>
        <p:nvPicPr>
          <p:cNvPr id="11" name="Picture 10"/>
          <p:cNvPicPr/>
          <p:nvPr/>
        </p:nvPicPr>
        <p:blipFill>
          <a:blip r:embed="rId2"/>
          <a:stretch>
            <a:fillRect/>
          </a:stretch>
        </p:blipFill>
        <p:spPr>
          <a:xfrm>
            <a:off x="972312" y="3773424"/>
            <a:ext cx="7556546" cy="1653623"/>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1429512"/>
            <a:ext cx="9354312" cy="268224"/>
          </a:xfrm>
          <a:prstGeom prst="rect">
            <a:avLst/>
          </a:prstGeom>
        </p:spPr>
        <p:txBody>
          <a:bodyPr wrap="none" lIns="0" tIns="0" rIns="0" bIns="0">
            <a:noAutofit/>
          </a:bodyPr>
          <a:lstStyle/>
          <a:p>
            <a:pPr indent="0"/>
            <a:r>
              <a:rPr lang="en-US" sz="2300" b="1">
                <a:latin typeface="Calibri"/>
              </a:rPr>
              <a:t>Logical Addresses</a:t>
            </a:r>
          </a:p>
        </p:txBody>
      </p:sp>
      <p:sp>
        <p:nvSpPr>
          <p:cNvPr id="3" name="Rectangle 2"/>
          <p:cNvSpPr/>
          <p:nvPr/>
        </p:nvSpPr>
        <p:spPr>
          <a:xfrm>
            <a:off x="259080" y="1898904"/>
            <a:ext cx="9354312" cy="3304032"/>
          </a:xfrm>
          <a:prstGeom prst="rect">
            <a:avLst/>
          </a:prstGeom>
        </p:spPr>
        <p:txBody>
          <a:bodyPr lIns="0" tIns="0" rIns="0" bIns="0">
            <a:noAutofit/>
          </a:bodyPr>
          <a:lstStyle/>
          <a:p>
            <a:pPr indent="495300" algn="just">
              <a:lnSpc>
                <a:spcPts val="3024"/>
              </a:lnSpc>
            </a:pPr>
            <a:r>
              <a:rPr lang="en-US" sz="2200">
                <a:latin typeface="Calibri"/>
              </a:rPr>
              <a:t>Logical addresses are necessary for universal communications that are independent of underlying physical networks. Physical addresses are not adequate in an internetwork environment where different networks can have different address formats. A universal addressing system is needed in which each host can be identified uniquely, regardless of the underlying physical network. The logical addresses are designed for this purpose. A logical address in the Internet is currently a 32bit address that can uniquely define a host connected to the Internet. No two publicly addressed and visible hosts on the Internet can have the same IP address.</a:t>
            </a:r>
          </a:p>
        </p:txBody>
      </p:sp>
      <p:sp>
        <p:nvSpPr>
          <p:cNvPr id="4" name="Date Placeholder 3"/>
          <p:cNvSpPr>
            <a:spLocks noGrp="1"/>
          </p:cNvSpPr>
          <p:nvPr>
            <p:ph type="dt" sz="half" idx="10"/>
          </p:nvPr>
        </p:nvSpPr>
        <p:spPr/>
        <p:txBody>
          <a:bodyPr/>
          <a:lstStyle/>
          <a:p>
            <a:fld id="{9FB607FF-5F28-4A41-85E5-C8915AC49A61}"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54</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2984" y="969264"/>
            <a:ext cx="9360408" cy="6099048"/>
          </a:xfrm>
          <a:prstGeom prst="rect">
            <a:avLst/>
          </a:prstGeom>
        </p:spPr>
        <p:txBody>
          <a:bodyPr lIns="0" tIns="0" rIns="0" bIns="0">
            <a:noAutofit/>
          </a:bodyPr>
          <a:lstStyle/>
          <a:p>
            <a:pPr indent="0">
              <a:spcAft>
                <a:spcPts val="1260"/>
              </a:spcAft>
            </a:pPr>
            <a:r>
              <a:rPr lang="en-US" sz="2200" b="1" dirty="0">
                <a:latin typeface="Calibri"/>
              </a:rPr>
              <a:t>Example (2)</a:t>
            </a:r>
          </a:p>
          <a:p>
            <a:pPr indent="469900" algn="just">
              <a:lnSpc>
                <a:spcPts val="2808"/>
              </a:lnSpc>
            </a:pPr>
            <a:r>
              <a:rPr lang="en-US" sz="2200" dirty="0">
                <a:latin typeface="Calibri"/>
              </a:rPr>
              <a:t>The Figure below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 Although it may be obvious that each router must have a separate physical address for each connection, it may. The computer with logical address </a:t>
            </a:r>
            <a:r>
              <a:rPr lang="en-US" sz="2200" b="1" dirty="0">
                <a:latin typeface="Calibri"/>
              </a:rPr>
              <a:t>A</a:t>
            </a:r>
            <a:r>
              <a:rPr lang="en-US" sz="2200" dirty="0">
                <a:latin typeface="Calibri"/>
              </a:rPr>
              <a:t> and physical address </a:t>
            </a:r>
            <a:r>
              <a:rPr lang="en-US" sz="2200" b="1" dirty="0">
                <a:latin typeface="Calibri"/>
              </a:rPr>
              <a:t>10</a:t>
            </a:r>
            <a:r>
              <a:rPr lang="en-US" sz="2200" dirty="0">
                <a:latin typeface="Calibri"/>
              </a:rPr>
              <a:t> needs to send a packet to the computer with logical address </a:t>
            </a:r>
            <a:r>
              <a:rPr lang="en-US" sz="2200" b="1" dirty="0">
                <a:latin typeface="Calibri"/>
              </a:rPr>
              <a:t>P</a:t>
            </a:r>
            <a:r>
              <a:rPr lang="en-US" sz="2200" dirty="0">
                <a:latin typeface="Calibri"/>
              </a:rPr>
              <a:t> and physical address </a:t>
            </a:r>
            <a:r>
              <a:rPr lang="en-US" sz="2200" b="1" dirty="0">
                <a:latin typeface="Calibri"/>
              </a:rPr>
              <a:t>95</a:t>
            </a:r>
            <a:r>
              <a:rPr lang="en-US" sz="2200" dirty="0">
                <a:latin typeface="Calibri"/>
              </a:rPr>
              <a:t>. The sender encapsulates its data in a packet at the network layer and adds two logical addresses (A and P). Note that in most protocols, the logical source address comes before the logical destination address (contrary to the order of physical addresses). The network layer, however, needs to find the physical address of the next hop before the packet can be delivered. The network layer consults its routing table and finds the logical address of the next hop (router 1) to be F.</a:t>
            </a:r>
          </a:p>
        </p:txBody>
      </p:sp>
      <p:sp>
        <p:nvSpPr>
          <p:cNvPr id="3" name="Date Placeholder 2"/>
          <p:cNvSpPr>
            <a:spLocks noGrp="1"/>
          </p:cNvSpPr>
          <p:nvPr>
            <p:ph type="dt" sz="half" idx="10"/>
          </p:nvPr>
        </p:nvSpPr>
        <p:spPr/>
        <p:txBody>
          <a:bodyPr/>
          <a:lstStyle/>
          <a:p>
            <a:fld id="{0C712DF1-1784-45E1-8A66-68C6708AA8CD}"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55</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3440" y="914400"/>
            <a:ext cx="8055864" cy="4764024"/>
          </a:xfrm>
          <a:prstGeom prst="rect">
            <a:avLst/>
          </a:prstGeom>
        </p:spPr>
      </p:pic>
      <p:sp>
        <p:nvSpPr>
          <p:cNvPr id="3" name="Rectangle 2"/>
          <p:cNvSpPr/>
          <p:nvPr/>
        </p:nvSpPr>
        <p:spPr>
          <a:xfrm>
            <a:off x="1152144" y="1060704"/>
            <a:ext cx="518160" cy="121920"/>
          </a:xfrm>
          <a:prstGeom prst="rect">
            <a:avLst/>
          </a:prstGeom>
        </p:spPr>
        <p:txBody>
          <a:bodyPr wrap="none" lIns="0" tIns="0" rIns="0" bIns="0">
            <a:noAutofit/>
          </a:bodyPr>
          <a:lstStyle/>
          <a:p>
            <a:pPr indent="0"/>
            <a:r>
              <a:rPr lang="en-US" sz="1400" b="1" spc="-150">
                <a:solidFill>
                  <a:srgbClr val="515151"/>
                </a:solidFill>
                <a:latin typeface="Cambria"/>
              </a:rPr>
              <a:t>Sanaa</a:t>
            </a:r>
          </a:p>
        </p:txBody>
      </p:sp>
      <p:sp>
        <p:nvSpPr>
          <p:cNvPr id="4" name="Rectangle 3"/>
          <p:cNvSpPr/>
          <p:nvPr/>
        </p:nvSpPr>
        <p:spPr>
          <a:xfrm>
            <a:off x="3035808" y="1060704"/>
            <a:ext cx="755904" cy="164592"/>
          </a:xfrm>
          <a:prstGeom prst="rect">
            <a:avLst/>
          </a:prstGeom>
        </p:spPr>
        <p:txBody>
          <a:bodyPr wrap="none" lIns="0" tIns="0" rIns="0" bIns="0">
            <a:noAutofit/>
          </a:bodyPr>
          <a:lstStyle/>
          <a:p>
            <a:pPr indent="0"/>
            <a:r>
              <a:rPr lang="en-US" sz="1500" spc="100">
                <a:solidFill>
                  <a:srgbClr val="373435"/>
                </a:solidFill>
                <a:latin typeface="Trebuchet MS"/>
              </a:rPr>
              <a:t>LAN 1</a:t>
            </a:r>
          </a:p>
        </p:txBody>
      </p:sp>
      <p:sp>
        <p:nvSpPr>
          <p:cNvPr id="5" name="Rectangle 4"/>
          <p:cNvSpPr/>
          <p:nvPr/>
        </p:nvSpPr>
        <p:spPr>
          <a:xfrm>
            <a:off x="5925312" y="1237488"/>
            <a:ext cx="701040" cy="103632"/>
          </a:xfrm>
          <a:prstGeom prst="rect">
            <a:avLst/>
          </a:prstGeom>
        </p:spPr>
        <p:txBody>
          <a:bodyPr wrap="none" lIns="0" tIns="0" rIns="0" bIns="0">
            <a:noAutofit/>
          </a:bodyPr>
          <a:lstStyle/>
          <a:p>
            <a:pPr indent="0"/>
            <a:r>
              <a:rPr lang="en-US" sz="1100" b="1" spc="-50">
                <a:solidFill>
                  <a:srgbClr val="7F7F7F"/>
                </a:solidFill>
                <a:latin typeface="Calibri"/>
              </a:rPr>
              <a:t>To another</a:t>
            </a:r>
          </a:p>
        </p:txBody>
      </p:sp>
      <p:sp>
        <p:nvSpPr>
          <p:cNvPr id="6" name="Rectangle 5"/>
          <p:cNvSpPr/>
          <p:nvPr/>
        </p:nvSpPr>
        <p:spPr>
          <a:xfrm>
            <a:off x="1542288" y="1335024"/>
            <a:ext cx="536448" cy="121920"/>
          </a:xfrm>
          <a:prstGeom prst="rect">
            <a:avLst/>
          </a:prstGeom>
        </p:spPr>
        <p:txBody>
          <a:bodyPr wrap="none" lIns="0" tIns="0" rIns="0" bIns="0">
            <a:noAutofit/>
          </a:bodyPr>
          <a:lstStyle/>
          <a:p>
            <a:pPr indent="0"/>
            <a:r>
              <a:rPr lang="en-US" sz="1400" b="1">
                <a:solidFill>
                  <a:srgbClr val="9D7E86"/>
                </a:solidFill>
                <a:latin typeface="Calibri"/>
              </a:rPr>
              <a:t>k </a:t>
            </a:r>
            <a:r>
              <a:rPr lang="en-US" sz="1400" b="1">
                <a:solidFill>
                  <a:srgbClr val="676767"/>
                </a:solidFill>
                <a:latin typeface="Calibri"/>
              </a:rPr>
              <a:t>A/10</a:t>
            </a:r>
          </a:p>
        </p:txBody>
      </p:sp>
      <p:sp>
        <p:nvSpPr>
          <p:cNvPr id="7" name="Rectangle 6"/>
          <p:cNvSpPr/>
          <p:nvPr/>
        </p:nvSpPr>
        <p:spPr>
          <a:xfrm>
            <a:off x="6096000" y="1371600"/>
            <a:ext cx="536448" cy="103632"/>
          </a:xfrm>
          <a:prstGeom prst="rect">
            <a:avLst/>
          </a:prstGeom>
        </p:spPr>
        <p:txBody>
          <a:bodyPr wrap="none" lIns="0" tIns="0" rIns="0" bIns="0">
            <a:noAutofit/>
          </a:bodyPr>
          <a:lstStyle/>
          <a:p>
            <a:pPr indent="0"/>
            <a:r>
              <a:rPr lang="en-US" sz="1400" b="1" spc="1600">
                <a:solidFill>
                  <a:srgbClr val="515151"/>
                </a:solidFill>
                <a:latin typeface="Calibri"/>
              </a:rPr>
              <a:t>■a</a:t>
            </a:r>
            <a:r>
              <a:rPr lang="en-US" sz="1400" b="1" cap="small" spc="1600">
                <a:solidFill>
                  <a:srgbClr val="515151"/>
                </a:solidFill>
                <a:latin typeface="Calibri"/>
              </a:rPr>
              <a:t>a</a:t>
            </a:r>
          </a:p>
        </p:txBody>
      </p:sp>
      <p:sp>
        <p:nvSpPr>
          <p:cNvPr id="8" name="Rectangle 7"/>
          <p:cNvSpPr/>
          <p:nvPr/>
        </p:nvSpPr>
        <p:spPr>
          <a:xfrm>
            <a:off x="5388864" y="1761744"/>
            <a:ext cx="341376" cy="121920"/>
          </a:xfrm>
          <a:prstGeom prst="rect">
            <a:avLst/>
          </a:prstGeom>
        </p:spPr>
        <p:txBody>
          <a:bodyPr wrap="none" lIns="0" tIns="0" rIns="0" bIns="0">
            <a:noAutofit/>
          </a:bodyPr>
          <a:lstStyle/>
          <a:p>
            <a:pPr indent="0"/>
            <a:r>
              <a:rPr lang="en-US" sz="1400" b="1">
                <a:solidFill>
                  <a:srgbClr val="6A7B7B"/>
                </a:solidFill>
                <a:latin typeface="Calibri"/>
              </a:rPr>
              <a:t>F/20</a:t>
            </a:r>
          </a:p>
        </p:txBody>
      </p:sp>
      <p:sp>
        <p:nvSpPr>
          <p:cNvPr id="9" name="Rectangle 8"/>
          <p:cNvSpPr/>
          <p:nvPr/>
        </p:nvSpPr>
        <p:spPr>
          <a:xfrm>
            <a:off x="7455408" y="2170176"/>
            <a:ext cx="847344" cy="219456"/>
          </a:xfrm>
          <a:prstGeom prst="rect">
            <a:avLst/>
          </a:prstGeom>
        </p:spPr>
        <p:txBody>
          <a:bodyPr wrap="none" lIns="0" tIns="0" rIns="0" bIns="0">
            <a:noAutofit/>
          </a:bodyPr>
          <a:lstStyle/>
          <a:p>
            <a:pPr indent="0"/>
            <a:r>
              <a:rPr lang="en-US" sz="1400" b="1">
                <a:solidFill>
                  <a:srgbClr val="676767"/>
                </a:solidFill>
                <a:latin typeface="Calibri"/>
              </a:rPr>
              <a:t>A </a:t>
            </a:r>
            <a:r>
              <a:rPr lang="en-US" sz="1400" b="1">
                <a:solidFill>
                  <a:srgbClr val="515151"/>
                </a:solidFill>
                <a:latin typeface="Calibri"/>
              </a:rPr>
              <a:t>P[ iat31</a:t>
            </a:r>
          </a:p>
        </p:txBody>
      </p:sp>
      <p:sp>
        <p:nvSpPr>
          <p:cNvPr id="10" name="Rectangle 9"/>
          <p:cNvSpPr/>
          <p:nvPr/>
        </p:nvSpPr>
        <p:spPr>
          <a:xfrm>
            <a:off x="1603248" y="2200656"/>
            <a:ext cx="1347216" cy="164592"/>
          </a:xfrm>
          <a:prstGeom prst="rect">
            <a:avLst/>
          </a:prstGeom>
          <a:solidFill>
            <a:srgbClr val="F9F9F8"/>
          </a:solidFill>
        </p:spPr>
        <p:txBody>
          <a:bodyPr wrap="none" lIns="0" tIns="0" rIns="0" bIns="0">
            <a:noAutofit/>
          </a:bodyPr>
          <a:lstStyle/>
          <a:p>
            <a:pPr indent="0"/>
            <a:r>
              <a:rPr lang="en-US" sz="1400" b="1" spc="-50">
                <a:solidFill>
                  <a:srgbClr val="515151"/>
                </a:solidFill>
                <a:latin typeface="Calibri"/>
              </a:rPr>
              <a:t>20 10 A P </a:t>
            </a:r>
            <a:r>
              <a:rPr lang="en-US" sz="1400" b="1" u="sng" spc="-50">
                <a:solidFill>
                  <a:srgbClr val="515151"/>
                </a:solidFill>
                <a:latin typeface="Calibri"/>
              </a:rPr>
              <a:t>I Data I</a:t>
            </a:r>
          </a:p>
        </p:txBody>
      </p:sp>
      <p:sp>
        <p:nvSpPr>
          <p:cNvPr id="11" name="Rectangle 10"/>
          <p:cNvSpPr/>
          <p:nvPr/>
        </p:nvSpPr>
        <p:spPr>
          <a:xfrm>
            <a:off x="6041136" y="2200656"/>
            <a:ext cx="646176" cy="115824"/>
          </a:xfrm>
          <a:prstGeom prst="rect">
            <a:avLst/>
          </a:prstGeom>
        </p:spPr>
        <p:txBody>
          <a:bodyPr wrap="none" lIns="0" tIns="0" rIns="0" bIns="0">
            <a:noAutofit/>
          </a:bodyPr>
          <a:lstStyle/>
          <a:p>
            <a:pPr indent="0"/>
            <a:r>
              <a:rPr lang="en-US" sz="1400" b="1">
                <a:solidFill>
                  <a:srgbClr val="676767"/>
                </a:solidFill>
                <a:latin typeface="Calibri"/>
              </a:rPr>
              <a:t>Routef 1</a:t>
            </a:r>
          </a:p>
        </p:txBody>
      </p:sp>
      <p:sp>
        <p:nvSpPr>
          <p:cNvPr id="12" name="Rectangle 11"/>
          <p:cNvSpPr/>
          <p:nvPr/>
        </p:nvSpPr>
        <p:spPr>
          <a:xfrm>
            <a:off x="6900672" y="2651760"/>
            <a:ext cx="548640" cy="103632"/>
          </a:xfrm>
          <a:prstGeom prst="rect">
            <a:avLst/>
          </a:prstGeom>
        </p:spPr>
        <p:txBody>
          <a:bodyPr wrap="none" lIns="0" tIns="0" rIns="0" bIns="0">
            <a:noAutofit/>
          </a:bodyPr>
          <a:lstStyle/>
          <a:p>
            <a:pPr indent="0"/>
            <a:r>
              <a:rPr lang="en-US" sz="1100" b="1">
                <a:solidFill>
                  <a:srgbClr val="515151"/>
                </a:solidFill>
                <a:latin typeface="Calibri"/>
              </a:rPr>
              <a:t>iTrvsu:a</a:t>
            </a:r>
          </a:p>
        </p:txBody>
      </p:sp>
      <p:sp>
        <p:nvSpPr>
          <p:cNvPr id="13" name="Rectangle 12"/>
          <p:cNvSpPr/>
          <p:nvPr/>
        </p:nvSpPr>
        <p:spPr>
          <a:xfrm>
            <a:off x="6906768" y="2919984"/>
            <a:ext cx="548640" cy="128016"/>
          </a:xfrm>
          <a:prstGeom prst="rect">
            <a:avLst/>
          </a:prstGeom>
        </p:spPr>
        <p:txBody>
          <a:bodyPr wrap="none" lIns="0" tIns="0" rIns="0" bIns="0">
            <a:noAutofit/>
          </a:bodyPr>
          <a:lstStyle/>
          <a:p>
            <a:pPr indent="0"/>
            <a:r>
              <a:rPr lang="en-US" sz="1400" b="1" spc="-50">
                <a:solidFill>
                  <a:srgbClr val="515151"/>
                </a:solidFill>
                <a:latin typeface="Calibri"/>
              </a:rPr>
              <a:t>aangtd</a:t>
            </a:r>
          </a:p>
        </p:txBody>
      </p:sp>
      <p:sp>
        <p:nvSpPr>
          <p:cNvPr id="14" name="Rectangle 13"/>
          <p:cNvSpPr/>
          <p:nvPr/>
        </p:nvSpPr>
        <p:spPr>
          <a:xfrm>
            <a:off x="7022592" y="4315968"/>
            <a:ext cx="115824" cy="48768"/>
          </a:xfrm>
          <a:prstGeom prst="rect">
            <a:avLst/>
          </a:prstGeom>
        </p:spPr>
        <p:txBody>
          <a:bodyPr wrap="none" lIns="0" tIns="0" rIns="0" bIns="0">
            <a:noAutofit/>
          </a:bodyPr>
          <a:lstStyle/>
          <a:p>
            <a:pPr indent="0"/>
            <a:r>
              <a:rPr lang="en-US" sz="400">
                <a:solidFill>
                  <a:srgbClr val="373435"/>
                </a:solidFill>
                <a:latin typeface="Calibri"/>
              </a:rPr>
              <a:t>—</a:t>
            </a:r>
          </a:p>
        </p:txBody>
      </p:sp>
      <p:sp>
        <p:nvSpPr>
          <p:cNvPr id="15" name="Rectangle 14"/>
          <p:cNvSpPr/>
          <p:nvPr/>
        </p:nvSpPr>
        <p:spPr>
          <a:xfrm>
            <a:off x="6882384" y="4346448"/>
            <a:ext cx="1420368" cy="219456"/>
          </a:xfrm>
          <a:prstGeom prst="rect">
            <a:avLst/>
          </a:prstGeom>
        </p:spPr>
        <p:txBody>
          <a:bodyPr wrap="none" lIns="0" tIns="0" rIns="0" bIns="0">
            <a:noAutofit/>
          </a:bodyPr>
          <a:lstStyle/>
          <a:p>
            <a:pPr indent="0"/>
            <a:r>
              <a:rPr lang="en-US" sz="1400" b="1" spc="-50">
                <a:solidFill>
                  <a:srgbClr val="515151"/>
                </a:solidFill>
                <a:latin typeface="Calibri"/>
              </a:rPr>
              <a:t>33 99 A TT </a:t>
            </a:r>
            <a:r>
              <a:rPr lang="en-US" sz="1400" b="1" u="sng" spc="-50">
                <a:solidFill>
                  <a:srgbClr val="515151"/>
                </a:solidFill>
                <a:latin typeface="Calibri"/>
              </a:rPr>
              <a:t>^3t3l</a:t>
            </a:r>
          </a:p>
        </p:txBody>
      </p:sp>
      <p:sp>
        <p:nvSpPr>
          <p:cNvPr id="16" name="Rectangle 15"/>
          <p:cNvSpPr/>
          <p:nvPr/>
        </p:nvSpPr>
        <p:spPr>
          <a:xfrm>
            <a:off x="6004560" y="4523232"/>
            <a:ext cx="664464" cy="121920"/>
          </a:xfrm>
          <a:prstGeom prst="rect">
            <a:avLst/>
          </a:prstGeom>
        </p:spPr>
        <p:txBody>
          <a:bodyPr wrap="none" lIns="0" tIns="0" rIns="0" bIns="0">
            <a:noAutofit/>
          </a:bodyPr>
          <a:lstStyle/>
          <a:p>
            <a:pPr indent="0"/>
            <a:r>
              <a:rPr lang="en-US" sz="1300" b="1">
                <a:solidFill>
                  <a:srgbClr val="676767"/>
                </a:solidFill>
                <a:latin typeface="Cambria"/>
              </a:rPr>
              <a:t>Router 2</a:t>
            </a:r>
          </a:p>
        </p:txBody>
      </p:sp>
      <p:sp>
        <p:nvSpPr>
          <p:cNvPr id="17" name="Rectangle 16"/>
          <p:cNvSpPr/>
          <p:nvPr/>
        </p:nvSpPr>
        <p:spPr>
          <a:xfrm>
            <a:off x="6937248" y="4919472"/>
            <a:ext cx="371856" cy="115824"/>
          </a:xfrm>
          <a:prstGeom prst="rect">
            <a:avLst/>
          </a:prstGeom>
        </p:spPr>
        <p:txBody>
          <a:bodyPr wrap="none" lIns="0" tIns="0" rIns="0" bIns="0">
            <a:noAutofit/>
          </a:bodyPr>
          <a:lstStyle/>
          <a:p>
            <a:pPr indent="0"/>
            <a:r>
              <a:rPr lang="en-US" sz="1100">
                <a:solidFill>
                  <a:srgbClr val="515151"/>
                </a:solidFill>
                <a:latin typeface="Trebuchet MS"/>
              </a:rPr>
              <a:t>N: ] 3</a:t>
            </a:r>
          </a:p>
        </p:txBody>
      </p:sp>
      <p:sp>
        <p:nvSpPr>
          <p:cNvPr id="18" name="Rectangle 17"/>
          <p:cNvSpPr/>
          <p:nvPr/>
        </p:nvSpPr>
        <p:spPr>
          <a:xfrm>
            <a:off x="5376672" y="4931664"/>
            <a:ext cx="359664" cy="121920"/>
          </a:xfrm>
          <a:prstGeom prst="rect">
            <a:avLst/>
          </a:prstGeom>
        </p:spPr>
        <p:txBody>
          <a:bodyPr wrap="none" lIns="0" tIns="0" rIns="0" bIns="0">
            <a:noAutofit/>
          </a:bodyPr>
          <a:lstStyle/>
          <a:p>
            <a:pPr indent="0"/>
            <a:r>
              <a:rPr lang="en-US" sz="1400" b="1">
                <a:solidFill>
                  <a:srgbClr val="515151"/>
                </a:solidFill>
                <a:latin typeface="Calibri"/>
              </a:rPr>
              <a:t>Z BE</a:t>
            </a:r>
          </a:p>
        </p:txBody>
      </p:sp>
      <p:sp>
        <p:nvSpPr>
          <p:cNvPr id="19" name="Rectangle 18"/>
          <p:cNvSpPr/>
          <p:nvPr/>
        </p:nvSpPr>
        <p:spPr>
          <a:xfrm>
            <a:off x="4120896" y="4980432"/>
            <a:ext cx="542544" cy="103632"/>
          </a:xfrm>
          <a:prstGeom prst="rect">
            <a:avLst/>
          </a:prstGeom>
        </p:spPr>
        <p:txBody>
          <a:bodyPr wrap="none" lIns="0" tIns="0" rIns="0" bIns="0">
            <a:noAutofit/>
          </a:bodyPr>
          <a:lstStyle/>
          <a:p>
            <a:pPr indent="0"/>
            <a:r>
              <a:rPr lang="en-US" sz="1100">
                <a:solidFill>
                  <a:srgbClr val="676767"/>
                </a:solidFill>
                <a:latin typeface="Calibri"/>
              </a:rPr>
              <a:t>Phryx cal</a:t>
            </a:r>
          </a:p>
        </p:txBody>
      </p:sp>
      <p:sp>
        <p:nvSpPr>
          <p:cNvPr id="20" name="Rectangle 19"/>
          <p:cNvSpPr/>
          <p:nvPr/>
        </p:nvSpPr>
        <p:spPr>
          <a:xfrm>
            <a:off x="4078224" y="5084064"/>
            <a:ext cx="646176" cy="128016"/>
          </a:xfrm>
          <a:prstGeom prst="rect">
            <a:avLst/>
          </a:prstGeom>
        </p:spPr>
        <p:txBody>
          <a:bodyPr wrap="none" lIns="0" tIns="0" rIns="0" bIns="0">
            <a:noAutofit/>
          </a:bodyPr>
          <a:lstStyle/>
          <a:p>
            <a:pPr indent="0"/>
            <a:r>
              <a:rPr lang="en-US" sz="1100" spc="-200">
                <a:solidFill>
                  <a:srgbClr val="515151"/>
                </a:solidFill>
                <a:latin typeface="Cambria"/>
              </a:rPr>
              <a:t>■khn</a:t>
            </a:r>
          </a:p>
        </p:txBody>
      </p:sp>
      <p:sp>
        <p:nvSpPr>
          <p:cNvPr id="21" name="Rectangle 20"/>
          <p:cNvSpPr/>
          <p:nvPr/>
        </p:nvSpPr>
        <p:spPr>
          <a:xfrm>
            <a:off x="4120896" y="5242560"/>
            <a:ext cx="554736" cy="128016"/>
          </a:xfrm>
          <a:prstGeom prst="rect">
            <a:avLst/>
          </a:prstGeom>
        </p:spPr>
        <p:txBody>
          <a:bodyPr wrap="none" lIns="0" tIns="0" rIns="0" bIns="0">
            <a:noAutofit/>
          </a:bodyPr>
          <a:lstStyle/>
          <a:p>
            <a:pPr indent="0"/>
            <a:r>
              <a:rPr lang="en-US" sz="1400" b="1" spc="-50">
                <a:solidFill>
                  <a:srgbClr val="515151"/>
                </a:solidFill>
                <a:latin typeface="Calibri"/>
              </a:rPr>
              <a:t>t nid</a:t>
            </a:r>
          </a:p>
        </p:txBody>
      </p:sp>
      <p:sp>
        <p:nvSpPr>
          <p:cNvPr id="22" name="Rectangle 21"/>
          <p:cNvSpPr/>
          <p:nvPr/>
        </p:nvSpPr>
        <p:spPr>
          <a:xfrm>
            <a:off x="3035808" y="5340096"/>
            <a:ext cx="774192" cy="164592"/>
          </a:xfrm>
          <a:prstGeom prst="rect">
            <a:avLst/>
          </a:prstGeom>
        </p:spPr>
        <p:txBody>
          <a:bodyPr wrap="none" lIns="0" tIns="0" rIns="0" bIns="0">
            <a:noAutofit/>
          </a:bodyPr>
          <a:lstStyle/>
          <a:p>
            <a:pPr indent="0"/>
            <a:r>
              <a:rPr lang="en-US" sz="1300" b="1" spc="200">
                <a:solidFill>
                  <a:srgbClr val="373435"/>
                </a:solidFill>
                <a:latin typeface="Trebuchet MS"/>
              </a:rPr>
              <a:t>LAN 3</a:t>
            </a:r>
          </a:p>
        </p:txBody>
      </p:sp>
      <p:sp>
        <p:nvSpPr>
          <p:cNvPr id="23" name="Rectangle 22"/>
          <p:cNvSpPr/>
          <p:nvPr/>
        </p:nvSpPr>
        <p:spPr>
          <a:xfrm>
            <a:off x="6163056" y="5382768"/>
            <a:ext cx="536448" cy="103632"/>
          </a:xfrm>
          <a:prstGeom prst="rect">
            <a:avLst/>
          </a:prstGeom>
        </p:spPr>
        <p:txBody>
          <a:bodyPr wrap="none" lIns="0" tIns="0" rIns="0" bIns="0">
            <a:noAutofit/>
          </a:bodyPr>
          <a:lstStyle/>
          <a:p>
            <a:pPr indent="0"/>
            <a:r>
              <a:rPr lang="en-US" sz="1100" spc="-50">
                <a:solidFill>
                  <a:srgbClr val="676767"/>
                </a:solidFill>
                <a:latin typeface="Cambria"/>
              </a:rPr>
              <a:t>network</a:t>
            </a:r>
          </a:p>
        </p:txBody>
      </p:sp>
      <p:sp>
        <p:nvSpPr>
          <p:cNvPr id="24" name="Rectangle 23"/>
          <p:cNvSpPr/>
          <p:nvPr/>
        </p:nvSpPr>
        <p:spPr>
          <a:xfrm>
            <a:off x="1133856" y="5401056"/>
            <a:ext cx="676656" cy="115824"/>
          </a:xfrm>
          <a:prstGeom prst="rect">
            <a:avLst/>
          </a:prstGeom>
        </p:spPr>
        <p:txBody>
          <a:bodyPr wrap="none" lIns="0" tIns="0" rIns="0" bIns="0">
            <a:noAutofit/>
          </a:bodyPr>
          <a:lstStyle/>
          <a:p>
            <a:pPr indent="0"/>
            <a:r>
              <a:rPr lang="en-US" sz="1200">
                <a:solidFill>
                  <a:srgbClr val="515151"/>
                </a:solidFill>
                <a:latin typeface="Calibri"/>
              </a:rPr>
              <a:t>MB ivor</a:t>
            </a:r>
          </a:p>
        </p:txBody>
      </p:sp>
      <p:sp>
        <p:nvSpPr>
          <p:cNvPr id="25" name="Rectangle 24"/>
          <p:cNvSpPr/>
          <p:nvPr/>
        </p:nvSpPr>
        <p:spPr>
          <a:xfrm>
            <a:off x="259080" y="6144768"/>
            <a:ext cx="9342120" cy="1005840"/>
          </a:xfrm>
          <a:prstGeom prst="rect">
            <a:avLst/>
          </a:prstGeom>
        </p:spPr>
        <p:txBody>
          <a:bodyPr lIns="0" tIns="0" rIns="0" bIns="0">
            <a:noAutofit/>
          </a:bodyPr>
          <a:lstStyle/>
          <a:p>
            <a:pPr indent="469900" algn="just">
              <a:lnSpc>
                <a:spcPts val="2808"/>
              </a:lnSpc>
            </a:pPr>
            <a:r>
              <a:rPr lang="en-US" sz="2200">
                <a:latin typeface="Calibri"/>
              </a:rPr>
              <a:t>Another protocol, Address Resolution Protocol (ARP) finds the physical address of router 1 that corresponds to its logical address (20). Now the network layer passes this address to the data link layer, which in turn,</a:t>
            </a:r>
          </a:p>
        </p:txBody>
      </p:sp>
      <p:sp>
        <p:nvSpPr>
          <p:cNvPr id="26" name="Date Placeholder 25"/>
          <p:cNvSpPr>
            <a:spLocks noGrp="1"/>
          </p:cNvSpPr>
          <p:nvPr>
            <p:ph type="dt" sz="half" idx="10"/>
          </p:nvPr>
        </p:nvSpPr>
        <p:spPr/>
        <p:txBody>
          <a:bodyPr/>
          <a:lstStyle/>
          <a:p>
            <a:fld id="{A33B8987-F955-4003-85C2-C896FDC1390C}" type="datetime1">
              <a:rPr lang="en-US" smtClean="0"/>
              <a:t>4/29/2022</a:t>
            </a:fld>
            <a:endParaRPr lang="en-US"/>
          </a:p>
        </p:txBody>
      </p:sp>
      <p:sp>
        <p:nvSpPr>
          <p:cNvPr id="28" name="Slide Number Placeholder 27"/>
          <p:cNvSpPr>
            <a:spLocks noGrp="1"/>
          </p:cNvSpPr>
          <p:nvPr>
            <p:ph type="sldNum" sz="quarter" idx="12"/>
          </p:nvPr>
        </p:nvSpPr>
        <p:spPr/>
        <p:txBody>
          <a:bodyPr/>
          <a:lstStyle/>
          <a:p>
            <a:fld id="{A0B67B60-8227-4ECE-9065-6110C6EB035F}" type="slidenum">
              <a:rPr lang="en-US" smtClean="0"/>
              <a:t>56</a:t>
            </a:fld>
            <a:endParaRPr lang="en-US"/>
          </a:p>
        </p:txBody>
      </p:sp>
      <p:sp>
        <p:nvSpPr>
          <p:cNvPr id="29"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2984" y="975360"/>
            <a:ext cx="9357360" cy="5711952"/>
          </a:xfrm>
          <a:prstGeom prst="rect">
            <a:avLst/>
          </a:prstGeom>
        </p:spPr>
        <p:txBody>
          <a:bodyPr lIns="0" tIns="0" rIns="0" bIns="0">
            <a:noAutofit/>
          </a:bodyPr>
          <a:lstStyle/>
          <a:p>
            <a:pPr indent="0" algn="just">
              <a:lnSpc>
                <a:spcPts val="2808"/>
              </a:lnSpc>
              <a:spcAft>
                <a:spcPts val="210"/>
              </a:spcAft>
            </a:pPr>
            <a:r>
              <a:rPr lang="en-US" sz="2200" dirty="0">
                <a:latin typeface="Calibri"/>
              </a:rPr>
              <a:t>encapsulates the packet with physical destination address 20 and physical source address 10. The router </a:t>
            </a:r>
            <a:r>
              <a:rPr lang="en-US" sz="2200" dirty="0" err="1">
                <a:latin typeface="Calibri"/>
              </a:rPr>
              <a:t>decapsulates</a:t>
            </a:r>
            <a:r>
              <a:rPr lang="en-US" sz="2200" dirty="0">
                <a:latin typeface="Calibri"/>
              </a:rPr>
              <a:t> the packet from the frame to read the logical destination address P. Since the logical destination address does not match the router's logical address, the router knows that the packet needs to be forwarded. The router consults its routing table and ARP to find the physical destination address of the next hop (router 2), creates a new frame, encapsulates the packet, and sends it to router 2.</a:t>
            </a:r>
          </a:p>
          <a:p>
            <a:pPr indent="495300" algn="just">
              <a:lnSpc>
                <a:spcPts val="2808"/>
              </a:lnSpc>
            </a:pPr>
            <a:r>
              <a:rPr lang="en-US" sz="2200" b="1" dirty="0">
                <a:latin typeface="Calibri"/>
              </a:rPr>
              <a:t>Note</a:t>
            </a:r>
            <a:r>
              <a:rPr lang="en-US" sz="2200" dirty="0">
                <a:latin typeface="Calibri"/>
              </a:rPr>
              <a:t> the physical addresses in the frame. The source physical address changes from 10 to 99. The destination physical address changes from 20 (router 1 physical address) to 33 (router 2 physical address). The logical source and destination addresses must remain the same; otherwise the packet will be lost. At router 2 we have a similar scenario. The physical addresses are changed, and a new frame is sent to the destination computer. When the frame reaches the destination, the packet is </a:t>
            </a:r>
            <a:r>
              <a:rPr lang="en-US" sz="2200" dirty="0" err="1">
                <a:latin typeface="Calibri"/>
              </a:rPr>
              <a:t>decapsulated</a:t>
            </a:r>
            <a:r>
              <a:rPr lang="en-US" sz="2200" dirty="0">
                <a:latin typeface="Calibri"/>
              </a:rPr>
              <a:t>. The destination logical address P matches the logical address of the computer. The data are </a:t>
            </a:r>
            <a:r>
              <a:rPr lang="en-US" sz="2200" dirty="0" err="1">
                <a:latin typeface="Calibri"/>
              </a:rPr>
              <a:t>decapsulated</a:t>
            </a:r>
            <a:r>
              <a:rPr lang="en-US" sz="2200" dirty="0">
                <a:latin typeface="Calibri"/>
              </a:rPr>
              <a:t> from the packet and delivered to the upper layer. Note that although physical</a:t>
            </a:r>
          </a:p>
        </p:txBody>
      </p:sp>
      <p:sp>
        <p:nvSpPr>
          <p:cNvPr id="3" name="Date Placeholder 2"/>
          <p:cNvSpPr>
            <a:spLocks noGrp="1"/>
          </p:cNvSpPr>
          <p:nvPr>
            <p:ph type="dt" sz="half" idx="10"/>
          </p:nvPr>
        </p:nvSpPr>
        <p:spPr/>
        <p:txBody>
          <a:bodyPr/>
          <a:lstStyle/>
          <a:p>
            <a:fld id="{6F5191D9-0E0B-4CED-8B82-40EDE54E6AC0}"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57</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2984" y="972312"/>
            <a:ext cx="9348216" cy="597408"/>
          </a:xfrm>
          <a:prstGeom prst="rect">
            <a:avLst/>
          </a:prstGeom>
        </p:spPr>
        <p:txBody>
          <a:bodyPr lIns="0" tIns="0" rIns="0" bIns="0">
            <a:noAutofit/>
          </a:bodyPr>
          <a:lstStyle/>
          <a:p>
            <a:pPr indent="0" algn="just">
              <a:lnSpc>
                <a:spcPts val="2832"/>
              </a:lnSpc>
              <a:spcAft>
                <a:spcPts val="2730"/>
              </a:spcAft>
            </a:pPr>
            <a:r>
              <a:rPr lang="en-US" sz="2200">
                <a:latin typeface="Calibri"/>
              </a:rPr>
              <a:t>addresses will change from hop to hop, logical addresses remain the same from the source to destination.</a:t>
            </a:r>
          </a:p>
        </p:txBody>
      </p:sp>
      <p:sp>
        <p:nvSpPr>
          <p:cNvPr id="4" name="Rectangle 3"/>
          <p:cNvSpPr/>
          <p:nvPr/>
        </p:nvSpPr>
        <p:spPr>
          <a:xfrm>
            <a:off x="252984" y="3630168"/>
            <a:ext cx="9357360" cy="3602736"/>
          </a:xfrm>
          <a:prstGeom prst="rect">
            <a:avLst/>
          </a:prstGeom>
        </p:spPr>
        <p:txBody>
          <a:bodyPr lIns="0" tIns="0" rIns="0" bIns="0">
            <a:noAutofit/>
          </a:bodyPr>
          <a:lstStyle/>
          <a:p>
            <a:pPr indent="0" algn="just">
              <a:spcBef>
                <a:spcPts val="3780"/>
              </a:spcBef>
              <a:spcAft>
                <a:spcPts val="1260"/>
              </a:spcAft>
            </a:pPr>
            <a:r>
              <a:rPr lang="en-US" sz="2200" b="1" dirty="0">
                <a:latin typeface="Calibri"/>
              </a:rPr>
              <a:t>Unicast, Multicast, and Broadcast Addresses</a:t>
            </a:r>
          </a:p>
          <a:p>
            <a:pPr indent="469900" algn="just">
              <a:lnSpc>
                <a:spcPts val="3024"/>
              </a:lnSpc>
              <a:spcAft>
                <a:spcPts val="630"/>
              </a:spcAft>
            </a:pPr>
            <a:r>
              <a:rPr lang="en-US" sz="2200" dirty="0">
                <a:latin typeface="Calibri"/>
              </a:rPr>
              <a:t>The logical addresses can be either unicast (one single recipient), multicast (a group of recipients), or broadcast (all systems in the network).</a:t>
            </a:r>
          </a:p>
          <a:p>
            <a:pPr indent="0" algn="just">
              <a:spcAft>
                <a:spcPts val="1470"/>
              </a:spcAft>
            </a:pPr>
            <a:r>
              <a:rPr lang="en-US" sz="2200" b="1" dirty="0">
                <a:latin typeface="Calibri"/>
              </a:rPr>
              <a:t>Port Addresses</a:t>
            </a:r>
          </a:p>
          <a:p>
            <a:pPr indent="469900" algn="just">
              <a:lnSpc>
                <a:spcPts val="2784"/>
              </a:lnSpc>
            </a:pPr>
            <a:r>
              <a:rPr lang="en-US" sz="2200" dirty="0">
                <a:latin typeface="Calibri"/>
              </a:rPr>
              <a:t>The IP address and the physical address are necessary for a quantity of data to travel from a source to the destination host. However, arrival at the destination host is not the final objective of data communications on the Internet. Computers are devices that can run multiple processes at the same time. The end objective of Internet communication is a process communicating</a:t>
            </a:r>
          </a:p>
        </p:txBody>
      </p:sp>
      <p:sp>
        <p:nvSpPr>
          <p:cNvPr id="5" name="Date Placeholder 4"/>
          <p:cNvSpPr>
            <a:spLocks noGrp="1"/>
          </p:cNvSpPr>
          <p:nvPr>
            <p:ph type="dt" sz="half" idx="10"/>
          </p:nvPr>
        </p:nvSpPr>
        <p:spPr/>
        <p:txBody>
          <a:bodyPr/>
          <a:lstStyle/>
          <a:p>
            <a:fld id="{E7EEC377-DB0A-40FA-AB2A-03F69CC0CFEC}"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58</a:t>
            </a:fld>
            <a:endParaRPr lang="en-US"/>
          </a:p>
        </p:txBody>
      </p:sp>
      <p:sp>
        <p:nvSpPr>
          <p:cNvPr id="8"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pic>
        <p:nvPicPr>
          <p:cNvPr id="9" name="Picture 8"/>
          <p:cNvPicPr/>
          <p:nvPr/>
        </p:nvPicPr>
        <p:blipFill>
          <a:blip r:embed="rId2"/>
          <a:stretch>
            <a:fillRect/>
          </a:stretch>
        </p:blipFill>
        <p:spPr>
          <a:xfrm>
            <a:off x="1827513" y="1975898"/>
            <a:ext cx="5747385" cy="92583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6032" y="975360"/>
            <a:ext cx="9354312" cy="4215384"/>
          </a:xfrm>
          <a:prstGeom prst="rect">
            <a:avLst/>
          </a:prstGeom>
        </p:spPr>
        <p:txBody>
          <a:bodyPr lIns="0" tIns="0" rIns="0" bIns="0">
            <a:noAutofit/>
          </a:bodyPr>
          <a:lstStyle/>
          <a:p>
            <a:pPr indent="0" algn="just">
              <a:lnSpc>
                <a:spcPts val="2808"/>
              </a:lnSpc>
              <a:spcAft>
                <a:spcPts val="210"/>
              </a:spcAft>
            </a:pPr>
            <a:r>
              <a:rPr lang="en-US" sz="2200" dirty="0">
                <a:latin typeface="Calibri"/>
              </a:rPr>
              <a:t>with another process. For example, computer A can communicate with computer C by using TELNET. At the same time, computer A communicates with computer B by using the File Transfer Protocol (FTP). For these processes to receive data simultaneously, we need a method to label the different processes.</a:t>
            </a:r>
          </a:p>
          <a:p>
            <a:pPr indent="495300" algn="just">
              <a:lnSpc>
                <a:spcPts val="2808"/>
              </a:lnSpc>
              <a:spcAft>
                <a:spcPts val="210"/>
              </a:spcAft>
            </a:pPr>
            <a:r>
              <a:rPr lang="en-US" sz="2200" dirty="0">
                <a:latin typeface="Calibri"/>
              </a:rPr>
              <a:t>In other words, they need addresses. In the TCP/IP architecture, the label assigned to a process is called a port address. A port address in TCP/IP is 16 bits in length.</a:t>
            </a:r>
          </a:p>
          <a:p>
            <a:pPr indent="495300" algn="just">
              <a:lnSpc>
                <a:spcPts val="2808"/>
              </a:lnSpc>
            </a:pPr>
            <a:r>
              <a:rPr lang="en-US" sz="2200" dirty="0">
                <a:latin typeface="Calibri"/>
              </a:rPr>
              <a:t>A port address is a 16-bit address represented by one decimal number as shown.</a:t>
            </a:r>
          </a:p>
          <a:p>
            <a:pPr marL="3670300" marR="5346700" indent="0">
              <a:lnSpc>
                <a:spcPts val="960"/>
              </a:lnSpc>
              <a:spcAft>
                <a:spcPts val="1470"/>
              </a:spcAft>
            </a:pPr>
            <a:endParaRPr lang="en-US" sz="2600" b="1" dirty="0">
              <a:solidFill>
                <a:srgbClr val="676767"/>
              </a:solidFill>
              <a:latin typeface="Cambria"/>
            </a:endParaRPr>
          </a:p>
          <a:p>
            <a:pPr marL="3670300" marR="5346700" indent="0">
              <a:lnSpc>
                <a:spcPts val="960"/>
              </a:lnSpc>
              <a:spcAft>
                <a:spcPts val="1470"/>
              </a:spcAft>
            </a:pPr>
            <a:endParaRPr lang="en-US" sz="2600" b="1" dirty="0">
              <a:solidFill>
                <a:srgbClr val="676767"/>
              </a:solidFill>
              <a:latin typeface="Cambria"/>
            </a:endParaRPr>
          </a:p>
        </p:txBody>
      </p:sp>
      <p:sp>
        <p:nvSpPr>
          <p:cNvPr id="3" name="Date Placeholder 2"/>
          <p:cNvSpPr>
            <a:spLocks noGrp="1"/>
          </p:cNvSpPr>
          <p:nvPr>
            <p:ph type="dt" sz="half" idx="10"/>
          </p:nvPr>
        </p:nvSpPr>
        <p:spPr/>
        <p:txBody>
          <a:bodyPr/>
          <a:lstStyle/>
          <a:p>
            <a:fld id="{B73EA4A8-7DED-45CA-BCF4-FB2608CED3F9}"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59</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pic>
        <p:nvPicPr>
          <p:cNvPr id="7" name="Picture 6"/>
          <p:cNvPicPr/>
          <p:nvPr/>
        </p:nvPicPr>
        <p:blipFill>
          <a:blip r:embed="rId2"/>
          <a:stretch>
            <a:fillRect/>
          </a:stretch>
        </p:blipFill>
        <p:spPr>
          <a:xfrm>
            <a:off x="1738354" y="4611756"/>
            <a:ext cx="5806440" cy="91440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46888" y="969264"/>
            <a:ext cx="9363456" cy="2865120"/>
          </a:xfrm>
          <a:prstGeom prst="rect">
            <a:avLst/>
          </a:prstGeom>
        </p:spPr>
        <p:txBody>
          <a:bodyPr lIns="0" tIns="0" rIns="0" bIns="0">
            <a:noAutofit/>
          </a:bodyPr>
          <a:lstStyle/>
          <a:p>
            <a:pPr indent="0">
              <a:spcAft>
                <a:spcPts val="1050"/>
              </a:spcAft>
            </a:pPr>
            <a:r>
              <a:rPr lang="en-US" sz="2200" b="1" dirty="0">
                <a:latin typeface="Calibri"/>
              </a:rPr>
              <a:t>Example (3)</a:t>
            </a:r>
          </a:p>
          <a:p>
            <a:pPr indent="482600" algn="just">
              <a:lnSpc>
                <a:spcPts val="2808"/>
              </a:lnSpc>
            </a:pPr>
            <a:r>
              <a:rPr lang="en-US" sz="2200" dirty="0">
                <a:latin typeface="Calibri"/>
              </a:rPr>
              <a:t>The following Figure shows two computers communicating via the Internet. The sending computer is running three processes at this time with port addresses </a:t>
            </a:r>
            <a:r>
              <a:rPr lang="en-US" sz="2200" b="1" dirty="0">
                <a:latin typeface="Calibri"/>
              </a:rPr>
              <a:t>a, b, </a:t>
            </a:r>
            <a:r>
              <a:rPr lang="en-US" sz="2200" dirty="0">
                <a:latin typeface="Calibri"/>
              </a:rPr>
              <a:t>and </a:t>
            </a:r>
            <a:r>
              <a:rPr lang="en-US" sz="2200" b="1" dirty="0">
                <a:latin typeface="Calibri"/>
              </a:rPr>
              <a:t>c</a:t>
            </a:r>
            <a:r>
              <a:rPr lang="en-US" sz="2200" dirty="0">
                <a:latin typeface="Calibri"/>
              </a:rPr>
              <a:t>. The receiving computer is running two processes at this time with port addresses</a:t>
            </a:r>
            <a:r>
              <a:rPr lang="en-US" sz="2200" b="1" dirty="0">
                <a:latin typeface="Calibri"/>
              </a:rPr>
              <a:t> j </a:t>
            </a:r>
            <a:r>
              <a:rPr lang="en-US" sz="2200" dirty="0">
                <a:latin typeface="Calibri"/>
              </a:rPr>
              <a:t>and </a:t>
            </a:r>
            <a:r>
              <a:rPr lang="en-US" sz="2200" b="1" dirty="0">
                <a:latin typeface="Calibri"/>
              </a:rPr>
              <a:t>k</a:t>
            </a:r>
            <a:r>
              <a:rPr lang="en-US" sz="2200" dirty="0">
                <a:latin typeface="Calibri"/>
              </a:rPr>
              <a:t>. Process </a:t>
            </a:r>
            <a:r>
              <a:rPr lang="en-US" sz="2200" b="1" dirty="0">
                <a:latin typeface="Calibri"/>
              </a:rPr>
              <a:t>a</a:t>
            </a:r>
            <a:r>
              <a:rPr lang="en-US" sz="2200" dirty="0">
                <a:latin typeface="Calibri"/>
              </a:rPr>
              <a:t> in the sending computer needs to communicate with process </a:t>
            </a:r>
            <a:r>
              <a:rPr lang="en-US" sz="2200" b="1" dirty="0">
                <a:latin typeface="Calibri"/>
              </a:rPr>
              <a:t>j</a:t>
            </a:r>
            <a:r>
              <a:rPr lang="en-US" sz="2200" dirty="0">
                <a:latin typeface="Calibri"/>
              </a:rPr>
              <a:t> in the receiving computer. Note that although both computers are using the same application, FTP, for example, the port addresses are different because one is a client program and the other is a server program.</a:t>
            </a:r>
          </a:p>
        </p:txBody>
      </p:sp>
      <p:sp>
        <p:nvSpPr>
          <p:cNvPr id="3" name="Date Placeholder 2"/>
          <p:cNvSpPr>
            <a:spLocks noGrp="1"/>
          </p:cNvSpPr>
          <p:nvPr>
            <p:ph type="dt" sz="half" idx="10"/>
          </p:nvPr>
        </p:nvSpPr>
        <p:spPr/>
        <p:txBody>
          <a:bodyPr/>
          <a:lstStyle/>
          <a:p>
            <a:fld id="{48BF0EA6-16BD-4158-A0EB-1B1FDEC6D05B}"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60</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77D9F6A-0397-408C-AF4B-5E21AEB17A37}"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61</a:t>
            </a:fld>
            <a:endParaRPr lang="en-US"/>
          </a:p>
        </p:txBody>
      </p:sp>
      <p:pic>
        <p:nvPicPr>
          <p:cNvPr id="7" name="Picture 6"/>
          <p:cNvPicPr/>
          <p:nvPr/>
        </p:nvPicPr>
        <p:blipFill>
          <a:blip r:embed="rId2"/>
          <a:stretch>
            <a:fillRect/>
          </a:stretch>
        </p:blipFill>
        <p:spPr>
          <a:xfrm>
            <a:off x="902652" y="1131252"/>
            <a:ext cx="8253095" cy="5509895"/>
          </a:xfrm>
          <a:prstGeom prst="rect">
            <a:avLst/>
          </a:prstGeom>
        </p:spPr>
      </p:pic>
      <p:sp>
        <p:nvSpPr>
          <p:cNvPr id="8"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extLst>
      <p:ext uri="{BB962C8B-B14F-4D97-AF65-F5344CB8AC3E}">
        <p14:creationId xmlns:p14="http://schemas.microsoft.com/office/powerpoint/2010/main" val="18920998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46888" y="972312"/>
            <a:ext cx="9372600" cy="3450336"/>
          </a:xfrm>
          <a:prstGeom prst="rect">
            <a:avLst/>
          </a:prstGeom>
        </p:spPr>
        <p:txBody>
          <a:bodyPr lIns="0" tIns="0" rIns="0" bIns="0">
            <a:noAutofit/>
          </a:bodyPr>
          <a:lstStyle/>
          <a:p>
            <a:pPr indent="0" algn="just">
              <a:lnSpc>
                <a:spcPts val="2808"/>
              </a:lnSpc>
            </a:pPr>
            <a:r>
              <a:rPr lang="en-US" sz="2200" dirty="0">
                <a:latin typeface="Calibri"/>
              </a:rPr>
              <a:t>	To show that data from process </a:t>
            </a:r>
            <a:r>
              <a:rPr lang="en-US" sz="2200" b="1" dirty="0">
                <a:latin typeface="Calibri"/>
              </a:rPr>
              <a:t>a </a:t>
            </a:r>
            <a:r>
              <a:rPr lang="en-US" sz="2200" dirty="0">
                <a:latin typeface="Calibri"/>
              </a:rPr>
              <a:t>need to be delivered to process </a:t>
            </a:r>
            <a:r>
              <a:rPr lang="en-US" sz="2200" b="1" dirty="0">
                <a:latin typeface="Calibri"/>
              </a:rPr>
              <a:t>j</a:t>
            </a:r>
            <a:r>
              <a:rPr lang="en-US" sz="2200" dirty="0">
                <a:latin typeface="Calibri"/>
              </a:rPr>
              <a:t>, and not </a:t>
            </a:r>
            <a:r>
              <a:rPr lang="en-US" sz="2200" b="1" dirty="0">
                <a:latin typeface="Calibri"/>
              </a:rPr>
              <a:t>k</a:t>
            </a:r>
            <a:r>
              <a:rPr lang="en-US" sz="2200" dirty="0">
                <a:latin typeface="Calibri"/>
              </a:rPr>
              <a:t>, the transport layer encapsulates data from the application layer in a packet and adds two port addresses (</a:t>
            </a:r>
            <a:r>
              <a:rPr lang="en-US" sz="2200" b="1" dirty="0">
                <a:latin typeface="Calibri"/>
              </a:rPr>
              <a:t>a</a:t>
            </a:r>
            <a:r>
              <a:rPr lang="en-US" sz="2200" dirty="0">
                <a:latin typeface="Calibri"/>
              </a:rPr>
              <a:t> and </a:t>
            </a:r>
            <a:r>
              <a:rPr lang="en-US" sz="2200" b="1" dirty="0">
                <a:latin typeface="Calibri"/>
              </a:rPr>
              <a:t>j</a:t>
            </a:r>
            <a:r>
              <a:rPr lang="en-US" sz="2200" dirty="0">
                <a:latin typeface="Calibri"/>
              </a:rPr>
              <a:t>), source and destination. The packet from the transport layer is then encapsulated in another packet at the network layer with logical source and destination addresses (</a:t>
            </a:r>
            <a:r>
              <a:rPr lang="en-US" sz="2200" b="1" dirty="0">
                <a:latin typeface="Calibri"/>
              </a:rPr>
              <a:t>A</a:t>
            </a:r>
            <a:r>
              <a:rPr lang="en-US" sz="2200" dirty="0">
                <a:latin typeface="Calibri"/>
              </a:rPr>
              <a:t> and </a:t>
            </a:r>
            <a:r>
              <a:rPr lang="en-US" sz="2200" b="1" dirty="0">
                <a:latin typeface="Calibri"/>
              </a:rPr>
              <a:t>P</a:t>
            </a:r>
            <a:r>
              <a:rPr lang="en-US" sz="2200" dirty="0">
                <a:latin typeface="Calibri"/>
              </a:rPr>
              <a:t>). Finally, this packet is encapsulated in a frame with the physical source and destination addresses of the next hop. We have not shown the physical addresses because they change from hop to hop inside the cloud designated as the Internet. Note that although physical addresses change from hop to hop, logical and port addresses remain the same from the source to destination.</a:t>
            </a:r>
          </a:p>
        </p:txBody>
      </p:sp>
      <p:sp>
        <p:nvSpPr>
          <p:cNvPr id="3" name="Date Placeholder 2"/>
          <p:cNvSpPr>
            <a:spLocks noGrp="1"/>
          </p:cNvSpPr>
          <p:nvPr>
            <p:ph type="dt" sz="half" idx="10"/>
          </p:nvPr>
        </p:nvSpPr>
        <p:spPr/>
        <p:txBody>
          <a:bodyPr/>
          <a:lstStyle/>
          <a:p>
            <a:fld id="{E4960DDF-BECA-4EBD-A247-9858CC612EE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62</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99032" y="914400"/>
            <a:ext cx="7424928" cy="4465320"/>
          </a:xfrm>
          <a:prstGeom prst="rect">
            <a:avLst/>
          </a:prstGeom>
        </p:spPr>
      </p:pic>
      <p:sp>
        <p:nvSpPr>
          <p:cNvPr id="3" name="Rectangle 2"/>
          <p:cNvSpPr/>
          <p:nvPr/>
        </p:nvSpPr>
        <p:spPr>
          <a:xfrm>
            <a:off x="435864" y="5955792"/>
            <a:ext cx="9162288" cy="624840"/>
          </a:xfrm>
          <a:prstGeom prst="rect">
            <a:avLst/>
          </a:prstGeom>
        </p:spPr>
        <p:txBody>
          <a:bodyPr lIns="0" tIns="0" rIns="0" bIns="0">
            <a:noAutofit/>
          </a:bodyPr>
          <a:lstStyle/>
          <a:p>
            <a:pPr marL="254000" indent="-254000">
              <a:lnSpc>
                <a:spcPts val="2832"/>
              </a:lnSpc>
              <a:spcBef>
                <a:spcPts val="2940"/>
              </a:spcBef>
            </a:pPr>
            <a:r>
              <a:rPr lang="en-US" sz="2200">
                <a:latin typeface="Calibri"/>
              </a:rPr>
              <a:t>• In the TCP/IP protocol suite, the port numbers are integers between 0 and 65,535.</a:t>
            </a:r>
          </a:p>
        </p:txBody>
      </p:sp>
      <p:sp>
        <p:nvSpPr>
          <p:cNvPr id="4" name="Date Placeholder 3"/>
          <p:cNvSpPr>
            <a:spLocks noGrp="1"/>
          </p:cNvSpPr>
          <p:nvPr>
            <p:ph type="dt" sz="half" idx="10"/>
          </p:nvPr>
        </p:nvSpPr>
        <p:spPr/>
        <p:txBody>
          <a:bodyPr/>
          <a:lstStyle/>
          <a:p>
            <a:fld id="{F5849FAA-7DA5-4623-8FC5-F4B2B5A13084}"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63</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35864" y="972312"/>
            <a:ext cx="9174480" cy="1792224"/>
          </a:xfrm>
          <a:prstGeom prst="rect">
            <a:avLst/>
          </a:prstGeom>
        </p:spPr>
        <p:txBody>
          <a:bodyPr lIns="0" tIns="0" rIns="0" bIns="0">
            <a:noAutofit/>
          </a:bodyPr>
          <a:lstStyle/>
          <a:p>
            <a:pPr marL="254000" indent="-254000" algn="just">
              <a:lnSpc>
                <a:spcPts val="2808"/>
              </a:lnSpc>
              <a:spcAft>
                <a:spcPts val="210"/>
              </a:spcAft>
            </a:pPr>
            <a:r>
              <a:rPr lang="en-US" sz="2200" dirty="0">
                <a:latin typeface="Calibri"/>
              </a:rPr>
              <a:t>•    The client program defines itself with a port number, called the </a:t>
            </a:r>
            <a:r>
              <a:rPr lang="en-US" sz="2200" b="1" dirty="0">
                <a:latin typeface="Calibri"/>
              </a:rPr>
              <a:t>ephemeral port number</a:t>
            </a:r>
            <a:r>
              <a:rPr lang="en-US" sz="2200" dirty="0">
                <a:latin typeface="Calibri"/>
              </a:rPr>
              <a:t> (chosen randomly). The word ephemeral means </a:t>
            </a:r>
            <a:r>
              <a:rPr lang="en-US" sz="2300" i="1" dirty="0">
                <a:latin typeface="Calibri"/>
              </a:rPr>
              <a:t>short lived.</a:t>
            </a:r>
          </a:p>
          <a:p>
            <a:pPr marL="254000" indent="-254000" algn="just">
              <a:lnSpc>
                <a:spcPts val="2808"/>
              </a:lnSpc>
            </a:pPr>
            <a:r>
              <a:rPr lang="en-US" sz="2300" i="1" dirty="0">
                <a:latin typeface="Calibri"/>
              </a:rPr>
              <a:t>•</a:t>
            </a:r>
            <a:r>
              <a:rPr lang="en-US" sz="2200" dirty="0">
                <a:latin typeface="Calibri"/>
              </a:rPr>
              <a:t>    The server process must also define itself with a port number (called well-known port numbers). This port number, however, cannot be chosen randomly.</a:t>
            </a:r>
          </a:p>
        </p:txBody>
      </p:sp>
      <p:sp>
        <p:nvSpPr>
          <p:cNvPr id="3" name="Date Placeholder 2"/>
          <p:cNvSpPr>
            <a:spLocks noGrp="1"/>
          </p:cNvSpPr>
          <p:nvPr>
            <p:ph type="dt" sz="half" idx="10"/>
          </p:nvPr>
        </p:nvSpPr>
        <p:spPr/>
        <p:txBody>
          <a:bodyPr/>
          <a:lstStyle/>
          <a:p>
            <a:fld id="{5C80F45F-D79A-4690-86E9-F96B2D544A8F}"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64</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1515" y="2720257"/>
            <a:ext cx="7827264" cy="1219200"/>
          </a:xfrm>
          <a:prstGeom prst="rect">
            <a:avLst/>
          </a:prstGeom>
        </p:spPr>
      </p:pic>
      <p:sp>
        <p:nvSpPr>
          <p:cNvPr id="3" name="Rectangle 2"/>
          <p:cNvSpPr/>
          <p:nvPr/>
        </p:nvSpPr>
        <p:spPr>
          <a:xfrm>
            <a:off x="448056" y="969264"/>
            <a:ext cx="9153144" cy="1133856"/>
          </a:xfrm>
          <a:prstGeom prst="rect">
            <a:avLst/>
          </a:prstGeom>
        </p:spPr>
        <p:txBody>
          <a:bodyPr lIns="0" tIns="0" rIns="0" bIns="0">
            <a:noAutofit/>
          </a:bodyPr>
          <a:lstStyle/>
          <a:p>
            <a:pPr marL="216408" indent="-228600" algn="just">
              <a:spcAft>
                <a:spcPts val="1260"/>
              </a:spcAft>
            </a:pPr>
            <a:r>
              <a:rPr lang="en-US" sz="2200" b="1" dirty="0">
                <a:latin typeface="Calibri"/>
              </a:rPr>
              <a:t>ICANN Ranges (Internet Corporation for Assigned Names and Numbers)</a:t>
            </a:r>
          </a:p>
          <a:p>
            <a:pPr marL="216408" indent="254000">
              <a:lnSpc>
                <a:spcPts val="3000"/>
              </a:lnSpc>
              <a:spcAft>
                <a:spcPts val="2730"/>
              </a:spcAft>
            </a:pPr>
            <a:r>
              <a:rPr lang="en-US" sz="2200" dirty="0">
                <a:latin typeface="Calibri"/>
              </a:rPr>
              <a:t>ICANN has divided the port numbers into three ranges: well-known, registered, and dynamic (or private)</a:t>
            </a:r>
          </a:p>
        </p:txBody>
      </p:sp>
      <p:sp>
        <p:nvSpPr>
          <p:cNvPr id="4" name="Rectangle 3"/>
          <p:cNvSpPr/>
          <p:nvPr/>
        </p:nvSpPr>
        <p:spPr>
          <a:xfrm>
            <a:off x="435864" y="4794504"/>
            <a:ext cx="9171432" cy="1792224"/>
          </a:xfrm>
          <a:prstGeom prst="rect">
            <a:avLst/>
          </a:prstGeom>
        </p:spPr>
        <p:txBody>
          <a:bodyPr lIns="0" tIns="0" rIns="0" bIns="0">
            <a:noAutofit/>
          </a:bodyPr>
          <a:lstStyle/>
          <a:p>
            <a:pPr marL="228600" indent="-228600" algn="just">
              <a:lnSpc>
                <a:spcPts val="2808"/>
              </a:lnSpc>
              <a:spcBef>
                <a:spcPts val="5460"/>
              </a:spcBef>
              <a:spcAft>
                <a:spcPts val="210"/>
              </a:spcAft>
            </a:pPr>
            <a:r>
              <a:rPr lang="en-US" sz="2200" dirty="0">
                <a:latin typeface="Calibri"/>
              </a:rPr>
              <a:t>•	</a:t>
            </a:r>
            <a:r>
              <a:rPr lang="en-US" sz="2200" b="1" dirty="0">
                <a:latin typeface="Calibri"/>
              </a:rPr>
              <a:t>Well-known ports</a:t>
            </a:r>
            <a:r>
              <a:rPr lang="en-US" sz="2200" dirty="0">
                <a:latin typeface="Calibri"/>
              </a:rPr>
              <a:t>: The ports ranging from 0 to 1,023 are assigned and controlled by ICANN..</a:t>
            </a:r>
          </a:p>
          <a:p>
            <a:pPr marL="228600" indent="-228600" algn="just">
              <a:lnSpc>
                <a:spcPts val="2808"/>
              </a:lnSpc>
            </a:pPr>
            <a:r>
              <a:rPr lang="en-US" sz="2200" dirty="0">
                <a:latin typeface="Calibri"/>
              </a:rPr>
              <a:t>• </a:t>
            </a:r>
            <a:r>
              <a:rPr lang="en-US" sz="2200" b="1" dirty="0">
                <a:latin typeface="Calibri"/>
              </a:rPr>
              <a:t>Registered ports</a:t>
            </a:r>
            <a:r>
              <a:rPr lang="en-US" sz="2200" dirty="0">
                <a:latin typeface="Calibri"/>
              </a:rPr>
              <a:t>: The ports ranging from 1,024 to 49,151 are not assigned or controlled by ICANN. They can only be registered with ICANN to prevent duplication.</a:t>
            </a:r>
          </a:p>
        </p:txBody>
      </p:sp>
      <p:sp>
        <p:nvSpPr>
          <p:cNvPr id="5" name="Date Placeholder 4"/>
          <p:cNvSpPr>
            <a:spLocks noGrp="1"/>
          </p:cNvSpPr>
          <p:nvPr>
            <p:ph type="dt" sz="half" idx="10"/>
          </p:nvPr>
        </p:nvSpPr>
        <p:spPr/>
        <p:txBody>
          <a:bodyPr/>
          <a:lstStyle/>
          <a:p>
            <a:fld id="{2460292A-1845-4EDF-A568-6D15941B32DF}"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65</a:t>
            </a:fld>
            <a:endParaRPr lang="en-US"/>
          </a:p>
        </p:txBody>
      </p:sp>
      <p:sp>
        <p:nvSpPr>
          <p:cNvPr id="8"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2984" y="972312"/>
            <a:ext cx="9360408" cy="4721352"/>
          </a:xfrm>
          <a:prstGeom prst="rect">
            <a:avLst/>
          </a:prstGeom>
        </p:spPr>
        <p:txBody>
          <a:bodyPr lIns="0" tIns="0" rIns="0" bIns="0">
            <a:noAutofit/>
          </a:bodyPr>
          <a:lstStyle/>
          <a:p>
            <a:pPr marL="444500" indent="0" algn="just">
              <a:lnSpc>
                <a:spcPts val="2808"/>
              </a:lnSpc>
              <a:spcAft>
                <a:spcPts val="210"/>
              </a:spcAft>
            </a:pPr>
            <a:r>
              <a:rPr lang="en-US" sz="2200" dirty="0">
                <a:latin typeface="Calibri"/>
              </a:rPr>
              <a:t>•</a:t>
            </a:r>
            <a:r>
              <a:rPr lang="en-US" sz="2200" b="1" dirty="0">
                <a:latin typeface="Calibri"/>
              </a:rPr>
              <a:t>Dynamic ports</a:t>
            </a:r>
            <a:r>
              <a:rPr lang="en-US" sz="2200" dirty="0">
                <a:latin typeface="Calibri"/>
              </a:rPr>
              <a:t>: The ports ranging from 49,152 to 65,535 are neither controlled nor registered. They can be used as temporary or private port numbers. The original recommendation was that the ephemeral port numbers for clients be chosen from this range. However, most systems do not follow this recommendation.</a:t>
            </a:r>
          </a:p>
          <a:p>
            <a:pPr marL="444500" indent="0" algn="just">
              <a:lnSpc>
                <a:spcPts val="2808"/>
              </a:lnSpc>
              <a:spcAft>
                <a:spcPts val="210"/>
              </a:spcAft>
            </a:pPr>
            <a:endParaRPr lang="en-US" sz="2200" dirty="0">
              <a:latin typeface="Calibri"/>
            </a:endParaRPr>
          </a:p>
          <a:p>
            <a:pPr indent="0">
              <a:spcAft>
                <a:spcPts val="1050"/>
              </a:spcAft>
            </a:pPr>
            <a:r>
              <a:rPr lang="en-US" sz="2200" b="1" dirty="0">
                <a:latin typeface="Calibri"/>
              </a:rPr>
              <a:t>Application-Specific Addresses</a:t>
            </a:r>
          </a:p>
          <a:p>
            <a:pPr indent="444500" algn="just">
              <a:lnSpc>
                <a:spcPts val="2808"/>
              </a:lnSpc>
            </a:pPr>
            <a:r>
              <a:rPr lang="en-US" sz="2200" dirty="0">
                <a:latin typeface="Calibri"/>
              </a:rPr>
              <a:t>Some applications have user-friendly addresses that are designed for that specific application. Examples include the e-mail address (for example, co_sci@yahoo.com) and the Universal Resource Locator (URL) (for example, www.mhhe.com). The first defines the recipient of an e-mail; the second is used to find a document on the World Wide Web. These addresses, however, get changed to the corresponding port and logical addresses by the sending computer.</a:t>
            </a:r>
          </a:p>
        </p:txBody>
      </p:sp>
      <p:sp>
        <p:nvSpPr>
          <p:cNvPr id="3" name="Date Placeholder 2"/>
          <p:cNvSpPr>
            <a:spLocks noGrp="1"/>
          </p:cNvSpPr>
          <p:nvPr>
            <p:ph type="dt" sz="half" idx="10"/>
          </p:nvPr>
        </p:nvSpPr>
        <p:spPr/>
        <p:txBody>
          <a:bodyPr/>
          <a:lstStyle/>
          <a:p>
            <a:fld id="{AA8814D9-570C-450F-809D-34396789A776}"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66</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1504" y="984504"/>
            <a:ext cx="2587752" cy="228600"/>
          </a:xfrm>
          <a:prstGeom prst="rect">
            <a:avLst/>
          </a:prstGeom>
        </p:spPr>
        <p:txBody>
          <a:bodyPr wrap="none" lIns="0" tIns="0" rIns="0" bIns="0">
            <a:noAutofit/>
          </a:bodyPr>
          <a:lstStyle/>
          <a:p>
            <a:pPr indent="0"/>
            <a:r>
              <a:rPr lang="en-US" sz="2300" b="1">
                <a:latin typeface="Calibri"/>
              </a:rPr>
              <a:t>DIRECTORY SERVICES</a:t>
            </a:r>
          </a:p>
        </p:txBody>
      </p:sp>
      <p:sp>
        <p:nvSpPr>
          <p:cNvPr id="3" name="Rectangle 2"/>
          <p:cNvSpPr/>
          <p:nvPr/>
        </p:nvSpPr>
        <p:spPr>
          <a:xfrm>
            <a:off x="262128" y="1761744"/>
            <a:ext cx="9342120" cy="1392936"/>
          </a:xfrm>
          <a:prstGeom prst="rect">
            <a:avLst/>
          </a:prstGeom>
        </p:spPr>
        <p:txBody>
          <a:bodyPr lIns="0" tIns="0" rIns="0" bIns="0">
            <a:noAutofit/>
          </a:bodyPr>
          <a:lstStyle/>
          <a:p>
            <a:pPr indent="482600" algn="just">
              <a:lnSpc>
                <a:spcPts val="3024"/>
              </a:lnSpc>
            </a:pPr>
            <a:r>
              <a:rPr lang="en-US" sz="2200">
                <a:latin typeface="Calibri"/>
              </a:rPr>
              <a:t>A Directory Service is nothing but a software system that responds to requests for information about entities, e.g. people in an organization.</a:t>
            </a:r>
          </a:p>
          <a:p>
            <a:pPr indent="0" algn="just">
              <a:lnSpc>
                <a:spcPts val="3024"/>
              </a:lnSpc>
              <a:spcAft>
                <a:spcPts val="2940"/>
              </a:spcAft>
            </a:pPr>
            <a:r>
              <a:rPr lang="en-US" sz="2200">
                <a:latin typeface="Calibri"/>
              </a:rPr>
              <a:t>X.500 and Network Information Service (NIS) are examples of directory services.</a:t>
            </a:r>
          </a:p>
        </p:txBody>
      </p:sp>
      <p:sp>
        <p:nvSpPr>
          <p:cNvPr id="4" name="Rectangle 3"/>
          <p:cNvSpPr/>
          <p:nvPr/>
        </p:nvSpPr>
        <p:spPr>
          <a:xfrm>
            <a:off x="265176" y="3855720"/>
            <a:ext cx="9336024" cy="2697480"/>
          </a:xfrm>
          <a:prstGeom prst="rect">
            <a:avLst/>
          </a:prstGeom>
        </p:spPr>
        <p:txBody>
          <a:bodyPr lIns="0" tIns="0" rIns="0" bIns="0">
            <a:noAutofit/>
          </a:bodyPr>
          <a:lstStyle/>
          <a:p>
            <a:pPr indent="0" algn="just">
              <a:spcBef>
                <a:spcPts val="2940"/>
              </a:spcBef>
              <a:spcAft>
                <a:spcPts val="1470"/>
              </a:spcAft>
            </a:pPr>
            <a:r>
              <a:rPr lang="en-US" sz="2200" b="1" dirty="0">
                <a:latin typeface="Calibri"/>
              </a:rPr>
              <a:t>Need of Directory Service</a:t>
            </a:r>
          </a:p>
          <a:p>
            <a:pPr indent="482600" algn="just">
              <a:lnSpc>
                <a:spcPts val="3024"/>
              </a:lnSpc>
            </a:pPr>
            <a:r>
              <a:rPr lang="en-US" sz="2200" dirty="0">
                <a:latin typeface="Calibri"/>
              </a:rPr>
              <a:t>Enterprise Computing Environments have a need to store information in a centralized data store so that it can be added to, deleted, modified, and queried by users and applications. The information stored could be user accounts, email addresses, digital certificates, component object names, network names, printers, groups and so on. There is a need to access this information both from within the enterprise and from the Internet. The amount of information stored</a:t>
            </a:r>
          </a:p>
        </p:txBody>
      </p:sp>
      <p:sp>
        <p:nvSpPr>
          <p:cNvPr id="5" name="Date Placeholder 4"/>
          <p:cNvSpPr>
            <a:spLocks noGrp="1"/>
          </p:cNvSpPr>
          <p:nvPr>
            <p:ph type="dt" sz="half" idx="10"/>
          </p:nvPr>
        </p:nvSpPr>
        <p:spPr/>
        <p:txBody>
          <a:bodyPr/>
          <a:lstStyle/>
          <a:p>
            <a:fld id="{4718DCBB-FA10-40B7-BA19-9AA3EC555328}"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67</a:t>
            </a:fld>
            <a:endParaRPr lang="en-US"/>
          </a:p>
        </p:txBody>
      </p:sp>
      <p:sp>
        <p:nvSpPr>
          <p:cNvPr id="8"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75360"/>
            <a:ext cx="9336024" cy="5669280"/>
          </a:xfrm>
          <a:prstGeom prst="rect">
            <a:avLst/>
          </a:prstGeom>
        </p:spPr>
        <p:txBody>
          <a:bodyPr lIns="0" tIns="0" rIns="0" bIns="0">
            <a:noAutofit/>
          </a:bodyPr>
          <a:lstStyle/>
          <a:p>
            <a:pPr indent="0" algn="just">
              <a:lnSpc>
                <a:spcPts val="3024"/>
              </a:lnSpc>
              <a:spcAft>
                <a:spcPts val="420"/>
              </a:spcAft>
            </a:pPr>
            <a:r>
              <a:rPr lang="en-US" sz="2200">
                <a:latin typeface="Calibri"/>
              </a:rPr>
              <a:t>varies greatly with the customer. This data store has come to be known as a </a:t>
            </a:r>
            <a:r>
              <a:rPr lang="en-US" sz="2300" i="1">
                <a:latin typeface="Calibri"/>
              </a:rPr>
              <a:t>Directory Service.</a:t>
            </a:r>
          </a:p>
          <a:p>
            <a:pPr indent="254000" algn="just">
              <a:lnSpc>
                <a:spcPts val="3024"/>
              </a:lnSpc>
              <a:spcAft>
                <a:spcPts val="420"/>
              </a:spcAft>
            </a:pPr>
            <a:r>
              <a:rPr lang="en-US" sz="2200">
                <a:latin typeface="Calibri"/>
              </a:rPr>
              <a:t>Directory services not only allow you to locate and access these resources, but also let you manage the relationships among them.</a:t>
            </a:r>
          </a:p>
          <a:p>
            <a:pPr indent="254000" algn="just">
              <a:lnSpc>
                <a:spcPts val="3024"/>
              </a:lnSpc>
              <a:spcAft>
                <a:spcPts val="420"/>
              </a:spcAft>
            </a:pPr>
            <a:r>
              <a:rPr lang="en-US" sz="2200">
                <a:latin typeface="Calibri"/>
              </a:rPr>
              <a:t>For our own use, we all maintain personal address directory where we store addresses, telephone nos. and other information in a format that is most suitable for us. But when we talk about maintaining a global directory service on Internet or in any organization, </a:t>
            </a:r>
            <a:r>
              <a:rPr lang="en-US" sz="2300" i="1">
                <a:latin typeface="Calibri"/>
              </a:rPr>
              <a:t>The Directory Service must be:</a:t>
            </a:r>
          </a:p>
          <a:p>
            <a:pPr indent="0" algn="just">
              <a:spcAft>
                <a:spcPts val="1470"/>
              </a:spcAft>
            </a:pPr>
            <a:r>
              <a:rPr lang="en-US" sz="2300" i="1">
                <a:latin typeface="Calibri"/>
              </a:rPr>
              <a:t>•    Flexible</a:t>
            </a:r>
            <a:r>
              <a:rPr lang="en-US" sz="2200">
                <a:latin typeface="Calibri"/>
              </a:rPr>
              <a:t> enough to store a range of information types</a:t>
            </a:r>
          </a:p>
          <a:p>
            <a:pPr indent="0" algn="just">
              <a:lnSpc>
                <a:spcPts val="3960"/>
              </a:lnSpc>
            </a:pPr>
            <a:r>
              <a:rPr lang="en-US" sz="2200">
                <a:latin typeface="Calibri"/>
              </a:rPr>
              <a:t>•    </a:t>
            </a:r>
            <a:r>
              <a:rPr lang="en-US" sz="2300" i="1">
                <a:latin typeface="Calibri"/>
              </a:rPr>
              <a:t>Secure</a:t>
            </a:r>
            <a:r>
              <a:rPr lang="en-US" sz="2200">
                <a:latin typeface="Calibri"/>
              </a:rPr>
              <a:t> when accessing from both the Internet and intranet</a:t>
            </a:r>
          </a:p>
          <a:p>
            <a:pPr indent="0" algn="just">
              <a:lnSpc>
                <a:spcPts val="3960"/>
              </a:lnSpc>
            </a:pPr>
            <a:r>
              <a:rPr lang="en-US" sz="2200">
                <a:latin typeface="Calibri"/>
              </a:rPr>
              <a:t>•    </a:t>
            </a:r>
            <a:r>
              <a:rPr lang="en-US" sz="2300" i="1">
                <a:latin typeface="Calibri"/>
              </a:rPr>
              <a:t>Scalable</a:t>
            </a:r>
            <a:r>
              <a:rPr lang="en-US" sz="2200">
                <a:latin typeface="Calibri"/>
              </a:rPr>
              <a:t> from a small business to the largest enterprise</a:t>
            </a:r>
          </a:p>
          <a:p>
            <a:pPr indent="0" algn="just">
              <a:lnSpc>
                <a:spcPts val="3960"/>
              </a:lnSpc>
            </a:pPr>
            <a:r>
              <a:rPr lang="en-US" sz="2200">
                <a:latin typeface="Calibri"/>
              </a:rPr>
              <a:t>•    </a:t>
            </a:r>
            <a:r>
              <a:rPr lang="en-US" sz="2300" i="1">
                <a:latin typeface="Calibri"/>
              </a:rPr>
              <a:t>Extensible</a:t>
            </a:r>
            <a:r>
              <a:rPr lang="en-US" sz="2200">
                <a:latin typeface="Calibri"/>
              </a:rPr>
              <a:t> as business needs change</a:t>
            </a:r>
          </a:p>
          <a:p>
            <a:pPr indent="0" algn="just">
              <a:lnSpc>
                <a:spcPts val="3960"/>
              </a:lnSpc>
            </a:pPr>
            <a:r>
              <a:rPr lang="en-US" sz="2200">
                <a:latin typeface="Calibri"/>
              </a:rPr>
              <a:t>•    </a:t>
            </a:r>
            <a:r>
              <a:rPr lang="en-US" sz="2300" i="1">
                <a:latin typeface="Calibri"/>
              </a:rPr>
              <a:t>Accessible</a:t>
            </a:r>
            <a:r>
              <a:rPr lang="en-US" sz="2200">
                <a:latin typeface="Calibri"/>
              </a:rPr>
              <a:t> via an open, standards-based protocol</a:t>
            </a:r>
          </a:p>
        </p:txBody>
      </p:sp>
      <p:sp>
        <p:nvSpPr>
          <p:cNvPr id="3" name="Date Placeholder 2"/>
          <p:cNvSpPr>
            <a:spLocks noGrp="1"/>
          </p:cNvSpPr>
          <p:nvPr>
            <p:ph type="dt" sz="half" idx="10"/>
          </p:nvPr>
        </p:nvSpPr>
        <p:spPr/>
        <p:txBody>
          <a:bodyPr/>
          <a:lstStyle/>
          <a:p>
            <a:fld id="{2BA170A1-1247-4500-BB03-8ABA5BEF3842}"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68</a:t>
            </a:fld>
            <a:endParaRPr lang="en-US"/>
          </a:p>
        </p:txBody>
      </p:sp>
      <p:sp>
        <p:nvSpPr>
          <p:cNvPr id="6"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8224" y="972312"/>
            <a:ext cx="9171432" cy="1441704"/>
          </a:xfrm>
          <a:prstGeom prst="rect">
            <a:avLst/>
          </a:prstGeom>
        </p:spPr>
        <p:txBody>
          <a:bodyPr lIns="0" tIns="0" rIns="0" bIns="0">
            <a:noAutofit/>
          </a:bodyPr>
          <a:lstStyle/>
          <a:p>
            <a:pPr indent="0" algn="just">
              <a:lnSpc>
                <a:spcPts val="3024"/>
              </a:lnSpc>
              <a:spcAft>
                <a:spcPts val="2940"/>
              </a:spcAft>
            </a:pPr>
            <a:r>
              <a:rPr lang="en-US" sz="2200">
                <a:latin typeface="Calibri"/>
              </a:rPr>
              <a:t>Using an open protocol enables the information in the Directory Service to be accessible from clients from different vendors. Directory Services from different vendors communicating using an open protocol can exchange information with each other to create aggregated directories.</a:t>
            </a:r>
          </a:p>
        </p:txBody>
      </p:sp>
      <p:sp>
        <p:nvSpPr>
          <p:cNvPr id="3" name="Rectangle 2"/>
          <p:cNvSpPr/>
          <p:nvPr/>
        </p:nvSpPr>
        <p:spPr>
          <a:xfrm>
            <a:off x="256032" y="3075432"/>
            <a:ext cx="9342120" cy="3560064"/>
          </a:xfrm>
          <a:prstGeom prst="rect">
            <a:avLst/>
          </a:prstGeom>
        </p:spPr>
        <p:txBody>
          <a:bodyPr lIns="0" tIns="0" rIns="0" bIns="0">
            <a:noAutofit/>
          </a:bodyPr>
          <a:lstStyle/>
          <a:p>
            <a:pPr indent="0" algn="just">
              <a:spcBef>
                <a:spcPts val="2940"/>
              </a:spcBef>
              <a:spcAft>
                <a:spcPts val="1470"/>
              </a:spcAft>
            </a:pPr>
            <a:r>
              <a:rPr lang="en-US" sz="2200" b="1" dirty="0">
                <a:latin typeface="Calibri"/>
              </a:rPr>
              <a:t>X.500 Directory</a:t>
            </a:r>
          </a:p>
          <a:p>
            <a:pPr indent="495300" algn="just">
              <a:lnSpc>
                <a:spcPts val="3024"/>
              </a:lnSpc>
              <a:spcAft>
                <a:spcPts val="420"/>
              </a:spcAft>
            </a:pPr>
            <a:r>
              <a:rPr lang="en-US" sz="2200" dirty="0">
                <a:latin typeface="Calibri"/>
              </a:rPr>
              <a:t>X.500 is a standard for a Directory Service by the International Telecommunications</a:t>
            </a:r>
          </a:p>
          <a:p>
            <a:pPr indent="495300" algn="just">
              <a:lnSpc>
                <a:spcPts val="3024"/>
              </a:lnSpc>
            </a:pPr>
            <a:r>
              <a:rPr lang="en-US" sz="2200" dirty="0">
                <a:latin typeface="Calibri"/>
              </a:rPr>
              <a:t>Union (ITU). X.500, the OSI directory standard, defines a comprehensive Directory Service, including an information model, namespace, functional model, and authentication framework. X.500 also defines the Directory Access Protocol (DAP) used by clients to access the directory. DAP is a full OSI protocol that contains extensive functionality, much of which is not used by most applications.</a:t>
            </a:r>
          </a:p>
        </p:txBody>
      </p:sp>
      <p:sp>
        <p:nvSpPr>
          <p:cNvPr id="4" name="Date Placeholder 3"/>
          <p:cNvSpPr>
            <a:spLocks noGrp="1"/>
          </p:cNvSpPr>
          <p:nvPr>
            <p:ph type="dt" sz="half" idx="10"/>
          </p:nvPr>
        </p:nvSpPr>
        <p:spPr/>
        <p:txBody>
          <a:bodyPr/>
          <a:lstStyle/>
          <a:p>
            <a:fld id="{7B88EE35-3A8B-41AD-8542-0F3A8B991260}"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69</a:t>
            </a:fld>
            <a:endParaRPr lang="en-US"/>
          </a:p>
        </p:txBody>
      </p:sp>
      <p:sp>
        <p:nvSpPr>
          <p:cNvPr id="7" name="Title 1"/>
          <p:cNvSpPr>
            <a:spLocks noGrp="1"/>
          </p:cNvSpPr>
          <p:nvPr>
            <p:ph type="title"/>
          </p:nvPr>
        </p:nvSpPr>
        <p:spPr>
          <a:xfrm>
            <a:off x="1507948" y="1"/>
            <a:ext cx="8550452" cy="548640"/>
          </a:xfrm>
        </p:spPr>
        <p:txBody>
          <a:bodyPr>
            <a:normAutofit/>
          </a:bodyPr>
          <a:lstStyle/>
          <a:p>
            <a:r>
              <a:rPr lang="en-US" sz="3200" b="1" dirty="0"/>
              <a:t>APPLICATION LAYER - OSI MODEL</a:t>
            </a:r>
            <a:endParaRPr lang="en-US" sz="3200" dirty="0"/>
          </a:p>
        </p:txBody>
      </p:sp>
    </p:spTree>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080" y="984504"/>
            <a:ext cx="3157728" cy="228600"/>
          </a:xfrm>
          <a:prstGeom prst="rect">
            <a:avLst/>
          </a:prstGeom>
        </p:spPr>
        <p:txBody>
          <a:bodyPr wrap="none" lIns="0" tIns="0" rIns="0" bIns="0">
            <a:noAutofit/>
          </a:bodyPr>
          <a:lstStyle/>
          <a:p>
            <a:pPr indent="0"/>
            <a:endParaRPr lang="en-US" sz="2300" b="1" dirty="0">
              <a:latin typeface="Calibri"/>
            </a:endParaRPr>
          </a:p>
        </p:txBody>
      </p:sp>
      <p:sp>
        <p:nvSpPr>
          <p:cNvPr id="3" name="Rectangle 2"/>
          <p:cNvSpPr/>
          <p:nvPr/>
        </p:nvSpPr>
        <p:spPr>
          <a:xfrm>
            <a:off x="451104" y="1389888"/>
            <a:ext cx="9168384" cy="5361432"/>
          </a:xfrm>
          <a:prstGeom prst="rect">
            <a:avLst/>
          </a:prstGeom>
        </p:spPr>
        <p:txBody>
          <a:bodyPr lIns="0" tIns="0" rIns="0" bIns="0">
            <a:noAutofit/>
          </a:bodyPr>
          <a:lstStyle/>
          <a:p>
            <a:pPr marL="431800" indent="-342900">
              <a:spcAft>
                <a:spcPts val="1680"/>
              </a:spcAft>
              <a:buFontTx/>
              <a:buChar char="-"/>
            </a:pPr>
            <a:r>
              <a:rPr lang="en-US" sz="2400" b="1" dirty="0"/>
              <a:t>APPLICATION PROTOCOLS (CO3)</a:t>
            </a:r>
          </a:p>
          <a:p>
            <a:pPr marL="88900">
              <a:spcAft>
                <a:spcPts val="1680"/>
              </a:spcAft>
            </a:pPr>
            <a:r>
              <a:rPr lang="en-US" sz="2200" dirty="0">
                <a:latin typeface="Calibri"/>
              </a:rPr>
              <a:t>Topic Objective</a:t>
            </a:r>
          </a:p>
          <a:p>
            <a:pPr marL="431800" indent="-342900">
              <a:spcAft>
                <a:spcPts val="1680"/>
              </a:spcAft>
              <a:buFont typeface="Arial" panose="020B0604020202020204" pitchFamily="34" charset="0"/>
              <a:buChar char="•"/>
            </a:pPr>
            <a:r>
              <a:rPr lang="en-US" sz="2200" dirty="0">
                <a:latin typeface="Calibri"/>
              </a:rPr>
              <a:t>We will understand the Various protocols in Application layer</a:t>
            </a:r>
          </a:p>
          <a:p>
            <a:pPr marL="431800" indent="-342900">
              <a:spcAft>
                <a:spcPts val="1680"/>
              </a:spcAft>
              <a:buFont typeface="Arial" panose="020B0604020202020204" pitchFamily="34" charset="0"/>
              <a:buChar char="•"/>
            </a:pPr>
            <a:r>
              <a:rPr lang="en-US" sz="2200" dirty="0">
                <a:latin typeface="Calibri"/>
              </a:rPr>
              <a:t>How various services are provided</a:t>
            </a:r>
          </a:p>
          <a:p>
            <a:pPr marL="88900" indent="0">
              <a:spcAft>
                <a:spcPts val="1680"/>
              </a:spcAft>
            </a:pPr>
            <a:endParaRPr lang="en-US" sz="2200" dirty="0">
              <a:latin typeface="Calibri"/>
            </a:endParaRPr>
          </a:p>
          <a:p>
            <a:pPr marL="88900" indent="0">
              <a:spcAft>
                <a:spcPts val="1680"/>
              </a:spcAft>
            </a:pPr>
            <a:r>
              <a:rPr lang="en-US" sz="2200" dirty="0">
                <a:latin typeface="Calibri"/>
              </a:rPr>
              <a:t>Recap of Previous Topic</a:t>
            </a:r>
          </a:p>
          <a:p>
            <a:pPr marL="431800" indent="-342900">
              <a:spcAft>
                <a:spcPts val="1680"/>
              </a:spcAft>
              <a:buFont typeface="Arial" panose="020B0604020202020204" pitchFamily="34" charset="0"/>
              <a:buChar char="•"/>
            </a:pPr>
            <a:r>
              <a:rPr lang="en-US" sz="2200" dirty="0">
                <a:latin typeface="Calibri"/>
              </a:rPr>
              <a:t>Application Layer</a:t>
            </a:r>
          </a:p>
          <a:p>
            <a:pPr marL="431800" indent="-342900">
              <a:spcAft>
                <a:spcPts val="1680"/>
              </a:spcAft>
              <a:buFont typeface="Arial" panose="020B0604020202020204" pitchFamily="34" charset="0"/>
              <a:buChar char="•"/>
            </a:pPr>
            <a:r>
              <a:rPr lang="en-US" sz="2200" dirty="0">
                <a:latin typeface="Calibri"/>
              </a:rPr>
              <a:t>Functions of the Application layer</a:t>
            </a:r>
          </a:p>
        </p:txBody>
      </p:sp>
      <p:sp>
        <p:nvSpPr>
          <p:cNvPr id="4" name="Date Placeholder 3"/>
          <p:cNvSpPr>
            <a:spLocks noGrp="1"/>
          </p:cNvSpPr>
          <p:nvPr>
            <p:ph type="dt" sz="half" idx="10"/>
          </p:nvPr>
        </p:nvSpPr>
        <p:spPr/>
        <p:txBody>
          <a:bodyPr/>
          <a:lstStyle/>
          <a:p>
            <a:fld id="{17BD5499-4E1A-4B36-8CCD-590B162ADD06}"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70</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Topic Objective &amp; recap of previous Topic</a:t>
            </a:r>
          </a:p>
        </p:txBody>
      </p:sp>
    </p:spTree>
    <p:extLst>
      <p:ext uri="{BB962C8B-B14F-4D97-AF65-F5344CB8AC3E}">
        <p14:creationId xmlns:p14="http://schemas.microsoft.com/office/powerpoint/2010/main" val="39255106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984504"/>
            <a:ext cx="3157728" cy="228600"/>
          </a:xfrm>
          <a:prstGeom prst="rect">
            <a:avLst/>
          </a:prstGeom>
        </p:spPr>
        <p:txBody>
          <a:bodyPr wrap="none" lIns="0" tIns="0" rIns="0" bIns="0">
            <a:noAutofit/>
          </a:bodyPr>
          <a:lstStyle/>
          <a:p>
            <a:pPr indent="0"/>
            <a:endParaRPr lang="en-US" sz="2300" b="1" dirty="0">
              <a:latin typeface="Calibri"/>
            </a:endParaRPr>
          </a:p>
        </p:txBody>
      </p:sp>
      <p:sp>
        <p:nvSpPr>
          <p:cNvPr id="3" name="Rectangle 2"/>
          <p:cNvSpPr/>
          <p:nvPr/>
        </p:nvSpPr>
        <p:spPr>
          <a:xfrm>
            <a:off x="451104" y="1389888"/>
            <a:ext cx="9168384" cy="5361432"/>
          </a:xfrm>
          <a:prstGeom prst="rect">
            <a:avLst/>
          </a:prstGeom>
        </p:spPr>
        <p:txBody>
          <a:bodyPr lIns="0" tIns="0" rIns="0" bIns="0">
            <a:noAutofit/>
          </a:bodyPr>
          <a:lstStyle/>
          <a:p>
            <a:pPr marL="88900" indent="0" algn="ctr">
              <a:spcAft>
                <a:spcPts val="1680"/>
              </a:spcAft>
            </a:pPr>
            <a:r>
              <a:rPr lang="en-US" sz="2200" b="1" dirty="0">
                <a:latin typeface="Calibri"/>
              </a:rPr>
              <a:t>DNS</a:t>
            </a:r>
          </a:p>
          <a:p>
            <a:pPr indent="0" algn="just">
              <a:lnSpc>
                <a:spcPts val="2832"/>
              </a:lnSpc>
              <a:spcAft>
                <a:spcPts val="840"/>
              </a:spcAft>
            </a:pPr>
            <a:r>
              <a:rPr lang="en-US" sz="2200" dirty="0">
                <a:latin typeface="Calibri"/>
              </a:rPr>
              <a:t>An application layer protocol defines how the application processes running on different systems, pass the messages to each other.</a:t>
            </a:r>
          </a:p>
          <a:p>
            <a:pPr marL="723900" indent="-241300" algn="just">
              <a:spcAft>
                <a:spcPts val="840"/>
              </a:spcAft>
            </a:pPr>
            <a:r>
              <a:rPr lang="en-US" sz="2200" dirty="0">
                <a:latin typeface="Calibri"/>
              </a:rPr>
              <a:t>•    DNS stands for Domain Name System.</a:t>
            </a:r>
          </a:p>
          <a:p>
            <a:pPr marL="723900" indent="-241300" algn="just">
              <a:lnSpc>
                <a:spcPts val="2784"/>
              </a:lnSpc>
            </a:pPr>
            <a:r>
              <a:rPr lang="en-US" sz="2200" dirty="0">
                <a:latin typeface="Calibri"/>
              </a:rPr>
              <a:t>•    DNS is a directory service that provides a mapping between the name of a host on the network and its numerical address.</a:t>
            </a:r>
          </a:p>
          <a:p>
            <a:pPr marL="723900" indent="-241300" algn="just">
              <a:spcAft>
                <a:spcPts val="840"/>
              </a:spcAft>
            </a:pPr>
            <a:r>
              <a:rPr lang="en-US" sz="2200" dirty="0">
                <a:latin typeface="Calibri"/>
              </a:rPr>
              <a:t>•    DNS is required for the functioning of the internet.</a:t>
            </a:r>
          </a:p>
          <a:p>
            <a:pPr marL="723900" indent="-241300" algn="just">
              <a:lnSpc>
                <a:spcPts val="2808"/>
              </a:lnSpc>
            </a:pPr>
            <a:r>
              <a:rPr lang="en-US" sz="2200" dirty="0">
                <a:latin typeface="Calibri"/>
              </a:rPr>
              <a:t>•    Each node in a tree has a domain name, and a full domain name is a sequence of symbols specified by dots.</a:t>
            </a:r>
          </a:p>
          <a:p>
            <a:pPr marL="723900" indent="-241300" algn="just">
              <a:lnSpc>
                <a:spcPts val="2832"/>
              </a:lnSpc>
            </a:pPr>
            <a:r>
              <a:rPr lang="en-US" sz="2200" dirty="0">
                <a:latin typeface="Calibri"/>
              </a:rPr>
              <a:t>•    DNS is a service that translates the domain name into IP addresses. This allows the users of networks to utilize user-friendly names when looking for other hosts instead of remembering the IP addresses.</a:t>
            </a:r>
          </a:p>
          <a:p>
            <a:pPr marL="723900" indent="-241300" algn="just">
              <a:lnSpc>
                <a:spcPts val="2832"/>
              </a:lnSpc>
            </a:pPr>
            <a:r>
              <a:rPr lang="en-US" sz="2200" dirty="0">
                <a:latin typeface="Calibri"/>
              </a:rPr>
              <a:t>•    For example, suppose the FTP site at </a:t>
            </a:r>
            <a:r>
              <a:rPr lang="en-US" sz="2200" dirty="0" err="1">
                <a:latin typeface="Calibri"/>
              </a:rPr>
              <a:t>EduSoft</a:t>
            </a:r>
            <a:r>
              <a:rPr lang="en-US" sz="2200" dirty="0">
                <a:latin typeface="Calibri"/>
              </a:rPr>
              <a:t> had an IP address of 132.147.165.50, most people would reach this site by specifying</a:t>
            </a:r>
          </a:p>
        </p:txBody>
      </p:sp>
      <p:sp>
        <p:nvSpPr>
          <p:cNvPr id="4" name="Date Placeholder 3"/>
          <p:cNvSpPr>
            <a:spLocks noGrp="1"/>
          </p:cNvSpPr>
          <p:nvPr>
            <p:ph type="dt" sz="half" idx="10"/>
          </p:nvPr>
        </p:nvSpPr>
        <p:spPr/>
        <p:txBody>
          <a:bodyPr/>
          <a:lstStyle/>
          <a:p>
            <a:fld id="{D18052A4-E593-4B13-94D0-0FA526C231D9}"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71</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 (CO3)</a:t>
            </a:r>
          </a:p>
        </p:txBody>
      </p:sp>
    </p:spTree>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3168" y="3432048"/>
            <a:ext cx="8004048" cy="3736848"/>
          </a:xfrm>
          <a:prstGeom prst="rect">
            <a:avLst/>
          </a:prstGeom>
        </p:spPr>
      </p:pic>
      <p:sp>
        <p:nvSpPr>
          <p:cNvPr id="3" name="Rectangle 2"/>
          <p:cNvSpPr/>
          <p:nvPr/>
        </p:nvSpPr>
        <p:spPr>
          <a:xfrm>
            <a:off x="274320" y="972312"/>
            <a:ext cx="9329928" cy="1847088"/>
          </a:xfrm>
          <a:prstGeom prst="rect">
            <a:avLst/>
          </a:prstGeom>
        </p:spPr>
        <p:txBody>
          <a:bodyPr lIns="0" tIns="0" rIns="0" bIns="0">
            <a:noAutofit/>
          </a:bodyPr>
          <a:lstStyle/>
          <a:p>
            <a:pPr marL="889000" indent="0" algn="just">
              <a:lnSpc>
                <a:spcPts val="2856"/>
              </a:lnSpc>
              <a:spcAft>
                <a:spcPts val="840"/>
              </a:spcAft>
            </a:pPr>
            <a:r>
              <a:rPr lang="en-US" sz="2200" dirty="0">
                <a:latin typeface="Calibri"/>
              </a:rPr>
              <a:t>ftp.EduSoft.com. Therefore, the domain name is more reliable than IP address.</a:t>
            </a:r>
          </a:p>
          <a:p>
            <a:pPr indent="0" algn="just">
              <a:lnSpc>
                <a:spcPts val="2808"/>
              </a:lnSpc>
              <a:spcAft>
                <a:spcPts val="3360"/>
              </a:spcAft>
            </a:pPr>
            <a:r>
              <a:rPr lang="en-US" sz="2200" dirty="0">
                <a:latin typeface="Calibri"/>
              </a:rPr>
              <a:t>DNS is a TCP/IP protocol used on different platforms. The domain name space is divided into three different sections: generic domains, country domains, and inverse domain.</a:t>
            </a:r>
          </a:p>
        </p:txBody>
      </p:sp>
      <p:sp>
        <p:nvSpPr>
          <p:cNvPr id="4" name="Date Placeholder 3"/>
          <p:cNvSpPr>
            <a:spLocks noGrp="1"/>
          </p:cNvSpPr>
          <p:nvPr>
            <p:ph type="dt" sz="half" idx="10"/>
          </p:nvPr>
        </p:nvSpPr>
        <p:spPr/>
        <p:txBody>
          <a:bodyPr/>
          <a:lstStyle/>
          <a:p>
            <a:fld id="{958D664C-1D69-4886-99D3-6FE1F0AEA90B}"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72</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32430786"/>
              </p:ext>
            </p:extLst>
          </p:nvPr>
        </p:nvGraphicFramePr>
        <p:xfrm>
          <a:off x="963168" y="708882"/>
          <a:ext cx="7132043" cy="6565309"/>
        </p:xfrm>
        <a:graphic>
          <a:graphicData uri="http://schemas.openxmlformats.org/drawingml/2006/table">
            <a:tbl>
              <a:tblPr/>
              <a:tblGrid>
                <a:gridCol w="1279097">
                  <a:extLst>
                    <a:ext uri="{9D8B030D-6E8A-4147-A177-3AD203B41FA5}">
                      <a16:colId xmlns:a16="http://schemas.microsoft.com/office/drawing/2014/main" val="20000"/>
                    </a:ext>
                  </a:extLst>
                </a:gridCol>
                <a:gridCol w="5852946">
                  <a:extLst>
                    <a:ext uri="{9D8B030D-6E8A-4147-A177-3AD203B41FA5}">
                      <a16:colId xmlns:a16="http://schemas.microsoft.com/office/drawing/2014/main" val="20001"/>
                    </a:ext>
                  </a:extLst>
                </a:gridCol>
              </a:tblGrid>
              <a:tr h="391205">
                <a:tc>
                  <a:txBody>
                    <a:bodyPr/>
                    <a:lstStyle/>
                    <a:p>
                      <a:pPr indent="0"/>
                      <a:r>
                        <a:rPr lang="en-US" sz="2200" b="1">
                          <a:latin typeface="Calibri"/>
                        </a:rPr>
                        <a:t>Label</a:t>
                      </a:r>
                    </a:p>
                  </a:txBody>
                  <a:tcPr marL="0" marR="0" marT="0" marB="0"/>
                </a:tc>
                <a:tc>
                  <a:txBody>
                    <a:bodyPr/>
                    <a:lstStyle/>
                    <a:p>
                      <a:pPr indent="0"/>
                      <a:r>
                        <a:rPr lang="en-US" sz="2200" b="1" dirty="0">
                          <a:latin typeface="Calibri"/>
                        </a:rPr>
                        <a:t>Description</a:t>
                      </a:r>
                    </a:p>
                  </a:txBody>
                  <a:tcPr marL="0" marR="0" marT="0" marB="0"/>
                </a:tc>
                <a:extLst>
                  <a:ext uri="{0D108BD9-81ED-4DB2-BD59-A6C34878D82A}">
                    <a16:rowId xmlns:a16="http://schemas.microsoft.com/office/drawing/2014/main" val="10000"/>
                  </a:ext>
                </a:extLst>
              </a:tr>
              <a:tr h="466922">
                <a:tc>
                  <a:txBody>
                    <a:bodyPr/>
                    <a:lstStyle/>
                    <a:p>
                      <a:pPr indent="0"/>
                      <a:r>
                        <a:rPr lang="en-US" sz="2200">
                          <a:latin typeface="Calibri"/>
                        </a:rPr>
                        <a:t>aero</a:t>
                      </a:r>
                    </a:p>
                  </a:txBody>
                  <a:tcPr marL="0" marR="0" marT="0" marB="0" anchor="b"/>
                </a:tc>
                <a:tc>
                  <a:txBody>
                    <a:bodyPr/>
                    <a:lstStyle/>
                    <a:p>
                      <a:pPr indent="0"/>
                      <a:r>
                        <a:rPr lang="en-US" sz="2200" dirty="0">
                          <a:latin typeface="Calibri"/>
                        </a:rPr>
                        <a:t>Airlines and aerospace companies</a:t>
                      </a:r>
                    </a:p>
                  </a:txBody>
                  <a:tcPr marL="0" marR="0" marT="0" marB="0" anchor="b"/>
                </a:tc>
                <a:extLst>
                  <a:ext uri="{0D108BD9-81ED-4DB2-BD59-A6C34878D82A}">
                    <a16:rowId xmlns:a16="http://schemas.microsoft.com/office/drawing/2014/main" val="10001"/>
                  </a:ext>
                </a:extLst>
              </a:tr>
              <a:tr h="454303">
                <a:tc>
                  <a:txBody>
                    <a:bodyPr/>
                    <a:lstStyle/>
                    <a:p>
                      <a:pPr indent="0"/>
                      <a:r>
                        <a:rPr lang="en-US" sz="2200">
                          <a:latin typeface="Calibri"/>
                        </a:rPr>
                        <a:t>biz</a:t>
                      </a:r>
                    </a:p>
                  </a:txBody>
                  <a:tcPr marL="0" marR="0" marT="0" marB="0"/>
                </a:tc>
                <a:tc>
                  <a:txBody>
                    <a:bodyPr/>
                    <a:lstStyle/>
                    <a:p>
                      <a:pPr indent="0"/>
                      <a:r>
                        <a:rPr lang="en-US" sz="2200">
                          <a:latin typeface="Calibri"/>
                        </a:rPr>
                        <a:t>Businesses or firms</a:t>
                      </a:r>
                    </a:p>
                  </a:txBody>
                  <a:tcPr marL="0" marR="0" marT="0" marB="0"/>
                </a:tc>
                <a:extLst>
                  <a:ext uri="{0D108BD9-81ED-4DB2-BD59-A6C34878D82A}">
                    <a16:rowId xmlns:a16="http://schemas.microsoft.com/office/drawing/2014/main" val="10002"/>
                  </a:ext>
                </a:extLst>
              </a:tr>
              <a:tr h="492161">
                <a:tc>
                  <a:txBody>
                    <a:bodyPr/>
                    <a:lstStyle/>
                    <a:p>
                      <a:pPr indent="0"/>
                      <a:r>
                        <a:rPr lang="en-US" sz="2200">
                          <a:latin typeface="Calibri"/>
                        </a:rPr>
                        <a:t>com</a:t>
                      </a:r>
                    </a:p>
                  </a:txBody>
                  <a:tcPr marL="0" marR="0" marT="0" marB="0" anchor="b"/>
                </a:tc>
                <a:tc>
                  <a:txBody>
                    <a:bodyPr/>
                    <a:lstStyle/>
                    <a:p>
                      <a:pPr indent="0"/>
                      <a:r>
                        <a:rPr lang="en-US" sz="2200">
                          <a:latin typeface="Calibri"/>
                        </a:rPr>
                        <a:t>Commercial Organizations</a:t>
                      </a:r>
                    </a:p>
                  </a:txBody>
                  <a:tcPr marL="0" marR="0" marT="0" marB="0" anchor="b"/>
                </a:tc>
                <a:extLst>
                  <a:ext uri="{0D108BD9-81ED-4DB2-BD59-A6C34878D82A}">
                    <a16:rowId xmlns:a16="http://schemas.microsoft.com/office/drawing/2014/main" val="10003"/>
                  </a:ext>
                </a:extLst>
              </a:tr>
              <a:tr h="476387">
                <a:tc>
                  <a:txBody>
                    <a:bodyPr/>
                    <a:lstStyle/>
                    <a:p>
                      <a:pPr indent="0"/>
                      <a:r>
                        <a:rPr lang="en-US" sz="2200">
                          <a:latin typeface="Calibri"/>
                        </a:rPr>
                        <a:t>coop</a:t>
                      </a:r>
                    </a:p>
                  </a:txBody>
                  <a:tcPr marL="0" marR="0" marT="0" marB="0" anchor="b"/>
                </a:tc>
                <a:tc>
                  <a:txBody>
                    <a:bodyPr/>
                    <a:lstStyle/>
                    <a:p>
                      <a:pPr indent="0"/>
                      <a:r>
                        <a:rPr lang="en-US" sz="2200">
                          <a:latin typeface="Calibri"/>
                        </a:rPr>
                        <a:t>Cooperative business Organizations</a:t>
                      </a:r>
                    </a:p>
                  </a:txBody>
                  <a:tcPr marL="0" marR="0" marT="0" marB="0" anchor="b"/>
                </a:tc>
                <a:extLst>
                  <a:ext uri="{0D108BD9-81ED-4DB2-BD59-A6C34878D82A}">
                    <a16:rowId xmlns:a16="http://schemas.microsoft.com/office/drawing/2014/main" val="10004"/>
                  </a:ext>
                </a:extLst>
              </a:tr>
              <a:tr h="457458">
                <a:tc>
                  <a:txBody>
                    <a:bodyPr/>
                    <a:lstStyle/>
                    <a:p>
                      <a:pPr indent="0"/>
                      <a:r>
                        <a:rPr lang="en-US" sz="2200">
                          <a:latin typeface="Calibri"/>
                        </a:rPr>
                        <a:t>edu</a:t>
                      </a:r>
                    </a:p>
                  </a:txBody>
                  <a:tcPr marL="0" marR="0" marT="0" marB="0"/>
                </a:tc>
                <a:tc>
                  <a:txBody>
                    <a:bodyPr/>
                    <a:lstStyle/>
                    <a:p>
                      <a:pPr indent="0"/>
                      <a:r>
                        <a:rPr lang="en-US" sz="2200">
                          <a:latin typeface="Calibri"/>
                        </a:rPr>
                        <a:t>Educational institutions</a:t>
                      </a:r>
                    </a:p>
                  </a:txBody>
                  <a:tcPr marL="0" marR="0" marT="0" marB="0"/>
                </a:tc>
                <a:extLst>
                  <a:ext uri="{0D108BD9-81ED-4DB2-BD59-A6C34878D82A}">
                    <a16:rowId xmlns:a16="http://schemas.microsoft.com/office/drawing/2014/main" val="10005"/>
                  </a:ext>
                </a:extLst>
              </a:tr>
              <a:tr h="470077">
                <a:tc>
                  <a:txBody>
                    <a:bodyPr/>
                    <a:lstStyle/>
                    <a:p>
                      <a:pPr indent="0"/>
                      <a:r>
                        <a:rPr lang="en-US" sz="2200">
                          <a:latin typeface="Calibri"/>
                        </a:rPr>
                        <a:t>gov</a:t>
                      </a:r>
                    </a:p>
                  </a:txBody>
                  <a:tcPr marL="0" marR="0" marT="0" marB="0" anchor="b"/>
                </a:tc>
                <a:tc>
                  <a:txBody>
                    <a:bodyPr/>
                    <a:lstStyle/>
                    <a:p>
                      <a:pPr indent="0"/>
                      <a:r>
                        <a:rPr lang="en-US" sz="2200">
                          <a:latin typeface="Calibri"/>
                        </a:rPr>
                        <a:t>Government institutions</a:t>
                      </a:r>
                    </a:p>
                  </a:txBody>
                  <a:tcPr marL="0" marR="0" marT="0" marB="0" anchor="b"/>
                </a:tc>
                <a:extLst>
                  <a:ext uri="{0D108BD9-81ED-4DB2-BD59-A6C34878D82A}">
                    <a16:rowId xmlns:a16="http://schemas.microsoft.com/office/drawing/2014/main" val="10006"/>
                  </a:ext>
                </a:extLst>
              </a:tr>
              <a:tr h="482697">
                <a:tc>
                  <a:txBody>
                    <a:bodyPr/>
                    <a:lstStyle/>
                    <a:p>
                      <a:pPr indent="0"/>
                      <a:r>
                        <a:rPr lang="en-US" sz="2200">
                          <a:latin typeface="Calibri"/>
                        </a:rPr>
                        <a:t>info</a:t>
                      </a:r>
                    </a:p>
                  </a:txBody>
                  <a:tcPr marL="0" marR="0" marT="0" marB="0" anchor="b"/>
                </a:tc>
                <a:tc>
                  <a:txBody>
                    <a:bodyPr/>
                    <a:lstStyle/>
                    <a:p>
                      <a:pPr indent="0"/>
                      <a:r>
                        <a:rPr lang="en-US" sz="2200">
                          <a:latin typeface="Calibri"/>
                        </a:rPr>
                        <a:t>Information service providers</a:t>
                      </a:r>
                    </a:p>
                  </a:txBody>
                  <a:tcPr marL="0" marR="0" marT="0" marB="0" anchor="b"/>
                </a:tc>
                <a:extLst>
                  <a:ext uri="{0D108BD9-81ED-4DB2-BD59-A6C34878D82A}">
                    <a16:rowId xmlns:a16="http://schemas.microsoft.com/office/drawing/2014/main" val="10007"/>
                  </a:ext>
                </a:extLst>
              </a:tr>
              <a:tr h="482697">
                <a:tc>
                  <a:txBody>
                    <a:bodyPr/>
                    <a:lstStyle/>
                    <a:p>
                      <a:pPr indent="0"/>
                      <a:r>
                        <a:rPr lang="en-US" sz="2200">
                          <a:latin typeface="Calibri"/>
                        </a:rPr>
                        <a:t>int</a:t>
                      </a:r>
                    </a:p>
                  </a:txBody>
                  <a:tcPr marL="0" marR="0" marT="0" marB="0" anchor="b"/>
                </a:tc>
                <a:tc>
                  <a:txBody>
                    <a:bodyPr/>
                    <a:lstStyle/>
                    <a:p>
                      <a:pPr indent="0"/>
                      <a:r>
                        <a:rPr lang="en-US" sz="2200">
                          <a:latin typeface="Calibri"/>
                        </a:rPr>
                        <a:t>International Organizations</a:t>
                      </a:r>
                    </a:p>
                  </a:txBody>
                  <a:tcPr marL="0" marR="0" marT="0" marB="0" anchor="b"/>
                </a:tc>
                <a:extLst>
                  <a:ext uri="{0D108BD9-81ED-4DB2-BD59-A6C34878D82A}">
                    <a16:rowId xmlns:a16="http://schemas.microsoft.com/office/drawing/2014/main" val="10008"/>
                  </a:ext>
                </a:extLst>
              </a:tr>
              <a:tr h="482697">
                <a:tc>
                  <a:txBody>
                    <a:bodyPr/>
                    <a:lstStyle/>
                    <a:p>
                      <a:pPr indent="0"/>
                      <a:r>
                        <a:rPr lang="en-US" sz="2200">
                          <a:latin typeface="Calibri"/>
                        </a:rPr>
                        <a:t>mil</a:t>
                      </a:r>
                    </a:p>
                  </a:txBody>
                  <a:tcPr marL="0" marR="0" marT="0" marB="0"/>
                </a:tc>
                <a:tc>
                  <a:txBody>
                    <a:bodyPr/>
                    <a:lstStyle/>
                    <a:p>
                      <a:pPr indent="0"/>
                      <a:r>
                        <a:rPr lang="en-US" sz="2200" dirty="0">
                          <a:latin typeface="Calibri"/>
                        </a:rPr>
                        <a:t>Military groups</a:t>
                      </a:r>
                    </a:p>
                  </a:txBody>
                  <a:tcPr marL="0" marR="0" marT="0" marB="0"/>
                </a:tc>
                <a:extLst>
                  <a:ext uri="{0D108BD9-81ED-4DB2-BD59-A6C34878D82A}">
                    <a16:rowId xmlns:a16="http://schemas.microsoft.com/office/drawing/2014/main" val="10009"/>
                  </a:ext>
                </a:extLst>
              </a:tr>
              <a:tr h="381741">
                <a:tc>
                  <a:txBody>
                    <a:bodyPr/>
                    <a:lstStyle/>
                    <a:p>
                      <a:pPr indent="0"/>
                      <a:r>
                        <a:rPr lang="en-US" sz="2200">
                          <a:latin typeface="Calibri"/>
                        </a:rPr>
                        <a:t>museum</a:t>
                      </a:r>
                    </a:p>
                  </a:txBody>
                  <a:tcPr marL="0" marR="0" marT="0" marB="0" anchor="b"/>
                </a:tc>
                <a:tc>
                  <a:txBody>
                    <a:bodyPr/>
                    <a:lstStyle/>
                    <a:p>
                      <a:pPr indent="0"/>
                      <a:r>
                        <a:rPr lang="en-US" sz="2200" dirty="0">
                          <a:latin typeface="Calibri"/>
                        </a:rPr>
                        <a:t>Museum &amp; other nonprofit organizations</a:t>
                      </a:r>
                    </a:p>
                  </a:txBody>
                  <a:tcPr marL="0" marR="0" marT="0" marB="0" anchor="b"/>
                </a:tc>
                <a:extLst>
                  <a:ext uri="{0D108BD9-81ED-4DB2-BD59-A6C34878D82A}">
                    <a16:rowId xmlns:a16="http://schemas.microsoft.com/office/drawing/2014/main" val="10010"/>
                  </a:ext>
                </a:extLst>
              </a:tr>
              <a:tr h="381741">
                <a:tc>
                  <a:txBody>
                    <a:bodyPr/>
                    <a:lstStyle/>
                    <a:p>
                      <a:pPr indent="0"/>
                      <a:r>
                        <a:rPr lang="en-US" sz="2200" dirty="0">
                          <a:latin typeface="+mn-lt"/>
                        </a:rPr>
                        <a:t>name</a:t>
                      </a:r>
                      <a:endParaRPr lang="en-US" sz="2200" dirty="0">
                        <a:latin typeface="Calibri"/>
                      </a:endParaRPr>
                    </a:p>
                  </a:txBody>
                  <a:tcPr marL="0" marR="0" marT="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Personal names</a:t>
                      </a:r>
                    </a:p>
                  </a:txBody>
                  <a:tcPr marL="0" marR="0" marT="0" marB="0" anchor="b"/>
                </a:tc>
                <a:extLst>
                  <a:ext uri="{0D108BD9-81ED-4DB2-BD59-A6C34878D82A}">
                    <a16:rowId xmlns:a16="http://schemas.microsoft.com/office/drawing/2014/main" val="3636680981"/>
                  </a:ext>
                </a:extLst>
              </a:tr>
              <a:tr h="381741">
                <a:tc>
                  <a:txBody>
                    <a:bodyPr/>
                    <a:lstStyle/>
                    <a:p>
                      <a:pPr indent="0"/>
                      <a:r>
                        <a:rPr lang="en-US" sz="2200" dirty="0">
                          <a:latin typeface="+mn-lt"/>
                        </a:rPr>
                        <a:t>net</a:t>
                      </a:r>
                      <a:endParaRPr lang="en-US" sz="2200" dirty="0">
                        <a:latin typeface="Calibri"/>
                      </a:endParaRPr>
                    </a:p>
                  </a:txBody>
                  <a:tcPr marL="0" marR="0" marT="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Network Support centers</a:t>
                      </a:r>
                    </a:p>
                  </a:txBody>
                  <a:tcPr marL="0" marR="0" marT="0" marB="0" anchor="b"/>
                </a:tc>
                <a:extLst>
                  <a:ext uri="{0D108BD9-81ED-4DB2-BD59-A6C34878D82A}">
                    <a16:rowId xmlns:a16="http://schemas.microsoft.com/office/drawing/2014/main" val="3802054909"/>
                  </a:ext>
                </a:extLst>
              </a:tr>
              <a:tr h="381741">
                <a:tc>
                  <a:txBody>
                    <a:bodyPr/>
                    <a:lstStyle/>
                    <a:p>
                      <a:pPr indent="0"/>
                      <a:r>
                        <a:rPr lang="en-US" sz="2200" dirty="0">
                          <a:latin typeface="+mn-lt"/>
                        </a:rPr>
                        <a:t>org</a:t>
                      </a:r>
                      <a:endParaRPr lang="en-US" sz="2200" dirty="0">
                        <a:latin typeface="Calibri"/>
                      </a:endParaRPr>
                    </a:p>
                  </a:txBody>
                  <a:tcPr marL="0" marR="0" marT="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Nonprofit Organizations</a:t>
                      </a:r>
                    </a:p>
                  </a:txBody>
                  <a:tcPr marL="0" marR="0" marT="0" marB="0" anchor="b"/>
                </a:tc>
                <a:extLst>
                  <a:ext uri="{0D108BD9-81ED-4DB2-BD59-A6C34878D82A}">
                    <a16:rowId xmlns:a16="http://schemas.microsoft.com/office/drawing/2014/main" val="420028930"/>
                  </a:ext>
                </a:extLst>
              </a:tr>
              <a:tr h="381741">
                <a:tc>
                  <a:txBody>
                    <a:bodyPr/>
                    <a:lstStyle/>
                    <a:p>
                      <a:pPr indent="0"/>
                      <a:r>
                        <a:rPr lang="en-US" sz="2200" dirty="0">
                          <a:latin typeface="+mn-lt"/>
                        </a:rPr>
                        <a:t>pro</a:t>
                      </a:r>
                      <a:endParaRPr lang="en-US" sz="2200" dirty="0">
                        <a:latin typeface="Calibri"/>
                      </a:endParaRPr>
                    </a:p>
                  </a:txBody>
                  <a:tcPr marL="0" marR="0" marT="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Professional individual Organizations</a:t>
                      </a:r>
                    </a:p>
                  </a:txBody>
                  <a:tcPr marL="0" marR="0" marT="0" marB="0" anchor="b"/>
                </a:tc>
                <a:extLst>
                  <a:ext uri="{0D108BD9-81ED-4DB2-BD59-A6C34878D82A}">
                    <a16:rowId xmlns:a16="http://schemas.microsoft.com/office/drawing/2014/main" val="337903451"/>
                  </a:ext>
                </a:extLst>
              </a:tr>
            </a:tbl>
          </a:graphicData>
        </a:graphic>
      </p:graphicFrame>
      <p:sp>
        <p:nvSpPr>
          <p:cNvPr id="3" name="Rectangle 2"/>
          <p:cNvSpPr/>
          <p:nvPr/>
        </p:nvSpPr>
        <p:spPr>
          <a:xfrm>
            <a:off x="963168" y="6473952"/>
            <a:ext cx="4139184" cy="743712"/>
          </a:xfrm>
          <a:prstGeom prst="rect">
            <a:avLst/>
          </a:prstGeom>
        </p:spPr>
        <p:txBody>
          <a:bodyPr lIns="0" tIns="0" rIns="0" bIns="0">
            <a:noAutofit/>
          </a:bodyPr>
          <a:lstStyle/>
          <a:p>
            <a:pPr indent="0" algn="just"/>
            <a:endParaRPr lang="en-US" sz="2200" dirty="0">
              <a:latin typeface="Calibri"/>
            </a:endParaRPr>
          </a:p>
        </p:txBody>
      </p:sp>
      <p:sp>
        <p:nvSpPr>
          <p:cNvPr id="5" name="Date Placeholder 4"/>
          <p:cNvSpPr>
            <a:spLocks noGrp="1"/>
          </p:cNvSpPr>
          <p:nvPr>
            <p:ph type="dt" sz="half" idx="10"/>
          </p:nvPr>
        </p:nvSpPr>
        <p:spPr/>
        <p:txBody>
          <a:bodyPr/>
          <a:lstStyle/>
          <a:p>
            <a:fld id="{2047CEF2-695D-4824-AEEE-01DA6A234070}"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73</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791925" y="787215"/>
            <a:ext cx="8875776" cy="2487168"/>
          </a:xfrm>
          <a:prstGeom prst="rect">
            <a:avLst/>
          </a:prstGeom>
        </p:spPr>
        <p:txBody>
          <a:bodyPr lIns="0" tIns="0" rIns="0" bIns="0">
            <a:noAutofit/>
          </a:bodyPr>
          <a:lstStyle/>
          <a:p>
            <a:pPr marL="247396" indent="0">
              <a:spcBef>
                <a:spcPts val="2310"/>
              </a:spcBef>
              <a:spcAft>
                <a:spcPts val="2940"/>
              </a:spcAft>
            </a:pPr>
            <a:r>
              <a:rPr lang="en-US" sz="2200" b="1" dirty="0">
                <a:latin typeface="Calibri"/>
              </a:rPr>
              <a:t>Generic Domains</a:t>
            </a:r>
          </a:p>
          <a:p>
            <a:pPr indent="0" algn="just">
              <a:lnSpc>
                <a:spcPts val="2856"/>
              </a:lnSpc>
            </a:pPr>
            <a:r>
              <a:rPr lang="en-US" sz="2200" dirty="0">
                <a:latin typeface="Calibri"/>
              </a:rPr>
              <a:t>•    It defines the registered hosts according to their generic behavior.</a:t>
            </a:r>
          </a:p>
          <a:p>
            <a:pPr marL="247396" indent="-228600">
              <a:lnSpc>
                <a:spcPts val="2856"/>
              </a:lnSpc>
            </a:pPr>
            <a:r>
              <a:rPr lang="en-US" sz="2200" dirty="0">
                <a:latin typeface="Calibri"/>
              </a:rPr>
              <a:t>•    Each node in a tree defines the domain name, which is an index to the DNS database.</a:t>
            </a:r>
          </a:p>
          <a:p>
            <a:pPr marL="247396" indent="-228600">
              <a:lnSpc>
                <a:spcPts val="2856"/>
              </a:lnSpc>
            </a:pPr>
            <a:r>
              <a:rPr lang="en-US" sz="2200" dirty="0">
                <a:latin typeface="Calibri"/>
              </a:rPr>
              <a:t>•    It uses three-character labels, and these labels describe the organization type.</a:t>
            </a:r>
          </a:p>
        </p:txBody>
      </p:sp>
      <p:sp>
        <p:nvSpPr>
          <p:cNvPr id="5" name="Date Placeholder 4"/>
          <p:cNvSpPr>
            <a:spLocks noGrp="1"/>
          </p:cNvSpPr>
          <p:nvPr>
            <p:ph type="dt" sz="half" idx="10"/>
          </p:nvPr>
        </p:nvSpPr>
        <p:spPr/>
        <p:txBody>
          <a:bodyPr/>
          <a:lstStyle/>
          <a:p>
            <a:fld id="{393D437F-C5F0-43AC-A050-3DBF54653A85}"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74</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60320" y="914400"/>
            <a:ext cx="4389120" cy="6120256"/>
          </a:xfrm>
          <a:prstGeom prst="rect">
            <a:avLst/>
          </a:prstGeom>
        </p:spPr>
      </p:pic>
      <p:sp>
        <p:nvSpPr>
          <p:cNvPr id="3" name="Date Placeholder 2"/>
          <p:cNvSpPr>
            <a:spLocks noGrp="1"/>
          </p:cNvSpPr>
          <p:nvPr>
            <p:ph type="dt" sz="half" idx="10"/>
          </p:nvPr>
        </p:nvSpPr>
        <p:spPr/>
        <p:txBody>
          <a:bodyPr/>
          <a:lstStyle/>
          <a:p>
            <a:fld id="{D3366FE4-1EDE-4572-BD21-1A838A58E69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75</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8224" y="981456"/>
            <a:ext cx="9339072" cy="1453896"/>
          </a:xfrm>
          <a:prstGeom prst="rect">
            <a:avLst/>
          </a:prstGeom>
        </p:spPr>
        <p:txBody>
          <a:bodyPr lIns="0" tIns="0" rIns="0" bIns="0">
            <a:noAutofit/>
          </a:bodyPr>
          <a:lstStyle/>
          <a:p>
            <a:pPr indent="0">
              <a:spcAft>
                <a:spcPts val="1260"/>
              </a:spcAft>
            </a:pPr>
            <a:r>
              <a:rPr lang="en-US" sz="2200" b="1" dirty="0">
                <a:latin typeface="Calibri"/>
              </a:rPr>
              <a:t>Country Domain</a:t>
            </a:r>
          </a:p>
          <a:p>
            <a:pPr indent="469900" algn="just">
              <a:lnSpc>
                <a:spcPts val="2808"/>
              </a:lnSpc>
              <a:spcAft>
                <a:spcPts val="2940"/>
              </a:spcAft>
            </a:pPr>
            <a:r>
              <a:rPr lang="en-US" sz="2200" dirty="0">
                <a:latin typeface="Calibri"/>
              </a:rPr>
              <a:t>The format of country domain is same as a generic domain, but it uses two-character country abbreviations (e.g., us for the United States) in place of three character organizational abbreviations.</a:t>
            </a:r>
          </a:p>
        </p:txBody>
      </p:sp>
      <p:sp>
        <p:nvSpPr>
          <p:cNvPr id="3" name="Rectangle 2"/>
          <p:cNvSpPr/>
          <p:nvPr/>
        </p:nvSpPr>
        <p:spPr>
          <a:xfrm>
            <a:off x="262128" y="3069336"/>
            <a:ext cx="9345168" cy="2115312"/>
          </a:xfrm>
          <a:prstGeom prst="rect">
            <a:avLst/>
          </a:prstGeom>
        </p:spPr>
        <p:txBody>
          <a:bodyPr lIns="0" tIns="0" rIns="0" bIns="0">
            <a:noAutofit/>
          </a:bodyPr>
          <a:lstStyle/>
          <a:p>
            <a:pPr indent="0">
              <a:spcBef>
                <a:spcPts val="2940"/>
              </a:spcBef>
              <a:spcAft>
                <a:spcPts val="1260"/>
              </a:spcAft>
            </a:pPr>
            <a:r>
              <a:rPr lang="en-US" sz="2200" b="1" dirty="0">
                <a:latin typeface="Calibri"/>
              </a:rPr>
              <a:t>Inverse Domain</a:t>
            </a:r>
          </a:p>
          <a:p>
            <a:pPr indent="469900" algn="just">
              <a:lnSpc>
                <a:spcPts val="2808"/>
              </a:lnSpc>
            </a:pPr>
            <a:r>
              <a:rPr lang="en-US" sz="2200" dirty="0">
                <a:latin typeface="Calibri"/>
              </a:rPr>
              <a:t>The inverse domain is used for mapping an address to a name. When the server has received a request from the client, and the server contains the files of only authorized clients. To determine whether the client is on the authorized list or not, it sends a query to the DNS server and ask for mapping an address to the name.</a:t>
            </a:r>
          </a:p>
        </p:txBody>
      </p:sp>
      <p:sp>
        <p:nvSpPr>
          <p:cNvPr id="4" name="Date Placeholder 3"/>
          <p:cNvSpPr>
            <a:spLocks noGrp="1"/>
          </p:cNvSpPr>
          <p:nvPr>
            <p:ph type="dt" sz="half" idx="10"/>
          </p:nvPr>
        </p:nvSpPr>
        <p:spPr/>
        <p:txBody>
          <a:bodyPr/>
          <a:lstStyle/>
          <a:p>
            <a:fld id="{3C7C66D9-78A4-4095-82BD-F88640DCEF8C}"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76</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72312"/>
            <a:ext cx="9348216" cy="274320"/>
          </a:xfrm>
          <a:prstGeom prst="rect">
            <a:avLst/>
          </a:prstGeom>
        </p:spPr>
        <p:txBody>
          <a:bodyPr wrap="none" lIns="0" tIns="0" rIns="0" bIns="0">
            <a:noAutofit/>
          </a:bodyPr>
          <a:lstStyle/>
          <a:p>
            <a:pPr indent="0"/>
            <a:r>
              <a:rPr lang="en-US" sz="2300" b="1">
                <a:latin typeface="Calibri"/>
              </a:rPr>
              <a:t>Working of DNS</a:t>
            </a:r>
          </a:p>
        </p:txBody>
      </p:sp>
      <p:sp>
        <p:nvSpPr>
          <p:cNvPr id="3" name="Rectangle 2"/>
          <p:cNvSpPr/>
          <p:nvPr/>
        </p:nvSpPr>
        <p:spPr>
          <a:xfrm>
            <a:off x="262128" y="1484376"/>
            <a:ext cx="9348216" cy="4605528"/>
          </a:xfrm>
          <a:prstGeom prst="rect">
            <a:avLst/>
          </a:prstGeom>
        </p:spPr>
        <p:txBody>
          <a:bodyPr lIns="0" tIns="0" rIns="0" bIns="0">
            <a:noAutofit/>
          </a:bodyPr>
          <a:lstStyle/>
          <a:p>
            <a:pPr marL="711200" indent="-228600" algn="just">
              <a:lnSpc>
                <a:spcPts val="2832"/>
              </a:lnSpc>
            </a:pPr>
            <a:r>
              <a:rPr lang="en-US" sz="2200" dirty="0">
                <a:latin typeface="Calibri"/>
              </a:rPr>
              <a:t>•    DNS is a client/server network communication protocol. DNS clients send requests to the. server while DNS servers send responses to the client.</a:t>
            </a:r>
          </a:p>
          <a:p>
            <a:pPr marL="711200" indent="-228600" algn="just">
              <a:lnSpc>
                <a:spcPts val="2808"/>
              </a:lnSpc>
            </a:pPr>
            <a:r>
              <a:rPr lang="en-US" sz="2200" dirty="0">
                <a:latin typeface="Calibri"/>
              </a:rPr>
              <a:t>•    Client requests contain a name which is converted into an IP address known as a forward DNS lookups while requests containing an IP address which is converted into a name known as reverse DNS lookups.</a:t>
            </a:r>
          </a:p>
          <a:p>
            <a:pPr marL="711200" indent="-228600" algn="just">
              <a:lnSpc>
                <a:spcPts val="2784"/>
              </a:lnSpc>
            </a:pPr>
            <a:r>
              <a:rPr lang="en-US" sz="2200" dirty="0">
                <a:latin typeface="Calibri"/>
              </a:rPr>
              <a:t>•    DNS implements a distributed database to store the name of all the hosts available on the internet.</a:t>
            </a:r>
          </a:p>
          <a:p>
            <a:pPr marL="711200" indent="-228600" algn="just">
              <a:lnSpc>
                <a:spcPts val="2808"/>
              </a:lnSpc>
            </a:pPr>
            <a:r>
              <a:rPr lang="en-US" sz="2200" dirty="0">
                <a:latin typeface="Calibri"/>
              </a:rPr>
              <a:t>•    If a client like a web browser sends a request containing a hostname, then a piece of software such as </a:t>
            </a:r>
            <a:r>
              <a:rPr lang="en-US" sz="2200" b="1" dirty="0">
                <a:latin typeface="Calibri"/>
              </a:rPr>
              <a:t>DNS resolver</a:t>
            </a:r>
            <a:r>
              <a:rPr lang="en-US" sz="2200" dirty="0">
                <a:latin typeface="Calibri"/>
              </a:rPr>
              <a:t> sends a request to the DNS server to obtain the IP address of a hostname. If DNS server does not contain the IP address associated with a hostname, then it forwards the request to another DNS server. If IP address has arrived at the resolver, which in turn completes the request over the internet protocol.</a:t>
            </a:r>
          </a:p>
        </p:txBody>
      </p:sp>
      <p:sp>
        <p:nvSpPr>
          <p:cNvPr id="4" name="Date Placeholder 3"/>
          <p:cNvSpPr>
            <a:spLocks noGrp="1"/>
          </p:cNvSpPr>
          <p:nvPr>
            <p:ph type="dt" sz="half" idx="10"/>
          </p:nvPr>
        </p:nvSpPr>
        <p:spPr/>
        <p:txBody>
          <a:bodyPr/>
          <a:lstStyle/>
          <a:p>
            <a:fld id="{C52BB8D7-46F8-42B9-A278-99B50BF616F1}"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77</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724400" y="987552"/>
            <a:ext cx="441960" cy="222504"/>
          </a:xfrm>
          <a:prstGeom prst="rect">
            <a:avLst/>
          </a:prstGeom>
        </p:spPr>
        <p:txBody>
          <a:bodyPr wrap="none" lIns="0" tIns="0" rIns="0" bIns="0">
            <a:noAutofit/>
          </a:bodyPr>
          <a:lstStyle/>
          <a:p>
            <a:pPr indent="0"/>
            <a:r>
              <a:rPr lang="en-US" sz="2300" b="1">
                <a:latin typeface="Calibri"/>
              </a:rPr>
              <a:t>FTP</a:t>
            </a:r>
          </a:p>
        </p:txBody>
      </p:sp>
      <p:sp>
        <p:nvSpPr>
          <p:cNvPr id="3" name="Rectangle 2"/>
          <p:cNvSpPr/>
          <p:nvPr/>
        </p:nvSpPr>
        <p:spPr>
          <a:xfrm>
            <a:off x="268224" y="1392936"/>
            <a:ext cx="9339072" cy="3852672"/>
          </a:xfrm>
          <a:prstGeom prst="rect">
            <a:avLst/>
          </a:prstGeom>
        </p:spPr>
        <p:txBody>
          <a:bodyPr lIns="0" tIns="0" rIns="0" bIns="0">
            <a:noAutofit/>
          </a:bodyPr>
          <a:lstStyle/>
          <a:p>
            <a:pPr indent="0" algn="just">
              <a:spcAft>
                <a:spcPts val="630"/>
              </a:spcAft>
            </a:pPr>
            <a:r>
              <a:rPr lang="en-US" sz="2200" dirty="0">
                <a:latin typeface="Calibri"/>
              </a:rPr>
              <a:t>•    FTP stands for File transfer protocol.</a:t>
            </a:r>
          </a:p>
          <a:p>
            <a:pPr marL="241300" indent="-241300">
              <a:lnSpc>
                <a:spcPts val="2784"/>
              </a:lnSpc>
            </a:pPr>
            <a:r>
              <a:rPr lang="en-US" sz="2200" dirty="0">
                <a:latin typeface="Calibri"/>
              </a:rPr>
              <a:t>•    FTP is a standard internet protocol provided by TCP/IP used for transmitting the files from one host to another.</a:t>
            </a:r>
          </a:p>
          <a:p>
            <a:pPr marL="241300" indent="-241300">
              <a:lnSpc>
                <a:spcPts val="2808"/>
              </a:lnSpc>
            </a:pPr>
            <a:r>
              <a:rPr lang="en-US" sz="2200" dirty="0">
                <a:latin typeface="Calibri"/>
              </a:rPr>
              <a:t>•    It is mainly used for transferring the web page files from their creator to the computer that acts as a server for other computers on the internet.</a:t>
            </a:r>
          </a:p>
          <a:p>
            <a:pPr indent="0" algn="just">
              <a:spcAft>
                <a:spcPts val="1680"/>
              </a:spcAft>
            </a:pPr>
            <a:r>
              <a:rPr lang="en-US" sz="2200" dirty="0">
                <a:latin typeface="Calibri"/>
              </a:rPr>
              <a:t>•    It is also used for downloading the files to computer from other servers.</a:t>
            </a:r>
          </a:p>
          <a:p>
            <a:pPr indent="0" algn="just">
              <a:spcAft>
                <a:spcPts val="1260"/>
              </a:spcAft>
            </a:pPr>
            <a:r>
              <a:rPr lang="en-US" sz="2200" b="1" dirty="0">
                <a:latin typeface="Calibri"/>
              </a:rPr>
              <a:t>Objectives of FTP</a:t>
            </a:r>
          </a:p>
          <a:p>
            <a:pPr marL="241300" indent="0" algn="just">
              <a:lnSpc>
                <a:spcPts val="2808"/>
              </a:lnSpc>
            </a:pPr>
            <a:r>
              <a:rPr lang="en-US" sz="2200" dirty="0">
                <a:latin typeface="Calibri"/>
              </a:rPr>
              <a:t>•    It provides the sharing of files.</a:t>
            </a:r>
          </a:p>
          <a:p>
            <a:pPr marL="241300" indent="0" algn="just">
              <a:lnSpc>
                <a:spcPts val="2808"/>
              </a:lnSpc>
            </a:pPr>
            <a:r>
              <a:rPr lang="en-US" sz="2200" dirty="0">
                <a:latin typeface="Calibri"/>
              </a:rPr>
              <a:t>•    It is used to encourage the use of remote computers.</a:t>
            </a:r>
          </a:p>
          <a:p>
            <a:pPr marL="241300" indent="0" algn="just">
              <a:lnSpc>
                <a:spcPts val="2808"/>
              </a:lnSpc>
            </a:pPr>
            <a:r>
              <a:rPr lang="en-US" sz="2200" dirty="0">
                <a:latin typeface="Calibri"/>
              </a:rPr>
              <a:t>•    It transfers the data more reliably and efficiently.</a:t>
            </a:r>
          </a:p>
        </p:txBody>
      </p:sp>
      <p:sp>
        <p:nvSpPr>
          <p:cNvPr id="4" name="Date Placeholder 3"/>
          <p:cNvSpPr>
            <a:spLocks noGrp="1"/>
          </p:cNvSpPr>
          <p:nvPr>
            <p:ph type="dt" sz="half" idx="10"/>
          </p:nvPr>
        </p:nvSpPr>
        <p:spPr/>
        <p:txBody>
          <a:bodyPr/>
          <a:lstStyle/>
          <a:p>
            <a:fld id="{57FB3D36-1788-4F7C-8300-B697E7597EA9}"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78</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75360"/>
            <a:ext cx="1213104" cy="286512"/>
          </a:xfrm>
          <a:prstGeom prst="rect">
            <a:avLst/>
          </a:prstGeom>
        </p:spPr>
        <p:txBody>
          <a:bodyPr wrap="none" lIns="0" tIns="0" rIns="0" bIns="0">
            <a:noAutofit/>
          </a:bodyPr>
          <a:lstStyle/>
          <a:p>
            <a:pPr indent="0">
              <a:spcAft>
                <a:spcPts val="1890"/>
              </a:spcAft>
            </a:pPr>
            <a:r>
              <a:rPr lang="en-US" sz="2200" b="1" dirty="0">
                <a:latin typeface="Calibri"/>
              </a:rPr>
              <a:t>Why</a:t>
            </a:r>
            <a:r>
              <a:rPr lang="en-US" sz="2200" dirty="0">
                <a:latin typeface="Calibri"/>
              </a:rPr>
              <a:t> </a:t>
            </a:r>
            <a:r>
              <a:rPr lang="en-US" sz="2200" b="1" dirty="0">
                <a:latin typeface="Calibri"/>
              </a:rPr>
              <a:t>FTP</a:t>
            </a:r>
            <a:r>
              <a:rPr lang="en-US" sz="2200" dirty="0">
                <a:latin typeface="Calibri"/>
              </a:rPr>
              <a:t>?</a:t>
            </a:r>
          </a:p>
        </p:txBody>
      </p:sp>
      <p:sp>
        <p:nvSpPr>
          <p:cNvPr id="3" name="Rectangle 2"/>
          <p:cNvSpPr/>
          <p:nvPr/>
        </p:nvSpPr>
        <p:spPr>
          <a:xfrm>
            <a:off x="265176" y="1536192"/>
            <a:ext cx="9348216" cy="2380488"/>
          </a:xfrm>
          <a:prstGeom prst="rect">
            <a:avLst/>
          </a:prstGeom>
        </p:spPr>
        <p:txBody>
          <a:bodyPr lIns="0" tIns="0" rIns="0" bIns="0">
            <a:noAutofit/>
          </a:bodyPr>
          <a:lstStyle/>
          <a:p>
            <a:pPr indent="469900" algn="just">
              <a:lnSpc>
                <a:spcPts val="2784"/>
              </a:lnSpc>
              <a:spcBef>
                <a:spcPts val="1890"/>
              </a:spcBef>
            </a:pPr>
            <a:r>
              <a:rPr lang="en-US" sz="2200" dirty="0">
                <a:latin typeface="Calibri"/>
              </a:rPr>
              <a:t>Although transferring files from one system to another is very simple and straightforward, but sometimes it can cause problems. For example, two systems may have different file conventions. Two systems may have different ways to represent text and data. Two systems may have different directory structures. FTP protocol overcomes these problems by establishing two connections between hosts. One connection is used for data transfer, and another connection is used for the control connection.</a:t>
            </a:r>
          </a:p>
        </p:txBody>
      </p:sp>
      <p:sp>
        <p:nvSpPr>
          <p:cNvPr id="4" name="Date Placeholder 3"/>
          <p:cNvSpPr>
            <a:spLocks noGrp="1"/>
          </p:cNvSpPr>
          <p:nvPr>
            <p:ph type="dt" sz="half" idx="10"/>
          </p:nvPr>
        </p:nvSpPr>
        <p:spPr/>
        <p:txBody>
          <a:bodyPr/>
          <a:lstStyle/>
          <a:p>
            <a:fld id="{81306000-C428-4861-A5A9-AED42EB85297}"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79</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5696" y="1399032"/>
            <a:ext cx="8421624" cy="4739640"/>
          </a:xfrm>
          <a:prstGeom prst="rect">
            <a:avLst/>
          </a:prstGeom>
        </p:spPr>
      </p:pic>
      <p:sp>
        <p:nvSpPr>
          <p:cNvPr id="3" name="Rectangle 2"/>
          <p:cNvSpPr/>
          <p:nvPr/>
        </p:nvSpPr>
        <p:spPr>
          <a:xfrm>
            <a:off x="277368" y="972312"/>
            <a:ext cx="2234184" cy="240792"/>
          </a:xfrm>
          <a:prstGeom prst="rect">
            <a:avLst/>
          </a:prstGeom>
        </p:spPr>
        <p:txBody>
          <a:bodyPr wrap="none" lIns="0" tIns="0" rIns="0" bIns="0">
            <a:noAutofit/>
          </a:bodyPr>
          <a:lstStyle/>
          <a:p>
            <a:pPr indent="0"/>
            <a:r>
              <a:rPr lang="en-US" sz="2300" b="1">
                <a:latin typeface="Calibri"/>
              </a:rPr>
              <a:t>Mechanism of FTP</a:t>
            </a:r>
          </a:p>
        </p:txBody>
      </p:sp>
      <p:sp>
        <p:nvSpPr>
          <p:cNvPr id="4" name="Rectangle 3"/>
          <p:cNvSpPr/>
          <p:nvPr/>
        </p:nvSpPr>
        <p:spPr>
          <a:xfrm>
            <a:off x="4401312" y="4416552"/>
            <a:ext cx="941832" cy="246888"/>
          </a:xfrm>
          <a:prstGeom prst="rect">
            <a:avLst/>
          </a:prstGeom>
        </p:spPr>
        <p:txBody>
          <a:bodyPr wrap="none" lIns="0" tIns="0" rIns="0" bIns="0">
            <a:noAutofit/>
          </a:bodyPr>
          <a:lstStyle/>
          <a:p>
            <a:pPr indent="0"/>
            <a:r>
              <a:rPr lang="en-US" sz="2300" b="1">
                <a:latin typeface="Calibri"/>
              </a:rPr>
              <a:t>TCP/IP</a:t>
            </a:r>
          </a:p>
        </p:txBody>
      </p:sp>
      <p:sp>
        <p:nvSpPr>
          <p:cNvPr id="5" name="Rectangle 4"/>
          <p:cNvSpPr/>
          <p:nvPr/>
        </p:nvSpPr>
        <p:spPr>
          <a:xfrm>
            <a:off x="2542032" y="1786128"/>
            <a:ext cx="451104" cy="164592"/>
          </a:xfrm>
          <a:prstGeom prst="rect">
            <a:avLst/>
          </a:prstGeom>
        </p:spPr>
        <p:txBody>
          <a:bodyPr wrap="none" lIns="0" tIns="0" rIns="0" bIns="0">
            <a:noAutofit/>
          </a:bodyPr>
          <a:lstStyle/>
          <a:p>
            <a:pPr indent="0"/>
            <a:r>
              <a:rPr lang="en-US" sz="1700" b="1">
                <a:latin typeface="Sylfaen"/>
              </a:rPr>
              <a:t>User</a:t>
            </a:r>
          </a:p>
        </p:txBody>
      </p:sp>
      <p:sp>
        <p:nvSpPr>
          <p:cNvPr id="6" name="Rectangle 5"/>
          <p:cNvSpPr/>
          <p:nvPr/>
        </p:nvSpPr>
        <p:spPr>
          <a:xfrm>
            <a:off x="2798064" y="2682240"/>
            <a:ext cx="475488" cy="158496"/>
          </a:xfrm>
          <a:prstGeom prst="rect">
            <a:avLst/>
          </a:prstGeom>
        </p:spPr>
        <p:txBody>
          <a:bodyPr wrap="none" lIns="0" tIns="0" rIns="0" bIns="0">
            <a:noAutofit/>
          </a:bodyPr>
          <a:lstStyle/>
          <a:p>
            <a:pPr indent="0"/>
            <a:r>
              <a:rPr lang="en-US" sz="1600" b="1">
                <a:latin typeface="Arial"/>
              </a:rPr>
              <a:t>User</a:t>
            </a:r>
          </a:p>
        </p:txBody>
      </p:sp>
      <p:sp>
        <p:nvSpPr>
          <p:cNvPr id="7" name="Rectangle 6"/>
          <p:cNvSpPr/>
          <p:nvPr/>
        </p:nvSpPr>
        <p:spPr>
          <a:xfrm>
            <a:off x="2578608" y="2938272"/>
            <a:ext cx="902208" cy="158496"/>
          </a:xfrm>
          <a:prstGeom prst="rect">
            <a:avLst/>
          </a:prstGeom>
        </p:spPr>
        <p:txBody>
          <a:bodyPr wrap="none" lIns="0" tIns="0" rIns="0" bIns="0">
            <a:noAutofit/>
          </a:bodyPr>
          <a:lstStyle/>
          <a:p>
            <a:pPr indent="0"/>
            <a:r>
              <a:rPr lang="en-US" sz="1600" b="1">
                <a:latin typeface="Arial"/>
              </a:rPr>
              <a:t>interface</a:t>
            </a:r>
          </a:p>
        </p:txBody>
      </p:sp>
      <p:sp>
        <p:nvSpPr>
          <p:cNvPr id="8" name="Rectangle 7"/>
          <p:cNvSpPr/>
          <p:nvPr/>
        </p:nvSpPr>
        <p:spPr>
          <a:xfrm>
            <a:off x="4126992" y="3742944"/>
            <a:ext cx="1603248" cy="146304"/>
          </a:xfrm>
          <a:prstGeom prst="rect">
            <a:avLst/>
          </a:prstGeom>
        </p:spPr>
        <p:txBody>
          <a:bodyPr wrap="none" lIns="0" tIns="0" rIns="0" bIns="0">
            <a:noAutofit/>
          </a:bodyPr>
          <a:lstStyle/>
          <a:p>
            <a:pPr indent="0"/>
            <a:r>
              <a:rPr lang="en-US" sz="1600">
                <a:latin typeface="Calibri"/>
              </a:rPr>
              <a:t>Control connection</a:t>
            </a:r>
          </a:p>
        </p:txBody>
      </p:sp>
      <p:sp>
        <p:nvSpPr>
          <p:cNvPr id="9" name="Rectangle 8"/>
          <p:cNvSpPr/>
          <p:nvPr/>
        </p:nvSpPr>
        <p:spPr>
          <a:xfrm>
            <a:off x="2621280" y="3749040"/>
            <a:ext cx="731520" cy="152400"/>
          </a:xfrm>
          <a:prstGeom prst="rect">
            <a:avLst/>
          </a:prstGeom>
        </p:spPr>
        <p:txBody>
          <a:bodyPr wrap="none" lIns="0" tIns="0" rIns="0" bIns="0">
            <a:noAutofit/>
          </a:bodyPr>
          <a:lstStyle/>
          <a:p>
            <a:pPr indent="0"/>
            <a:r>
              <a:rPr lang="en-US" sz="1600" b="1">
                <a:latin typeface="Arial"/>
              </a:rPr>
              <a:t>Control</a:t>
            </a:r>
          </a:p>
        </p:txBody>
      </p:sp>
      <p:sp>
        <p:nvSpPr>
          <p:cNvPr id="10" name="Rectangle 9"/>
          <p:cNvSpPr/>
          <p:nvPr/>
        </p:nvSpPr>
        <p:spPr>
          <a:xfrm>
            <a:off x="6272784" y="3767328"/>
            <a:ext cx="731520" cy="158496"/>
          </a:xfrm>
          <a:prstGeom prst="rect">
            <a:avLst/>
          </a:prstGeom>
        </p:spPr>
        <p:txBody>
          <a:bodyPr wrap="none" lIns="0" tIns="0" rIns="0" bIns="0">
            <a:noAutofit/>
          </a:bodyPr>
          <a:lstStyle/>
          <a:p>
            <a:pPr indent="0"/>
            <a:r>
              <a:rPr lang="en-US" sz="1600" b="1">
                <a:latin typeface="Arial"/>
              </a:rPr>
              <a:t>Control</a:t>
            </a:r>
          </a:p>
        </p:txBody>
      </p:sp>
      <p:sp>
        <p:nvSpPr>
          <p:cNvPr id="11" name="Rectangle 10"/>
          <p:cNvSpPr/>
          <p:nvPr/>
        </p:nvSpPr>
        <p:spPr>
          <a:xfrm>
            <a:off x="2615184" y="4047744"/>
            <a:ext cx="798576" cy="152400"/>
          </a:xfrm>
          <a:prstGeom prst="rect">
            <a:avLst/>
          </a:prstGeom>
        </p:spPr>
        <p:txBody>
          <a:bodyPr wrap="none" lIns="0" tIns="0" rIns="0" bIns="0">
            <a:noAutofit/>
          </a:bodyPr>
          <a:lstStyle/>
          <a:p>
            <a:pPr indent="0"/>
            <a:r>
              <a:rPr lang="en-US" sz="1600" b="1">
                <a:latin typeface="Arial"/>
              </a:rPr>
              <a:t>process</a:t>
            </a:r>
          </a:p>
        </p:txBody>
      </p:sp>
      <p:sp>
        <p:nvSpPr>
          <p:cNvPr id="12" name="Rectangle 11"/>
          <p:cNvSpPr/>
          <p:nvPr/>
        </p:nvSpPr>
        <p:spPr>
          <a:xfrm>
            <a:off x="6242304" y="4066032"/>
            <a:ext cx="792480" cy="152400"/>
          </a:xfrm>
          <a:prstGeom prst="rect">
            <a:avLst/>
          </a:prstGeom>
        </p:spPr>
        <p:txBody>
          <a:bodyPr wrap="none" lIns="0" tIns="0" rIns="0" bIns="0">
            <a:noAutofit/>
          </a:bodyPr>
          <a:lstStyle/>
          <a:p>
            <a:pPr indent="0"/>
            <a:r>
              <a:rPr lang="en-US" sz="1600" b="1">
                <a:latin typeface="Arial"/>
              </a:rPr>
              <a:t>process</a:t>
            </a:r>
          </a:p>
        </p:txBody>
      </p:sp>
      <p:sp>
        <p:nvSpPr>
          <p:cNvPr id="13" name="Rectangle 12"/>
          <p:cNvSpPr/>
          <p:nvPr/>
        </p:nvSpPr>
        <p:spPr>
          <a:xfrm>
            <a:off x="2834640" y="4602480"/>
            <a:ext cx="451104" cy="152400"/>
          </a:xfrm>
          <a:prstGeom prst="rect">
            <a:avLst/>
          </a:prstGeom>
        </p:spPr>
        <p:txBody>
          <a:bodyPr wrap="none" lIns="0" tIns="0" rIns="0" bIns="0">
            <a:noAutofit/>
          </a:bodyPr>
          <a:lstStyle/>
          <a:p>
            <a:pPr indent="0"/>
            <a:r>
              <a:rPr lang="en-US" sz="1600" b="1">
                <a:latin typeface="Arial"/>
              </a:rPr>
              <a:t>Data</a:t>
            </a:r>
          </a:p>
        </p:txBody>
      </p:sp>
      <p:sp>
        <p:nvSpPr>
          <p:cNvPr id="14" name="Rectangle 13"/>
          <p:cNvSpPr/>
          <p:nvPr/>
        </p:nvSpPr>
        <p:spPr>
          <a:xfrm>
            <a:off x="6455664" y="4657344"/>
            <a:ext cx="371856" cy="128016"/>
          </a:xfrm>
          <a:prstGeom prst="rect">
            <a:avLst/>
          </a:prstGeom>
        </p:spPr>
        <p:txBody>
          <a:bodyPr wrap="none" lIns="0" tIns="0" rIns="0" bIns="0">
            <a:noAutofit/>
          </a:bodyPr>
          <a:lstStyle/>
          <a:p>
            <a:pPr indent="0"/>
            <a:r>
              <a:rPr lang="en-US" sz="1200" b="1">
                <a:latin typeface="Arial"/>
              </a:rPr>
              <a:t>Data</a:t>
            </a:r>
          </a:p>
        </p:txBody>
      </p:sp>
      <p:sp>
        <p:nvSpPr>
          <p:cNvPr id="15" name="Rectangle 14"/>
          <p:cNvSpPr/>
          <p:nvPr/>
        </p:nvSpPr>
        <p:spPr>
          <a:xfrm>
            <a:off x="2651760" y="4858512"/>
            <a:ext cx="804672" cy="158496"/>
          </a:xfrm>
          <a:prstGeom prst="rect">
            <a:avLst/>
          </a:prstGeom>
        </p:spPr>
        <p:txBody>
          <a:bodyPr wrap="none" lIns="0" tIns="0" rIns="0" bIns="0">
            <a:noAutofit/>
          </a:bodyPr>
          <a:lstStyle/>
          <a:p>
            <a:pPr indent="0"/>
            <a:r>
              <a:rPr lang="en-US" sz="1600" b="1">
                <a:latin typeface="Arial"/>
              </a:rPr>
              <a:t>transfer</a:t>
            </a:r>
          </a:p>
        </p:txBody>
      </p:sp>
      <p:sp>
        <p:nvSpPr>
          <p:cNvPr id="16" name="Rectangle 15"/>
          <p:cNvSpPr/>
          <p:nvPr/>
        </p:nvSpPr>
        <p:spPr>
          <a:xfrm>
            <a:off x="6303264" y="4870704"/>
            <a:ext cx="670560" cy="128016"/>
          </a:xfrm>
          <a:prstGeom prst="rect">
            <a:avLst/>
          </a:prstGeom>
        </p:spPr>
        <p:txBody>
          <a:bodyPr wrap="none" lIns="0" tIns="0" rIns="0" bIns="0">
            <a:noAutofit/>
          </a:bodyPr>
          <a:lstStyle/>
          <a:p>
            <a:pPr indent="0"/>
            <a:r>
              <a:rPr lang="en-US" sz="1300" b="1">
                <a:latin typeface="Arial"/>
              </a:rPr>
              <a:t>transfer</a:t>
            </a:r>
          </a:p>
        </p:txBody>
      </p:sp>
      <p:sp>
        <p:nvSpPr>
          <p:cNvPr id="17" name="Rectangle 16"/>
          <p:cNvSpPr/>
          <p:nvPr/>
        </p:nvSpPr>
        <p:spPr>
          <a:xfrm>
            <a:off x="6309360" y="5114544"/>
            <a:ext cx="670560" cy="128016"/>
          </a:xfrm>
          <a:prstGeom prst="rect">
            <a:avLst/>
          </a:prstGeom>
        </p:spPr>
        <p:txBody>
          <a:bodyPr wrap="none" lIns="0" tIns="0" rIns="0" bIns="0">
            <a:noAutofit/>
          </a:bodyPr>
          <a:lstStyle/>
          <a:p>
            <a:pPr indent="0"/>
            <a:r>
              <a:rPr lang="en-US" sz="1300" b="1">
                <a:latin typeface="Arial"/>
              </a:rPr>
              <a:t>process</a:t>
            </a:r>
          </a:p>
        </p:txBody>
      </p:sp>
      <p:sp>
        <p:nvSpPr>
          <p:cNvPr id="18" name="Rectangle 17"/>
          <p:cNvSpPr/>
          <p:nvPr/>
        </p:nvSpPr>
        <p:spPr>
          <a:xfrm>
            <a:off x="4218432" y="5120640"/>
            <a:ext cx="1365504" cy="140208"/>
          </a:xfrm>
          <a:prstGeom prst="rect">
            <a:avLst/>
          </a:prstGeom>
        </p:spPr>
        <p:txBody>
          <a:bodyPr wrap="none" lIns="0" tIns="0" rIns="0" bIns="0">
            <a:noAutofit/>
          </a:bodyPr>
          <a:lstStyle/>
          <a:p>
            <a:pPr indent="0"/>
            <a:r>
              <a:rPr lang="en-US" sz="1600">
                <a:latin typeface="Calibri"/>
              </a:rPr>
              <a:t>Data connection</a:t>
            </a:r>
          </a:p>
        </p:txBody>
      </p:sp>
      <p:sp>
        <p:nvSpPr>
          <p:cNvPr id="19" name="Rectangle 18"/>
          <p:cNvSpPr/>
          <p:nvPr/>
        </p:nvSpPr>
        <p:spPr>
          <a:xfrm>
            <a:off x="2657856" y="5145024"/>
            <a:ext cx="798576" cy="158496"/>
          </a:xfrm>
          <a:prstGeom prst="rect">
            <a:avLst/>
          </a:prstGeom>
        </p:spPr>
        <p:txBody>
          <a:bodyPr wrap="none" lIns="0" tIns="0" rIns="0" bIns="0">
            <a:noAutofit/>
          </a:bodyPr>
          <a:lstStyle/>
          <a:p>
            <a:pPr indent="0"/>
            <a:r>
              <a:rPr lang="en-US" sz="1600" b="1">
                <a:latin typeface="Arial"/>
              </a:rPr>
              <a:t>process</a:t>
            </a:r>
          </a:p>
        </p:txBody>
      </p:sp>
      <p:sp>
        <p:nvSpPr>
          <p:cNvPr id="20" name="Rectangle 19"/>
          <p:cNvSpPr/>
          <p:nvPr/>
        </p:nvSpPr>
        <p:spPr>
          <a:xfrm>
            <a:off x="6303264" y="5644896"/>
            <a:ext cx="816864" cy="237744"/>
          </a:xfrm>
          <a:prstGeom prst="rect">
            <a:avLst/>
          </a:prstGeom>
        </p:spPr>
        <p:txBody>
          <a:bodyPr wrap="none" lIns="0" tIns="0" rIns="0" bIns="0">
            <a:noAutofit/>
          </a:bodyPr>
          <a:lstStyle/>
          <a:p>
            <a:pPr indent="0" algn="ctr">
              <a:spcAft>
                <a:spcPts val="2940"/>
              </a:spcAft>
            </a:pPr>
            <a:r>
              <a:rPr lang="en-US" sz="2300">
                <a:latin typeface="Sylfaen"/>
              </a:rPr>
              <a:t>Server</a:t>
            </a:r>
          </a:p>
        </p:txBody>
      </p:sp>
      <p:sp>
        <p:nvSpPr>
          <p:cNvPr id="21" name="Rectangle 20"/>
          <p:cNvSpPr/>
          <p:nvPr/>
        </p:nvSpPr>
        <p:spPr>
          <a:xfrm>
            <a:off x="2731008" y="5693664"/>
            <a:ext cx="658368" cy="213360"/>
          </a:xfrm>
          <a:prstGeom prst="rect">
            <a:avLst/>
          </a:prstGeom>
        </p:spPr>
        <p:txBody>
          <a:bodyPr wrap="none" lIns="0" tIns="0" rIns="0" bIns="0">
            <a:noAutofit/>
          </a:bodyPr>
          <a:lstStyle/>
          <a:p>
            <a:pPr indent="0"/>
            <a:r>
              <a:rPr lang="en-US" sz="2000">
                <a:latin typeface="Sylfaen"/>
              </a:rPr>
              <a:t>Client</a:t>
            </a:r>
          </a:p>
        </p:txBody>
      </p:sp>
      <p:sp>
        <p:nvSpPr>
          <p:cNvPr id="22" name="Rectangle 21"/>
          <p:cNvSpPr/>
          <p:nvPr/>
        </p:nvSpPr>
        <p:spPr>
          <a:xfrm>
            <a:off x="256032" y="6409944"/>
            <a:ext cx="9348216" cy="646176"/>
          </a:xfrm>
          <a:prstGeom prst="rect">
            <a:avLst/>
          </a:prstGeom>
        </p:spPr>
        <p:txBody>
          <a:bodyPr lIns="0" tIns="0" rIns="0" bIns="0">
            <a:noAutofit/>
          </a:bodyPr>
          <a:lstStyle/>
          <a:p>
            <a:pPr indent="0" algn="just">
              <a:lnSpc>
                <a:spcPts val="2832"/>
              </a:lnSpc>
              <a:spcBef>
                <a:spcPts val="2940"/>
              </a:spcBef>
            </a:pPr>
            <a:r>
              <a:rPr lang="en-US" sz="2200">
                <a:latin typeface="Calibri"/>
              </a:rPr>
              <a:t>The above figure shows the basic model of the FTP. The FTP client has three components: the user interface, control process, and data transfer process. The</a:t>
            </a:r>
          </a:p>
        </p:txBody>
      </p:sp>
      <p:sp>
        <p:nvSpPr>
          <p:cNvPr id="23" name="Date Placeholder 22"/>
          <p:cNvSpPr>
            <a:spLocks noGrp="1"/>
          </p:cNvSpPr>
          <p:nvPr>
            <p:ph type="dt" sz="half" idx="10"/>
          </p:nvPr>
        </p:nvSpPr>
        <p:spPr/>
        <p:txBody>
          <a:bodyPr/>
          <a:lstStyle/>
          <a:p>
            <a:fld id="{E18A11D8-D515-4AD5-A2C1-1E4E4121B006}" type="datetime1">
              <a:rPr lang="en-US" smtClean="0"/>
              <a:t>4/29/2022</a:t>
            </a:fld>
            <a:endParaRPr lang="en-US"/>
          </a:p>
        </p:txBody>
      </p:sp>
      <p:sp>
        <p:nvSpPr>
          <p:cNvPr id="25" name="Slide Number Placeholder 24"/>
          <p:cNvSpPr>
            <a:spLocks noGrp="1"/>
          </p:cNvSpPr>
          <p:nvPr>
            <p:ph type="sldNum" sz="quarter" idx="12"/>
          </p:nvPr>
        </p:nvSpPr>
        <p:spPr/>
        <p:txBody>
          <a:bodyPr/>
          <a:lstStyle/>
          <a:p>
            <a:fld id="{A0B67B60-8227-4ECE-9065-6110C6EB035F}" type="slidenum">
              <a:rPr lang="en-US" smtClean="0"/>
              <a:t>80</a:t>
            </a:fld>
            <a:endParaRPr lang="en-US"/>
          </a:p>
        </p:txBody>
      </p:sp>
      <p:sp>
        <p:nvSpPr>
          <p:cNvPr id="2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88920" y="2337816"/>
            <a:ext cx="2947416" cy="1914144"/>
          </a:xfrm>
          <a:prstGeom prst="rect">
            <a:avLst/>
          </a:prstGeom>
        </p:spPr>
      </p:pic>
      <p:sp>
        <p:nvSpPr>
          <p:cNvPr id="3" name="Rectangle 2"/>
          <p:cNvSpPr/>
          <p:nvPr/>
        </p:nvSpPr>
        <p:spPr>
          <a:xfrm>
            <a:off x="259080" y="975360"/>
            <a:ext cx="9339072" cy="1179576"/>
          </a:xfrm>
          <a:prstGeom prst="rect">
            <a:avLst/>
          </a:prstGeom>
        </p:spPr>
        <p:txBody>
          <a:bodyPr lIns="0" tIns="0" rIns="0" bIns="0">
            <a:noAutofit/>
          </a:bodyPr>
          <a:lstStyle/>
          <a:p>
            <a:pPr indent="0" algn="just">
              <a:lnSpc>
                <a:spcPts val="2808"/>
              </a:lnSpc>
              <a:spcAft>
                <a:spcPts val="840"/>
              </a:spcAft>
            </a:pPr>
            <a:r>
              <a:rPr lang="en-US" sz="2200" dirty="0">
                <a:latin typeface="Calibri"/>
              </a:rPr>
              <a:t>server has two components: the server control process and the server data transfer process.</a:t>
            </a:r>
          </a:p>
          <a:p>
            <a:pPr indent="0" algn="just"/>
            <a:r>
              <a:rPr lang="en-US" sz="2200" b="1" dirty="0">
                <a:latin typeface="Calibri"/>
              </a:rPr>
              <a:t>There are two types of connections in FTP:</a:t>
            </a:r>
          </a:p>
        </p:txBody>
      </p:sp>
      <p:sp>
        <p:nvSpPr>
          <p:cNvPr id="4" name="Rectangle 3"/>
          <p:cNvSpPr/>
          <p:nvPr/>
        </p:nvSpPr>
        <p:spPr>
          <a:xfrm>
            <a:off x="725424" y="4456176"/>
            <a:ext cx="8894064" cy="2444496"/>
          </a:xfrm>
          <a:prstGeom prst="rect">
            <a:avLst/>
          </a:prstGeom>
        </p:spPr>
        <p:txBody>
          <a:bodyPr lIns="0" tIns="0" rIns="0" bIns="0">
            <a:noAutofit/>
          </a:bodyPr>
          <a:lstStyle/>
          <a:p>
            <a:pPr marL="244856" indent="-228600" algn="just">
              <a:lnSpc>
                <a:spcPts val="2784"/>
              </a:lnSpc>
              <a:spcBef>
                <a:spcPts val="840"/>
              </a:spcBef>
            </a:pPr>
            <a:r>
              <a:rPr lang="en-US" sz="2200" dirty="0">
                <a:latin typeface="Calibri"/>
              </a:rPr>
              <a:t>• </a:t>
            </a:r>
            <a:r>
              <a:rPr lang="en-US" sz="2200" b="1" dirty="0">
                <a:latin typeface="Calibri"/>
              </a:rPr>
              <a:t>Control Connection</a:t>
            </a:r>
            <a:r>
              <a:rPr lang="en-US" sz="2200" dirty="0">
                <a:latin typeface="Calibri"/>
              </a:rPr>
              <a:t>: The control connection uses very simple rules for communication. Through control connection, we can transfer a line of command or line of response at a time. The control connection is made between the control processes. The control connection remains connected during the entire interactive FTP session.</a:t>
            </a:r>
          </a:p>
          <a:p>
            <a:pPr marL="244856" indent="-228600" algn="just">
              <a:lnSpc>
                <a:spcPts val="2808"/>
              </a:lnSpc>
            </a:pPr>
            <a:r>
              <a:rPr lang="en-US" sz="2200" dirty="0">
                <a:latin typeface="Calibri"/>
              </a:rPr>
              <a:t>•  </a:t>
            </a:r>
            <a:r>
              <a:rPr lang="en-US" sz="2200" b="1" dirty="0">
                <a:latin typeface="Calibri"/>
              </a:rPr>
              <a:t>Data Connection</a:t>
            </a:r>
            <a:r>
              <a:rPr lang="en-US" sz="2200" dirty="0">
                <a:latin typeface="Calibri"/>
              </a:rPr>
              <a:t>: The Data Connection uses very complex rules as data types may vary. The data connection is made between data transfer</a:t>
            </a:r>
          </a:p>
        </p:txBody>
      </p:sp>
      <p:sp>
        <p:nvSpPr>
          <p:cNvPr id="5" name="Date Placeholder 4"/>
          <p:cNvSpPr>
            <a:spLocks noGrp="1"/>
          </p:cNvSpPr>
          <p:nvPr>
            <p:ph type="dt" sz="half" idx="10"/>
          </p:nvPr>
        </p:nvSpPr>
        <p:spPr/>
        <p:txBody>
          <a:bodyPr/>
          <a:lstStyle/>
          <a:p>
            <a:fld id="{47478852-C9C1-4124-A236-AA3BCBF9E0EE}"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81</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72312"/>
            <a:ext cx="9336024" cy="4581144"/>
          </a:xfrm>
          <a:prstGeom prst="rect">
            <a:avLst/>
          </a:prstGeom>
        </p:spPr>
        <p:txBody>
          <a:bodyPr lIns="0" tIns="0" rIns="0" bIns="0">
            <a:noAutofit/>
          </a:bodyPr>
          <a:lstStyle/>
          <a:p>
            <a:pPr marL="711200" indent="0" algn="just">
              <a:lnSpc>
                <a:spcPts val="2808"/>
              </a:lnSpc>
              <a:spcAft>
                <a:spcPts val="840"/>
              </a:spcAft>
            </a:pPr>
            <a:r>
              <a:rPr lang="en-US" sz="2200" dirty="0">
                <a:latin typeface="Calibri"/>
              </a:rPr>
              <a:t>processes. The data connection opens when a command comes for transferring the files and closes when the file is transferred.</a:t>
            </a:r>
          </a:p>
          <a:p>
            <a:pPr indent="0">
              <a:spcAft>
                <a:spcPts val="1470"/>
              </a:spcAft>
            </a:pPr>
            <a:r>
              <a:rPr lang="en-US" sz="2200" b="1" dirty="0">
                <a:latin typeface="Calibri"/>
              </a:rPr>
              <a:t>FTP Clients</a:t>
            </a:r>
          </a:p>
          <a:p>
            <a:pPr marL="698500" indent="-241300" algn="just">
              <a:lnSpc>
                <a:spcPts val="2856"/>
              </a:lnSpc>
            </a:pPr>
            <a:r>
              <a:rPr lang="en-US" sz="2200" dirty="0">
                <a:latin typeface="Calibri"/>
              </a:rPr>
              <a:t>•    FTP client is a program that implements a file transfer protocol which allows you to transfer files between two hosts on the internet.</a:t>
            </a:r>
          </a:p>
          <a:p>
            <a:pPr marL="698500" indent="-241300" algn="just">
              <a:lnSpc>
                <a:spcPts val="2856"/>
              </a:lnSpc>
            </a:pPr>
            <a:r>
              <a:rPr lang="en-US" sz="2200" dirty="0">
                <a:latin typeface="Calibri"/>
              </a:rPr>
              <a:t>•    It allows a user to connect to a remote host and upload or download the files.</a:t>
            </a:r>
          </a:p>
          <a:p>
            <a:pPr marL="698500" indent="-241300" algn="just">
              <a:lnSpc>
                <a:spcPts val="2856"/>
              </a:lnSpc>
            </a:pPr>
            <a:r>
              <a:rPr lang="en-US" sz="2200" dirty="0">
                <a:latin typeface="Calibri"/>
              </a:rPr>
              <a:t>•    It has a set of commands that we can use to connect to a host, transfer the files between you and your host and close the connection.</a:t>
            </a:r>
          </a:p>
          <a:p>
            <a:pPr marL="698500" indent="-241300" algn="just">
              <a:lnSpc>
                <a:spcPts val="2856"/>
              </a:lnSpc>
            </a:pPr>
            <a:r>
              <a:rPr lang="en-US" sz="2200" dirty="0">
                <a:latin typeface="Calibri"/>
              </a:rPr>
              <a:t>•    The FTP program is also available as a built-in component in a Web browser. This GUI based FTP client makes the file transfer very easy and also does not require to remember the FTP commands.</a:t>
            </a:r>
          </a:p>
        </p:txBody>
      </p:sp>
      <p:sp>
        <p:nvSpPr>
          <p:cNvPr id="3" name="Date Placeholder 2"/>
          <p:cNvSpPr>
            <a:spLocks noGrp="1"/>
          </p:cNvSpPr>
          <p:nvPr>
            <p:ph type="dt" sz="half" idx="10"/>
          </p:nvPr>
        </p:nvSpPr>
        <p:spPr/>
        <p:txBody>
          <a:bodyPr/>
          <a:lstStyle/>
          <a:p>
            <a:fld id="{0A20991F-E8F8-4170-8897-E3A3F404ABDD}"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82</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972312"/>
            <a:ext cx="9363456" cy="274320"/>
          </a:xfrm>
          <a:prstGeom prst="rect">
            <a:avLst/>
          </a:prstGeom>
        </p:spPr>
        <p:txBody>
          <a:bodyPr wrap="none" lIns="0" tIns="0" rIns="0" bIns="0">
            <a:noAutofit/>
          </a:bodyPr>
          <a:lstStyle/>
          <a:p>
            <a:pPr indent="0"/>
            <a:r>
              <a:rPr lang="en-US" sz="2300" b="1">
                <a:latin typeface="Calibri"/>
              </a:rPr>
              <a:t>Advantages of FTP:</a:t>
            </a:r>
          </a:p>
        </p:txBody>
      </p:sp>
      <p:sp>
        <p:nvSpPr>
          <p:cNvPr id="3" name="Rectangle 2"/>
          <p:cNvSpPr/>
          <p:nvPr/>
        </p:nvSpPr>
        <p:spPr>
          <a:xfrm>
            <a:off x="259080" y="1496568"/>
            <a:ext cx="9363456" cy="3831336"/>
          </a:xfrm>
          <a:prstGeom prst="rect">
            <a:avLst/>
          </a:prstGeom>
        </p:spPr>
        <p:txBody>
          <a:bodyPr lIns="0" tIns="0" rIns="0" bIns="0">
            <a:noAutofit/>
          </a:bodyPr>
          <a:lstStyle/>
          <a:p>
            <a:pPr marL="711200" indent="-228600" algn="just">
              <a:lnSpc>
                <a:spcPts val="2832"/>
              </a:lnSpc>
            </a:pPr>
            <a:r>
              <a:rPr lang="en-US" sz="2200" dirty="0">
                <a:latin typeface="Calibri"/>
              </a:rPr>
              <a:t>•    </a:t>
            </a:r>
            <a:r>
              <a:rPr lang="en-US" sz="2200" b="1" dirty="0">
                <a:latin typeface="Calibri"/>
              </a:rPr>
              <a:t>Speed</a:t>
            </a:r>
            <a:r>
              <a:rPr lang="en-US" sz="2200" dirty="0">
                <a:latin typeface="Calibri"/>
              </a:rPr>
              <a:t>: One of the biggest advantages of FTP is speed. The FTP is one of the fastest way to transfer the files from one computer to another computer.</a:t>
            </a:r>
          </a:p>
          <a:p>
            <a:pPr marL="711200" indent="-228600" algn="just">
              <a:lnSpc>
                <a:spcPts val="2832"/>
              </a:lnSpc>
            </a:pPr>
            <a:r>
              <a:rPr lang="en-US" sz="2200" dirty="0">
                <a:latin typeface="Calibri"/>
              </a:rPr>
              <a:t>•   </a:t>
            </a:r>
            <a:r>
              <a:rPr lang="en-US" sz="2200" b="1" dirty="0">
                <a:latin typeface="Calibri"/>
              </a:rPr>
              <a:t>Efficient</a:t>
            </a:r>
            <a:r>
              <a:rPr lang="en-US" sz="2200" dirty="0">
                <a:latin typeface="Calibri"/>
              </a:rPr>
              <a:t>: It is more efficient as we do not need to complete all the operations to get the entire file.</a:t>
            </a:r>
          </a:p>
          <a:p>
            <a:pPr marL="711200" indent="-228600" algn="just">
              <a:lnSpc>
                <a:spcPts val="2784"/>
              </a:lnSpc>
            </a:pPr>
            <a:r>
              <a:rPr lang="en-US" sz="2200" dirty="0">
                <a:latin typeface="Calibri"/>
              </a:rPr>
              <a:t>•    </a:t>
            </a:r>
            <a:r>
              <a:rPr lang="en-US" sz="2200" b="1" dirty="0">
                <a:latin typeface="Calibri"/>
              </a:rPr>
              <a:t>Security</a:t>
            </a:r>
            <a:r>
              <a:rPr lang="en-US" sz="2200" dirty="0">
                <a:latin typeface="Calibri"/>
              </a:rPr>
              <a:t>: To access the FTP server, we need to login with the username and password. Therefore, we can say that FTP is more secure.</a:t>
            </a:r>
          </a:p>
          <a:p>
            <a:pPr marL="711200" indent="-228600" algn="just">
              <a:lnSpc>
                <a:spcPts val="2808"/>
              </a:lnSpc>
            </a:pPr>
            <a:r>
              <a:rPr lang="en-US" sz="2200" dirty="0">
                <a:latin typeface="Calibri"/>
              </a:rPr>
              <a:t>•    </a:t>
            </a:r>
            <a:r>
              <a:rPr lang="en-US" sz="2200" b="1" dirty="0">
                <a:latin typeface="Calibri"/>
              </a:rPr>
              <a:t>Back &amp; forth movement</a:t>
            </a:r>
            <a:r>
              <a:rPr lang="en-US" sz="2200" dirty="0">
                <a:latin typeface="Calibri"/>
              </a:rPr>
              <a:t>: FTP allows us to transfer the files back and forth. Suppose you are a manager of the company, you send some information to all the employees, and they all send information back on the same server.</a:t>
            </a:r>
          </a:p>
        </p:txBody>
      </p:sp>
      <p:sp>
        <p:nvSpPr>
          <p:cNvPr id="4" name="Date Placeholder 3"/>
          <p:cNvSpPr>
            <a:spLocks noGrp="1"/>
          </p:cNvSpPr>
          <p:nvPr>
            <p:ph type="dt" sz="half" idx="10"/>
          </p:nvPr>
        </p:nvSpPr>
        <p:spPr/>
        <p:txBody>
          <a:bodyPr/>
          <a:lstStyle/>
          <a:p>
            <a:fld id="{5D927981-294D-4ACD-82E2-A51D86A0B8A5}"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83</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72312"/>
            <a:ext cx="9329928" cy="274320"/>
          </a:xfrm>
          <a:prstGeom prst="rect">
            <a:avLst/>
          </a:prstGeom>
        </p:spPr>
        <p:txBody>
          <a:bodyPr wrap="none" lIns="0" tIns="0" rIns="0" bIns="0">
            <a:noAutofit/>
          </a:bodyPr>
          <a:lstStyle/>
          <a:p>
            <a:pPr indent="0"/>
            <a:r>
              <a:rPr lang="en-US" sz="2300" b="1">
                <a:latin typeface="Calibri"/>
              </a:rPr>
              <a:t>Disadvantages of FTP:</a:t>
            </a:r>
          </a:p>
        </p:txBody>
      </p:sp>
      <p:sp>
        <p:nvSpPr>
          <p:cNvPr id="3" name="Rectangle 2"/>
          <p:cNvSpPr/>
          <p:nvPr/>
        </p:nvSpPr>
        <p:spPr>
          <a:xfrm>
            <a:off x="277368" y="1490472"/>
            <a:ext cx="9329928" cy="3886200"/>
          </a:xfrm>
          <a:prstGeom prst="rect">
            <a:avLst/>
          </a:prstGeom>
        </p:spPr>
        <p:txBody>
          <a:bodyPr lIns="0" tIns="0" rIns="0" bIns="0">
            <a:noAutofit/>
          </a:bodyPr>
          <a:lstStyle/>
          <a:p>
            <a:pPr marL="698500" indent="-241300" algn="just">
              <a:lnSpc>
                <a:spcPts val="2808"/>
              </a:lnSpc>
            </a:pPr>
            <a:r>
              <a:rPr lang="en-US" sz="2200">
                <a:latin typeface="Calibri"/>
              </a:rPr>
              <a:t>•    The standard requirement of the industry is that all the FTP transmissions should be encrypted. However, not all the FTP providers are equal and not all the providers offer encryption. So, we will have to look out for the FTP providers that provides encryption.</a:t>
            </a:r>
          </a:p>
          <a:p>
            <a:pPr marL="698500" indent="-241300" algn="just">
              <a:lnSpc>
                <a:spcPts val="2808"/>
              </a:lnSpc>
            </a:pPr>
            <a:r>
              <a:rPr lang="en-US" sz="2200">
                <a:latin typeface="Calibri"/>
              </a:rPr>
              <a:t>•    FTP serves two operations, i.e., to send and receive large files on a network. However, the size limit of the file is 2GB that can be sent. It also doesn't allow you to run simultaneous transfers to multiple receivers.</a:t>
            </a:r>
          </a:p>
          <a:p>
            <a:pPr marL="698500" indent="-241300" algn="just">
              <a:lnSpc>
                <a:spcPts val="2784"/>
              </a:lnSpc>
            </a:pPr>
            <a:r>
              <a:rPr lang="en-US" sz="2200">
                <a:latin typeface="Calibri"/>
              </a:rPr>
              <a:t>•    Passwords and file contents are sent in clear text that allows unwanted eavesdropping. So, it is quite possible that attackers can carry out the brute force attack by trying to guess the FTP password.</a:t>
            </a:r>
          </a:p>
          <a:p>
            <a:pPr marL="698500" indent="-241300" algn="just"/>
            <a:r>
              <a:rPr lang="en-US" sz="2200">
                <a:latin typeface="Calibri"/>
              </a:rPr>
              <a:t>•    It is not compatible with every system.</a:t>
            </a:r>
          </a:p>
        </p:txBody>
      </p:sp>
      <p:sp>
        <p:nvSpPr>
          <p:cNvPr id="4" name="Date Placeholder 3"/>
          <p:cNvSpPr>
            <a:spLocks noGrp="1"/>
          </p:cNvSpPr>
          <p:nvPr>
            <p:ph type="dt" sz="half" idx="10"/>
          </p:nvPr>
        </p:nvSpPr>
        <p:spPr/>
        <p:txBody>
          <a:bodyPr/>
          <a:lstStyle/>
          <a:p>
            <a:fld id="{C1BB6F5A-E080-4889-A7ED-D71D512C197F}"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84</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477512" y="987552"/>
            <a:ext cx="923544" cy="222504"/>
          </a:xfrm>
          <a:prstGeom prst="rect">
            <a:avLst/>
          </a:prstGeom>
        </p:spPr>
        <p:txBody>
          <a:bodyPr wrap="none" lIns="0" tIns="0" rIns="0" bIns="0">
            <a:noAutofit/>
          </a:bodyPr>
          <a:lstStyle/>
          <a:p>
            <a:pPr indent="0"/>
            <a:r>
              <a:rPr lang="en-US" sz="2300" b="1">
                <a:latin typeface="Calibri"/>
              </a:rPr>
              <a:t>TELNET</a:t>
            </a:r>
          </a:p>
        </p:txBody>
      </p:sp>
      <p:sp>
        <p:nvSpPr>
          <p:cNvPr id="3" name="Rectangle 2"/>
          <p:cNvSpPr/>
          <p:nvPr/>
        </p:nvSpPr>
        <p:spPr>
          <a:xfrm>
            <a:off x="725424" y="1926336"/>
            <a:ext cx="8884920" cy="4242816"/>
          </a:xfrm>
          <a:prstGeom prst="rect">
            <a:avLst/>
          </a:prstGeom>
        </p:spPr>
        <p:txBody>
          <a:bodyPr lIns="0" tIns="0" rIns="0" bIns="0">
            <a:noAutofit/>
          </a:bodyPr>
          <a:lstStyle/>
          <a:p>
            <a:pPr marL="240792" indent="-215900" algn="just">
              <a:lnSpc>
                <a:spcPts val="2784"/>
              </a:lnSpc>
            </a:pPr>
            <a:r>
              <a:rPr lang="en-US" sz="2200" dirty="0">
                <a:latin typeface="Calibri"/>
              </a:rPr>
              <a:t>•    The main task of the internet is to provide services to users. For example, users want to run different application programs at the remote site and transfers a result to the local site. This requires a client-server program such as FTP, SMTP. But this would not allow us to create a specific program for each demand.</a:t>
            </a:r>
          </a:p>
          <a:p>
            <a:pPr marL="240792" indent="-215900" algn="just">
              <a:lnSpc>
                <a:spcPts val="2784"/>
              </a:lnSpc>
            </a:pPr>
            <a:r>
              <a:rPr lang="en-US" sz="2200" dirty="0">
                <a:latin typeface="Calibri"/>
              </a:rPr>
              <a:t>•    The better solution is to provide a general client-server program that lets the user access any application program on a remote computer. Therefore, a program that allows a user to log on to a remote computer. A popular client-server program Telnet is used to meet such demands. Telnet is an abbreviation for </a:t>
            </a:r>
            <a:r>
              <a:rPr lang="en-US" sz="2200" b="1" dirty="0">
                <a:latin typeface="Calibri"/>
              </a:rPr>
              <a:t>Terminal Network</a:t>
            </a:r>
            <a:r>
              <a:rPr lang="en-US" sz="2200" dirty="0">
                <a:latin typeface="Calibri"/>
              </a:rPr>
              <a:t>.</a:t>
            </a:r>
          </a:p>
          <a:p>
            <a:pPr marL="240792" indent="-215900" algn="just">
              <a:lnSpc>
                <a:spcPts val="2808"/>
              </a:lnSpc>
            </a:pPr>
            <a:r>
              <a:rPr lang="en-US" sz="2200" dirty="0">
                <a:latin typeface="Calibri"/>
              </a:rPr>
              <a:t>•    Telnet provides a connection to the remote computer in such a way that a local terminal appears to be at the remote side.</a:t>
            </a:r>
          </a:p>
        </p:txBody>
      </p:sp>
      <p:sp>
        <p:nvSpPr>
          <p:cNvPr id="4" name="Date Placeholder 3"/>
          <p:cNvSpPr>
            <a:spLocks noGrp="1"/>
          </p:cNvSpPr>
          <p:nvPr>
            <p:ph type="dt" sz="half" idx="10"/>
          </p:nvPr>
        </p:nvSpPr>
        <p:spPr/>
        <p:txBody>
          <a:bodyPr/>
          <a:lstStyle/>
          <a:p>
            <a:fld id="{1AC39F39-D359-4BBD-93B0-79D9AC694989}"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85</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44496" y="1886712"/>
            <a:ext cx="3816096" cy="4264152"/>
          </a:xfrm>
          <a:prstGeom prst="rect">
            <a:avLst/>
          </a:prstGeom>
        </p:spPr>
      </p:pic>
      <p:sp>
        <p:nvSpPr>
          <p:cNvPr id="3" name="Rectangle 2"/>
          <p:cNvSpPr/>
          <p:nvPr/>
        </p:nvSpPr>
        <p:spPr>
          <a:xfrm>
            <a:off x="259079" y="972312"/>
            <a:ext cx="3623109" cy="914400"/>
          </a:xfrm>
          <a:prstGeom prst="rect">
            <a:avLst/>
          </a:prstGeom>
        </p:spPr>
        <p:txBody>
          <a:bodyPr lIns="0" tIns="0" rIns="0" bIns="0">
            <a:noAutofit/>
          </a:bodyPr>
          <a:lstStyle/>
          <a:p>
            <a:pPr marL="254000" indent="-254000">
              <a:lnSpc>
                <a:spcPts val="3840"/>
              </a:lnSpc>
            </a:pPr>
            <a:r>
              <a:rPr lang="en-US" sz="2200" b="1" dirty="0">
                <a:latin typeface="Calibri"/>
              </a:rPr>
              <a:t>There are two types of login:</a:t>
            </a:r>
            <a:r>
              <a:rPr lang="en-US" sz="2200" dirty="0">
                <a:latin typeface="Calibri"/>
              </a:rPr>
              <a:t> </a:t>
            </a:r>
          </a:p>
          <a:p>
            <a:pPr marL="254000" indent="-254000">
              <a:lnSpc>
                <a:spcPts val="3840"/>
              </a:lnSpc>
            </a:pPr>
            <a:r>
              <a:rPr lang="en-US" sz="2200" b="1" dirty="0">
                <a:latin typeface="Calibri"/>
              </a:rPr>
              <a:t>1. Local Login</a:t>
            </a:r>
          </a:p>
        </p:txBody>
      </p:sp>
      <p:sp>
        <p:nvSpPr>
          <p:cNvPr id="4" name="Rectangle 3"/>
          <p:cNvSpPr/>
          <p:nvPr/>
        </p:nvSpPr>
        <p:spPr>
          <a:xfrm>
            <a:off x="469392" y="6303264"/>
            <a:ext cx="8540496" cy="323088"/>
          </a:xfrm>
          <a:prstGeom prst="rect">
            <a:avLst/>
          </a:prstGeom>
        </p:spPr>
        <p:txBody>
          <a:bodyPr wrap="none" lIns="0" tIns="0" rIns="0" bIns="0">
            <a:noAutofit/>
          </a:bodyPr>
          <a:lstStyle/>
          <a:p>
            <a:pPr indent="0">
              <a:spcBef>
                <a:spcPts val="1050"/>
              </a:spcBef>
            </a:pPr>
            <a:r>
              <a:rPr lang="en-US" sz="2200">
                <a:latin typeface="Calibri"/>
              </a:rPr>
              <a:t>• When a user logs into a local computer, then it is known as local login,</a:t>
            </a:r>
          </a:p>
        </p:txBody>
      </p:sp>
      <p:sp>
        <p:nvSpPr>
          <p:cNvPr id="5" name="Date Placeholder 4"/>
          <p:cNvSpPr>
            <a:spLocks noGrp="1"/>
          </p:cNvSpPr>
          <p:nvPr>
            <p:ph type="dt" sz="half" idx="10"/>
          </p:nvPr>
        </p:nvSpPr>
        <p:spPr/>
        <p:txBody>
          <a:bodyPr/>
          <a:lstStyle/>
          <a:p>
            <a:fld id="{A072B234-6115-4020-A442-6548502E6E3E}"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86</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9083040" cy="3764280"/>
          </a:xfrm>
          <a:prstGeom prst="rect">
            <a:avLst/>
          </a:prstGeom>
        </p:spPr>
        <p:txBody>
          <a:bodyPr lIns="0" tIns="0" rIns="0" bIns="0">
            <a:noAutofit/>
          </a:bodyPr>
          <a:lstStyle/>
          <a:p>
            <a:pPr marL="254000" indent="-254000">
              <a:lnSpc>
                <a:spcPts val="3024"/>
              </a:lnSpc>
            </a:pPr>
            <a:r>
              <a:rPr lang="en-US" sz="2200">
                <a:latin typeface="Calibri"/>
              </a:rPr>
              <a:t>•    When the workstation running terminal emulator, the keystrokes entered by the user are accepted by the terminal driver. The terminal driver then passes these characters to the operating system which in turn, invokes the desired application program.</a:t>
            </a:r>
          </a:p>
          <a:p>
            <a:pPr marL="254000" indent="-254000">
              <a:lnSpc>
                <a:spcPts val="3000"/>
              </a:lnSpc>
            </a:pPr>
            <a:r>
              <a:rPr lang="en-US" sz="2200">
                <a:latin typeface="Calibri"/>
              </a:rPr>
              <a:t>•    However, the operating system has special meaning to special characters. For example, in UNIX some combination of characters have special meanings such as control character with "z" means suspend. Such situations do not create any problem as the terminal driver knows the meaning of such characters. But, it can cause the problems in remote login.</a:t>
            </a:r>
          </a:p>
        </p:txBody>
      </p:sp>
      <p:sp>
        <p:nvSpPr>
          <p:cNvPr id="3" name="Date Placeholder 2"/>
          <p:cNvSpPr>
            <a:spLocks noGrp="1"/>
          </p:cNvSpPr>
          <p:nvPr>
            <p:ph type="dt" sz="half" idx="10"/>
          </p:nvPr>
        </p:nvSpPr>
        <p:spPr/>
        <p:txBody>
          <a:bodyPr/>
          <a:lstStyle/>
          <a:p>
            <a:fld id="{A5EAF94B-F84C-49B7-97A3-D8841A7A278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87</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31520" y="1399032"/>
            <a:ext cx="8884920" cy="5001768"/>
          </a:xfrm>
          <a:prstGeom prst="rect">
            <a:avLst/>
          </a:prstGeom>
        </p:spPr>
      </p:pic>
      <p:sp>
        <p:nvSpPr>
          <p:cNvPr id="3" name="Rectangle 2"/>
          <p:cNvSpPr/>
          <p:nvPr/>
        </p:nvSpPr>
        <p:spPr>
          <a:xfrm>
            <a:off x="496824" y="975360"/>
            <a:ext cx="1853184" cy="286512"/>
          </a:xfrm>
          <a:prstGeom prst="rect">
            <a:avLst/>
          </a:prstGeom>
        </p:spPr>
        <p:txBody>
          <a:bodyPr wrap="none" lIns="0" tIns="0" rIns="0" bIns="0">
            <a:noAutofit/>
          </a:bodyPr>
          <a:lstStyle/>
          <a:p>
            <a:pPr indent="0"/>
            <a:r>
              <a:rPr lang="en-US" sz="2300" b="1">
                <a:latin typeface="Calibri"/>
              </a:rPr>
              <a:t>2.Remote login</a:t>
            </a:r>
          </a:p>
        </p:txBody>
      </p:sp>
      <p:sp>
        <p:nvSpPr>
          <p:cNvPr id="4" name="Rectangle 3"/>
          <p:cNvSpPr/>
          <p:nvPr/>
        </p:nvSpPr>
        <p:spPr>
          <a:xfrm>
            <a:off x="4669536" y="5769864"/>
            <a:ext cx="923544" cy="252984"/>
          </a:xfrm>
          <a:prstGeom prst="rect">
            <a:avLst/>
          </a:prstGeom>
        </p:spPr>
        <p:txBody>
          <a:bodyPr wrap="none" lIns="0" tIns="0" rIns="0" bIns="0">
            <a:noAutofit/>
          </a:bodyPr>
          <a:lstStyle/>
          <a:p>
            <a:pPr indent="0" algn="ctr">
              <a:spcAft>
                <a:spcPts val="3150"/>
              </a:spcAft>
            </a:pPr>
            <a:r>
              <a:rPr lang="en-US" sz="2300">
                <a:latin typeface="Sylfaen"/>
              </a:rPr>
              <a:t>Interne</a:t>
            </a:r>
          </a:p>
        </p:txBody>
      </p:sp>
      <p:sp>
        <p:nvSpPr>
          <p:cNvPr id="5" name="Rectangle 4"/>
          <p:cNvSpPr/>
          <p:nvPr/>
        </p:nvSpPr>
        <p:spPr>
          <a:xfrm>
            <a:off x="2712720" y="1658112"/>
            <a:ext cx="749808" cy="146304"/>
          </a:xfrm>
          <a:prstGeom prst="rect">
            <a:avLst/>
          </a:prstGeom>
        </p:spPr>
        <p:txBody>
          <a:bodyPr wrap="none" lIns="0" tIns="0" rIns="0" bIns="0">
            <a:noAutofit/>
          </a:bodyPr>
          <a:lstStyle/>
          <a:p>
            <a:pPr indent="0"/>
            <a:r>
              <a:rPr lang="en-US" sz="1500">
                <a:latin typeface="Cambria"/>
              </a:rPr>
              <a:t>TELNET</a:t>
            </a:r>
          </a:p>
        </p:txBody>
      </p:sp>
      <p:sp>
        <p:nvSpPr>
          <p:cNvPr id="6" name="Rectangle 5"/>
          <p:cNvSpPr/>
          <p:nvPr/>
        </p:nvSpPr>
        <p:spPr>
          <a:xfrm>
            <a:off x="6156960" y="1840992"/>
            <a:ext cx="652272" cy="121920"/>
          </a:xfrm>
          <a:prstGeom prst="rect">
            <a:avLst/>
          </a:prstGeom>
        </p:spPr>
        <p:txBody>
          <a:bodyPr wrap="none" lIns="0" tIns="0" rIns="0" bIns="0">
            <a:noAutofit/>
          </a:bodyPr>
          <a:lstStyle/>
          <a:p>
            <a:pPr indent="0"/>
            <a:r>
              <a:rPr lang="en-US" sz="1400">
                <a:latin typeface="Cambria"/>
              </a:rPr>
              <a:t>TELNET</a:t>
            </a:r>
          </a:p>
        </p:txBody>
      </p:sp>
      <p:sp>
        <p:nvSpPr>
          <p:cNvPr id="7" name="Rectangle 6"/>
          <p:cNvSpPr/>
          <p:nvPr/>
        </p:nvSpPr>
        <p:spPr>
          <a:xfrm>
            <a:off x="7235952" y="1944624"/>
            <a:ext cx="1908048" cy="195072"/>
          </a:xfrm>
          <a:prstGeom prst="rect">
            <a:avLst/>
          </a:prstGeom>
        </p:spPr>
        <p:txBody>
          <a:bodyPr wrap="none" lIns="0" tIns="0" rIns="0" bIns="0">
            <a:noAutofit/>
          </a:bodyPr>
          <a:lstStyle/>
          <a:p>
            <a:pPr indent="0"/>
            <a:r>
              <a:rPr lang="en-US" sz="1400" b="1" spc="-50">
                <a:latin typeface="Cambria"/>
              </a:rPr>
              <a:t>Application programs</a:t>
            </a:r>
          </a:p>
        </p:txBody>
      </p:sp>
      <p:sp>
        <p:nvSpPr>
          <p:cNvPr id="8" name="Rectangle 7"/>
          <p:cNvSpPr/>
          <p:nvPr/>
        </p:nvSpPr>
        <p:spPr>
          <a:xfrm>
            <a:off x="2834640" y="2005584"/>
            <a:ext cx="505968" cy="158496"/>
          </a:xfrm>
          <a:prstGeom prst="rect">
            <a:avLst/>
          </a:prstGeom>
        </p:spPr>
        <p:txBody>
          <a:bodyPr wrap="none" lIns="0" tIns="0" rIns="0" bIns="0">
            <a:noAutofit/>
          </a:bodyPr>
          <a:lstStyle/>
          <a:p>
            <a:pPr indent="0"/>
            <a:r>
              <a:rPr lang="en-US" sz="1400">
                <a:latin typeface="Sylfaen"/>
              </a:rPr>
              <a:t>Client</a:t>
            </a:r>
          </a:p>
        </p:txBody>
      </p:sp>
      <p:sp>
        <p:nvSpPr>
          <p:cNvPr id="9" name="Rectangle 8"/>
          <p:cNvSpPr/>
          <p:nvPr/>
        </p:nvSpPr>
        <p:spPr>
          <a:xfrm>
            <a:off x="6236208" y="2151888"/>
            <a:ext cx="505968" cy="146304"/>
          </a:xfrm>
          <a:prstGeom prst="rect">
            <a:avLst/>
          </a:prstGeom>
        </p:spPr>
        <p:txBody>
          <a:bodyPr wrap="none" lIns="0" tIns="0" rIns="0" bIns="0">
            <a:noAutofit/>
          </a:bodyPr>
          <a:lstStyle/>
          <a:p>
            <a:pPr indent="0"/>
            <a:r>
              <a:rPr lang="en-US" sz="1400">
                <a:latin typeface="Sylfaen"/>
              </a:rPr>
              <a:t>Server</a:t>
            </a:r>
          </a:p>
        </p:txBody>
      </p:sp>
      <p:sp>
        <p:nvSpPr>
          <p:cNvPr id="10" name="Rectangle 9"/>
          <p:cNvSpPr/>
          <p:nvPr/>
        </p:nvSpPr>
        <p:spPr>
          <a:xfrm>
            <a:off x="5644896" y="3364992"/>
            <a:ext cx="664464" cy="134112"/>
          </a:xfrm>
          <a:prstGeom prst="rect">
            <a:avLst/>
          </a:prstGeom>
        </p:spPr>
        <p:txBody>
          <a:bodyPr wrap="none" lIns="0" tIns="0" rIns="0" bIns="0">
            <a:noAutofit/>
          </a:bodyPr>
          <a:lstStyle/>
          <a:p>
            <a:pPr indent="0"/>
            <a:r>
              <a:rPr lang="en-US" sz="1200">
                <a:latin typeface="Calibri"/>
              </a:rPr>
              <a:t>Operating</a:t>
            </a:r>
          </a:p>
        </p:txBody>
      </p:sp>
      <p:sp>
        <p:nvSpPr>
          <p:cNvPr id="11" name="Rectangle 10"/>
          <p:cNvSpPr/>
          <p:nvPr/>
        </p:nvSpPr>
        <p:spPr>
          <a:xfrm>
            <a:off x="1908048" y="3413760"/>
            <a:ext cx="664464" cy="134112"/>
          </a:xfrm>
          <a:prstGeom prst="rect">
            <a:avLst/>
          </a:prstGeom>
        </p:spPr>
        <p:txBody>
          <a:bodyPr wrap="none" lIns="0" tIns="0" rIns="0" bIns="0">
            <a:noAutofit/>
          </a:bodyPr>
          <a:lstStyle/>
          <a:p>
            <a:pPr indent="0"/>
            <a:r>
              <a:rPr lang="en-US" sz="1200">
                <a:latin typeface="Calibri"/>
              </a:rPr>
              <a:t>Operating</a:t>
            </a:r>
          </a:p>
        </p:txBody>
      </p:sp>
      <p:sp>
        <p:nvSpPr>
          <p:cNvPr id="12" name="Rectangle 11"/>
          <p:cNvSpPr/>
          <p:nvPr/>
        </p:nvSpPr>
        <p:spPr>
          <a:xfrm>
            <a:off x="5742432" y="3578352"/>
            <a:ext cx="451104" cy="121920"/>
          </a:xfrm>
          <a:prstGeom prst="rect">
            <a:avLst/>
          </a:prstGeom>
        </p:spPr>
        <p:txBody>
          <a:bodyPr wrap="none" lIns="0" tIns="0" rIns="0" bIns="0">
            <a:noAutofit/>
          </a:bodyPr>
          <a:lstStyle/>
          <a:p>
            <a:pPr indent="0"/>
            <a:r>
              <a:rPr lang="en-US" sz="1200">
                <a:latin typeface="Calibri"/>
              </a:rPr>
              <a:t>system</a:t>
            </a:r>
          </a:p>
        </p:txBody>
      </p:sp>
      <p:sp>
        <p:nvSpPr>
          <p:cNvPr id="13" name="Rectangle 12"/>
          <p:cNvSpPr/>
          <p:nvPr/>
        </p:nvSpPr>
        <p:spPr>
          <a:xfrm>
            <a:off x="2011680" y="3621024"/>
            <a:ext cx="451104" cy="128016"/>
          </a:xfrm>
          <a:prstGeom prst="rect">
            <a:avLst/>
          </a:prstGeom>
        </p:spPr>
        <p:txBody>
          <a:bodyPr wrap="none" lIns="0" tIns="0" rIns="0" bIns="0">
            <a:noAutofit/>
          </a:bodyPr>
          <a:lstStyle/>
          <a:p>
            <a:pPr indent="0"/>
            <a:r>
              <a:rPr lang="en-US" sz="1200">
                <a:latin typeface="Calibri"/>
              </a:rPr>
              <a:t>system</a:t>
            </a:r>
          </a:p>
        </p:txBody>
      </p:sp>
      <p:sp>
        <p:nvSpPr>
          <p:cNvPr id="14" name="Rectangle 13"/>
          <p:cNvSpPr/>
          <p:nvPr/>
        </p:nvSpPr>
        <p:spPr>
          <a:xfrm>
            <a:off x="6169152" y="3840480"/>
            <a:ext cx="377952" cy="164592"/>
          </a:xfrm>
          <a:prstGeom prst="rect">
            <a:avLst/>
          </a:prstGeom>
        </p:spPr>
        <p:txBody>
          <a:bodyPr wrap="none" lIns="0" tIns="0" rIns="0" bIns="0">
            <a:noAutofit/>
          </a:bodyPr>
          <a:lstStyle/>
          <a:p>
            <a:pPr indent="0"/>
            <a:r>
              <a:rPr lang="en-US" sz="1300">
                <a:latin typeface="Cambria"/>
              </a:rPr>
              <a:t>TCP</a:t>
            </a:r>
          </a:p>
        </p:txBody>
      </p:sp>
      <p:sp>
        <p:nvSpPr>
          <p:cNvPr id="15" name="Rectangle 14"/>
          <p:cNvSpPr/>
          <p:nvPr/>
        </p:nvSpPr>
        <p:spPr>
          <a:xfrm>
            <a:off x="3730752" y="3938016"/>
            <a:ext cx="323088" cy="146304"/>
          </a:xfrm>
          <a:prstGeom prst="rect">
            <a:avLst/>
          </a:prstGeom>
        </p:spPr>
        <p:txBody>
          <a:bodyPr wrap="none" lIns="0" tIns="0" rIns="0" bIns="0">
            <a:noAutofit/>
          </a:bodyPr>
          <a:lstStyle/>
          <a:p>
            <a:pPr indent="0"/>
            <a:r>
              <a:rPr lang="en-US" sz="1600">
                <a:latin typeface="Calibri"/>
              </a:rPr>
              <a:t>TCP</a:t>
            </a:r>
          </a:p>
        </p:txBody>
      </p:sp>
      <p:sp>
        <p:nvSpPr>
          <p:cNvPr id="16" name="Rectangle 15"/>
          <p:cNvSpPr/>
          <p:nvPr/>
        </p:nvSpPr>
        <p:spPr>
          <a:xfrm>
            <a:off x="7723632" y="4303776"/>
            <a:ext cx="1158240" cy="128016"/>
          </a:xfrm>
          <a:prstGeom prst="rect">
            <a:avLst/>
          </a:prstGeom>
        </p:spPr>
        <p:txBody>
          <a:bodyPr wrap="none" lIns="0" tIns="0" rIns="0" bIns="0">
            <a:noAutofit/>
          </a:bodyPr>
          <a:lstStyle/>
          <a:p>
            <a:pPr indent="0"/>
            <a:r>
              <a:rPr lang="en-US" sz="1300">
                <a:latin typeface="Arial"/>
              </a:rPr>
              <a:t>Pseudoterminal</a:t>
            </a:r>
          </a:p>
        </p:txBody>
      </p:sp>
      <p:sp>
        <p:nvSpPr>
          <p:cNvPr id="17" name="Rectangle 16"/>
          <p:cNvSpPr/>
          <p:nvPr/>
        </p:nvSpPr>
        <p:spPr>
          <a:xfrm>
            <a:off x="6047232" y="4480560"/>
            <a:ext cx="774192" cy="152400"/>
          </a:xfrm>
          <a:prstGeom prst="rect">
            <a:avLst/>
          </a:prstGeom>
        </p:spPr>
        <p:txBody>
          <a:bodyPr wrap="none" lIns="0" tIns="0" rIns="0" bIns="0">
            <a:noAutofit/>
          </a:bodyPr>
          <a:lstStyle/>
          <a:p>
            <a:pPr indent="0"/>
            <a:r>
              <a:rPr lang="en-US" sz="1600">
                <a:latin typeface="Calibri"/>
              </a:rPr>
              <a:t>Data link</a:t>
            </a:r>
          </a:p>
        </p:txBody>
      </p:sp>
      <p:sp>
        <p:nvSpPr>
          <p:cNvPr id="18" name="Rectangle 17"/>
          <p:cNvSpPr/>
          <p:nvPr/>
        </p:nvSpPr>
        <p:spPr>
          <a:xfrm>
            <a:off x="8089392" y="4529328"/>
            <a:ext cx="445008" cy="121920"/>
          </a:xfrm>
          <a:prstGeom prst="rect">
            <a:avLst/>
          </a:prstGeom>
        </p:spPr>
        <p:txBody>
          <a:bodyPr wrap="none" lIns="0" tIns="0" rIns="0" bIns="0">
            <a:noAutofit/>
          </a:bodyPr>
          <a:lstStyle/>
          <a:p>
            <a:pPr indent="0"/>
            <a:r>
              <a:rPr lang="en-US" sz="1300">
                <a:latin typeface="Arial"/>
              </a:rPr>
              <a:t>Driver</a:t>
            </a:r>
          </a:p>
        </p:txBody>
      </p:sp>
      <p:sp>
        <p:nvSpPr>
          <p:cNvPr id="19" name="Rectangle 18"/>
          <p:cNvSpPr/>
          <p:nvPr/>
        </p:nvSpPr>
        <p:spPr>
          <a:xfrm>
            <a:off x="950976" y="4535424"/>
            <a:ext cx="585216" cy="109728"/>
          </a:xfrm>
          <a:prstGeom prst="rect">
            <a:avLst/>
          </a:prstGeom>
        </p:spPr>
        <p:txBody>
          <a:bodyPr wrap="none" lIns="0" tIns="0" rIns="0" bIns="0">
            <a:noAutofit/>
          </a:bodyPr>
          <a:lstStyle/>
          <a:p>
            <a:pPr indent="0"/>
            <a:r>
              <a:rPr lang="en-US" sz="1100">
                <a:latin typeface="Calibri"/>
              </a:rPr>
              <a:t>Terminal</a:t>
            </a:r>
          </a:p>
        </p:txBody>
      </p:sp>
      <p:sp>
        <p:nvSpPr>
          <p:cNvPr id="20" name="Rectangle 19"/>
          <p:cNvSpPr/>
          <p:nvPr/>
        </p:nvSpPr>
        <p:spPr>
          <a:xfrm>
            <a:off x="2066544" y="4565904"/>
            <a:ext cx="615696" cy="115824"/>
          </a:xfrm>
          <a:prstGeom prst="rect">
            <a:avLst/>
          </a:prstGeom>
        </p:spPr>
        <p:txBody>
          <a:bodyPr wrap="none" lIns="0" tIns="0" rIns="0" bIns="0">
            <a:noAutofit/>
          </a:bodyPr>
          <a:lstStyle/>
          <a:p>
            <a:pPr indent="0"/>
            <a:r>
              <a:rPr lang="en-US" sz="1050" b="1" spc="-50">
                <a:latin typeface="Cambria"/>
              </a:rPr>
              <a:t>T ermmal</a:t>
            </a:r>
          </a:p>
        </p:txBody>
      </p:sp>
      <p:sp>
        <p:nvSpPr>
          <p:cNvPr id="21" name="Rectangle 20"/>
          <p:cNvSpPr/>
          <p:nvPr/>
        </p:nvSpPr>
        <p:spPr>
          <a:xfrm>
            <a:off x="3499104" y="4584192"/>
            <a:ext cx="768096" cy="152400"/>
          </a:xfrm>
          <a:prstGeom prst="rect">
            <a:avLst/>
          </a:prstGeom>
        </p:spPr>
        <p:txBody>
          <a:bodyPr wrap="none" lIns="0" tIns="0" rIns="0" bIns="0">
            <a:noAutofit/>
          </a:bodyPr>
          <a:lstStyle/>
          <a:p>
            <a:pPr indent="0"/>
            <a:r>
              <a:rPr lang="en-US" sz="1600">
                <a:latin typeface="Calibri"/>
              </a:rPr>
              <a:t>Data link</a:t>
            </a:r>
          </a:p>
        </p:txBody>
      </p:sp>
      <p:sp>
        <p:nvSpPr>
          <p:cNvPr id="22" name="Rectangle 21"/>
          <p:cNvSpPr/>
          <p:nvPr/>
        </p:nvSpPr>
        <p:spPr>
          <a:xfrm>
            <a:off x="2188464" y="4767072"/>
            <a:ext cx="384048" cy="115824"/>
          </a:xfrm>
          <a:prstGeom prst="rect">
            <a:avLst/>
          </a:prstGeom>
        </p:spPr>
        <p:txBody>
          <a:bodyPr wrap="none" lIns="0" tIns="0" rIns="0" bIns="0">
            <a:noAutofit/>
          </a:bodyPr>
          <a:lstStyle/>
          <a:p>
            <a:pPr indent="0"/>
            <a:r>
              <a:rPr lang="en-US" sz="1050" b="1" spc="-50">
                <a:latin typeface="Cambria"/>
              </a:rPr>
              <a:t>driver</a:t>
            </a:r>
          </a:p>
        </p:txBody>
      </p:sp>
      <p:sp>
        <p:nvSpPr>
          <p:cNvPr id="23" name="Rectangle 22"/>
          <p:cNvSpPr/>
          <p:nvPr/>
        </p:nvSpPr>
        <p:spPr>
          <a:xfrm>
            <a:off x="6083808" y="4834128"/>
            <a:ext cx="676656" cy="182880"/>
          </a:xfrm>
          <a:prstGeom prst="rect">
            <a:avLst/>
          </a:prstGeom>
        </p:spPr>
        <p:txBody>
          <a:bodyPr wrap="none" lIns="0" tIns="0" rIns="0" bIns="0">
            <a:noAutofit/>
          </a:bodyPr>
          <a:lstStyle/>
          <a:p>
            <a:pPr indent="0"/>
            <a:r>
              <a:rPr lang="en-US" sz="1600">
                <a:latin typeface="Calibri"/>
              </a:rPr>
              <a:t>Physical</a:t>
            </a:r>
          </a:p>
        </p:txBody>
      </p:sp>
      <p:sp>
        <p:nvSpPr>
          <p:cNvPr id="24" name="Rectangle 23"/>
          <p:cNvSpPr/>
          <p:nvPr/>
        </p:nvSpPr>
        <p:spPr>
          <a:xfrm>
            <a:off x="3529584" y="4901184"/>
            <a:ext cx="682752" cy="195072"/>
          </a:xfrm>
          <a:prstGeom prst="rect">
            <a:avLst/>
          </a:prstGeom>
        </p:spPr>
        <p:txBody>
          <a:bodyPr wrap="none" lIns="0" tIns="0" rIns="0" bIns="0">
            <a:noAutofit/>
          </a:bodyPr>
          <a:lstStyle/>
          <a:p>
            <a:pPr indent="0"/>
            <a:r>
              <a:rPr lang="en-US" sz="1600">
                <a:latin typeface="Calibri"/>
              </a:rPr>
              <a:t>Physical</a:t>
            </a:r>
          </a:p>
        </p:txBody>
      </p:sp>
      <p:sp>
        <p:nvSpPr>
          <p:cNvPr id="25" name="Rectangle 24"/>
          <p:cNvSpPr/>
          <p:nvPr/>
        </p:nvSpPr>
        <p:spPr>
          <a:xfrm>
            <a:off x="950976" y="6589776"/>
            <a:ext cx="8653272" cy="643128"/>
          </a:xfrm>
          <a:prstGeom prst="rect">
            <a:avLst/>
          </a:prstGeom>
        </p:spPr>
        <p:txBody>
          <a:bodyPr lIns="0" tIns="0" rIns="0" bIns="0">
            <a:noAutofit/>
          </a:bodyPr>
          <a:lstStyle/>
          <a:p>
            <a:pPr marL="254000" indent="-254000">
              <a:lnSpc>
                <a:spcPts val="2784"/>
              </a:lnSpc>
              <a:spcBef>
                <a:spcPts val="3150"/>
              </a:spcBef>
            </a:pPr>
            <a:r>
              <a:rPr lang="en-US" sz="2200">
                <a:latin typeface="Calibri"/>
              </a:rPr>
              <a:t>o When the user wants to access an application program on a remote computer, then the user must perform remote login.</a:t>
            </a:r>
          </a:p>
        </p:txBody>
      </p:sp>
      <p:sp>
        <p:nvSpPr>
          <p:cNvPr id="26" name="Date Placeholder 25"/>
          <p:cNvSpPr>
            <a:spLocks noGrp="1"/>
          </p:cNvSpPr>
          <p:nvPr>
            <p:ph type="dt" sz="half" idx="10"/>
          </p:nvPr>
        </p:nvSpPr>
        <p:spPr/>
        <p:txBody>
          <a:bodyPr/>
          <a:lstStyle/>
          <a:p>
            <a:fld id="{2509E991-0691-4549-80F2-77CA47C9BA90}" type="datetime1">
              <a:rPr lang="en-US" smtClean="0"/>
              <a:t>4/29/2022</a:t>
            </a:fld>
            <a:endParaRPr lang="en-US"/>
          </a:p>
        </p:txBody>
      </p:sp>
      <p:sp>
        <p:nvSpPr>
          <p:cNvPr id="28" name="Slide Number Placeholder 27"/>
          <p:cNvSpPr>
            <a:spLocks noGrp="1"/>
          </p:cNvSpPr>
          <p:nvPr>
            <p:ph type="sldNum" sz="quarter" idx="12"/>
          </p:nvPr>
        </p:nvSpPr>
        <p:spPr/>
        <p:txBody>
          <a:bodyPr/>
          <a:lstStyle/>
          <a:p>
            <a:fld id="{A0B67B60-8227-4ECE-9065-6110C6EB035F}" type="slidenum">
              <a:rPr lang="en-US" smtClean="0"/>
              <a:t>88</a:t>
            </a:fld>
            <a:endParaRPr lang="en-US"/>
          </a:p>
        </p:txBody>
      </p:sp>
      <p:sp>
        <p:nvSpPr>
          <p:cNvPr id="29"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3232" y="975360"/>
            <a:ext cx="8897112" cy="5641848"/>
          </a:xfrm>
          <a:prstGeom prst="rect">
            <a:avLst/>
          </a:prstGeom>
        </p:spPr>
        <p:txBody>
          <a:bodyPr lIns="0" tIns="0" rIns="0" bIns="0">
            <a:noAutofit/>
          </a:bodyPr>
          <a:lstStyle/>
          <a:p>
            <a:pPr marR="5854700" indent="0">
              <a:lnSpc>
                <a:spcPts val="3816"/>
              </a:lnSpc>
              <a:spcAft>
                <a:spcPts val="210"/>
              </a:spcAft>
            </a:pPr>
            <a:r>
              <a:rPr lang="en-US" sz="2200" b="1" dirty="0">
                <a:latin typeface="Calibri"/>
              </a:rPr>
              <a:t>How remote login occurs At the local site</a:t>
            </a:r>
          </a:p>
          <a:p>
            <a:pPr indent="482600" algn="just">
              <a:lnSpc>
                <a:spcPts val="2784"/>
              </a:lnSpc>
              <a:spcAft>
                <a:spcPts val="840"/>
              </a:spcAft>
            </a:pPr>
            <a:r>
              <a:rPr lang="en-US" sz="2200" dirty="0">
                <a:latin typeface="Calibri"/>
              </a:rPr>
              <a:t>The user sends the keystrokes to the terminal driver, the characters are then sent to the TELNET client. The TELNET client which in turn, transforms the characters to a universal character set known as network virtual terminal characters and delivers them to the local TCP/IP stack</a:t>
            </a:r>
          </a:p>
          <a:p>
            <a:pPr indent="0">
              <a:spcAft>
                <a:spcPts val="1680"/>
              </a:spcAft>
            </a:pPr>
            <a:r>
              <a:rPr lang="en-US" sz="2200" b="1" dirty="0">
                <a:latin typeface="Calibri"/>
              </a:rPr>
              <a:t>At the remote site</a:t>
            </a:r>
          </a:p>
          <a:p>
            <a:pPr indent="482600" algn="just">
              <a:lnSpc>
                <a:spcPts val="2808"/>
              </a:lnSpc>
            </a:pPr>
            <a:r>
              <a:rPr lang="en-US" sz="2200" dirty="0">
                <a:latin typeface="Calibri"/>
              </a:rPr>
              <a:t>The commands in NVT forms are transmitted to the TCP/IP at the remote machine. Here, the characters are delivered to the operating system and then pass to the TELNET server. The TELNET server transforms the characters which can be understandable by a remote computer. However, the characters cannot be directly passed to the operating system as a remote operating system does not receive the characters from the TELNET server. Therefore it requires some piece of software that can accept</a:t>
            </a:r>
          </a:p>
        </p:txBody>
      </p:sp>
      <p:sp>
        <p:nvSpPr>
          <p:cNvPr id="3" name="Date Placeholder 2"/>
          <p:cNvSpPr>
            <a:spLocks noGrp="1"/>
          </p:cNvSpPr>
          <p:nvPr>
            <p:ph type="dt" sz="half" idx="10"/>
          </p:nvPr>
        </p:nvSpPr>
        <p:spPr/>
        <p:txBody>
          <a:bodyPr/>
          <a:lstStyle/>
          <a:p>
            <a:fld id="{FE8480C3-250A-454F-B770-8496CB9EE93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89</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72312"/>
            <a:ext cx="8887968" cy="646176"/>
          </a:xfrm>
          <a:prstGeom prst="rect">
            <a:avLst/>
          </a:prstGeom>
        </p:spPr>
        <p:txBody>
          <a:bodyPr lIns="0" tIns="0" rIns="0" bIns="0">
            <a:noAutofit/>
          </a:bodyPr>
          <a:lstStyle/>
          <a:p>
            <a:pPr indent="0" algn="just">
              <a:lnSpc>
                <a:spcPts val="2832"/>
              </a:lnSpc>
            </a:pPr>
            <a:r>
              <a:rPr lang="en-US" sz="2200">
                <a:latin typeface="Calibri"/>
              </a:rPr>
              <a:t>the characters from the TELNET server. The operating system then passes these characters to the appropriate application program.</a:t>
            </a:r>
          </a:p>
        </p:txBody>
      </p:sp>
      <p:sp>
        <p:nvSpPr>
          <p:cNvPr id="3" name="Date Placeholder 2"/>
          <p:cNvSpPr>
            <a:spLocks noGrp="1"/>
          </p:cNvSpPr>
          <p:nvPr>
            <p:ph type="dt" sz="half" idx="10"/>
          </p:nvPr>
        </p:nvSpPr>
        <p:spPr/>
        <p:txBody>
          <a:bodyPr/>
          <a:lstStyle/>
          <a:p>
            <a:fld id="{65E05B27-E9B9-462B-A7E4-DDB1A6ABC46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90</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81144" y="984504"/>
            <a:ext cx="716280" cy="228600"/>
          </a:xfrm>
          <a:prstGeom prst="rect">
            <a:avLst/>
          </a:prstGeom>
        </p:spPr>
        <p:txBody>
          <a:bodyPr wrap="none" lIns="0" tIns="0" rIns="0" bIns="0">
            <a:noAutofit/>
          </a:bodyPr>
          <a:lstStyle/>
          <a:p>
            <a:pPr indent="0"/>
            <a:r>
              <a:rPr lang="en-US" sz="2300" b="1">
                <a:latin typeface="Calibri"/>
              </a:rPr>
              <a:t>SMTP</a:t>
            </a:r>
          </a:p>
        </p:txBody>
      </p:sp>
      <p:sp>
        <p:nvSpPr>
          <p:cNvPr id="3" name="Rectangle 2"/>
          <p:cNvSpPr/>
          <p:nvPr/>
        </p:nvSpPr>
        <p:spPr>
          <a:xfrm>
            <a:off x="713232" y="1392936"/>
            <a:ext cx="8906256" cy="5504688"/>
          </a:xfrm>
          <a:prstGeom prst="rect">
            <a:avLst/>
          </a:prstGeom>
        </p:spPr>
        <p:txBody>
          <a:bodyPr lIns="0" tIns="0" rIns="0" bIns="0">
            <a:noAutofit/>
          </a:bodyPr>
          <a:lstStyle/>
          <a:p>
            <a:pPr marL="711200" indent="-215900" algn="just">
              <a:lnSpc>
                <a:spcPts val="2856"/>
              </a:lnSpc>
            </a:pPr>
            <a:endParaRPr lang="en-US" sz="2200" dirty="0">
              <a:latin typeface="Calibri"/>
            </a:endParaRPr>
          </a:p>
          <a:p>
            <a:pPr marL="711200" indent="-215900" algn="just">
              <a:lnSpc>
                <a:spcPts val="2856"/>
              </a:lnSpc>
            </a:pPr>
            <a:r>
              <a:rPr lang="en-US" sz="2200" dirty="0">
                <a:latin typeface="Calibri"/>
              </a:rPr>
              <a:t>•	SMTP stands for Simple Mail Transfer Protocol.</a:t>
            </a:r>
          </a:p>
          <a:p>
            <a:pPr marL="711200" indent="-215900" algn="just">
              <a:lnSpc>
                <a:spcPts val="2856"/>
              </a:lnSpc>
            </a:pPr>
            <a:r>
              <a:rPr lang="en-US" sz="2200" dirty="0">
                <a:latin typeface="Calibri"/>
              </a:rPr>
              <a:t>• SMTP is a set of communication guidelines that allow software to transmit an electronic mail over the internet is called </a:t>
            </a:r>
            <a:r>
              <a:rPr lang="en-US" sz="2200" b="1" dirty="0">
                <a:latin typeface="Calibri"/>
              </a:rPr>
              <a:t>Simple Mail Transfer Protocol.</a:t>
            </a:r>
          </a:p>
          <a:p>
            <a:pPr marL="711200" indent="-215900" algn="just">
              <a:lnSpc>
                <a:spcPts val="2856"/>
              </a:lnSpc>
            </a:pPr>
            <a:r>
              <a:rPr lang="en-US" sz="2200" dirty="0">
                <a:latin typeface="Calibri"/>
              </a:rPr>
              <a:t>•		It is a program used for sending messages to other computer users based on e-mail addresses.</a:t>
            </a:r>
          </a:p>
          <a:p>
            <a:pPr marL="711200" indent="-215900" algn="just">
              <a:lnSpc>
                <a:spcPts val="2856"/>
              </a:lnSpc>
            </a:pPr>
            <a:r>
              <a:rPr lang="en-US" sz="2200" dirty="0">
                <a:latin typeface="Calibri"/>
              </a:rPr>
              <a:t>•		It provides a mail exchange between users on the same or different computers, and it also supports:</a:t>
            </a:r>
          </a:p>
          <a:p>
            <a:pPr marL="952500" indent="0">
              <a:lnSpc>
                <a:spcPts val="2784"/>
              </a:lnSpc>
              <a:spcAft>
                <a:spcPts val="840"/>
              </a:spcAft>
            </a:pPr>
            <a:r>
              <a:rPr lang="en-US" sz="2200" dirty="0">
                <a:latin typeface="Calibri"/>
              </a:rPr>
              <a:t>o It can send a single message to one or more recipients. o Sending message can include text, voice, video or graphics. o It can also send the messages on networks outside the internet.</a:t>
            </a:r>
          </a:p>
          <a:p>
            <a:pPr indent="0" algn="just">
              <a:lnSpc>
                <a:spcPts val="2784"/>
              </a:lnSpc>
            </a:pPr>
            <a:r>
              <a:rPr lang="en-US" sz="2200" dirty="0">
                <a:latin typeface="Calibri"/>
              </a:rPr>
              <a:t>The main purpose of SMTP is used to set up communication rules between servers. The servers have a way of identifying themselves and announcing what kind of communication they are trying to perform. They also have a way of handling the errors such as incorrect email address. For example, if the </a:t>
            </a:r>
          </a:p>
        </p:txBody>
      </p:sp>
      <p:sp>
        <p:nvSpPr>
          <p:cNvPr id="4" name="Date Placeholder 3"/>
          <p:cNvSpPr>
            <a:spLocks noGrp="1"/>
          </p:cNvSpPr>
          <p:nvPr>
            <p:ph type="dt" sz="half" idx="10"/>
          </p:nvPr>
        </p:nvSpPr>
        <p:spPr/>
        <p:txBody>
          <a:bodyPr/>
          <a:lstStyle/>
          <a:p>
            <a:fld id="{B7F712B8-842F-4546-B833-1B94BEFA7CB2}"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91</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45208" y="2575560"/>
            <a:ext cx="4288536" cy="2426208"/>
          </a:xfrm>
          <a:prstGeom prst="rect">
            <a:avLst/>
          </a:prstGeom>
        </p:spPr>
      </p:pic>
      <p:sp>
        <p:nvSpPr>
          <p:cNvPr id="3" name="Rectangle 2"/>
          <p:cNvSpPr/>
          <p:nvPr/>
        </p:nvSpPr>
        <p:spPr>
          <a:xfrm>
            <a:off x="268224" y="975360"/>
            <a:ext cx="9348216" cy="1161288"/>
          </a:xfrm>
          <a:prstGeom prst="rect">
            <a:avLst/>
          </a:prstGeom>
        </p:spPr>
        <p:txBody>
          <a:bodyPr lIns="0" tIns="0" rIns="0" bIns="0">
            <a:noAutofit/>
          </a:bodyPr>
          <a:lstStyle/>
          <a:p>
            <a:pPr marL="482600" indent="0" algn="just">
              <a:lnSpc>
                <a:spcPts val="2784"/>
              </a:lnSpc>
              <a:spcAft>
                <a:spcPts val="1050"/>
              </a:spcAft>
            </a:pPr>
            <a:r>
              <a:rPr lang="en-US" sz="2200" dirty="0">
                <a:latin typeface="Calibri"/>
              </a:rPr>
              <a:t>recipient address is wrong, then receiving server reply with an error message of some kind.</a:t>
            </a:r>
          </a:p>
          <a:p>
            <a:pPr indent="0">
              <a:spcAft>
                <a:spcPts val="2520"/>
              </a:spcAft>
            </a:pPr>
            <a:r>
              <a:rPr lang="en-US" sz="2200" b="1" dirty="0">
                <a:latin typeface="Calibri"/>
              </a:rPr>
              <a:t>Components of SMTP</a:t>
            </a:r>
          </a:p>
        </p:txBody>
      </p:sp>
      <p:sp>
        <p:nvSpPr>
          <p:cNvPr id="4" name="Rectangle 3"/>
          <p:cNvSpPr/>
          <p:nvPr/>
        </p:nvSpPr>
        <p:spPr>
          <a:xfrm>
            <a:off x="725424" y="5224272"/>
            <a:ext cx="8884920" cy="1645920"/>
          </a:xfrm>
          <a:prstGeom prst="rect">
            <a:avLst/>
          </a:prstGeom>
        </p:spPr>
        <p:txBody>
          <a:bodyPr lIns="0" tIns="0" rIns="0" bIns="0">
            <a:noAutofit/>
          </a:bodyPr>
          <a:lstStyle/>
          <a:p>
            <a:pPr marL="254000" indent="-228600" algn="just">
              <a:lnSpc>
                <a:spcPts val="2808"/>
              </a:lnSpc>
              <a:spcBef>
                <a:spcPts val="1050"/>
              </a:spcBef>
            </a:pPr>
            <a:r>
              <a:rPr lang="en-US" sz="2200">
                <a:latin typeface="Calibri"/>
              </a:rPr>
              <a:t>• First, we will break the SMTP client and SMTP server into two components such as user agent (UA) and mail transfer agent (MTA). The user agent (UA) prepares the message, creates the envelope and then puts the message in the envelope. The mail transfer agent (MTA) transfers this mail across the internet.</a:t>
            </a:r>
          </a:p>
        </p:txBody>
      </p:sp>
      <p:sp>
        <p:nvSpPr>
          <p:cNvPr id="5" name="Date Placeholder 4"/>
          <p:cNvSpPr>
            <a:spLocks noGrp="1"/>
          </p:cNvSpPr>
          <p:nvPr>
            <p:ph type="dt" sz="half" idx="10"/>
          </p:nvPr>
        </p:nvSpPr>
        <p:spPr/>
        <p:txBody>
          <a:bodyPr/>
          <a:lstStyle/>
          <a:p>
            <a:fld id="{E9925E12-1C3A-41B9-8622-C0CA237B6445}"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92</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5920" y="914400"/>
            <a:ext cx="5239512" cy="3361944"/>
          </a:xfrm>
          <a:prstGeom prst="rect">
            <a:avLst/>
          </a:prstGeom>
        </p:spPr>
      </p:pic>
      <p:sp>
        <p:nvSpPr>
          <p:cNvPr id="3" name="Rectangle 2"/>
          <p:cNvSpPr/>
          <p:nvPr/>
        </p:nvSpPr>
        <p:spPr>
          <a:xfrm>
            <a:off x="722376" y="4373880"/>
            <a:ext cx="8878824" cy="999744"/>
          </a:xfrm>
          <a:prstGeom prst="rect">
            <a:avLst/>
          </a:prstGeom>
        </p:spPr>
        <p:txBody>
          <a:bodyPr lIns="0" tIns="0" rIns="0" bIns="0">
            <a:noAutofit/>
          </a:bodyPr>
          <a:lstStyle/>
          <a:p>
            <a:pPr indent="0" algn="just">
              <a:lnSpc>
                <a:spcPts val="2808"/>
              </a:lnSpc>
              <a:spcBef>
                <a:spcPts val="420"/>
              </a:spcBef>
            </a:pPr>
            <a:r>
              <a:rPr lang="en-US" sz="2200">
                <a:latin typeface="Calibri"/>
              </a:rPr>
              <a:t>SMTP allows a more complex system by adding a relaying system. Instead of just having one MTA at sending side and one at receiving side, more MTAs can be added, acting either as a client or server to relay the email.</a:t>
            </a:r>
          </a:p>
        </p:txBody>
      </p:sp>
      <p:sp>
        <p:nvSpPr>
          <p:cNvPr id="4" name="Date Placeholder 3"/>
          <p:cNvSpPr>
            <a:spLocks noGrp="1"/>
          </p:cNvSpPr>
          <p:nvPr>
            <p:ph type="dt" sz="half" idx="10"/>
          </p:nvPr>
        </p:nvSpPr>
        <p:spPr/>
        <p:txBody>
          <a:bodyPr/>
          <a:lstStyle/>
          <a:p>
            <a:fld id="{431EC2CC-1DB0-46D1-A444-6ECB3057721A}"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93</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74520" y="914400"/>
            <a:ext cx="5239512" cy="3480816"/>
          </a:xfrm>
          <a:prstGeom prst="rect">
            <a:avLst/>
          </a:prstGeom>
        </p:spPr>
      </p:pic>
      <p:sp>
        <p:nvSpPr>
          <p:cNvPr id="3" name="Rectangle 2"/>
          <p:cNvSpPr/>
          <p:nvPr/>
        </p:nvSpPr>
        <p:spPr>
          <a:xfrm>
            <a:off x="490728" y="4486656"/>
            <a:ext cx="9110472" cy="1011936"/>
          </a:xfrm>
          <a:prstGeom prst="rect">
            <a:avLst/>
          </a:prstGeom>
        </p:spPr>
        <p:txBody>
          <a:bodyPr lIns="0" tIns="0" rIns="0" bIns="0">
            <a:noAutofit/>
          </a:bodyPr>
          <a:lstStyle/>
          <a:p>
            <a:pPr marL="254000" indent="-254000" algn="just">
              <a:lnSpc>
                <a:spcPts val="2808"/>
              </a:lnSpc>
              <a:spcBef>
                <a:spcPts val="420"/>
              </a:spcBef>
            </a:pPr>
            <a:r>
              <a:rPr lang="en-US" sz="2200">
                <a:latin typeface="Calibri"/>
              </a:rPr>
              <a:t>. The relaying system without TCP/IP protocol can also be used to send the emails to users, and this is achieved by the use of the mail gateway. The mail gateway is a relay MTA that can be used to receive an email.</a:t>
            </a:r>
          </a:p>
        </p:txBody>
      </p:sp>
      <p:sp>
        <p:nvSpPr>
          <p:cNvPr id="4" name="Date Placeholder 3"/>
          <p:cNvSpPr>
            <a:spLocks noGrp="1"/>
          </p:cNvSpPr>
          <p:nvPr>
            <p:ph type="dt" sz="half" idx="10"/>
          </p:nvPr>
        </p:nvSpPr>
        <p:spPr/>
        <p:txBody>
          <a:bodyPr/>
          <a:lstStyle/>
          <a:p>
            <a:fld id="{A25B45F2-228E-47E2-8671-2AD2888DEC1E}"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94</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88008" y="914400"/>
            <a:ext cx="5239512" cy="3386328"/>
          </a:xfrm>
          <a:prstGeom prst="rect">
            <a:avLst/>
          </a:prstGeom>
        </p:spPr>
      </p:pic>
      <p:sp>
        <p:nvSpPr>
          <p:cNvPr id="3" name="Rectangle 2"/>
          <p:cNvSpPr/>
          <p:nvPr/>
        </p:nvSpPr>
        <p:spPr>
          <a:xfrm>
            <a:off x="5666232" y="3346704"/>
            <a:ext cx="609600" cy="371856"/>
          </a:xfrm>
          <a:prstGeom prst="rect">
            <a:avLst/>
          </a:prstGeom>
        </p:spPr>
        <p:txBody>
          <a:bodyPr lIns="0" tIns="0" rIns="0" bIns="0">
            <a:noAutofit/>
          </a:bodyPr>
          <a:lstStyle/>
          <a:p>
            <a:pPr indent="0">
              <a:spcAft>
                <a:spcPts val="210"/>
              </a:spcAft>
            </a:pPr>
            <a:r>
              <a:rPr lang="en-US" sz="1300" spc="-50">
                <a:latin typeface="Arial"/>
              </a:rPr>
              <a:t>Private</a:t>
            </a:r>
          </a:p>
          <a:p>
            <a:pPr indent="0"/>
            <a:r>
              <a:rPr lang="en-US" sz="1300" spc="-50">
                <a:latin typeface="Arial"/>
              </a:rPr>
              <a:t>network</a:t>
            </a:r>
          </a:p>
        </p:txBody>
      </p:sp>
      <p:sp>
        <p:nvSpPr>
          <p:cNvPr id="4" name="Rectangle 3"/>
          <p:cNvSpPr/>
          <p:nvPr/>
        </p:nvSpPr>
        <p:spPr>
          <a:xfrm>
            <a:off x="3340608" y="3617976"/>
            <a:ext cx="792480" cy="204216"/>
          </a:xfrm>
          <a:prstGeom prst="rect">
            <a:avLst/>
          </a:prstGeom>
        </p:spPr>
        <p:txBody>
          <a:bodyPr wrap="none" lIns="0" tIns="0" rIns="0" bIns="0">
            <a:noAutofit/>
          </a:bodyPr>
          <a:lstStyle/>
          <a:p>
            <a:pPr indent="0"/>
            <a:r>
              <a:rPr lang="en-US" sz="2000" spc="-50">
                <a:latin typeface="Sylfaen"/>
              </a:rPr>
              <a:t>Internet</a:t>
            </a:r>
          </a:p>
        </p:txBody>
      </p:sp>
      <p:sp>
        <p:nvSpPr>
          <p:cNvPr id="5" name="Rectangle 4"/>
          <p:cNvSpPr/>
          <p:nvPr/>
        </p:nvSpPr>
        <p:spPr>
          <a:xfrm>
            <a:off x="1615440" y="1133856"/>
            <a:ext cx="591312" cy="146304"/>
          </a:xfrm>
          <a:prstGeom prst="rect">
            <a:avLst/>
          </a:prstGeom>
        </p:spPr>
        <p:txBody>
          <a:bodyPr wrap="none" lIns="0" tIns="0" rIns="0" bIns="0">
            <a:noAutofit/>
          </a:bodyPr>
          <a:lstStyle/>
          <a:p>
            <a:pPr indent="0"/>
            <a:r>
              <a:rPr lang="en-US" sz="1500" b="1">
                <a:latin typeface="Cambria"/>
              </a:rPr>
              <a:t>User A</a:t>
            </a:r>
          </a:p>
        </p:txBody>
      </p:sp>
      <p:sp>
        <p:nvSpPr>
          <p:cNvPr id="6" name="Rectangle 5"/>
          <p:cNvSpPr/>
          <p:nvPr/>
        </p:nvSpPr>
        <p:spPr>
          <a:xfrm>
            <a:off x="5236464" y="1639824"/>
            <a:ext cx="585216" cy="146304"/>
          </a:xfrm>
          <a:prstGeom prst="rect">
            <a:avLst/>
          </a:prstGeom>
        </p:spPr>
        <p:txBody>
          <a:bodyPr wrap="none" lIns="0" tIns="0" rIns="0" bIns="0">
            <a:noAutofit/>
          </a:bodyPr>
          <a:lstStyle/>
          <a:p>
            <a:pPr indent="0"/>
            <a:r>
              <a:rPr lang="en-US" sz="1400" b="1">
                <a:latin typeface="Cambria"/>
              </a:rPr>
              <a:t>User B</a:t>
            </a:r>
          </a:p>
        </p:txBody>
      </p:sp>
      <p:sp>
        <p:nvSpPr>
          <p:cNvPr id="7" name="Rectangle 6"/>
          <p:cNvSpPr/>
          <p:nvPr/>
        </p:nvSpPr>
        <p:spPr>
          <a:xfrm>
            <a:off x="5797296" y="2462784"/>
            <a:ext cx="487680" cy="365760"/>
          </a:xfrm>
          <a:prstGeom prst="rect">
            <a:avLst/>
          </a:prstGeom>
        </p:spPr>
        <p:txBody>
          <a:bodyPr lIns="0" tIns="0" rIns="0" bIns="0">
            <a:noAutofit/>
          </a:bodyPr>
          <a:lstStyle/>
          <a:p>
            <a:pPr indent="0">
              <a:spcAft>
                <a:spcPts val="420"/>
              </a:spcAft>
            </a:pPr>
            <a:r>
              <a:rPr lang="en-US" sz="1400" b="1">
                <a:solidFill>
                  <a:srgbClr val="331309"/>
                </a:solidFill>
                <a:latin typeface="Calibri"/>
              </a:rPr>
              <a:t>Mail</a:t>
            </a:r>
          </a:p>
          <a:p>
            <a:pPr indent="0"/>
            <a:r>
              <a:rPr lang="en-US" sz="1400" b="1">
                <a:solidFill>
                  <a:srgbClr val="331309"/>
                </a:solidFill>
                <a:latin typeface="Calibri"/>
              </a:rPr>
              <a:t>system</a:t>
            </a:r>
          </a:p>
        </p:txBody>
      </p:sp>
      <p:sp>
        <p:nvSpPr>
          <p:cNvPr id="8" name="Rectangle 7"/>
          <p:cNvSpPr/>
          <p:nvPr/>
        </p:nvSpPr>
        <p:spPr>
          <a:xfrm>
            <a:off x="2273808" y="2767584"/>
            <a:ext cx="1011936" cy="170688"/>
          </a:xfrm>
          <a:prstGeom prst="rect">
            <a:avLst/>
          </a:prstGeom>
          <a:solidFill>
            <a:srgbClr val="EAAB80"/>
          </a:solidFill>
        </p:spPr>
        <p:txBody>
          <a:bodyPr wrap="none" lIns="0" tIns="0" rIns="0" bIns="0">
            <a:noAutofit/>
          </a:bodyPr>
          <a:lstStyle/>
          <a:p>
            <a:pPr indent="0"/>
            <a:r>
              <a:rPr lang="en-US" sz="1400" b="1" spc="250">
                <a:solidFill>
                  <a:srgbClr val="1F1F1E"/>
                </a:solidFill>
                <a:latin typeface="Cambria"/>
              </a:rPr>
              <a:t>MIA </a:t>
            </a:r>
            <a:r>
              <a:rPr lang="en-US" sz="400" baseline="-25000">
                <a:solidFill>
                  <a:srgbClr val="1F1F1E"/>
                </a:solidFill>
                <a:latin typeface="Cambria"/>
              </a:rPr>
              <a:t>cu</a:t>
            </a:r>
            <a:r>
              <a:rPr lang="en-US" sz="400">
                <a:solidFill>
                  <a:srgbClr val="1F1F1E"/>
                </a:solidFill>
                <a:latin typeface="Cambria"/>
              </a:rPr>
              <a:t>,</a:t>
            </a:r>
            <a:r>
              <a:rPr lang="en-US" sz="400" baseline="-25000">
                <a:solidFill>
                  <a:srgbClr val="1F1F1E"/>
                </a:solidFill>
                <a:latin typeface="Cambria"/>
              </a:rPr>
              <a:t>nt</a:t>
            </a:r>
          </a:p>
        </p:txBody>
      </p:sp>
      <p:sp>
        <p:nvSpPr>
          <p:cNvPr id="9" name="Rectangle 8"/>
          <p:cNvSpPr/>
          <p:nvPr/>
        </p:nvSpPr>
        <p:spPr>
          <a:xfrm>
            <a:off x="4602480" y="3523488"/>
            <a:ext cx="451104" cy="146304"/>
          </a:xfrm>
          <a:prstGeom prst="rect">
            <a:avLst/>
          </a:prstGeom>
          <a:solidFill>
            <a:srgbClr val="EBAB80"/>
          </a:solidFill>
        </p:spPr>
        <p:txBody>
          <a:bodyPr wrap="none" lIns="0" tIns="0" rIns="0" bIns="0">
            <a:noAutofit/>
          </a:bodyPr>
          <a:lstStyle/>
          <a:p>
            <a:pPr indent="0"/>
            <a:r>
              <a:rPr lang="en-US" sz="1400" b="1">
                <a:latin typeface="Cambria"/>
              </a:rPr>
              <a:t>MTA</a:t>
            </a:r>
          </a:p>
        </p:txBody>
      </p:sp>
      <p:sp>
        <p:nvSpPr>
          <p:cNvPr id="10" name="Rectangle 9"/>
          <p:cNvSpPr/>
          <p:nvPr/>
        </p:nvSpPr>
        <p:spPr>
          <a:xfrm>
            <a:off x="4267200" y="3980688"/>
            <a:ext cx="1207008" cy="207264"/>
          </a:xfrm>
          <a:prstGeom prst="rect">
            <a:avLst/>
          </a:prstGeom>
        </p:spPr>
        <p:txBody>
          <a:bodyPr wrap="none" lIns="0" tIns="0" rIns="0" bIns="0">
            <a:noAutofit/>
          </a:bodyPr>
          <a:lstStyle/>
          <a:p>
            <a:pPr indent="0" algn="ctr">
              <a:spcAft>
                <a:spcPts val="3780"/>
              </a:spcAft>
            </a:pPr>
            <a:r>
              <a:rPr lang="en-US" sz="2000" spc="-50">
                <a:latin typeface="Sylfaen"/>
              </a:rPr>
              <a:t>Mail gateway</a:t>
            </a:r>
          </a:p>
        </p:txBody>
      </p:sp>
      <p:sp>
        <p:nvSpPr>
          <p:cNvPr id="11" name="Rectangle 10"/>
          <p:cNvSpPr/>
          <p:nvPr/>
        </p:nvSpPr>
        <p:spPr>
          <a:xfrm>
            <a:off x="262128" y="4849368"/>
            <a:ext cx="9348216" cy="2203704"/>
          </a:xfrm>
          <a:prstGeom prst="rect">
            <a:avLst/>
          </a:prstGeom>
        </p:spPr>
        <p:txBody>
          <a:bodyPr lIns="0" tIns="0" rIns="0" bIns="0">
            <a:noAutofit/>
          </a:bodyPr>
          <a:lstStyle/>
          <a:p>
            <a:pPr indent="0">
              <a:spcBef>
                <a:spcPts val="3780"/>
              </a:spcBef>
              <a:spcAft>
                <a:spcPts val="1470"/>
              </a:spcAft>
            </a:pPr>
            <a:r>
              <a:rPr lang="en-US" sz="2200" b="1" dirty="0">
                <a:latin typeface="Calibri"/>
              </a:rPr>
              <a:t>Working of SMTP</a:t>
            </a:r>
          </a:p>
          <a:p>
            <a:pPr marL="482600" indent="-215900" algn="just">
              <a:lnSpc>
                <a:spcPts val="2808"/>
              </a:lnSpc>
            </a:pPr>
            <a:r>
              <a:rPr lang="en-US" sz="2200" b="1" dirty="0">
                <a:latin typeface="Calibri"/>
              </a:rPr>
              <a:t>1.Composition of Mail: </a:t>
            </a:r>
            <a:r>
              <a:rPr lang="en-US" sz="2200" dirty="0">
                <a:latin typeface="Calibri"/>
              </a:rPr>
              <a:t>A user sends an e-mail by composing an electronic mail message using a Mail User Agent (MUA). Mail User Agent is a program which is used to send and receive mail. The message contains two parts: body and header. The body is the main part of the message while the header includes information such as the sender and recipient address. The</a:t>
            </a:r>
          </a:p>
        </p:txBody>
      </p:sp>
      <p:sp>
        <p:nvSpPr>
          <p:cNvPr id="12" name="Date Placeholder 11"/>
          <p:cNvSpPr>
            <a:spLocks noGrp="1"/>
          </p:cNvSpPr>
          <p:nvPr>
            <p:ph type="dt" sz="half" idx="10"/>
          </p:nvPr>
        </p:nvSpPr>
        <p:spPr/>
        <p:txBody>
          <a:bodyPr/>
          <a:lstStyle/>
          <a:p>
            <a:fld id="{CB9D532D-F8F4-4B9D-B9A6-589D31F7F377}" type="datetime1">
              <a:rPr lang="en-US" smtClean="0"/>
              <a:t>4/29/2022</a:t>
            </a:fld>
            <a:endParaRPr lang="en-US"/>
          </a:p>
        </p:txBody>
      </p:sp>
      <p:sp>
        <p:nvSpPr>
          <p:cNvPr id="14" name="Slide Number Placeholder 13"/>
          <p:cNvSpPr>
            <a:spLocks noGrp="1"/>
          </p:cNvSpPr>
          <p:nvPr>
            <p:ph type="sldNum" sz="quarter" idx="12"/>
          </p:nvPr>
        </p:nvSpPr>
        <p:spPr/>
        <p:txBody>
          <a:bodyPr/>
          <a:lstStyle/>
          <a:p>
            <a:fld id="{A0B67B60-8227-4ECE-9065-6110C6EB035F}" type="slidenum">
              <a:rPr lang="en-US" smtClean="0"/>
              <a:t>95</a:t>
            </a:fld>
            <a:endParaRPr lang="en-US"/>
          </a:p>
        </p:txBody>
      </p:sp>
      <p:sp>
        <p:nvSpPr>
          <p:cNvPr id="15"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9872" y="972312"/>
            <a:ext cx="9113520" cy="5434584"/>
          </a:xfrm>
          <a:prstGeom prst="rect">
            <a:avLst/>
          </a:prstGeom>
        </p:spPr>
        <p:txBody>
          <a:bodyPr lIns="0" tIns="0" rIns="0" bIns="0">
            <a:noAutofit/>
          </a:bodyPr>
          <a:lstStyle/>
          <a:p>
            <a:pPr marL="254000" indent="0" algn="just">
              <a:lnSpc>
                <a:spcPts val="2808"/>
              </a:lnSpc>
              <a:spcAft>
                <a:spcPts val="210"/>
              </a:spcAft>
            </a:pPr>
            <a:r>
              <a:rPr lang="en-US" sz="2200" dirty="0">
                <a:latin typeface="Calibri"/>
              </a:rPr>
              <a:t>header also includes descriptive information such as the subject of the message. In this case, the message body is like a letter and header is like an envelope that contains the recipient's address.</a:t>
            </a:r>
          </a:p>
          <a:p>
            <a:pPr marL="254000" indent="-254000" algn="just">
              <a:lnSpc>
                <a:spcPts val="2784"/>
              </a:lnSpc>
              <a:spcAft>
                <a:spcPts val="210"/>
              </a:spcAft>
            </a:pPr>
            <a:r>
              <a:rPr lang="en-US" sz="2200" b="1" dirty="0">
                <a:latin typeface="Calibri"/>
              </a:rPr>
              <a:t>2.Submission of Mail: </a:t>
            </a:r>
            <a:r>
              <a:rPr lang="en-US" sz="2200" dirty="0">
                <a:latin typeface="Calibri"/>
              </a:rPr>
              <a:t>After composing an email, the mail client then submits the completed e-mail to the SMTP server by using SMTP on TCP port 25.</a:t>
            </a:r>
          </a:p>
          <a:p>
            <a:pPr marL="254000" indent="-254000" algn="just">
              <a:lnSpc>
                <a:spcPts val="2808"/>
              </a:lnSpc>
            </a:pPr>
            <a:r>
              <a:rPr lang="en-US" sz="2200" b="1" dirty="0">
                <a:latin typeface="Calibri"/>
              </a:rPr>
              <a:t>3.Delivery of Mail: </a:t>
            </a:r>
            <a:r>
              <a:rPr lang="en-US" sz="2200" dirty="0">
                <a:latin typeface="Calibri"/>
              </a:rPr>
              <a:t>E-mail addresses contain two parts: username of the recipient and domain name. For example, vivek@gmail.com, where "</a:t>
            </a:r>
            <a:r>
              <a:rPr lang="en-US" sz="2200" dirty="0" err="1">
                <a:latin typeface="Calibri"/>
              </a:rPr>
              <a:t>vivek</a:t>
            </a:r>
            <a:r>
              <a:rPr lang="en-US" sz="2200" dirty="0">
                <a:latin typeface="Calibri"/>
              </a:rPr>
              <a:t>" is the username of the recipient and "gmail.com" is the domain name. If the domain name of the recipient's email address is different from the sender's domain name, then MSA will send the mail to the Mail Transfer Agent (MTA). To relay the email, the MTA will find the target domain. It checks the MX record from Domain Name System to obtain the target domain. The MX record contains the domain name and IP address of the recipient's domain. Once the record is located, MTA connects to the exchange server to relay the message.</a:t>
            </a:r>
          </a:p>
        </p:txBody>
      </p:sp>
      <p:sp>
        <p:nvSpPr>
          <p:cNvPr id="3" name="Date Placeholder 2"/>
          <p:cNvSpPr>
            <a:spLocks noGrp="1"/>
          </p:cNvSpPr>
          <p:nvPr>
            <p:ph type="dt" sz="half" idx="10"/>
          </p:nvPr>
        </p:nvSpPr>
        <p:spPr/>
        <p:txBody>
          <a:bodyPr/>
          <a:lstStyle/>
          <a:p>
            <a:fld id="{9DCACAC3-A2D5-49BF-A759-A69AC1D3055F}"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96</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3776" y="972312"/>
            <a:ext cx="9119616" cy="2148840"/>
          </a:xfrm>
          <a:prstGeom prst="rect">
            <a:avLst/>
          </a:prstGeom>
        </p:spPr>
        <p:txBody>
          <a:bodyPr lIns="0" tIns="0" rIns="0" bIns="0">
            <a:noAutofit/>
          </a:bodyPr>
          <a:lstStyle/>
          <a:p>
            <a:pPr marL="254000" indent="-254000" algn="just">
              <a:lnSpc>
                <a:spcPts val="2808"/>
              </a:lnSpc>
              <a:spcAft>
                <a:spcPts val="210"/>
              </a:spcAft>
            </a:pPr>
            <a:r>
              <a:rPr lang="en-US" sz="2200" b="1" dirty="0">
                <a:latin typeface="Calibri"/>
              </a:rPr>
              <a:t>4. Receipt and Processing of Mail: </a:t>
            </a:r>
            <a:r>
              <a:rPr lang="en-US" sz="2200" dirty="0">
                <a:latin typeface="Calibri"/>
              </a:rPr>
              <a:t>Once the incoming message is received, the exchange server delivers it to the incoming server (Mail Delivery Agent) which stores the e-mail where it waits for the user to retrieve it.</a:t>
            </a:r>
          </a:p>
          <a:p>
            <a:pPr marL="254000" indent="-254000" algn="just">
              <a:lnSpc>
                <a:spcPts val="2784"/>
              </a:lnSpc>
            </a:pPr>
            <a:r>
              <a:rPr lang="en-US" sz="2200" b="1" dirty="0">
                <a:latin typeface="Calibri"/>
              </a:rPr>
              <a:t>5. Access and Retrieval of Mail: </a:t>
            </a:r>
            <a:r>
              <a:rPr lang="en-US" sz="2200" dirty="0">
                <a:latin typeface="Calibri"/>
              </a:rPr>
              <a:t>The stored email in MDA can be retrieved by using MUA (Mail User Agent). MUA can be accessed by using login and password.</a:t>
            </a:r>
          </a:p>
        </p:txBody>
      </p:sp>
      <p:sp>
        <p:nvSpPr>
          <p:cNvPr id="3" name="Date Placeholder 2"/>
          <p:cNvSpPr>
            <a:spLocks noGrp="1"/>
          </p:cNvSpPr>
          <p:nvPr>
            <p:ph type="dt" sz="half" idx="10"/>
          </p:nvPr>
        </p:nvSpPr>
        <p:spPr/>
        <p:txBody>
          <a:bodyPr/>
          <a:lstStyle/>
          <a:p>
            <a:fld id="{398C9229-2AE1-4A19-B207-227DB67CD840}"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97</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5920" y="3453384"/>
            <a:ext cx="4751832" cy="3102864"/>
          </a:xfrm>
          <a:prstGeom prst="rect">
            <a:avLst/>
          </a:prstGeom>
        </p:spPr>
      </p:pic>
      <p:sp>
        <p:nvSpPr>
          <p:cNvPr id="3" name="Rectangle 2"/>
          <p:cNvSpPr/>
          <p:nvPr/>
        </p:nvSpPr>
        <p:spPr>
          <a:xfrm>
            <a:off x="4559808" y="984504"/>
            <a:ext cx="762000" cy="228600"/>
          </a:xfrm>
          <a:prstGeom prst="rect">
            <a:avLst/>
          </a:prstGeom>
        </p:spPr>
        <p:txBody>
          <a:bodyPr wrap="none" lIns="0" tIns="0" rIns="0" bIns="0">
            <a:noAutofit/>
          </a:bodyPr>
          <a:lstStyle/>
          <a:p>
            <a:pPr indent="0"/>
            <a:r>
              <a:rPr lang="en-US" sz="2300" b="1">
                <a:latin typeface="Calibri"/>
              </a:rPr>
              <a:t>SNMP</a:t>
            </a:r>
          </a:p>
        </p:txBody>
      </p:sp>
      <p:sp>
        <p:nvSpPr>
          <p:cNvPr id="4" name="Rectangle 3"/>
          <p:cNvSpPr/>
          <p:nvPr/>
        </p:nvSpPr>
        <p:spPr>
          <a:xfrm>
            <a:off x="265176" y="1749552"/>
            <a:ext cx="9336024" cy="1566672"/>
          </a:xfrm>
          <a:prstGeom prst="rect">
            <a:avLst/>
          </a:prstGeom>
        </p:spPr>
        <p:txBody>
          <a:bodyPr lIns="0" tIns="0" rIns="0" bIns="0">
            <a:noAutofit/>
          </a:bodyPr>
          <a:lstStyle/>
          <a:p>
            <a:pPr marL="469900" indent="0" algn="just">
              <a:lnSpc>
                <a:spcPts val="2904"/>
              </a:lnSpc>
            </a:pPr>
            <a:r>
              <a:rPr lang="en-US" sz="2200" dirty="0">
                <a:latin typeface="Calibri"/>
              </a:rPr>
              <a:t>*    SNMP stands for </a:t>
            </a:r>
            <a:r>
              <a:rPr lang="en-US" sz="2200" b="1" dirty="0">
                <a:latin typeface="Calibri"/>
              </a:rPr>
              <a:t>Simple Network Management Protocol.</a:t>
            </a:r>
          </a:p>
          <a:p>
            <a:pPr marL="469900" indent="0" algn="just">
              <a:lnSpc>
                <a:spcPts val="2904"/>
              </a:lnSpc>
            </a:pPr>
            <a:r>
              <a:rPr lang="en-US" sz="2200" dirty="0">
                <a:latin typeface="Calibri"/>
              </a:rPr>
              <a:t>*    SNMP is a framework used for managing devices on the internet.</a:t>
            </a:r>
          </a:p>
          <a:p>
            <a:pPr marL="469900" indent="0" algn="just">
              <a:lnSpc>
                <a:spcPts val="2904"/>
              </a:lnSpc>
              <a:spcAft>
                <a:spcPts val="840"/>
              </a:spcAft>
            </a:pPr>
            <a:r>
              <a:rPr lang="en-US" sz="2200" dirty="0">
                <a:latin typeface="Calibri"/>
              </a:rPr>
              <a:t>*    It provides a set of operations for monitoring and managing the internet.</a:t>
            </a:r>
          </a:p>
          <a:p>
            <a:pPr indent="0"/>
            <a:r>
              <a:rPr lang="en-US" sz="2200" b="1" dirty="0">
                <a:latin typeface="Calibri"/>
              </a:rPr>
              <a:t>SNMP Concept</a:t>
            </a:r>
          </a:p>
        </p:txBody>
      </p:sp>
      <p:sp>
        <p:nvSpPr>
          <p:cNvPr id="5" name="Date Placeholder 4"/>
          <p:cNvSpPr>
            <a:spLocks noGrp="1"/>
          </p:cNvSpPr>
          <p:nvPr>
            <p:ph type="dt" sz="half" idx="10"/>
          </p:nvPr>
        </p:nvSpPr>
        <p:spPr/>
        <p:txBody>
          <a:bodyPr/>
          <a:lstStyle/>
          <a:p>
            <a:fld id="{C619215A-8747-4EB2-B7E8-144F9D735A69}"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98</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75360"/>
            <a:ext cx="9339072" cy="6300216"/>
          </a:xfrm>
          <a:prstGeom prst="rect">
            <a:avLst/>
          </a:prstGeom>
        </p:spPr>
        <p:txBody>
          <a:bodyPr lIns="0" tIns="0" rIns="0" bIns="0">
            <a:noAutofit/>
          </a:bodyPr>
          <a:lstStyle/>
          <a:p>
            <a:pPr marL="469900" indent="-241300" algn="just">
              <a:lnSpc>
                <a:spcPts val="2808"/>
              </a:lnSpc>
            </a:pPr>
            <a:r>
              <a:rPr lang="en-US" sz="2200" dirty="0">
                <a:latin typeface="Calibri"/>
              </a:rPr>
              <a:t>. SNMP has two components Manager and agent.</a:t>
            </a:r>
          </a:p>
          <a:p>
            <a:pPr marL="469900" indent="-241300" algn="just">
              <a:lnSpc>
                <a:spcPts val="2808"/>
              </a:lnSpc>
            </a:pPr>
            <a:r>
              <a:rPr lang="en-US" sz="2200" dirty="0">
                <a:latin typeface="Calibri"/>
              </a:rPr>
              <a:t>. The manager is a host that controls and monitors a set of agents such as routers.</a:t>
            </a:r>
          </a:p>
          <a:p>
            <a:pPr marL="469900" indent="-241300" algn="just">
              <a:lnSpc>
                <a:spcPts val="2808"/>
              </a:lnSpc>
            </a:pPr>
            <a:r>
              <a:rPr lang="en-US" sz="2200" dirty="0">
                <a:latin typeface="Calibri"/>
              </a:rPr>
              <a:t>. It is an application layer protocol in which a few manager stations can handle a set of agents.</a:t>
            </a:r>
          </a:p>
          <a:p>
            <a:pPr marL="469900" indent="-241300" algn="just">
              <a:lnSpc>
                <a:spcPts val="2808"/>
              </a:lnSpc>
            </a:pPr>
            <a:r>
              <a:rPr lang="en-US" sz="2200" dirty="0">
                <a:latin typeface="Calibri"/>
              </a:rPr>
              <a:t>. The protocol designed at the application level can monitor the devices made by different manufacturers and installed on different physical networks.</a:t>
            </a:r>
          </a:p>
          <a:p>
            <a:pPr marL="469900" indent="-241300" algn="just">
              <a:lnSpc>
                <a:spcPts val="2808"/>
              </a:lnSpc>
              <a:spcAft>
                <a:spcPts val="840"/>
              </a:spcAft>
            </a:pPr>
            <a:r>
              <a:rPr lang="en-US" sz="2200" dirty="0">
                <a:latin typeface="Calibri"/>
              </a:rPr>
              <a:t>. It is used in a heterogeneous network made of different LANs and WANs connected by routers or gateways.</a:t>
            </a:r>
          </a:p>
          <a:p>
            <a:pPr indent="0">
              <a:spcAft>
                <a:spcPts val="1470"/>
              </a:spcAft>
            </a:pPr>
            <a:r>
              <a:rPr lang="en-US" sz="2200" b="1" dirty="0">
                <a:latin typeface="Calibri"/>
              </a:rPr>
              <a:t>Managers &amp; Agents</a:t>
            </a:r>
          </a:p>
          <a:p>
            <a:pPr marL="469900" indent="-241300" algn="just">
              <a:lnSpc>
                <a:spcPts val="2808"/>
              </a:lnSpc>
            </a:pPr>
            <a:r>
              <a:rPr lang="en-US" sz="2200" dirty="0">
                <a:latin typeface="Calibri"/>
              </a:rPr>
              <a:t>. A manager is a host that runs the SNMP client program while the agent is a router that runs the SNMP server program.</a:t>
            </a:r>
          </a:p>
          <a:p>
            <a:pPr marL="469900" indent="-241300" algn="just">
              <a:lnSpc>
                <a:spcPts val="2808"/>
              </a:lnSpc>
            </a:pPr>
            <a:r>
              <a:rPr lang="en-US" sz="2200" dirty="0">
                <a:latin typeface="Calibri"/>
              </a:rPr>
              <a:t>. Management of the internet is achieved through simple interaction between a manager and agent.</a:t>
            </a:r>
          </a:p>
          <a:p>
            <a:pPr marL="469900" indent="-241300" algn="just">
              <a:lnSpc>
                <a:spcPts val="2808"/>
              </a:lnSpc>
            </a:pPr>
            <a:r>
              <a:rPr lang="en-US" sz="2200" dirty="0">
                <a:latin typeface="Calibri"/>
              </a:rPr>
              <a:t>. The agent is used to keep the information in a database while the manager is used to access the values in the database. For example, a router can store</a:t>
            </a:r>
          </a:p>
        </p:txBody>
      </p:sp>
      <p:sp>
        <p:nvSpPr>
          <p:cNvPr id="3" name="Date Placeholder 2"/>
          <p:cNvSpPr>
            <a:spLocks noGrp="1"/>
          </p:cNvSpPr>
          <p:nvPr>
            <p:ph type="dt" sz="half" idx="10"/>
          </p:nvPr>
        </p:nvSpPr>
        <p:spPr/>
        <p:txBody>
          <a:bodyPr/>
          <a:lstStyle/>
          <a:p>
            <a:fld id="{EF72F511-4480-47B9-98D5-56245C39F10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99</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72312"/>
            <a:ext cx="9329928" cy="4953000"/>
          </a:xfrm>
          <a:prstGeom prst="rect">
            <a:avLst/>
          </a:prstGeom>
        </p:spPr>
        <p:txBody>
          <a:bodyPr lIns="0" tIns="0" rIns="0" bIns="0">
            <a:noAutofit/>
          </a:bodyPr>
          <a:lstStyle/>
          <a:p>
            <a:pPr marL="469900" indent="0" algn="just">
              <a:lnSpc>
                <a:spcPts val="2808"/>
              </a:lnSpc>
            </a:pPr>
            <a:r>
              <a:rPr lang="en-US" sz="2200" dirty="0">
                <a:latin typeface="Calibri"/>
              </a:rPr>
              <a:t>the appropriate variables such as a number of packets received and forwarded while the manager can compare these variables to determine whether the router is congested or not.</a:t>
            </a:r>
          </a:p>
          <a:p>
            <a:pPr marL="469900" indent="-241300" algn="just">
              <a:lnSpc>
                <a:spcPts val="2808"/>
              </a:lnSpc>
              <a:spcAft>
                <a:spcPts val="840"/>
              </a:spcAft>
            </a:pPr>
            <a:r>
              <a:rPr lang="en-US" sz="2200" dirty="0">
                <a:latin typeface="Calibri"/>
              </a:rPr>
              <a:t>. Agents can also contribute to the management process. A server program on the agent checks the environment, if something goes wrong, the agent sends a warning message to the manager.</a:t>
            </a:r>
          </a:p>
          <a:p>
            <a:pPr indent="0">
              <a:spcAft>
                <a:spcPts val="1470"/>
              </a:spcAft>
            </a:pPr>
            <a:r>
              <a:rPr lang="en-US" sz="2200" b="1" dirty="0">
                <a:latin typeface="Calibri"/>
              </a:rPr>
              <a:t>Management with SNMP has three basic ideas:</a:t>
            </a:r>
          </a:p>
          <a:p>
            <a:pPr marL="469900" indent="-241300" algn="just">
              <a:lnSpc>
                <a:spcPts val="2808"/>
              </a:lnSpc>
            </a:pPr>
            <a:r>
              <a:rPr lang="en-US" sz="2200" dirty="0">
                <a:latin typeface="Calibri"/>
              </a:rPr>
              <a:t>. A manager checks the agent by requesting the information that reflects the behavior of the agent.</a:t>
            </a:r>
          </a:p>
          <a:p>
            <a:pPr marL="469900" indent="-241300" algn="just">
              <a:lnSpc>
                <a:spcPts val="2784"/>
              </a:lnSpc>
            </a:pPr>
            <a:r>
              <a:rPr lang="en-US" sz="2200" dirty="0">
                <a:latin typeface="Calibri"/>
              </a:rPr>
              <a:t>. A manager also forces the agent to perform a certain function by resetting values in the agent database.</a:t>
            </a:r>
          </a:p>
          <a:p>
            <a:pPr marL="469900" indent="-241300" algn="just">
              <a:lnSpc>
                <a:spcPts val="2808"/>
              </a:lnSpc>
            </a:pPr>
            <a:r>
              <a:rPr lang="en-US" sz="2200" dirty="0">
                <a:latin typeface="Calibri"/>
              </a:rPr>
              <a:t>. An agent also contributes to the management process by warning the manager regarding an unusual condition.</a:t>
            </a:r>
          </a:p>
        </p:txBody>
      </p:sp>
      <p:sp>
        <p:nvSpPr>
          <p:cNvPr id="3" name="Date Placeholder 2"/>
          <p:cNvSpPr>
            <a:spLocks noGrp="1"/>
          </p:cNvSpPr>
          <p:nvPr>
            <p:ph type="dt" sz="half" idx="10"/>
          </p:nvPr>
        </p:nvSpPr>
        <p:spPr/>
        <p:txBody>
          <a:bodyPr/>
          <a:lstStyle/>
          <a:p>
            <a:fld id="{383D3A35-4F83-4DE3-A820-CE56CA72EBD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100</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48256" y="4431792"/>
            <a:ext cx="4882896" cy="1761744"/>
          </a:xfrm>
          <a:prstGeom prst="rect">
            <a:avLst/>
          </a:prstGeom>
        </p:spPr>
      </p:pic>
      <p:sp>
        <p:nvSpPr>
          <p:cNvPr id="3" name="Rectangle 2"/>
          <p:cNvSpPr/>
          <p:nvPr/>
        </p:nvSpPr>
        <p:spPr>
          <a:xfrm>
            <a:off x="277368" y="984504"/>
            <a:ext cx="3240024" cy="277368"/>
          </a:xfrm>
          <a:prstGeom prst="rect">
            <a:avLst/>
          </a:prstGeom>
        </p:spPr>
        <p:txBody>
          <a:bodyPr wrap="none" lIns="0" tIns="0" rIns="0" bIns="0">
            <a:noAutofit/>
          </a:bodyPr>
          <a:lstStyle/>
          <a:p>
            <a:pPr indent="0"/>
            <a:r>
              <a:rPr lang="en-US" sz="2300" b="1">
                <a:latin typeface="Calibri"/>
              </a:rPr>
              <a:t>Management Components</a:t>
            </a:r>
          </a:p>
        </p:txBody>
      </p:sp>
      <p:sp>
        <p:nvSpPr>
          <p:cNvPr id="4" name="Rectangle 3"/>
          <p:cNvSpPr/>
          <p:nvPr/>
        </p:nvSpPr>
        <p:spPr>
          <a:xfrm>
            <a:off x="490728" y="1463040"/>
            <a:ext cx="9116568" cy="2779776"/>
          </a:xfrm>
          <a:prstGeom prst="rect">
            <a:avLst/>
          </a:prstGeom>
        </p:spPr>
        <p:txBody>
          <a:bodyPr lIns="0" tIns="0" rIns="0" bIns="0">
            <a:noAutofit/>
          </a:bodyPr>
          <a:lstStyle/>
          <a:p>
            <a:pPr marL="266700" indent="-266700" algn="just">
              <a:lnSpc>
                <a:spcPts val="2784"/>
              </a:lnSpc>
            </a:pPr>
            <a:r>
              <a:rPr lang="en-US" sz="2200">
                <a:latin typeface="Calibri"/>
              </a:rPr>
              <a:t>. Management is not achieved only through the SNMP protocol but also the use of other protocols that can cooperate with the SNMP protocol. Management is achieved through the use of the other two protocols: SMI (Structure of management information) and MIB(management information base).</a:t>
            </a:r>
          </a:p>
          <a:p>
            <a:pPr marL="266700" indent="-266700" algn="just">
              <a:lnSpc>
                <a:spcPts val="2784"/>
              </a:lnSpc>
              <a:spcAft>
                <a:spcPts val="1260"/>
              </a:spcAft>
            </a:pPr>
            <a:r>
              <a:rPr lang="en-US" sz="2200">
                <a:latin typeface="Calibri"/>
              </a:rPr>
              <a:t>. Management is a combination of SMI, MIB, and SNMP. All these three protocols such as abstract syntax notation 1 (ASN.1) and basic encoding rules (BER).</a:t>
            </a:r>
          </a:p>
        </p:txBody>
      </p:sp>
      <p:sp>
        <p:nvSpPr>
          <p:cNvPr id="5" name="Date Placeholder 4"/>
          <p:cNvSpPr>
            <a:spLocks noGrp="1"/>
          </p:cNvSpPr>
          <p:nvPr>
            <p:ph type="dt" sz="half" idx="10"/>
          </p:nvPr>
        </p:nvSpPr>
        <p:spPr/>
        <p:txBody>
          <a:bodyPr/>
          <a:lstStyle/>
          <a:p>
            <a:fld id="{4D6A9B2D-3FF7-49F4-BC0F-C7D89C595257}"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101</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5176" y="984504"/>
            <a:ext cx="478536" cy="228600"/>
          </a:xfrm>
          <a:prstGeom prst="rect">
            <a:avLst/>
          </a:prstGeom>
        </p:spPr>
        <p:txBody>
          <a:bodyPr wrap="none" lIns="0" tIns="0" rIns="0" bIns="0">
            <a:noAutofit/>
          </a:bodyPr>
          <a:lstStyle/>
          <a:p>
            <a:pPr indent="0" algn="just">
              <a:spcAft>
                <a:spcPts val="1890"/>
              </a:spcAft>
            </a:pPr>
            <a:r>
              <a:rPr lang="en-US" sz="2200" b="1" dirty="0">
                <a:latin typeface="Calibri"/>
              </a:rPr>
              <a:t>SMI</a:t>
            </a:r>
          </a:p>
        </p:txBody>
      </p:sp>
      <p:sp>
        <p:nvSpPr>
          <p:cNvPr id="3" name="Rectangle 2"/>
          <p:cNvSpPr/>
          <p:nvPr/>
        </p:nvSpPr>
        <p:spPr>
          <a:xfrm>
            <a:off x="256032" y="1533144"/>
            <a:ext cx="9345168" cy="1313688"/>
          </a:xfrm>
          <a:prstGeom prst="rect">
            <a:avLst/>
          </a:prstGeom>
        </p:spPr>
        <p:txBody>
          <a:bodyPr lIns="0" tIns="0" rIns="0" bIns="0">
            <a:noAutofit/>
          </a:bodyPr>
          <a:lstStyle/>
          <a:p>
            <a:pPr indent="0" algn="just">
              <a:lnSpc>
                <a:spcPts val="2808"/>
              </a:lnSpc>
              <a:spcBef>
                <a:spcPts val="1890"/>
              </a:spcBef>
            </a:pPr>
            <a:r>
              <a:rPr lang="en-US" sz="2200">
                <a:latin typeface="Calibri"/>
              </a:rPr>
              <a:t>The SMI (Structure of management information) is a component used in network management. Its main function is to define the type of data that can be stored in an object and to show how to encode the data for the transmission over a network.</a:t>
            </a:r>
          </a:p>
        </p:txBody>
      </p:sp>
      <p:sp>
        <p:nvSpPr>
          <p:cNvPr id="4" name="Date Placeholder 3"/>
          <p:cNvSpPr>
            <a:spLocks noGrp="1"/>
          </p:cNvSpPr>
          <p:nvPr>
            <p:ph type="dt" sz="half" idx="10"/>
          </p:nvPr>
        </p:nvSpPr>
        <p:spPr/>
        <p:txBody>
          <a:bodyPr/>
          <a:lstStyle/>
          <a:p>
            <a:fld id="{D17131C8-F8F9-4DBD-8AAD-4634E5D9C1C0}"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102</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72896" y="3715512"/>
            <a:ext cx="6333744" cy="2319528"/>
          </a:xfrm>
          <a:prstGeom prst="rect">
            <a:avLst/>
          </a:prstGeom>
        </p:spPr>
      </p:pic>
      <p:sp>
        <p:nvSpPr>
          <p:cNvPr id="3" name="Rectangle 2"/>
          <p:cNvSpPr/>
          <p:nvPr/>
        </p:nvSpPr>
        <p:spPr>
          <a:xfrm>
            <a:off x="277368" y="987552"/>
            <a:ext cx="505968" cy="222504"/>
          </a:xfrm>
          <a:prstGeom prst="rect">
            <a:avLst/>
          </a:prstGeom>
        </p:spPr>
        <p:txBody>
          <a:bodyPr wrap="none" lIns="0" tIns="0" rIns="0" bIns="0">
            <a:noAutofit/>
          </a:bodyPr>
          <a:lstStyle/>
          <a:p>
            <a:pPr indent="0">
              <a:spcAft>
                <a:spcPts val="1260"/>
              </a:spcAft>
            </a:pPr>
            <a:r>
              <a:rPr lang="en-US" sz="2200" b="1" dirty="0">
                <a:latin typeface="Calibri"/>
              </a:rPr>
              <a:t>MIB</a:t>
            </a:r>
          </a:p>
        </p:txBody>
      </p:sp>
      <p:sp>
        <p:nvSpPr>
          <p:cNvPr id="4" name="Rectangle 3"/>
          <p:cNvSpPr/>
          <p:nvPr/>
        </p:nvSpPr>
        <p:spPr>
          <a:xfrm>
            <a:off x="490728" y="1456944"/>
            <a:ext cx="9113520" cy="2060448"/>
          </a:xfrm>
          <a:prstGeom prst="rect">
            <a:avLst/>
          </a:prstGeom>
        </p:spPr>
        <p:txBody>
          <a:bodyPr lIns="0" tIns="0" rIns="0" bIns="0">
            <a:noAutofit/>
          </a:bodyPr>
          <a:lstStyle/>
          <a:p>
            <a:pPr marL="256540" indent="-241300" algn="just">
              <a:lnSpc>
                <a:spcPts val="2808"/>
              </a:lnSpc>
              <a:spcBef>
                <a:spcPts val="1260"/>
              </a:spcBef>
            </a:pPr>
            <a:r>
              <a:rPr lang="en-US" sz="2200" dirty="0">
                <a:latin typeface="Calibri"/>
              </a:rPr>
              <a:t>. The MIB (Management information base) is a second component for the network management.</a:t>
            </a:r>
          </a:p>
          <a:p>
            <a:pPr marL="256540" indent="-241300" algn="just">
              <a:lnSpc>
                <a:spcPts val="2808"/>
              </a:lnSpc>
              <a:spcAft>
                <a:spcPts val="1260"/>
              </a:spcAft>
            </a:pPr>
            <a:r>
              <a:rPr lang="en-US" sz="2200" dirty="0">
                <a:latin typeface="Calibri"/>
              </a:rPr>
              <a:t>. Each agent has its own MIB, which is a collection of all the objects that the manager can manage. MIB is categorized into eight groups: system, interface, address translation, </a:t>
            </a:r>
            <a:r>
              <a:rPr lang="en-US" sz="2200" dirty="0" err="1">
                <a:latin typeface="Calibri"/>
              </a:rPr>
              <a:t>ip</a:t>
            </a:r>
            <a:r>
              <a:rPr lang="en-US" sz="2200" dirty="0">
                <a:latin typeface="Calibri"/>
              </a:rPr>
              <a:t>, </a:t>
            </a:r>
            <a:r>
              <a:rPr lang="en-US" sz="2200" dirty="0" err="1">
                <a:latin typeface="Calibri"/>
              </a:rPr>
              <a:t>icmp</a:t>
            </a:r>
            <a:r>
              <a:rPr lang="en-US" sz="2200" dirty="0">
                <a:latin typeface="Calibri"/>
              </a:rPr>
              <a:t>, </a:t>
            </a:r>
            <a:r>
              <a:rPr lang="en-US" sz="2200" dirty="0" err="1">
                <a:latin typeface="Calibri"/>
              </a:rPr>
              <a:t>tcp</a:t>
            </a:r>
            <a:r>
              <a:rPr lang="en-US" sz="2200" dirty="0">
                <a:latin typeface="Calibri"/>
              </a:rPr>
              <a:t>, </a:t>
            </a:r>
            <a:r>
              <a:rPr lang="en-US" sz="2200" dirty="0" err="1">
                <a:latin typeface="Calibri"/>
              </a:rPr>
              <a:t>udp</a:t>
            </a:r>
            <a:r>
              <a:rPr lang="en-US" sz="2200" dirty="0">
                <a:latin typeface="Calibri"/>
              </a:rPr>
              <a:t>, and </a:t>
            </a:r>
            <a:r>
              <a:rPr lang="en-US" sz="2200" dirty="0" err="1">
                <a:latin typeface="Calibri"/>
              </a:rPr>
              <a:t>egp</a:t>
            </a:r>
            <a:r>
              <a:rPr lang="en-US" sz="2200" dirty="0">
                <a:latin typeface="Calibri"/>
              </a:rPr>
              <a:t>. These groups are under the </a:t>
            </a:r>
            <a:r>
              <a:rPr lang="en-US" sz="2200" dirty="0" err="1">
                <a:latin typeface="Calibri"/>
              </a:rPr>
              <a:t>mib</a:t>
            </a:r>
            <a:r>
              <a:rPr lang="en-US" sz="2200" dirty="0">
                <a:latin typeface="Calibri"/>
              </a:rPr>
              <a:t> object.</a:t>
            </a:r>
          </a:p>
        </p:txBody>
      </p:sp>
      <p:sp>
        <p:nvSpPr>
          <p:cNvPr id="5" name="Date Placeholder 4"/>
          <p:cNvSpPr>
            <a:spLocks noGrp="1"/>
          </p:cNvSpPr>
          <p:nvPr>
            <p:ph type="dt" sz="half" idx="10"/>
          </p:nvPr>
        </p:nvSpPr>
        <p:spPr/>
        <p:txBody>
          <a:bodyPr/>
          <a:lstStyle/>
          <a:p>
            <a:fld id="{8F5F6122-C546-42C4-8F22-F28F5EF7BF8F}"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103</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88008" y="2365248"/>
            <a:ext cx="4776216" cy="4340352"/>
          </a:xfrm>
          <a:prstGeom prst="rect">
            <a:avLst/>
          </a:prstGeom>
        </p:spPr>
      </p:pic>
      <p:sp>
        <p:nvSpPr>
          <p:cNvPr id="3" name="Rectangle 2"/>
          <p:cNvSpPr/>
          <p:nvPr/>
        </p:nvSpPr>
        <p:spPr>
          <a:xfrm>
            <a:off x="281218" y="984504"/>
            <a:ext cx="1884466" cy="368808"/>
          </a:xfrm>
          <a:prstGeom prst="rect">
            <a:avLst/>
          </a:prstGeom>
        </p:spPr>
        <p:txBody>
          <a:bodyPr wrap="none" lIns="0" tIns="0" rIns="0" bIns="0">
            <a:noAutofit/>
          </a:bodyPr>
          <a:lstStyle/>
          <a:p>
            <a:pPr indent="0" algn="just">
              <a:spcAft>
                <a:spcPts val="1890"/>
              </a:spcAft>
            </a:pPr>
            <a:r>
              <a:rPr lang="en-US" sz="2200" b="1" dirty="0">
                <a:latin typeface="Calibri"/>
              </a:rPr>
              <a:t>SNMP Messages</a:t>
            </a:r>
          </a:p>
        </p:txBody>
      </p:sp>
      <p:sp>
        <p:nvSpPr>
          <p:cNvPr id="4" name="Rectangle 3"/>
          <p:cNvSpPr/>
          <p:nvPr/>
        </p:nvSpPr>
        <p:spPr>
          <a:xfrm>
            <a:off x="265176" y="1536192"/>
            <a:ext cx="9336024" cy="646176"/>
          </a:xfrm>
          <a:prstGeom prst="rect">
            <a:avLst/>
          </a:prstGeom>
        </p:spPr>
        <p:txBody>
          <a:bodyPr lIns="0" tIns="0" rIns="0" bIns="0">
            <a:noAutofit/>
          </a:bodyPr>
          <a:lstStyle/>
          <a:p>
            <a:pPr indent="0" algn="just">
              <a:lnSpc>
                <a:spcPts val="2784"/>
              </a:lnSpc>
              <a:spcBef>
                <a:spcPts val="1890"/>
              </a:spcBef>
            </a:pPr>
            <a:r>
              <a:rPr lang="en-US" sz="2200" dirty="0">
                <a:latin typeface="Calibri"/>
              </a:rPr>
              <a:t>SNMP defines five types of messages: </a:t>
            </a:r>
            <a:r>
              <a:rPr lang="en-US" sz="2200" dirty="0" err="1">
                <a:latin typeface="Calibri"/>
              </a:rPr>
              <a:t>GetRequest</a:t>
            </a:r>
            <a:r>
              <a:rPr lang="en-US" sz="2200" dirty="0">
                <a:latin typeface="Calibri"/>
              </a:rPr>
              <a:t>, </a:t>
            </a:r>
            <a:r>
              <a:rPr lang="en-US" sz="2200" dirty="0" err="1">
                <a:latin typeface="Calibri"/>
              </a:rPr>
              <a:t>GetNextRequest</a:t>
            </a:r>
            <a:r>
              <a:rPr lang="en-US" sz="2200" dirty="0">
                <a:latin typeface="Calibri"/>
              </a:rPr>
              <a:t>, </a:t>
            </a:r>
            <a:r>
              <a:rPr lang="en-US" sz="2200" dirty="0" err="1">
                <a:latin typeface="Calibri"/>
              </a:rPr>
              <a:t>SetRequest</a:t>
            </a:r>
            <a:r>
              <a:rPr lang="en-US" sz="2200" dirty="0">
                <a:latin typeface="Calibri"/>
              </a:rPr>
              <a:t>, </a:t>
            </a:r>
            <a:r>
              <a:rPr lang="en-US" sz="2200" dirty="0" err="1">
                <a:latin typeface="Calibri"/>
              </a:rPr>
              <a:t>GetResponse</a:t>
            </a:r>
            <a:r>
              <a:rPr lang="en-US" sz="2200" dirty="0">
                <a:latin typeface="Calibri"/>
              </a:rPr>
              <a:t>, and Trap.</a:t>
            </a:r>
          </a:p>
        </p:txBody>
      </p:sp>
      <p:sp>
        <p:nvSpPr>
          <p:cNvPr id="5" name="Date Placeholder 4"/>
          <p:cNvSpPr>
            <a:spLocks noGrp="1"/>
          </p:cNvSpPr>
          <p:nvPr>
            <p:ph type="dt" sz="half" idx="10"/>
          </p:nvPr>
        </p:nvSpPr>
        <p:spPr/>
        <p:txBody>
          <a:bodyPr/>
          <a:lstStyle/>
          <a:p>
            <a:fld id="{65FAB049-6452-4A40-B6BF-BFFAD7549852}"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104</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969264"/>
            <a:ext cx="9357360" cy="5995416"/>
          </a:xfrm>
          <a:prstGeom prst="rect">
            <a:avLst/>
          </a:prstGeom>
        </p:spPr>
        <p:txBody>
          <a:bodyPr lIns="0" tIns="0" rIns="0" bIns="0">
            <a:noAutofit/>
          </a:bodyPr>
          <a:lstStyle/>
          <a:p>
            <a:pPr indent="0" algn="just">
              <a:lnSpc>
                <a:spcPts val="2784"/>
              </a:lnSpc>
              <a:spcAft>
                <a:spcPts val="840"/>
              </a:spcAft>
            </a:pPr>
            <a:r>
              <a:rPr lang="en-US" sz="2200" b="1" dirty="0" err="1">
                <a:latin typeface="Calibri"/>
              </a:rPr>
              <a:t>GetRequest</a:t>
            </a:r>
            <a:r>
              <a:rPr lang="en-US" sz="2200" dirty="0">
                <a:latin typeface="Calibri"/>
              </a:rPr>
              <a:t>: The </a:t>
            </a:r>
            <a:r>
              <a:rPr lang="en-US" sz="2200" dirty="0" err="1">
                <a:latin typeface="Calibri"/>
              </a:rPr>
              <a:t>GetRequest</a:t>
            </a:r>
            <a:r>
              <a:rPr lang="en-US" sz="2200" dirty="0">
                <a:latin typeface="Calibri"/>
              </a:rPr>
              <a:t> message is sent from a manager (client) to the agent (server) to retrieve the value of a variable.</a:t>
            </a:r>
          </a:p>
          <a:p>
            <a:pPr indent="0" algn="just">
              <a:lnSpc>
                <a:spcPts val="2784"/>
              </a:lnSpc>
              <a:spcAft>
                <a:spcPts val="840"/>
              </a:spcAft>
            </a:pPr>
            <a:r>
              <a:rPr lang="en-US" sz="2200" b="1" dirty="0" err="1">
                <a:latin typeface="Calibri"/>
              </a:rPr>
              <a:t>GetNextRequest</a:t>
            </a:r>
            <a:r>
              <a:rPr lang="en-US" sz="2200" dirty="0">
                <a:latin typeface="Calibri"/>
              </a:rPr>
              <a:t>: The </a:t>
            </a:r>
            <a:r>
              <a:rPr lang="en-US" sz="2200" dirty="0" err="1">
                <a:latin typeface="Calibri"/>
              </a:rPr>
              <a:t>GetNextRequest</a:t>
            </a:r>
            <a:r>
              <a:rPr lang="en-US" sz="2200" dirty="0">
                <a:latin typeface="Calibri"/>
              </a:rPr>
              <a:t> message is sent from the manager to agent to retrieve the value of a variable. This type of message is used to retrieve the values of the entries in a table. If the manager does not know the indexes of the entries, then it will not be able to retrieve the values. In such situations, </a:t>
            </a:r>
            <a:r>
              <a:rPr lang="en-US" sz="2200" dirty="0" err="1">
                <a:latin typeface="Calibri"/>
              </a:rPr>
              <a:t>GetNextRequest</a:t>
            </a:r>
            <a:r>
              <a:rPr lang="en-US" sz="2200" dirty="0">
                <a:latin typeface="Calibri"/>
              </a:rPr>
              <a:t> message is used to define an object.</a:t>
            </a:r>
          </a:p>
          <a:p>
            <a:pPr indent="0" algn="just">
              <a:lnSpc>
                <a:spcPts val="2808"/>
              </a:lnSpc>
              <a:spcAft>
                <a:spcPts val="840"/>
              </a:spcAft>
            </a:pPr>
            <a:r>
              <a:rPr lang="en-US" sz="2200" b="1" dirty="0" err="1">
                <a:latin typeface="Calibri"/>
              </a:rPr>
              <a:t>GetResponse</a:t>
            </a:r>
            <a:r>
              <a:rPr lang="en-US" sz="2200" dirty="0">
                <a:latin typeface="Calibri"/>
              </a:rPr>
              <a:t>: The </a:t>
            </a:r>
            <a:r>
              <a:rPr lang="en-US" sz="2200" dirty="0" err="1">
                <a:latin typeface="Calibri"/>
              </a:rPr>
              <a:t>GetResponse</a:t>
            </a:r>
            <a:r>
              <a:rPr lang="en-US" sz="2200" dirty="0">
                <a:latin typeface="Calibri"/>
              </a:rPr>
              <a:t> message is sent from an agent to the manager in response to the </a:t>
            </a:r>
            <a:r>
              <a:rPr lang="en-US" sz="2200" dirty="0" err="1">
                <a:latin typeface="Calibri"/>
              </a:rPr>
              <a:t>GetRequest</a:t>
            </a:r>
            <a:r>
              <a:rPr lang="en-US" sz="2200" dirty="0">
                <a:latin typeface="Calibri"/>
              </a:rPr>
              <a:t> and </a:t>
            </a:r>
            <a:r>
              <a:rPr lang="en-US" sz="2200" dirty="0" err="1">
                <a:latin typeface="Calibri"/>
              </a:rPr>
              <a:t>GetNextRequest</a:t>
            </a:r>
            <a:r>
              <a:rPr lang="en-US" sz="2200" dirty="0">
                <a:latin typeface="Calibri"/>
              </a:rPr>
              <a:t> message. This message contains the value of a variable requested by the manager.</a:t>
            </a:r>
          </a:p>
          <a:p>
            <a:pPr indent="0" algn="just">
              <a:lnSpc>
                <a:spcPts val="2808"/>
              </a:lnSpc>
              <a:spcAft>
                <a:spcPts val="840"/>
              </a:spcAft>
            </a:pPr>
            <a:r>
              <a:rPr lang="en-US" sz="2200" b="1" dirty="0" err="1">
                <a:latin typeface="Calibri"/>
              </a:rPr>
              <a:t>SetRequest</a:t>
            </a:r>
            <a:r>
              <a:rPr lang="en-US" sz="2200" dirty="0">
                <a:latin typeface="Calibri"/>
              </a:rPr>
              <a:t>: The </a:t>
            </a:r>
            <a:r>
              <a:rPr lang="en-US" sz="2200" dirty="0" err="1">
                <a:latin typeface="Calibri"/>
              </a:rPr>
              <a:t>SetRequest</a:t>
            </a:r>
            <a:r>
              <a:rPr lang="en-US" sz="2200" dirty="0">
                <a:latin typeface="Calibri"/>
              </a:rPr>
              <a:t> message is sent from a manager to the agent to set a value in a variable.</a:t>
            </a:r>
          </a:p>
          <a:p>
            <a:pPr indent="0" algn="just">
              <a:lnSpc>
                <a:spcPts val="2784"/>
              </a:lnSpc>
            </a:pPr>
            <a:r>
              <a:rPr lang="en-US" sz="2200" b="1" dirty="0">
                <a:latin typeface="Calibri"/>
              </a:rPr>
              <a:t>Trap</a:t>
            </a:r>
            <a:r>
              <a:rPr lang="en-US" sz="2200" dirty="0">
                <a:latin typeface="Calibri"/>
              </a:rPr>
              <a:t>: The Trap message is sent from an agent to the manager to report an event. For example, if the agent is rebooted, then it informs the manager as well as sends the time of rebooting.</a:t>
            </a:r>
          </a:p>
        </p:txBody>
      </p:sp>
      <p:sp>
        <p:nvSpPr>
          <p:cNvPr id="3" name="Date Placeholder 2"/>
          <p:cNvSpPr>
            <a:spLocks noGrp="1"/>
          </p:cNvSpPr>
          <p:nvPr>
            <p:ph type="dt" sz="half" idx="10"/>
          </p:nvPr>
        </p:nvSpPr>
        <p:spPr/>
        <p:txBody>
          <a:bodyPr/>
          <a:lstStyle/>
          <a:p>
            <a:fld id="{23E53C26-3950-4CC5-ADE8-770F5B7DDB3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105</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626864" y="987552"/>
            <a:ext cx="637032" cy="222504"/>
          </a:xfrm>
          <a:prstGeom prst="rect">
            <a:avLst/>
          </a:prstGeom>
        </p:spPr>
        <p:txBody>
          <a:bodyPr wrap="none" lIns="0" tIns="0" rIns="0" bIns="0">
            <a:noAutofit/>
          </a:bodyPr>
          <a:lstStyle/>
          <a:p>
            <a:pPr indent="0"/>
            <a:r>
              <a:rPr lang="en-US" sz="2300" b="1">
                <a:latin typeface="Calibri"/>
              </a:rPr>
              <a:t>HTTP</a:t>
            </a:r>
          </a:p>
        </p:txBody>
      </p:sp>
      <p:sp>
        <p:nvSpPr>
          <p:cNvPr id="3" name="Rectangle 2"/>
          <p:cNvSpPr/>
          <p:nvPr/>
        </p:nvSpPr>
        <p:spPr>
          <a:xfrm>
            <a:off x="490728" y="1911096"/>
            <a:ext cx="9116568" cy="5282184"/>
          </a:xfrm>
          <a:prstGeom prst="rect">
            <a:avLst/>
          </a:prstGeom>
        </p:spPr>
        <p:txBody>
          <a:bodyPr lIns="0" tIns="0" rIns="0" bIns="0">
            <a:noAutofit/>
          </a:bodyPr>
          <a:lstStyle/>
          <a:p>
            <a:pPr marL="254000" indent="-254000" algn="just">
              <a:lnSpc>
                <a:spcPts val="2808"/>
              </a:lnSpc>
            </a:pPr>
            <a:r>
              <a:rPr lang="en-US" sz="2200" dirty="0">
                <a:latin typeface="Calibri"/>
              </a:rPr>
              <a:t>. HTTP stands for </a:t>
            </a:r>
            <a:r>
              <a:rPr lang="en-US" sz="2200" b="1" dirty="0" err="1">
                <a:latin typeface="Calibri"/>
              </a:rPr>
              <a:t>HyperText</a:t>
            </a:r>
            <a:r>
              <a:rPr lang="en-US" sz="2200" b="1" dirty="0">
                <a:latin typeface="Calibri"/>
              </a:rPr>
              <a:t> Transfer Protocol</a:t>
            </a:r>
            <a:r>
              <a:rPr lang="en-US" sz="2200" dirty="0">
                <a:latin typeface="Calibri"/>
              </a:rPr>
              <a:t>.</a:t>
            </a:r>
          </a:p>
          <a:p>
            <a:pPr marL="254000" indent="-254000" algn="just">
              <a:lnSpc>
                <a:spcPts val="2808"/>
              </a:lnSpc>
            </a:pPr>
            <a:r>
              <a:rPr lang="en-US" sz="2200" dirty="0">
                <a:latin typeface="Calibri"/>
              </a:rPr>
              <a:t>. It is a protocol used to access the data on the World Wide Web (www).</a:t>
            </a:r>
          </a:p>
          <a:p>
            <a:pPr marL="254000" indent="-254000" algn="just">
              <a:lnSpc>
                <a:spcPts val="2808"/>
              </a:lnSpc>
            </a:pPr>
            <a:r>
              <a:rPr lang="en-US" sz="2200" dirty="0">
                <a:latin typeface="Calibri"/>
              </a:rPr>
              <a:t>. The HTTP protocol can be used to transfer the data in the form of plain text, hypertext, audio, video, and so on.</a:t>
            </a:r>
          </a:p>
          <a:p>
            <a:pPr marL="254000" indent="-254000" algn="just">
              <a:lnSpc>
                <a:spcPts val="2808"/>
              </a:lnSpc>
            </a:pPr>
            <a:r>
              <a:rPr lang="en-US" sz="2200" dirty="0">
                <a:latin typeface="Calibri"/>
              </a:rPr>
              <a:t>. This protocol is known as </a:t>
            </a:r>
            <a:r>
              <a:rPr lang="en-US" sz="2200" dirty="0" err="1">
                <a:latin typeface="Calibri"/>
              </a:rPr>
              <a:t>HyperText</a:t>
            </a:r>
            <a:r>
              <a:rPr lang="en-US" sz="2200" dirty="0">
                <a:latin typeface="Calibri"/>
              </a:rPr>
              <a:t> Transfer Protocol because of its efficiency that allows us to use in a hypertext environment where there are rapid jumps from one document to another document.</a:t>
            </a:r>
          </a:p>
          <a:p>
            <a:pPr marL="254000" indent="-254000" algn="just">
              <a:lnSpc>
                <a:spcPts val="2808"/>
              </a:lnSpc>
            </a:pPr>
            <a:r>
              <a:rPr lang="en-US" sz="2200" dirty="0">
                <a:latin typeface="Calibri"/>
              </a:rPr>
              <a:t>. HTTP is similar to the FTP as it also transfers the files from one host to another host. But, HTTP is simpler than FTP as HTTP uses only one connection, i.e., no control connection to transfer the files.</a:t>
            </a:r>
          </a:p>
          <a:p>
            <a:pPr marL="254000" indent="-254000" algn="just">
              <a:lnSpc>
                <a:spcPts val="2808"/>
              </a:lnSpc>
            </a:pPr>
            <a:r>
              <a:rPr lang="en-US" sz="2200" dirty="0">
                <a:latin typeface="Calibri"/>
              </a:rPr>
              <a:t>. HTTP is used to carry the data in the form of MIME-like format.</a:t>
            </a:r>
          </a:p>
          <a:p>
            <a:pPr marL="254000" indent="-254000" algn="just">
              <a:lnSpc>
                <a:spcPts val="2808"/>
              </a:lnSpc>
            </a:pPr>
            <a:r>
              <a:rPr lang="en-US" sz="2200" dirty="0">
                <a:latin typeface="Calibri"/>
              </a:rPr>
              <a:t>. HTTP is similar to SMTP as the data is transferred between client and server. The HTTP differs from the SMTP in the way the messages are sent from the client to the server and from server to the client. SMTP messages are stored and forwarded while HTTP messages are delivered immediately.</a:t>
            </a:r>
          </a:p>
        </p:txBody>
      </p:sp>
      <p:sp>
        <p:nvSpPr>
          <p:cNvPr id="4" name="Date Placeholder 3"/>
          <p:cNvSpPr>
            <a:spLocks noGrp="1"/>
          </p:cNvSpPr>
          <p:nvPr>
            <p:ph type="dt" sz="half" idx="10"/>
          </p:nvPr>
        </p:nvSpPr>
        <p:spPr/>
        <p:txBody>
          <a:bodyPr/>
          <a:lstStyle/>
          <a:p>
            <a:fld id="{D74F2A50-02EB-49DF-A2C8-AF7595638755}"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106</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72312"/>
            <a:ext cx="2142744" cy="240792"/>
          </a:xfrm>
          <a:prstGeom prst="rect">
            <a:avLst/>
          </a:prstGeom>
        </p:spPr>
        <p:txBody>
          <a:bodyPr wrap="none" lIns="0" tIns="0" rIns="0" bIns="0">
            <a:noAutofit/>
          </a:bodyPr>
          <a:lstStyle/>
          <a:p>
            <a:pPr indent="0">
              <a:spcAft>
                <a:spcPts val="1470"/>
              </a:spcAft>
            </a:pPr>
            <a:r>
              <a:rPr lang="en-US" sz="2200" b="1" dirty="0">
                <a:latin typeface="Calibri"/>
              </a:rPr>
              <a:t>Features of HTTP:</a:t>
            </a:r>
          </a:p>
        </p:txBody>
      </p:sp>
      <p:sp>
        <p:nvSpPr>
          <p:cNvPr id="3" name="Rectangle 2"/>
          <p:cNvSpPr/>
          <p:nvPr/>
        </p:nvSpPr>
        <p:spPr>
          <a:xfrm>
            <a:off x="490728" y="1463040"/>
            <a:ext cx="9119616" cy="5074920"/>
          </a:xfrm>
          <a:prstGeom prst="rect">
            <a:avLst/>
          </a:prstGeom>
        </p:spPr>
        <p:txBody>
          <a:bodyPr lIns="0" tIns="0" rIns="0" bIns="0">
            <a:noAutofit/>
          </a:bodyPr>
          <a:lstStyle/>
          <a:p>
            <a:pPr marL="256540" indent="-241300" algn="just">
              <a:lnSpc>
                <a:spcPts val="2808"/>
              </a:lnSpc>
              <a:spcBef>
                <a:spcPts val="1470"/>
              </a:spcBef>
              <a:spcAft>
                <a:spcPts val="210"/>
              </a:spcAft>
            </a:pPr>
            <a:r>
              <a:rPr lang="en-US" sz="2200" dirty="0">
                <a:latin typeface="Calibri"/>
              </a:rPr>
              <a:t>. </a:t>
            </a:r>
            <a:r>
              <a:rPr lang="en-US" sz="2200" b="1" dirty="0">
                <a:latin typeface="Calibri"/>
              </a:rPr>
              <a:t>Connectionless protocol</a:t>
            </a:r>
            <a:r>
              <a:rPr lang="en-US" sz="2200" dirty="0">
                <a:latin typeface="Calibri"/>
              </a:rPr>
              <a:t>: HTTP is a connectionless protocol. HTTP client initiates a request and waits for a response from the server. When the server receives the request, the server processes the request and sends back the response to the HTTP client after which the client disconnects the connection. The connection between client and server exist only during the current request and response time only.</a:t>
            </a:r>
          </a:p>
          <a:p>
            <a:pPr marL="256540" indent="-241300" algn="just">
              <a:lnSpc>
                <a:spcPts val="2808"/>
              </a:lnSpc>
              <a:spcAft>
                <a:spcPts val="210"/>
              </a:spcAft>
            </a:pPr>
            <a:r>
              <a:rPr lang="en-US" sz="2200" dirty="0">
                <a:latin typeface="Calibri"/>
              </a:rPr>
              <a:t>. </a:t>
            </a:r>
            <a:r>
              <a:rPr lang="en-US" sz="2200" b="1" dirty="0">
                <a:latin typeface="Calibri"/>
              </a:rPr>
              <a:t>Media independent</a:t>
            </a:r>
            <a:r>
              <a:rPr lang="en-US" sz="2200" dirty="0">
                <a:latin typeface="Calibri"/>
              </a:rPr>
              <a:t>: HTTP protocol is a media independent as data can be sent as long as both the client and server know how to handle the data content. It is required for both the client and server to specify the content type in MIME-type header.</a:t>
            </a:r>
          </a:p>
          <a:p>
            <a:pPr marL="256540" indent="-241300" algn="just">
              <a:lnSpc>
                <a:spcPts val="2808"/>
              </a:lnSpc>
            </a:pPr>
            <a:r>
              <a:rPr lang="en-US" sz="2200" dirty="0">
                <a:latin typeface="Calibri"/>
              </a:rPr>
              <a:t>. </a:t>
            </a:r>
            <a:r>
              <a:rPr lang="en-US" sz="2200" b="1" dirty="0">
                <a:latin typeface="Calibri"/>
              </a:rPr>
              <a:t>Stateless</a:t>
            </a:r>
            <a:r>
              <a:rPr lang="en-US" sz="2200" dirty="0">
                <a:latin typeface="Calibri"/>
              </a:rPr>
              <a:t>: HTTP is a stateless protocol as both the client and server know each other only during the current request. Due to this nature of the protocol, both the client and server do not retain the information between various requests of the web pages.</a:t>
            </a:r>
          </a:p>
        </p:txBody>
      </p:sp>
      <p:sp>
        <p:nvSpPr>
          <p:cNvPr id="4" name="Date Placeholder 3"/>
          <p:cNvSpPr>
            <a:spLocks noGrp="1"/>
          </p:cNvSpPr>
          <p:nvPr>
            <p:ph type="dt" sz="half" idx="10"/>
          </p:nvPr>
        </p:nvSpPr>
        <p:spPr/>
        <p:txBody>
          <a:bodyPr/>
          <a:lstStyle/>
          <a:p>
            <a:fld id="{7AA02C68-5B0C-489E-B8F6-63A7EC2E3932}"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107</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45208" y="1399032"/>
            <a:ext cx="3956304" cy="4160520"/>
          </a:xfrm>
          <a:prstGeom prst="rect">
            <a:avLst/>
          </a:prstGeom>
        </p:spPr>
      </p:pic>
      <p:sp>
        <p:nvSpPr>
          <p:cNvPr id="3" name="Rectangle 2"/>
          <p:cNvSpPr/>
          <p:nvPr/>
        </p:nvSpPr>
        <p:spPr>
          <a:xfrm>
            <a:off x="505968" y="981456"/>
            <a:ext cx="2237232" cy="231648"/>
          </a:xfrm>
          <a:prstGeom prst="rect">
            <a:avLst/>
          </a:prstGeom>
        </p:spPr>
        <p:txBody>
          <a:bodyPr wrap="none" lIns="0" tIns="0" rIns="0" bIns="0">
            <a:noAutofit/>
          </a:bodyPr>
          <a:lstStyle/>
          <a:p>
            <a:pPr indent="0"/>
            <a:r>
              <a:rPr lang="en-US" sz="2300" b="1">
                <a:latin typeface="Calibri"/>
              </a:rPr>
              <a:t>HTTP Transactions</a:t>
            </a:r>
          </a:p>
        </p:txBody>
      </p:sp>
      <p:sp>
        <p:nvSpPr>
          <p:cNvPr id="4" name="Rectangle 3"/>
          <p:cNvSpPr/>
          <p:nvPr/>
        </p:nvSpPr>
        <p:spPr>
          <a:xfrm>
            <a:off x="256032" y="5824728"/>
            <a:ext cx="9345168" cy="1002792"/>
          </a:xfrm>
          <a:prstGeom prst="rect">
            <a:avLst/>
          </a:prstGeom>
        </p:spPr>
        <p:txBody>
          <a:bodyPr lIns="0" tIns="0" rIns="0" bIns="0">
            <a:noAutofit/>
          </a:bodyPr>
          <a:lstStyle/>
          <a:p>
            <a:pPr indent="482600" algn="just">
              <a:lnSpc>
                <a:spcPts val="2808"/>
              </a:lnSpc>
              <a:spcBef>
                <a:spcPts val="1470"/>
              </a:spcBef>
            </a:pPr>
            <a:r>
              <a:rPr lang="en-US" sz="2200">
                <a:latin typeface="Calibri"/>
              </a:rPr>
              <a:t>The above figure shows the HTTP transaction between client and server. The client initiates a transaction by sending a request message to the server. The server replies to the request message by sending a response message.</a:t>
            </a:r>
          </a:p>
        </p:txBody>
      </p:sp>
      <p:sp>
        <p:nvSpPr>
          <p:cNvPr id="5" name="Date Placeholder 4"/>
          <p:cNvSpPr>
            <a:spLocks noGrp="1"/>
          </p:cNvSpPr>
          <p:nvPr>
            <p:ph type="dt" sz="half" idx="10"/>
          </p:nvPr>
        </p:nvSpPr>
        <p:spPr/>
        <p:txBody>
          <a:bodyPr/>
          <a:lstStyle/>
          <a:p>
            <a:fld id="{498A3905-3AAD-43AA-8550-5F3846490512}"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108</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01696" y="2365248"/>
            <a:ext cx="4572000" cy="2273808"/>
          </a:xfrm>
          <a:prstGeom prst="rect">
            <a:avLst/>
          </a:prstGeom>
        </p:spPr>
      </p:pic>
      <p:sp>
        <p:nvSpPr>
          <p:cNvPr id="3" name="Rectangle 2"/>
          <p:cNvSpPr/>
          <p:nvPr/>
        </p:nvSpPr>
        <p:spPr>
          <a:xfrm>
            <a:off x="277368" y="987552"/>
            <a:ext cx="1188720" cy="274320"/>
          </a:xfrm>
          <a:prstGeom prst="rect">
            <a:avLst/>
          </a:prstGeom>
        </p:spPr>
        <p:txBody>
          <a:bodyPr wrap="none" lIns="0" tIns="0" rIns="0" bIns="0">
            <a:noAutofit/>
          </a:bodyPr>
          <a:lstStyle/>
          <a:p>
            <a:pPr indent="0">
              <a:spcAft>
                <a:spcPts val="1890"/>
              </a:spcAft>
            </a:pPr>
            <a:r>
              <a:rPr lang="en-US" sz="2200" b="1" dirty="0">
                <a:latin typeface="Calibri"/>
              </a:rPr>
              <a:t>Messages</a:t>
            </a:r>
          </a:p>
        </p:txBody>
      </p:sp>
      <p:sp>
        <p:nvSpPr>
          <p:cNvPr id="4" name="Rectangle 3"/>
          <p:cNvSpPr/>
          <p:nvPr/>
        </p:nvSpPr>
        <p:spPr>
          <a:xfrm>
            <a:off x="231648" y="1493520"/>
            <a:ext cx="9406128" cy="682752"/>
          </a:xfrm>
          <a:prstGeom prst="rect">
            <a:avLst/>
          </a:prstGeom>
        </p:spPr>
        <p:txBody>
          <a:bodyPr lIns="0" tIns="0" rIns="0" bIns="0">
            <a:noAutofit/>
          </a:bodyPr>
          <a:lstStyle/>
          <a:p>
            <a:pPr indent="533400">
              <a:lnSpc>
                <a:spcPts val="2808"/>
              </a:lnSpc>
              <a:spcBef>
                <a:spcPts val="1890"/>
              </a:spcBef>
            </a:pPr>
            <a:r>
              <a:rPr lang="en-US" sz="2200">
                <a:latin typeface="Calibri"/>
              </a:rPr>
              <a:t>HTTP messages are of two types: request and response. Both the message types follow the same message format.</a:t>
            </a:r>
          </a:p>
        </p:txBody>
      </p:sp>
      <p:sp>
        <p:nvSpPr>
          <p:cNvPr id="5" name="Date Placeholder 4"/>
          <p:cNvSpPr>
            <a:spLocks noGrp="1"/>
          </p:cNvSpPr>
          <p:nvPr>
            <p:ph type="dt" sz="half" idx="10"/>
          </p:nvPr>
        </p:nvSpPr>
        <p:spPr/>
        <p:txBody>
          <a:bodyPr/>
          <a:lstStyle/>
          <a:p>
            <a:fld id="{49515E0A-FEA6-44C3-A347-2A1B7972B230}"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109</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45408" y="1804416"/>
            <a:ext cx="3112008" cy="3276600"/>
          </a:xfrm>
          <a:prstGeom prst="rect">
            <a:avLst/>
          </a:prstGeom>
        </p:spPr>
      </p:pic>
      <p:sp>
        <p:nvSpPr>
          <p:cNvPr id="3" name="Rectangle 2"/>
          <p:cNvSpPr/>
          <p:nvPr/>
        </p:nvSpPr>
        <p:spPr>
          <a:xfrm>
            <a:off x="277368" y="972312"/>
            <a:ext cx="9320784" cy="646176"/>
          </a:xfrm>
          <a:prstGeom prst="rect">
            <a:avLst/>
          </a:prstGeom>
        </p:spPr>
        <p:txBody>
          <a:bodyPr lIns="0" tIns="0" rIns="0" bIns="0">
            <a:noAutofit/>
          </a:bodyPr>
          <a:lstStyle/>
          <a:p>
            <a:pPr indent="0">
              <a:lnSpc>
                <a:spcPts val="2832"/>
              </a:lnSpc>
            </a:pPr>
            <a:r>
              <a:rPr lang="en-US" sz="2300" b="1">
                <a:latin typeface="Calibri"/>
              </a:rPr>
              <a:t>Request Message: </a:t>
            </a:r>
            <a:r>
              <a:rPr lang="en-US" sz="2300">
                <a:latin typeface="Calibri"/>
              </a:rPr>
              <a:t>The request message is sent by the client that consists of a</a:t>
            </a:r>
          </a:p>
          <a:p>
            <a:pPr indent="0">
              <a:lnSpc>
                <a:spcPts val="2832"/>
              </a:lnSpc>
            </a:pPr>
            <a:r>
              <a:rPr lang="en-US" sz="2300">
                <a:latin typeface="Calibri"/>
              </a:rPr>
              <a:t>request line, headers, and sometimes a body.</a:t>
            </a:r>
          </a:p>
        </p:txBody>
      </p:sp>
      <p:sp>
        <p:nvSpPr>
          <p:cNvPr id="4" name="Date Placeholder 3"/>
          <p:cNvSpPr>
            <a:spLocks noGrp="1"/>
          </p:cNvSpPr>
          <p:nvPr>
            <p:ph type="dt" sz="half" idx="10"/>
          </p:nvPr>
        </p:nvSpPr>
        <p:spPr/>
        <p:txBody>
          <a:bodyPr/>
          <a:lstStyle/>
          <a:p>
            <a:fld id="{6A096277-5C91-4037-A395-C6D2949D2F46}"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110</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03320" y="1804416"/>
            <a:ext cx="2033016" cy="2139696"/>
          </a:xfrm>
          <a:prstGeom prst="rect">
            <a:avLst/>
          </a:prstGeom>
        </p:spPr>
      </p:pic>
      <p:sp>
        <p:nvSpPr>
          <p:cNvPr id="3" name="Rectangle 2"/>
          <p:cNvSpPr/>
          <p:nvPr/>
        </p:nvSpPr>
        <p:spPr>
          <a:xfrm>
            <a:off x="262128" y="975360"/>
            <a:ext cx="9345168" cy="643128"/>
          </a:xfrm>
          <a:prstGeom prst="rect">
            <a:avLst/>
          </a:prstGeom>
        </p:spPr>
        <p:txBody>
          <a:bodyPr lIns="0" tIns="0" rIns="0" bIns="0">
            <a:noAutofit/>
          </a:bodyPr>
          <a:lstStyle/>
          <a:p>
            <a:pPr indent="0">
              <a:lnSpc>
                <a:spcPts val="2808"/>
              </a:lnSpc>
            </a:pPr>
            <a:r>
              <a:rPr lang="en-US" sz="2300" b="1">
                <a:latin typeface="Calibri"/>
              </a:rPr>
              <a:t>Response Message: </a:t>
            </a:r>
            <a:r>
              <a:rPr lang="en-US" sz="2300">
                <a:latin typeface="Calibri"/>
              </a:rPr>
              <a:t>The response message is sent by the server to the client</a:t>
            </a:r>
          </a:p>
          <a:p>
            <a:pPr indent="0">
              <a:lnSpc>
                <a:spcPts val="2808"/>
              </a:lnSpc>
            </a:pPr>
            <a:r>
              <a:rPr lang="en-US" sz="2300">
                <a:latin typeface="Calibri"/>
              </a:rPr>
              <a:t>that consists of a status line, headers, and sometimes a body.</a:t>
            </a:r>
          </a:p>
        </p:txBody>
      </p:sp>
      <p:sp>
        <p:nvSpPr>
          <p:cNvPr id="4" name="Date Placeholder 3"/>
          <p:cNvSpPr>
            <a:spLocks noGrp="1"/>
          </p:cNvSpPr>
          <p:nvPr>
            <p:ph type="dt" sz="half" idx="10"/>
          </p:nvPr>
        </p:nvSpPr>
        <p:spPr/>
        <p:txBody>
          <a:bodyPr/>
          <a:lstStyle/>
          <a:p>
            <a:fld id="{3E444CD9-6588-4E53-B994-BB8F1652D63C}"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111</a:t>
            </a:fld>
            <a:endParaRPr lang="en-US"/>
          </a:p>
        </p:txBody>
      </p:sp>
      <p:sp>
        <p:nvSpPr>
          <p:cNvPr id="7"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15312" y="5266944"/>
            <a:ext cx="5029200" cy="530352"/>
          </a:xfrm>
          <a:prstGeom prst="rect">
            <a:avLst/>
          </a:prstGeom>
        </p:spPr>
      </p:pic>
      <p:sp>
        <p:nvSpPr>
          <p:cNvPr id="3" name="Rectangle 2"/>
          <p:cNvSpPr/>
          <p:nvPr/>
        </p:nvSpPr>
        <p:spPr>
          <a:xfrm>
            <a:off x="277368" y="969264"/>
            <a:ext cx="9342120" cy="2715768"/>
          </a:xfrm>
          <a:prstGeom prst="rect">
            <a:avLst/>
          </a:prstGeom>
        </p:spPr>
        <p:txBody>
          <a:bodyPr lIns="0" tIns="0" rIns="0" bIns="0">
            <a:noAutofit/>
          </a:bodyPr>
          <a:lstStyle/>
          <a:p>
            <a:pPr indent="0">
              <a:spcAft>
                <a:spcPts val="1470"/>
              </a:spcAft>
            </a:pPr>
            <a:r>
              <a:rPr lang="en-US" sz="2200" b="1" dirty="0">
                <a:latin typeface="Calibri"/>
              </a:rPr>
              <a:t>Uniform Resource Locator (URL)</a:t>
            </a:r>
          </a:p>
          <a:p>
            <a:pPr marL="469900" indent="-241300" algn="just">
              <a:lnSpc>
                <a:spcPts val="2808"/>
              </a:lnSpc>
              <a:spcAft>
                <a:spcPts val="210"/>
              </a:spcAft>
            </a:pPr>
            <a:r>
              <a:rPr lang="en-US" sz="2200" dirty="0">
                <a:latin typeface="Calibri"/>
              </a:rPr>
              <a:t>. A client that wants to access the document in an internet needs an address and to facilitate the access of documents, the HTTP uses the concept of Uniform Resource Locator (URL).</a:t>
            </a:r>
          </a:p>
          <a:p>
            <a:pPr marL="469900" indent="-241300" algn="just">
              <a:lnSpc>
                <a:spcPts val="2784"/>
              </a:lnSpc>
              <a:spcAft>
                <a:spcPts val="210"/>
              </a:spcAft>
            </a:pPr>
            <a:r>
              <a:rPr lang="en-US" sz="2200" dirty="0">
                <a:latin typeface="Calibri"/>
              </a:rPr>
              <a:t>. The Uniform Resource Locator (URL) is a standard way of specifying any kind of information on the internet.</a:t>
            </a:r>
          </a:p>
          <a:p>
            <a:pPr marL="469900" indent="-241300" algn="just">
              <a:spcAft>
                <a:spcPts val="4410"/>
              </a:spcAft>
            </a:pPr>
            <a:r>
              <a:rPr lang="en-US" sz="2200" dirty="0">
                <a:latin typeface="Calibri"/>
              </a:rPr>
              <a:t>. The URL defines four parts: method, host computer, port, and path.</a:t>
            </a:r>
          </a:p>
        </p:txBody>
      </p:sp>
      <p:sp>
        <p:nvSpPr>
          <p:cNvPr id="4" name="Rectangle 3"/>
          <p:cNvSpPr/>
          <p:nvPr/>
        </p:nvSpPr>
        <p:spPr>
          <a:xfrm>
            <a:off x="3831336" y="4465320"/>
            <a:ext cx="2444496" cy="542544"/>
          </a:xfrm>
          <a:prstGeom prst="rect">
            <a:avLst/>
          </a:prstGeom>
        </p:spPr>
        <p:txBody>
          <a:bodyPr lIns="0" tIns="0" rIns="0" bIns="0">
            <a:noAutofit/>
          </a:bodyPr>
          <a:lstStyle/>
          <a:p>
            <a:pPr marL="850900" indent="0">
              <a:spcAft>
                <a:spcPts val="1050"/>
              </a:spcAft>
            </a:pPr>
            <a:r>
              <a:rPr lang="en-US" sz="1400" b="1">
                <a:latin typeface="Calibri"/>
              </a:rPr>
              <a:t>URL</a:t>
            </a:r>
          </a:p>
          <a:p>
            <a:pPr indent="0"/>
            <a:r>
              <a:rPr lang="en-US" sz="1400" b="1">
                <a:latin typeface="Calibri"/>
              </a:rPr>
              <a:t>Uniform Resource Locator</a:t>
            </a:r>
          </a:p>
        </p:txBody>
      </p:sp>
      <p:sp>
        <p:nvSpPr>
          <p:cNvPr id="5" name="Rectangle 4"/>
          <p:cNvSpPr/>
          <p:nvPr/>
        </p:nvSpPr>
        <p:spPr>
          <a:xfrm>
            <a:off x="725424" y="6528816"/>
            <a:ext cx="8875776" cy="646176"/>
          </a:xfrm>
          <a:prstGeom prst="rect">
            <a:avLst/>
          </a:prstGeom>
        </p:spPr>
        <p:txBody>
          <a:bodyPr lIns="0" tIns="0" rIns="0" bIns="0">
            <a:noAutofit/>
          </a:bodyPr>
          <a:lstStyle/>
          <a:p>
            <a:pPr indent="0" algn="just">
              <a:lnSpc>
                <a:spcPts val="2808"/>
              </a:lnSpc>
              <a:spcBef>
                <a:spcPts val="3990"/>
              </a:spcBef>
            </a:pPr>
            <a:r>
              <a:rPr lang="en-US" sz="2200" b="1" dirty="0">
                <a:latin typeface="Calibri"/>
              </a:rPr>
              <a:t>Method</a:t>
            </a:r>
            <a:r>
              <a:rPr lang="en-US" sz="2200" dirty="0">
                <a:latin typeface="Calibri"/>
              </a:rPr>
              <a:t>: The method is the protocol used to retrieve the document from a server. For example, HTTP.</a:t>
            </a:r>
          </a:p>
        </p:txBody>
      </p:sp>
      <p:sp>
        <p:nvSpPr>
          <p:cNvPr id="6" name="Date Placeholder 5"/>
          <p:cNvSpPr>
            <a:spLocks noGrp="1"/>
          </p:cNvSpPr>
          <p:nvPr>
            <p:ph type="dt" sz="half" idx="10"/>
          </p:nvPr>
        </p:nvSpPr>
        <p:spPr/>
        <p:txBody>
          <a:bodyPr/>
          <a:lstStyle/>
          <a:p>
            <a:fld id="{8DE4DC08-A535-4B70-A21C-AB5667BE4A33}"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112</a:t>
            </a:fld>
            <a:endParaRPr lang="en-US"/>
          </a:p>
        </p:txBody>
      </p:sp>
      <p:sp>
        <p:nvSpPr>
          <p:cNvPr id="9"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pic>
        <p:nvPicPr>
          <p:cNvPr id="10" name="Picture 9"/>
          <p:cNvPicPr/>
          <p:nvPr/>
        </p:nvPicPr>
        <p:blipFill>
          <a:blip r:embed="rId3"/>
          <a:stretch>
            <a:fillRect/>
          </a:stretch>
        </p:blipFill>
        <p:spPr>
          <a:xfrm>
            <a:off x="1116330" y="3280727"/>
            <a:ext cx="7825740" cy="121094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0728" y="972312"/>
            <a:ext cx="9116568" cy="3602736"/>
          </a:xfrm>
          <a:prstGeom prst="rect">
            <a:avLst/>
          </a:prstGeom>
        </p:spPr>
        <p:txBody>
          <a:bodyPr lIns="0" tIns="0" rIns="0" bIns="0">
            <a:noAutofit/>
          </a:bodyPr>
          <a:lstStyle/>
          <a:p>
            <a:pPr marL="254000" indent="-254000" algn="just">
              <a:lnSpc>
                <a:spcPts val="2808"/>
              </a:lnSpc>
              <a:spcAft>
                <a:spcPts val="210"/>
              </a:spcAft>
            </a:pPr>
            <a:r>
              <a:rPr lang="en-US" sz="2200" dirty="0">
                <a:latin typeface="Calibri"/>
              </a:rPr>
              <a:t>. </a:t>
            </a:r>
            <a:r>
              <a:rPr lang="en-US" sz="2200" b="1" dirty="0">
                <a:latin typeface="Calibri"/>
              </a:rPr>
              <a:t>Host</a:t>
            </a:r>
            <a:r>
              <a:rPr lang="en-US" sz="2200" dirty="0">
                <a:latin typeface="Calibri"/>
              </a:rPr>
              <a:t>: The host is the computer where the information is stored, and the computer is given an alias name. Web pages are mainly stored in the computers and the computers are given an alias name that begins with the characters "www". This field is not mandatory.</a:t>
            </a:r>
          </a:p>
          <a:p>
            <a:pPr marL="254000" indent="-254000" algn="just">
              <a:lnSpc>
                <a:spcPts val="2808"/>
              </a:lnSpc>
              <a:spcAft>
                <a:spcPts val="210"/>
              </a:spcAft>
            </a:pPr>
            <a:r>
              <a:rPr lang="en-US" sz="2200" dirty="0">
                <a:latin typeface="Calibri"/>
              </a:rPr>
              <a:t>. </a:t>
            </a:r>
            <a:r>
              <a:rPr lang="en-US" sz="2200" b="1" dirty="0">
                <a:latin typeface="Calibri"/>
              </a:rPr>
              <a:t>Port</a:t>
            </a:r>
            <a:r>
              <a:rPr lang="en-US" sz="2200" dirty="0">
                <a:latin typeface="Calibri"/>
              </a:rPr>
              <a:t>: The URL can also contain the port number of the server, but it's an optional field. If the port number is included, then it must come between the host and path and it should be separated from the host by a colon.</a:t>
            </a:r>
          </a:p>
          <a:p>
            <a:pPr marL="254000" indent="-254000" algn="just">
              <a:lnSpc>
                <a:spcPts val="2808"/>
              </a:lnSpc>
            </a:pPr>
            <a:r>
              <a:rPr lang="en-US" sz="2200" dirty="0">
                <a:latin typeface="Calibri"/>
              </a:rPr>
              <a:t>. </a:t>
            </a:r>
            <a:r>
              <a:rPr lang="en-US" sz="2200" b="1" dirty="0">
                <a:latin typeface="Calibri"/>
              </a:rPr>
              <a:t>Path</a:t>
            </a:r>
            <a:r>
              <a:rPr lang="en-US" sz="2200" dirty="0">
                <a:latin typeface="Calibri"/>
              </a:rPr>
              <a:t>: Path is the pathname of the file where the information is stored. The path itself contain slashes that separate the directories from the subdirectories and files.</a:t>
            </a:r>
          </a:p>
        </p:txBody>
      </p:sp>
      <p:sp>
        <p:nvSpPr>
          <p:cNvPr id="3" name="Date Placeholder 2"/>
          <p:cNvSpPr>
            <a:spLocks noGrp="1"/>
          </p:cNvSpPr>
          <p:nvPr>
            <p:ph type="dt" sz="half" idx="10"/>
          </p:nvPr>
        </p:nvSpPr>
        <p:spPr/>
        <p:txBody>
          <a:bodyPr/>
          <a:lstStyle/>
          <a:p>
            <a:fld id="{15ADDE01-1664-4F7C-8E8C-069EAD6AD0C4}"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113</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975360"/>
            <a:ext cx="9348216" cy="4809744"/>
          </a:xfrm>
          <a:prstGeom prst="rect">
            <a:avLst/>
          </a:prstGeom>
        </p:spPr>
        <p:txBody>
          <a:bodyPr lIns="0" tIns="0" rIns="0" bIns="0">
            <a:noAutofit/>
          </a:bodyPr>
          <a:lstStyle/>
          <a:p>
            <a:pPr indent="0" algn="ctr">
              <a:spcAft>
                <a:spcPts val="1050"/>
              </a:spcAft>
            </a:pPr>
            <a:r>
              <a:rPr lang="en-US" sz="2200" b="1" dirty="0">
                <a:latin typeface="Calibri"/>
              </a:rPr>
              <a:t>Other Application Layer Protocols</a:t>
            </a:r>
          </a:p>
          <a:p>
            <a:pPr indent="0">
              <a:spcAft>
                <a:spcPts val="1050"/>
              </a:spcAft>
            </a:pPr>
            <a:r>
              <a:rPr lang="en-US" sz="2200" b="1" dirty="0">
                <a:latin typeface="Calibri"/>
              </a:rPr>
              <a:t>TFTP</a:t>
            </a:r>
            <a:r>
              <a:rPr lang="en-US" sz="2200" dirty="0">
                <a:latin typeface="Calibri"/>
              </a:rPr>
              <a:t>:</a:t>
            </a:r>
          </a:p>
          <a:p>
            <a:pPr indent="469900">
              <a:lnSpc>
                <a:spcPts val="2808"/>
              </a:lnSpc>
              <a:spcAft>
                <a:spcPts val="420"/>
              </a:spcAft>
            </a:pPr>
            <a:r>
              <a:rPr lang="en-US" sz="2200" b="1" dirty="0">
                <a:solidFill>
                  <a:srgbClr val="373435"/>
                </a:solidFill>
                <a:latin typeface="Calibri"/>
              </a:rPr>
              <a:t>Trivial File Transfer Protocol (TFTP)</a:t>
            </a:r>
            <a:r>
              <a:rPr lang="en-US" sz="2200" dirty="0">
                <a:solidFill>
                  <a:srgbClr val="373435"/>
                </a:solidFill>
                <a:latin typeface="Calibri"/>
              </a:rPr>
              <a:t> is a network protocol used to transfer files between hosts in a TCP/IP network. It is </a:t>
            </a:r>
            <a:r>
              <a:rPr lang="en-US" sz="2200" dirty="0">
                <a:latin typeface="Calibri"/>
              </a:rPr>
              <a:t>the stripped-down, stock version of </a:t>
            </a:r>
            <a:r>
              <a:rPr lang="en-US" sz="2200" dirty="0">
                <a:solidFill>
                  <a:srgbClr val="373435"/>
                </a:solidFill>
                <a:latin typeface="Calibri"/>
              </a:rPr>
              <a:t>FTP and it doesn't have all of its functions; for example, you cannot list, delete, or rename files or directories on a remote server. In fact, TFTP can only be used to send and receive files between the two computers. TFTP doesn't support user authentication and all data is sent in clear text. So </a:t>
            </a:r>
            <a:r>
              <a:rPr lang="en-US" sz="2200" dirty="0">
                <a:latin typeface="Calibri"/>
              </a:rPr>
              <a:t>It's a technology for transferring files between network devices and is a simplified version of FTP</a:t>
            </a:r>
          </a:p>
          <a:p>
            <a:pPr indent="469900">
              <a:lnSpc>
                <a:spcPts val="2784"/>
              </a:lnSpc>
            </a:pPr>
            <a:r>
              <a:rPr lang="en-US" sz="2200" dirty="0">
                <a:solidFill>
                  <a:srgbClr val="373435"/>
                </a:solidFill>
                <a:latin typeface="Calibri"/>
              </a:rPr>
              <a:t>The only real advantage that TFTP has over FTP is that it uses less resources. It is not widely used today, but Cisco does still use it on its devices, for example to backup a router's IOS image.</a:t>
            </a:r>
          </a:p>
        </p:txBody>
      </p:sp>
      <p:sp>
        <p:nvSpPr>
          <p:cNvPr id="3" name="Date Placeholder 2"/>
          <p:cNvSpPr>
            <a:spLocks noGrp="1"/>
          </p:cNvSpPr>
          <p:nvPr>
            <p:ph type="dt" sz="half" idx="10"/>
          </p:nvPr>
        </p:nvSpPr>
        <p:spPr/>
        <p:txBody>
          <a:bodyPr/>
          <a:lstStyle/>
          <a:p>
            <a:fld id="{97B817E4-104E-4310-93EC-3995B0F3F19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114</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58696" y="1365504"/>
            <a:ext cx="5026152" cy="1758696"/>
          </a:xfrm>
          <a:prstGeom prst="rect">
            <a:avLst/>
          </a:prstGeom>
        </p:spPr>
      </p:pic>
      <p:sp>
        <p:nvSpPr>
          <p:cNvPr id="3" name="Rectangle 2"/>
          <p:cNvSpPr/>
          <p:nvPr/>
        </p:nvSpPr>
        <p:spPr>
          <a:xfrm>
            <a:off x="271272" y="972312"/>
            <a:ext cx="3831336" cy="289560"/>
          </a:xfrm>
          <a:prstGeom prst="rect">
            <a:avLst/>
          </a:prstGeom>
        </p:spPr>
        <p:txBody>
          <a:bodyPr wrap="none" lIns="0" tIns="0" rIns="0" bIns="0">
            <a:noAutofit/>
          </a:bodyPr>
          <a:lstStyle/>
          <a:p>
            <a:pPr indent="0"/>
            <a:r>
              <a:rPr lang="en-US" sz="2200">
                <a:solidFill>
                  <a:srgbClr val="373435"/>
                </a:solidFill>
                <a:latin typeface="Calibri"/>
              </a:rPr>
              <a:t>Consider the following example:</a:t>
            </a:r>
          </a:p>
        </p:txBody>
      </p:sp>
      <p:sp>
        <p:nvSpPr>
          <p:cNvPr id="4" name="Rectangle 3"/>
          <p:cNvSpPr/>
          <p:nvPr/>
        </p:nvSpPr>
        <p:spPr>
          <a:xfrm>
            <a:off x="256032" y="3276600"/>
            <a:ext cx="9311640" cy="1453896"/>
          </a:xfrm>
          <a:prstGeom prst="rect">
            <a:avLst/>
          </a:prstGeom>
        </p:spPr>
        <p:txBody>
          <a:bodyPr lIns="0" tIns="0" rIns="0" bIns="0">
            <a:noAutofit/>
          </a:bodyPr>
          <a:lstStyle/>
          <a:p>
            <a:pPr indent="0">
              <a:lnSpc>
                <a:spcPts val="2808"/>
              </a:lnSpc>
              <a:spcBef>
                <a:spcPts val="840"/>
              </a:spcBef>
              <a:spcAft>
                <a:spcPts val="420"/>
              </a:spcAft>
            </a:pPr>
            <a:r>
              <a:rPr lang="en-US" sz="2200">
                <a:solidFill>
                  <a:srgbClr val="373435"/>
                </a:solidFill>
                <a:latin typeface="Calibri"/>
              </a:rPr>
              <a:t>A user wants to transfer files from Host A to the router R1. R1 is a Cisco device and it has a TFTP server installed. The user will start an TFTP client program and initiate the data transfer.</a:t>
            </a:r>
          </a:p>
          <a:p>
            <a:pPr indent="0">
              <a:spcAft>
                <a:spcPts val="3780"/>
              </a:spcAft>
            </a:pPr>
            <a:r>
              <a:rPr lang="en-US" sz="2200">
                <a:solidFill>
                  <a:srgbClr val="373435"/>
                </a:solidFill>
                <a:latin typeface="Calibri"/>
              </a:rPr>
              <a:t>TFTP uses a well-known UDP port 69.</a:t>
            </a:r>
          </a:p>
        </p:txBody>
      </p:sp>
      <p:sp>
        <p:nvSpPr>
          <p:cNvPr id="5" name="Rectangle 4"/>
          <p:cNvSpPr/>
          <p:nvPr/>
        </p:nvSpPr>
        <p:spPr>
          <a:xfrm>
            <a:off x="262128" y="5355336"/>
            <a:ext cx="5169408" cy="743712"/>
          </a:xfrm>
          <a:prstGeom prst="rect">
            <a:avLst/>
          </a:prstGeom>
        </p:spPr>
        <p:txBody>
          <a:bodyPr lIns="0" tIns="0" rIns="0" bIns="0">
            <a:noAutofit/>
          </a:bodyPr>
          <a:lstStyle/>
          <a:p>
            <a:pPr indent="0">
              <a:spcBef>
                <a:spcPts val="3780"/>
              </a:spcBef>
              <a:spcAft>
                <a:spcPts val="1260"/>
              </a:spcAft>
            </a:pPr>
            <a:r>
              <a:rPr lang="en-US" sz="2200">
                <a:latin typeface="Calibri"/>
              </a:rPr>
              <a:t>Command</a:t>
            </a:r>
          </a:p>
          <a:p>
            <a:pPr indent="0"/>
            <a:r>
              <a:rPr lang="en-US" sz="2200">
                <a:latin typeface="Calibri"/>
              </a:rPr>
              <a:t>tftp [ options... ] [host [port]] [-c command]</a:t>
            </a:r>
          </a:p>
        </p:txBody>
      </p:sp>
      <p:sp>
        <p:nvSpPr>
          <p:cNvPr id="6" name="Date Placeholder 5"/>
          <p:cNvSpPr>
            <a:spLocks noGrp="1"/>
          </p:cNvSpPr>
          <p:nvPr>
            <p:ph type="dt" sz="half" idx="10"/>
          </p:nvPr>
        </p:nvSpPr>
        <p:spPr/>
        <p:txBody>
          <a:bodyPr/>
          <a:lstStyle/>
          <a:p>
            <a:fld id="{BB2140EC-780D-4ED2-A11D-39B74EAFD0D1}"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115</a:t>
            </a:fld>
            <a:endParaRPr lang="en-US"/>
          </a:p>
        </p:txBody>
      </p:sp>
      <p:sp>
        <p:nvSpPr>
          <p:cNvPr id="9"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84504"/>
            <a:ext cx="542544" cy="228600"/>
          </a:xfrm>
          <a:prstGeom prst="rect">
            <a:avLst/>
          </a:prstGeom>
        </p:spPr>
        <p:txBody>
          <a:bodyPr wrap="none" lIns="0" tIns="0" rIns="0" bIns="0">
            <a:noAutofit/>
          </a:bodyPr>
          <a:lstStyle/>
          <a:p>
            <a:pPr indent="0" algn="just">
              <a:spcAft>
                <a:spcPts val="1260"/>
              </a:spcAft>
            </a:pPr>
            <a:r>
              <a:rPr lang="en-US" sz="2200" b="1" dirty="0">
                <a:latin typeface="Calibri"/>
              </a:rPr>
              <a:t>NFS:</a:t>
            </a:r>
          </a:p>
        </p:txBody>
      </p:sp>
      <p:sp>
        <p:nvSpPr>
          <p:cNvPr id="3" name="Rectangle 2"/>
          <p:cNvSpPr/>
          <p:nvPr/>
        </p:nvSpPr>
        <p:spPr>
          <a:xfrm>
            <a:off x="268224" y="1432560"/>
            <a:ext cx="9339072" cy="1310640"/>
          </a:xfrm>
          <a:prstGeom prst="rect">
            <a:avLst/>
          </a:prstGeom>
        </p:spPr>
        <p:txBody>
          <a:bodyPr lIns="0" tIns="0" rIns="0" bIns="0">
            <a:noAutofit/>
          </a:bodyPr>
          <a:lstStyle/>
          <a:p>
            <a:pPr indent="0" algn="just">
              <a:lnSpc>
                <a:spcPts val="2808"/>
              </a:lnSpc>
              <a:spcBef>
                <a:spcPts val="1260"/>
              </a:spcBef>
              <a:spcAft>
                <a:spcPts val="2940"/>
              </a:spcAft>
            </a:pPr>
            <a:r>
              <a:rPr lang="en-US" sz="2200">
                <a:latin typeface="Calibri"/>
              </a:rPr>
              <a:t>It stands for network file system.It allows remote hosts to mount file systems over a network and interact with those file systems as though they are mounted locally. This enables system administrators to consolidate resources onto centralized servers on the network.</a:t>
            </a:r>
          </a:p>
        </p:txBody>
      </p:sp>
      <p:sp>
        <p:nvSpPr>
          <p:cNvPr id="4" name="Rectangle 3"/>
          <p:cNvSpPr/>
          <p:nvPr/>
        </p:nvSpPr>
        <p:spPr>
          <a:xfrm>
            <a:off x="268224" y="3419856"/>
            <a:ext cx="1883664" cy="694944"/>
          </a:xfrm>
          <a:prstGeom prst="rect">
            <a:avLst/>
          </a:prstGeom>
        </p:spPr>
        <p:txBody>
          <a:bodyPr lIns="0" tIns="0" rIns="0" bIns="0">
            <a:noAutofit/>
          </a:bodyPr>
          <a:lstStyle/>
          <a:p>
            <a:pPr indent="0">
              <a:lnSpc>
                <a:spcPts val="3600"/>
              </a:lnSpc>
              <a:spcBef>
                <a:spcPts val="2940"/>
              </a:spcBef>
            </a:pPr>
            <a:r>
              <a:rPr lang="en-US" sz="2200">
                <a:latin typeface="Calibri"/>
              </a:rPr>
              <a:t>Command service nfs start</a:t>
            </a:r>
          </a:p>
        </p:txBody>
      </p:sp>
      <p:sp>
        <p:nvSpPr>
          <p:cNvPr id="5" name="Date Placeholder 4"/>
          <p:cNvSpPr>
            <a:spLocks noGrp="1"/>
          </p:cNvSpPr>
          <p:nvPr>
            <p:ph type="dt" sz="half" idx="10"/>
          </p:nvPr>
        </p:nvSpPr>
        <p:spPr/>
        <p:txBody>
          <a:bodyPr/>
          <a:lstStyle/>
          <a:p>
            <a:fld id="{7ACD1878-65EE-473B-8DD2-5A4D41E7E66B}"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116</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87552"/>
            <a:ext cx="9342120" cy="2465832"/>
          </a:xfrm>
          <a:prstGeom prst="rect">
            <a:avLst/>
          </a:prstGeom>
        </p:spPr>
        <p:txBody>
          <a:bodyPr lIns="0" tIns="0" rIns="0" bIns="0">
            <a:noAutofit/>
          </a:bodyPr>
          <a:lstStyle/>
          <a:p>
            <a:pPr indent="0" algn="just">
              <a:spcAft>
                <a:spcPts val="1260"/>
              </a:spcAft>
            </a:pPr>
            <a:r>
              <a:rPr lang="en-US" sz="2200" b="1" dirty="0">
                <a:latin typeface="Calibri"/>
              </a:rPr>
              <a:t>LPD</a:t>
            </a:r>
            <a:r>
              <a:rPr lang="en-US" sz="2200" dirty="0">
                <a:latin typeface="Calibri"/>
              </a:rPr>
              <a:t>:</a:t>
            </a:r>
          </a:p>
          <a:p>
            <a:pPr indent="0" algn="just">
              <a:lnSpc>
                <a:spcPts val="2808"/>
              </a:lnSpc>
              <a:spcAft>
                <a:spcPts val="2940"/>
              </a:spcAft>
            </a:pPr>
            <a:r>
              <a:rPr lang="en-US" sz="2200" dirty="0">
                <a:latin typeface="Calibri"/>
              </a:rPr>
              <a:t>It stands for Line Printer </a:t>
            </a:r>
            <a:r>
              <a:rPr lang="en-US" sz="2200" dirty="0" err="1">
                <a:latin typeface="Calibri"/>
              </a:rPr>
              <a:t>Daemon.It</a:t>
            </a:r>
            <a:r>
              <a:rPr lang="en-US" sz="2200" dirty="0">
                <a:latin typeface="Calibri"/>
              </a:rPr>
              <a:t> is designed for printer </a:t>
            </a:r>
            <a:r>
              <a:rPr lang="en-US" sz="2200" dirty="0" err="1">
                <a:latin typeface="Calibri"/>
              </a:rPr>
              <a:t>sharing.It</a:t>
            </a:r>
            <a:r>
              <a:rPr lang="en-US" sz="2200" dirty="0">
                <a:latin typeface="Calibri"/>
              </a:rPr>
              <a:t> is the part that receives and processes the request. A "daemon" is a server or agent.</a:t>
            </a:r>
          </a:p>
          <a:p>
            <a:pPr indent="0" algn="just">
              <a:spcAft>
                <a:spcPts val="1260"/>
              </a:spcAft>
            </a:pPr>
            <a:r>
              <a:rPr lang="en-US" sz="2200" dirty="0">
                <a:latin typeface="Calibri"/>
              </a:rPr>
              <a:t>Command</a:t>
            </a:r>
          </a:p>
          <a:p>
            <a:pPr indent="0" algn="just"/>
            <a:r>
              <a:rPr lang="en-US" sz="2200" dirty="0" err="1">
                <a:latin typeface="Calibri"/>
              </a:rPr>
              <a:t>Ipd</a:t>
            </a:r>
            <a:r>
              <a:rPr lang="en-US" sz="2200" dirty="0">
                <a:latin typeface="Calibri"/>
              </a:rPr>
              <a:t> [ -d ] [ -l ] [ -D </a:t>
            </a:r>
            <a:r>
              <a:rPr lang="en-US" sz="2200" dirty="0" err="1">
                <a:latin typeface="Calibri"/>
              </a:rPr>
              <a:t>DebugOutputFile</a:t>
            </a:r>
            <a:r>
              <a:rPr lang="en-US" sz="2200" dirty="0">
                <a:latin typeface="Calibri"/>
              </a:rPr>
              <a:t>]</a:t>
            </a:r>
          </a:p>
        </p:txBody>
      </p:sp>
      <p:sp>
        <p:nvSpPr>
          <p:cNvPr id="3" name="Date Placeholder 2"/>
          <p:cNvSpPr>
            <a:spLocks noGrp="1"/>
          </p:cNvSpPr>
          <p:nvPr>
            <p:ph type="dt" sz="half" idx="10"/>
          </p:nvPr>
        </p:nvSpPr>
        <p:spPr/>
        <p:txBody>
          <a:bodyPr/>
          <a:lstStyle/>
          <a:p>
            <a:fld id="{D9A5A478-C277-4521-AE9C-2E6BBEED8A7A}"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117</a:t>
            </a:fld>
            <a:endParaRPr lang="en-US"/>
          </a:p>
        </p:txBody>
      </p:sp>
      <p:sp>
        <p:nvSpPr>
          <p:cNvPr id="6"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75360"/>
            <a:ext cx="1301496" cy="237744"/>
          </a:xfrm>
          <a:prstGeom prst="rect">
            <a:avLst/>
          </a:prstGeom>
        </p:spPr>
        <p:txBody>
          <a:bodyPr wrap="none" lIns="0" tIns="0" rIns="0" bIns="0">
            <a:noAutofit/>
          </a:bodyPr>
          <a:lstStyle/>
          <a:p>
            <a:pPr indent="0" algn="just">
              <a:spcAft>
                <a:spcPts val="1260"/>
              </a:spcAft>
            </a:pPr>
            <a:r>
              <a:rPr lang="en-US" sz="2200" dirty="0">
                <a:latin typeface="Calibri"/>
              </a:rPr>
              <a:t>X </a:t>
            </a:r>
            <a:r>
              <a:rPr lang="en-US" sz="2200" b="1" dirty="0">
                <a:latin typeface="Calibri"/>
              </a:rPr>
              <a:t>window</a:t>
            </a:r>
            <a:r>
              <a:rPr lang="en-US" sz="2200" dirty="0">
                <a:latin typeface="Calibri"/>
              </a:rPr>
              <a:t>:</a:t>
            </a:r>
          </a:p>
        </p:txBody>
      </p:sp>
      <p:sp>
        <p:nvSpPr>
          <p:cNvPr id="3" name="Rectangle 2"/>
          <p:cNvSpPr/>
          <p:nvPr/>
        </p:nvSpPr>
        <p:spPr>
          <a:xfrm>
            <a:off x="268224" y="1432560"/>
            <a:ext cx="9332976" cy="1310640"/>
          </a:xfrm>
          <a:prstGeom prst="rect">
            <a:avLst/>
          </a:prstGeom>
        </p:spPr>
        <p:txBody>
          <a:bodyPr lIns="0" tIns="0" rIns="0" bIns="0">
            <a:noAutofit/>
          </a:bodyPr>
          <a:lstStyle/>
          <a:p>
            <a:pPr indent="0" algn="just">
              <a:lnSpc>
                <a:spcPts val="2808"/>
              </a:lnSpc>
              <a:spcBef>
                <a:spcPts val="1260"/>
              </a:spcBef>
              <a:spcAft>
                <a:spcPts val="2940"/>
              </a:spcAft>
            </a:pPr>
            <a:r>
              <a:rPr lang="en-US" sz="2200">
                <a:latin typeface="Calibri"/>
              </a:rPr>
              <a:t>It defines a protocol for the writing of graphical user interface-based client/server applications. The idea is to allow a program, called a client, to run on one computer. It is primarily used in networks of interconnected mainframes.</a:t>
            </a:r>
          </a:p>
        </p:txBody>
      </p:sp>
      <p:sp>
        <p:nvSpPr>
          <p:cNvPr id="4" name="Rectangle 3"/>
          <p:cNvSpPr/>
          <p:nvPr/>
        </p:nvSpPr>
        <p:spPr>
          <a:xfrm>
            <a:off x="271272" y="3419856"/>
            <a:ext cx="2584704" cy="694944"/>
          </a:xfrm>
          <a:prstGeom prst="rect">
            <a:avLst/>
          </a:prstGeom>
        </p:spPr>
        <p:txBody>
          <a:bodyPr lIns="0" tIns="0" rIns="0" bIns="0">
            <a:noAutofit/>
          </a:bodyPr>
          <a:lstStyle/>
          <a:p>
            <a:pPr indent="0" algn="just">
              <a:spcBef>
                <a:spcPts val="2940"/>
              </a:spcBef>
              <a:spcAft>
                <a:spcPts val="1260"/>
              </a:spcAft>
            </a:pPr>
            <a:r>
              <a:rPr lang="en-US" sz="2200">
                <a:latin typeface="Calibri"/>
              </a:rPr>
              <a:t>Command</a:t>
            </a:r>
          </a:p>
          <a:p>
            <a:pPr indent="0" algn="just"/>
            <a:r>
              <a:rPr lang="en-US" sz="2200">
                <a:latin typeface="Calibri"/>
              </a:rPr>
              <a:t>Run xdm in runlevel 5</a:t>
            </a:r>
          </a:p>
        </p:txBody>
      </p:sp>
      <p:sp>
        <p:nvSpPr>
          <p:cNvPr id="5" name="Date Placeholder 4"/>
          <p:cNvSpPr>
            <a:spLocks noGrp="1"/>
          </p:cNvSpPr>
          <p:nvPr>
            <p:ph type="dt" sz="half" idx="10"/>
          </p:nvPr>
        </p:nvSpPr>
        <p:spPr/>
        <p:txBody>
          <a:bodyPr/>
          <a:lstStyle/>
          <a:p>
            <a:fld id="{0165AC8F-A688-4526-9454-A4A712D148A2}"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118</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7368" y="984504"/>
            <a:ext cx="758952" cy="228600"/>
          </a:xfrm>
          <a:prstGeom prst="rect">
            <a:avLst/>
          </a:prstGeom>
        </p:spPr>
        <p:txBody>
          <a:bodyPr wrap="none" lIns="0" tIns="0" rIns="0" bIns="0">
            <a:noAutofit/>
          </a:bodyPr>
          <a:lstStyle/>
          <a:p>
            <a:pPr indent="0">
              <a:spcAft>
                <a:spcPts val="1260"/>
              </a:spcAft>
            </a:pPr>
            <a:r>
              <a:rPr lang="en-US" sz="2200" b="1" dirty="0">
                <a:latin typeface="Calibri"/>
              </a:rPr>
              <a:t>DHCP</a:t>
            </a:r>
            <a:r>
              <a:rPr lang="en-US" sz="2200" dirty="0">
                <a:latin typeface="Calibri"/>
              </a:rPr>
              <a:t>:</a:t>
            </a:r>
          </a:p>
        </p:txBody>
      </p:sp>
      <p:sp>
        <p:nvSpPr>
          <p:cNvPr id="3" name="Rectangle 2"/>
          <p:cNvSpPr/>
          <p:nvPr/>
        </p:nvSpPr>
        <p:spPr>
          <a:xfrm>
            <a:off x="268224" y="1429512"/>
            <a:ext cx="9339072" cy="1350264"/>
          </a:xfrm>
          <a:prstGeom prst="rect">
            <a:avLst/>
          </a:prstGeom>
        </p:spPr>
        <p:txBody>
          <a:bodyPr lIns="0" tIns="0" rIns="0" bIns="0">
            <a:noAutofit/>
          </a:bodyPr>
          <a:lstStyle/>
          <a:p>
            <a:pPr indent="495300" algn="just">
              <a:lnSpc>
                <a:spcPts val="2808"/>
              </a:lnSpc>
              <a:spcBef>
                <a:spcPts val="1260"/>
              </a:spcBef>
              <a:spcAft>
                <a:spcPts val="2940"/>
              </a:spcAft>
            </a:pPr>
            <a:r>
              <a:rPr lang="en-US" sz="2200">
                <a:latin typeface="Calibri"/>
              </a:rPr>
              <a:t>It stands for Dynamic Host Configuration Protocol (DHCP).It gives IP addresses to hosts.There is a lot of information a DHCP server can provide to a host when the host is registering for an IP address with the DHCP server. Port number for DHCP is 67, 68.</a:t>
            </a:r>
          </a:p>
        </p:txBody>
      </p:sp>
      <p:sp>
        <p:nvSpPr>
          <p:cNvPr id="4" name="Rectangle 3"/>
          <p:cNvSpPr/>
          <p:nvPr/>
        </p:nvSpPr>
        <p:spPr>
          <a:xfrm>
            <a:off x="268224" y="3419856"/>
            <a:ext cx="4136136" cy="743712"/>
          </a:xfrm>
          <a:prstGeom prst="rect">
            <a:avLst/>
          </a:prstGeom>
        </p:spPr>
        <p:txBody>
          <a:bodyPr lIns="0" tIns="0" rIns="0" bIns="0">
            <a:noAutofit/>
          </a:bodyPr>
          <a:lstStyle/>
          <a:p>
            <a:pPr indent="0">
              <a:spcBef>
                <a:spcPts val="2940"/>
              </a:spcBef>
              <a:spcAft>
                <a:spcPts val="1260"/>
              </a:spcAft>
            </a:pPr>
            <a:r>
              <a:rPr lang="en-US" sz="2200">
                <a:latin typeface="Calibri"/>
              </a:rPr>
              <a:t>Command</a:t>
            </a:r>
          </a:p>
          <a:p>
            <a:pPr indent="0"/>
            <a:r>
              <a:rPr lang="en-US" sz="2200">
                <a:latin typeface="Calibri"/>
              </a:rPr>
              <a:t>clear ip dhcp binding {address | * }</a:t>
            </a:r>
          </a:p>
        </p:txBody>
      </p:sp>
      <p:sp>
        <p:nvSpPr>
          <p:cNvPr id="5" name="Date Placeholder 4"/>
          <p:cNvSpPr>
            <a:spLocks noGrp="1"/>
          </p:cNvSpPr>
          <p:nvPr>
            <p:ph type="dt" sz="half" idx="10"/>
          </p:nvPr>
        </p:nvSpPr>
        <p:spPr/>
        <p:txBody>
          <a:bodyPr/>
          <a:lstStyle/>
          <a:p>
            <a:fld id="{B988A791-3413-4805-9DDA-54AD6E217354}"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119</a:t>
            </a:fld>
            <a:endParaRPr lang="en-US"/>
          </a:p>
        </p:txBody>
      </p:sp>
      <p:sp>
        <p:nvSpPr>
          <p:cNvPr id="8" name="Title 1"/>
          <p:cNvSpPr>
            <a:spLocks noGrp="1"/>
          </p:cNvSpPr>
          <p:nvPr>
            <p:ph type="title"/>
          </p:nvPr>
        </p:nvSpPr>
        <p:spPr>
          <a:xfrm>
            <a:off x="1507948" y="1"/>
            <a:ext cx="8550452" cy="548640"/>
          </a:xfrm>
        </p:spPr>
        <p:txBody>
          <a:bodyPr>
            <a:normAutofit/>
          </a:bodyPr>
          <a:lstStyle/>
          <a:p>
            <a:pPr indent="0"/>
            <a:r>
              <a:rPr lang="en-US" sz="3200" b="1" dirty="0"/>
              <a:t>APPLICATION PROTOCOLS</a:t>
            </a:r>
          </a:p>
        </p:txBody>
      </p:sp>
    </p:spTree>
  </p:cSld>
  <p:clrMapOvr>
    <a:overrideClrMapping bg1="lt1" tx1="dk1" bg2="lt2" tx2="dk2" accent1="accent1" accent2="accent2" accent3="accent3" accent4="accent4" accent5="accent5" accent6="accent6" hlink="hlink" folHlink="folHlink"/>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984504"/>
            <a:ext cx="1551432" cy="228600"/>
          </a:xfrm>
          <a:prstGeom prst="rect">
            <a:avLst/>
          </a:prstGeom>
        </p:spPr>
        <p:txBody>
          <a:bodyPr wrap="none" lIns="0" tIns="0" rIns="0" bIns="0">
            <a:noAutofit/>
          </a:bodyPr>
          <a:lstStyle/>
          <a:p>
            <a:pPr indent="0" algn="just">
              <a:spcAft>
                <a:spcPts val="840"/>
              </a:spcAft>
            </a:pPr>
            <a:endParaRPr lang="en-US" sz="2200" dirty="0">
              <a:latin typeface="Calibri"/>
            </a:endParaRPr>
          </a:p>
        </p:txBody>
      </p:sp>
      <p:sp>
        <p:nvSpPr>
          <p:cNvPr id="3" name="Rectangle 2"/>
          <p:cNvSpPr/>
          <p:nvPr/>
        </p:nvSpPr>
        <p:spPr>
          <a:xfrm>
            <a:off x="259080" y="1377696"/>
            <a:ext cx="9351264" cy="5647944"/>
          </a:xfrm>
          <a:prstGeom prst="rect">
            <a:avLst/>
          </a:prstGeom>
        </p:spPr>
        <p:txBody>
          <a:bodyPr lIns="0" tIns="0" rIns="0" bIns="0">
            <a:noAutofit/>
          </a:bodyPr>
          <a:lstStyle/>
          <a:p>
            <a:pPr indent="0" algn="ctr">
              <a:spcBef>
                <a:spcPts val="840"/>
              </a:spcBef>
              <a:spcAft>
                <a:spcPts val="3360"/>
              </a:spcAft>
            </a:pPr>
            <a:r>
              <a:rPr lang="en-US" sz="2200" b="1" dirty="0">
                <a:latin typeface="Calibri"/>
              </a:rPr>
              <a:t>Difference between Network and Internet</a:t>
            </a:r>
          </a:p>
          <a:p>
            <a:pPr indent="482600" algn="just">
              <a:lnSpc>
                <a:spcPts val="2664"/>
              </a:lnSpc>
              <a:spcAft>
                <a:spcPts val="420"/>
              </a:spcAft>
            </a:pPr>
            <a:r>
              <a:rPr lang="en-US" sz="2200" dirty="0">
                <a:latin typeface="Calibri"/>
              </a:rPr>
              <a:t>Computers and their systems square measure difficult in their approach, and it gets doubly robust once you need to comprehend 2 terms associated with this subject that act already utilized in the regular language, those mentioned adequately during this article square measure Network and net, they will appear totally different from one another, and so they will seem like one another.</a:t>
            </a:r>
          </a:p>
          <a:p>
            <a:pPr indent="0" algn="just">
              <a:lnSpc>
                <a:spcPts val="2664"/>
              </a:lnSpc>
            </a:pPr>
            <a:r>
              <a:rPr lang="en-US" sz="2200" dirty="0">
                <a:latin typeface="Calibri"/>
              </a:rPr>
              <a:t>The most distinction between them comes in their definition; a Network could be a association of 1 or additional computers placed in associate surroundings, and also the Internet is that the relationship of computers connecting them from everywhere the planet.</a:t>
            </a:r>
          </a:p>
          <a:p>
            <a:pPr indent="0" algn="just">
              <a:lnSpc>
                <a:spcPts val="2664"/>
              </a:lnSpc>
            </a:pPr>
            <a:r>
              <a:rPr lang="en-US" sz="2200" dirty="0">
                <a:latin typeface="Calibri"/>
              </a:rPr>
              <a:t>The basic distinction between network and net is that the Network consists of pcs that area unit physically connected and may be used as a private computer yet on share data with one another. Conversely, the Internet could be a technology that links these little and huge networks with one another and builds a additional in depth network.</a:t>
            </a:r>
          </a:p>
        </p:txBody>
      </p:sp>
      <p:sp>
        <p:nvSpPr>
          <p:cNvPr id="4" name="Date Placeholder 3"/>
          <p:cNvSpPr>
            <a:spLocks noGrp="1"/>
          </p:cNvSpPr>
          <p:nvPr>
            <p:ph type="dt" sz="half" idx="10"/>
          </p:nvPr>
        </p:nvSpPr>
        <p:spPr/>
        <p:txBody>
          <a:bodyPr/>
          <a:lstStyle/>
          <a:p>
            <a:fld id="{401F8307-B635-42AD-BB89-385D1C410729}"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120</a:t>
            </a:fld>
            <a:endParaRPr lang="en-US"/>
          </a:p>
        </p:txBody>
      </p:sp>
      <p:sp>
        <p:nvSpPr>
          <p:cNvPr id="10"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APPENDIX</a:t>
            </a:r>
          </a:p>
        </p:txBody>
      </p:sp>
    </p:spTree>
  </p:cSld>
  <p:clrMapOvr>
    <a:overrideClrMapping bg1="lt1" tx1="dk1" bg2="lt2" tx2="dk2" accent1="accent1" accent2="accent2" accent3="accent3" accent4="accent4" accent5="accent5" accent6="accent6" hlink="hlink" folHlink="folHlink"/>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80416" y="1652016"/>
            <a:ext cx="6797040" cy="231648"/>
          </a:xfrm>
          <a:prstGeom prst="rect">
            <a:avLst/>
          </a:prstGeom>
        </p:spPr>
        <p:txBody>
          <a:bodyPr wrap="none" lIns="0" tIns="0" rIns="0" bIns="0">
            <a:noAutofit/>
          </a:bodyPr>
          <a:lstStyle/>
          <a:p>
            <a:pPr indent="0"/>
            <a:r>
              <a:rPr lang="en-US" sz="2200">
                <a:latin typeface="Calibri"/>
              </a:rPr>
              <a:t>Let's see that the difference between network and internet:</a:t>
            </a:r>
          </a:p>
        </p:txBody>
      </p:sp>
      <p:sp>
        <p:nvSpPr>
          <p:cNvPr id="3" name="Rectangle 2"/>
          <p:cNvSpPr/>
          <p:nvPr/>
        </p:nvSpPr>
        <p:spPr>
          <a:xfrm>
            <a:off x="396240" y="2087880"/>
            <a:ext cx="9110472" cy="4507992"/>
          </a:xfrm>
          <a:prstGeom prst="rect">
            <a:avLst/>
          </a:prstGeom>
        </p:spPr>
        <p:txBody>
          <a:bodyPr lIns="0" tIns="0" rIns="0" bIns="0">
            <a:noAutofit/>
          </a:bodyPr>
          <a:lstStyle/>
          <a:p>
            <a:pPr indent="0" algn="just">
              <a:spcAft>
                <a:spcPts val="630"/>
              </a:spcAft>
            </a:pPr>
            <a:r>
              <a:rPr lang="en-US" sz="2000" i="1">
                <a:latin typeface="Calibri"/>
              </a:rPr>
              <a:t>S.NO NETWORK    INTERNET</a:t>
            </a:r>
          </a:p>
          <a:p>
            <a:pPr marL="330200" indent="0" algn="just">
              <a:spcAft>
                <a:spcPts val="630"/>
              </a:spcAft>
            </a:pPr>
            <a:r>
              <a:rPr lang="en-US" sz="2000" i="1">
                <a:latin typeface="Calibri"/>
              </a:rPr>
              <a:t>1.</a:t>
            </a:r>
            <a:r>
              <a:rPr lang="en-US" sz="2000">
                <a:latin typeface="Calibri"/>
              </a:rPr>
              <a:t>    Network is defined as the group of two or Whereas internet is the</a:t>
            </a:r>
          </a:p>
          <a:p>
            <a:pPr marL="660400" indent="0" algn="just">
              <a:lnSpc>
                <a:spcPts val="2568"/>
              </a:lnSpc>
            </a:pPr>
            <a:r>
              <a:rPr lang="en-US" sz="2000">
                <a:latin typeface="Calibri"/>
              </a:rPr>
              <a:t>more computer systems.    interrelationship of a few networks.</a:t>
            </a:r>
          </a:p>
          <a:p>
            <a:pPr marL="330200" indent="0" algn="just">
              <a:lnSpc>
                <a:spcPts val="2568"/>
              </a:lnSpc>
            </a:pPr>
            <a:r>
              <a:rPr lang="en-US" sz="2000" i="1">
                <a:latin typeface="Calibri"/>
              </a:rPr>
              <a:t>2.</a:t>
            </a:r>
            <a:r>
              <a:rPr lang="en-US" sz="2000">
                <a:latin typeface="Calibri"/>
              </a:rPr>
              <a:t>    The coverage of network is limited in While it covers large geographical</a:t>
            </a:r>
          </a:p>
          <a:p>
            <a:pPr marL="660400" indent="0" algn="just">
              <a:lnSpc>
                <a:spcPts val="2568"/>
              </a:lnSpc>
            </a:pPr>
            <a:r>
              <a:rPr lang="en-US" sz="2000">
                <a:latin typeface="Calibri"/>
              </a:rPr>
              <a:t>comparison of internet.    area.</a:t>
            </a:r>
          </a:p>
          <a:p>
            <a:pPr marL="330200" indent="0" algn="just">
              <a:lnSpc>
                <a:spcPts val="2472"/>
              </a:lnSpc>
            </a:pPr>
            <a:r>
              <a:rPr lang="en-US" sz="2000" i="1">
                <a:latin typeface="Calibri"/>
              </a:rPr>
              <a:t>3.</a:t>
            </a:r>
            <a:r>
              <a:rPr lang="en-US" sz="2000">
                <a:latin typeface="Calibri"/>
              </a:rPr>
              <a:t>    It provides the link between many    While it provide connection among</a:t>
            </a:r>
          </a:p>
          <a:p>
            <a:pPr marL="660400" indent="0" algn="just">
              <a:lnSpc>
                <a:spcPts val="2472"/>
              </a:lnSpc>
            </a:pPr>
            <a:r>
              <a:rPr lang="en-US" sz="2000">
                <a:latin typeface="Calibri"/>
              </a:rPr>
              <a:t>computers and network-enabled devices. many networks.</a:t>
            </a:r>
          </a:p>
          <a:p>
            <a:pPr marL="330200" indent="0" algn="just">
              <a:lnSpc>
                <a:spcPts val="2448"/>
              </a:lnSpc>
            </a:pPr>
            <a:r>
              <a:rPr lang="en-US" sz="2000" i="1">
                <a:latin typeface="Calibri"/>
              </a:rPr>
              <a:t>4.</a:t>
            </a:r>
            <a:r>
              <a:rPr lang="en-US" sz="2000">
                <a:latin typeface="Calibri"/>
              </a:rPr>
              <a:t>    The types of network are: LAN, MAN, Whereas the types of internet is world</a:t>
            </a:r>
          </a:p>
          <a:p>
            <a:pPr marL="660400" indent="0" algn="just">
              <a:lnSpc>
                <a:spcPts val="2448"/>
              </a:lnSpc>
            </a:pPr>
            <a:r>
              <a:rPr lang="en-US" sz="2000">
                <a:latin typeface="Calibri"/>
              </a:rPr>
              <a:t>WAN, CAN and HAM.    wide web.</a:t>
            </a:r>
          </a:p>
          <a:p>
            <a:pPr marL="330200" indent="0" algn="just">
              <a:lnSpc>
                <a:spcPts val="2448"/>
              </a:lnSpc>
            </a:pPr>
            <a:r>
              <a:rPr lang="en-US" sz="2000" i="1">
                <a:latin typeface="Calibri"/>
              </a:rPr>
              <a:t>5.</a:t>
            </a:r>
            <a:r>
              <a:rPr lang="en-US" sz="2000">
                <a:latin typeface="Calibri"/>
              </a:rPr>
              <a:t>    Through network, hundreds or a few While through internet, millions of</a:t>
            </a:r>
          </a:p>
          <a:p>
            <a:pPr marL="660400" indent="0">
              <a:lnSpc>
                <a:spcPts val="2448"/>
              </a:lnSpc>
            </a:pPr>
            <a:r>
              <a:rPr lang="en-US" sz="2000">
                <a:latin typeface="Calibri"/>
              </a:rPr>
              <a:t>thousands of computer system can linked computer system can linked simultaneously.    simultaneously.</a:t>
            </a:r>
          </a:p>
          <a:p>
            <a:pPr marL="330200" indent="0" algn="just">
              <a:lnSpc>
                <a:spcPts val="2448"/>
              </a:lnSpc>
            </a:pPr>
            <a:r>
              <a:rPr lang="en-US" sz="2000" i="1">
                <a:latin typeface="Calibri"/>
              </a:rPr>
              <a:t>6.</a:t>
            </a:r>
            <a:r>
              <a:rPr lang="en-US" sz="2000">
                <a:latin typeface="Calibri"/>
              </a:rPr>
              <a:t>    It requires less number of hardware    While it requires various hardware</a:t>
            </a:r>
          </a:p>
          <a:p>
            <a:pPr marL="660400" indent="0" algn="just">
              <a:lnSpc>
                <a:spcPts val="2448"/>
              </a:lnSpc>
            </a:pPr>
            <a:r>
              <a:rPr lang="en-US" sz="2000">
                <a:latin typeface="Calibri"/>
              </a:rPr>
              <a:t>devices.    devices.</a:t>
            </a:r>
          </a:p>
        </p:txBody>
      </p:sp>
      <p:sp>
        <p:nvSpPr>
          <p:cNvPr id="4" name="Date Placeholder 3"/>
          <p:cNvSpPr>
            <a:spLocks noGrp="1"/>
          </p:cNvSpPr>
          <p:nvPr>
            <p:ph type="dt" sz="half" idx="10"/>
          </p:nvPr>
        </p:nvSpPr>
        <p:spPr/>
        <p:txBody>
          <a:bodyPr/>
          <a:lstStyle/>
          <a:p>
            <a:fld id="{C1A1324D-F0F3-4A31-8C0B-B7A542988621}"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121</a:t>
            </a:fld>
            <a:endParaRPr lang="en-US"/>
          </a:p>
        </p:txBody>
      </p:sp>
      <p:sp>
        <p:nvSpPr>
          <p:cNvPr id="7"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APPENDIX</a:t>
            </a:r>
          </a:p>
        </p:txBody>
      </p:sp>
    </p:spTree>
  </p:cSld>
  <p:clrMapOvr>
    <a:overrideClrMapping bg1="lt1" tx1="dk1" bg2="lt2" tx2="dk2" accent1="accent1" accent2="accent2" accent3="accent3" accent4="accent4" accent5="accent5" accent6="accent6" hlink="hlink" folHlink="folHlink"/>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791712" y="975360"/>
            <a:ext cx="2295144" cy="237744"/>
          </a:xfrm>
          <a:prstGeom prst="rect">
            <a:avLst/>
          </a:prstGeom>
        </p:spPr>
        <p:txBody>
          <a:bodyPr wrap="none" lIns="0" tIns="0" rIns="0" bIns="0">
            <a:noAutofit/>
          </a:bodyPr>
          <a:lstStyle/>
          <a:p>
            <a:pPr indent="0"/>
            <a:r>
              <a:rPr lang="en-US" sz="2300" b="1">
                <a:latin typeface="Calibri"/>
              </a:rPr>
              <a:t>Terminal emulator</a:t>
            </a:r>
          </a:p>
        </p:txBody>
      </p:sp>
      <p:sp>
        <p:nvSpPr>
          <p:cNvPr id="3" name="Rectangle 2"/>
          <p:cNvSpPr/>
          <p:nvPr/>
        </p:nvSpPr>
        <p:spPr>
          <a:xfrm>
            <a:off x="262128" y="1837944"/>
            <a:ext cx="9348216" cy="5114544"/>
          </a:xfrm>
          <a:prstGeom prst="rect">
            <a:avLst/>
          </a:prstGeom>
        </p:spPr>
        <p:txBody>
          <a:bodyPr lIns="0" tIns="0" rIns="0" bIns="0">
            <a:noAutofit/>
          </a:bodyPr>
          <a:lstStyle/>
          <a:p>
            <a:pPr indent="482600" algn="just">
              <a:lnSpc>
                <a:spcPts val="2808"/>
              </a:lnSpc>
              <a:spcAft>
                <a:spcPts val="420"/>
              </a:spcAft>
            </a:pPr>
            <a:r>
              <a:rPr lang="en-US" sz="2200" dirty="0">
                <a:latin typeface="Calibri"/>
              </a:rPr>
              <a:t>A terminal emulator, terminal application, or term, is a computer program that emulates a video terminal within some other display architecture. Though typically synonymous with a shell or text terminal, the term terminal covers all remote terminals, including graphical interfaces. A terminal emulator inside a graphical user interface is often called a terminal window.</a:t>
            </a:r>
          </a:p>
          <a:p>
            <a:pPr indent="482600" algn="just">
              <a:lnSpc>
                <a:spcPts val="2808"/>
              </a:lnSpc>
              <a:spcAft>
                <a:spcPts val="420"/>
              </a:spcAft>
            </a:pPr>
            <a:r>
              <a:rPr lang="en-US" sz="2200" dirty="0">
                <a:latin typeface="Calibri"/>
              </a:rPr>
              <a:t>A terminal window allows the user access to a text terminal and all its applications such as command-line interfaces (CLI) and text user interface (TUI) applications. These may be running either on the same machine or on a different one via telnet, </a:t>
            </a:r>
            <a:r>
              <a:rPr lang="en-US" sz="2200" dirty="0" err="1">
                <a:latin typeface="Calibri"/>
              </a:rPr>
              <a:t>ssh</a:t>
            </a:r>
            <a:r>
              <a:rPr lang="en-US" sz="2200" dirty="0">
                <a:latin typeface="Calibri"/>
              </a:rPr>
              <a:t>, or dial-up. On Unix-like operating systems, it is common to have one or more terminal windows connected to the local machine.</a:t>
            </a:r>
          </a:p>
          <a:p>
            <a:pPr indent="482600" algn="just">
              <a:lnSpc>
                <a:spcPts val="2808"/>
              </a:lnSpc>
            </a:pPr>
            <a:r>
              <a:rPr lang="en-US" sz="2200" dirty="0">
                <a:latin typeface="Calibri"/>
              </a:rPr>
              <a:t>Terminals usually support a set of escape sequences for controlling color, cursor position, etc. Examples include the family of terminal control sequence standards known as ECMA-48, ANSI X3.64 or ISO/IEC 6429.</a:t>
            </a:r>
          </a:p>
        </p:txBody>
      </p:sp>
      <p:sp>
        <p:nvSpPr>
          <p:cNvPr id="4" name="Date Placeholder 3"/>
          <p:cNvSpPr>
            <a:spLocks noGrp="1"/>
          </p:cNvSpPr>
          <p:nvPr>
            <p:ph type="dt" sz="half" idx="10"/>
          </p:nvPr>
        </p:nvSpPr>
        <p:spPr/>
        <p:txBody>
          <a:bodyPr/>
          <a:lstStyle/>
          <a:p>
            <a:fld id="{C8698620-A3EC-4E25-A4D2-DD3DED08A34D}"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122</a:t>
            </a:fld>
            <a:endParaRPr lang="en-US"/>
          </a:p>
        </p:txBody>
      </p:sp>
      <p:sp>
        <p:nvSpPr>
          <p:cNvPr id="10"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APPENDIX</a:t>
            </a:r>
          </a:p>
        </p:txBody>
      </p:sp>
    </p:spTree>
  </p:cSld>
  <p:clrMapOvr>
    <a:overrideClrMapping bg1="lt1" tx1="dk1" bg2="lt2" tx2="dk2" accent1="accent1" accent2="accent2" accent3="accent3" accent4="accent4" accent5="accent5" accent6="accent6" hlink="hlink" folHlink="folHlink"/>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5048" y="984504"/>
            <a:ext cx="743712" cy="228600"/>
          </a:xfrm>
          <a:prstGeom prst="rect">
            <a:avLst/>
          </a:prstGeom>
        </p:spPr>
        <p:txBody>
          <a:bodyPr wrap="none" lIns="0" tIns="0" rIns="0" bIns="0">
            <a:noAutofit/>
          </a:bodyPr>
          <a:lstStyle/>
          <a:p>
            <a:pPr indent="0"/>
            <a:r>
              <a:rPr lang="en-US" sz="2300" b="1">
                <a:latin typeface="Calibri"/>
              </a:rPr>
              <a:t>POSIX</a:t>
            </a:r>
          </a:p>
        </p:txBody>
      </p:sp>
      <p:sp>
        <p:nvSpPr>
          <p:cNvPr id="3" name="Rectangle 2"/>
          <p:cNvSpPr/>
          <p:nvPr/>
        </p:nvSpPr>
        <p:spPr>
          <a:xfrm>
            <a:off x="262128" y="1374648"/>
            <a:ext cx="9354312" cy="4059936"/>
          </a:xfrm>
          <a:prstGeom prst="rect">
            <a:avLst/>
          </a:prstGeom>
        </p:spPr>
        <p:txBody>
          <a:bodyPr lIns="0" tIns="0" rIns="0" bIns="0">
            <a:noAutofit/>
          </a:bodyPr>
          <a:lstStyle/>
          <a:p>
            <a:pPr indent="482600" algn="just">
              <a:lnSpc>
                <a:spcPts val="2808"/>
              </a:lnSpc>
              <a:spcAft>
                <a:spcPts val="420"/>
              </a:spcAft>
            </a:pPr>
            <a:r>
              <a:rPr lang="en-US" sz="2200">
                <a:latin typeface="Calibri"/>
              </a:rPr>
              <a:t>The Portable Operating System Interface (POSIX) is a family of standards specified by the IEEE Computer Society for maintaining compatibility between operating systems. POSIX defines the application programming interface (API), along with command line shells and utility interfaces, for software compatibility with variants of Unix and other operating systems.</a:t>
            </a:r>
          </a:p>
          <a:p>
            <a:pPr indent="482600" algn="just">
              <a:lnSpc>
                <a:spcPts val="2808"/>
              </a:lnSpc>
              <a:spcAft>
                <a:spcPts val="420"/>
              </a:spcAft>
            </a:pPr>
            <a:r>
              <a:rPr lang="en-US" sz="2200">
                <a:latin typeface="Calibri"/>
              </a:rPr>
              <a:t>In some operating systems, including Unix, a pseudoterminal, pseudotty, or PTY is a pair of pseudo-devices, one of which, the slave, emulates a hardware text terminal device, the other of which, the master, provides the means by which a terminal emulator process controls the slave.</a:t>
            </a:r>
          </a:p>
          <a:p>
            <a:pPr indent="482600" algn="just">
              <a:lnSpc>
                <a:spcPts val="2808"/>
              </a:lnSpc>
            </a:pPr>
            <a:r>
              <a:rPr lang="en-US" sz="2200">
                <a:latin typeface="Calibri"/>
              </a:rPr>
              <a:t>The PTY feature is part of POSIX and the Single Unix Specification in the form of a posix_openpt() function since 1998.</a:t>
            </a:r>
          </a:p>
        </p:txBody>
      </p:sp>
      <p:sp>
        <p:nvSpPr>
          <p:cNvPr id="4" name="Date Placeholder 3"/>
          <p:cNvSpPr>
            <a:spLocks noGrp="1"/>
          </p:cNvSpPr>
          <p:nvPr>
            <p:ph type="dt" sz="half" idx="10"/>
          </p:nvPr>
        </p:nvSpPr>
        <p:spPr/>
        <p:txBody>
          <a:bodyPr/>
          <a:lstStyle/>
          <a:p>
            <a:fld id="{79C2BCB6-BFD2-488F-BE58-0D199079D072}"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123</a:t>
            </a:fld>
            <a:endParaRPr lang="en-US"/>
          </a:p>
        </p:txBody>
      </p:sp>
      <p:sp>
        <p:nvSpPr>
          <p:cNvPr id="9"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APPENDIX</a:t>
            </a:r>
          </a:p>
        </p:txBody>
      </p:sp>
    </p:spTree>
  </p:cSld>
  <p:clrMapOvr>
    <a:overrideClrMapping bg1="lt1" tx1="dk1" bg2="lt2" tx2="dk2" accent1="accent1" accent2="accent2" accent3="accent3" accent4="accent4" accent5="accent5" accent6="accent6" hlink="hlink" folHlink="folHlink"/>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9408" y="914400"/>
            <a:ext cx="7376160" cy="6214872"/>
          </a:xfrm>
          <a:prstGeom prst="rect">
            <a:avLst/>
          </a:prstGeom>
        </p:spPr>
      </p:pic>
      <p:sp>
        <p:nvSpPr>
          <p:cNvPr id="3" name="Rectangle 2"/>
          <p:cNvSpPr/>
          <p:nvPr/>
        </p:nvSpPr>
        <p:spPr>
          <a:xfrm>
            <a:off x="3852672" y="950976"/>
            <a:ext cx="2176272" cy="195072"/>
          </a:xfrm>
          <a:prstGeom prst="rect">
            <a:avLst/>
          </a:prstGeom>
        </p:spPr>
        <p:txBody>
          <a:bodyPr wrap="none" lIns="0" tIns="0" rIns="0" bIns="0">
            <a:noAutofit/>
          </a:bodyPr>
          <a:lstStyle/>
          <a:p>
            <a:pPr indent="0"/>
            <a:r>
              <a:rPr lang="en-US" sz="1500" b="1">
                <a:solidFill>
                  <a:srgbClr val="1F1F1E"/>
                </a:solidFill>
                <a:latin typeface="Cambria"/>
              </a:rPr>
              <a:t>Write to file (transcript)</a:t>
            </a:r>
          </a:p>
        </p:txBody>
      </p:sp>
      <p:sp>
        <p:nvSpPr>
          <p:cNvPr id="4" name="Rectangle 3"/>
          <p:cNvSpPr/>
          <p:nvPr/>
        </p:nvSpPr>
        <p:spPr>
          <a:xfrm>
            <a:off x="1481328" y="1450848"/>
            <a:ext cx="1005840" cy="182880"/>
          </a:xfrm>
          <a:prstGeom prst="rect">
            <a:avLst/>
          </a:prstGeom>
        </p:spPr>
        <p:txBody>
          <a:bodyPr wrap="none" lIns="0" tIns="0" rIns="0" bIns="0">
            <a:noAutofit/>
          </a:bodyPr>
          <a:lstStyle/>
          <a:p>
            <a:pPr indent="0"/>
            <a:r>
              <a:rPr lang="en-US" sz="1400" i="1">
                <a:solidFill>
                  <a:srgbClr val="1F1F1E"/>
                </a:solidFill>
                <a:latin typeface="Calibri"/>
              </a:rPr>
              <a:t>User space</a:t>
            </a:r>
          </a:p>
        </p:txBody>
      </p:sp>
      <p:sp>
        <p:nvSpPr>
          <p:cNvPr id="5" name="Rectangle 4"/>
          <p:cNvSpPr/>
          <p:nvPr/>
        </p:nvSpPr>
        <p:spPr>
          <a:xfrm>
            <a:off x="7022592" y="2304288"/>
            <a:ext cx="420624" cy="146304"/>
          </a:xfrm>
          <a:prstGeom prst="rect">
            <a:avLst/>
          </a:prstGeom>
        </p:spPr>
        <p:txBody>
          <a:bodyPr wrap="none" lIns="0" tIns="0" rIns="0" bIns="0">
            <a:noAutofit/>
          </a:bodyPr>
          <a:lstStyle/>
          <a:p>
            <a:pPr indent="0"/>
            <a:r>
              <a:rPr lang="en-US" sz="1300" b="1" i="1" spc="100">
                <a:latin typeface="Calibri"/>
              </a:rPr>
              <a:t>has h</a:t>
            </a:r>
          </a:p>
        </p:txBody>
      </p:sp>
      <p:sp>
        <p:nvSpPr>
          <p:cNvPr id="6" name="Rectangle 5"/>
          <p:cNvSpPr/>
          <p:nvPr/>
        </p:nvSpPr>
        <p:spPr>
          <a:xfrm>
            <a:off x="2907792" y="2322576"/>
            <a:ext cx="548640" cy="158496"/>
          </a:xfrm>
          <a:prstGeom prst="rect">
            <a:avLst/>
          </a:prstGeom>
        </p:spPr>
        <p:txBody>
          <a:bodyPr wrap="none" lIns="0" tIns="0" rIns="0" bIns="0">
            <a:noAutofit/>
          </a:bodyPr>
          <a:lstStyle/>
          <a:p>
            <a:pPr indent="0"/>
            <a:r>
              <a:rPr lang="en-US" sz="1400" i="1">
                <a:solidFill>
                  <a:srgbClr val="1F1F1E"/>
                </a:solidFill>
                <a:latin typeface="Calibri"/>
              </a:rPr>
              <a:t>script</a:t>
            </a:r>
          </a:p>
        </p:txBody>
      </p:sp>
      <p:sp>
        <p:nvSpPr>
          <p:cNvPr id="7" name="Rectangle 6"/>
          <p:cNvSpPr/>
          <p:nvPr/>
        </p:nvSpPr>
        <p:spPr>
          <a:xfrm>
            <a:off x="4992624" y="2462784"/>
            <a:ext cx="463296" cy="164592"/>
          </a:xfrm>
          <a:prstGeom prst="rect">
            <a:avLst/>
          </a:prstGeom>
        </p:spPr>
        <p:txBody>
          <a:bodyPr wrap="none" lIns="0" tIns="0" rIns="0" bIns="0">
            <a:noAutofit/>
          </a:bodyPr>
          <a:lstStyle/>
          <a:p>
            <a:pPr indent="0"/>
            <a:r>
              <a:rPr lang="en-US" sz="1100" b="1" i="1" spc="-50">
                <a:solidFill>
                  <a:srgbClr val="1F1F1E"/>
                </a:solidFill>
                <a:latin typeface="Cambria"/>
              </a:rPr>
              <a:t>forkO</a:t>
            </a:r>
          </a:p>
        </p:txBody>
      </p:sp>
      <p:sp>
        <p:nvSpPr>
          <p:cNvPr id="8" name="Rectangle 7"/>
          <p:cNvSpPr/>
          <p:nvPr/>
        </p:nvSpPr>
        <p:spPr>
          <a:xfrm>
            <a:off x="2164080" y="2950464"/>
            <a:ext cx="347472" cy="140208"/>
          </a:xfrm>
          <a:prstGeom prst="rect">
            <a:avLst/>
          </a:prstGeom>
        </p:spPr>
        <p:txBody>
          <a:bodyPr wrap="none" lIns="0" tIns="0" rIns="0" bIns="0">
            <a:noAutofit/>
          </a:bodyPr>
          <a:lstStyle/>
          <a:p>
            <a:pPr indent="0"/>
            <a:r>
              <a:rPr lang="en-US" sz="1200" b="1">
                <a:solidFill>
                  <a:srgbClr val="1F1F1E"/>
                </a:solidFill>
                <a:latin typeface="Cambria"/>
              </a:rPr>
              <a:t>stdin</a:t>
            </a:r>
          </a:p>
        </p:txBody>
      </p:sp>
      <p:sp>
        <p:nvSpPr>
          <p:cNvPr id="9" name="Rectangle 8"/>
          <p:cNvSpPr/>
          <p:nvPr/>
        </p:nvSpPr>
        <p:spPr>
          <a:xfrm>
            <a:off x="6163056" y="3206496"/>
            <a:ext cx="481584" cy="176784"/>
          </a:xfrm>
          <a:prstGeom prst="rect">
            <a:avLst/>
          </a:prstGeom>
        </p:spPr>
        <p:txBody>
          <a:bodyPr wrap="none" lIns="0" tIns="0" rIns="0" bIns="0">
            <a:noAutofit/>
          </a:bodyPr>
          <a:lstStyle/>
          <a:p>
            <a:pPr indent="0"/>
            <a:r>
              <a:rPr lang="en-US" sz="1200" b="1">
                <a:solidFill>
                  <a:srgbClr val="1F1F1E"/>
                </a:solidFill>
                <a:latin typeface="Cambria"/>
              </a:rPr>
              <a:t>stdm()</a:t>
            </a:r>
          </a:p>
        </p:txBody>
      </p:sp>
      <p:sp>
        <p:nvSpPr>
          <p:cNvPr id="10" name="Rectangle 9"/>
          <p:cNvSpPr/>
          <p:nvPr/>
        </p:nvSpPr>
        <p:spPr>
          <a:xfrm>
            <a:off x="3078480" y="3243072"/>
            <a:ext cx="475488" cy="158496"/>
          </a:xfrm>
          <a:prstGeom prst="rect">
            <a:avLst/>
          </a:prstGeom>
        </p:spPr>
        <p:txBody>
          <a:bodyPr wrap="none" lIns="0" tIns="0" rIns="0" bIns="0">
            <a:noAutofit/>
          </a:bodyPr>
          <a:lstStyle/>
          <a:p>
            <a:pPr indent="0"/>
            <a:r>
              <a:rPr lang="en-US" sz="1300" b="1" i="1">
                <a:solidFill>
                  <a:srgbClr val="1F1F1E"/>
                </a:solidFill>
                <a:latin typeface="Calibri"/>
              </a:rPr>
              <a:t>ready)</a:t>
            </a:r>
          </a:p>
        </p:txBody>
      </p:sp>
      <p:sp>
        <p:nvSpPr>
          <p:cNvPr id="11" name="Rectangle 10"/>
          <p:cNvSpPr/>
          <p:nvPr/>
        </p:nvSpPr>
        <p:spPr>
          <a:xfrm>
            <a:off x="7498080" y="3706368"/>
            <a:ext cx="1005840" cy="164592"/>
          </a:xfrm>
          <a:prstGeom prst="rect">
            <a:avLst/>
          </a:prstGeom>
        </p:spPr>
        <p:txBody>
          <a:bodyPr wrap="none" lIns="0" tIns="0" rIns="0" bIns="0">
            <a:noAutofit/>
          </a:bodyPr>
          <a:lstStyle/>
          <a:p>
            <a:pPr indent="0"/>
            <a:r>
              <a:rPr lang="en-US" sz="1100" b="1" i="1" spc="-50">
                <a:solidFill>
                  <a:srgbClr val="1F1F1E"/>
                </a:solidFill>
                <a:latin typeface="Cambria"/>
              </a:rPr>
              <a:t>Kernel space</a:t>
            </a:r>
          </a:p>
        </p:txBody>
      </p:sp>
      <p:sp>
        <p:nvSpPr>
          <p:cNvPr id="12" name="Rectangle 11"/>
          <p:cNvSpPr/>
          <p:nvPr/>
        </p:nvSpPr>
        <p:spPr>
          <a:xfrm>
            <a:off x="4145280" y="4066032"/>
            <a:ext cx="499872" cy="146304"/>
          </a:xfrm>
          <a:prstGeom prst="rect">
            <a:avLst/>
          </a:prstGeom>
        </p:spPr>
        <p:txBody>
          <a:bodyPr wrap="none" lIns="0" tIns="0" rIns="0" bIns="0">
            <a:noAutofit/>
          </a:bodyPr>
          <a:lstStyle/>
          <a:p>
            <a:pPr indent="0"/>
            <a:r>
              <a:rPr lang="en-US" sz="1100" b="1" i="1" spc="-50">
                <a:solidFill>
                  <a:srgbClr val="373435"/>
                </a:solidFill>
                <a:latin typeface="Cambria"/>
              </a:rPr>
              <a:t>write ()</a:t>
            </a:r>
          </a:p>
        </p:txBody>
      </p:sp>
      <p:sp>
        <p:nvSpPr>
          <p:cNvPr id="13" name="Rectangle 12"/>
          <p:cNvSpPr/>
          <p:nvPr/>
        </p:nvSpPr>
        <p:spPr>
          <a:xfrm>
            <a:off x="7028688" y="4181856"/>
            <a:ext cx="445008" cy="140208"/>
          </a:xfrm>
          <a:prstGeom prst="rect">
            <a:avLst/>
          </a:prstGeom>
        </p:spPr>
        <p:txBody>
          <a:bodyPr wrap="none" lIns="0" tIns="0" rIns="0" bIns="0">
            <a:noAutofit/>
          </a:bodyPr>
          <a:lstStyle/>
          <a:p>
            <a:pPr indent="0"/>
            <a:r>
              <a:rPr lang="en-US" sz="1200" b="1">
                <a:solidFill>
                  <a:srgbClr val="1F1F1E"/>
                </a:solidFill>
                <a:latin typeface="Cambria"/>
              </a:rPr>
              <a:t>stdout</a:t>
            </a:r>
          </a:p>
        </p:txBody>
      </p:sp>
      <p:sp>
        <p:nvSpPr>
          <p:cNvPr id="14" name="Rectangle 13"/>
          <p:cNvSpPr/>
          <p:nvPr/>
        </p:nvSpPr>
        <p:spPr>
          <a:xfrm>
            <a:off x="2578608" y="4267200"/>
            <a:ext cx="445008" cy="140208"/>
          </a:xfrm>
          <a:prstGeom prst="rect">
            <a:avLst/>
          </a:prstGeom>
        </p:spPr>
        <p:txBody>
          <a:bodyPr wrap="none" lIns="0" tIns="0" rIns="0" bIns="0">
            <a:noAutofit/>
          </a:bodyPr>
          <a:lstStyle/>
          <a:p>
            <a:pPr indent="0"/>
            <a:r>
              <a:rPr lang="en-US" sz="1200" b="1">
                <a:solidFill>
                  <a:srgbClr val="1F1F1E"/>
                </a:solidFill>
                <a:latin typeface="Cambria"/>
              </a:rPr>
              <a:t>stdout</a:t>
            </a:r>
          </a:p>
        </p:txBody>
      </p:sp>
      <p:sp>
        <p:nvSpPr>
          <p:cNvPr id="15" name="Rectangle 14"/>
          <p:cNvSpPr/>
          <p:nvPr/>
        </p:nvSpPr>
        <p:spPr>
          <a:xfrm>
            <a:off x="7028688" y="4389120"/>
            <a:ext cx="414528" cy="134112"/>
          </a:xfrm>
          <a:prstGeom prst="rect">
            <a:avLst/>
          </a:prstGeom>
        </p:spPr>
        <p:txBody>
          <a:bodyPr wrap="none" lIns="0" tIns="0" rIns="0" bIns="0">
            <a:noAutofit/>
          </a:bodyPr>
          <a:lstStyle/>
          <a:p>
            <a:pPr indent="0"/>
            <a:r>
              <a:rPr lang="en-US" sz="1200" b="1">
                <a:solidFill>
                  <a:srgbClr val="1F1F1E"/>
                </a:solidFill>
                <a:latin typeface="Cambria"/>
              </a:rPr>
              <a:t>stderr</a:t>
            </a:r>
          </a:p>
        </p:txBody>
      </p:sp>
      <p:sp>
        <p:nvSpPr>
          <p:cNvPr id="16" name="Rectangle 15"/>
          <p:cNvSpPr/>
          <p:nvPr/>
        </p:nvSpPr>
        <p:spPr>
          <a:xfrm>
            <a:off x="2578608" y="4468368"/>
            <a:ext cx="414528" cy="140208"/>
          </a:xfrm>
          <a:prstGeom prst="rect">
            <a:avLst/>
          </a:prstGeom>
        </p:spPr>
        <p:txBody>
          <a:bodyPr wrap="none" lIns="0" tIns="0" rIns="0" bIns="0">
            <a:noAutofit/>
          </a:bodyPr>
          <a:lstStyle/>
          <a:p>
            <a:pPr indent="0"/>
            <a:r>
              <a:rPr lang="en-US" sz="1200" b="1">
                <a:solidFill>
                  <a:srgbClr val="1F1F1E"/>
                </a:solidFill>
                <a:latin typeface="Cambria"/>
              </a:rPr>
              <a:t>stderr</a:t>
            </a:r>
          </a:p>
        </p:txBody>
      </p:sp>
      <p:sp>
        <p:nvSpPr>
          <p:cNvPr id="17" name="Rectangle 16"/>
          <p:cNvSpPr/>
          <p:nvPr/>
        </p:nvSpPr>
        <p:spPr>
          <a:xfrm>
            <a:off x="6699504" y="4736592"/>
            <a:ext cx="1011936" cy="146304"/>
          </a:xfrm>
          <a:prstGeom prst="rect">
            <a:avLst/>
          </a:prstGeom>
        </p:spPr>
        <p:txBody>
          <a:bodyPr wrap="none" lIns="0" tIns="0" rIns="0" bIns="0">
            <a:noAutofit/>
          </a:bodyPr>
          <a:lstStyle/>
          <a:p>
            <a:pPr indent="0"/>
            <a:r>
              <a:rPr lang="en-US" sz="1400" b="1">
                <a:solidFill>
                  <a:srgbClr val="1F1F1E"/>
                </a:solidFill>
                <a:latin typeface="Cambria"/>
              </a:rPr>
              <a:t>Pseudo ter-</a:t>
            </a:r>
          </a:p>
        </p:txBody>
      </p:sp>
      <p:sp>
        <p:nvSpPr>
          <p:cNvPr id="18" name="Rectangle 17"/>
          <p:cNvSpPr/>
          <p:nvPr/>
        </p:nvSpPr>
        <p:spPr>
          <a:xfrm>
            <a:off x="3980688" y="4882896"/>
            <a:ext cx="1011936" cy="146304"/>
          </a:xfrm>
          <a:prstGeom prst="rect">
            <a:avLst/>
          </a:prstGeom>
        </p:spPr>
        <p:txBody>
          <a:bodyPr wrap="none" lIns="0" tIns="0" rIns="0" bIns="0">
            <a:noAutofit/>
          </a:bodyPr>
          <a:lstStyle/>
          <a:p>
            <a:pPr indent="0"/>
            <a:r>
              <a:rPr lang="en-US" sz="1400" b="1">
                <a:solidFill>
                  <a:srgbClr val="1F1F1E"/>
                </a:solidFill>
                <a:latin typeface="Cambria"/>
              </a:rPr>
              <a:t>Pseudo ter¬</a:t>
            </a:r>
          </a:p>
        </p:txBody>
      </p:sp>
      <p:sp>
        <p:nvSpPr>
          <p:cNvPr id="19" name="Rectangle 18"/>
          <p:cNvSpPr/>
          <p:nvPr/>
        </p:nvSpPr>
        <p:spPr>
          <a:xfrm>
            <a:off x="6717792" y="5010912"/>
            <a:ext cx="1024128" cy="146304"/>
          </a:xfrm>
          <a:prstGeom prst="rect">
            <a:avLst/>
          </a:prstGeom>
        </p:spPr>
        <p:txBody>
          <a:bodyPr wrap="none" lIns="0" tIns="0" rIns="0" bIns="0">
            <a:noAutofit/>
          </a:bodyPr>
          <a:lstStyle/>
          <a:p>
            <a:pPr indent="0"/>
            <a:r>
              <a:rPr lang="en-US" sz="1400" b="1">
                <a:solidFill>
                  <a:srgbClr val="1F1F1E"/>
                </a:solidFill>
                <a:latin typeface="Cambria"/>
              </a:rPr>
              <a:t>minal slave</a:t>
            </a:r>
          </a:p>
        </p:txBody>
      </p:sp>
      <p:sp>
        <p:nvSpPr>
          <p:cNvPr id="20" name="Rectangle 19"/>
          <p:cNvSpPr/>
          <p:nvPr/>
        </p:nvSpPr>
        <p:spPr>
          <a:xfrm>
            <a:off x="2090928" y="5023104"/>
            <a:ext cx="816864" cy="146304"/>
          </a:xfrm>
          <a:prstGeom prst="rect">
            <a:avLst/>
          </a:prstGeom>
        </p:spPr>
        <p:txBody>
          <a:bodyPr wrap="none" lIns="0" tIns="0" rIns="0" bIns="0">
            <a:noAutofit/>
          </a:bodyPr>
          <a:lstStyle/>
          <a:p>
            <a:pPr indent="0"/>
            <a:r>
              <a:rPr lang="en-US" sz="1500">
                <a:latin typeface="Cambria"/>
              </a:rPr>
              <a:t>Terminal</a:t>
            </a:r>
          </a:p>
        </p:txBody>
      </p:sp>
      <p:sp>
        <p:nvSpPr>
          <p:cNvPr id="21" name="Rectangle 20"/>
          <p:cNvSpPr/>
          <p:nvPr/>
        </p:nvSpPr>
        <p:spPr>
          <a:xfrm>
            <a:off x="3925824" y="5157216"/>
            <a:ext cx="1139952" cy="152400"/>
          </a:xfrm>
          <a:prstGeom prst="rect">
            <a:avLst/>
          </a:prstGeom>
        </p:spPr>
        <p:txBody>
          <a:bodyPr wrap="none" lIns="0" tIns="0" rIns="0" bIns="0">
            <a:noAutofit/>
          </a:bodyPr>
          <a:lstStyle/>
          <a:p>
            <a:pPr indent="0"/>
            <a:r>
              <a:rPr lang="en-US" sz="1500">
                <a:latin typeface="Cambria"/>
              </a:rPr>
              <a:t>min a] master</a:t>
            </a:r>
          </a:p>
        </p:txBody>
      </p:sp>
      <p:sp>
        <p:nvSpPr>
          <p:cNvPr id="22" name="Rectangle 21"/>
          <p:cNvSpPr/>
          <p:nvPr/>
        </p:nvSpPr>
        <p:spPr>
          <a:xfrm>
            <a:off x="6412992" y="5254752"/>
            <a:ext cx="1560576" cy="188976"/>
          </a:xfrm>
          <a:prstGeom prst="rect">
            <a:avLst/>
          </a:prstGeom>
        </p:spPr>
        <p:txBody>
          <a:bodyPr wrap="none" lIns="0" tIns="0" rIns="0" bIns="0">
            <a:noAutofit/>
          </a:bodyPr>
          <a:lstStyle/>
          <a:p>
            <a:pPr indent="0"/>
            <a:r>
              <a:rPr lang="en-US" sz="1600" b="1" spc="150">
                <a:solidFill>
                  <a:srgbClr val="373435"/>
                </a:solidFill>
                <a:latin typeface="Cambria"/>
              </a:rPr>
              <a:t>C/dev/pts/.</a:t>
            </a:r>
            <a:r>
              <a:rPr lang="en-US" sz="1600" b="1" spc="150">
                <a:latin typeface="Cambria"/>
              </a:rPr>
              <a:t>- -</a:t>
            </a:r>
            <a:r>
              <a:rPr lang="en-US" sz="1600" b="1" spc="150">
                <a:solidFill>
                  <a:srgbClr val="373435"/>
                </a:solidFill>
                <a:latin typeface="Cambria"/>
              </a:rPr>
              <a:t>)</a:t>
            </a:r>
          </a:p>
        </p:txBody>
      </p:sp>
      <p:sp>
        <p:nvSpPr>
          <p:cNvPr id="23" name="Rectangle 22"/>
          <p:cNvSpPr/>
          <p:nvPr/>
        </p:nvSpPr>
        <p:spPr>
          <a:xfrm>
            <a:off x="2724912" y="5638800"/>
            <a:ext cx="1164336" cy="182880"/>
          </a:xfrm>
          <a:prstGeom prst="rect">
            <a:avLst/>
          </a:prstGeom>
        </p:spPr>
        <p:txBody>
          <a:bodyPr wrap="none" lIns="0" tIns="0" rIns="0" bIns="0">
            <a:noAutofit/>
          </a:bodyPr>
          <a:lstStyle/>
          <a:p>
            <a:pPr indent="0"/>
            <a:r>
              <a:rPr lang="en-US" sz="1200" b="1">
                <a:solidFill>
                  <a:srgbClr val="1F1F1E"/>
                </a:solidFill>
                <a:latin typeface="Cambria"/>
              </a:rPr>
              <a:t>keyboard input</a:t>
            </a:r>
          </a:p>
        </p:txBody>
      </p:sp>
      <p:sp>
        <p:nvSpPr>
          <p:cNvPr id="24" name="Rectangle 23"/>
          <p:cNvSpPr/>
          <p:nvPr/>
        </p:nvSpPr>
        <p:spPr>
          <a:xfrm>
            <a:off x="1517904" y="6041136"/>
            <a:ext cx="1164336" cy="188976"/>
          </a:xfrm>
          <a:prstGeom prst="rect">
            <a:avLst/>
          </a:prstGeom>
        </p:spPr>
        <p:txBody>
          <a:bodyPr wrap="none" lIns="0" tIns="0" rIns="0" bIns="0">
            <a:noAutofit/>
          </a:bodyPr>
          <a:lstStyle/>
          <a:p>
            <a:pPr indent="0"/>
            <a:r>
              <a:rPr lang="en-US" sz="1500" spc="-50">
                <a:solidFill>
                  <a:srgbClr val="1F1F1E"/>
                </a:solidFill>
                <a:latin typeface="Trebuchet MS"/>
              </a:rPr>
              <a:t>terminal output</a:t>
            </a:r>
          </a:p>
        </p:txBody>
      </p:sp>
      <p:sp>
        <p:nvSpPr>
          <p:cNvPr id="25" name="Date Placeholder 24"/>
          <p:cNvSpPr>
            <a:spLocks noGrp="1"/>
          </p:cNvSpPr>
          <p:nvPr>
            <p:ph type="dt" sz="half" idx="10"/>
          </p:nvPr>
        </p:nvSpPr>
        <p:spPr/>
        <p:txBody>
          <a:bodyPr/>
          <a:lstStyle/>
          <a:p>
            <a:fld id="{FB8E90CB-34C8-493C-82A7-D440ED2D7544}" type="datetime1">
              <a:rPr lang="en-US" smtClean="0"/>
              <a:t>4/29/2022</a:t>
            </a:fld>
            <a:endParaRPr lang="en-US"/>
          </a:p>
        </p:txBody>
      </p:sp>
      <p:sp>
        <p:nvSpPr>
          <p:cNvPr id="27" name="Slide Number Placeholder 26"/>
          <p:cNvSpPr>
            <a:spLocks noGrp="1"/>
          </p:cNvSpPr>
          <p:nvPr>
            <p:ph type="sldNum" sz="quarter" idx="12"/>
          </p:nvPr>
        </p:nvSpPr>
        <p:spPr/>
        <p:txBody>
          <a:bodyPr/>
          <a:lstStyle/>
          <a:p>
            <a:fld id="{A0B67B60-8227-4ECE-9065-6110C6EB035F}" type="slidenum">
              <a:rPr lang="en-US" smtClean="0"/>
              <a:t>124</a:t>
            </a:fld>
            <a:endParaRPr lang="en-US"/>
          </a:p>
        </p:txBody>
      </p:sp>
      <p:sp>
        <p:nvSpPr>
          <p:cNvPr id="30"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APPENDIX</a:t>
            </a:r>
          </a:p>
        </p:txBody>
      </p:sp>
    </p:spTree>
  </p:cSld>
  <p:clrMapOvr>
    <a:overrideClrMapping bg1="lt1" tx1="dk1" bg2="lt2" tx2="dk2" accent1="accent1" accent2="accent2" accent3="accent3" accent4="accent4" accent5="accent5" accent6="accent6" hlink="hlink" folHlink="folHlink"/>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75360"/>
            <a:ext cx="9354312" cy="1356360"/>
          </a:xfrm>
          <a:prstGeom prst="rect">
            <a:avLst/>
          </a:prstGeom>
        </p:spPr>
        <p:txBody>
          <a:bodyPr lIns="0" tIns="0" rIns="0" bIns="0">
            <a:noAutofit/>
          </a:bodyPr>
          <a:lstStyle/>
          <a:p>
            <a:pPr indent="0" algn="just">
              <a:lnSpc>
                <a:spcPts val="2784"/>
              </a:lnSpc>
              <a:spcAft>
                <a:spcPts val="2940"/>
              </a:spcAft>
            </a:pPr>
            <a:r>
              <a:rPr lang="en-US" sz="2200">
                <a:latin typeface="Calibri"/>
              </a:rPr>
              <a:t>In some operating systems, including Unix, a pseudoterminal, pseudotty, or PTY is a pair of pseudo-devices, one of which, the slave, emulates a hardware text terminal device, the other of which, the master, provides the means by which a terminal emulator process controls the slave.</a:t>
            </a:r>
          </a:p>
        </p:txBody>
      </p:sp>
      <p:sp>
        <p:nvSpPr>
          <p:cNvPr id="3" name="Rectangle 2"/>
          <p:cNvSpPr/>
          <p:nvPr/>
        </p:nvSpPr>
        <p:spPr>
          <a:xfrm>
            <a:off x="256032" y="2959608"/>
            <a:ext cx="9366504" cy="646176"/>
          </a:xfrm>
          <a:prstGeom prst="rect">
            <a:avLst/>
          </a:prstGeom>
        </p:spPr>
        <p:txBody>
          <a:bodyPr lIns="0" tIns="0" rIns="0" bIns="0">
            <a:noAutofit/>
          </a:bodyPr>
          <a:lstStyle/>
          <a:p>
            <a:pPr indent="0" algn="just">
              <a:lnSpc>
                <a:spcPts val="2832"/>
              </a:lnSpc>
              <a:spcBef>
                <a:spcPts val="2940"/>
              </a:spcBef>
            </a:pPr>
            <a:r>
              <a:rPr lang="en-US" sz="2200">
                <a:latin typeface="Calibri"/>
              </a:rPr>
              <a:t>The PTY feature is part of POSIX and the Single Unix Specification in the form of a posix_openpt() function since 1998.[1]</a:t>
            </a:r>
          </a:p>
        </p:txBody>
      </p:sp>
      <p:sp>
        <p:nvSpPr>
          <p:cNvPr id="4" name="Date Placeholder 3"/>
          <p:cNvSpPr>
            <a:spLocks noGrp="1"/>
          </p:cNvSpPr>
          <p:nvPr>
            <p:ph type="dt" sz="half" idx="10"/>
          </p:nvPr>
        </p:nvSpPr>
        <p:spPr/>
        <p:txBody>
          <a:bodyPr/>
          <a:lstStyle/>
          <a:p>
            <a:fld id="{55D2BA88-095F-45C1-8CEB-E328DD5D1AA3}"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125</a:t>
            </a:fld>
            <a:endParaRPr lang="en-US"/>
          </a:p>
        </p:txBody>
      </p:sp>
      <p:sp>
        <p:nvSpPr>
          <p:cNvPr id="9"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APPENDIX</a:t>
            </a:r>
          </a:p>
        </p:txBody>
      </p:sp>
    </p:spTree>
  </p:cSld>
  <p:clrMapOvr>
    <a:overrideClrMapping bg1="lt1" tx1="dk1" bg2="lt2" tx2="dk2" accent1="accent1" accent2="accent2" accent3="accent3" accent4="accent4" accent5="accent5" accent6="accent6" hlink="hlink" folHlink="folHlink"/>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65904" y="987552"/>
            <a:ext cx="765048" cy="225552"/>
          </a:xfrm>
          <a:prstGeom prst="rect">
            <a:avLst/>
          </a:prstGeom>
        </p:spPr>
        <p:txBody>
          <a:bodyPr wrap="none" lIns="0" tIns="0" rIns="0" bIns="0">
            <a:noAutofit/>
          </a:bodyPr>
          <a:lstStyle/>
          <a:p>
            <a:pPr indent="0"/>
            <a:r>
              <a:rPr lang="en-US" sz="2300" b="1">
                <a:latin typeface="Calibri"/>
              </a:rPr>
              <a:t>PuTTY</a:t>
            </a:r>
          </a:p>
        </p:txBody>
      </p:sp>
      <p:sp>
        <p:nvSpPr>
          <p:cNvPr id="3" name="Rectangle 2"/>
          <p:cNvSpPr/>
          <p:nvPr/>
        </p:nvSpPr>
        <p:spPr>
          <a:xfrm>
            <a:off x="262128" y="1834896"/>
            <a:ext cx="9351264" cy="4059936"/>
          </a:xfrm>
          <a:prstGeom prst="rect">
            <a:avLst/>
          </a:prstGeom>
        </p:spPr>
        <p:txBody>
          <a:bodyPr lIns="0" tIns="0" rIns="0" bIns="0">
            <a:noAutofit/>
          </a:bodyPr>
          <a:lstStyle/>
          <a:p>
            <a:pPr indent="495300" algn="just">
              <a:lnSpc>
                <a:spcPts val="2808"/>
              </a:lnSpc>
              <a:spcAft>
                <a:spcPts val="420"/>
              </a:spcAft>
            </a:pPr>
            <a:r>
              <a:rPr lang="en-US" sz="2200">
                <a:latin typeface="Calibri"/>
              </a:rPr>
              <a:t>PuTTY is a free and open-source terminal emulator, serial console and network file transfer application. It supports several network protocols, including SCP, SSH, Telnet, rlogin, and raw socket connection. It can also connect to a serial port. The name "PuTTY" has no official meaning.</a:t>
            </a:r>
          </a:p>
          <a:p>
            <a:pPr indent="0" algn="just">
              <a:lnSpc>
                <a:spcPts val="2808"/>
              </a:lnSpc>
              <a:spcAft>
                <a:spcPts val="420"/>
              </a:spcAft>
            </a:pPr>
            <a:r>
              <a:rPr lang="en-US" sz="2200">
                <a:latin typeface="Calibri"/>
              </a:rPr>
              <a:t>PuTTY was originally written for Microsoft Windows, but it has been ported to various other operating systems. Official ports are available for some Unix-like platforms, with work-in-progress ports to Classic Mac OS and macOS, and unofficial ports have been contributed to platforms such as Symbian, Windows Mobile and Windows Phone.</a:t>
            </a:r>
          </a:p>
          <a:p>
            <a:pPr indent="495300" algn="just">
              <a:lnSpc>
                <a:spcPts val="2832"/>
              </a:lnSpc>
            </a:pPr>
            <a:r>
              <a:rPr lang="en-US" sz="2200">
                <a:latin typeface="Calibri"/>
              </a:rPr>
              <a:t>PuTTY was written and is maintained primarily by Simon Tatham, a British programmer.</a:t>
            </a:r>
          </a:p>
        </p:txBody>
      </p:sp>
      <p:sp>
        <p:nvSpPr>
          <p:cNvPr id="4" name="Date Placeholder 3"/>
          <p:cNvSpPr>
            <a:spLocks noGrp="1"/>
          </p:cNvSpPr>
          <p:nvPr>
            <p:ph type="dt" sz="half" idx="10"/>
          </p:nvPr>
        </p:nvSpPr>
        <p:spPr/>
        <p:txBody>
          <a:bodyPr/>
          <a:lstStyle/>
          <a:p>
            <a:fld id="{E8024989-D430-4296-B2AB-58DB67D8A2D3}"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126</a:t>
            </a:fld>
            <a:endParaRPr lang="en-US"/>
          </a:p>
        </p:txBody>
      </p:sp>
      <p:sp>
        <p:nvSpPr>
          <p:cNvPr id="9"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APPENDIX</a:t>
            </a:r>
          </a:p>
        </p:txBody>
      </p:sp>
    </p:spTree>
  </p:cSld>
  <p:clrMapOvr>
    <a:overrideClrMapping bg1="lt1" tx1="dk1" bg2="lt2" tx2="dk2" accent1="accent1" accent2="accent2" accent3="accent3" accent4="accent4" accent5="accent5" accent6="accent6" hlink="hlink" folHlink="folHlink"/>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75360"/>
            <a:ext cx="9354312" cy="4617720"/>
          </a:xfrm>
          <a:prstGeom prst="rect">
            <a:avLst/>
          </a:prstGeom>
        </p:spPr>
        <p:txBody>
          <a:bodyPr lIns="0" tIns="0" rIns="0" bIns="0">
            <a:noAutofit/>
          </a:bodyPr>
          <a:lstStyle/>
          <a:p>
            <a:pPr indent="495300" algn="just">
              <a:lnSpc>
                <a:spcPts val="2784"/>
              </a:lnSpc>
              <a:spcAft>
                <a:spcPts val="420"/>
              </a:spcAft>
            </a:pPr>
            <a:r>
              <a:rPr lang="en-US" sz="2200" dirty="0" err="1">
                <a:latin typeface="Calibri"/>
              </a:rPr>
              <a:t>PuTTY</a:t>
            </a:r>
            <a:r>
              <a:rPr lang="en-US" sz="2200" dirty="0">
                <a:latin typeface="Calibri"/>
              </a:rPr>
              <a:t> supports many variations on the secure remote terminal, and provides user control over the SSH encryption key and protocol version, alternate ciphers such as AES, 3DES, RC4, Blowfish, DES, and Public-key authentication. </a:t>
            </a:r>
            <a:r>
              <a:rPr lang="en-US" sz="2200" dirty="0" err="1">
                <a:latin typeface="Calibri"/>
              </a:rPr>
              <a:t>PuTTY</a:t>
            </a:r>
            <a:r>
              <a:rPr lang="en-US" sz="2200" dirty="0">
                <a:latin typeface="Calibri"/>
              </a:rPr>
              <a:t> supports SSO through GSSAPI, including user provided GSSAPI DLLs. It also can emulate control sequences from </a:t>
            </a:r>
            <a:r>
              <a:rPr lang="en-US" sz="2200" dirty="0" err="1">
                <a:latin typeface="Calibri"/>
              </a:rPr>
              <a:t>xterm</a:t>
            </a:r>
            <a:r>
              <a:rPr lang="en-US" sz="2200" dirty="0">
                <a:latin typeface="Calibri"/>
              </a:rPr>
              <a:t>, VT220, VT102 or ECMA-48 terminal emulation, and allows local, remote, or dynamic port forwarding with SSH (including X11 forwarding). The network communication layer supports IPv6, and the SSH protocol supports the zlib@openssh.com delayed compression scheme. It can also be used with local serial port connections.</a:t>
            </a:r>
          </a:p>
          <a:p>
            <a:pPr indent="495300" algn="just">
              <a:lnSpc>
                <a:spcPts val="2808"/>
              </a:lnSpc>
            </a:pPr>
            <a:r>
              <a:rPr lang="en-US" sz="2200" dirty="0" err="1">
                <a:latin typeface="Calibri"/>
              </a:rPr>
              <a:t>PuTTY</a:t>
            </a:r>
            <a:r>
              <a:rPr lang="en-US" sz="2200" dirty="0">
                <a:latin typeface="Calibri"/>
              </a:rPr>
              <a:t> comes bundled with command-line SCP and SFTP clients, called "</a:t>
            </a:r>
            <a:r>
              <a:rPr lang="en-US" sz="2200" dirty="0" err="1">
                <a:latin typeface="Calibri"/>
              </a:rPr>
              <a:t>pscp</a:t>
            </a:r>
            <a:r>
              <a:rPr lang="en-US" sz="2200" dirty="0">
                <a:latin typeface="Calibri"/>
              </a:rPr>
              <a:t>" and "</a:t>
            </a:r>
            <a:r>
              <a:rPr lang="en-US" sz="2200" dirty="0" err="1">
                <a:latin typeface="Calibri"/>
              </a:rPr>
              <a:t>psftp</a:t>
            </a:r>
            <a:r>
              <a:rPr lang="en-US" sz="2200" dirty="0">
                <a:latin typeface="Calibri"/>
              </a:rPr>
              <a:t>" respectively, and plink, a command-line connection tool, used for non-interactive sessions.</a:t>
            </a:r>
          </a:p>
        </p:txBody>
      </p:sp>
      <p:sp>
        <p:nvSpPr>
          <p:cNvPr id="3" name="Date Placeholder 2"/>
          <p:cNvSpPr>
            <a:spLocks noGrp="1"/>
          </p:cNvSpPr>
          <p:nvPr>
            <p:ph type="dt" sz="half" idx="10"/>
          </p:nvPr>
        </p:nvSpPr>
        <p:spPr/>
        <p:txBody>
          <a:bodyPr/>
          <a:lstStyle/>
          <a:p>
            <a:fld id="{B9E98A1E-9A32-4D36-964A-E461C0E6443A}"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127</a:t>
            </a:fld>
            <a:endParaRPr lang="en-US"/>
          </a:p>
        </p:txBody>
      </p:sp>
      <p:sp>
        <p:nvSpPr>
          <p:cNvPr id="8"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APPENDIX</a:t>
            </a:r>
          </a:p>
        </p:txBody>
      </p:sp>
    </p:spTree>
  </p:cSld>
  <p:clrMapOvr>
    <a:overrideClrMapping bg1="lt1" tx1="dk1" bg2="lt2" tx2="dk2" accent1="accent1" accent2="accent2" accent3="accent3" accent4="accent4" accent5="accent5" accent6="accent6" hlink="hlink" folHlink="folHlink"/>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6721" y="1984353"/>
            <a:ext cx="9354312" cy="4617720"/>
          </a:xfrm>
          <a:prstGeom prst="rect">
            <a:avLst/>
          </a:prstGeom>
        </p:spPr>
        <p:txBody>
          <a:bodyPr lIns="0" tIns="0" rIns="0" bIns="0">
            <a:noAutofit/>
          </a:bodyPr>
          <a:lstStyle/>
          <a:p>
            <a:r>
              <a:rPr lang="en-US" sz="2400" b="1" dirty="0" err="1"/>
              <a:t>Youtube</a:t>
            </a:r>
            <a:r>
              <a:rPr lang="en-US" sz="2400" b="1" dirty="0"/>
              <a:t>/other  Video Links</a:t>
            </a:r>
          </a:p>
          <a:p>
            <a:r>
              <a:rPr lang="en-US" sz="2400" dirty="0">
                <a:hlinkClick r:id="rId2"/>
              </a:rPr>
              <a:t>https://www.youtube.com/watch?v=JsUzPkOxZfA</a:t>
            </a:r>
            <a:endParaRPr lang="en-US" sz="2400" dirty="0"/>
          </a:p>
          <a:p>
            <a:r>
              <a:rPr lang="en-US" sz="2400" dirty="0">
                <a:hlinkClick r:id="rId3"/>
              </a:rPr>
              <a:t>https://www.youtube.com/watch?v=qZlMS4yJM-E</a:t>
            </a:r>
            <a:r>
              <a:rPr lang="en-US" sz="2400" dirty="0"/>
              <a:t> </a:t>
            </a:r>
            <a:r>
              <a:rPr lang="en-US" sz="2400" dirty="0">
                <a:hlinkClick r:id="rId4"/>
              </a:rPr>
              <a:t>https://www.youtube.com/watch?v=mpQZVYPuDGU</a:t>
            </a:r>
            <a:endParaRPr lang="en-US" sz="2400" dirty="0"/>
          </a:p>
          <a:p>
            <a:r>
              <a:rPr lang="en-US" sz="2400" dirty="0">
                <a:hlinkClick r:id="rId5"/>
              </a:rPr>
              <a:t>https://www.youtube.com/watch?v=RsQ1tFLwldY</a:t>
            </a:r>
            <a:endParaRPr lang="en-US" sz="2400" dirty="0"/>
          </a:p>
        </p:txBody>
      </p:sp>
      <p:sp>
        <p:nvSpPr>
          <p:cNvPr id="3" name="Date Placeholder 2"/>
          <p:cNvSpPr>
            <a:spLocks noGrp="1"/>
          </p:cNvSpPr>
          <p:nvPr>
            <p:ph type="dt" sz="half" idx="10"/>
          </p:nvPr>
        </p:nvSpPr>
        <p:spPr/>
        <p:txBody>
          <a:bodyPr/>
          <a:lstStyle/>
          <a:p>
            <a:fld id="{2CAEB000-6E60-47BD-BAB5-FCC2AECC51BF}"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128</a:t>
            </a:fld>
            <a:endParaRPr lang="en-US"/>
          </a:p>
        </p:txBody>
      </p:sp>
      <p:sp>
        <p:nvSpPr>
          <p:cNvPr id="8" name="Title 1"/>
          <p:cNvSpPr>
            <a:spLocks noGrp="1"/>
          </p:cNvSpPr>
          <p:nvPr>
            <p:ph type="title"/>
          </p:nvPr>
        </p:nvSpPr>
        <p:spPr>
          <a:xfrm>
            <a:off x="1507948" y="0"/>
            <a:ext cx="8550452" cy="975359"/>
          </a:xfrm>
        </p:spPr>
        <p:txBody>
          <a:bodyPr>
            <a:normAutofit fontScale="90000"/>
          </a:bodyPr>
          <a:lstStyle/>
          <a:p>
            <a:pPr lvl="0" defTabSz="914400">
              <a:lnSpc>
                <a:spcPct val="100000"/>
              </a:lnSpc>
              <a:defRPr/>
            </a:pPr>
            <a:r>
              <a:rPr lang="en-US" sz="3200" dirty="0">
                <a:solidFill>
                  <a:schemeClr val="dk1"/>
                </a:solidFill>
              </a:rPr>
              <a:t>Faculty Video Links, </a:t>
            </a:r>
            <a:r>
              <a:rPr lang="en-US" sz="3200" dirty="0" err="1">
                <a:solidFill>
                  <a:schemeClr val="dk1"/>
                </a:solidFill>
              </a:rPr>
              <a:t>Youtube</a:t>
            </a:r>
            <a:r>
              <a:rPr lang="en-US" sz="3200" dirty="0">
                <a:solidFill>
                  <a:schemeClr val="dk1"/>
                </a:solidFill>
              </a:rPr>
              <a:t> &amp; NPTEL Video Links and Online Courses Details  </a:t>
            </a:r>
          </a:p>
        </p:txBody>
      </p:sp>
    </p:spTree>
    <p:extLst>
      <p:ext uri="{BB962C8B-B14F-4D97-AF65-F5344CB8AC3E}">
        <p14:creationId xmlns:p14="http://schemas.microsoft.com/office/powerpoint/2010/main" val="10224803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128" y="975360"/>
            <a:ext cx="9354312" cy="4617720"/>
          </a:xfrm>
          <a:prstGeom prst="rect">
            <a:avLst/>
          </a:prstGeom>
        </p:spPr>
        <p:txBody>
          <a:bodyPr lIns="0" tIns="0" rIns="0" bIns="0">
            <a:noAutofit/>
          </a:bodyPr>
          <a:lstStyle/>
          <a:p>
            <a:pPr indent="495300" algn="just">
              <a:lnSpc>
                <a:spcPts val="2784"/>
              </a:lnSpc>
              <a:spcAft>
                <a:spcPts val="420"/>
              </a:spcAft>
            </a:pPr>
            <a:endParaRPr lang="en-US" sz="2200" dirty="0">
              <a:latin typeface="Calibri"/>
            </a:endParaRPr>
          </a:p>
        </p:txBody>
      </p:sp>
      <p:sp>
        <p:nvSpPr>
          <p:cNvPr id="3" name="Date Placeholder 2"/>
          <p:cNvSpPr>
            <a:spLocks noGrp="1"/>
          </p:cNvSpPr>
          <p:nvPr>
            <p:ph type="dt" sz="half" idx="10"/>
          </p:nvPr>
        </p:nvSpPr>
        <p:spPr/>
        <p:txBody>
          <a:bodyPr/>
          <a:lstStyle/>
          <a:p>
            <a:fld id="{F1A4D721-9FC0-47D5-918D-FE0CC7993FFB}"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129</a:t>
            </a:fld>
            <a:endParaRPr lang="en-US"/>
          </a:p>
        </p:txBody>
      </p:sp>
      <p:sp>
        <p:nvSpPr>
          <p:cNvPr id="8" name="Title 1"/>
          <p:cNvSpPr>
            <a:spLocks noGrp="1"/>
          </p:cNvSpPr>
          <p:nvPr>
            <p:ph type="title"/>
          </p:nvPr>
        </p:nvSpPr>
        <p:spPr>
          <a:xfrm>
            <a:off x="1507948" y="1"/>
            <a:ext cx="8550452" cy="680678"/>
          </a:xfrm>
        </p:spPr>
        <p:txBody>
          <a:bodyPr>
            <a:normAutofit/>
          </a:bodyPr>
          <a:lstStyle/>
          <a:p>
            <a:pPr indent="0">
              <a:spcAft>
                <a:spcPts val="840"/>
              </a:spcAft>
            </a:pPr>
            <a:r>
              <a:rPr lang="en-US" sz="3200" dirty="0"/>
              <a:t>Glossary Questions</a:t>
            </a:r>
          </a:p>
        </p:txBody>
      </p:sp>
      <p:sp>
        <p:nvSpPr>
          <p:cNvPr id="6" name="Rectangle 5"/>
          <p:cNvSpPr/>
          <p:nvPr/>
        </p:nvSpPr>
        <p:spPr>
          <a:xfrm>
            <a:off x="1087821" y="1245476"/>
            <a:ext cx="8279065" cy="56491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200" dirty="0"/>
              <a:t>The physical address, also known as the __________</a:t>
            </a:r>
          </a:p>
          <a:p>
            <a:pPr marL="342900" indent="-342900">
              <a:lnSpc>
                <a:spcPct val="150000"/>
              </a:lnSpc>
              <a:buFont typeface="Arial" panose="020B0604020202020204" pitchFamily="34" charset="0"/>
              <a:buChar char="•"/>
            </a:pPr>
            <a:r>
              <a:rPr lang="en-US" sz="2200" dirty="0"/>
              <a:t>___________ back-up is possible in client-server networks </a:t>
            </a:r>
          </a:p>
          <a:p>
            <a:pPr marL="342900" indent="-342900">
              <a:lnSpc>
                <a:spcPct val="150000"/>
              </a:lnSpc>
              <a:buFont typeface="Arial" panose="020B0604020202020204" pitchFamily="34" charset="0"/>
              <a:buChar char="•"/>
            </a:pPr>
            <a:r>
              <a:rPr lang="en-US" sz="2200" dirty="0"/>
              <a:t>One widely-used application protocol is </a:t>
            </a:r>
            <a:r>
              <a:rPr lang="en-US" sz="2300" b="1" dirty="0"/>
              <a:t>_________</a:t>
            </a:r>
            <a:r>
              <a:rPr lang="en-US" sz="2200" dirty="0"/>
              <a:t>, which is the basis for the World Wide Web.</a:t>
            </a:r>
          </a:p>
          <a:p>
            <a:pPr marL="342900" indent="-342900">
              <a:lnSpc>
                <a:spcPct val="150000"/>
              </a:lnSpc>
              <a:buFont typeface="Arial" panose="020B0604020202020204" pitchFamily="34" charset="0"/>
              <a:buChar char="•"/>
            </a:pPr>
            <a:r>
              <a:rPr lang="en-US" sz="2200" dirty="0"/>
              <a:t>A _____ is a program that runs on the local machine requesting service from the server</a:t>
            </a:r>
          </a:p>
          <a:p>
            <a:pPr marL="342900" indent="-342900">
              <a:lnSpc>
                <a:spcPct val="150000"/>
              </a:lnSpc>
              <a:buFont typeface="Arial" panose="020B0604020202020204" pitchFamily="34" charset="0"/>
              <a:buChar char="•"/>
            </a:pPr>
            <a:r>
              <a:rPr lang="en-US" sz="2200" dirty="0"/>
              <a:t>Email messages are stored in databases on ______ servers.</a:t>
            </a:r>
          </a:p>
          <a:p>
            <a:pPr marL="342900" indent="-342900">
              <a:lnSpc>
                <a:spcPct val="150000"/>
              </a:lnSpc>
              <a:buFont typeface="Arial" panose="020B0604020202020204" pitchFamily="34" charset="0"/>
              <a:buChar char="•"/>
            </a:pPr>
            <a:r>
              <a:rPr lang="en-US" sz="2200" dirty="0"/>
              <a:t>Full Form of IMAP is________________</a:t>
            </a:r>
          </a:p>
          <a:p>
            <a:pPr marL="342900" indent="-342900">
              <a:lnSpc>
                <a:spcPct val="150000"/>
              </a:lnSpc>
              <a:buFont typeface="Arial" panose="020B0604020202020204" pitchFamily="34" charset="0"/>
              <a:buChar char="•"/>
            </a:pPr>
            <a:r>
              <a:rPr lang="en-US" sz="2200" dirty="0"/>
              <a:t>__________enables a workstation to retrieve mail from a mail server.</a:t>
            </a:r>
          </a:p>
          <a:p>
            <a:pPr marL="342900" indent="-342900">
              <a:lnSpc>
                <a:spcPct val="150000"/>
              </a:lnSpc>
              <a:buFont typeface="Arial" panose="020B0604020202020204" pitchFamily="34" charset="0"/>
              <a:buChar char="•"/>
            </a:pPr>
            <a:r>
              <a:rPr lang="en-US" sz="2200" dirty="0"/>
              <a:t>DNS is a client/server network __________ protocol</a:t>
            </a:r>
          </a:p>
        </p:txBody>
      </p:sp>
    </p:spTree>
    <p:extLst>
      <p:ext uri="{BB962C8B-B14F-4D97-AF65-F5344CB8AC3E}">
        <p14:creationId xmlns:p14="http://schemas.microsoft.com/office/powerpoint/2010/main" val="62204612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3712" y="1567393"/>
            <a:ext cx="9354312" cy="4617720"/>
          </a:xfrm>
          <a:prstGeom prst="rect">
            <a:avLst/>
          </a:prstGeom>
        </p:spPr>
        <p:txBody>
          <a:bodyPr lIns="0" tIns="0" rIns="0" bIns="0">
            <a:noAutofit/>
          </a:bodyPr>
          <a:lstStyle/>
          <a:p>
            <a:pPr marL="342900" lvl="0" indent="-342900">
              <a:buFont typeface="Arial" panose="020B0604020202020204" pitchFamily="34" charset="0"/>
              <a:buChar char="•"/>
            </a:pPr>
            <a:r>
              <a:rPr lang="en-US" sz="2200" dirty="0"/>
              <a:t>How File transfer protocol works and what is its advantage?		     	CO5</a:t>
            </a:r>
          </a:p>
          <a:p>
            <a:pPr marL="342900" lvl="0" indent="-342900">
              <a:buFont typeface="Arial" panose="020B0604020202020204" pitchFamily="34" charset="0"/>
              <a:buChar char="•"/>
            </a:pPr>
            <a:r>
              <a:rPr lang="en-US" sz="2200" dirty="0"/>
              <a:t>Mention the use of HTTP. 								                     CO5</a:t>
            </a:r>
          </a:p>
          <a:p>
            <a:pPr marL="342900" lvl="0" indent="-342900">
              <a:buFont typeface="Arial" panose="020B0604020202020204" pitchFamily="34" charset="0"/>
              <a:buChar char="•"/>
            </a:pPr>
            <a:r>
              <a:rPr lang="en-US" sz="2200" dirty="0"/>
              <a:t>List out few email gateways.   							                     CO5</a:t>
            </a:r>
          </a:p>
          <a:p>
            <a:pPr marL="342900" lvl="0" indent="-342900">
              <a:buFont typeface="Arial" panose="020B0604020202020204" pitchFamily="34" charset="0"/>
              <a:buChar char="•"/>
            </a:pPr>
            <a:r>
              <a:rPr lang="en-US" sz="2200" dirty="0"/>
              <a:t>Elaborate about TELNET and its working procedure. 				       CO5</a:t>
            </a:r>
          </a:p>
          <a:p>
            <a:pPr marL="342900" lvl="0" indent="-342900">
              <a:buFont typeface="Arial" panose="020B0604020202020204" pitchFamily="34" charset="0"/>
              <a:buChar char="•"/>
            </a:pPr>
            <a:r>
              <a:rPr lang="en-US" sz="2200" dirty="0"/>
              <a:t>Explain the SNMP protocols in detail.  						              CO5</a:t>
            </a:r>
          </a:p>
          <a:p>
            <a:pPr marL="342900" lvl="0" indent="-342900">
              <a:buFont typeface="Arial" panose="020B0604020202020204" pitchFamily="34" charset="0"/>
              <a:buChar char="•"/>
            </a:pPr>
            <a:r>
              <a:rPr lang="en-US" sz="2200" dirty="0"/>
              <a:t>Explain DNS in the internet 								                     CO5</a:t>
            </a:r>
          </a:p>
          <a:p>
            <a:pPr marL="342900" lvl="0" indent="-342900">
              <a:buFont typeface="Arial" panose="020B0604020202020204" pitchFamily="34" charset="0"/>
              <a:buChar char="•"/>
            </a:pPr>
            <a:r>
              <a:rPr lang="en-US" sz="2200" dirty="0"/>
              <a:t>Write a note on Voice Over IP  							                     CO5</a:t>
            </a:r>
          </a:p>
          <a:p>
            <a:pPr marL="342900" lvl="0" indent="-342900">
              <a:buFont typeface="Arial" panose="020B0604020202020204" pitchFamily="34" charset="0"/>
              <a:buChar char="•"/>
            </a:pPr>
            <a:r>
              <a:rPr lang="en-US" sz="2200" dirty="0"/>
              <a:t>Explain about email architecture and services 					       CO5</a:t>
            </a:r>
          </a:p>
          <a:p>
            <a:pPr marL="342900" lvl="0" indent="-342900">
              <a:buFont typeface="Arial" panose="020B0604020202020204" pitchFamily="34" charset="0"/>
              <a:buChar char="•"/>
            </a:pPr>
            <a:r>
              <a:rPr lang="en-US" sz="2200" dirty="0"/>
              <a:t>Explain cryptography with the help of diagram 					       CO5</a:t>
            </a:r>
          </a:p>
          <a:p>
            <a:pPr marL="342900" lvl="0" indent="-342900">
              <a:buFont typeface="Arial" panose="020B0604020202020204" pitchFamily="34" charset="0"/>
              <a:buChar char="•"/>
            </a:pPr>
            <a:r>
              <a:rPr lang="en-US" sz="2200" dirty="0"/>
              <a:t>What are the various data compression techniques?					CO5</a:t>
            </a:r>
          </a:p>
        </p:txBody>
      </p:sp>
      <p:sp>
        <p:nvSpPr>
          <p:cNvPr id="3" name="Date Placeholder 2"/>
          <p:cNvSpPr>
            <a:spLocks noGrp="1"/>
          </p:cNvSpPr>
          <p:nvPr>
            <p:ph type="dt" sz="half" idx="10"/>
          </p:nvPr>
        </p:nvSpPr>
        <p:spPr/>
        <p:txBody>
          <a:bodyPr/>
          <a:lstStyle/>
          <a:p>
            <a:fld id="{FA0EE731-4E5B-4BEC-B034-357F402AD2FA}"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130</a:t>
            </a:fld>
            <a:endParaRPr lang="en-US"/>
          </a:p>
        </p:txBody>
      </p:sp>
      <p:sp>
        <p:nvSpPr>
          <p:cNvPr id="8"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Weekly Assignment</a:t>
            </a:r>
          </a:p>
        </p:txBody>
      </p:sp>
    </p:spTree>
    <p:extLst>
      <p:ext uri="{BB962C8B-B14F-4D97-AF65-F5344CB8AC3E}">
        <p14:creationId xmlns:p14="http://schemas.microsoft.com/office/powerpoint/2010/main" val="145992947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287DE47-CFF0-4185-B4E3-EB7EB240886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131</a:t>
            </a:fld>
            <a:endParaRPr lang="en-US"/>
          </a:p>
        </p:txBody>
      </p:sp>
      <p:sp>
        <p:nvSpPr>
          <p:cNvPr id="8"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MCQ</a:t>
            </a:r>
          </a:p>
        </p:txBody>
      </p:sp>
      <p:graphicFrame>
        <p:nvGraphicFramePr>
          <p:cNvPr id="6" name="Table 5"/>
          <p:cNvGraphicFramePr>
            <a:graphicFrameLocks noGrp="1"/>
          </p:cNvGraphicFramePr>
          <p:nvPr>
            <p:extLst>
              <p:ext uri="{D42A27DB-BD31-4B8C-83A1-F6EECF244321}">
                <p14:modId xmlns:p14="http://schemas.microsoft.com/office/powerpoint/2010/main" val="3317529791"/>
              </p:ext>
            </p:extLst>
          </p:nvPr>
        </p:nvGraphicFramePr>
        <p:xfrm>
          <a:off x="1355834" y="1261241"/>
          <a:ext cx="7709338" cy="3556000"/>
        </p:xfrm>
        <a:graphic>
          <a:graphicData uri="http://schemas.openxmlformats.org/drawingml/2006/table">
            <a:tbl>
              <a:tblPr firstRow="1" firstCol="1" bandRow="1">
                <a:tableStyleId>{2D5ABB26-0587-4C30-8999-92F81FD0307C}</a:tableStyleId>
              </a:tblPr>
              <a:tblGrid>
                <a:gridCol w="7709338">
                  <a:extLst>
                    <a:ext uri="{9D8B030D-6E8A-4147-A177-3AD203B41FA5}">
                      <a16:colId xmlns:a16="http://schemas.microsoft.com/office/drawing/2014/main" val="3975945171"/>
                    </a:ext>
                  </a:extLst>
                </a:gridCol>
              </a:tblGrid>
              <a:tr h="1008870">
                <a:tc>
                  <a:txBody>
                    <a:bodyPr/>
                    <a:lstStyle/>
                    <a:p>
                      <a:pPr marL="0" marR="0" lvl="0" indent="0">
                        <a:spcBef>
                          <a:spcPts val="0"/>
                        </a:spcBef>
                        <a:spcAft>
                          <a:spcPts val="0"/>
                        </a:spcAft>
                        <a:buFont typeface="+mj-lt"/>
                        <a:buNone/>
                      </a:pPr>
                      <a:r>
                        <a:rPr lang="en-US" sz="2200" dirty="0">
                          <a:ln>
                            <a:noFill/>
                          </a:ln>
                          <a:effectLst/>
                        </a:rPr>
                        <a:t>1.</a:t>
                      </a:r>
                      <a:r>
                        <a:rPr lang="en-US" sz="2200" baseline="0" dirty="0">
                          <a:ln>
                            <a:noFill/>
                          </a:ln>
                          <a:effectLst/>
                        </a:rPr>
                        <a:t> </a:t>
                      </a:r>
                      <a:r>
                        <a:rPr lang="en-US" sz="2200" dirty="0">
                          <a:ln>
                            <a:noFill/>
                          </a:ln>
                          <a:effectLst/>
                        </a:rPr>
                        <a:t>The packet of information at the application layer is called</a:t>
                      </a:r>
                    </a:p>
                    <a:p>
                      <a:pPr marL="342900" marR="0" lvl="0" indent="-342900">
                        <a:spcBef>
                          <a:spcPts val="0"/>
                        </a:spcBef>
                        <a:spcAft>
                          <a:spcPts val="0"/>
                        </a:spcAft>
                        <a:buFont typeface="+mj-lt"/>
                        <a:buAutoNum type="alphaUcPeriod"/>
                      </a:pPr>
                      <a:r>
                        <a:rPr lang="en-US" sz="2200" dirty="0">
                          <a:ln>
                            <a:noFill/>
                          </a:ln>
                          <a:effectLst/>
                        </a:rPr>
                        <a:t>Packet</a:t>
                      </a:r>
                    </a:p>
                    <a:p>
                      <a:pPr marL="342900" marR="0" lvl="0" indent="-342900">
                        <a:spcBef>
                          <a:spcPts val="0"/>
                        </a:spcBef>
                        <a:spcAft>
                          <a:spcPts val="0"/>
                        </a:spcAft>
                        <a:buFont typeface="+mj-lt"/>
                        <a:buAutoNum type="alphaUcPeriod"/>
                      </a:pPr>
                      <a:r>
                        <a:rPr lang="en-US" sz="2200" dirty="0">
                          <a:ln>
                            <a:noFill/>
                          </a:ln>
                          <a:effectLst/>
                        </a:rPr>
                        <a:t>Message</a:t>
                      </a:r>
                    </a:p>
                    <a:p>
                      <a:pPr marL="342900" marR="0" lvl="0" indent="-342900">
                        <a:spcBef>
                          <a:spcPts val="0"/>
                        </a:spcBef>
                        <a:spcAft>
                          <a:spcPts val="0"/>
                        </a:spcAft>
                        <a:buFont typeface="+mj-lt"/>
                        <a:buAutoNum type="alphaUcPeriod"/>
                      </a:pPr>
                      <a:r>
                        <a:rPr lang="en-US" sz="2200" dirty="0">
                          <a:ln>
                            <a:noFill/>
                          </a:ln>
                          <a:effectLst/>
                        </a:rPr>
                        <a:t>Segment </a:t>
                      </a:r>
                    </a:p>
                    <a:p>
                      <a:pPr marL="342900" marR="0" lvl="0" indent="-342900">
                        <a:spcBef>
                          <a:spcPts val="0"/>
                        </a:spcBef>
                        <a:spcAft>
                          <a:spcPts val="0"/>
                        </a:spcAft>
                        <a:buFont typeface="+mj-lt"/>
                        <a:buAutoNum type="alphaUcPeriod"/>
                      </a:pPr>
                      <a:r>
                        <a:rPr lang="en-US" sz="2200" dirty="0">
                          <a:ln>
                            <a:noFill/>
                          </a:ln>
                          <a:effectLst/>
                        </a:rPr>
                        <a:t>Frame </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520869216"/>
                  </a:ext>
                </a:extLst>
              </a:tr>
              <a:tr h="1008870">
                <a:tc>
                  <a:txBody>
                    <a:bodyPr/>
                    <a:lstStyle/>
                    <a:p>
                      <a:pPr marL="0" marR="0" lvl="0" indent="0">
                        <a:spcBef>
                          <a:spcPts val="0"/>
                        </a:spcBef>
                        <a:spcAft>
                          <a:spcPts val="0"/>
                        </a:spcAft>
                        <a:buFont typeface="+mj-lt"/>
                        <a:buNone/>
                      </a:pPr>
                      <a:r>
                        <a:rPr lang="en-US" sz="2200" dirty="0">
                          <a:ln>
                            <a:noFill/>
                          </a:ln>
                          <a:effectLst/>
                        </a:rPr>
                        <a:t>2. Which of the following is/are protocols of application layer?</a:t>
                      </a:r>
                    </a:p>
                    <a:p>
                      <a:pPr marL="342900" marR="0" lvl="0" indent="-342900">
                        <a:spcBef>
                          <a:spcPts val="0"/>
                        </a:spcBef>
                        <a:spcAft>
                          <a:spcPts val="0"/>
                        </a:spcAft>
                        <a:buFont typeface="+mj-lt"/>
                        <a:buAutoNum type="alphaUcPeriod"/>
                      </a:pPr>
                      <a:r>
                        <a:rPr lang="en-US" sz="2200" dirty="0">
                          <a:ln>
                            <a:noFill/>
                          </a:ln>
                          <a:effectLst/>
                        </a:rPr>
                        <a:t>FTP</a:t>
                      </a:r>
                    </a:p>
                    <a:p>
                      <a:pPr marL="342900" marR="0" lvl="0" indent="-342900">
                        <a:spcBef>
                          <a:spcPts val="0"/>
                        </a:spcBef>
                        <a:spcAft>
                          <a:spcPts val="0"/>
                        </a:spcAft>
                        <a:buFont typeface="+mj-lt"/>
                        <a:buAutoNum type="alphaUcPeriod"/>
                      </a:pPr>
                      <a:r>
                        <a:rPr lang="en-US" sz="2200" dirty="0">
                          <a:ln>
                            <a:noFill/>
                          </a:ln>
                          <a:effectLst/>
                        </a:rPr>
                        <a:t>TELNET</a:t>
                      </a:r>
                    </a:p>
                    <a:p>
                      <a:pPr marL="342900" marR="0" lvl="0" indent="-342900">
                        <a:spcBef>
                          <a:spcPts val="0"/>
                        </a:spcBef>
                        <a:spcAft>
                          <a:spcPts val="0"/>
                        </a:spcAft>
                        <a:buFont typeface="+mj-lt"/>
                        <a:buAutoNum type="alphaUcPeriod"/>
                      </a:pPr>
                      <a:r>
                        <a:rPr lang="en-US" sz="2200" dirty="0">
                          <a:ln>
                            <a:noFill/>
                          </a:ln>
                          <a:effectLst/>
                        </a:rPr>
                        <a:t>DNS</a:t>
                      </a:r>
                    </a:p>
                    <a:p>
                      <a:pPr marL="342900" marR="0" lvl="0" indent="-342900">
                        <a:spcBef>
                          <a:spcPts val="0"/>
                        </a:spcBef>
                        <a:spcAft>
                          <a:spcPts val="0"/>
                        </a:spcAft>
                        <a:buFont typeface="+mj-lt"/>
                        <a:buAutoNum type="alphaUcPeriod"/>
                      </a:pPr>
                      <a:r>
                        <a:rPr lang="en-US" sz="2200" dirty="0">
                          <a:ln>
                            <a:noFill/>
                          </a:ln>
                          <a:effectLst/>
                        </a:rPr>
                        <a:t>All of the above</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3435080371"/>
                  </a:ext>
                </a:extLst>
              </a:tr>
            </a:tbl>
          </a:graphicData>
        </a:graphic>
      </p:graphicFrame>
    </p:spTree>
    <p:extLst>
      <p:ext uri="{BB962C8B-B14F-4D97-AF65-F5344CB8AC3E}">
        <p14:creationId xmlns:p14="http://schemas.microsoft.com/office/powerpoint/2010/main" val="353283790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4B11AA2-F0DB-4C51-9417-B020B351005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132</a:t>
            </a:fld>
            <a:endParaRPr lang="en-US"/>
          </a:p>
        </p:txBody>
      </p:sp>
      <p:sp>
        <p:nvSpPr>
          <p:cNvPr id="8"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MCQ</a:t>
            </a:r>
          </a:p>
        </p:txBody>
      </p:sp>
      <p:graphicFrame>
        <p:nvGraphicFramePr>
          <p:cNvPr id="7" name="Table 6"/>
          <p:cNvGraphicFramePr>
            <a:graphicFrameLocks noGrp="1"/>
          </p:cNvGraphicFramePr>
          <p:nvPr>
            <p:extLst>
              <p:ext uri="{D42A27DB-BD31-4B8C-83A1-F6EECF244321}">
                <p14:modId xmlns:p14="http://schemas.microsoft.com/office/powerpoint/2010/main" val="3271071735"/>
              </p:ext>
            </p:extLst>
          </p:nvPr>
        </p:nvGraphicFramePr>
        <p:xfrm>
          <a:off x="1387365" y="1820302"/>
          <a:ext cx="7504387" cy="3556000"/>
        </p:xfrm>
        <a:graphic>
          <a:graphicData uri="http://schemas.openxmlformats.org/drawingml/2006/table">
            <a:tbl>
              <a:tblPr firstRow="1" firstCol="1" bandRow="1">
                <a:tableStyleId>{2D5ABB26-0587-4C30-8999-92F81FD0307C}</a:tableStyleId>
              </a:tblPr>
              <a:tblGrid>
                <a:gridCol w="7504387">
                  <a:extLst>
                    <a:ext uri="{9D8B030D-6E8A-4147-A177-3AD203B41FA5}">
                      <a16:colId xmlns:a16="http://schemas.microsoft.com/office/drawing/2014/main" val="485532738"/>
                    </a:ext>
                  </a:extLst>
                </a:gridCol>
              </a:tblGrid>
              <a:tr h="1691159">
                <a:tc>
                  <a:txBody>
                    <a:bodyPr/>
                    <a:lstStyle/>
                    <a:p>
                      <a:pPr marL="0" marR="0" lvl="0" indent="0">
                        <a:spcBef>
                          <a:spcPts val="0"/>
                        </a:spcBef>
                        <a:spcAft>
                          <a:spcPts val="0"/>
                        </a:spcAft>
                        <a:buFont typeface="+mj-lt"/>
                        <a:buNone/>
                      </a:pPr>
                      <a:r>
                        <a:rPr lang="en-US" sz="2200" dirty="0">
                          <a:ln>
                            <a:noFill/>
                          </a:ln>
                          <a:effectLst/>
                        </a:rPr>
                        <a:t>3. Which of the following is not an external security threats?</a:t>
                      </a:r>
                    </a:p>
                    <a:p>
                      <a:pPr marL="342900" marR="0" lvl="0" indent="-342900">
                        <a:spcBef>
                          <a:spcPts val="0"/>
                        </a:spcBef>
                        <a:spcAft>
                          <a:spcPts val="0"/>
                        </a:spcAft>
                        <a:buFont typeface="+mj-lt"/>
                        <a:buAutoNum type="alphaUcPeriod"/>
                      </a:pPr>
                      <a:r>
                        <a:rPr lang="en-US" sz="2200" dirty="0">
                          <a:ln>
                            <a:noFill/>
                          </a:ln>
                          <a:effectLst/>
                        </a:rPr>
                        <a:t>Front door threats</a:t>
                      </a:r>
                    </a:p>
                    <a:p>
                      <a:pPr marL="342900" marR="0" lvl="0" indent="-342900">
                        <a:spcBef>
                          <a:spcPts val="0"/>
                        </a:spcBef>
                        <a:spcAft>
                          <a:spcPts val="0"/>
                        </a:spcAft>
                        <a:buFont typeface="+mj-lt"/>
                        <a:buAutoNum type="alphaUcPeriod"/>
                      </a:pPr>
                      <a:r>
                        <a:rPr lang="en-US" sz="2200" dirty="0">
                          <a:ln>
                            <a:noFill/>
                          </a:ln>
                          <a:effectLst/>
                        </a:rPr>
                        <a:t>Back door threats</a:t>
                      </a:r>
                    </a:p>
                    <a:p>
                      <a:pPr marL="342900" marR="0" lvl="0" indent="-342900">
                        <a:spcBef>
                          <a:spcPts val="0"/>
                        </a:spcBef>
                        <a:spcAft>
                          <a:spcPts val="0"/>
                        </a:spcAft>
                        <a:buFont typeface="+mj-lt"/>
                        <a:buAutoNum type="alphaUcPeriod"/>
                      </a:pPr>
                      <a:r>
                        <a:rPr lang="en-US" sz="2200" dirty="0">
                          <a:ln>
                            <a:noFill/>
                          </a:ln>
                          <a:effectLst/>
                        </a:rPr>
                        <a:t>Underground threats</a:t>
                      </a:r>
                    </a:p>
                    <a:p>
                      <a:pPr marL="342900" marR="0" lvl="0" indent="-342900">
                        <a:spcBef>
                          <a:spcPts val="0"/>
                        </a:spcBef>
                        <a:spcAft>
                          <a:spcPts val="0"/>
                        </a:spcAft>
                        <a:buFont typeface="+mj-lt"/>
                        <a:buAutoNum type="alphaUcPeriod"/>
                      </a:pPr>
                      <a:r>
                        <a:rPr lang="en-US" sz="2200" dirty="0">
                          <a:ln>
                            <a:noFill/>
                          </a:ln>
                          <a:effectLst/>
                        </a:rPr>
                        <a:t>Denial of Services(</a:t>
                      </a:r>
                      <a:r>
                        <a:rPr lang="en-US" sz="2200" dirty="0" err="1">
                          <a:ln>
                            <a:noFill/>
                          </a:ln>
                          <a:effectLst/>
                        </a:rPr>
                        <a:t>DoS</a:t>
                      </a:r>
                      <a:r>
                        <a:rPr lang="en-US" sz="2200" dirty="0">
                          <a:ln>
                            <a:noFill/>
                          </a:ln>
                          <a:effectLst/>
                        </a:rPr>
                        <a:t>)</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2843272284"/>
                  </a:ext>
                </a:extLst>
              </a:tr>
              <a:tr h="1691159">
                <a:tc>
                  <a:txBody>
                    <a:bodyPr/>
                    <a:lstStyle/>
                    <a:p>
                      <a:pPr marL="0" marR="0" lvl="0" indent="0">
                        <a:spcBef>
                          <a:spcPts val="0"/>
                        </a:spcBef>
                        <a:spcAft>
                          <a:spcPts val="0"/>
                        </a:spcAft>
                        <a:buFont typeface="+mj-lt"/>
                        <a:buNone/>
                      </a:pPr>
                      <a:r>
                        <a:rPr lang="en-US" sz="2200" dirty="0">
                          <a:ln>
                            <a:noFill/>
                          </a:ln>
                          <a:effectLst/>
                        </a:rPr>
                        <a:t>4. The full form of DNS is</a:t>
                      </a:r>
                    </a:p>
                    <a:p>
                      <a:pPr marL="342900" marR="0" lvl="0" indent="-342900">
                        <a:spcBef>
                          <a:spcPts val="0"/>
                        </a:spcBef>
                        <a:spcAft>
                          <a:spcPts val="0"/>
                        </a:spcAft>
                        <a:buFont typeface="+mj-lt"/>
                        <a:buAutoNum type="alphaUcPeriod"/>
                      </a:pPr>
                      <a:r>
                        <a:rPr lang="en-US" sz="2200" dirty="0">
                          <a:ln>
                            <a:noFill/>
                          </a:ln>
                          <a:effectLst/>
                        </a:rPr>
                        <a:t>Domain name system</a:t>
                      </a:r>
                    </a:p>
                    <a:p>
                      <a:pPr marL="342900" marR="0" lvl="0" indent="-342900">
                        <a:spcBef>
                          <a:spcPts val="0"/>
                        </a:spcBef>
                        <a:spcAft>
                          <a:spcPts val="0"/>
                        </a:spcAft>
                        <a:buFont typeface="+mj-lt"/>
                        <a:buAutoNum type="alphaUcPeriod"/>
                      </a:pPr>
                      <a:r>
                        <a:rPr lang="en-US" sz="2200" dirty="0">
                          <a:ln>
                            <a:noFill/>
                          </a:ln>
                          <a:effectLst/>
                        </a:rPr>
                        <a:t>Domain naming system</a:t>
                      </a:r>
                    </a:p>
                    <a:p>
                      <a:pPr marL="342900" marR="0" lvl="0" indent="-342900">
                        <a:spcBef>
                          <a:spcPts val="0"/>
                        </a:spcBef>
                        <a:spcAft>
                          <a:spcPts val="0"/>
                        </a:spcAft>
                        <a:buFont typeface="+mj-lt"/>
                        <a:buAutoNum type="alphaUcPeriod"/>
                      </a:pPr>
                      <a:r>
                        <a:rPr lang="en-US" sz="2200" dirty="0">
                          <a:ln>
                            <a:noFill/>
                          </a:ln>
                          <a:effectLst/>
                        </a:rPr>
                        <a:t>Domain name storage</a:t>
                      </a:r>
                    </a:p>
                    <a:p>
                      <a:pPr marL="342900" marR="0" lvl="0" indent="-342900">
                        <a:spcBef>
                          <a:spcPts val="0"/>
                        </a:spcBef>
                        <a:spcAft>
                          <a:spcPts val="0"/>
                        </a:spcAft>
                        <a:buFont typeface="+mj-lt"/>
                        <a:buAutoNum type="alphaUcPeriod"/>
                      </a:pPr>
                      <a:r>
                        <a:rPr lang="en-US" sz="2200" dirty="0">
                          <a:ln>
                            <a:noFill/>
                          </a:ln>
                          <a:effectLst/>
                        </a:rPr>
                        <a:t>Domain naming storage</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4013934079"/>
                  </a:ext>
                </a:extLst>
              </a:tr>
            </a:tbl>
          </a:graphicData>
        </a:graphic>
      </p:graphicFrame>
    </p:spTree>
    <p:extLst>
      <p:ext uri="{BB962C8B-B14F-4D97-AF65-F5344CB8AC3E}">
        <p14:creationId xmlns:p14="http://schemas.microsoft.com/office/powerpoint/2010/main" val="138769558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131B440-1F13-47BE-8485-00E48EF56B5E}"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133</a:t>
            </a:fld>
            <a:endParaRPr lang="en-US"/>
          </a:p>
        </p:txBody>
      </p:sp>
      <p:sp>
        <p:nvSpPr>
          <p:cNvPr id="8"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MCQ</a:t>
            </a:r>
          </a:p>
        </p:txBody>
      </p:sp>
      <p:graphicFrame>
        <p:nvGraphicFramePr>
          <p:cNvPr id="2" name="Table 1"/>
          <p:cNvGraphicFramePr>
            <a:graphicFrameLocks noGrp="1"/>
          </p:cNvGraphicFramePr>
          <p:nvPr>
            <p:extLst>
              <p:ext uri="{D42A27DB-BD31-4B8C-83A1-F6EECF244321}">
                <p14:modId xmlns:p14="http://schemas.microsoft.com/office/powerpoint/2010/main" val="595555833"/>
              </p:ext>
            </p:extLst>
          </p:nvPr>
        </p:nvGraphicFramePr>
        <p:xfrm>
          <a:off x="1507948" y="1434663"/>
          <a:ext cx="7232944" cy="3610302"/>
        </p:xfrm>
        <a:graphic>
          <a:graphicData uri="http://schemas.openxmlformats.org/drawingml/2006/table">
            <a:tbl>
              <a:tblPr firstRow="1" firstCol="1" bandRow="1">
                <a:tableStyleId>{2D5ABB26-0587-4C30-8999-92F81FD0307C}</a:tableStyleId>
              </a:tblPr>
              <a:tblGrid>
                <a:gridCol w="7232944">
                  <a:extLst>
                    <a:ext uri="{9D8B030D-6E8A-4147-A177-3AD203B41FA5}">
                      <a16:colId xmlns:a16="http://schemas.microsoft.com/office/drawing/2014/main" val="2254183211"/>
                    </a:ext>
                  </a:extLst>
                </a:gridCol>
              </a:tblGrid>
              <a:tr h="1805151">
                <a:tc>
                  <a:txBody>
                    <a:bodyPr/>
                    <a:lstStyle/>
                    <a:p>
                      <a:pPr marL="0" marR="0" lvl="0" indent="0">
                        <a:spcBef>
                          <a:spcPts val="0"/>
                        </a:spcBef>
                        <a:spcAft>
                          <a:spcPts val="0"/>
                        </a:spcAft>
                        <a:buFont typeface="+mj-lt"/>
                        <a:buNone/>
                      </a:pPr>
                      <a:r>
                        <a:rPr lang="en-US" sz="2200" dirty="0">
                          <a:ln>
                            <a:noFill/>
                          </a:ln>
                          <a:effectLst/>
                        </a:rPr>
                        <a:t>5.  TELNET is a</a:t>
                      </a:r>
                    </a:p>
                    <a:p>
                      <a:pPr marL="342900" marR="0" lvl="0" indent="-342900">
                        <a:spcBef>
                          <a:spcPts val="0"/>
                        </a:spcBef>
                        <a:spcAft>
                          <a:spcPts val="0"/>
                        </a:spcAft>
                        <a:buFont typeface="+mj-lt"/>
                        <a:buAutoNum type="alphaUcPeriod"/>
                      </a:pPr>
                      <a:r>
                        <a:rPr lang="en-US" sz="2200" dirty="0">
                          <a:ln>
                            <a:noFill/>
                          </a:ln>
                          <a:effectLst/>
                        </a:rPr>
                        <a:t>Customized program</a:t>
                      </a:r>
                    </a:p>
                    <a:p>
                      <a:pPr marL="342900" marR="0" lvl="0" indent="-342900">
                        <a:spcBef>
                          <a:spcPts val="0"/>
                        </a:spcBef>
                        <a:spcAft>
                          <a:spcPts val="0"/>
                        </a:spcAft>
                        <a:buFont typeface="+mj-lt"/>
                        <a:buAutoNum type="alphaUcPeriod"/>
                      </a:pPr>
                      <a:r>
                        <a:rPr lang="en-US" sz="2200" dirty="0">
                          <a:ln>
                            <a:noFill/>
                          </a:ln>
                          <a:effectLst/>
                        </a:rPr>
                        <a:t>Client/server program</a:t>
                      </a:r>
                    </a:p>
                    <a:p>
                      <a:pPr marL="342900" marR="0" lvl="0" indent="-342900">
                        <a:spcBef>
                          <a:spcPts val="0"/>
                        </a:spcBef>
                        <a:spcAft>
                          <a:spcPts val="0"/>
                        </a:spcAft>
                        <a:buFont typeface="+mj-lt"/>
                        <a:buAutoNum type="alphaUcPeriod"/>
                      </a:pPr>
                      <a:r>
                        <a:rPr lang="en-US" sz="2200" dirty="0">
                          <a:ln>
                            <a:noFill/>
                          </a:ln>
                          <a:effectLst/>
                        </a:rPr>
                        <a:t>Application program</a:t>
                      </a:r>
                    </a:p>
                    <a:p>
                      <a:pPr marL="342900" marR="0" lvl="0" indent="-342900">
                        <a:spcBef>
                          <a:spcPts val="0"/>
                        </a:spcBef>
                        <a:spcAft>
                          <a:spcPts val="0"/>
                        </a:spcAft>
                        <a:buFont typeface="+mj-lt"/>
                        <a:buAutoNum type="alphaUcPeriod"/>
                      </a:pPr>
                      <a:r>
                        <a:rPr lang="en-US" sz="2200" dirty="0">
                          <a:ln>
                            <a:noFill/>
                          </a:ln>
                          <a:effectLst/>
                        </a:rPr>
                        <a:t>All of the above</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3413040210"/>
                  </a:ext>
                </a:extLst>
              </a:tr>
              <a:tr h="1805151">
                <a:tc>
                  <a:txBody>
                    <a:bodyPr/>
                    <a:lstStyle/>
                    <a:p>
                      <a:pPr marL="0" marR="0" lvl="0" indent="0">
                        <a:spcBef>
                          <a:spcPts val="0"/>
                        </a:spcBef>
                        <a:spcAft>
                          <a:spcPts val="0"/>
                        </a:spcAft>
                        <a:buFont typeface="+mj-lt"/>
                        <a:buNone/>
                      </a:pPr>
                      <a:r>
                        <a:rPr lang="en-US" sz="2200" dirty="0">
                          <a:ln>
                            <a:noFill/>
                          </a:ln>
                          <a:effectLst/>
                        </a:rPr>
                        <a:t>6.  XHTML stands for</a:t>
                      </a:r>
                    </a:p>
                    <a:p>
                      <a:pPr marL="342900" marR="0" lvl="0" indent="-342900">
                        <a:spcBef>
                          <a:spcPts val="0"/>
                        </a:spcBef>
                        <a:spcAft>
                          <a:spcPts val="0"/>
                        </a:spcAft>
                        <a:buFont typeface="+mj-lt"/>
                        <a:buAutoNum type="alphaUcPeriod"/>
                      </a:pPr>
                      <a:r>
                        <a:rPr lang="en-US" sz="2200" dirty="0">
                          <a:ln>
                            <a:noFill/>
                          </a:ln>
                          <a:effectLst/>
                        </a:rPr>
                        <a:t>Extensible Hypertext Markup language</a:t>
                      </a:r>
                    </a:p>
                    <a:p>
                      <a:pPr marL="342900" marR="0" lvl="0" indent="-342900">
                        <a:spcBef>
                          <a:spcPts val="0"/>
                        </a:spcBef>
                        <a:spcAft>
                          <a:spcPts val="0"/>
                        </a:spcAft>
                        <a:buFont typeface="+mj-lt"/>
                        <a:buAutoNum type="alphaUcPeriod"/>
                      </a:pPr>
                      <a:r>
                        <a:rPr lang="en-US" sz="2200" dirty="0">
                          <a:ln>
                            <a:noFill/>
                          </a:ln>
                          <a:effectLst/>
                        </a:rPr>
                        <a:t>Extended Hypertext Markup language</a:t>
                      </a:r>
                    </a:p>
                    <a:p>
                      <a:pPr marL="342900" marR="0" lvl="0" indent="-342900">
                        <a:spcBef>
                          <a:spcPts val="0"/>
                        </a:spcBef>
                        <a:spcAft>
                          <a:spcPts val="0"/>
                        </a:spcAft>
                        <a:buFont typeface="+mj-lt"/>
                        <a:buAutoNum type="alphaUcPeriod"/>
                      </a:pPr>
                      <a:r>
                        <a:rPr lang="en-US" sz="2200" dirty="0">
                          <a:ln>
                            <a:noFill/>
                          </a:ln>
                          <a:effectLst/>
                        </a:rPr>
                        <a:t>Both A &amp; B</a:t>
                      </a:r>
                    </a:p>
                    <a:p>
                      <a:pPr marL="342900" marR="0" lvl="0" indent="-342900">
                        <a:spcBef>
                          <a:spcPts val="0"/>
                        </a:spcBef>
                        <a:spcAft>
                          <a:spcPts val="0"/>
                        </a:spcAft>
                        <a:buFont typeface="+mj-lt"/>
                        <a:buAutoNum type="alphaUcPeriod"/>
                      </a:pPr>
                      <a:r>
                        <a:rPr lang="en-US" sz="2200" dirty="0">
                          <a:ln>
                            <a:noFill/>
                          </a:ln>
                          <a:effectLst/>
                        </a:rPr>
                        <a:t>None of them</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3471839422"/>
                  </a:ext>
                </a:extLst>
              </a:tr>
            </a:tbl>
          </a:graphicData>
        </a:graphic>
      </p:graphicFrame>
    </p:spTree>
    <p:extLst>
      <p:ext uri="{BB962C8B-B14F-4D97-AF65-F5344CB8AC3E}">
        <p14:creationId xmlns:p14="http://schemas.microsoft.com/office/powerpoint/2010/main" val="26947181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DB7E945-2E3C-46C0-BF51-60E468679B7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134</a:t>
            </a:fld>
            <a:endParaRPr lang="en-US"/>
          </a:p>
        </p:txBody>
      </p:sp>
      <p:sp>
        <p:nvSpPr>
          <p:cNvPr id="8" name="Title 1"/>
          <p:cNvSpPr>
            <a:spLocks noGrp="1"/>
          </p:cNvSpPr>
          <p:nvPr>
            <p:ph type="title"/>
          </p:nvPr>
        </p:nvSpPr>
        <p:spPr>
          <a:xfrm>
            <a:off x="1507948" y="1"/>
            <a:ext cx="8550452" cy="548640"/>
          </a:xfrm>
        </p:spPr>
        <p:txBody>
          <a:bodyPr>
            <a:normAutofit/>
          </a:bodyPr>
          <a:lstStyle/>
          <a:p>
            <a:pPr indent="0">
              <a:spcAft>
                <a:spcPts val="840"/>
              </a:spcAft>
            </a:pPr>
            <a:r>
              <a:rPr lang="en-US" sz="3200" b="1" dirty="0"/>
              <a:t>MCQ</a:t>
            </a:r>
          </a:p>
        </p:txBody>
      </p:sp>
      <p:graphicFrame>
        <p:nvGraphicFramePr>
          <p:cNvPr id="2" name="Table 1"/>
          <p:cNvGraphicFramePr>
            <a:graphicFrameLocks noGrp="1"/>
          </p:cNvGraphicFramePr>
          <p:nvPr>
            <p:extLst>
              <p:ext uri="{D42A27DB-BD31-4B8C-83A1-F6EECF244321}">
                <p14:modId xmlns:p14="http://schemas.microsoft.com/office/powerpoint/2010/main" val="1875059335"/>
              </p:ext>
            </p:extLst>
          </p:nvPr>
        </p:nvGraphicFramePr>
        <p:xfrm>
          <a:off x="1507948" y="1450425"/>
          <a:ext cx="7232944" cy="3556000"/>
        </p:xfrm>
        <a:graphic>
          <a:graphicData uri="http://schemas.openxmlformats.org/drawingml/2006/table">
            <a:tbl>
              <a:tblPr firstRow="1" firstCol="1" bandRow="1">
                <a:tableStyleId>{2D5ABB26-0587-4C30-8999-92F81FD0307C}</a:tableStyleId>
              </a:tblPr>
              <a:tblGrid>
                <a:gridCol w="7232944">
                  <a:extLst>
                    <a:ext uri="{9D8B030D-6E8A-4147-A177-3AD203B41FA5}">
                      <a16:colId xmlns:a16="http://schemas.microsoft.com/office/drawing/2014/main" val="3670806702"/>
                    </a:ext>
                  </a:extLst>
                </a:gridCol>
              </a:tblGrid>
              <a:tr h="1568670">
                <a:tc>
                  <a:txBody>
                    <a:bodyPr/>
                    <a:lstStyle/>
                    <a:p>
                      <a:pPr marL="0" marR="0" lvl="0" indent="0">
                        <a:spcBef>
                          <a:spcPts val="0"/>
                        </a:spcBef>
                        <a:spcAft>
                          <a:spcPts val="0"/>
                        </a:spcAft>
                        <a:buFont typeface="+mj-lt"/>
                        <a:buNone/>
                        <a:tabLst>
                          <a:tab pos="309880" algn="l"/>
                        </a:tabLst>
                      </a:pPr>
                      <a:r>
                        <a:rPr lang="en-US" sz="2200" dirty="0">
                          <a:effectLst/>
                        </a:rPr>
                        <a:t>7.  Electronic mail uses this Application layer</a:t>
                      </a:r>
                      <a:r>
                        <a:rPr lang="en-US" sz="2200" spc="-25" dirty="0">
                          <a:effectLst/>
                        </a:rPr>
                        <a:t> </a:t>
                      </a:r>
                      <a:r>
                        <a:rPr lang="en-US" sz="2200" dirty="0">
                          <a:effectLst/>
                        </a:rPr>
                        <a:t>protocol</a:t>
                      </a:r>
                    </a:p>
                    <a:p>
                      <a:pPr marL="342900" marR="0" lvl="0" indent="-342900">
                        <a:spcBef>
                          <a:spcPts val="0"/>
                        </a:spcBef>
                        <a:spcAft>
                          <a:spcPts val="0"/>
                        </a:spcAft>
                        <a:buFont typeface="+mj-lt"/>
                        <a:buAutoNum type="alphaUcPeriod"/>
                        <a:tabLst>
                          <a:tab pos="242570" algn="l"/>
                        </a:tabLst>
                      </a:pPr>
                      <a:r>
                        <a:rPr lang="en-US" sz="2200" dirty="0">
                          <a:effectLst/>
                        </a:rPr>
                        <a:t>SMTP</a:t>
                      </a:r>
                    </a:p>
                    <a:p>
                      <a:pPr marL="342900" marR="0" lvl="0" indent="-342900">
                        <a:spcBef>
                          <a:spcPts val="0"/>
                        </a:spcBef>
                        <a:spcAft>
                          <a:spcPts val="0"/>
                        </a:spcAft>
                        <a:buFont typeface="+mj-lt"/>
                        <a:buAutoNum type="alphaUcPeriod"/>
                        <a:tabLst>
                          <a:tab pos="242570" algn="l"/>
                        </a:tabLst>
                      </a:pPr>
                      <a:r>
                        <a:rPr lang="en-US" sz="2200" dirty="0">
                          <a:effectLst/>
                        </a:rPr>
                        <a:t>HTTP</a:t>
                      </a:r>
                    </a:p>
                    <a:p>
                      <a:pPr marL="342900" marR="0" lvl="0" indent="-342900">
                        <a:spcBef>
                          <a:spcPts val="0"/>
                        </a:spcBef>
                        <a:spcAft>
                          <a:spcPts val="0"/>
                        </a:spcAft>
                        <a:buFont typeface="+mj-lt"/>
                        <a:buAutoNum type="alphaUcPeriod"/>
                        <a:tabLst>
                          <a:tab pos="236220" algn="l"/>
                        </a:tabLst>
                      </a:pPr>
                      <a:r>
                        <a:rPr lang="en-US" sz="2200" dirty="0">
                          <a:effectLst/>
                        </a:rPr>
                        <a:t>FTP</a:t>
                      </a:r>
                    </a:p>
                    <a:p>
                      <a:pPr marL="342900" marR="0" lvl="0" indent="-342900">
                        <a:spcBef>
                          <a:spcPts val="0"/>
                        </a:spcBef>
                        <a:spcAft>
                          <a:spcPts val="0"/>
                        </a:spcAft>
                        <a:buFont typeface="+mj-lt"/>
                        <a:buAutoNum type="alphaUcPeriod"/>
                        <a:tabLst>
                          <a:tab pos="242570" algn="l"/>
                        </a:tabLst>
                      </a:pPr>
                      <a:r>
                        <a:rPr lang="en-US" sz="2200" dirty="0">
                          <a:effectLst/>
                        </a:rPr>
                        <a:t>SIP</a:t>
                      </a:r>
                      <a:endParaRPr lang="en-US" sz="2200" dirty="0">
                        <a:effectLst/>
                        <a:latin typeface="Arial" panose="020B0604020202020204" pitchFamily="34" charset="0"/>
                        <a:ea typeface="Arial" panose="020B0604020202020204" pitchFamily="34" charset="0"/>
                      </a:endParaRPr>
                    </a:p>
                  </a:txBody>
                  <a:tcPr marL="50800" marR="50800" marT="50800" marB="50800"/>
                </a:tc>
                <a:extLst>
                  <a:ext uri="{0D108BD9-81ED-4DB2-BD59-A6C34878D82A}">
                    <a16:rowId xmlns:a16="http://schemas.microsoft.com/office/drawing/2014/main" val="1699015853"/>
                  </a:ext>
                </a:extLst>
              </a:tr>
              <a:tr h="1568670">
                <a:tc>
                  <a:txBody>
                    <a:bodyPr/>
                    <a:lstStyle/>
                    <a:p>
                      <a:pPr marL="0" marR="0" lvl="0" indent="0">
                        <a:spcBef>
                          <a:spcPts val="0"/>
                        </a:spcBef>
                        <a:spcAft>
                          <a:spcPts val="0"/>
                        </a:spcAft>
                        <a:buFont typeface="+mj-lt"/>
                        <a:buNone/>
                        <a:tabLst>
                          <a:tab pos="309880" algn="l"/>
                        </a:tabLst>
                      </a:pPr>
                      <a:r>
                        <a:rPr lang="en-US" sz="2200" dirty="0">
                          <a:effectLst/>
                        </a:rPr>
                        <a:t>8.  The default connection type used by HTTP is______</a:t>
                      </a:r>
                    </a:p>
                    <a:p>
                      <a:pPr marL="342900" marR="0" lvl="0" indent="-342900">
                        <a:spcBef>
                          <a:spcPts val="0"/>
                        </a:spcBef>
                        <a:spcAft>
                          <a:spcPts val="0"/>
                        </a:spcAft>
                        <a:buFont typeface="+mj-lt"/>
                        <a:buAutoNum type="alphaUcPeriod"/>
                        <a:tabLst>
                          <a:tab pos="309880" algn="l"/>
                        </a:tabLst>
                      </a:pPr>
                      <a:r>
                        <a:rPr lang="en-US" sz="2200" dirty="0">
                          <a:effectLst/>
                        </a:rPr>
                        <a:t>Persistent</a:t>
                      </a:r>
                    </a:p>
                    <a:p>
                      <a:pPr marL="342900" marR="0" lvl="0" indent="-342900">
                        <a:spcBef>
                          <a:spcPts val="0"/>
                        </a:spcBef>
                        <a:spcAft>
                          <a:spcPts val="0"/>
                        </a:spcAft>
                        <a:buFont typeface="+mj-lt"/>
                        <a:buAutoNum type="alphaUcPeriod"/>
                        <a:tabLst>
                          <a:tab pos="309880" algn="l"/>
                        </a:tabLst>
                      </a:pPr>
                      <a:r>
                        <a:rPr lang="en-US" sz="2200" dirty="0">
                          <a:effectLst/>
                        </a:rPr>
                        <a:t>Non-Persistent</a:t>
                      </a:r>
                    </a:p>
                    <a:p>
                      <a:pPr marL="342900" marR="0" lvl="0" indent="-342900">
                        <a:spcBef>
                          <a:spcPts val="0"/>
                        </a:spcBef>
                        <a:spcAft>
                          <a:spcPts val="0"/>
                        </a:spcAft>
                        <a:buFont typeface="+mj-lt"/>
                        <a:buAutoNum type="alphaUcPeriod"/>
                        <a:tabLst>
                          <a:tab pos="309880" algn="l"/>
                        </a:tabLst>
                      </a:pPr>
                      <a:r>
                        <a:rPr lang="en-US" sz="2200" dirty="0">
                          <a:effectLst/>
                        </a:rPr>
                        <a:t>Both A &amp; B</a:t>
                      </a:r>
                    </a:p>
                    <a:p>
                      <a:pPr marL="342900" marR="0" lvl="0" indent="-342900">
                        <a:spcBef>
                          <a:spcPts val="0"/>
                        </a:spcBef>
                        <a:spcAft>
                          <a:spcPts val="0"/>
                        </a:spcAft>
                        <a:buFont typeface="+mj-lt"/>
                        <a:buAutoNum type="alphaUcPeriod"/>
                        <a:tabLst>
                          <a:tab pos="309880" algn="l"/>
                        </a:tabLst>
                      </a:pPr>
                      <a:r>
                        <a:rPr lang="en-US" sz="2200" dirty="0">
                          <a:effectLst/>
                        </a:rPr>
                        <a:t>None of the Above</a:t>
                      </a:r>
                      <a:endParaRPr lang="en-US" sz="2200" dirty="0">
                        <a:effectLst/>
                        <a:latin typeface="Arial" panose="020B0604020202020204" pitchFamily="34" charset="0"/>
                        <a:ea typeface="Arial" panose="020B0604020202020204" pitchFamily="34" charset="0"/>
                      </a:endParaRPr>
                    </a:p>
                  </a:txBody>
                  <a:tcPr marL="50800" marR="50800" marT="50800" marB="50800"/>
                </a:tc>
                <a:extLst>
                  <a:ext uri="{0D108BD9-81ED-4DB2-BD59-A6C34878D82A}">
                    <a16:rowId xmlns:a16="http://schemas.microsoft.com/office/drawing/2014/main" val="3819411759"/>
                  </a:ext>
                </a:extLst>
              </a:tr>
            </a:tbl>
          </a:graphicData>
        </a:graphic>
      </p:graphicFrame>
    </p:spTree>
    <p:extLst>
      <p:ext uri="{BB962C8B-B14F-4D97-AF65-F5344CB8AC3E}">
        <p14:creationId xmlns:p14="http://schemas.microsoft.com/office/powerpoint/2010/main" val="94847631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980EA3-C196-41D4-A019-8D8FBE6BAC74}"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135</a:t>
            </a:fld>
            <a:endParaRPr lang="en-US"/>
          </a:p>
        </p:txBody>
      </p:sp>
      <p:sp>
        <p:nvSpPr>
          <p:cNvPr id="8" name="Title 1"/>
          <p:cNvSpPr>
            <a:spLocks noGrp="1"/>
          </p:cNvSpPr>
          <p:nvPr>
            <p:ph type="title"/>
          </p:nvPr>
        </p:nvSpPr>
        <p:spPr>
          <a:xfrm>
            <a:off x="1507948" y="1"/>
            <a:ext cx="8550452" cy="548640"/>
          </a:xfrm>
        </p:spPr>
        <p:txBody>
          <a:bodyPr>
            <a:normAutofit fontScale="90000"/>
          </a:bodyPr>
          <a:lstStyle/>
          <a:p>
            <a:pPr lvl="0" defTabSz="914400">
              <a:lnSpc>
                <a:spcPct val="100000"/>
              </a:lnSpc>
              <a:defRPr/>
            </a:pPr>
            <a:r>
              <a:rPr lang="en-US" sz="3200" dirty="0">
                <a:solidFill>
                  <a:schemeClr val="dk1"/>
                </a:solidFill>
              </a:rPr>
              <a:t>Old Question Papers</a:t>
            </a:r>
          </a:p>
        </p:txBody>
      </p:sp>
      <p:sp>
        <p:nvSpPr>
          <p:cNvPr id="7" name="Content Placeholder 2"/>
          <p:cNvSpPr txBox="1">
            <a:spLocks/>
          </p:cNvSpPr>
          <p:nvPr/>
        </p:nvSpPr>
        <p:spPr>
          <a:xfrm>
            <a:off x="533400" y="1143000"/>
            <a:ext cx="8833486" cy="5478517"/>
          </a:xfrm>
          <a:prstGeom prst="rect">
            <a:avLst/>
          </a:prstGeom>
        </p:spPr>
        <p:txBody>
          <a:bodyPr vert="horz" wrap="square" lIns="91440" tIns="45720" rIns="91440" bIns="45720" rtlCol="0">
            <a:normAutofit fontScale="55000" lnSpcReduction="20000"/>
          </a:bodyPr>
          <a:lstStyle>
            <a:lvl1pPr marL="0" indent="0" algn="just" defTabSz="1005840" rtl="0" eaLnBrk="1" latinLnBrk="0" hangingPunct="1">
              <a:lnSpc>
                <a:spcPct val="100000"/>
              </a:lnSpc>
              <a:spcBef>
                <a:spcPts val="1100"/>
              </a:spcBef>
              <a:buFont typeface="Arial" panose="020B0604020202020204" pitchFamily="34" charset="0"/>
              <a:buNone/>
              <a:defRPr sz="2420" kern="1200">
                <a:solidFill>
                  <a:schemeClr val="tx1"/>
                </a:solidFill>
                <a:latin typeface="+mn-lt"/>
                <a:ea typeface="+mn-ea"/>
                <a:cs typeface="+mn-cs"/>
              </a:defRPr>
            </a:lvl1pPr>
            <a:lvl2pPr marL="502920" indent="0" algn="just" defTabSz="1005840" rtl="0" eaLnBrk="1" latinLnBrk="0" hangingPunct="1">
              <a:lnSpc>
                <a:spcPct val="100000"/>
              </a:lnSpc>
              <a:spcBef>
                <a:spcPts val="550"/>
              </a:spcBef>
              <a:buFont typeface="Arial" panose="020B0604020202020204" pitchFamily="34" charset="0"/>
              <a:buNone/>
              <a:defRPr sz="2200" kern="1200">
                <a:solidFill>
                  <a:schemeClr val="tx1">
                    <a:tint val="75000"/>
                  </a:schemeClr>
                </a:solidFill>
                <a:latin typeface="+mn-lt"/>
                <a:ea typeface="+mn-ea"/>
                <a:cs typeface="+mn-cs"/>
              </a:defRPr>
            </a:lvl2pPr>
            <a:lvl3pPr marL="1005840" indent="0" algn="just" defTabSz="1005840" rtl="0" eaLnBrk="1" latinLnBrk="0" hangingPunct="1">
              <a:lnSpc>
                <a:spcPct val="100000"/>
              </a:lnSpc>
              <a:spcBef>
                <a:spcPts val="550"/>
              </a:spcBef>
              <a:buFont typeface="Arial" panose="020B0604020202020204" pitchFamily="34" charset="0"/>
              <a:buNone/>
              <a:defRPr sz="1980" kern="1200">
                <a:solidFill>
                  <a:schemeClr val="tx1">
                    <a:tint val="75000"/>
                  </a:schemeClr>
                </a:solidFill>
                <a:latin typeface="+mn-lt"/>
                <a:ea typeface="+mn-ea"/>
                <a:cs typeface="+mn-cs"/>
              </a:defRPr>
            </a:lvl3pPr>
            <a:lvl4pPr marL="150876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4pPr>
            <a:lvl5pPr marL="201168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5pPr>
            <a:lvl6pPr marL="251460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6pPr>
            <a:lvl7pPr marL="301752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7pPr>
            <a:lvl8pPr marL="352044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8pPr>
            <a:lvl9pPr marL="402336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9pPr>
          </a:lstStyle>
          <a:p>
            <a:r>
              <a:rPr lang="en-US" sz="4000" dirty="0"/>
              <a:t>18-19</a:t>
            </a:r>
          </a:p>
          <a:p>
            <a:r>
              <a:rPr lang="en-US" sz="4000" dirty="0">
                <a:hlinkClick r:id="rId2"/>
              </a:rPr>
              <a:t>https://drive.google.com/open?id=17OUMNnX0kFDc9UB8tx8qd8zyEj7lCD5P</a:t>
            </a:r>
            <a:endParaRPr lang="en-US" sz="4000" dirty="0"/>
          </a:p>
          <a:p>
            <a:r>
              <a:rPr lang="en-US" sz="4000" dirty="0"/>
              <a:t>17-18</a:t>
            </a:r>
          </a:p>
          <a:p>
            <a:r>
              <a:rPr lang="en-US" sz="4000" dirty="0">
                <a:hlinkClick r:id="rId3"/>
              </a:rPr>
              <a:t>https://drive.google.com/open?id=1oFmw__qC7wdUP85gUkKbkohZvd9Vopm_</a:t>
            </a:r>
            <a:endParaRPr lang="en-US" sz="4000" dirty="0"/>
          </a:p>
          <a:p>
            <a:r>
              <a:rPr lang="en-US" sz="4000" dirty="0"/>
              <a:t>16-17</a:t>
            </a:r>
          </a:p>
          <a:p>
            <a:r>
              <a:rPr lang="en-US" sz="4000" dirty="0">
                <a:hlinkClick r:id="rId4"/>
              </a:rPr>
              <a:t>https://drive.google.com/open?id=1eDrOkj2wVsxdTZPb7-A78YuYn16HC1ob</a:t>
            </a:r>
            <a:endParaRPr lang="en-US" sz="4000" dirty="0"/>
          </a:p>
          <a:p>
            <a:r>
              <a:rPr lang="en-US" sz="4000" dirty="0"/>
              <a:t>15-16</a:t>
            </a:r>
          </a:p>
          <a:p>
            <a:r>
              <a:rPr lang="en-US" sz="4000" dirty="0">
                <a:hlinkClick r:id="rId5"/>
              </a:rPr>
              <a:t>https://drive.google.com/open?id=1ljNxmZP1_pl10rbxJvK6xB1ybG7AMuqU</a:t>
            </a:r>
            <a:endParaRPr lang="en-US" sz="4000" dirty="0"/>
          </a:p>
          <a:p>
            <a:r>
              <a:rPr lang="en-US" sz="4000" dirty="0"/>
              <a:t>14-15</a:t>
            </a:r>
          </a:p>
          <a:p>
            <a:r>
              <a:rPr lang="en-US" sz="4000" dirty="0">
                <a:hlinkClick r:id="rId6"/>
              </a:rPr>
              <a:t>https://drive.google.com/open?id=1tjERKPwEA9icWcQTBZQnKUq_ttqBDeo5</a:t>
            </a:r>
            <a:endParaRPr lang="en-US" sz="4000" dirty="0"/>
          </a:p>
          <a:p>
            <a:endParaRPr lang="en-US" dirty="0"/>
          </a:p>
        </p:txBody>
      </p:sp>
    </p:spTree>
    <p:extLst>
      <p:ext uri="{BB962C8B-B14F-4D97-AF65-F5344CB8AC3E}">
        <p14:creationId xmlns:p14="http://schemas.microsoft.com/office/powerpoint/2010/main" val="269550048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8E34929-B933-4908-BC4D-612CC56A3D6F}"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136</a:t>
            </a:fld>
            <a:endParaRPr lang="en-US"/>
          </a:p>
        </p:txBody>
      </p:sp>
      <p:sp>
        <p:nvSpPr>
          <p:cNvPr id="8" name="Title 1"/>
          <p:cNvSpPr>
            <a:spLocks noGrp="1"/>
          </p:cNvSpPr>
          <p:nvPr>
            <p:ph type="title"/>
          </p:nvPr>
        </p:nvSpPr>
        <p:spPr>
          <a:xfrm>
            <a:off x="1507948" y="1"/>
            <a:ext cx="8550452" cy="548640"/>
          </a:xfrm>
        </p:spPr>
        <p:txBody>
          <a:bodyPr>
            <a:normAutofit/>
          </a:bodyPr>
          <a:lstStyle/>
          <a:p>
            <a:pPr lvl="0">
              <a:defRPr/>
            </a:pPr>
            <a:r>
              <a:rPr lang="en-US" sz="3200" b="1" dirty="0"/>
              <a:t>Expected Questions for University Exam </a:t>
            </a:r>
            <a:endParaRPr lang="en-US" sz="3200" b="1" dirty="0">
              <a:solidFill>
                <a:schemeClr val="dk1"/>
              </a:solidFill>
            </a:endParaRPr>
          </a:p>
        </p:txBody>
      </p:sp>
      <p:sp>
        <p:nvSpPr>
          <p:cNvPr id="7" name="Content Placeholder 2"/>
          <p:cNvSpPr txBox="1">
            <a:spLocks/>
          </p:cNvSpPr>
          <p:nvPr/>
        </p:nvSpPr>
        <p:spPr>
          <a:xfrm>
            <a:off x="533400" y="1143000"/>
            <a:ext cx="8833486" cy="5478517"/>
          </a:xfrm>
          <a:prstGeom prst="rect">
            <a:avLst/>
          </a:prstGeom>
        </p:spPr>
        <p:txBody>
          <a:bodyPr vert="horz" wrap="square" lIns="91440" tIns="45720" rIns="91440" bIns="45720" rtlCol="0">
            <a:normAutofit/>
          </a:bodyPr>
          <a:lstStyle>
            <a:lvl1pPr marL="0" indent="0" algn="just" defTabSz="1005840" rtl="0" eaLnBrk="1" latinLnBrk="0" hangingPunct="1">
              <a:lnSpc>
                <a:spcPct val="100000"/>
              </a:lnSpc>
              <a:spcBef>
                <a:spcPts val="1100"/>
              </a:spcBef>
              <a:buFont typeface="Arial" panose="020B0604020202020204" pitchFamily="34" charset="0"/>
              <a:buNone/>
              <a:defRPr sz="2420" kern="1200">
                <a:solidFill>
                  <a:schemeClr val="tx1"/>
                </a:solidFill>
                <a:latin typeface="+mn-lt"/>
                <a:ea typeface="+mn-ea"/>
                <a:cs typeface="+mn-cs"/>
              </a:defRPr>
            </a:lvl1pPr>
            <a:lvl2pPr marL="502920" indent="0" algn="just" defTabSz="1005840" rtl="0" eaLnBrk="1" latinLnBrk="0" hangingPunct="1">
              <a:lnSpc>
                <a:spcPct val="100000"/>
              </a:lnSpc>
              <a:spcBef>
                <a:spcPts val="550"/>
              </a:spcBef>
              <a:buFont typeface="Arial" panose="020B0604020202020204" pitchFamily="34" charset="0"/>
              <a:buNone/>
              <a:defRPr sz="2200" kern="1200">
                <a:solidFill>
                  <a:schemeClr val="tx1">
                    <a:tint val="75000"/>
                  </a:schemeClr>
                </a:solidFill>
                <a:latin typeface="+mn-lt"/>
                <a:ea typeface="+mn-ea"/>
                <a:cs typeface="+mn-cs"/>
              </a:defRPr>
            </a:lvl2pPr>
            <a:lvl3pPr marL="1005840" indent="0" algn="just" defTabSz="1005840" rtl="0" eaLnBrk="1" latinLnBrk="0" hangingPunct="1">
              <a:lnSpc>
                <a:spcPct val="100000"/>
              </a:lnSpc>
              <a:spcBef>
                <a:spcPts val="550"/>
              </a:spcBef>
              <a:buFont typeface="Arial" panose="020B0604020202020204" pitchFamily="34" charset="0"/>
              <a:buNone/>
              <a:defRPr sz="1980" kern="1200">
                <a:solidFill>
                  <a:schemeClr val="tx1">
                    <a:tint val="75000"/>
                  </a:schemeClr>
                </a:solidFill>
                <a:latin typeface="+mn-lt"/>
                <a:ea typeface="+mn-ea"/>
                <a:cs typeface="+mn-cs"/>
              </a:defRPr>
            </a:lvl3pPr>
            <a:lvl4pPr marL="150876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4pPr>
            <a:lvl5pPr marL="201168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5pPr>
            <a:lvl6pPr marL="251460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6pPr>
            <a:lvl7pPr marL="301752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7pPr>
            <a:lvl8pPr marL="352044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8pPr>
            <a:lvl9pPr marL="402336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9pPr>
          </a:lstStyle>
          <a:p>
            <a:pPr marL="342900" indent="-342900">
              <a:buFont typeface="Arial" panose="020B0604020202020204" pitchFamily="34" charset="0"/>
              <a:buChar char="•"/>
            </a:pPr>
            <a:r>
              <a:rPr lang="en-US" dirty="0"/>
              <a:t>Explain the mail access protocols in brief</a:t>
            </a:r>
          </a:p>
          <a:p>
            <a:pPr marL="845820" lvl="1" indent="-342900">
              <a:buFont typeface="Arial" panose="020B0604020202020204" pitchFamily="34" charset="0"/>
              <a:buChar char="•"/>
            </a:pPr>
            <a:r>
              <a:rPr lang="en-US" dirty="0">
                <a:solidFill>
                  <a:schemeClr val="tx1"/>
                </a:solidFill>
              </a:rPr>
              <a:t>POP3</a:t>
            </a:r>
          </a:p>
          <a:p>
            <a:pPr marL="845820" lvl="1" indent="-342900">
              <a:buFont typeface="Arial" panose="020B0604020202020204" pitchFamily="34" charset="0"/>
              <a:buChar char="•"/>
            </a:pPr>
            <a:r>
              <a:rPr lang="en-US" dirty="0">
                <a:solidFill>
                  <a:schemeClr val="tx1"/>
                </a:solidFill>
              </a:rPr>
              <a:t>IMAP</a:t>
            </a:r>
          </a:p>
          <a:p>
            <a:pPr marL="845820" lvl="1" indent="-342900">
              <a:buFont typeface="Arial" panose="020B0604020202020204" pitchFamily="34" charset="0"/>
              <a:buChar char="•"/>
            </a:pPr>
            <a:r>
              <a:rPr lang="en-US" dirty="0">
                <a:solidFill>
                  <a:schemeClr val="tx1"/>
                </a:solidFill>
              </a:rPr>
              <a:t>SMTP</a:t>
            </a:r>
          </a:p>
          <a:p>
            <a:pPr marL="342900" indent="-342900">
              <a:buFont typeface="Arial" panose="020B0604020202020204" pitchFamily="34" charset="0"/>
              <a:buChar char="•"/>
            </a:pPr>
            <a:r>
              <a:rPr lang="en-US" dirty="0"/>
              <a:t>Write a short note on </a:t>
            </a:r>
          </a:p>
          <a:p>
            <a:pPr marL="845820" lvl="1" indent="-342900">
              <a:buFont typeface="Arial" panose="020B0604020202020204" pitchFamily="34" charset="0"/>
              <a:buChar char="•"/>
            </a:pPr>
            <a:r>
              <a:rPr lang="en-US" dirty="0">
                <a:solidFill>
                  <a:schemeClr val="tx1"/>
                </a:solidFill>
              </a:rPr>
              <a:t>FTP</a:t>
            </a:r>
          </a:p>
          <a:p>
            <a:pPr marL="845820" lvl="1" indent="-342900">
              <a:buFont typeface="Arial" panose="020B0604020202020204" pitchFamily="34" charset="0"/>
              <a:buChar char="•"/>
            </a:pPr>
            <a:r>
              <a:rPr lang="en-US" dirty="0">
                <a:solidFill>
                  <a:schemeClr val="tx1"/>
                </a:solidFill>
              </a:rPr>
              <a:t>DNS</a:t>
            </a:r>
          </a:p>
          <a:p>
            <a:pPr marL="845820" lvl="1" indent="-342900">
              <a:buFont typeface="Arial" panose="020B0604020202020204" pitchFamily="34" charset="0"/>
              <a:buChar char="•"/>
            </a:pPr>
            <a:r>
              <a:rPr lang="en-US" dirty="0">
                <a:solidFill>
                  <a:schemeClr val="tx1"/>
                </a:solidFill>
              </a:rPr>
              <a:t>MIME</a:t>
            </a:r>
          </a:p>
          <a:p>
            <a:pPr marL="342900" indent="-342900">
              <a:buFont typeface="Arial" panose="020B0604020202020204" pitchFamily="34" charset="0"/>
              <a:buChar char="•"/>
            </a:pPr>
            <a:r>
              <a:rPr lang="en-US" dirty="0"/>
              <a:t>Write about email architectures and services?</a:t>
            </a:r>
          </a:p>
          <a:p>
            <a:pPr marL="342900" indent="-342900">
              <a:buFont typeface="Arial" panose="020B0604020202020204" pitchFamily="34" charset="0"/>
              <a:buChar char="•"/>
            </a:pPr>
            <a:r>
              <a:rPr lang="en-US" dirty="0"/>
              <a:t>What is the difference between active web document and dynamic web page?</a:t>
            </a:r>
          </a:p>
          <a:p>
            <a:pPr marL="342900" indent="-342900">
              <a:buFont typeface="Arial" panose="020B0604020202020204" pitchFamily="34" charset="0"/>
              <a:buChar char="•"/>
            </a:pPr>
            <a:r>
              <a:rPr lang="en-US" dirty="0"/>
              <a:t>Explain the SMTP can handle transfer of videos and images.</a:t>
            </a:r>
          </a:p>
        </p:txBody>
      </p:sp>
    </p:spTree>
    <p:extLst>
      <p:ext uri="{BB962C8B-B14F-4D97-AF65-F5344CB8AC3E}">
        <p14:creationId xmlns:p14="http://schemas.microsoft.com/office/powerpoint/2010/main" val="120466331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6740" y="1371601"/>
            <a:ext cx="9052560" cy="4978559"/>
          </a:xfrm>
        </p:spPr>
        <p:txBody>
          <a:bodyPr>
            <a:normAutofit/>
          </a:bodyPr>
          <a:lstStyle/>
          <a:p>
            <a:pPr marL="0" indent="0">
              <a:buNone/>
            </a:pPr>
            <a:r>
              <a:rPr lang="en-US" dirty="0"/>
              <a:t>					</a:t>
            </a:r>
          </a:p>
        </p:txBody>
      </p:sp>
      <p:sp>
        <p:nvSpPr>
          <p:cNvPr id="4" name="Date Placeholder 3"/>
          <p:cNvSpPr>
            <a:spLocks noGrp="1"/>
          </p:cNvSpPr>
          <p:nvPr>
            <p:ph type="dt" sz="half" idx="10"/>
          </p:nvPr>
        </p:nvSpPr>
        <p:spPr/>
        <p:txBody>
          <a:bodyPr/>
          <a:lstStyle/>
          <a:p>
            <a:fld id="{DF6979D3-A489-4A47-ADD4-F3992CFF1558}"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137</a:t>
            </a:fld>
            <a:endParaRPr lang="en-US"/>
          </a:p>
        </p:txBody>
      </p:sp>
      <p:sp>
        <p:nvSpPr>
          <p:cNvPr id="7" name="Title 1"/>
          <p:cNvSpPr txBox="1">
            <a:spLocks/>
          </p:cNvSpPr>
          <p:nvPr/>
        </p:nvSpPr>
        <p:spPr>
          <a:xfrm>
            <a:off x="1508760" y="114302"/>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lvl="0" algn="ctr">
              <a:spcBef>
                <a:spcPct val="0"/>
              </a:spcBef>
              <a:defRPr/>
            </a:pPr>
            <a:r>
              <a:rPr lang="en-US" sz="2640" dirty="0"/>
              <a:t>Question paper of University Exam </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pic>
        <p:nvPicPr>
          <p:cNvPr id="2" name="Picture 1"/>
          <p:cNvPicPr>
            <a:picLocks noChangeAspect="1"/>
          </p:cNvPicPr>
          <p:nvPr/>
        </p:nvPicPr>
        <p:blipFill rotWithShape="1">
          <a:blip r:embed="rId3"/>
          <a:srcRect l="25988" t="19792" r="26574" b="17708"/>
          <a:stretch/>
        </p:blipFill>
        <p:spPr>
          <a:xfrm>
            <a:off x="1592580" y="1455419"/>
            <a:ext cx="7292340" cy="5401734"/>
          </a:xfrm>
          <a:prstGeom prst="rect">
            <a:avLst/>
          </a:prstGeom>
        </p:spPr>
      </p:pic>
    </p:spTree>
    <p:extLst>
      <p:ext uri="{BB962C8B-B14F-4D97-AF65-F5344CB8AC3E}">
        <p14:creationId xmlns:p14="http://schemas.microsoft.com/office/powerpoint/2010/main" val="6968243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6740" y="1371601"/>
            <a:ext cx="9052560" cy="4978559"/>
          </a:xfrm>
        </p:spPr>
        <p:txBody>
          <a:bodyPr>
            <a:normAutofit/>
          </a:bodyPr>
          <a:lstStyle/>
          <a:p>
            <a:pPr marL="0" indent="0">
              <a:buNone/>
            </a:pPr>
            <a:r>
              <a:rPr lang="en-US" dirty="0"/>
              <a:t>					</a:t>
            </a:r>
          </a:p>
        </p:txBody>
      </p:sp>
      <p:sp>
        <p:nvSpPr>
          <p:cNvPr id="4" name="Date Placeholder 3"/>
          <p:cNvSpPr>
            <a:spLocks noGrp="1"/>
          </p:cNvSpPr>
          <p:nvPr>
            <p:ph type="dt" sz="half" idx="10"/>
          </p:nvPr>
        </p:nvSpPr>
        <p:spPr/>
        <p:txBody>
          <a:bodyPr/>
          <a:lstStyle/>
          <a:p>
            <a:fld id="{5647694C-C873-4F5E-8039-26B6D51EE7F2}"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138</a:t>
            </a:fld>
            <a:endParaRPr lang="en-US"/>
          </a:p>
        </p:txBody>
      </p:sp>
      <p:sp>
        <p:nvSpPr>
          <p:cNvPr id="7" name="Title 1"/>
          <p:cNvSpPr txBox="1">
            <a:spLocks/>
          </p:cNvSpPr>
          <p:nvPr/>
        </p:nvSpPr>
        <p:spPr>
          <a:xfrm>
            <a:off x="1508760" y="114302"/>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lvl="0" algn="ctr">
              <a:spcBef>
                <a:spcPct val="0"/>
              </a:spcBef>
              <a:defRPr/>
            </a:pPr>
            <a:r>
              <a:rPr lang="en-US" sz="2640" dirty="0"/>
              <a:t>Question paper of University Exam </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pic>
        <p:nvPicPr>
          <p:cNvPr id="5" name="Picture 4"/>
          <p:cNvPicPr>
            <a:picLocks noChangeAspect="1"/>
          </p:cNvPicPr>
          <p:nvPr/>
        </p:nvPicPr>
        <p:blipFill rotWithShape="1">
          <a:blip r:embed="rId3"/>
          <a:srcRect l="25403" t="22917" r="26574" b="10417"/>
          <a:stretch/>
        </p:blipFill>
        <p:spPr>
          <a:xfrm>
            <a:off x="1508760" y="1363743"/>
            <a:ext cx="6873240" cy="5364480"/>
          </a:xfrm>
          <a:prstGeom prst="rect">
            <a:avLst/>
          </a:prstGeom>
        </p:spPr>
      </p:pic>
    </p:spTree>
    <p:extLst>
      <p:ext uri="{BB962C8B-B14F-4D97-AF65-F5344CB8AC3E}">
        <p14:creationId xmlns:p14="http://schemas.microsoft.com/office/powerpoint/2010/main" val="235961302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6740" y="1371601"/>
            <a:ext cx="9052560" cy="4978559"/>
          </a:xfrm>
        </p:spPr>
        <p:txBody>
          <a:bodyPr>
            <a:normAutofit/>
          </a:bodyPr>
          <a:lstStyle/>
          <a:p>
            <a:pPr marL="0" indent="0">
              <a:buNone/>
            </a:pPr>
            <a:r>
              <a:rPr lang="en-US" dirty="0"/>
              <a:t>					</a:t>
            </a:r>
          </a:p>
        </p:txBody>
      </p:sp>
      <p:sp>
        <p:nvSpPr>
          <p:cNvPr id="4" name="Date Placeholder 3"/>
          <p:cNvSpPr>
            <a:spLocks noGrp="1"/>
          </p:cNvSpPr>
          <p:nvPr>
            <p:ph type="dt" sz="half" idx="10"/>
          </p:nvPr>
        </p:nvSpPr>
        <p:spPr/>
        <p:txBody>
          <a:bodyPr/>
          <a:lstStyle/>
          <a:p>
            <a:fld id="{8DC3557A-1AAD-4713-9D2E-D7CA2F4B968D}"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139</a:t>
            </a:fld>
            <a:endParaRPr lang="en-US"/>
          </a:p>
        </p:txBody>
      </p:sp>
      <p:sp>
        <p:nvSpPr>
          <p:cNvPr id="7" name="Title 1"/>
          <p:cNvSpPr txBox="1">
            <a:spLocks/>
          </p:cNvSpPr>
          <p:nvPr/>
        </p:nvSpPr>
        <p:spPr>
          <a:xfrm>
            <a:off x="1508760" y="114302"/>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lvl="0" algn="ctr">
              <a:spcBef>
                <a:spcPct val="0"/>
              </a:spcBef>
              <a:defRPr/>
            </a:pPr>
            <a:r>
              <a:rPr lang="en-US" sz="2640" dirty="0"/>
              <a:t>Question paper of University Exam </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pic>
        <p:nvPicPr>
          <p:cNvPr id="2" name="Picture 1"/>
          <p:cNvPicPr>
            <a:picLocks noChangeAspect="1"/>
          </p:cNvPicPr>
          <p:nvPr/>
        </p:nvPicPr>
        <p:blipFill rotWithShape="1">
          <a:blip r:embed="rId3"/>
          <a:srcRect l="23159" t="22917" r="25988" b="25245"/>
          <a:stretch/>
        </p:blipFill>
        <p:spPr>
          <a:xfrm>
            <a:off x="1508760" y="1373961"/>
            <a:ext cx="8132489" cy="4660930"/>
          </a:xfrm>
          <a:prstGeom prst="rect">
            <a:avLst/>
          </a:prstGeom>
        </p:spPr>
      </p:pic>
    </p:spTree>
    <p:extLst>
      <p:ext uri="{BB962C8B-B14F-4D97-AF65-F5344CB8AC3E}">
        <p14:creationId xmlns:p14="http://schemas.microsoft.com/office/powerpoint/2010/main" val="210362290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6740" y="1371601"/>
            <a:ext cx="9052560" cy="4978559"/>
          </a:xfrm>
        </p:spPr>
        <p:txBody>
          <a:bodyPr>
            <a:normAutofit/>
          </a:bodyPr>
          <a:lstStyle/>
          <a:p>
            <a:pPr marL="0" indent="0">
              <a:buNone/>
            </a:pPr>
            <a:r>
              <a:rPr lang="en-US" dirty="0"/>
              <a:t>					</a:t>
            </a:r>
          </a:p>
        </p:txBody>
      </p:sp>
      <p:sp>
        <p:nvSpPr>
          <p:cNvPr id="4" name="Date Placeholder 3"/>
          <p:cNvSpPr>
            <a:spLocks noGrp="1"/>
          </p:cNvSpPr>
          <p:nvPr>
            <p:ph type="dt" sz="half" idx="10"/>
          </p:nvPr>
        </p:nvSpPr>
        <p:spPr/>
        <p:txBody>
          <a:bodyPr/>
          <a:lstStyle/>
          <a:p>
            <a:fld id="{A798CB27-8880-46EB-9EC4-D60DDD0C3E94}"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140</a:t>
            </a:fld>
            <a:endParaRPr lang="en-US"/>
          </a:p>
        </p:txBody>
      </p:sp>
      <p:sp>
        <p:nvSpPr>
          <p:cNvPr id="7" name="Title 1"/>
          <p:cNvSpPr txBox="1">
            <a:spLocks/>
          </p:cNvSpPr>
          <p:nvPr/>
        </p:nvSpPr>
        <p:spPr>
          <a:xfrm>
            <a:off x="1508760" y="114302"/>
            <a:ext cx="8549640" cy="75437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100584" tIns="50292" rIns="100584" bIns="50292" rtlCol="0" anchor="ctr">
            <a:noAutofit/>
          </a:bodyPr>
          <a:lstStyle/>
          <a:p>
            <a:pPr lvl="0" algn="ctr">
              <a:spcBef>
                <a:spcPct val="0"/>
              </a:spcBef>
              <a:defRPr/>
            </a:pPr>
            <a:r>
              <a:rPr lang="en-US" sz="2640" dirty="0"/>
              <a:t>Question paper of University Exam </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114301"/>
            <a:ext cx="1592580" cy="898879"/>
          </a:xfrm>
          <a:prstGeom prst="rect">
            <a:avLst/>
          </a:prstGeom>
          <a:noFill/>
        </p:spPr>
      </p:pic>
      <p:pic>
        <p:nvPicPr>
          <p:cNvPr id="5" name="Picture 4"/>
          <p:cNvPicPr>
            <a:picLocks noChangeAspect="1"/>
          </p:cNvPicPr>
          <p:nvPr/>
        </p:nvPicPr>
        <p:blipFill rotWithShape="1">
          <a:blip r:embed="rId3"/>
          <a:srcRect l="24231" t="40625" r="25988" b="27083"/>
          <a:stretch/>
        </p:blipFill>
        <p:spPr>
          <a:xfrm>
            <a:off x="1257300" y="2042160"/>
            <a:ext cx="7124700" cy="3185160"/>
          </a:xfrm>
          <a:prstGeom prst="rect">
            <a:avLst/>
          </a:prstGeom>
        </p:spPr>
      </p:pic>
    </p:spTree>
    <p:extLst>
      <p:ext uri="{BB962C8B-B14F-4D97-AF65-F5344CB8AC3E}">
        <p14:creationId xmlns:p14="http://schemas.microsoft.com/office/powerpoint/2010/main" val="406220935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1FBF59C-FED4-47FD-AEA4-002274585289}"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141</a:t>
            </a:fld>
            <a:endParaRPr lang="en-US"/>
          </a:p>
        </p:txBody>
      </p:sp>
      <p:sp>
        <p:nvSpPr>
          <p:cNvPr id="8" name="Title 1"/>
          <p:cNvSpPr>
            <a:spLocks noGrp="1"/>
          </p:cNvSpPr>
          <p:nvPr>
            <p:ph type="title"/>
          </p:nvPr>
        </p:nvSpPr>
        <p:spPr>
          <a:xfrm>
            <a:off x="1507948" y="1"/>
            <a:ext cx="8550452" cy="548640"/>
          </a:xfrm>
        </p:spPr>
        <p:txBody>
          <a:bodyPr>
            <a:normAutofit/>
          </a:bodyPr>
          <a:lstStyle/>
          <a:p>
            <a:pPr lvl="0">
              <a:defRPr/>
            </a:pPr>
            <a:r>
              <a:rPr lang="en-US" sz="3200" b="1" dirty="0"/>
              <a:t>Summary</a:t>
            </a:r>
            <a:endParaRPr lang="en-US" sz="3200" b="1" dirty="0">
              <a:solidFill>
                <a:schemeClr val="dk1"/>
              </a:solidFill>
            </a:endParaRPr>
          </a:p>
        </p:txBody>
      </p:sp>
      <p:sp>
        <p:nvSpPr>
          <p:cNvPr id="7" name="Content Placeholder 2"/>
          <p:cNvSpPr txBox="1">
            <a:spLocks/>
          </p:cNvSpPr>
          <p:nvPr/>
        </p:nvSpPr>
        <p:spPr>
          <a:xfrm>
            <a:off x="533400" y="1143000"/>
            <a:ext cx="8833486" cy="5478517"/>
          </a:xfrm>
          <a:prstGeom prst="rect">
            <a:avLst/>
          </a:prstGeom>
        </p:spPr>
        <p:txBody>
          <a:bodyPr vert="horz" wrap="square" lIns="91440" tIns="45720" rIns="91440" bIns="45720" rtlCol="0">
            <a:normAutofit/>
          </a:bodyPr>
          <a:lstStyle>
            <a:lvl1pPr marL="0" indent="0" algn="just" defTabSz="1005840" rtl="0" eaLnBrk="1" latinLnBrk="0" hangingPunct="1">
              <a:lnSpc>
                <a:spcPct val="100000"/>
              </a:lnSpc>
              <a:spcBef>
                <a:spcPts val="1100"/>
              </a:spcBef>
              <a:buFont typeface="Arial" panose="020B0604020202020204" pitchFamily="34" charset="0"/>
              <a:buNone/>
              <a:defRPr sz="2420" kern="1200">
                <a:solidFill>
                  <a:schemeClr val="tx1"/>
                </a:solidFill>
                <a:latin typeface="+mn-lt"/>
                <a:ea typeface="+mn-ea"/>
                <a:cs typeface="+mn-cs"/>
              </a:defRPr>
            </a:lvl1pPr>
            <a:lvl2pPr marL="502920" indent="0" algn="just" defTabSz="1005840" rtl="0" eaLnBrk="1" latinLnBrk="0" hangingPunct="1">
              <a:lnSpc>
                <a:spcPct val="100000"/>
              </a:lnSpc>
              <a:spcBef>
                <a:spcPts val="550"/>
              </a:spcBef>
              <a:buFont typeface="Arial" panose="020B0604020202020204" pitchFamily="34" charset="0"/>
              <a:buNone/>
              <a:defRPr sz="2200" kern="1200">
                <a:solidFill>
                  <a:schemeClr val="tx1">
                    <a:tint val="75000"/>
                  </a:schemeClr>
                </a:solidFill>
                <a:latin typeface="+mn-lt"/>
                <a:ea typeface="+mn-ea"/>
                <a:cs typeface="+mn-cs"/>
              </a:defRPr>
            </a:lvl2pPr>
            <a:lvl3pPr marL="1005840" indent="0" algn="just" defTabSz="1005840" rtl="0" eaLnBrk="1" latinLnBrk="0" hangingPunct="1">
              <a:lnSpc>
                <a:spcPct val="100000"/>
              </a:lnSpc>
              <a:spcBef>
                <a:spcPts val="550"/>
              </a:spcBef>
              <a:buFont typeface="Arial" panose="020B0604020202020204" pitchFamily="34" charset="0"/>
              <a:buNone/>
              <a:defRPr sz="1980" kern="1200">
                <a:solidFill>
                  <a:schemeClr val="tx1">
                    <a:tint val="75000"/>
                  </a:schemeClr>
                </a:solidFill>
                <a:latin typeface="+mn-lt"/>
                <a:ea typeface="+mn-ea"/>
                <a:cs typeface="+mn-cs"/>
              </a:defRPr>
            </a:lvl3pPr>
            <a:lvl4pPr marL="150876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4pPr>
            <a:lvl5pPr marL="201168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5pPr>
            <a:lvl6pPr marL="251460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6pPr>
            <a:lvl7pPr marL="301752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7pPr>
            <a:lvl8pPr marL="352044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8pPr>
            <a:lvl9pPr marL="402336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9pPr>
          </a:lstStyle>
          <a:p>
            <a:pPr marL="342900" indent="-342900">
              <a:buFont typeface="Arial" panose="020B0604020202020204" pitchFamily="34" charset="0"/>
              <a:buChar char="•"/>
            </a:pPr>
            <a:r>
              <a:rPr lang="en-US" dirty="0"/>
              <a:t>The application layer is a node to node communication</a:t>
            </a:r>
          </a:p>
          <a:p>
            <a:pPr marL="342900" indent="-342900">
              <a:buFont typeface="Arial" panose="020B0604020202020204" pitchFamily="34" charset="0"/>
              <a:buChar char="•"/>
            </a:pPr>
            <a:r>
              <a:rPr lang="en-US" dirty="0"/>
              <a:t>The services are at the application</a:t>
            </a:r>
          </a:p>
          <a:p>
            <a:pPr marL="342900" indent="-342900">
              <a:buFont typeface="Arial" panose="020B0604020202020204" pitchFamily="34" charset="0"/>
              <a:buChar char="•"/>
            </a:pPr>
            <a:r>
              <a:rPr lang="en-US" dirty="0"/>
              <a:t>Various application protocols work to support the services provided</a:t>
            </a:r>
          </a:p>
        </p:txBody>
      </p:sp>
    </p:spTree>
    <p:extLst>
      <p:ext uri="{BB962C8B-B14F-4D97-AF65-F5344CB8AC3E}">
        <p14:creationId xmlns:p14="http://schemas.microsoft.com/office/powerpoint/2010/main" val="367864897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42595DF-75EA-42EB-AA7F-71F6CCBFEBA6}"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142</a:t>
            </a:fld>
            <a:endParaRPr lang="en-US"/>
          </a:p>
        </p:txBody>
      </p:sp>
      <p:sp>
        <p:nvSpPr>
          <p:cNvPr id="8" name="Title 1"/>
          <p:cNvSpPr>
            <a:spLocks noGrp="1"/>
          </p:cNvSpPr>
          <p:nvPr>
            <p:ph type="title"/>
          </p:nvPr>
        </p:nvSpPr>
        <p:spPr>
          <a:xfrm>
            <a:off x="1507948" y="1"/>
            <a:ext cx="8550452" cy="548640"/>
          </a:xfrm>
        </p:spPr>
        <p:txBody>
          <a:bodyPr>
            <a:normAutofit/>
          </a:bodyPr>
          <a:lstStyle/>
          <a:p>
            <a:pPr lvl="0">
              <a:defRPr/>
            </a:pPr>
            <a:r>
              <a:rPr lang="en-US" sz="3200" b="1" dirty="0"/>
              <a:t>References</a:t>
            </a:r>
            <a:endParaRPr lang="en-US" sz="3200" b="1" dirty="0">
              <a:solidFill>
                <a:schemeClr val="dk1"/>
              </a:solidFill>
            </a:endParaRPr>
          </a:p>
        </p:txBody>
      </p:sp>
      <p:sp>
        <p:nvSpPr>
          <p:cNvPr id="7" name="Content Placeholder 2"/>
          <p:cNvSpPr txBox="1">
            <a:spLocks/>
          </p:cNvSpPr>
          <p:nvPr/>
        </p:nvSpPr>
        <p:spPr>
          <a:xfrm>
            <a:off x="533400" y="1143000"/>
            <a:ext cx="8833486" cy="5478517"/>
          </a:xfrm>
          <a:prstGeom prst="rect">
            <a:avLst/>
          </a:prstGeom>
        </p:spPr>
        <p:txBody>
          <a:bodyPr vert="horz" wrap="square" lIns="91440" tIns="45720" rIns="91440" bIns="45720" rtlCol="0">
            <a:normAutofit/>
          </a:bodyPr>
          <a:lstStyle>
            <a:lvl1pPr marL="0" indent="0" algn="just" defTabSz="1005840" rtl="0" eaLnBrk="1" latinLnBrk="0" hangingPunct="1">
              <a:lnSpc>
                <a:spcPct val="100000"/>
              </a:lnSpc>
              <a:spcBef>
                <a:spcPts val="1100"/>
              </a:spcBef>
              <a:buFont typeface="Arial" panose="020B0604020202020204" pitchFamily="34" charset="0"/>
              <a:buNone/>
              <a:defRPr sz="2420" kern="1200">
                <a:solidFill>
                  <a:schemeClr val="tx1"/>
                </a:solidFill>
                <a:latin typeface="+mn-lt"/>
                <a:ea typeface="+mn-ea"/>
                <a:cs typeface="+mn-cs"/>
              </a:defRPr>
            </a:lvl1pPr>
            <a:lvl2pPr marL="502920" indent="0" algn="just" defTabSz="1005840" rtl="0" eaLnBrk="1" latinLnBrk="0" hangingPunct="1">
              <a:lnSpc>
                <a:spcPct val="100000"/>
              </a:lnSpc>
              <a:spcBef>
                <a:spcPts val="550"/>
              </a:spcBef>
              <a:buFont typeface="Arial" panose="020B0604020202020204" pitchFamily="34" charset="0"/>
              <a:buNone/>
              <a:defRPr sz="2200" kern="1200">
                <a:solidFill>
                  <a:schemeClr val="tx1">
                    <a:tint val="75000"/>
                  </a:schemeClr>
                </a:solidFill>
                <a:latin typeface="+mn-lt"/>
                <a:ea typeface="+mn-ea"/>
                <a:cs typeface="+mn-cs"/>
              </a:defRPr>
            </a:lvl2pPr>
            <a:lvl3pPr marL="1005840" indent="0" algn="just" defTabSz="1005840" rtl="0" eaLnBrk="1" latinLnBrk="0" hangingPunct="1">
              <a:lnSpc>
                <a:spcPct val="100000"/>
              </a:lnSpc>
              <a:spcBef>
                <a:spcPts val="550"/>
              </a:spcBef>
              <a:buFont typeface="Arial" panose="020B0604020202020204" pitchFamily="34" charset="0"/>
              <a:buNone/>
              <a:defRPr sz="1980" kern="1200">
                <a:solidFill>
                  <a:schemeClr val="tx1">
                    <a:tint val="75000"/>
                  </a:schemeClr>
                </a:solidFill>
                <a:latin typeface="+mn-lt"/>
                <a:ea typeface="+mn-ea"/>
                <a:cs typeface="+mn-cs"/>
              </a:defRPr>
            </a:lvl3pPr>
            <a:lvl4pPr marL="150876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4pPr>
            <a:lvl5pPr marL="201168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5pPr>
            <a:lvl6pPr marL="251460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6pPr>
            <a:lvl7pPr marL="301752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7pPr>
            <a:lvl8pPr marL="352044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8pPr>
            <a:lvl9pPr marL="402336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9pPr>
          </a:lstStyle>
          <a:p>
            <a:pPr marL="457200" indent="-457200">
              <a:buFont typeface="+mj-lt"/>
              <a:buAutoNum type="arabicPeriod"/>
            </a:pPr>
            <a:r>
              <a:rPr lang="en-US" dirty="0" err="1"/>
              <a:t>Forouzen</a:t>
            </a:r>
            <a:r>
              <a:rPr lang="en-US" dirty="0"/>
              <a:t>, "Data Communication and Networking", TMH  </a:t>
            </a:r>
          </a:p>
          <a:p>
            <a:r>
              <a:rPr lang="en-US" dirty="0"/>
              <a:t>2. A.S. Tanenbaum, Computer Networks, Pearson Education  </a:t>
            </a:r>
          </a:p>
          <a:p>
            <a:r>
              <a:rPr lang="en-US" dirty="0"/>
              <a:t>3. W. Stallings, Data and Computer Communication, Macmillan Press </a:t>
            </a:r>
          </a:p>
          <a:p>
            <a:r>
              <a:rPr lang="en-US" dirty="0"/>
              <a:t>4. Gary </a:t>
            </a:r>
            <a:r>
              <a:rPr lang="en-US" dirty="0" err="1"/>
              <a:t>R.Wright,W.Richard</a:t>
            </a:r>
            <a:r>
              <a:rPr lang="en-US" dirty="0"/>
              <a:t> Stevens "TCP/IP Illustrated,Volume2 The Implementation" Addison-Wesley  </a:t>
            </a:r>
          </a:p>
          <a:p>
            <a:r>
              <a:rPr lang="en-US" dirty="0"/>
              <a:t>5. Michael A. Gallo and William M. Hancock "Computer </a:t>
            </a:r>
            <a:r>
              <a:rPr lang="en-US" dirty="0" err="1"/>
              <a:t>communucation</a:t>
            </a:r>
            <a:r>
              <a:rPr lang="en-US" dirty="0"/>
              <a:t> and Networking Technology" Cengage Learning </a:t>
            </a:r>
          </a:p>
          <a:p>
            <a:r>
              <a:rPr lang="en-US" dirty="0"/>
              <a:t> 6. </a:t>
            </a:r>
            <a:r>
              <a:rPr lang="en-US" dirty="0" err="1"/>
              <a:t>Bhavneet</a:t>
            </a:r>
            <a:r>
              <a:rPr lang="en-US" dirty="0"/>
              <a:t> Sidhu, An Integrated approach to Computer Networks, Khanna Publishing House </a:t>
            </a:r>
          </a:p>
          <a:p>
            <a:r>
              <a:rPr lang="en-US" dirty="0"/>
              <a:t>7. </a:t>
            </a:r>
            <a:r>
              <a:rPr lang="en-US" dirty="0" err="1"/>
              <a:t>Anuranjan</a:t>
            </a:r>
            <a:r>
              <a:rPr lang="en-US" dirty="0"/>
              <a:t> </a:t>
            </a:r>
            <a:r>
              <a:rPr lang="en-US" dirty="0" err="1"/>
              <a:t>Misra</a:t>
            </a:r>
            <a:r>
              <a:rPr lang="en-US" dirty="0"/>
              <a:t>, “Computer Networks”, Acme Learning  </a:t>
            </a:r>
          </a:p>
          <a:p>
            <a:r>
              <a:rPr lang="en-US" dirty="0"/>
              <a:t>8.  G. </a:t>
            </a:r>
            <a:r>
              <a:rPr lang="en-US" dirty="0" err="1"/>
              <a:t>Shanmugarathinam</a:t>
            </a:r>
            <a:r>
              <a:rPr lang="en-US" dirty="0"/>
              <a:t>, ”Essential of TCP/ IP”, Firewall Media</a:t>
            </a:r>
          </a:p>
        </p:txBody>
      </p:sp>
    </p:spTree>
    <p:extLst>
      <p:ext uri="{BB962C8B-B14F-4D97-AF65-F5344CB8AC3E}">
        <p14:creationId xmlns:p14="http://schemas.microsoft.com/office/powerpoint/2010/main" val="160052854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481FA6F-76B8-45BC-BB03-EEB98419A891}"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143</a:t>
            </a:fld>
            <a:endParaRPr lang="en-US"/>
          </a:p>
        </p:txBody>
      </p:sp>
      <p:sp>
        <p:nvSpPr>
          <p:cNvPr id="9" name="Title 1"/>
          <p:cNvSpPr txBox="1">
            <a:spLocks/>
          </p:cNvSpPr>
          <p:nvPr/>
        </p:nvSpPr>
        <p:spPr>
          <a:xfrm>
            <a:off x="1507948" y="0"/>
            <a:ext cx="8550452" cy="784860"/>
          </a:xfrm>
          <a:prstGeom prst="rect">
            <a:avLst/>
          </a:prstGeom>
          <a:solidFill>
            <a:srgbClr val="B7EEFF"/>
          </a:solidFill>
        </p:spPr>
        <p:txBody>
          <a:bodyPr vert="horz" wrap="square" lIns="91440" tIns="45720" rIns="91440" bIns="45720" rtlCol="0" anchor="ctr">
            <a:normAutofit fontScale="92500" lnSpcReduction="20000"/>
          </a:bodyPr>
          <a:lstStyle>
            <a:lvl1pPr algn="ctr" defTabSz="100584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a:t>Noida Institute of Engineering and Technology, Greater Noida</a:t>
            </a:r>
            <a:endParaRPr lang="en-US" sz="3200" dirty="0"/>
          </a:p>
        </p:txBody>
      </p:sp>
      <p:sp>
        <p:nvSpPr>
          <p:cNvPr id="10" name="Content Placeholder 8"/>
          <p:cNvSpPr txBox="1">
            <a:spLocks/>
          </p:cNvSpPr>
          <p:nvPr/>
        </p:nvSpPr>
        <p:spPr>
          <a:xfrm>
            <a:off x="2745692" y="1143000"/>
            <a:ext cx="3805016" cy="2326791"/>
          </a:xfrm>
          <a:prstGeom prst="rect">
            <a:avLst/>
          </a:prstGeom>
          <a:noFill/>
        </p:spPr>
        <p:txBody>
          <a:bodyPr vert="horz" wrap="none" lIns="91440" tIns="45720" rIns="91440" bIns="45720" rtlCol="0">
            <a:spAutoFit/>
          </a:bodyPr>
          <a:lstStyle>
            <a:lvl1pPr marL="0" indent="0" algn="just" defTabSz="1005840" rtl="0" eaLnBrk="1" latinLnBrk="0" hangingPunct="1">
              <a:lnSpc>
                <a:spcPct val="100000"/>
              </a:lnSpc>
              <a:spcBef>
                <a:spcPts val="1100"/>
              </a:spcBef>
              <a:buFont typeface="Arial" panose="020B0604020202020204" pitchFamily="34" charset="0"/>
              <a:buNone/>
              <a:defRPr sz="2420" kern="1200">
                <a:solidFill>
                  <a:schemeClr val="tx1"/>
                </a:solidFill>
                <a:latin typeface="+mn-lt"/>
                <a:ea typeface="+mn-ea"/>
                <a:cs typeface="+mn-cs"/>
              </a:defRPr>
            </a:lvl1pPr>
            <a:lvl2pPr marL="502920" indent="0" algn="just" defTabSz="1005840" rtl="0" eaLnBrk="1" latinLnBrk="0" hangingPunct="1">
              <a:lnSpc>
                <a:spcPct val="100000"/>
              </a:lnSpc>
              <a:spcBef>
                <a:spcPts val="550"/>
              </a:spcBef>
              <a:buFont typeface="Arial" panose="020B0604020202020204" pitchFamily="34" charset="0"/>
              <a:buNone/>
              <a:defRPr sz="2200" kern="1200">
                <a:solidFill>
                  <a:schemeClr val="tx1">
                    <a:tint val="75000"/>
                  </a:schemeClr>
                </a:solidFill>
                <a:latin typeface="+mn-lt"/>
                <a:ea typeface="+mn-ea"/>
                <a:cs typeface="+mn-cs"/>
              </a:defRPr>
            </a:lvl2pPr>
            <a:lvl3pPr marL="1005840" indent="0" algn="just" defTabSz="1005840" rtl="0" eaLnBrk="1" latinLnBrk="0" hangingPunct="1">
              <a:lnSpc>
                <a:spcPct val="100000"/>
              </a:lnSpc>
              <a:spcBef>
                <a:spcPts val="550"/>
              </a:spcBef>
              <a:buFont typeface="Arial" panose="020B0604020202020204" pitchFamily="34" charset="0"/>
              <a:buNone/>
              <a:defRPr sz="1980" kern="1200">
                <a:solidFill>
                  <a:schemeClr val="tx1">
                    <a:tint val="75000"/>
                  </a:schemeClr>
                </a:solidFill>
                <a:latin typeface="+mn-lt"/>
                <a:ea typeface="+mn-ea"/>
                <a:cs typeface="+mn-cs"/>
              </a:defRPr>
            </a:lvl3pPr>
            <a:lvl4pPr marL="150876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4pPr>
            <a:lvl5pPr marL="2011680" indent="0" algn="just" defTabSz="1005840" rtl="0" eaLnBrk="1" latinLnBrk="0" hangingPunct="1">
              <a:lnSpc>
                <a:spcPct val="100000"/>
              </a:lnSpc>
              <a:spcBef>
                <a:spcPts val="550"/>
              </a:spcBef>
              <a:buFont typeface="Arial" panose="020B0604020202020204" pitchFamily="34" charset="0"/>
              <a:buNone/>
              <a:defRPr sz="1760" kern="1200">
                <a:solidFill>
                  <a:schemeClr val="tx1">
                    <a:tint val="75000"/>
                  </a:schemeClr>
                </a:solidFill>
                <a:latin typeface="+mn-lt"/>
                <a:ea typeface="+mn-ea"/>
                <a:cs typeface="+mn-cs"/>
              </a:defRPr>
            </a:lvl5pPr>
            <a:lvl6pPr marL="251460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6pPr>
            <a:lvl7pPr marL="301752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7pPr>
            <a:lvl8pPr marL="352044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8pPr>
            <a:lvl9pPr marL="4023360" indent="0" algn="l" defTabSz="1005840" rtl="0" eaLnBrk="1" latinLnBrk="0" hangingPunct="1">
              <a:lnSpc>
                <a:spcPct val="90000"/>
              </a:lnSpc>
              <a:spcBef>
                <a:spcPts val="550"/>
              </a:spcBef>
              <a:buFont typeface="Arial" panose="020B0604020202020204" pitchFamily="34" charset="0"/>
              <a:buNone/>
              <a:defRPr sz="1760" kern="1200">
                <a:solidFill>
                  <a:schemeClr val="tx1">
                    <a:tint val="75000"/>
                  </a:schemeClr>
                </a:solidFill>
                <a:latin typeface="+mn-lt"/>
                <a:ea typeface="+mn-ea"/>
                <a:cs typeface="+mn-cs"/>
              </a:defRPr>
            </a:lvl9pPr>
          </a:lstStyle>
          <a:p>
            <a:pPr algn="ctr"/>
            <a:endParaRPr lang="en-US" sz="6600" b="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r>
              <a:rPr lang="en-US" sz="6600" b="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extLst>
      <p:ext uri="{BB962C8B-B14F-4D97-AF65-F5344CB8AC3E}">
        <p14:creationId xmlns:p14="http://schemas.microsoft.com/office/powerpoint/2010/main" val="1708336754"/>
      </p:ext>
    </p:extLst>
  </p:cSld>
  <p:clrMapOvr>
    <a:masterClrMapping/>
  </p:clrMapOvr>
</p:sld>
</file>

<file path=ppt/theme/theme1.xml><?xml version="1.0" encoding="utf-8"?>
<a:theme xmlns:a="http://schemas.openxmlformats.org/drawingml/2006/main" name="NIET_final1">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IET_final2.potx" id="{F3F377D2-ACB7-48B1-BCFA-69D924E9EEAF}" vid="{C332034F-43DA-4BDA-A9B2-769A4F6440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NIET_final2</Template>
  <TotalTime>246</TotalTime>
  <Words>13868</Words>
  <Application>Microsoft Office PowerPoint</Application>
  <PresentationFormat>Custom</PresentationFormat>
  <Paragraphs>1439</Paragraphs>
  <Slides>143</Slides>
  <Notes>4</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143</vt:i4>
      </vt:variant>
    </vt:vector>
  </HeadingPairs>
  <TitlesOfParts>
    <vt:vector size="154" baseType="lpstr">
      <vt:lpstr>Arial</vt:lpstr>
      <vt:lpstr>Calibri</vt:lpstr>
      <vt:lpstr>Cambria</vt:lpstr>
      <vt:lpstr>Courier New</vt:lpstr>
      <vt:lpstr>Georgia</vt:lpstr>
      <vt:lpstr>Helvetica Neue</vt:lpstr>
      <vt:lpstr>Sylfaen</vt:lpstr>
      <vt:lpstr>Times New Roman</vt:lpstr>
      <vt:lpstr>Trebuchet MS</vt:lpstr>
      <vt:lpstr>Wingdings</vt:lpstr>
      <vt:lpstr>NIET_final1</vt:lpstr>
      <vt:lpstr>PowerPoint Presentation</vt:lpstr>
      <vt:lpstr>TABLE OF CONTENTS</vt:lpstr>
      <vt:lpstr>TABLE OF CONTENTS</vt:lpstr>
      <vt:lpstr>TABLE OF CONTENTS</vt:lpstr>
      <vt:lpstr>Evaluation Scheme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Course Objective / Unit Objective</vt:lpstr>
      <vt:lpstr>Topic Objective - Application Layer ( CO1)</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APPLICATION LAYER - OSI MODEL</vt:lpstr>
      <vt:lpstr>Topic Objective &amp; recap of previous Topic</vt:lpstr>
      <vt:lpstr>APPLICATION PROTOCOLS (CO3)</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APPLICATION PROTOCOLS</vt:lpstr>
      <vt:lpstr>APPENDIX</vt:lpstr>
      <vt:lpstr>APPENDIX</vt:lpstr>
      <vt:lpstr>APPENDIX</vt:lpstr>
      <vt:lpstr>APPENDIX</vt:lpstr>
      <vt:lpstr>APPENDIX</vt:lpstr>
      <vt:lpstr>APPENDIX</vt:lpstr>
      <vt:lpstr>APPENDIX</vt:lpstr>
      <vt:lpstr>APPENDIX</vt:lpstr>
      <vt:lpstr>Faculty Video Links, Youtube &amp; NPTEL Video Links and Online Courses Details  </vt:lpstr>
      <vt:lpstr>Glossary Questions</vt:lpstr>
      <vt:lpstr>Weekly Assignment</vt:lpstr>
      <vt:lpstr>MCQ</vt:lpstr>
      <vt:lpstr>MCQ</vt:lpstr>
      <vt:lpstr>MCQ</vt:lpstr>
      <vt:lpstr>MCQ</vt:lpstr>
      <vt:lpstr>Old Question Papers</vt:lpstr>
      <vt:lpstr>Expected Questions for University Exam </vt:lpstr>
      <vt:lpstr>PowerPoint Presentation</vt:lpstr>
      <vt:lpstr>PowerPoint Presentation</vt:lpstr>
      <vt:lpstr>PowerPoint Presentation</vt:lpstr>
      <vt:lpstr>PowerPoint Presentation</vt:lpstr>
      <vt:lpstr>Summary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Kumud Sinha</dc:creator>
  <cp:keywords/>
  <cp:lastModifiedBy>Tamanna</cp:lastModifiedBy>
  <cp:revision>36</cp:revision>
  <dcterms:modified xsi:type="dcterms:W3CDTF">2022-04-29T15:57:11Z</dcterms:modified>
</cp:coreProperties>
</file>