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 id="2147483714" r:id="rId2"/>
  </p:sldMasterIdLst>
  <p:notesMasterIdLst>
    <p:notesMasterId r:id="rId99"/>
  </p:notesMasterIdLst>
  <p:sldIdLst>
    <p:sldId id="326" r:id="rId3"/>
    <p:sldId id="335" r:id="rId4"/>
    <p:sldId id="345" r:id="rId5"/>
    <p:sldId id="346" r:id="rId6"/>
    <p:sldId id="577" r:id="rId7"/>
    <p:sldId id="347" r:id="rId8"/>
    <p:sldId id="546" r:id="rId9"/>
    <p:sldId id="547" r:id="rId10"/>
    <p:sldId id="549" r:id="rId11"/>
    <p:sldId id="550" r:id="rId12"/>
    <p:sldId id="578" r:id="rId13"/>
    <p:sldId id="552" r:id="rId14"/>
    <p:sldId id="564" r:id="rId15"/>
    <p:sldId id="565" r:id="rId16"/>
    <p:sldId id="555" r:id="rId17"/>
    <p:sldId id="327" r:id="rId18"/>
    <p:sldId id="566" r:id="rId19"/>
    <p:sldId id="579" r:id="rId20"/>
    <p:sldId id="575" r:id="rId21"/>
    <p:sldId id="576" r:id="rId22"/>
    <p:sldId id="567" r:id="rId23"/>
    <p:sldId id="562" r:id="rId24"/>
    <p:sldId id="568" r:id="rId25"/>
    <p:sldId id="328" r:id="rId26"/>
    <p:sldId id="331" r:id="rId27"/>
    <p:sldId id="332" r:id="rId28"/>
    <p:sldId id="263" r:id="rId29"/>
    <p:sldId id="257" r:id="rId30"/>
    <p:sldId id="258" r:id="rId31"/>
    <p:sldId id="259" r:id="rId32"/>
    <p:sldId id="260" r:id="rId33"/>
    <p:sldId id="265" r:id="rId34"/>
    <p:sldId id="264" r:id="rId35"/>
    <p:sldId id="569" r:id="rId36"/>
    <p:sldId id="261" r:id="rId37"/>
    <p:sldId id="570" r:id="rId38"/>
    <p:sldId id="266" r:id="rId39"/>
    <p:sldId id="267" r:id="rId40"/>
    <p:sldId id="268" r:id="rId41"/>
    <p:sldId id="269" r:id="rId42"/>
    <p:sldId id="270" r:id="rId43"/>
    <p:sldId id="571" r:id="rId44"/>
    <p:sldId id="271" r:id="rId45"/>
    <p:sldId id="272" r:id="rId46"/>
    <p:sldId id="273" r:id="rId47"/>
    <p:sldId id="274" r:id="rId48"/>
    <p:sldId id="275" r:id="rId49"/>
    <p:sldId id="276" r:id="rId50"/>
    <p:sldId id="277" r:id="rId51"/>
    <p:sldId id="278" r:id="rId52"/>
    <p:sldId id="279" r:id="rId53"/>
    <p:sldId id="280" r:id="rId54"/>
    <p:sldId id="281" r:id="rId55"/>
    <p:sldId id="282" r:id="rId56"/>
    <p:sldId id="283" r:id="rId57"/>
    <p:sldId id="284" r:id="rId58"/>
    <p:sldId id="285" r:id="rId59"/>
    <p:sldId id="286" r:id="rId60"/>
    <p:sldId id="287" r:id="rId61"/>
    <p:sldId id="288" r:id="rId62"/>
    <p:sldId id="289" r:id="rId63"/>
    <p:sldId id="572" r:id="rId64"/>
    <p:sldId id="291" r:id="rId65"/>
    <p:sldId id="292" r:id="rId66"/>
    <p:sldId id="293" r:id="rId67"/>
    <p:sldId id="294" r:id="rId68"/>
    <p:sldId id="296" r:id="rId69"/>
    <p:sldId id="297" r:id="rId70"/>
    <p:sldId id="298" r:id="rId71"/>
    <p:sldId id="299" r:id="rId72"/>
    <p:sldId id="300" r:id="rId73"/>
    <p:sldId id="301" r:id="rId74"/>
    <p:sldId id="302" r:id="rId75"/>
    <p:sldId id="573" r:id="rId76"/>
    <p:sldId id="304" r:id="rId77"/>
    <p:sldId id="305" r:id="rId78"/>
    <p:sldId id="306" r:id="rId79"/>
    <p:sldId id="307" r:id="rId80"/>
    <p:sldId id="308" r:id="rId81"/>
    <p:sldId id="309" r:id="rId82"/>
    <p:sldId id="310" r:id="rId83"/>
    <p:sldId id="311" r:id="rId84"/>
    <p:sldId id="313" r:id="rId85"/>
    <p:sldId id="314" r:id="rId86"/>
    <p:sldId id="315" r:id="rId87"/>
    <p:sldId id="316" r:id="rId88"/>
    <p:sldId id="321" r:id="rId89"/>
    <p:sldId id="317" r:id="rId90"/>
    <p:sldId id="318" r:id="rId91"/>
    <p:sldId id="319" r:id="rId92"/>
    <p:sldId id="320" r:id="rId93"/>
    <p:sldId id="574" r:id="rId94"/>
    <p:sldId id="322" r:id="rId95"/>
    <p:sldId id="580" r:id="rId96"/>
    <p:sldId id="323" r:id="rId97"/>
    <p:sldId id="324"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74" d="100"/>
          <a:sy n="74" d="100"/>
        </p:scale>
        <p:origin x="53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BC6F49-2220-48F7-ACD6-C74E894D2205}" type="datetimeFigureOut">
              <a:rPr lang="en-US" smtClean="0"/>
              <a:t>3/9/2022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9EED9F-FBD5-47D8-8CB6-D2654FFE4C69}" type="slidenum">
              <a:rPr lang="en-US" smtClean="0"/>
              <a:t>‹#›</a:t>
            </a:fld>
            <a:endParaRPr lang="en-US"/>
          </a:p>
        </p:txBody>
      </p:sp>
    </p:spTree>
    <p:extLst>
      <p:ext uri="{BB962C8B-B14F-4D97-AF65-F5344CB8AC3E}">
        <p14:creationId xmlns:p14="http://schemas.microsoft.com/office/powerpoint/2010/main" val="3912803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3204163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89EED9F-FBD5-47D8-8CB6-D2654FFE4C69}" type="slidenum">
              <a:rPr lang="en-US" smtClean="0"/>
              <a:t>28</a:t>
            </a:fld>
            <a:endParaRPr lang="en-US"/>
          </a:p>
        </p:txBody>
      </p:sp>
    </p:spTree>
    <p:extLst>
      <p:ext uri="{BB962C8B-B14F-4D97-AF65-F5344CB8AC3E}">
        <p14:creationId xmlns:p14="http://schemas.microsoft.com/office/powerpoint/2010/main" val="655388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30B584C-5FCD-4ABF-92D9-BF52BB937902}" type="datetime1">
              <a:rPr lang="en-US" smtClean="0"/>
              <a:t>3/9/2022</a:t>
            </a:fld>
            <a:endParaRPr lang="en-US"/>
          </a:p>
        </p:txBody>
      </p:sp>
      <p:sp>
        <p:nvSpPr>
          <p:cNvPr id="5" name="Footer Placeholder 4"/>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1864021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265647-2CE2-4D2B-ADCE-45D4D7F9FFA9}" type="datetime1">
              <a:rPr lang="en-US" smtClean="0"/>
              <a:t>3/9/2022</a:t>
            </a:fld>
            <a:endParaRPr lang="en-US"/>
          </a:p>
        </p:txBody>
      </p:sp>
      <p:sp>
        <p:nvSpPr>
          <p:cNvPr id="5" name="Footer Placeholder 4"/>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133008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A6FBAB-E681-440D-8190-785C7684E61E}" type="datetime1">
              <a:rPr lang="en-US" smtClean="0"/>
              <a:t>3/9/2022</a:t>
            </a:fld>
            <a:endParaRPr lang="en-US"/>
          </a:p>
        </p:txBody>
      </p:sp>
      <p:sp>
        <p:nvSpPr>
          <p:cNvPr id="5" name="Footer Placeholder 4"/>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4038786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5"/>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E508A4-D2B3-44A7-BC5E-D6C122ECBFAF}"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1395294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3C501CC-D74B-4DC3-A3FD-DA20B9D45661}" type="datetime1">
              <a:rPr lang="en-US" smtClean="0"/>
              <a:t>3/9/2022</a:t>
            </a:fld>
            <a:endParaRPr lang="en-US"/>
          </a:p>
        </p:txBody>
      </p:sp>
      <p:sp>
        <p:nvSpPr>
          <p:cNvPr id="8" name="Footer Placeholder 7"/>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9" name="Slide Number Placeholder 8"/>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3312863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A36B6D-A51F-4D32-9B5A-2B160030DC58}" type="datetime1">
              <a:rPr lang="en-US" smtClean="0"/>
              <a:t>3/9/2022</a:t>
            </a:fld>
            <a:endParaRPr lang="en-US"/>
          </a:p>
        </p:txBody>
      </p:sp>
      <p:sp>
        <p:nvSpPr>
          <p:cNvPr id="4" name="Footer Placeholder 3"/>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5" name="Slide Number Placeholder 4"/>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3863961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2903DA-A805-4F12-ABC3-9043C194CDE8}" type="datetime1">
              <a:rPr lang="en-US" smtClean="0"/>
              <a:t>3/9/2022</a:t>
            </a:fld>
            <a:endParaRPr lang="en-US"/>
          </a:p>
        </p:txBody>
      </p:sp>
      <p:sp>
        <p:nvSpPr>
          <p:cNvPr id="3" name="Footer Placeholder 2"/>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4" name="Slide Number Placeholder 3"/>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113634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23BBF7-3510-4206-916C-65CF0D243D5D}"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7982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0E254D-71A0-44BC-A8D6-645CC77BBCEF}"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4193139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D5FB7D-DBDC-4BBA-8D39-C76CDA1B1503}" type="datetime1">
              <a:rPr lang="en-US" smtClean="0"/>
              <a:t>3/9/2022</a:t>
            </a:fld>
            <a:endParaRPr lang="en-US"/>
          </a:p>
        </p:txBody>
      </p:sp>
      <p:sp>
        <p:nvSpPr>
          <p:cNvPr id="5" name="Footer Placeholder 4"/>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341687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3"/>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3"/>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AFEAF6-F3FE-41C5-8A7F-4D98301333EB}" type="datetime1">
              <a:rPr lang="en-US" smtClean="0"/>
              <a:t>3/9/2022</a:t>
            </a:fld>
            <a:endParaRPr lang="en-US"/>
          </a:p>
        </p:txBody>
      </p:sp>
      <p:sp>
        <p:nvSpPr>
          <p:cNvPr id="5" name="Footer Placeholder 4"/>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DBDACD18-336C-42D7-ADE1-1F851DD7A482}" type="slidenum">
              <a:rPr lang="en-US" smtClean="0"/>
              <a:t>‹#›</a:t>
            </a:fld>
            <a:endParaRPr lang="en-US"/>
          </a:p>
        </p:txBody>
      </p:sp>
    </p:spTree>
    <p:extLst>
      <p:ext uri="{BB962C8B-B14F-4D97-AF65-F5344CB8AC3E}">
        <p14:creationId xmlns:p14="http://schemas.microsoft.com/office/powerpoint/2010/main" val="2233586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79560F0-58D0-4E15-AAFA-8CF3282E6883}" type="datetime1">
              <a:rPr lang="en-US" smtClean="0">
                <a:solidFill>
                  <a:prstClr val="black">
                    <a:tint val="75000"/>
                  </a:prstClr>
                </a:solidFill>
              </a:rPr>
              <a:t>3/9/2022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13031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251A31-CE51-4158-90B9-89A749021134}" type="datetime1">
              <a:rPr lang="en-US" smtClean="0">
                <a:solidFill>
                  <a:prstClr val="black">
                    <a:tint val="75000"/>
                  </a:prstClr>
                </a:solidFill>
              </a:rPr>
              <a:t>3/9/2022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958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16ED9-8ED5-4E91-8D94-D688871DD7F0}" type="datetime1">
              <a:rPr lang="en-US" smtClean="0">
                <a:solidFill>
                  <a:prstClr val="black">
                    <a:tint val="75000"/>
                  </a:prstClr>
                </a:solidFill>
              </a:rPr>
              <a:t>3/9/2022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9849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D9ABC72-1B77-4174-BBDD-10CEA9469F48}" type="datetime1">
              <a:rPr lang="en-US" smtClean="0">
                <a:solidFill>
                  <a:prstClr val="black">
                    <a:tint val="75000"/>
                  </a:prstClr>
                </a:solidFill>
              </a:rPr>
              <a:t>3/9/2022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91811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BF29CF-3120-47EA-9CB6-910E44C56758}" type="datetime1">
              <a:rPr lang="en-US" smtClean="0">
                <a:solidFill>
                  <a:prstClr val="black">
                    <a:tint val="75000"/>
                  </a:prstClr>
                </a:solidFill>
              </a:rPr>
              <a:t>3/9/2022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838947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941467-E1E5-44FF-9362-F668708FABB1}" type="datetime1">
              <a:rPr lang="en-US" smtClean="0">
                <a:solidFill>
                  <a:prstClr val="black">
                    <a:tint val="75000"/>
                  </a:prstClr>
                </a:solidFill>
              </a:rPr>
              <a:t>3/9/2022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903667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D0B266-87F0-425F-9E46-080018DCB484}" type="datetime1">
              <a:rPr lang="en-US" smtClean="0">
                <a:solidFill>
                  <a:prstClr val="black">
                    <a:tint val="75000"/>
                  </a:prstClr>
                </a:solidFill>
              </a:rPr>
              <a:t>3/9/2022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438346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6D3C3F-AF25-4CD9-8B4E-2C258323EAF5}" type="datetime1">
              <a:rPr lang="en-US" smtClean="0">
                <a:solidFill>
                  <a:prstClr val="black">
                    <a:tint val="75000"/>
                  </a:prstClr>
                </a:solidFill>
              </a:rPr>
              <a:t>3/9/2022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150772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EB89EC-0FBB-42AB-B8F2-701E62E413EC}" type="datetime1">
              <a:rPr lang="en-US" smtClean="0">
                <a:solidFill>
                  <a:prstClr val="black">
                    <a:tint val="75000"/>
                  </a:prstClr>
                </a:solidFill>
              </a:rPr>
              <a:t>3/9/2022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122158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FEEBA0-5EC1-401F-9A4A-49A6BEBD8E7B}" type="datetime1">
              <a:rPr lang="en-US" smtClean="0">
                <a:solidFill>
                  <a:prstClr val="black">
                    <a:tint val="75000"/>
                  </a:prstClr>
                </a:solidFill>
              </a:rPr>
              <a:t>3/9/2022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570137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FB9AD7-C911-439C-893B-9B419697AB52}" type="datetime1">
              <a:rPr lang="en-US" smtClean="0">
                <a:solidFill>
                  <a:prstClr val="black">
                    <a:tint val="75000"/>
                  </a:prstClr>
                </a:solidFill>
              </a:rPr>
              <a:t>3/9/2022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15154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163350-47BC-4BE3-8A59-B6E304C4A269}" type="datetime1">
              <a:rPr lang="en-US" smtClean="0"/>
              <a:t>3/9/2022</a:t>
            </a:fld>
            <a:endParaRPr lang="en-US"/>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ACD18-336C-42D7-ADE1-1F851DD7A482}" type="slidenum">
              <a:rPr lang="en-US" smtClean="0"/>
              <a:t>‹#›</a:t>
            </a:fld>
            <a:endParaRPr lang="en-US"/>
          </a:p>
        </p:txBody>
      </p:sp>
    </p:spTree>
    <p:extLst>
      <p:ext uri="{BB962C8B-B14F-4D97-AF65-F5344CB8AC3E}">
        <p14:creationId xmlns:p14="http://schemas.microsoft.com/office/powerpoint/2010/main" val="363401694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ABF52-9104-4603-BBA6-7E60D6050F99}" type="datetime1">
              <a:rPr lang="en-US" smtClean="0">
                <a:solidFill>
                  <a:prstClr val="black">
                    <a:tint val="75000"/>
                  </a:prstClr>
                </a:solidFill>
              </a:rPr>
              <a:t>3/9/2022</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solidFill>
                  <a:prstClr val="black">
                    <a:tint val="75000"/>
                  </a:prstClr>
                </a:solidFill>
              </a:rPr>
              <a:t>Ms.Pooja Tyagi      KNC 602 Indian Traditions, Culture and Society              Unit :1</a:t>
            </a:r>
            <a:endParaRPr lang="en-US" dirty="0">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4336126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youtu.be/7PuuAgeSRpU" TargetMode="External"/><Relationship Id="rId2" Type="http://schemas.openxmlformats.org/officeDocument/2006/relationships/hyperlink" Target="https://youtu.be/X2SXJiSv3R4" TargetMode="External"/><Relationship Id="rId1" Type="http://schemas.openxmlformats.org/officeDocument/2006/relationships/slideLayout" Target="../slideLayouts/slideLayout13.xml"/><Relationship Id="rId6" Type="http://schemas.openxmlformats.org/officeDocument/2006/relationships/image" Target="../media/image1.png"/><Relationship Id="rId5" Type="http://schemas.openxmlformats.org/officeDocument/2006/relationships/hyperlink" Target="https://youtu.be/dK53fX97jlc" TargetMode="External"/><Relationship Id="rId4" Type="http://schemas.openxmlformats.org/officeDocument/2006/relationships/hyperlink" Target="https://youtu.be/RVT60SA3KgM"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youtu.be/Hw6J5uOm7E8" TargetMode="External"/><Relationship Id="rId2" Type="http://schemas.openxmlformats.org/officeDocument/2006/relationships/hyperlink" Target="https://youtu.be/1kUkWRnkEaY?list=PLhDPmw02TYsnl85_953po60uI_-R8CQY8"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4"/>
            <a:ext cx="103632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930400" y="914400"/>
            <a:ext cx="8534400" cy="1752600"/>
          </a:xfrm>
        </p:spPr>
        <p:style>
          <a:lnRef idx="2">
            <a:schemeClr val="accent5"/>
          </a:lnRef>
          <a:fillRef idx="1">
            <a:schemeClr val="lt1"/>
          </a:fillRef>
          <a:effectRef idx="0">
            <a:schemeClr val="accent5"/>
          </a:effectRef>
          <a:fontRef idx="minor">
            <a:schemeClr val="dk1"/>
          </a:fontRef>
        </p:style>
        <p:txBody>
          <a:bodyPr>
            <a:normAutofit/>
          </a:bodyPr>
          <a:lstStyle/>
          <a:p>
            <a:r>
              <a:rPr lang="en-US" sz="2800" b="1" dirty="0"/>
              <a:t>Society , State and Polity in India</a:t>
            </a:r>
            <a:endParaRPr lang="en-US" sz="2500" dirty="0">
              <a:solidFill>
                <a:schemeClr val="tx1"/>
              </a:solidFill>
            </a:endParaRPr>
          </a:p>
        </p:txBody>
      </p:sp>
      <p:pic>
        <p:nvPicPr>
          <p:cNvPr id="1026" name="Picture 2" descr="E:\NIET\Project\xLogo11.png.pagespeed.ic.pydHLuCQEZ.png"/>
          <p:cNvPicPr>
            <a:picLocks noChangeAspect="1" noChangeArrowheads="1"/>
          </p:cNvPicPr>
          <p:nvPr/>
        </p:nvPicPr>
        <p:blipFill>
          <a:blip r:embed="rId3"/>
          <a:srcRect/>
          <a:stretch>
            <a:fillRect/>
          </a:stretch>
        </p:blipFill>
        <p:spPr bwMode="auto">
          <a:xfrm>
            <a:off x="0" y="3"/>
            <a:ext cx="1930400" cy="817163"/>
          </a:xfrm>
          <a:prstGeom prst="rect">
            <a:avLst/>
          </a:prstGeom>
          <a:noFill/>
        </p:spPr>
      </p:pic>
      <p:sp>
        <p:nvSpPr>
          <p:cNvPr id="6" name="Subtitle 2"/>
          <p:cNvSpPr txBox="1">
            <a:spLocks/>
          </p:cNvSpPr>
          <p:nvPr/>
        </p:nvSpPr>
        <p:spPr>
          <a:xfrm>
            <a:off x="7721600" y="3962400"/>
            <a:ext cx="4064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err="1" smtClean="0">
                <a:solidFill>
                  <a:schemeClr val="tx1"/>
                </a:solidFill>
              </a:rPr>
              <a:t>Pooja</a:t>
            </a:r>
            <a:r>
              <a:rPr lang="en-US" sz="2400" dirty="0" smtClean="0">
                <a:solidFill>
                  <a:schemeClr val="tx1"/>
                </a:solidFill>
              </a:rPr>
              <a:t> </a:t>
            </a:r>
            <a:r>
              <a:rPr lang="en-US" sz="2400" dirty="0" err="1" smtClean="0">
                <a:solidFill>
                  <a:schemeClr val="tx1"/>
                </a:solidFill>
              </a:rPr>
              <a:t>Tyagi</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Department of MBA</a:t>
            </a:r>
          </a:p>
        </p:txBody>
      </p:sp>
      <p:pic>
        <p:nvPicPr>
          <p:cNvPr id="1027" name="Picture 3" descr="C:\Users\Manks\Downloads\128_calendar-schedule-credit-mortgage-date-512.png"/>
          <p:cNvPicPr>
            <a:picLocks noChangeAspect="1" noChangeArrowheads="1"/>
          </p:cNvPicPr>
          <p:nvPr/>
        </p:nvPicPr>
        <p:blipFill>
          <a:blip r:embed="rId4" cstate="print"/>
          <a:srcRect/>
          <a:stretch>
            <a:fillRect/>
          </a:stretch>
        </p:blipFill>
        <p:spPr bwMode="auto">
          <a:xfrm flipH="1">
            <a:off x="508000" y="5943600"/>
            <a:ext cx="711200" cy="533400"/>
          </a:xfrm>
          <a:prstGeom prst="rect">
            <a:avLst/>
          </a:prstGeom>
          <a:noFill/>
        </p:spPr>
      </p:pic>
      <p:sp>
        <p:nvSpPr>
          <p:cNvPr id="9" name="Date Placeholder 8"/>
          <p:cNvSpPr>
            <a:spLocks noGrp="1"/>
          </p:cNvSpPr>
          <p:nvPr>
            <p:ph type="dt" sz="half" idx="10"/>
          </p:nvPr>
        </p:nvSpPr>
        <p:spPr>
          <a:xfrm>
            <a:off x="508000" y="6492878"/>
            <a:ext cx="2844800" cy="365125"/>
          </a:xfrm>
        </p:spPr>
        <p:txBody>
          <a:bodyPr/>
          <a:lstStyle/>
          <a:p>
            <a:fld id="{55FE01C7-92C6-4885-A19C-B6F591398530}" type="datetime1">
              <a:rPr lang="en-US" smtClean="0"/>
              <a:t>3/9/2022</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5" cstate="print"/>
          <a:srcRect/>
          <a:stretch>
            <a:fillRect/>
          </a:stretch>
        </p:blipFill>
        <p:spPr bwMode="auto">
          <a:xfrm>
            <a:off x="8636000" y="2590800"/>
            <a:ext cx="2032000" cy="1524000"/>
          </a:xfrm>
          <a:prstGeom prst="rect">
            <a:avLst/>
          </a:prstGeom>
          <a:noFill/>
        </p:spPr>
      </p:pic>
      <p:sp>
        <p:nvSpPr>
          <p:cNvPr id="12" name="Subtitle 2"/>
          <p:cNvSpPr txBox="1">
            <a:spLocks/>
          </p:cNvSpPr>
          <p:nvPr/>
        </p:nvSpPr>
        <p:spPr>
          <a:xfrm>
            <a:off x="203200" y="2971800"/>
            <a:ext cx="27432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Unit:1</a:t>
            </a:r>
          </a:p>
        </p:txBody>
      </p:sp>
      <p:sp>
        <p:nvSpPr>
          <p:cNvPr id="13" name="Footer Placeholder 12"/>
          <p:cNvSpPr>
            <a:spLocks noGrp="1"/>
          </p:cNvSpPr>
          <p:nvPr>
            <p:ph type="ftr" sz="quarter" idx="11"/>
          </p:nvPr>
        </p:nvSpPr>
        <p:spPr>
          <a:xfrm>
            <a:off x="3048000" y="6248403"/>
            <a:ext cx="6705600" cy="365125"/>
          </a:xfrm>
        </p:spPr>
        <p:txBody>
          <a:bodyPr/>
          <a:lstStyle/>
          <a:p>
            <a:r>
              <a:rPr lang="en-US" smtClean="0"/>
              <a:t>Ms.Pooja Tyagi      KNC 602 Indian Traditions, Culture and Society              Unit :1</a:t>
            </a:r>
            <a:endParaRPr lang="en-US" dirty="0"/>
          </a:p>
        </p:txBody>
      </p:sp>
      <p:sp>
        <p:nvSpPr>
          <p:cNvPr id="14" name="Subtitle 2"/>
          <p:cNvSpPr txBox="1">
            <a:spLocks/>
          </p:cNvSpPr>
          <p:nvPr/>
        </p:nvSpPr>
        <p:spPr>
          <a:xfrm>
            <a:off x="203200" y="3810000"/>
            <a:ext cx="5588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chemeClr val="tx1"/>
                </a:solidFill>
                <a:effectLst/>
                <a:uLnTx/>
                <a:uFillTx/>
              </a:rPr>
              <a:t>Subject</a:t>
            </a:r>
            <a:r>
              <a:rPr kumimoji="0" lang="en-US" sz="2000" b="1" i="0" u="none" strike="noStrike" kern="1200" cap="none" spc="0" normalizeH="0" noProof="0" dirty="0">
                <a:ln>
                  <a:noFill/>
                </a:ln>
                <a:solidFill>
                  <a:schemeClr val="tx1"/>
                </a:solidFill>
                <a:effectLst/>
                <a:uLnTx/>
                <a:uFillTx/>
              </a:rPr>
              <a:t> Name</a:t>
            </a:r>
          </a:p>
          <a:p>
            <a:r>
              <a:rPr lang="en-US" sz="2000" b="1" dirty="0"/>
              <a:t>INDIAN TRADITIONS, CULTURE AND SOCIETY</a:t>
            </a:r>
            <a:endParaRPr lang="en-US" sz="2000" dirty="0">
              <a:solidFill>
                <a:schemeClr val="tx1"/>
              </a:solidFill>
            </a:endParaRPr>
          </a:p>
        </p:txBody>
      </p:sp>
      <p:sp>
        <p:nvSpPr>
          <p:cNvPr id="15" name="Subtitle 2"/>
          <p:cNvSpPr txBox="1">
            <a:spLocks/>
          </p:cNvSpPr>
          <p:nvPr/>
        </p:nvSpPr>
        <p:spPr>
          <a:xfrm>
            <a:off x="475176" y="5097463"/>
            <a:ext cx="5588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Course</a:t>
            </a:r>
            <a:r>
              <a:rPr kumimoji="0" lang="en-US" sz="2000" b="0" i="0" u="none" strike="noStrike" kern="1200" cap="none" spc="0" normalizeH="0" noProof="0" dirty="0">
                <a:ln>
                  <a:noFill/>
                </a:ln>
                <a:solidFill>
                  <a:schemeClr val="tx1"/>
                </a:solidFill>
                <a:effectLst/>
                <a:uLnTx/>
                <a:uFillTx/>
                <a:latin typeface="+mn-lt"/>
                <a:ea typeface="+mn-ea"/>
                <a:cs typeface="+mn-cs"/>
              </a:rPr>
              <a:t> Details</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smtClean="0">
                <a:ln>
                  <a:noFill/>
                </a:ln>
                <a:solidFill>
                  <a:schemeClr val="tx1"/>
                </a:solidFill>
                <a:effectLst/>
                <a:uLnTx/>
                <a:uFillTx/>
                <a:latin typeface="+mn-lt"/>
                <a:ea typeface="+mn-ea"/>
                <a:cs typeface="+mn-cs"/>
              </a:rPr>
              <a:t>CS  </a:t>
            </a:r>
            <a:r>
              <a:rPr kumimoji="0" lang="en-US" sz="2000" b="0" i="0" u="none" strike="noStrike" kern="1200" cap="none" spc="0" normalizeH="0" noProof="0" dirty="0">
                <a:ln>
                  <a:noFill/>
                </a:ln>
                <a:solidFill>
                  <a:schemeClr val="tx1"/>
                </a:solidFill>
                <a:effectLst/>
                <a:uLnTx/>
                <a:uFillTx/>
                <a:latin typeface="+mn-lt"/>
                <a:ea typeface="+mn-ea"/>
                <a:cs typeface="+mn-cs"/>
              </a:rPr>
              <a:t>6</a:t>
            </a:r>
            <a:r>
              <a:rPr kumimoji="0" lang="en-US" sz="2000" b="0" i="0" u="none" strike="noStrike" kern="1200" cap="none" spc="0" normalizeH="0" baseline="30000" noProof="0" dirty="0">
                <a:ln>
                  <a:noFill/>
                </a:ln>
                <a:solidFill>
                  <a:schemeClr val="tx1"/>
                </a:solidFill>
                <a:effectLst/>
                <a:uLnTx/>
                <a:uFillTx/>
                <a:latin typeface="+mn-lt"/>
                <a:ea typeface="+mn-ea"/>
                <a:cs typeface="+mn-cs"/>
              </a:rPr>
              <a:t>th</a:t>
            </a:r>
            <a:r>
              <a:rPr kumimoji="0" lang="en-US" sz="2000" b="0" i="0" u="none" strike="noStrike" kern="1200" cap="none" spc="0" normalizeH="0" noProof="0" dirty="0">
                <a:ln>
                  <a:noFill/>
                </a:ln>
                <a:solidFill>
                  <a:schemeClr val="tx1"/>
                </a:solidFill>
                <a:effectLst/>
                <a:uLnTx/>
                <a:uFillTx/>
                <a:latin typeface="+mn-lt"/>
                <a:ea typeface="+mn-ea"/>
                <a:cs typeface="+mn-cs"/>
              </a:rPr>
              <a:t> Semester</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531512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10200"/>
          </a:xfrm>
        </p:spPr>
        <p:txBody>
          <a:bodyPr>
            <a:normAutofit/>
          </a:bodyPr>
          <a:lstStyle/>
          <a:p>
            <a:pPr>
              <a:buNone/>
            </a:pPr>
            <a:endParaRPr lang="en-US" sz="1800" dirty="0"/>
          </a:p>
          <a:p>
            <a:pPr>
              <a:buNone/>
            </a:pPr>
            <a:endParaRPr lang="en-US" sz="1800" dirty="0"/>
          </a:p>
        </p:txBody>
      </p:sp>
      <p:sp>
        <p:nvSpPr>
          <p:cNvPr id="4" name="Date Placeholder 3"/>
          <p:cNvSpPr>
            <a:spLocks noGrp="1"/>
          </p:cNvSpPr>
          <p:nvPr>
            <p:ph type="dt" sz="half" idx="10"/>
          </p:nvPr>
        </p:nvSpPr>
        <p:spPr/>
        <p:txBody>
          <a:bodyPr/>
          <a:lstStyle/>
          <a:p>
            <a:fld id="{A248E0A6-46EA-4B40-BC7B-E89C8327398D}" type="datetime1">
              <a:rPr lang="en-US" smtClean="0"/>
              <a:t>3/9/2022</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t>Faculty Introduction</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2" name="TextBox 1"/>
          <p:cNvSpPr txBox="1"/>
          <p:nvPr/>
        </p:nvSpPr>
        <p:spPr>
          <a:xfrm>
            <a:off x="2743200" y="1828801"/>
            <a:ext cx="4267200" cy="2308324"/>
          </a:xfrm>
          <a:prstGeom prst="rect">
            <a:avLst/>
          </a:prstGeom>
          <a:noFill/>
        </p:spPr>
        <p:txBody>
          <a:bodyPr wrap="square" rtlCol="0">
            <a:spAutoFit/>
          </a:bodyPr>
          <a:lstStyle/>
          <a:p>
            <a:pPr marL="285750" indent="-285750">
              <a:buFont typeface="Arial" pitchFamily="34" charset="0"/>
              <a:buChar char="•"/>
            </a:pPr>
            <a:r>
              <a:rPr lang="en-US" dirty="0"/>
              <a:t>Pursuing </a:t>
            </a:r>
            <a:r>
              <a:rPr lang="en-US" dirty="0" smtClean="0"/>
              <a:t>Ph.D. </a:t>
            </a:r>
            <a:r>
              <a:rPr lang="en-US" dirty="0"/>
              <a:t>from </a:t>
            </a:r>
            <a:r>
              <a:rPr lang="en-US" dirty="0" smtClean="0"/>
              <a:t>CCS University, Meerut under COMMERCE</a:t>
            </a:r>
            <a:endParaRPr lang="en-US" dirty="0"/>
          </a:p>
          <a:p>
            <a:pPr marL="285750" indent="-285750">
              <a:buFont typeface="Arial" pitchFamily="34" charset="0"/>
              <a:buChar char="•"/>
            </a:pPr>
            <a:r>
              <a:rPr lang="en-US" dirty="0"/>
              <a:t>Area of Research- </a:t>
            </a:r>
            <a:r>
              <a:rPr lang="en-US" dirty="0" smtClean="0"/>
              <a:t>Marketing</a:t>
            </a:r>
            <a:endParaRPr lang="en-US" dirty="0"/>
          </a:p>
          <a:p>
            <a:pPr marL="285750" indent="-285750">
              <a:buFont typeface="Arial" pitchFamily="34" charset="0"/>
              <a:buChar char="•"/>
            </a:pPr>
            <a:r>
              <a:rPr lang="en-US" dirty="0" smtClean="0"/>
              <a:t>Done MBA, M.com , MA(Economics),B.com </a:t>
            </a:r>
            <a:endParaRPr lang="en-US" dirty="0"/>
          </a:p>
          <a:p>
            <a:pPr marL="285750" indent="-285750">
              <a:buFont typeface="Arial" pitchFamily="34" charset="0"/>
              <a:buChar char="•"/>
            </a:pPr>
            <a:r>
              <a:rPr lang="en-US" dirty="0" smtClean="0"/>
              <a:t>Specialization- Marketing &amp; Finance</a:t>
            </a:r>
            <a:endParaRPr lang="en-US" dirty="0"/>
          </a:p>
          <a:p>
            <a:pPr marL="285750" indent="-285750">
              <a:buFont typeface="Arial" pitchFamily="34" charset="0"/>
              <a:buChar char="•"/>
            </a:pPr>
            <a:r>
              <a:rPr lang="en-US" dirty="0"/>
              <a:t>Qualified </a:t>
            </a:r>
            <a:r>
              <a:rPr lang="en-US" dirty="0" smtClean="0"/>
              <a:t>UGC-NET</a:t>
            </a:r>
            <a:endParaRPr lang="en-US" dirty="0"/>
          </a:p>
          <a:p>
            <a:pPr marL="285750" indent="-285750">
              <a:buFont typeface="Arial" pitchFamily="34" charset="0"/>
              <a:buChar char="•"/>
            </a:pPr>
            <a:r>
              <a:rPr lang="en-US" dirty="0" smtClean="0"/>
              <a:t>10+ </a:t>
            </a:r>
            <a:r>
              <a:rPr lang="en-US" dirty="0"/>
              <a:t>years of Experience in teaching</a:t>
            </a:r>
          </a:p>
        </p:txBody>
      </p:sp>
      <p:pic>
        <p:nvPicPr>
          <p:cNvPr id="10" name="Picture 2" descr="NIET, Greater Noida: Cutoff, Placements, Courses, Fees, Admission 20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150" y="1"/>
            <a:ext cx="1314450" cy="9144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3400" y="1676400"/>
            <a:ext cx="2133600" cy="261312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10200"/>
          </a:xfrm>
        </p:spPr>
        <p:txBody>
          <a:bodyPr>
            <a:normAutofit/>
          </a:bodyPr>
          <a:lstStyle/>
          <a:p>
            <a:pPr>
              <a:buNone/>
            </a:pPr>
            <a:endParaRPr lang="en-US" sz="1800" dirty="0"/>
          </a:p>
          <a:p>
            <a:pPr>
              <a:buNone/>
            </a:pPr>
            <a:endParaRPr lang="en-US" sz="1800" dirty="0"/>
          </a:p>
        </p:txBody>
      </p:sp>
      <p:sp>
        <p:nvSpPr>
          <p:cNvPr id="4" name="Date Placeholder 3"/>
          <p:cNvSpPr>
            <a:spLocks noGrp="1"/>
          </p:cNvSpPr>
          <p:nvPr>
            <p:ph type="dt" sz="half" idx="10"/>
          </p:nvPr>
        </p:nvSpPr>
        <p:spPr/>
        <p:txBody>
          <a:bodyPr/>
          <a:lstStyle/>
          <a:p>
            <a:fld id="{2F6F02DD-32CC-402F-9584-1E769567F305}" type="datetime1">
              <a:rPr lang="en-US" smtClean="0"/>
              <a:t>3/9/2022</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cs typeface="Times New Roman" panose="02020603050405020304" pitchFamily="18" charset="0"/>
              </a:rPr>
              <a:t>Index/ Content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pic>
        <p:nvPicPr>
          <p:cNvPr id="10" name="Picture 2" descr="NIET, Greater Noida: Cutoff, Placements, Courses, Fees, Admission 20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150" y="1"/>
            <a:ext cx="1314450" cy="914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1">
            <a:extLst>
              <a:ext uri="{FF2B5EF4-FFF2-40B4-BE49-F238E27FC236}">
                <a16:creationId xmlns="" xmlns:a16="http://schemas.microsoft.com/office/drawing/2014/main" id="{5ADC3D56-0F67-4DC4-A3F3-DCC4C8B19AC9}"/>
              </a:ext>
            </a:extLst>
          </p:cNvPr>
          <p:cNvGraphicFramePr>
            <a:graphicFrameLocks noGrp="1"/>
          </p:cNvGraphicFramePr>
          <p:nvPr/>
        </p:nvGraphicFramePr>
        <p:xfrm>
          <a:off x="1890386" y="690245"/>
          <a:ext cx="8549014" cy="5612130"/>
        </p:xfrm>
        <a:graphic>
          <a:graphicData uri="http://schemas.openxmlformats.org/drawingml/2006/table">
            <a:tbl>
              <a:tblPr firstRow="1" bandRow="1">
                <a:tableStyleId>{5C22544A-7EE6-4342-B048-85BDC9FD1C3A}</a:tableStyleId>
              </a:tblPr>
              <a:tblGrid>
                <a:gridCol w="1583151">
                  <a:extLst>
                    <a:ext uri="{9D8B030D-6E8A-4147-A177-3AD203B41FA5}">
                      <a16:colId xmlns="" xmlns:a16="http://schemas.microsoft.com/office/drawing/2014/main" val="20000"/>
                    </a:ext>
                  </a:extLst>
                </a:gridCol>
                <a:gridCol w="6965863">
                  <a:extLst>
                    <a:ext uri="{9D8B030D-6E8A-4147-A177-3AD203B41FA5}">
                      <a16:colId xmlns="" xmlns:a16="http://schemas.microsoft.com/office/drawing/2014/main" val="20001"/>
                    </a:ext>
                  </a:extLst>
                </a:gridCol>
              </a:tblGrid>
              <a:tr h="411366">
                <a:tc>
                  <a:txBody>
                    <a:bodyPr/>
                    <a:lstStyle/>
                    <a:p>
                      <a:r>
                        <a:rPr lang="en-US" sz="2200" dirty="0"/>
                        <a:t>S. No.</a:t>
                      </a:r>
                    </a:p>
                  </a:txBody>
                  <a:tcPr/>
                </a:tc>
                <a:tc>
                  <a:txBody>
                    <a:bodyPr/>
                    <a:lstStyle/>
                    <a:p>
                      <a:pPr algn="l"/>
                      <a:r>
                        <a:rPr lang="en-US" sz="2200" dirty="0"/>
                        <a:t>Index</a:t>
                      </a:r>
                    </a:p>
                  </a:txBody>
                  <a:tcPr/>
                </a:tc>
                <a:extLst>
                  <a:ext uri="{0D108BD9-81ED-4DB2-BD59-A6C34878D82A}">
                    <a16:rowId xmlns="" xmlns:a16="http://schemas.microsoft.com/office/drawing/2014/main" val="10000"/>
                  </a:ext>
                </a:extLst>
              </a:tr>
              <a:tr h="802531">
                <a:tc>
                  <a:txBody>
                    <a:bodyPr/>
                    <a:lstStyle/>
                    <a:p>
                      <a:r>
                        <a:rPr lang="en-US" sz="2700" b="0" dirty="0">
                          <a:latin typeface="Times New Roman" pitchFamily="18" charset="0"/>
                          <a:cs typeface="Times New Roman" pitchFamily="18" charset="0"/>
                        </a:rPr>
                        <a:t>1.</a:t>
                      </a:r>
                    </a:p>
                  </a:txBody>
                  <a:tcPr/>
                </a:tc>
                <a:tc>
                  <a:txBody>
                    <a:bodyPr/>
                    <a:lstStyle/>
                    <a:p>
                      <a:pPr algn="l" fontAlgn="ctr"/>
                      <a:r>
                        <a:rPr lang="en-US" sz="2700" b="0" i="0" u="none" strike="noStrike" dirty="0">
                          <a:solidFill>
                            <a:srgbClr val="000000"/>
                          </a:solidFill>
                          <a:latin typeface="Calibri"/>
                        </a:rPr>
                        <a:t>Name of Subject with code, Course and Subject Teacher</a:t>
                      </a:r>
                    </a:p>
                  </a:txBody>
                  <a:tcPr marL="9525" marR="9525" marT="9525" marB="0" anchor="ctr"/>
                </a:tc>
                <a:extLst>
                  <a:ext uri="{0D108BD9-81ED-4DB2-BD59-A6C34878D82A}">
                    <a16:rowId xmlns="" xmlns:a16="http://schemas.microsoft.com/office/drawing/2014/main" val="10001"/>
                  </a:ext>
                </a:extLst>
              </a:tr>
              <a:tr h="802531">
                <a:tc>
                  <a:txBody>
                    <a:bodyPr/>
                    <a:lstStyle/>
                    <a:p>
                      <a:r>
                        <a:rPr lang="en-US" sz="2700" b="0" dirty="0">
                          <a:latin typeface="Times New Roman" pitchFamily="18" charset="0"/>
                          <a:cs typeface="Times New Roman" pitchFamily="18" charset="0"/>
                        </a:rPr>
                        <a:t>2.</a:t>
                      </a:r>
                    </a:p>
                  </a:txBody>
                  <a:tcPr/>
                </a:tc>
                <a:tc>
                  <a:txBody>
                    <a:bodyPr/>
                    <a:lstStyle/>
                    <a:p>
                      <a:pPr algn="l" fontAlgn="ctr"/>
                      <a:r>
                        <a:rPr lang="en-US" sz="2700" b="0" i="0" u="none" strike="noStrike" dirty="0">
                          <a:solidFill>
                            <a:srgbClr val="000000"/>
                          </a:solidFill>
                          <a:latin typeface="Calibri"/>
                        </a:rPr>
                        <a:t>Brief Introduction of Faculty member with Photograph</a:t>
                      </a:r>
                    </a:p>
                  </a:txBody>
                  <a:tcPr marL="9525" marR="9525" marT="9525" marB="0" anchor="ctr"/>
                </a:tc>
                <a:extLst>
                  <a:ext uri="{0D108BD9-81ED-4DB2-BD59-A6C34878D82A}">
                    <a16:rowId xmlns="" xmlns:a16="http://schemas.microsoft.com/office/drawing/2014/main" val="10002"/>
                  </a:ext>
                </a:extLst>
              </a:tr>
              <a:tr h="484824">
                <a:tc>
                  <a:txBody>
                    <a:bodyPr/>
                    <a:lstStyle/>
                    <a:p>
                      <a:r>
                        <a:rPr lang="en-US" sz="2700" b="0" dirty="0">
                          <a:latin typeface="Times New Roman" pitchFamily="18" charset="0"/>
                          <a:cs typeface="Times New Roman" pitchFamily="18" charset="0"/>
                        </a:rPr>
                        <a:t>3.</a:t>
                      </a:r>
                    </a:p>
                  </a:txBody>
                  <a:tcPr/>
                </a:tc>
                <a:tc>
                  <a:txBody>
                    <a:bodyPr/>
                    <a:lstStyle/>
                    <a:p>
                      <a:pPr algn="l" fontAlgn="ctr"/>
                      <a:r>
                        <a:rPr lang="en-US" sz="2700" b="0" i="0" u="none" strike="noStrike" dirty="0">
                          <a:solidFill>
                            <a:srgbClr val="000000"/>
                          </a:solidFill>
                          <a:latin typeface="Calibri"/>
                        </a:rPr>
                        <a:t>Evaluation Scheme</a:t>
                      </a:r>
                    </a:p>
                  </a:txBody>
                  <a:tcPr marL="9525" marR="9525" marT="9525" marB="0" anchor="ctr"/>
                </a:tc>
                <a:extLst>
                  <a:ext uri="{0D108BD9-81ED-4DB2-BD59-A6C34878D82A}">
                    <a16:rowId xmlns="" xmlns:a16="http://schemas.microsoft.com/office/drawing/2014/main" val="10003"/>
                  </a:ext>
                </a:extLst>
              </a:tr>
              <a:tr h="484824">
                <a:tc>
                  <a:txBody>
                    <a:bodyPr/>
                    <a:lstStyle/>
                    <a:p>
                      <a:r>
                        <a:rPr lang="en-US" sz="2700" b="0" dirty="0">
                          <a:latin typeface="Times New Roman" pitchFamily="18" charset="0"/>
                          <a:cs typeface="Times New Roman" pitchFamily="18" charset="0"/>
                        </a:rPr>
                        <a:t>4.</a:t>
                      </a:r>
                    </a:p>
                  </a:txBody>
                  <a:tcPr/>
                </a:tc>
                <a:tc>
                  <a:txBody>
                    <a:bodyPr/>
                    <a:lstStyle/>
                    <a:p>
                      <a:r>
                        <a:rPr lang="en-US" sz="2700" b="0" dirty="0">
                          <a:latin typeface="Times New Roman" pitchFamily="18" charset="0"/>
                          <a:cs typeface="Times New Roman" pitchFamily="18" charset="0"/>
                        </a:rPr>
                        <a:t>Syllabus</a:t>
                      </a:r>
                    </a:p>
                  </a:txBody>
                  <a:tcPr/>
                </a:tc>
                <a:extLst>
                  <a:ext uri="{0D108BD9-81ED-4DB2-BD59-A6C34878D82A}">
                    <a16:rowId xmlns="" xmlns:a16="http://schemas.microsoft.com/office/drawing/2014/main" val="10004"/>
                  </a:ext>
                </a:extLst>
              </a:tr>
              <a:tr h="484824">
                <a:tc>
                  <a:txBody>
                    <a:bodyPr/>
                    <a:lstStyle/>
                    <a:p>
                      <a:r>
                        <a:rPr lang="en-US" sz="2700" b="0" dirty="0">
                          <a:latin typeface="Times New Roman" pitchFamily="18" charset="0"/>
                          <a:cs typeface="Times New Roman" pitchFamily="18" charset="0"/>
                        </a:rPr>
                        <a:t>5.</a:t>
                      </a:r>
                    </a:p>
                  </a:txBody>
                  <a:tcPr/>
                </a:tc>
                <a:tc>
                  <a:txBody>
                    <a:bodyPr/>
                    <a:lstStyle/>
                    <a:p>
                      <a:r>
                        <a:rPr lang="en-US" sz="2700" dirty="0"/>
                        <a:t>Branch wise Application</a:t>
                      </a:r>
                    </a:p>
                  </a:txBody>
                  <a:tcPr/>
                </a:tc>
                <a:extLst>
                  <a:ext uri="{0D108BD9-81ED-4DB2-BD59-A6C34878D82A}">
                    <a16:rowId xmlns="" xmlns:a16="http://schemas.microsoft.com/office/drawing/2014/main" val="10005"/>
                  </a:ext>
                </a:extLst>
              </a:tr>
              <a:tr h="484824">
                <a:tc>
                  <a:txBody>
                    <a:bodyPr/>
                    <a:lstStyle/>
                    <a:p>
                      <a:r>
                        <a:rPr lang="en-US" sz="2700" b="0" dirty="0">
                          <a:latin typeface="Times New Roman" pitchFamily="18" charset="0"/>
                          <a:cs typeface="Times New Roman" pitchFamily="18" charset="0"/>
                        </a:rPr>
                        <a:t>6.</a:t>
                      </a:r>
                    </a:p>
                  </a:txBody>
                  <a:tcPr/>
                </a:tc>
                <a:tc>
                  <a:txBody>
                    <a:bodyPr/>
                    <a:lstStyle/>
                    <a:p>
                      <a:r>
                        <a:rPr lang="en-US" sz="2700" b="0" dirty="0">
                          <a:latin typeface="Times New Roman" pitchFamily="18" charset="0"/>
                          <a:cs typeface="Times New Roman" pitchFamily="18" charset="0"/>
                        </a:rPr>
                        <a:t>Course Objective(s)</a:t>
                      </a:r>
                    </a:p>
                  </a:txBody>
                  <a:tcPr/>
                </a:tc>
                <a:extLst>
                  <a:ext uri="{0D108BD9-81ED-4DB2-BD59-A6C34878D82A}">
                    <a16:rowId xmlns="" xmlns:a16="http://schemas.microsoft.com/office/drawing/2014/main" val="10006"/>
                  </a:ext>
                </a:extLst>
              </a:tr>
              <a:tr h="484824">
                <a:tc>
                  <a:txBody>
                    <a:bodyPr/>
                    <a:lstStyle/>
                    <a:p>
                      <a:r>
                        <a:rPr lang="en-US" sz="2700" b="0" dirty="0">
                          <a:latin typeface="Times New Roman" pitchFamily="18" charset="0"/>
                          <a:cs typeface="Times New Roman" pitchFamily="18" charset="0"/>
                        </a:rPr>
                        <a:t>7.</a:t>
                      </a:r>
                    </a:p>
                  </a:txBody>
                  <a:tcPr/>
                </a:tc>
                <a:tc>
                  <a:txBody>
                    <a:bodyPr/>
                    <a:lstStyle/>
                    <a:p>
                      <a:r>
                        <a:rPr lang="en-US" sz="2700" b="0" dirty="0">
                          <a:latin typeface="Times New Roman" pitchFamily="18" charset="0"/>
                          <a:cs typeface="Times New Roman" pitchFamily="18" charset="0"/>
                        </a:rPr>
                        <a:t>Course Outcome(s)</a:t>
                      </a:r>
                    </a:p>
                  </a:txBody>
                  <a:tcPr/>
                </a:tc>
                <a:extLst>
                  <a:ext uri="{0D108BD9-81ED-4DB2-BD59-A6C34878D82A}">
                    <a16:rowId xmlns="" xmlns:a16="http://schemas.microsoft.com/office/drawing/2014/main" val="10007"/>
                  </a:ext>
                </a:extLst>
              </a:tr>
              <a:tr h="484824">
                <a:tc>
                  <a:txBody>
                    <a:bodyPr/>
                    <a:lstStyle/>
                    <a:p>
                      <a:r>
                        <a:rPr lang="en-US" sz="2700" b="0" dirty="0">
                          <a:latin typeface="Times New Roman" pitchFamily="18" charset="0"/>
                          <a:cs typeface="Times New Roman" pitchFamily="18" charset="0"/>
                        </a:rPr>
                        <a:t>8.</a:t>
                      </a:r>
                    </a:p>
                  </a:txBody>
                  <a:tcPr/>
                </a:tc>
                <a:tc>
                  <a:txBody>
                    <a:bodyPr/>
                    <a:lstStyle/>
                    <a:p>
                      <a:r>
                        <a:rPr lang="en-US" sz="2700" b="0" dirty="0">
                          <a:latin typeface="Times New Roman" pitchFamily="18" charset="0"/>
                          <a:cs typeface="Times New Roman" pitchFamily="18" charset="0"/>
                        </a:rPr>
                        <a:t>Program Outcomes (POs)</a:t>
                      </a:r>
                    </a:p>
                  </a:txBody>
                  <a:tcPr/>
                </a:tc>
                <a:extLst>
                  <a:ext uri="{0D108BD9-81ED-4DB2-BD59-A6C34878D82A}">
                    <a16:rowId xmlns="" xmlns:a16="http://schemas.microsoft.com/office/drawing/2014/main" val="10008"/>
                  </a:ext>
                </a:extLst>
              </a:tr>
              <a:tr h="484824">
                <a:tc>
                  <a:txBody>
                    <a:bodyPr/>
                    <a:lstStyle/>
                    <a:p>
                      <a:r>
                        <a:rPr lang="en-US" sz="2700" b="0" dirty="0">
                          <a:latin typeface="Times New Roman" pitchFamily="18" charset="0"/>
                          <a:cs typeface="Times New Roman" pitchFamily="18" charset="0"/>
                        </a:rPr>
                        <a:t>9.</a:t>
                      </a:r>
                    </a:p>
                  </a:txBody>
                  <a:tcPr/>
                </a:tc>
                <a:tc>
                  <a:txBody>
                    <a:bodyPr/>
                    <a:lstStyle/>
                    <a:p>
                      <a:r>
                        <a:rPr lang="en-US" sz="2700" dirty="0"/>
                        <a:t>Cos and POs Mapping</a:t>
                      </a:r>
                    </a:p>
                  </a:txBody>
                  <a:tcPr/>
                </a:tc>
                <a:extLst>
                  <a:ext uri="{0D108BD9-81ED-4DB2-BD59-A6C34878D82A}">
                    <a16:rowId xmlns="" xmlns:a16="http://schemas.microsoft.com/office/drawing/2014/main" val="10009"/>
                  </a:ext>
                </a:extLst>
              </a:tr>
            </a:tbl>
          </a:graphicData>
        </a:graphic>
      </p:graphicFrame>
    </p:spTree>
    <p:extLst>
      <p:ext uri="{BB962C8B-B14F-4D97-AF65-F5344CB8AC3E}">
        <p14:creationId xmlns:p14="http://schemas.microsoft.com/office/powerpoint/2010/main" val="19964887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10200"/>
          </a:xfrm>
        </p:spPr>
        <p:txBody>
          <a:bodyPr>
            <a:normAutofit/>
          </a:bodyPr>
          <a:lstStyle/>
          <a:p>
            <a:pPr>
              <a:buNone/>
            </a:pPr>
            <a:endParaRPr lang="en-US" sz="1800" dirty="0"/>
          </a:p>
          <a:p>
            <a:pPr>
              <a:buNone/>
            </a:pPr>
            <a:endParaRPr lang="en-US" sz="1800" dirty="0"/>
          </a:p>
        </p:txBody>
      </p:sp>
      <p:sp>
        <p:nvSpPr>
          <p:cNvPr id="4" name="Date Placeholder 3"/>
          <p:cNvSpPr>
            <a:spLocks noGrp="1"/>
          </p:cNvSpPr>
          <p:nvPr>
            <p:ph type="dt" sz="half" idx="10"/>
          </p:nvPr>
        </p:nvSpPr>
        <p:spPr/>
        <p:txBody>
          <a:bodyPr/>
          <a:lstStyle/>
          <a:p>
            <a:fld id="{AC424140-E24E-423C-8AA8-8AF74351CA6B}" type="datetime1">
              <a:rPr lang="en-US" smtClean="0"/>
              <a:t>3/9/2022</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2936049" y="98427"/>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a:latin typeface="Times New Roman" panose="02020603050405020304" pitchFamily="18" charset="0"/>
                <a:cs typeface="Times New Roman" panose="02020603050405020304" pitchFamily="18" charset="0"/>
              </a:rPr>
              <a:t>Index/ Content</a:t>
            </a:r>
            <a:endParaRPr lang="en-US" sz="2400" b="1" dirty="0">
              <a:latin typeface="Times New Roman" panose="02020603050405020304" pitchFamily="18" charset="0"/>
              <a:cs typeface="Times New Roman" panose="02020603050405020304" pitchFamily="18" charset="0"/>
            </a:endParaRPr>
          </a:p>
        </p:txBody>
      </p:sp>
      <p:pic>
        <p:nvPicPr>
          <p:cNvPr id="10" name="Picture 2" descr="NIET, Greater Noida: Cutoff, Placements, Courses, Fees, Admission 20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1599" y="36534"/>
            <a:ext cx="1314450" cy="914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Content Placeholder 8">
            <a:extLst>
              <a:ext uri="{FF2B5EF4-FFF2-40B4-BE49-F238E27FC236}">
                <a16:creationId xmlns="" xmlns:a16="http://schemas.microsoft.com/office/drawing/2014/main" id="{6FDD0E26-B397-409D-9884-90B327F11C7E}"/>
              </a:ext>
            </a:extLst>
          </p:cNvPr>
          <p:cNvGraphicFramePr>
            <a:graphicFrameLocks/>
          </p:cNvGraphicFramePr>
          <p:nvPr>
            <p:extLst>
              <p:ext uri="{D42A27DB-BD31-4B8C-83A1-F6EECF244321}">
                <p14:modId xmlns:p14="http://schemas.microsoft.com/office/powerpoint/2010/main" val="2162137454"/>
              </p:ext>
            </p:extLst>
          </p:nvPr>
        </p:nvGraphicFramePr>
        <p:xfrm>
          <a:off x="1752600" y="996142"/>
          <a:ext cx="8458201" cy="4687570"/>
        </p:xfrm>
        <a:graphic>
          <a:graphicData uri="http://schemas.openxmlformats.org/drawingml/2006/table">
            <a:tbl>
              <a:tblPr firstRow="1" bandRow="1">
                <a:tableStyleId>{5C22544A-7EE6-4342-B048-85BDC9FD1C3A}</a:tableStyleId>
              </a:tblPr>
              <a:tblGrid>
                <a:gridCol w="1566333">
                  <a:extLst>
                    <a:ext uri="{9D8B030D-6E8A-4147-A177-3AD203B41FA5}">
                      <a16:colId xmlns="" xmlns:a16="http://schemas.microsoft.com/office/drawing/2014/main" val="20000"/>
                    </a:ext>
                  </a:extLst>
                </a:gridCol>
                <a:gridCol w="6891868">
                  <a:extLst>
                    <a:ext uri="{9D8B030D-6E8A-4147-A177-3AD203B41FA5}">
                      <a16:colId xmlns="" xmlns:a16="http://schemas.microsoft.com/office/drawing/2014/main" val="20001"/>
                    </a:ext>
                  </a:extLst>
                </a:gridCol>
              </a:tblGrid>
              <a:tr h="361527">
                <a:tc>
                  <a:txBody>
                    <a:bodyPr/>
                    <a:lstStyle/>
                    <a:p>
                      <a:r>
                        <a:rPr lang="en-US" sz="2200" dirty="0"/>
                        <a:t>S. No.</a:t>
                      </a:r>
                    </a:p>
                  </a:txBody>
                  <a:tcPr/>
                </a:tc>
                <a:tc>
                  <a:txBody>
                    <a:bodyPr/>
                    <a:lstStyle/>
                    <a:p>
                      <a:pPr algn="l"/>
                      <a:r>
                        <a:rPr lang="en-US" sz="2200" dirty="0"/>
                        <a:t>Index</a:t>
                      </a:r>
                    </a:p>
                  </a:txBody>
                  <a:tcPr/>
                </a:tc>
                <a:extLst>
                  <a:ext uri="{0D108BD9-81ED-4DB2-BD59-A6C34878D82A}">
                    <a16:rowId xmlns="" xmlns:a16="http://schemas.microsoft.com/office/drawing/2014/main" val="10000"/>
                  </a:ext>
                </a:extLst>
              </a:tr>
              <a:tr h="426085">
                <a:tc>
                  <a:txBody>
                    <a:bodyPr/>
                    <a:lstStyle/>
                    <a:p>
                      <a:r>
                        <a:rPr lang="en-US" sz="2000" b="0" dirty="0">
                          <a:latin typeface="Times New Roman" pitchFamily="18" charset="0"/>
                          <a:cs typeface="Times New Roman" pitchFamily="18" charset="0"/>
                        </a:rPr>
                        <a:t>10.</a:t>
                      </a:r>
                    </a:p>
                  </a:txBody>
                  <a:tcPr/>
                </a:tc>
                <a:tc>
                  <a:txBody>
                    <a:bodyPr/>
                    <a:lstStyle/>
                    <a:p>
                      <a:r>
                        <a:rPr lang="en-US" sz="2000" b="0" dirty="0">
                          <a:latin typeface="Times New Roman" pitchFamily="18" charset="0"/>
                          <a:cs typeface="Times New Roman" pitchFamily="18" charset="0"/>
                        </a:rPr>
                        <a:t>Program Specific  Outcomes (PSOs)</a:t>
                      </a:r>
                    </a:p>
                  </a:txBody>
                  <a:tcPr/>
                </a:tc>
                <a:extLst>
                  <a:ext uri="{0D108BD9-81ED-4DB2-BD59-A6C34878D82A}">
                    <a16:rowId xmlns="" xmlns:a16="http://schemas.microsoft.com/office/drawing/2014/main" val="10001"/>
                  </a:ext>
                </a:extLst>
              </a:tr>
              <a:tr h="426085">
                <a:tc>
                  <a:txBody>
                    <a:bodyPr/>
                    <a:lstStyle/>
                    <a:p>
                      <a:r>
                        <a:rPr lang="en-US" sz="2000" b="0" dirty="0">
                          <a:latin typeface="Times New Roman" pitchFamily="18" charset="0"/>
                          <a:cs typeface="Times New Roman" pitchFamily="18" charset="0"/>
                        </a:rPr>
                        <a:t>11.</a:t>
                      </a:r>
                    </a:p>
                  </a:txBody>
                  <a:tcPr/>
                </a:tc>
                <a:tc>
                  <a:txBody>
                    <a:bodyPr/>
                    <a:lstStyle/>
                    <a:p>
                      <a:r>
                        <a:rPr lang="en-US" sz="2000" b="0" dirty="0">
                          <a:latin typeface="Times New Roman" pitchFamily="18" charset="0"/>
                          <a:cs typeface="Times New Roman" pitchFamily="18" charset="0"/>
                        </a:rPr>
                        <a:t>COs and PSOs Mapping</a:t>
                      </a:r>
                    </a:p>
                  </a:txBody>
                  <a:tcPr/>
                </a:tc>
                <a:extLst>
                  <a:ext uri="{0D108BD9-81ED-4DB2-BD59-A6C34878D82A}">
                    <a16:rowId xmlns="" xmlns:a16="http://schemas.microsoft.com/office/drawing/2014/main" val="3804090430"/>
                  </a:ext>
                </a:extLst>
              </a:tr>
              <a:tr h="426085">
                <a:tc>
                  <a:txBody>
                    <a:bodyPr/>
                    <a:lstStyle/>
                    <a:p>
                      <a:r>
                        <a:rPr lang="en-US" sz="2000" b="0" dirty="0">
                          <a:latin typeface="Times New Roman" pitchFamily="18" charset="0"/>
                          <a:cs typeface="Times New Roman" pitchFamily="18" charset="0"/>
                        </a:rPr>
                        <a:t>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Program Educational Objectives (PEOs)</a:t>
                      </a:r>
                    </a:p>
                  </a:txBody>
                  <a:tcPr/>
                </a:tc>
                <a:extLst>
                  <a:ext uri="{0D108BD9-81ED-4DB2-BD59-A6C34878D82A}">
                    <a16:rowId xmlns="" xmlns:a16="http://schemas.microsoft.com/office/drawing/2014/main" val="10002"/>
                  </a:ext>
                </a:extLst>
              </a:tr>
              <a:tr h="426085">
                <a:tc>
                  <a:txBody>
                    <a:bodyPr/>
                    <a:lstStyle/>
                    <a:p>
                      <a:r>
                        <a:rPr lang="en-US" sz="2000" b="0" dirty="0">
                          <a:latin typeface="Times New Roman" pitchFamily="18" charset="0"/>
                          <a:cs typeface="Times New Roman" pitchFamily="18" charset="0"/>
                        </a:rPr>
                        <a:t>13.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Result Analysis</a:t>
                      </a:r>
                    </a:p>
                  </a:txBody>
                  <a:tcPr/>
                </a:tc>
                <a:extLst>
                  <a:ext uri="{0D108BD9-81ED-4DB2-BD59-A6C34878D82A}">
                    <a16:rowId xmlns="" xmlns:a16="http://schemas.microsoft.com/office/drawing/2014/main" val="832475340"/>
                  </a:ext>
                </a:extLst>
              </a:tr>
              <a:tr h="426085">
                <a:tc>
                  <a:txBody>
                    <a:bodyPr/>
                    <a:lstStyle/>
                    <a:p>
                      <a:r>
                        <a:rPr lang="en-US" sz="2000" b="0" dirty="0">
                          <a:latin typeface="Times New Roman" pitchFamily="18" charset="0"/>
                          <a:cs typeface="Times New Roman" pitchFamily="18" charset="0"/>
                        </a:rPr>
                        <a:t>14.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End Semester Question paper Templates</a:t>
                      </a:r>
                    </a:p>
                  </a:txBody>
                  <a:tcPr/>
                </a:tc>
                <a:extLst>
                  <a:ext uri="{0D108BD9-81ED-4DB2-BD59-A6C34878D82A}">
                    <a16:rowId xmlns="" xmlns:a16="http://schemas.microsoft.com/office/drawing/2014/main" val="1018038143"/>
                  </a:ext>
                </a:extLst>
              </a:tr>
              <a:tr h="426085">
                <a:tc>
                  <a:txBody>
                    <a:bodyPr/>
                    <a:lstStyle/>
                    <a:p>
                      <a:r>
                        <a:rPr lang="en-US" sz="2000" b="0" dirty="0">
                          <a:latin typeface="Times New Roman" pitchFamily="18" charset="0"/>
                          <a:cs typeface="Times New Roman" pitchFamily="18" charset="0"/>
                        </a:rPr>
                        <a:t>15.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Prerequisite/Recap</a:t>
                      </a:r>
                    </a:p>
                  </a:txBody>
                  <a:tcPr/>
                </a:tc>
                <a:extLst>
                  <a:ext uri="{0D108BD9-81ED-4DB2-BD59-A6C34878D82A}">
                    <a16:rowId xmlns="" xmlns:a16="http://schemas.microsoft.com/office/drawing/2014/main" val="10003"/>
                  </a:ext>
                </a:extLst>
              </a:tr>
              <a:tr h="426085">
                <a:tc>
                  <a:txBody>
                    <a:bodyPr/>
                    <a:lstStyle/>
                    <a:p>
                      <a:r>
                        <a:rPr lang="en-US" sz="2000" b="0" dirty="0">
                          <a:latin typeface="Times New Roman" pitchFamily="18" charset="0"/>
                          <a:cs typeface="Times New Roman" pitchFamily="18" charset="0"/>
                        </a:rPr>
                        <a:t>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Brief Introduction about the subject with Video links</a:t>
                      </a:r>
                    </a:p>
                  </a:txBody>
                  <a:tcPr/>
                </a:tc>
                <a:extLst>
                  <a:ext uri="{0D108BD9-81ED-4DB2-BD59-A6C34878D82A}">
                    <a16:rowId xmlns="" xmlns:a16="http://schemas.microsoft.com/office/drawing/2014/main" val="3760810927"/>
                  </a:ext>
                </a:extLst>
              </a:tr>
              <a:tr h="426085">
                <a:tc>
                  <a:txBody>
                    <a:bodyPr/>
                    <a:lstStyle/>
                    <a:p>
                      <a:r>
                        <a:rPr lang="en-US" sz="2000" b="0" dirty="0">
                          <a:latin typeface="Times New Roman" pitchFamily="18" charset="0"/>
                          <a:cs typeface="Times New Roman" pitchFamily="18" charset="0"/>
                        </a:rPr>
                        <a:t>17.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Unit Contents</a:t>
                      </a:r>
                    </a:p>
                  </a:txBody>
                  <a:tcPr/>
                </a:tc>
                <a:extLst>
                  <a:ext uri="{0D108BD9-81ED-4DB2-BD59-A6C34878D82A}">
                    <a16:rowId xmlns="" xmlns:a16="http://schemas.microsoft.com/office/drawing/2014/main" val="2447268067"/>
                  </a:ext>
                </a:extLst>
              </a:tr>
              <a:tr h="426085">
                <a:tc>
                  <a:txBody>
                    <a:bodyPr/>
                    <a:lstStyle/>
                    <a:p>
                      <a:r>
                        <a:rPr lang="en-US" sz="2000" b="0" dirty="0">
                          <a:latin typeface="Times New Roman" pitchFamily="18" charset="0"/>
                          <a:cs typeface="Times New Roman" pitchFamily="18" charset="0"/>
                        </a:rPr>
                        <a:t>18.</a:t>
                      </a:r>
                    </a:p>
                  </a:txBody>
                  <a:tcPr/>
                </a:tc>
                <a:tc>
                  <a:txBody>
                    <a:bodyPr/>
                    <a:lstStyle/>
                    <a:p>
                      <a:r>
                        <a:rPr lang="en-US" sz="2000" b="0" dirty="0">
                          <a:latin typeface="Times New Roman" pitchFamily="18" charset="0"/>
                          <a:cs typeface="Times New Roman" pitchFamily="18" charset="0"/>
                        </a:rPr>
                        <a:t>Unit Objectives</a:t>
                      </a:r>
                    </a:p>
                  </a:txBody>
                  <a:tcPr/>
                </a:tc>
                <a:extLst>
                  <a:ext uri="{0D108BD9-81ED-4DB2-BD59-A6C34878D82A}">
                    <a16:rowId xmlns="" xmlns:a16="http://schemas.microsoft.com/office/drawing/2014/main" val="10004"/>
                  </a:ext>
                </a:extLst>
              </a:tr>
              <a:tr h="426085">
                <a:tc>
                  <a:txBody>
                    <a:bodyPr/>
                    <a:lstStyle/>
                    <a:p>
                      <a:r>
                        <a:rPr lang="en-US" sz="2000" b="0" dirty="0">
                          <a:latin typeface="Times New Roman" pitchFamily="18" charset="0"/>
                          <a:cs typeface="Times New Roman" pitchFamily="18" charset="0"/>
                        </a:rPr>
                        <a:t>19.</a:t>
                      </a:r>
                    </a:p>
                  </a:txBody>
                  <a:tcPr/>
                </a:tc>
                <a:tc>
                  <a:txBody>
                    <a:bodyPr/>
                    <a:lstStyle/>
                    <a:p>
                      <a:r>
                        <a:rPr lang="en-US" sz="2000" b="0" dirty="0">
                          <a:latin typeface="Times New Roman" pitchFamily="18" charset="0"/>
                          <a:cs typeface="Times New Roman" pitchFamily="18" charset="0"/>
                        </a:rPr>
                        <a:t>Topic/ Session Objectives</a:t>
                      </a:r>
                    </a:p>
                  </a:txBody>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1432984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10200"/>
          </a:xfrm>
        </p:spPr>
        <p:txBody>
          <a:bodyPr>
            <a:normAutofit/>
          </a:bodyPr>
          <a:lstStyle/>
          <a:p>
            <a:pPr>
              <a:buNone/>
            </a:pPr>
            <a:endParaRPr lang="en-US" sz="1800" dirty="0"/>
          </a:p>
          <a:p>
            <a:pPr>
              <a:buNone/>
            </a:pPr>
            <a:endParaRPr lang="en-US" sz="1800" dirty="0"/>
          </a:p>
        </p:txBody>
      </p:sp>
      <p:sp>
        <p:nvSpPr>
          <p:cNvPr id="4" name="Date Placeholder 3"/>
          <p:cNvSpPr>
            <a:spLocks noGrp="1"/>
          </p:cNvSpPr>
          <p:nvPr>
            <p:ph type="dt" sz="half" idx="10"/>
          </p:nvPr>
        </p:nvSpPr>
        <p:spPr/>
        <p:txBody>
          <a:bodyPr/>
          <a:lstStyle/>
          <a:p>
            <a:fld id="{7141A6C2-596A-4570-BB44-4618B62D541E}" type="datetime1">
              <a:rPr lang="en-US" smtClean="0"/>
              <a:t>3/9/2022</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2936049" y="98427"/>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a:latin typeface="Times New Roman" panose="02020603050405020304" pitchFamily="18" charset="0"/>
                <a:cs typeface="Times New Roman" panose="02020603050405020304" pitchFamily="18" charset="0"/>
              </a:rPr>
              <a:t>Index/ Content</a:t>
            </a:r>
            <a:endParaRPr lang="en-US" sz="2400" b="1" dirty="0">
              <a:latin typeface="Times New Roman" panose="02020603050405020304" pitchFamily="18" charset="0"/>
              <a:cs typeface="Times New Roman" panose="02020603050405020304" pitchFamily="18" charset="0"/>
            </a:endParaRPr>
          </a:p>
        </p:txBody>
      </p:sp>
      <p:pic>
        <p:nvPicPr>
          <p:cNvPr id="10" name="Picture 2" descr="NIET, Greater Noida: Cutoff, Placements, Courses, Fees, Admission 20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1599" y="36534"/>
            <a:ext cx="1314450" cy="914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Content Placeholder 8">
            <a:extLst>
              <a:ext uri="{FF2B5EF4-FFF2-40B4-BE49-F238E27FC236}">
                <a16:creationId xmlns="" xmlns:a16="http://schemas.microsoft.com/office/drawing/2014/main" id="{6FDD0E26-B397-409D-9884-90B327F11C7E}"/>
              </a:ext>
            </a:extLst>
          </p:cNvPr>
          <p:cNvGraphicFramePr>
            <a:graphicFrameLocks/>
          </p:cNvGraphicFramePr>
          <p:nvPr>
            <p:extLst>
              <p:ext uri="{D42A27DB-BD31-4B8C-83A1-F6EECF244321}">
                <p14:modId xmlns:p14="http://schemas.microsoft.com/office/powerpoint/2010/main" val="4070996865"/>
              </p:ext>
            </p:extLst>
          </p:nvPr>
        </p:nvGraphicFramePr>
        <p:xfrm>
          <a:off x="1752600" y="996142"/>
          <a:ext cx="8458201" cy="4336415"/>
        </p:xfrm>
        <a:graphic>
          <a:graphicData uri="http://schemas.openxmlformats.org/drawingml/2006/table">
            <a:tbl>
              <a:tblPr firstRow="1" bandRow="1">
                <a:tableStyleId>{5C22544A-7EE6-4342-B048-85BDC9FD1C3A}</a:tableStyleId>
              </a:tblPr>
              <a:tblGrid>
                <a:gridCol w="1566333">
                  <a:extLst>
                    <a:ext uri="{9D8B030D-6E8A-4147-A177-3AD203B41FA5}">
                      <a16:colId xmlns="" xmlns:a16="http://schemas.microsoft.com/office/drawing/2014/main" val="20000"/>
                    </a:ext>
                  </a:extLst>
                </a:gridCol>
                <a:gridCol w="6891868">
                  <a:extLst>
                    <a:ext uri="{9D8B030D-6E8A-4147-A177-3AD203B41FA5}">
                      <a16:colId xmlns="" xmlns:a16="http://schemas.microsoft.com/office/drawing/2014/main" val="20001"/>
                    </a:ext>
                  </a:extLst>
                </a:gridCol>
              </a:tblGrid>
              <a:tr h="361527">
                <a:tc>
                  <a:txBody>
                    <a:bodyPr/>
                    <a:lstStyle/>
                    <a:p>
                      <a:r>
                        <a:rPr lang="en-US" sz="2200" dirty="0"/>
                        <a:t>S. No.</a:t>
                      </a:r>
                    </a:p>
                  </a:txBody>
                  <a:tcPr/>
                </a:tc>
                <a:tc>
                  <a:txBody>
                    <a:bodyPr/>
                    <a:lstStyle/>
                    <a:p>
                      <a:pPr algn="l"/>
                      <a:r>
                        <a:rPr lang="en-US" sz="2200" dirty="0"/>
                        <a:t>Index</a:t>
                      </a:r>
                    </a:p>
                  </a:txBody>
                  <a:tcPr/>
                </a:tc>
                <a:extLst>
                  <a:ext uri="{0D108BD9-81ED-4DB2-BD59-A6C34878D82A}">
                    <a16:rowId xmlns="" xmlns:a16="http://schemas.microsoft.com/office/drawing/2014/main" val="10000"/>
                  </a:ext>
                </a:extLst>
              </a:tr>
              <a:tr h="501015">
                <a:tc>
                  <a:txBody>
                    <a:bodyPr/>
                    <a:lstStyle/>
                    <a:p>
                      <a:r>
                        <a:rPr lang="en-US" sz="2000" b="0" dirty="0">
                          <a:latin typeface="Times New Roman" pitchFamily="18" charset="0"/>
                          <a:cs typeface="Times New Roman" pitchFamily="18" charset="0"/>
                        </a:rPr>
                        <a:t>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dk1"/>
                          </a:solidFill>
                          <a:effectLst/>
                          <a:uLnTx/>
                          <a:uFillTx/>
                          <a:latin typeface="Times New Roman" panose="02020603050405020304" pitchFamily="18" charset="0"/>
                          <a:ea typeface="+mn-ea"/>
                          <a:cs typeface="Times New Roman" panose="02020603050405020304" pitchFamily="18" charset="0"/>
                        </a:rPr>
                        <a:t>Lecture related to topic</a:t>
                      </a:r>
                    </a:p>
                  </a:txBody>
                  <a:tcPr/>
                </a:tc>
                <a:extLst>
                  <a:ext uri="{0D108BD9-81ED-4DB2-BD59-A6C34878D82A}">
                    <a16:rowId xmlns="" xmlns:a16="http://schemas.microsoft.com/office/drawing/2014/main" val="10007"/>
                  </a:ext>
                </a:extLst>
              </a:tr>
              <a:tr h="426085">
                <a:tc>
                  <a:txBody>
                    <a:bodyPr/>
                    <a:lstStyle/>
                    <a:p>
                      <a:r>
                        <a:rPr lang="en-US" sz="2000" b="0" dirty="0">
                          <a:latin typeface="Times New Roman" pitchFamily="18" charset="0"/>
                          <a:cs typeface="Times New Roman" pitchFamily="18" charset="0"/>
                        </a:rPr>
                        <a:t>21.</a:t>
                      </a:r>
                    </a:p>
                  </a:txBody>
                  <a:tcPr/>
                </a:tc>
                <a:tc>
                  <a:txBody>
                    <a:bodyPr/>
                    <a:lstStyle/>
                    <a:p>
                      <a:r>
                        <a:rPr lang="en-US" sz="2000" b="0" dirty="0">
                          <a:latin typeface="Times New Roman" pitchFamily="18" charset="0"/>
                          <a:cs typeface="Times New Roman" pitchFamily="18" charset="0"/>
                        </a:rPr>
                        <a:t>Daily Quiz</a:t>
                      </a:r>
                    </a:p>
                  </a:txBody>
                  <a:tcPr/>
                </a:tc>
                <a:extLst>
                  <a:ext uri="{0D108BD9-81ED-4DB2-BD59-A6C34878D82A}">
                    <a16:rowId xmlns="" xmlns:a16="http://schemas.microsoft.com/office/drawing/2014/main" val="10008"/>
                  </a:ext>
                </a:extLst>
              </a:tr>
              <a:tr h="426085">
                <a:tc>
                  <a:txBody>
                    <a:bodyPr/>
                    <a:lstStyle/>
                    <a:p>
                      <a:r>
                        <a:rPr lang="en-US" sz="2000" b="0" dirty="0">
                          <a:latin typeface="Times New Roman" pitchFamily="18" charset="0"/>
                          <a:cs typeface="Times New Roman" pitchFamily="18" charset="0"/>
                        </a:rPr>
                        <a:t>22.</a:t>
                      </a:r>
                    </a:p>
                  </a:txBody>
                  <a:tcPr/>
                </a:tc>
                <a:tc>
                  <a:txBody>
                    <a:bodyPr/>
                    <a:lstStyle/>
                    <a:p>
                      <a:r>
                        <a:rPr lang="en-US" sz="2000" b="0" dirty="0">
                          <a:latin typeface="Times New Roman" pitchFamily="18" charset="0"/>
                          <a:cs typeface="Times New Roman" pitchFamily="18" charset="0"/>
                        </a:rPr>
                        <a:t>Weekly Assignment</a:t>
                      </a:r>
                    </a:p>
                  </a:txBody>
                  <a:tcPr/>
                </a:tc>
                <a:extLst>
                  <a:ext uri="{0D108BD9-81ED-4DB2-BD59-A6C34878D82A}">
                    <a16:rowId xmlns="" xmlns:a16="http://schemas.microsoft.com/office/drawing/2014/main" val="10009"/>
                  </a:ext>
                </a:extLst>
              </a:tr>
              <a:tr h="426085">
                <a:tc>
                  <a:txBody>
                    <a:bodyPr/>
                    <a:lstStyle/>
                    <a:p>
                      <a:r>
                        <a:rPr lang="en-US" sz="2000" b="0" dirty="0">
                          <a:latin typeface="Times New Roman" pitchFamily="18" charset="0"/>
                          <a:cs typeface="Times New Roman" pitchFamily="18" charset="0"/>
                        </a:rPr>
                        <a:t>23.</a:t>
                      </a:r>
                    </a:p>
                  </a:txBody>
                  <a:tcPr/>
                </a:tc>
                <a:tc>
                  <a:txBody>
                    <a:bodyPr/>
                    <a:lstStyle/>
                    <a:p>
                      <a:r>
                        <a:rPr lang="en-US" sz="2000" b="0" dirty="0">
                          <a:latin typeface="Times New Roman" pitchFamily="18" charset="0"/>
                          <a:cs typeface="Times New Roman" pitchFamily="18" charset="0"/>
                        </a:rPr>
                        <a:t>Topic Links</a:t>
                      </a:r>
                    </a:p>
                  </a:txBody>
                  <a:tcPr/>
                </a:tc>
                <a:extLst>
                  <a:ext uri="{0D108BD9-81ED-4DB2-BD59-A6C34878D82A}">
                    <a16:rowId xmlns="" xmlns:a16="http://schemas.microsoft.com/office/drawing/2014/main" val="4095883772"/>
                  </a:ext>
                </a:extLst>
              </a:tr>
              <a:tr h="426085">
                <a:tc>
                  <a:txBody>
                    <a:bodyPr/>
                    <a:lstStyle/>
                    <a:p>
                      <a:r>
                        <a:rPr lang="en-US" sz="2000" b="0" dirty="0">
                          <a:latin typeface="Times New Roman" pitchFamily="18" charset="0"/>
                          <a:cs typeface="Times New Roman" pitchFamily="18" charset="0"/>
                        </a:rPr>
                        <a:t>24.</a:t>
                      </a:r>
                    </a:p>
                  </a:txBody>
                  <a:tcPr/>
                </a:tc>
                <a:tc>
                  <a:txBody>
                    <a:bodyPr/>
                    <a:lstStyle/>
                    <a:p>
                      <a:r>
                        <a:rPr lang="en-US" sz="2000" b="0" dirty="0">
                          <a:latin typeface="Times New Roman" pitchFamily="18" charset="0"/>
                          <a:cs typeface="Times New Roman" pitchFamily="18" charset="0"/>
                        </a:rPr>
                        <a:t>MCQs </a:t>
                      </a:r>
                    </a:p>
                  </a:txBody>
                  <a:tcPr/>
                </a:tc>
                <a:extLst>
                  <a:ext uri="{0D108BD9-81ED-4DB2-BD59-A6C34878D82A}">
                    <a16:rowId xmlns="" xmlns:a16="http://schemas.microsoft.com/office/drawing/2014/main" val="10010"/>
                  </a:ext>
                </a:extLst>
              </a:tr>
              <a:tr h="426085">
                <a:tc>
                  <a:txBody>
                    <a:bodyPr/>
                    <a:lstStyle/>
                    <a:p>
                      <a:r>
                        <a:rPr lang="en-US" sz="2000" b="0" dirty="0">
                          <a:latin typeface="Times New Roman" pitchFamily="18" charset="0"/>
                          <a:cs typeface="Times New Roman" pitchFamily="18" charset="0"/>
                        </a:rPr>
                        <a:t>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Glossary questions</a:t>
                      </a:r>
                    </a:p>
                  </a:txBody>
                  <a:tcPr/>
                </a:tc>
                <a:extLst>
                  <a:ext uri="{0D108BD9-81ED-4DB2-BD59-A6C34878D82A}">
                    <a16:rowId xmlns="" xmlns:a16="http://schemas.microsoft.com/office/drawing/2014/main" val="965284285"/>
                  </a:ext>
                </a:extLst>
              </a:tr>
              <a:tr h="426085">
                <a:tc>
                  <a:txBody>
                    <a:bodyPr/>
                    <a:lstStyle/>
                    <a:p>
                      <a:r>
                        <a:rPr lang="en-US" sz="2000" b="0" dirty="0">
                          <a:latin typeface="Times New Roman" pitchFamily="18" charset="0"/>
                          <a:cs typeface="Times New Roman" pitchFamily="18" charset="0"/>
                        </a:rPr>
                        <a:t>26.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Old question papers</a:t>
                      </a:r>
                    </a:p>
                  </a:txBody>
                  <a:tcPr/>
                </a:tc>
                <a:extLst>
                  <a:ext uri="{0D108BD9-81ED-4DB2-BD59-A6C34878D82A}">
                    <a16:rowId xmlns="" xmlns:a16="http://schemas.microsoft.com/office/drawing/2014/main" val="510369920"/>
                  </a:ext>
                </a:extLst>
              </a:tr>
              <a:tr h="426085">
                <a:tc>
                  <a:txBody>
                    <a:bodyPr/>
                    <a:lstStyle/>
                    <a:p>
                      <a:r>
                        <a:rPr lang="en-US" sz="2000" b="0" dirty="0">
                          <a:latin typeface="Times New Roman" pitchFamily="18" charset="0"/>
                          <a:cs typeface="Times New Roman" pitchFamily="18" charset="0"/>
                        </a:rPr>
                        <a:t>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Expected questions</a:t>
                      </a:r>
                    </a:p>
                  </a:txBody>
                  <a:tcPr/>
                </a:tc>
                <a:extLst>
                  <a:ext uri="{0D108BD9-81ED-4DB2-BD59-A6C34878D82A}">
                    <a16:rowId xmlns="" xmlns:a16="http://schemas.microsoft.com/office/drawing/2014/main" val="988693101"/>
                  </a:ext>
                </a:extLst>
              </a:tr>
              <a:tr h="426085">
                <a:tc>
                  <a:txBody>
                    <a:bodyPr/>
                    <a:lstStyle/>
                    <a:p>
                      <a:r>
                        <a:rPr lang="en-US" sz="2000" b="0" dirty="0">
                          <a:latin typeface="Times New Roman" pitchFamily="18" charset="0"/>
                          <a:cs typeface="Times New Roman" pitchFamily="18" charset="0"/>
                        </a:rPr>
                        <a:t>28.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Recap of Unit</a:t>
                      </a:r>
                    </a:p>
                  </a:txBody>
                  <a:tcPr/>
                </a:tc>
                <a:extLst>
                  <a:ext uri="{0D108BD9-81ED-4DB2-BD59-A6C34878D82A}">
                    <a16:rowId xmlns="" xmlns:a16="http://schemas.microsoft.com/office/drawing/2014/main" val="2566950375"/>
                  </a:ext>
                </a:extLst>
              </a:tr>
            </a:tbl>
          </a:graphicData>
        </a:graphic>
      </p:graphicFrame>
    </p:spTree>
    <p:extLst>
      <p:ext uri="{BB962C8B-B14F-4D97-AF65-F5344CB8AC3E}">
        <p14:creationId xmlns:p14="http://schemas.microsoft.com/office/powerpoint/2010/main" val="34713315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C0D8839-A93E-4083-B87C-B02FB25514A8}" type="datetime1">
              <a:rPr lang="en-US" smtClean="0"/>
              <a:t>3/9/2022</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dirty="0"/>
              <a:t>Evaluation Scheme</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pic>
        <p:nvPicPr>
          <p:cNvPr id="11" name="Picture 2" descr="NIET, Greater Noida: Cutoff, Placements, Courses, Fees, Admission 20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
            <a:ext cx="1390650" cy="81716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 xmlns:a16="http://schemas.microsoft.com/office/drawing/2014/main" id="{AD5967AE-2456-40F8-92B8-3CDA23AC44CF}"/>
              </a:ext>
            </a:extLst>
          </p:cNvPr>
          <p:cNvPicPr>
            <a:picLocks noChangeAspect="1"/>
          </p:cNvPicPr>
          <p:nvPr/>
        </p:nvPicPr>
        <p:blipFill>
          <a:blip r:embed="rId4"/>
          <a:stretch>
            <a:fillRect/>
          </a:stretch>
        </p:blipFill>
        <p:spPr>
          <a:xfrm>
            <a:off x="2380012" y="793755"/>
            <a:ext cx="6991709" cy="4057859"/>
          </a:xfrm>
          <a:prstGeom prst="rect">
            <a:avLst/>
          </a:prstGeom>
        </p:spPr>
      </p:pic>
      <p:pic>
        <p:nvPicPr>
          <p:cNvPr id="10" name="Picture 9">
            <a:extLst>
              <a:ext uri="{FF2B5EF4-FFF2-40B4-BE49-F238E27FC236}">
                <a16:creationId xmlns="" xmlns:a16="http://schemas.microsoft.com/office/drawing/2014/main" id="{FD2ACE30-6B8F-4A0D-8DAB-4BEB81CA63A9}"/>
              </a:ext>
            </a:extLst>
          </p:cNvPr>
          <p:cNvPicPr>
            <a:picLocks noChangeAspect="1"/>
          </p:cNvPicPr>
          <p:nvPr/>
        </p:nvPicPr>
        <p:blipFill>
          <a:blip r:embed="rId5"/>
          <a:stretch>
            <a:fillRect/>
          </a:stretch>
        </p:blipFill>
        <p:spPr>
          <a:xfrm>
            <a:off x="2424463" y="4787965"/>
            <a:ext cx="6902805" cy="1568531"/>
          </a:xfrm>
          <a:prstGeom prst="rect">
            <a:avLst/>
          </a:prstGeom>
        </p:spPr>
      </p:pic>
    </p:spTree>
    <p:extLst>
      <p:ext uri="{BB962C8B-B14F-4D97-AF65-F5344CB8AC3E}">
        <p14:creationId xmlns:p14="http://schemas.microsoft.com/office/powerpoint/2010/main" val="1564359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1B3EDA-5971-4AF2-8E48-ABFF0C8740EF}" type="datetime1">
              <a:rPr lang="en-US" smtClean="0"/>
              <a:t>3/9/2022</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Syllabus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Content Placeholder 8"/>
          <p:cNvSpPr>
            <a:spLocks noGrp="1"/>
          </p:cNvSpPr>
          <p:nvPr>
            <p:ph idx="1"/>
          </p:nvPr>
        </p:nvSpPr>
        <p:spPr>
          <a:xfrm>
            <a:off x="609600" y="817162"/>
            <a:ext cx="11239099" cy="5927777"/>
          </a:xfrm>
          <a:prstGeom prst="rect">
            <a:avLst/>
          </a:prstGeom>
          <a:noFill/>
        </p:spPr>
        <p:txBody>
          <a:bodyPr vert="horz" wrap="square" lIns="91440" tIns="45720" rIns="91440" bIns="45720" rtlCol="0">
            <a:spAutoFit/>
          </a:bodyPr>
          <a:lstStyle/>
          <a:p>
            <a:pPr algn="just">
              <a:buNone/>
            </a:pPr>
            <a:r>
              <a:rPr lang="en-IN" sz="2400" b="1" dirty="0">
                <a:latin typeface="+mj-lt"/>
                <a:cs typeface="Times New Roman" pitchFamily="18" charset="0"/>
              </a:rPr>
              <a:t>UNIT I: </a:t>
            </a:r>
            <a:r>
              <a:rPr lang="en-US" sz="2400" b="1" dirty="0">
                <a:latin typeface="+mj-lt"/>
              </a:rPr>
              <a:t>Society State and Polity in India                      </a:t>
            </a:r>
            <a:r>
              <a:rPr lang="en-IN" sz="2400" b="1" dirty="0">
                <a:latin typeface="+mj-lt"/>
                <a:cs typeface="Times New Roman" pitchFamily="18" charset="0"/>
              </a:rPr>
              <a:t>(6 Hours) </a:t>
            </a:r>
            <a:endParaRPr lang="en-US" sz="2400" dirty="0">
              <a:latin typeface="+mj-lt"/>
              <a:cs typeface="Times New Roman" pitchFamily="18" charset="0"/>
            </a:endParaRPr>
          </a:p>
          <a:p>
            <a:pPr marL="0" indent="0" algn="just">
              <a:buNone/>
            </a:pPr>
            <a:r>
              <a:rPr lang="en-US" sz="2400" dirty="0">
                <a:latin typeface="+mj-lt"/>
              </a:rPr>
              <a:t>State in Ancient India: Evolutionary Theory, Force Theory, Mystical Theory Contract Theory, Stages of State Formation in Ancient India, Kingship , Council of Ministers Administration Political Ideals in Ancient India Conditions’ of the Welfare of Societies, The Seven Limbs of the State, Society in Ancient India, </a:t>
            </a:r>
            <a:r>
              <a:rPr lang="en-US" sz="2400" dirty="0" err="1">
                <a:latin typeface="+mj-lt"/>
              </a:rPr>
              <a:t>Purusārtha</a:t>
            </a:r>
            <a:r>
              <a:rPr lang="en-US" sz="2400" dirty="0">
                <a:latin typeface="+mj-lt"/>
              </a:rPr>
              <a:t>, Varnāshrama System, </a:t>
            </a:r>
            <a:r>
              <a:rPr lang="en-US" sz="2400" dirty="0" err="1">
                <a:latin typeface="+mj-lt"/>
              </a:rPr>
              <a:t>Āshrama</a:t>
            </a:r>
            <a:r>
              <a:rPr lang="en-US" sz="2400" dirty="0">
                <a:latin typeface="+mj-lt"/>
              </a:rPr>
              <a:t> or the Stages of Life, Marriage, Understanding Gender as a social category, The representation of Women in Historical traditions, Challenges faced by Women. Four-class Classification, Slavery.</a:t>
            </a:r>
          </a:p>
          <a:p>
            <a:pPr marL="0" indent="0" algn="just">
              <a:buNone/>
            </a:pPr>
            <a:r>
              <a:rPr lang="en-US" sz="2400" b="1" dirty="0">
                <a:latin typeface="+mj-lt"/>
              </a:rPr>
              <a:t>UNIT </a:t>
            </a:r>
            <a:r>
              <a:rPr lang="en-IN" sz="2400" b="1" dirty="0">
                <a:latin typeface="+mj-lt"/>
              </a:rPr>
              <a:t>II</a:t>
            </a:r>
            <a:r>
              <a:rPr lang="en-IN" sz="2400" b="1" dirty="0"/>
              <a:t>- Indian Literature, Culture, Tradition, and Practices </a:t>
            </a:r>
            <a:r>
              <a:rPr lang="en-IN" sz="2400" b="1" dirty="0">
                <a:latin typeface="+mj-lt"/>
                <a:cs typeface="Times New Roman" pitchFamily="18" charset="0"/>
              </a:rPr>
              <a:t>(6 Hours) </a:t>
            </a:r>
            <a:endParaRPr lang="en-US" sz="2400" dirty="0">
              <a:latin typeface="+mj-lt"/>
              <a:cs typeface="Times New Roman" pitchFamily="18" charset="0"/>
            </a:endParaRPr>
          </a:p>
          <a:p>
            <a:pPr marL="0" indent="0" algn="just">
              <a:buNone/>
            </a:pPr>
            <a:r>
              <a:rPr lang="en-IN" sz="2400" dirty="0"/>
              <a:t>Evolution of script and languages in India: Harappan Script and Brahmi Script. The Vedas, the Upanishads, the Ramayana and the Mahabharata, Puranas, Buddhist And Jain Literature in </a:t>
            </a:r>
            <a:r>
              <a:rPr lang="en-IN" sz="2400" dirty="0" err="1"/>
              <a:t>Pali,Prakrit</a:t>
            </a:r>
            <a:r>
              <a:rPr lang="en-IN" sz="2400" dirty="0"/>
              <a:t> And Sanskrit, </a:t>
            </a:r>
            <a:r>
              <a:rPr lang="en-IN" sz="2400" dirty="0" err="1"/>
              <a:t>Kautilya’s</a:t>
            </a:r>
            <a:r>
              <a:rPr lang="en-IN" sz="2400" dirty="0"/>
              <a:t> </a:t>
            </a:r>
            <a:r>
              <a:rPr lang="en-IN" sz="2400" dirty="0" err="1"/>
              <a:t>Arthashastra</a:t>
            </a:r>
            <a:r>
              <a:rPr lang="en-IN" sz="2400" dirty="0"/>
              <a:t>, Famous Sanskrit Authors, Telugu Literature, Kannada </a:t>
            </a:r>
            <a:r>
              <a:rPr lang="en-IN" sz="2400" dirty="0" err="1"/>
              <a:t>Literature,Malayalam</a:t>
            </a:r>
            <a:r>
              <a:rPr lang="en-IN" sz="2400" dirty="0"/>
              <a:t> Literature ,</a:t>
            </a:r>
            <a:r>
              <a:rPr lang="en-IN" sz="2400" dirty="0" err="1"/>
              <a:t>Sangama</a:t>
            </a:r>
            <a:r>
              <a:rPr lang="en-IN" sz="2400" dirty="0"/>
              <a:t> Literature Northern Indian Languages &amp; Literature, Persian And Urdu ,Hindi Literature</a:t>
            </a:r>
            <a:endParaRPr lang="en-US" sz="4000" dirty="0"/>
          </a:p>
          <a:p>
            <a:pPr algn="just"/>
            <a:endParaRPr lang="en-US" sz="2400" dirty="0">
              <a:latin typeface="+mj-lt"/>
            </a:endParaRPr>
          </a:p>
        </p:txBody>
      </p:sp>
    </p:spTree>
    <p:extLst>
      <p:ext uri="{BB962C8B-B14F-4D97-AF65-F5344CB8AC3E}">
        <p14:creationId xmlns:p14="http://schemas.microsoft.com/office/powerpoint/2010/main" val="25552202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09FC98-699A-40BA-9B64-80076C04ED0E}" type="datetime1">
              <a:rPr lang="en-US" smtClean="0"/>
              <a:t>3/9/2022</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Syllabus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Content Placeholder 8"/>
          <p:cNvSpPr>
            <a:spLocks noGrp="1"/>
          </p:cNvSpPr>
          <p:nvPr>
            <p:ph idx="1"/>
          </p:nvPr>
        </p:nvSpPr>
        <p:spPr>
          <a:xfrm>
            <a:off x="471637" y="817163"/>
            <a:ext cx="11213431" cy="4844403"/>
          </a:xfrm>
          <a:prstGeom prst="rect">
            <a:avLst/>
          </a:prstGeom>
          <a:noFill/>
        </p:spPr>
        <p:txBody>
          <a:bodyPr vert="horz" wrap="square" lIns="91440" tIns="45720" rIns="91440" bIns="45720" rtlCol="0">
            <a:spAutoFit/>
          </a:bodyPr>
          <a:lstStyle/>
          <a:p>
            <a:pPr algn="just">
              <a:buNone/>
            </a:pPr>
            <a:r>
              <a:rPr lang="en-IN" sz="2000" b="1" dirty="0">
                <a:latin typeface="+mj-lt"/>
                <a:cs typeface="Times New Roman" pitchFamily="18" charset="0"/>
              </a:rPr>
              <a:t>UNIT III:  </a:t>
            </a:r>
            <a:r>
              <a:rPr lang="en-US" sz="2000" b="1" dirty="0">
                <a:latin typeface="+mj-lt"/>
                <a:cs typeface="Times New Roman" pitchFamily="18" charset="0"/>
              </a:rPr>
              <a:t>Indian Religion, Philosophy, and Practices  </a:t>
            </a:r>
            <a:r>
              <a:rPr lang="en-IN" sz="2000" b="1" dirty="0">
                <a:latin typeface="+mj-lt"/>
                <a:cs typeface="Times New Roman" pitchFamily="18" charset="0"/>
              </a:rPr>
              <a:t>(8 Hour)</a:t>
            </a:r>
            <a:endParaRPr lang="en-US" sz="2000" b="1" dirty="0">
              <a:latin typeface="+mj-lt"/>
              <a:cs typeface="Times New Roman" pitchFamily="18" charset="0"/>
            </a:endParaRPr>
          </a:p>
          <a:p>
            <a:pPr algn="just"/>
            <a:r>
              <a:rPr lang="en-US" sz="2000" dirty="0">
                <a:latin typeface="+mj-lt"/>
                <a:cs typeface="Times New Roman" pitchFamily="18" charset="0"/>
              </a:rPr>
              <a:t>Pre-Vedic and Vedic Religion, Buddhism, Jainism, Six System Indian Philosophy, Shankaracharya, Various Philosophical Doctrines, Other Heterodox Sects, Bhakti Movement, Sufi movement, Socio religious reform movement of 19th century, Modern religious practices. </a:t>
            </a:r>
          </a:p>
          <a:p>
            <a:pPr algn="just">
              <a:buNone/>
            </a:pPr>
            <a:r>
              <a:rPr lang="en-IN" sz="2000" b="1" dirty="0">
                <a:cs typeface="Times New Roman" pitchFamily="18" charset="0"/>
              </a:rPr>
              <a:t>UNIT IV:  </a:t>
            </a:r>
            <a:r>
              <a:rPr lang="en-US" sz="2000" b="1" dirty="0">
                <a:cs typeface="Times New Roman" pitchFamily="18" charset="0"/>
              </a:rPr>
              <a:t>Science, Management and Indian Knowledge System </a:t>
            </a:r>
            <a:r>
              <a:rPr lang="en-IN" sz="2000" b="1" dirty="0">
                <a:cs typeface="Times New Roman" pitchFamily="18" charset="0"/>
              </a:rPr>
              <a:t>(8 Hour)</a:t>
            </a:r>
            <a:endParaRPr lang="en-US" sz="2000" dirty="0">
              <a:latin typeface="+mj-lt"/>
              <a:cs typeface="Times New Roman" pitchFamily="18" charset="0"/>
            </a:endParaRPr>
          </a:p>
          <a:p>
            <a:pPr algn="just"/>
            <a:r>
              <a:rPr lang="en-US" sz="2000" dirty="0">
                <a:latin typeface="+mj-lt"/>
                <a:cs typeface="Times New Roman" pitchFamily="18" charset="0"/>
              </a:rPr>
              <a:t>Astronomy in India, Chemistry in India, Mathematics in India, Physics in India, Agriculture in India, Medicine in </a:t>
            </a:r>
            <a:r>
              <a:rPr lang="en-US" sz="2000" dirty="0" err="1">
                <a:latin typeface="+mj-lt"/>
                <a:cs typeface="Times New Roman" pitchFamily="18" charset="0"/>
              </a:rPr>
              <a:t>India,Metallurgy</a:t>
            </a:r>
            <a:r>
              <a:rPr lang="en-US" sz="2000" dirty="0">
                <a:latin typeface="+mj-lt"/>
                <a:cs typeface="Times New Roman" pitchFamily="18" charset="0"/>
              </a:rPr>
              <a:t> in India, Geography, Biology, Harappan Technologies, Water Management in India, Textile Technology in </a:t>
            </a:r>
            <a:r>
              <a:rPr lang="en-US" sz="2000" dirty="0" err="1">
                <a:latin typeface="+mj-lt"/>
                <a:cs typeface="Times New Roman" pitchFamily="18" charset="0"/>
              </a:rPr>
              <a:t>India,Writing</a:t>
            </a:r>
            <a:r>
              <a:rPr lang="en-US" sz="2000" dirty="0">
                <a:latin typeface="+mj-lt"/>
                <a:cs typeface="Times New Roman" pitchFamily="18" charset="0"/>
              </a:rPr>
              <a:t> Technology in India Pyrotechnics in India Trade in Ancient India/India’s Dominance up to Pre-colonial Times.</a:t>
            </a:r>
          </a:p>
          <a:p>
            <a:pPr>
              <a:buNone/>
            </a:pPr>
            <a:r>
              <a:rPr lang="en-IN" sz="2000" b="1" dirty="0">
                <a:latin typeface="+mj-lt"/>
                <a:cs typeface="Times New Roman" pitchFamily="18" charset="0"/>
              </a:rPr>
              <a:t>UNIT V: </a:t>
            </a:r>
            <a:r>
              <a:rPr lang="en-US" sz="2000" b="1" dirty="0">
                <a:latin typeface="+mj-lt"/>
              </a:rPr>
              <a:t>Cultural Heritage and Performing Arts </a:t>
            </a:r>
            <a:r>
              <a:rPr lang="en-IN" sz="2000" b="1" dirty="0">
                <a:latin typeface="+mj-lt"/>
                <a:cs typeface="Times New Roman" pitchFamily="18" charset="0"/>
              </a:rPr>
              <a:t>(4 Hours) </a:t>
            </a:r>
            <a:endParaRPr lang="en-US" sz="2000" b="1" dirty="0">
              <a:latin typeface="+mj-lt"/>
              <a:cs typeface="Times New Roman" pitchFamily="18" charset="0"/>
            </a:endParaRPr>
          </a:p>
          <a:p>
            <a:pPr algn="just"/>
            <a:r>
              <a:rPr lang="en-US" sz="2000" dirty="0"/>
              <a:t>Indian Architect, Engineering and Architecture in Ancient India, Sculptures, Seals, coins, Pottery, Puppetry, Dance, Music, Theatre, drama, Painting, Martial Arts Traditions, Fairs and Festivals, Current developments in Arts and Cultural, Indian’s Cultural Contribution to the World. Indian Cinema </a:t>
            </a:r>
          </a:p>
          <a:p>
            <a:pPr algn="just"/>
            <a:endParaRPr lang="en-US" sz="2400" dirty="0">
              <a:latin typeface="+mj-lt"/>
              <a:cs typeface="Times New Roman" pitchFamily="18" charset="0"/>
            </a:endParaRPr>
          </a:p>
        </p:txBody>
      </p:sp>
    </p:spTree>
    <p:extLst>
      <p:ext uri="{BB962C8B-B14F-4D97-AF65-F5344CB8AC3E}">
        <p14:creationId xmlns:p14="http://schemas.microsoft.com/office/powerpoint/2010/main" val="41766290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E059653-8DF0-43D5-AC40-6FBCB9CF64E7}" type="datetime1">
              <a:rPr lang="en-US" smtClean="0"/>
              <a:t>3/9/2022</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Branch wise Applications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Content Placeholder 8"/>
          <p:cNvSpPr>
            <a:spLocks noGrp="1"/>
          </p:cNvSpPr>
          <p:nvPr>
            <p:ph idx="1"/>
          </p:nvPr>
        </p:nvSpPr>
        <p:spPr>
          <a:xfrm>
            <a:off x="2057400" y="817163"/>
            <a:ext cx="8077200" cy="4154984"/>
          </a:xfrm>
          <a:prstGeom prst="rect">
            <a:avLst/>
          </a:prstGeom>
          <a:noFill/>
        </p:spPr>
        <p:txBody>
          <a:bodyPr vert="horz" wrap="square" lIns="91440" tIns="45720" rIns="91440" bIns="45720" rtlCol="0">
            <a:spAutoFit/>
          </a:bodyPr>
          <a:lstStyle/>
          <a:p>
            <a:r>
              <a:rPr lang="en-US" sz="2400" b="1" dirty="0"/>
              <a:t>This course will help-</a:t>
            </a:r>
          </a:p>
          <a:p>
            <a:r>
              <a:rPr lang="en-US" sz="2400" dirty="0"/>
              <a:t>To know about the Indian culture and related education and </a:t>
            </a:r>
            <a:r>
              <a:rPr lang="en-US" sz="2400" dirty="0" smtClean="0"/>
              <a:t>to apply </a:t>
            </a:r>
            <a:r>
              <a:rPr lang="en-US" sz="2400" dirty="0"/>
              <a:t>in society.</a:t>
            </a:r>
          </a:p>
          <a:p>
            <a:r>
              <a:rPr lang="en-US" sz="2400" dirty="0"/>
              <a:t>To understand the importance of Indian heritage, languages etc. and spread the knowledge in the society.</a:t>
            </a:r>
          </a:p>
          <a:p>
            <a:r>
              <a:rPr lang="en-US" sz="2400" dirty="0"/>
              <a:t>To understand the different religions, dialects, living standards of the people and make aware the society about the same</a:t>
            </a:r>
          </a:p>
          <a:p>
            <a:pPr>
              <a:buNone/>
            </a:pPr>
            <a:endParaRPr lang="en-US" sz="2400" b="1" dirty="0"/>
          </a:p>
          <a:p>
            <a:endParaRPr lang="en-US" sz="2400" dirty="0"/>
          </a:p>
        </p:txBody>
      </p:sp>
    </p:spTree>
    <p:extLst>
      <p:ext uri="{BB962C8B-B14F-4D97-AF65-F5344CB8AC3E}">
        <p14:creationId xmlns:p14="http://schemas.microsoft.com/office/powerpoint/2010/main" val="12309104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C12A04C-48CC-4812-B037-828834DF6633}" type="datetime1">
              <a:rPr lang="en-US" smtClean="0"/>
              <a:t>3/9/2022</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Course Objectives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sp>
        <p:nvSpPr>
          <p:cNvPr id="9" name="Content Placeholder 8"/>
          <p:cNvSpPr>
            <a:spLocks noGrp="1"/>
          </p:cNvSpPr>
          <p:nvPr>
            <p:ph idx="1"/>
          </p:nvPr>
        </p:nvSpPr>
        <p:spPr>
          <a:xfrm>
            <a:off x="2057400" y="817164"/>
            <a:ext cx="8229600" cy="4081117"/>
          </a:xfrm>
          <a:prstGeom prst="rect">
            <a:avLst/>
          </a:prstGeom>
          <a:noFill/>
        </p:spPr>
        <p:txBody>
          <a:bodyPr vert="horz" wrap="square" lIns="91440" tIns="45720" rIns="91440" bIns="45720" rtlCol="0">
            <a:spAutoFit/>
          </a:bodyPr>
          <a:lstStyle/>
          <a:p>
            <a:pPr marL="457200" indent="-457200" algn="just">
              <a:buAutoNum type="arabicPeriod"/>
            </a:pPr>
            <a:r>
              <a:rPr lang="en-US" sz="2400" dirty="0"/>
              <a:t>Students will be able to understand the basic knowledge about the Society State and Polity in India.</a:t>
            </a:r>
          </a:p>
          <a:p>
            <a:pPr marL="457200" indent="-457200" algn="just">
              <a:buAutoNum type="arabicPeriod"/>
            </a:pPr>
            <a:r>
              <a:rPr lang="en-US" sz="2400" dirty="0"/>
              <a:t>Students will be able to understand the basic knowledge about the Indian Literature, Culture, Tradition, and Practices .</a:t>
            </a:r>
          </a:p>
          <a:p>
            <a:pPr marL="457200" indent="-457200" algn="just">
              <a:buAutoNum type="arabicPeriod"/>
            </a:pPr>
            <a:r>
              <a:rPr lang="en-US" sz="2400" dirty="0"/>
              <a:t>Help the students in acquiring  the knowledge of Indian Religion, Philosophy, and Practices . </a:t>
            </a:r>
          </a:p>
          <a:p>
            <a:pPr marL="457200" indent="-457200" algn="just">
              <a:buAutoNum type="arabicPeriod"/>
            </a:pPr>
            <a:r>
              <a:rPr lang="en-US" sz="2400" dirty="0"/>
              <a:t>Aware the students about the Science, Management and Indian Knowledge System .</a:t>
            </a:r>
          </a:p>
          <a:p>
            <a:pPr marL="457200" indent="-457200" algn="just">
              <a:buAutoNum type="arabicPeriod"/>
            </a:pPr>
            <a:r>
              <a:rPr lang="en-US" sz="2400" dirty="0"/>
              <a:t>Aware the students about the Cultural Heritage and Performing Arts .</a:t>
            </a:r>
          </a:p>
        </p:txBody>
      </p:sp>
    </p:spTree>
    <p:extLst>
      <p:ext uri="{BB962C8B-B14F-4D97-AF65-F5344CB8AC3E}">
        <p14:creationId xmlns:p14="http://schemas.microsoft.com/office/powerpoint/2010/main" val="26166442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C442BD9-3F91-446B-952A-2CA8EF6EDFB2}" type="datetime1">
              <a:rPr lang="en-US" smtClean="0"/>
              <a:t>3/9/2022</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Course Outcomes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pic>
        <p:nvPicPr>
          <p:cNvPr id="11" name="Content Placeholder 10">
            <a:extLst>
              <a:ext uri="{FF2B5EF4-FFF2-40B4-BE49-F238E27FC236}">
                <a16:creationId xmlns="" xmlns:a16="http://schemas.microsoft.com/office/drawing/2014/main" id="{D8DF02C8-AB33-47BF-8A27-87EACA2C422D}"/>
              </a:ext>
            </a:extLst>
          </p:cNvPr>
          <p:cNvPicPr>
            <a:picLocks noGrp="1" noChangeAspect="1"/>
          </p:cNvPicPr>
          <p:nvPr>
            <p:ph idx="1"/>
          </p:nvPr>
        </p:nvPicPr>
        <p:blipFill>
          <a:blip r:embed="rId3"/>
          <a:stretch>
            <a:fillRect/>
          </a:stretch>
        </p:blipFill>
        <p:spPr>
          <a:xfrm>
            <a:off x="1524001" y="1010654"/>
            <a:ext cx="9256294" cy="5115510"/>
          </a:xfrm>
        </p:spPr>
      </p:pic>
    </p:spTree>
    <p:extLst>
      <p:ext uri="{BB962C8B-B14F-4D97-AF65-F5344CB8AC3E}">
        <p14:creationId xmlns:p14="http://schemas.microsoft.com/office/powerpoint/2010/main" val="2113211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37E62E9-3BB7-45C6-9414-7B98AAAFB957}" type="datetime1">
              <a:rPr lang="en-US" smtClean="0"/>
              <a:t>3/9/2022</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Program Outcomes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graphicFrame>
        <p:nvGraphicFramePr>
          <p:cNvPr id="11" name="Content Placeholder 13"/>
          <p:cNvGraphicFramePr>
            <a:graphicFrameLocks noGrp="1"/>
          </p:cNvGraphicFramePr>
          <p:nvPr>
            <p:ph idx="1"/>
          </p:nvPr>
        </p:nvGraphicFramePr>
        <p:xfrm>
          <a:off x="1981200" y="990603"/>
          <a:ext cx="8305800" cy="5257799"/>
        </p:xfrm>
        <a:graphic>
          <a:graphicData uri="http://schemas.openxmlformats.org/drawingml/2006/table">
            <a:tbl>
              <a:tblPr bandRow="1">
                <a:tableStyleId>{5C22544A-7EE6-4342-B048-85BDC9FD1C3A}</a:tableStyleId>
              </a:tblPr>
              <a:tblGrid>
                <a:gridCol w="8305800">
                  <a:extLst>
                    <a:ext uri="{9D8B030D-6E8A-4147-A177-3AD203B41FA5}">
                      <a16:colId xmlns="" xmlns:a16="http://schemas.microsoft.com/office/drawing/2014/main" val="20000"/>
                    </a:ext>
                  </a:extLst>
                </a:gridCol>
              </a:tblGrid>
              <a:tr h="1222744">
                <a:tc>
                  <a:txBody>
                    <a:bodyPr/>
                    <a:lstStyle/>
                    <a:p>
                      <a:r>
                        <a:rPr lang="en-US" sz="1900" b="1" dirty="0"/>
                        <a:t>1. Engineering knowledge: </a:t>
                      </a:r>
                      <a:r>
                        <a:rPr lang="en-US" sz="1900" dirty="0"/>
                        <a:t>Apply the knowledge of mathematics, science, engineering fundamentals, and an engineering specialization to the solution of complex engineering problems. </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0"/>
                  </a:ext>
                </a:extLst>
              </a:tr>
              <a:tr h="1222744">
                <a:tc>
                  <a:txBody>
                    <a:bodyPr/>
                    <a:lstStyle/>
                    <a:p>
                      <a:r>
                        <a:rPr lang="en-US" sz="1900" b="1" dirty="0"/>
                        <a:t>2. Problem analysis:</a:t>
                      </a:r>
                      <a:r>
                        <a:rPr lang="en-US" sz="1900" dirty="0"/>
                        <a:t> Identify, formulate, review research literature, and analyze complex engineering problems reaching substantiated conclusions using first principles of mathematics, natural sciences, and engineering sciences.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1"/>
                  </a:ext>
                </a:extLst>
              </a:tr>
              <a:tr h="1589567">
                <a:tc>
                  <a:txBody>
                    <a:bodyPr/>
                    <a:lstStyle/>
                    <a:p>
                      <a:r>
                        <a:rPr lang="en-US" sz="1900" b="1" dirty="0"/>
                        <a:t>3</a:t>
                      </a:r>
                      <a:r>
                        <a:rPr lang="en-US" sz="1900" b="1"/>
                        <a:t>. Design/development of solutions:</a:t>
                      </a:r>
                      <a:r>
                        <a:rPr lang="en-US" sz="1900"/>
                        <a:t> Design solutions </a:t>
                      </a:r>
                      <a:r>
                        <a:rPr lang="en-US" sz="1900" dirty="0"/>
                        <a:t>for </a:t>
                      </a:r>
                      <a:r>
                        <a:rPr lang="en-US" sz="1900"/>
                        <a:t>complex engineering problems and design system components </a:t>
                      </a:r>
                      <a:r>
                        <a:rPr lang="en-US" sz="1900" dirty="0"/>
                        <a:t>or processes that meet the </a:t>
                      </a:r>
                      <a:r>
                        <a:rPr lang="en-US" sz="1900"/>
                        <a:t>specified needs </a:t>
                      </a:r>
                      <a:r>
                        <a:rPr lang="en-US" sz="1900" dirty="0"/>
                        <a:t>with </a:t>
                      </a:r>
                      <a:r>
                        <a:rPr lang="en-US" sz="1900"/>
                        <a:t>appropriate consideration </a:t>
                      </a:r>
                      <a:r>
                        <a:rPr lang="en-US" sz="1900" dirty="0"/>
                        <a:t>for the public </a:t>
                      </a:r>
                      <a:r>
                        <a:rPr lang="en-US" sz="1900"/>
                        <a:t>health and </a:t>
                      </a:r>
                      <a:r>
                        <a:rPr lang="en-US" sz="1900" dirty="0"/>
                        <a:t>safety</a:t>
                      </a:r>
                      <a:r>
                        <a:rPr lang="en-US" sz="1900"/>
                        <a:t>, and </a:t>
                      </a:r>
                      <a:r>
                        <a:rPr lang="en-US" sz="1900" dirty="0"/>
                        <a:t>the cultural, societal</a:t>
                      </a:r>
                      <a:r>
                        <a:rPr lang="en-US" sz="1900"/>
                        <a:t>, and environmental considerations</a:t>
                      </a:r>
                      <a:r>
                        <a:rPr lang="en-US" sz="1900" dirty="0"/>
                        <a:t>.</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2"/>
                  </a:ext>
                </a:extLst>
              </a:tr>
              <a:tr h="1222744">
                <a:tc>
                  <a:txBody>
                    <a:bodyPr/>
                    <a:lstStyle/>
                    <a:p>
                      <a:r>
                        <a:rPr lang="en-US" sz="1900" b="1" dirty="0"/>
                        <a:t>4. Conduct investigations of complex problems: </a:t>
                      </a:r>
                      <a:r>
                        <a:rPr lang="en-US" sz="1900" dirty="0"/>
                        <a:t>Use research-based knowledge and research methods including design of experiments, analysis and interpretation of data, and synthesis of the information to provide valid conclusions.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20915346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B23FDAD-3DFB-4983-B3C9-442C4B6E57DC}" type="datetime1">
              <a:rPr lang="en-US" smtClean="0"/>
              <a:t>3/9/2022</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Program Outcomes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graphicFrame>
        <p:nvGraphicFramePr>
          <p:cNvPr id="10" name="Content Placeholder 13"/>
          <p:cNvGraphicFramePr>
            <a:graphicFrameLocks noGrp="1"/>
          </p:cNvGraphicFramePr>
          <p:nvPr>
            <p:ph idx="1"/>
          </p:nvPr>
        </p:nvGraphicFramePr>
        <p:xfrm>
          <a:off x="2057400" y="990600"/>
          <a:ext cx="8001000" cy="5090160"/>
        </p:xfrm>
        <a:graphic>
          <a:graphicData uri="http://schemas.openxmlformats.org/drawingml/2006/table">
            <a:tbl>
              <a:tblPr bandRow="1">
                <a:tableStyleId>{5C22544A-7EE6-4342-B048-85BDC9FD1C3A}</a:tableStyleId>
              </a:tblPr>
              <a:tblGrid>
                <a:gridCol w="8001000">
                  <a:extLst>
                    <a:ext uri="{9D8B030D-6E8A-4147-A177-3AD203B41FA5}">
                      <a16:colId xmlns="" xmlns:a16="http://schemas.microsoft.com/office/drawing/2014/main" val="20000"/>
                    </a:ext>
                  </a:extLst>
                </a:gridCol>
              </a:tblGrid>
              <a:tr h="1541386">
                <a:tc>
                  <a:txBody>
                    <a:bodyPr/>
                    <a:lstStyle/>
                    <a:p>
                      <a:r>
                        <a:rPr lang="en-US" sz="2000" b="1" dirty="0"/>
                        <a:t>5. Modern tool usage: </a:t>
                      </a:r>
                      <a:r>
                        <a:rPr lang="en-US" sz="2000" dirty="0"/>
                        <a:t>Create, select, and apply appropriate techniques, resources, and modern engineering and IT tools including prediction and modeling to complex engineering activities with an understanding of the limitations.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0"/>
                  </a:ext>
                </a:extLst>
              </a:tr>
              <a:tr h="1541386">
                <a:tc>
                  <a:txBody>
                    <a:bodyPr/>
                    <a:lstStyle/>
                    <a:p>
                      <a:r>
                        <a:rPr lang="en-US" sz="2000" b="1" dirty="0"/>
                        <a:t>6. The engineer and society:</a:t>
                      </a:r>
                      <a:r>
                        <a:rPr lang="en-US" sz="2000" dirty="0"/>
                        <a:t> Apply reasoning informed by the contextual knowledge to assess societal, health, safety, legal and cultural issues and the consequent responsibilities relevant to the professional engineering practice.</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1"/>
                  </a:ext>
                </a:extLst>
              </a:tr>
              <a:tr h="1182925">
                <a:tc>
                  <a:txBody>
                    <a:bodyPr/>
                    <a:lstStyle/>
                    <a:p>
                      <a:r>
                        <a:rPr lang="en-US" sz="2000" b="1" dirty="0"/>
                        <a:t>7</a:t>
                      </a:r>
                      <a:r>
                        <a:rPr lang="en-US" sz="2000" b="1"/>
                        <a:t>. Environment and sustainability: </a:t>
                      </a:r>
                      <a:r>
                        <a:rPr lang="en-US" sz="2000"/>
                        <a:t>Understand </a:t>
                      </a:r>
                      <a:r>
                        <a:rPr lang="en-US" sz="2000" dirty="0"/>
                        <a:t>the impact of </a:t>
                      </a:r>
                      <a:r>
                        <a:rPr lang="en-US" sz="2000"/>
                        <a:t>the professional engineering solutions in societal and environmental contexts, and demonstrate the knowledge </a:t>
                      </a:r>
                      <a:r>
                        <a:rPr lang="en-US" sz="2000" dirty="0"/>
                        <a:t>of</a:t>
                      </a:r>
                      <a:r>
                        <a:rPr lang="en-US" sz="2000"/>
                        <a:t>, and need for sustainable development</a:t>
                      </a:r>
                      <a:r>
                        <a:rPr lang="en-US" sz="2000" dirty="0"/>
                        <a:t>.</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2"/>
                  </a:ext>
                </a:extLst>
              </a:tr>
              <a:tr h="824463">
                <a:tc>
                  <a:txBody>
                    <a:bodyPr/>
                    <a:lstStyle/>
                    <a:p>
                      <a:r>
                        <a:rPr lang="en-US" sz="2000" b="1" dirty="0"/>
                        <a:t>8. Ethics:</a:t>
                      </a:r>
                      <a:r>
                        <a:rPr lang="en-US" sz="2000" dirty="0"/>
                        <a:t> Apply ethical principles and commit to professional ethics and responsibilities and norms of the engineering practice.</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33851553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E89B832-1D95-414F-8076-DD912CFD8FB6}" type="datetime1">
              <a:rPr lang="en-US" smtClean="0"/>
              <a:t>3/9/2022</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smtClean="0"/>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sp>
        <p:nvSpPr>
          <p:cNvPr id="7" name="Title 1"/>
          <p:cNvSpPr txBox="1">
            <a:spLocks/>
          </p:cNvSpPr>
          <p:nvPr/>
        </p:nvSpPr>
        <p:spPr>
          <a:xfrm>
            <a:off x="2895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Program Outcomes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graphicFrame>
        <p:nvGraphicFramePr>
          <p:cNvPr id="10" name="Content Placeholder 13"/>
          <p:cNvGraphicFramePr>
            <a:graphicFrameLocks noGrp="1"/>
          </p:cNvGraphicFramePr>
          <p:nvPr>
            <p:ph idx="1"/>
          </p:nvPr>
        </p:nvGraphicFramePr>
        <p:xfrm>
          <a:off x="2057400" y="990601"/>
          <a:ext cx="8077200" cy="5181599"/>
        </p:xfrm>
        <a:graphic>
          <a:graphicData uri="http://schemas.openxmlformats.org/drawingml/2006/table">
            <a:tbl>
              <a:tblPr bandRow="1">
                <a:tableStyleId>{5C22544A-7EE6-4342-B048-85BDC9FD1C3A}</a:tableStyleId>
              </a:tblPr>
              <a:tblGrid>
                <a:gridCol w="8077200">
                  <a:extLst>
                    <a:ext uri="{9D8B030D-6E8A-4147-A177-3AD203B41FA5}">
                      <a16:colId xmlns="" xmlns:a16="http://schemas.microsoft.com/office/drawing/2014/main" val="20000"/>
                    </a:ext>
                  </a:extLst>
                </a:gridCol>
              </a:tblGrid>
              <a:tr h="841292">
                <a:tc>
                  <a:txBody>
                    <a:bodyPr/>
                    <a:lstStyle/>
                    <a:p>
                      <a:r>
                        <a:rPr lang="en-US" sz="1900" b="1" dirty="0"/>
                        <a:t>9. Individual and team work: </a:t>
                      </a:r>
                      <a:r>
                        <a:rPr lang="en-US" sz="1900" dirty="0"/>
                        <a:t>Function effectively as an individual, and as a member or leader in diverse teams, and in multidisciplinary settings. </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0"/>
                  </a:ext>
                </a:extLst>
              </a:tr>
              <a:tr h="1567864">
                <a:tc>
                  <a:txBody>
                    <a:bodyPr/>
                    <a:lstStyle/>
                    <a:p>
                      <a:r>
                        <a:rPr lang="en-US" sz="1900" b="1" dirty="0"/>
                        <a:t>10. Communication: </a:t>
                      </a:r>
                      <a:r>
                        <a:rPr lang="en-US" sz="1900" dirty="0"/>
                        <a:t>Communicate effectively on complex engineering activities with the engineering community and with society at large, such as, being able to comprehend and write effective reports and design documentation, make effective presentations, and give and receive clear instructions.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1"/>
                  </a:ext>
                </a:extLst>
              </a:tr>
              <a:tr h="1567864">
                <a:tc>
                  <a:txBody>
                    <a:bodyPr/>
                    <a:lstStyle/>
                    <a:p>
                      <a:r>
                        <a:rPr lang="en-US" sz="1900" b="1" dirty="0"/>
                        <a:t>11. Project management and finance:</a:t>
                      </a:r>
                      <a:r>
                        <a:rPr lang="en-US" sz="1900" dirty="0"/>
                        <a:t> Demonstrate knowledge and understanding of the engineering and management principles and apply these to one’s own work, as a member and leader in a team, to manage projects and in multidisciplinary environments.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2"/>
                  </a:ext>
                </a:extLst>
              </a:tr>
              <a:tr h="1204579">
                <a:tc>
                  <a:txBody>
                    <a:bodyPr/>
                    <a:lstStyle/>
                    <a:p>
                      <a:r>
                        <a:rPr lang="en-US" sz="1900" b="1" dirty="0"/>
                        <a:t>12. Life-long learning: </a:t>
                      </a:r>
                      <a:r>
                        <a:rPr lang="en-US" sz="1900" dirty="0"/>
                        <a:t>Recognize the need for, and have the preparation and ability to engage in independent and life-long learning in the broadest context of technological change.</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5402576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629543C-FFAF-43E1-8507-9F360DD83F8B}" type="datetime1">
              <a:rPr lang="en-US" smtClean="0">
                <a:solidFill>
                  <a:prstClr val="black">
                    <a:tint val="75000"/>
                  </a:prstClr>
                </a:solidFill>
              </a:rPr>
              <a:t>3/9/2022</a:t>
            </a:fld>
            <a:endParaRPr lang="en-US" dirty="0">
              <a:solidFill>
                <a:prstClr val="black">
                  <a:tint val="75000"/>
                </a:prstClr>
              </a:solidFill>
            </a:endParaRPr>
          </a:p>
        </p:txBody>
      </p:sp>
      <p:sp>
        <p:nvSpPr>
          <p:cNvPr id="5" name="Footer Placeholder 4"/>
          <p:cNvSpPr>
            <a:spLocks noGrp="1"/>
          </p:cNvSpPr>
          <p:nvPr>
            <p:ph type="ftr" sz="quarter" idx="11"/>
          </p:nvPr>
        </p:nvSpPr>
        <p:spPr>
          <a:xfrm>
            <a:off x="3200400" y="6172205"/>
            <a:ext cx="6477000" cy="549275"/>
          </a:xfrm>
        </p:spPr>
        <p:txBody>
          <a:bodyPr/>
          <a:lstStyle/>
          <a:p>
            <a:r>
              <a:rPr lang="en-US" smtClean="0">
                <a:solidFill>
                  <a:prstClr val="black"/>
                </a:solidFill>
              </a:rPr>
              <a:t>Ms.Pooja Tyagi      KNC 602 Indian Traditions, Culture and Society              Unit :1</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15</a:t>
            </a:fld>
            <a:endParaRPr lang="en-US" dirty="0">
              <a:solidFill>
                <a:prstClr val="black">
                  <a:tint val="75000"/>
                </a:prstClr>
              </a:solidFill>
            </a:endParaRPr>
          </a:p>
        </p:txBody>
      </p:sp>
      <p:sp>
        <p:nvSpPr>
          <p:cNvPr id="7" name="Title 1"/>
          <p:cNvSpPr txBox="1">
            <a:spLocks/>
          </p:cNvSpPr>
          <p:nvPr/>
        </p:nvSpPr>
        <p:spPr>
          <a:xfrm>
            <a:off x="2895600" y="5"/>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solidFill>
                  <a:prstClr val="black"/>
                </a:solidFill>
                <a:latin typeface="Times New Roman" pitchFamily="18" charset="0"/>
                <a:cs typeface="Times New Roman" pitchFamily="18" charset="0"/>
              </a:rPr>
              <a:t>CO-PO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5"/>
            <a:ext cx="1447800" cy="817163"/>
          </a:xfrm>
          <a:prstGeom prst="rect">
            <a:avLst/>
          </a:prstGeom>
          <a:noFill/>
        </p:spPr>
      </p:pic>
      <p:graphicFrame>
        <p:nvGraphicFramePr>
          <p:cNvPr id="9" name="Table 8"/>
          <p:cNvGraphicFramePr>
            <a:graphicFrameLocks noGrp="1"/>
          </p:cNvGraphicFramePr>
          <p:nvPr/>
        </p:nvGraphicFramePr>
        <p:xfrm>
          <a:off x="1866904" y="746713"/>
          <a:ext cx="8572497" cy="5389798"/>
        </p:xfrm>
        <a:graphic>
          <a:graphicData uri="http://schemas.openxmlformats.org/drawingml/2006/table">
            <a:tbl>
              <a:tblPr firstRow="1" firstCol="1" bandRow="1">
                <a:tableStyleId>{5C22544A-7EE6-4342-B048-85BDC9FD1C3A}</a:tableStyleId>
              </a:tblPr>
              <a:tblGrid>
                <a:gridCol w="1051516">
                  <a:extLst>
                    <a:ext uri="{9D8B030D-6E8A-4147-A177-3AD203B41FA5}">
                      <a16:colId xmlns="" xmlns:a16="http://schemas.microsoft.com/office/drawing/2014/main" val="20000"/>
                    </a:ext>
                  </a:extLst>
                </a:gridCol>
                <a:gridCol w="498479">
                  <a:extLst>
                    <a:ext uri="{9D8B030D-6E8A-4147-A177-3AD203B41FA5}">
                      <a16:colId xmlns="" xmlns:a16="http://schemas.microsoft.com/office/drawing/2014/main" val="20001"/>
                    </a:ext>
                  </a:extLst>
                </a:gridCol>
                <a:gridCol w="498479">
                  <a:extLst>
                    <a:ext uri="{9D8B030D-6E8A-4147-A177-3AD203B41FA5}">
                      <a16:colId xmlns="" xmlns:a16="http://schemas.microsoft.com/office/drawing/2014/main" val="20002"/>
                    </a:ext>
                  </a:extLst>
                </a:gridCol>
                <a:gridCol w="498479">
                  <a:extLst>
                    <a:ext uri="{9D8B030D-6E8A-4147-A177-3AD203B41FA5}">
                      <a16:colId xmlns="" xmlns:a16="http://schemas.microsoft.com/office/drawing/2014/main" val="20003"/>
                    </a:ext>
                  </a:extLst>
                </a:gridCol>
                <a:gridCol w="516664">
                  <a:extLst>
                    <a:ext uri="{9D8B030D-6E8A-4147-A177-3AD203B41FA5}">
                      <a16:colId xmlns="" xmlns:a16="http://schemas.microsoft.com/office/drawing/2014/main" val="20004"/>
                    </a:ext>
                  </a:extLst>
                </a:gridCol>
                <a:gridCol w="688610">
                  <a:extLst>
                    <a:ext uri="{9D8B030D-6E8A-4147-A177-3AD203B41FA5}">
                      <a16:colId xmlns="" xmlns:a16="http://schemas.microsoft.com/office/drawing/2014/main" val="20005"/>
                    </a:ext>
                  </a:extLst>
                </a:gridCol>
                <a:gridCol w="688610">
                  <a:extLst>
                    <a:ext uri="{9D8B030D-6E8A-4147-A177-3AD203B41FA5}">
                      <a16:colId xmlns="" xmlns:a16="http://schemas.microsoft.com/office/drawing/2014/main" val="20006"/>
                    </a:ext>
                  </a:extLst>
                </a:gridCol>
                <a:gridCol w="688610">
                  <a:extLst>
                    <a:ext uri="{9D8B030D-6E8A-4147-A177-3AD203B41FA5}">
                      <a16:colId xmlns="" xmlns:a16="http://schemas.microsoft.com/office/drawing/2014/main" val="20007"/>
                    </a:ext>
                  </a:extLst>
                </a:gridCol>
                <a:gridCol w="688610">
                  <a:extLst>
                    <a:ext uri="{9D8B030D-6E8A-4147-A177-3AD203B41FA5}">
                      <a16:colId xmlns="" xmlns:a16="http://schemas.microsoft.com/office/drawing/2014/main" val="20008"/>
                    </a:ext>
                  </a:extLst>
                </a:gridCol>
                <a:gridCol w="688610">
                  <a:extLst>
                    <a:ext uri="{9D8B030D-6E8A-4147-A177-3AD203B41FA5}">
                      <a16:colId xmlns="" xmlns:a16="http://schemas.microsoft.com/office/drawing/2014/main" val="20009"/>
                    </a:ext>
                  </a:extLst>
                </a:gridCol>
                <a:gridCol w="688610">
                  <a:extLst>
                    <a:ext uri="{9D8B030D-6E8A-4147-A177-3AD203B41FA5}">
                      <a16:colId xmlns="" xmlns:a16="http://schemas.microsoft.com/office/drawing/2014/main" val="20010"/>
                    </a:ext>
                  </a:extLst>
                </a:gridCol>
                <a:gridCol w="688610">
                  <a:extLst>
                    <a:ext uri="{9D8B030D-6E8A-4147-A177-3AD203B41FA5}">
                      <a16:colId xmlns="" xmlns:a16="http://schemas.microsoft.com/office/drawing/2014/main" val="20011"/>
                    </a:ext>
                  </a:extLst>
                </a:gridCol>
                <a:gridCol w="688610">
                  <a:extLst>
                    <a:ext uri="{9D8B030D-6E8A-4147-A177-3AD203B41FA5}">
                      <a16:colId xmlns="" xmlns:a16="http://schemas.microsoft.com/office/drawing/2014/main" val="20012"/>
                    </a:ext>
                  </a:extLst>
                </a:gridCol>
              </a:tblGrid>
              <a:tr h="851541">
                <a:tc>
                  <a:txBody>
                    <a:bodyPr/>
                    <a:lstStyle/>
                    <a:p>
                      <a:pPr marL="0" marR="0">
                        <a:lnSpc>
                          <a:spcPct val="115000"/>
                        </a:lnSpc>
                        <a:spcBef>
                          <a:spcPts val="0"/>
                        </a:spcBef>
                        <a:spcAft>
                          <a:spcPts val="1000"/>
                        </a:spcAft>
                      </a:pPr>
                      <a:r>
                        <a:rPr lang="en-US" sz="2400" dirty="0">
                          <a:effectLst/>
                        </a:rPr>
                        <a:t>PO</a:t>
                      </a:r>
                    </a:p>
                    <a:p>
                      <a:pPr marL="0" marR="0">
                        <a:lnSpc>
                          <a:spcPct val="115000"/>
                        </a:lnSpc>
                        <a:spcBef>
                          <a:spcPts val="0"/>
                        </a:spcBef>
                        <a:spcAft>
                          <a:spcPts val="1000"/>
                        </a:spcAft>
                      </a:pPr>
                      <a:r>
                        <a:rPr lang="en-US" sz="2400" dirty="0">
                          <a:effectLst/>
                        </a:rPr>
                        <a:t>CO</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PO</a:t>
                      </a:r>
                    </a:p>
                    <a:p>
                      <a:pPr marL="0" marR="0" algn="ctr">
                        <a:lnSpc>
                          <a:spcPct val="115000"/>
                        </a:lnSpc>
                        <a:spcBef>
                          <a:spcPts val="0"/>
                        </a:spcBef>
                        <a:spcAft>
                          <a:spcPts val="1000"/>
                        </a:spcAft>
                      </a:pPr>
                      <a:r>
                        <a:rPr lang="en-US" sz="2400" dirty="0">
                          <a:effectLst/>
                          <a:latin typeface="Calibri"/>
                          <a:ea typeface="Calibri"/>
                          <a:cs typeface="Times New Roman"/>
                        </a:rPr>
                        <a:t>1</a:t>
                      </a:r>
                    </a:p>
                  </a:txBody>
                  <a:tcPr marL="51435" marR="51435" marT="0" marB="0"/>
                </a:tc>
                <a:tc>
                  <a:txBody>
                    <a:bodyPr/>
                    <a:lstStyle/>
                    <a:p>
                      <a:pPr marL="0" marR="0" algn="ctr">
                        <a:lnSpc>
                          <a:spcPct val="115000"/>
                        </a:lnSpc>
                        <a:spcBef>
                          <a:spcPts val="0"/>
                        </a:spcBef>
                        <a:spcAft>
                          <a:spcPts val="1000"/>
                        </a:spcAft>
                      </a:pPr>
                      <a:r>
                        <a:rPr lang="en-US" sz="2400" b="1" dirty="0">
                          <a:effectLst/>
                          <a:latin typeface="Calibri"/>
                          <a:ea typeface="Calibri"/>
                          <a:cs typeface="Times New Roman"/>
                        </a:rPr>
                        <a:t>PO2</a:t>
                      </a:r>
                    </a:p>
                  </a:txBody>
                  <a:tcPr marL="51435" marR="51435" marT="0" marB="0"/>
                </a:tc>
                <a:tc>
                  <a:txBody>
                    <a:bodyPr/>
                    <a:lstStyle/>
                    <a:p>
                      <a:pPr marL="0" marR="0" algn="ctr">
                        <a:lnSpc>
                          <a:spcPct val="115000"/>
                        </a:lnSpc>
                        <a:spcBef>
                          <a:spcPts val="0"/>
                        </a:spcBef>
                        <a:spcAft>
                          <a:spcPts val="1000"/>
                        </a:spcAft>
                      </a:pPr>
                      <a:r>
                        <a:rPr lang="en-US" sz="2400" dirty="0">
                          <a:effectLst/>
                        </a:rPr>
                        <a:t>PO3</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PO</a:t>
                      </a:r>
                    </a:p>
                    <a:p>
                      <a:pPr marL="0" marR="0" algn="ctr">
                        <a:lnSpc>
                          <a:spcPct val="115000"/>
                        </a:lnSpc>
                        <a:spcBef>
                          <a:spcPts val="0"/>
                        </a:spcBef>
                        <a:spcAft>
                          <a:spcPts val="1000"/>
                        </a:spcAft>
                      </a:pPr>
                      <a:r>
                        <a:rPr lang="en-US" sz="2400" dirty="0">
                          <a:effectLst/>
                          <a:latin typeface="Calibri"/>
                          <a:ea typeface="Calibri"/>
                          <a:cs typeface="Times New Roman"/>
                        </a:rPr>
                        <a:t>4</a:t>
                      </a: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PO</a:t>
                      </a:r>
                    </a:p>
                    <a:p>
                      <a:pPr marL="0" marR="0" algn="ctr">
                        <a:lnSpc>
                          <a:spcPct val="115000"/>
                        </a:lnSpc>
                        <a:spcBef>
                          <a:spcPts val="0"/>
                        </a:spcBef>
                        <a:spcAft>
                          <a:spcPts val="1000"/>
                        </a:spcAft>
                      </a:pPr>
                      <a:r>
                        <a:rPr lang="en-US" sz="2400" dirty="0">
                          <a:effectLst/>
                          <a:latin typeface="Calibri"/>
                          <a:ea typeface="Calibri"/>
                          <a:cs typeface="Times New Roman"/>
                        </a:rPr>
                        <a:t>5</a:t>
                      </a:r>
                    </a:p>
                  </a:txBody>
                  <a:tcPr marL="51435" marR="51435" marT="0" marB="0"/>
                </a:tc>
                <a:tc>
                  <a:txBody>
                    <a:bodyPr/>
                    <a:lstStyle/>
                    <a:p>
                      <a:pPr marL="0" marR="0" algn="ctr">
                        <a:lnSpc>
                          <a:spcPct val="115000"/>
                        </a:lnSpc>
                        <a:spcBef>
                          <a:spcPts val="0"/>
                        </a:spcBef>
                        <a:spcAft>
                          <a:spcPts val="1000"/>
                        </a:spcAft>
                      </a:pPr>
                      <a:r>
                        <a:rPr lang="en-US" sz="2400" dirty="0">
                          <a:effectLst/>
                        </a:rPr>
                        <a:t>PO</a:t>
                      </a:r>
                    </a:p>
                    <a:p>
                      <a:pPr marL="0" marR="0" algn="ctr">
                        <a:lnSpc>
                          <a:spcPct val="115000"/>
                        </a:lnSpc>
                        <a:spcBef>
                          <a:spcPts val="0"/>
                        </a:spcBef>
                        <a:spcAft>
                          <a:spcPts val="1000"/>
                        </a:spcAft>
                      </a:pPr>
                      <a:r>
                        <a:rPr lang="en-US" sz="2400" dirty="0">
                          <a:effectLst/>
                        </a:rPr>
                        <a:t>6</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rPr>
                        <a:t>PO</a:t>
                      </a:r>
                    </a:p>
                    <a:p>
                      <a:pPr marL="0" marR="0" algn="ctr">
                        <a:lnSpc>
                          <a:spcPct val="115000"/>
                        </a:lnSpc>
                        <a:spcBef>
                          <a:spcPts val="0"/>
                        </a:spcBef>
                        <a:spcAft>
                          <a:spcPts val="1000"/>
                        </a:spcAft>
                      </a:pPr>
                      <a:r>
                        <a:rPr lang="en-US" sz="2400" dirty="0">
                          <a:effectLst/>
                        </a:rPr>
                        <a:t>7</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rPr>
                        <a:t>PO</a:t>
                      </a:r>
                    </a:p>
                    <a:p>
                      <a:pPr marL="0" marR="0" algn="ctr">
                        <a:lnSpc>
                          <a:spcPct val="115000"/>
                        </a:lnSpc>
                        <a:spcBef>
                          <a:spcPts val="0"/>
                        </a:spcBef>
                        <a:spcAft>
                          <a:spcPts val="1000"/>
                        </a:spcAft>
                      </a:pPr>
                      <a:r>
                        <a:rPr lang="en-US" sz="2400" dirty="0">
                          <a:effectLst/>
                        </a:rPr>
                        <a:t>8</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rPr>
                        <a:t>PO</a:t>
                      </a:r>
                    </a:p>
                    <a:p>
                      <a:pPr marL="0" marR="0" algn="ctr">
                        <a:lnSpc>
                          <a:spcPct val="115000"/>
                        </a:lnSpc>
                        <a:spcBef>
                          <a:spcPts val="0"/>
                        </a:spcBef>
                        <a:spcAft>
                          <a:spcPts val="1000"/>
                        </a:spcAft>
                      </a:pPr>
                      <a:r>
                        <a:rPr lang="en-US" sz="2400" dirty="0">
                          <a:effectLst/>
                        </a:rPr>
                        <a:t>9</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rPr>
                        <a:t>PO</a:t>
                      </a:r>
                    </a:p>
                    <a:p>
                      <a:pPr marL="0" marR="0" algn="ctr">
                        <a:lnSpc>
                          <a:spcPct val="115000"/>
                        </a:lnSpc>
                        <a:spcBef>
                          <a:spcPts val="0"/>
                        </a:spcBef>
                        <a:spcAft>
                          <a:spcPts val="1000"/>
                        </a:spcAft>
                      </a:pPr>
                      <a:r>
                        <a:rPr lang="en-US" sz="2400" dirty="0">
                          <a:effectLst/>
                        </a:rPr>
                        <a:t>10</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PO</a:t>
                      </a:r>
                    </a:p>
                    <a:p>
                      <a:pPr marL="0" marR="0" algn="ctr">
                        <a:lnSpc>
                          <a:spcPct val="115000"/>
                        </a:lnSpc>
                        <a:spcBef>
                          <a:spcPts val="0"/>
                        </a:spcBef>
                        <a:spcAft>
                          <a:spcPts val="1000"/>
                        </a:spcAft>
                      </a:pPr>
                      <a:r>
                        <a:rPr lang="en-US" sz="2400" dirty="0">
                          <a:effectLst/>
                          <a:latin typeface="Calibri"/>
                          <a:ea typeface="Calibri"/>
                          <a:cs typeface="Times New Roman"/>
                        </a:rPr>
                        <a:t>11</a:t>
                      </a: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PO</a:t>
                      </a:r>
                    </a:p>
                    <a:p>
                      <a:pPr marL="0" marR="0" algn="ctr">
                        <a:lnSpc>
                          <a:spcPct val="115000"/>
                        </a:lnSpc>
                        <a:spcBef>
                          <a:spcPts val="0"/>
                        </a:spcBef>
                        <a:spcAft>
                          <a:spcPts val="1000"/>
                        </a:spcAft>
                      </a:pPr>
                      <a:r>
                        <a:rPr lang="en-US" sz="2400" dirty="0">
                          <a:effectLst/>
                          <a:latin typeface="Calibri"/>
                          <a:ea typeface="Calibri"/>
                          <a:cs typeface="Times New Roman"/>
                        </a:rPr>
                        <a:t>12</a:t>
                      </a:r>
                    </a:p>
                  </a:txBody>
                  <a:tcPr marL="51435" marR="51435" marT="0" marB="0"/>
                </a:tc>
                <a:extLst>
                  <a:ext uri="{0D108BD9-81ED-4DB2-BD59-A6C34878D82A}">
                    <a16:rowId xmlns="" xmlns:a16="http://schemas.microsoft.com/office/drawing/2014/main" val="10000"/>
                  </a:ext>
                </a:extLst>
              </a:tr>
              <a:tr h="736925">
                <a:tc>
                  <a:txBody>
                    <a:bodyPr/>
                    <a:lstStyle/>
                    <a:p>
                      <a:pPr marL="0" marR="0">
                        <a:lnSpc>
                          <a:spcPct val="115000"/>
                        </a:lnSpc>
                        <a:spcBef>
                          <a:spcPts val="0"/>
                        </a:spcBef>
                        <a:spcAft>
                          <a:spcPts val="1000"/>
                        </a:spcAft>
                      </a:pPr>
                      <a:r>
                        <a:rPr lang="en-US" sz="2400" dirty="0">
                          <a:effectLst/>
                        </a:rPr>
                        <a:t>CO 1</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M</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M</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M</a:t>
                      </a:r>
                    </a:p>
                  </a:txBody>
                  <a:tcPr marL="51435" marR="51435" marT="0" marB="0"/>
                </a:tc>
                <a:extLst>
                  <a:ext uri="{0D108BD9-81ED-4DB2-BD59-A6C34878D82A}">
                    <a16:rowId xmlns="" xmlns:a16="http://schemas.microsoft.com/office/drawing/2014/main" val="10001"/>
                  </a:ext>
                </a:extLst>
              </a:tr>
              <a:tr h="736925">
                <a:tc>
                  <a:txBody>
                    <a:bodyPr/>
                    <a:lstStyle/>
                    <a:p>
                      <a:pPr marL="0" marR="0">
                        <a:lnSpc>
                          <a:spcPct val="115000"/>
                        </a:lnSpc>
                        <a:spcBef>
                          <a:spcPts val="0"/>
                        </a:spcBef>
                        <a:spcAft>
                          <a:spcPts val="1000"/>
                        </a:spcAft>
                      </a:pPr>
                      <a:r>
                        <a:rPr lang="en-US" sz="2400" dirty="0">
                          <a:effectLst/>
                        </a:rPr>
                        <a:t>CO 2</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H</a:t>
                      </a: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M</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H</a:t>
                      </a:r>
                    </a:p>
                  </a:txBody>
                  <a:tcPr marL="51435" marR="51435" marT="0" marB="0"/>
                </a:tc>
                <a:extLst>
                  <a:ext uri="{0D108BD9-81ED-4DB2-BD59-A6C34878D82A}">
                    <a16:rowId xmlns="" xmlns:a16="http://schemas.microsoft.com/office/drawing/2014/main" val="10002"/>
                  </a:ext>
                </a:extLst>
              </a:tr>
              <a:tr h="736925">
                <a:tc>
                  <a:txBody>
                    <a:bodyPr/>
                    <a:lstStyle/>
                    <a:p>
                      <a:pPr marL="0" marR="0">
                        <a:lnSpc>
                          <a:spcPct val="115000"/>
                        </a:lnSpc>
                        <a:spcBef>
                          <a:spcPts val="0"/>
                        </a:spcBef>
                        <a:spcAft>
                          <a:spcPts val="1000"/>
                        </a:spcAft>
                      </a:pPr>
                      <a:r>
                        <a:rPr lang="en-US" sz="2400" dirty="0">
                          <a:effectLst/>
                        </a:rPr>
                        <a:t>CO 3</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M</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H</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M</a:t>
                      </a:r>
                    </a:p>
                  </a:txBody>
                  <a:tcPr marL="51435" marR="51435" marT="0" marB="0"/>
                </a:tc>
                <a:extLst>
                  <a:ext uri="{0D108BD9-81ED-4DB2-BD59-A6C34878D82A}">
                    <a16:rowId xmlns="" xmlns:a16="http://schemas.microsoft.com/office/drawing/2014/main" val="10003"/>
                  </a:ext>
                </a:extLst>
              </a:tr>
              <a:tr h="736925">
                <a:tc>
                  <a:txBody>
                    <a:bodyPr/>
                    <a:lstStyle/>
                    <a:p>
                      <a:pPr marL="0" marR="0">
                        <a:lnSpc>
                          <a:spcPct val="115000"/>
                        </a:lnSpc>
                        <a:spcBef>
                          <a:spcPts val="0"/>
                        </a:spcBef>
                        <a:spcAft>
                          <a:spcPts val="1000"/>
                        </a:spcAft>
                      </a:pPr>
                      <a:r>
                        <a:rPr lang="en-US" sz="2400" dirty="0">
                          <a:effectLst/>
                        </a:rPr>
                        <a:t>CO 4</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M</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H</a:t>
                      </a:r>
                    </a:p>
                  </a:txBody>
                  <a:tcPr marL="51435" marR="51435" marT="0" marB="0"/>
                </a:tc>
                <a:extLst>
                  <a:ext uri="{0D108BD9-81ED-4DB2-BD59-A6C34878D82A}">
                    <a16:rowId xmlns="" xmlns:a16="http://schemas.microsoft.com/office/drawing/2014/main" val="10004"/>
                  </a:ext>
                </a:extLst>
              </a:tr>
              <a:tr h="736925">
                <a:tc>
                  <a:txBody>
                    <a:bodyPr/>
                    <a:lstStyle/>
                    <a:p>
                      <a:pPr marL="0" marR="0">
                        <a:lnSpc>
                          <a:spcPct val="115000"/>
                        </a:lnSpc>
                        <a:spcBef>
                          <a:spcPts val="0"/>
                        </a:spcBef>
                        <a:spcAft>
                          <a:spcPts val="1000"/>
                        </a:spcAft>
                      </a:pPr>
                      <a:r>
                        <a:rPr lang="en-US" sz="2400" dirty="0">
                          <a:effectLst/>
                        </a:rPr>
                        <a:t>CO 5</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M</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extLst>
                  <a:ext uri="{0D108BD9-81ED-4DB2-BD59-A6C34878D82A}">
                    <a16:rowId xmlns="" xmlns:a16="http://schemas.microsoft.com/office/drawing/2014/main" val="10005"/>
                  </a:ext>
                </a:extLst>
              </a:tr>
              <a:tr h="736925">
                <a:tc>
                  <a:txBody>
                    <a:bodyPr/>
                    <a:lstStyle/>
                    <a:p>
                      <a:pPr marL="0" marR="0">
                        <a:lnSpc>
                          <a:spcPct val="115000"/>
                        </a:lnSpc>
                        <a:spcBef>
                          <a:spcPts val="0"/>
                        </a:spcBef>
                        <a:spcAft>
                          <a:spcPts val="1000"/>
                        </a:spcAft>
                      </a:pPr>
                      <a:r>
                        <a:rPr lang="en-US" sz="2400" dirty="0">
                          <a:effectLst/>
                        </a:rPr>
                        <a:t>Avg.</a:t>
                      </a: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2</a:t>
                      </a: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2</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2</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2.5</a:t>
                      </a: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2.5</a:t>
                      </a: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2</a:t>
                      </a: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24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2400" dirty="0">
                          <a:effectLst/>
                          <a:latin typeface="Calibri"/>
                          <a:ea typeface="Calibri"/>
                          <a:cs typeface="Times New Roman"/>
                        </a:rPr>
                        <a:t>2.5</a:t>
                      </a:r>
                    </a:p>
                  </a:txBody>
                  <a:tcPr marL="51435" marR="51435" marT="0" marB="0"/>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31853165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04AF639-75F4-4CFE-85DA-162889B6C6D7}" type="datetime1">
              <a:rPr lang="en-US" smtClean="0">
                <a:solidFill>
                  <a:prstClr val="black">
                    <a:tint val="75000"/>
                  </a:prstClr>
                </a:solidFill>
              </a:rPr>
              <a:t>3/9/2022</a:t>
            </a:fld>
            <a:endParaRPr lang="en-US" dirty="0">
              <a:solidFill>
                <a:prstClr val="black">
                  <a:tint val="75000"/>
                </a:prstClr>
              </a:solidFill>
            </a:endParaRPr>
          </a:p>
        </p:txBody>
      </p:sp>
      <p:sp>
        <p:nvSpPr>
          <p:cNvPr id="5" name="Footer Placeholder 4"/>
          <p:cNvSpPr>
            <a:spLocks noGrp="1"/>
          </p:cNvSpPr>
          <p:nvPr>
            <p:ph type="ftr" sz="quarter" idx="11"/>
          </p:nvPr>
        </p:nvSpPr>
        <p:spPr>
          <a:xfrm>
            <a:off x="2336800" y="6356353"/>
            <a:ext cx="8534400" cy="365125"/>
          </a:xfrm>
        </p:spPr>
        <p:txBody>
          <a:bodyPr/>
          <a:lstStyle/>
          <a:p>
            <a:r>
              <a:rPr lang="en-US" smtClean="0">
                <a:solidFill>
                  <a:prstClr val="black"/>
                </a:solidFill>
              </a:rPr>
              <a:t>Ms.Pooja Tyagi      KNC 602 Indian Traditions, Culture and Society              Unit :1</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16</a:t>
            </a:fld>
            <a:endParaRPr lang="en-US" dirty="0">
              <a:solidFill>
                <a:prstClr val="black">
                  <a:tint val="75000"/>
                </a:prstClr>
              </a:solidFill>
            </a:endParaRPr>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solidFill>
                  <a:prstClr val="black"/>
                </a:solidFill>
                <a:latin typeface="Times New Roman" pitchFamily="18" charset="0"/>
                <a:cs typeface="Times New Roman" pitchFamily="18" charset="0"/>
              </a:rPr>
              <a:t>Program Specific Outcomes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graphicFrame>
        <p:nvGraphicFramePr>
          <p:cNvPr id="10" name="Content Placeholder 9">
            <a:extLst>
              <a:ext uri="{FF2B5EF4-FFF2-40B4-BE49-F238E27FC236}">
                <a16:creationId xmlns="" xmlns:a16="http://schemas.microsoft.com/office/drawing/2014/main" id="{9B7B2F46-A80A-4D41-BF6C-EC3C83A5FA36}"/>
              </a:ext>
            </a:extLst>
          </p:cNvPr>
          <p:cNvGraphicFramePr>
            <a:graphicFrameLocks noGrp="1"/>
          </p:cNvGraphicFramePr>
          <p:nvPr>
            <p:ph idx="1"/>
            <p:extLst>
              <p:ext uri="{D42A27DB-BD31-4B8C-83A1-F6EECF244321}">
                <p14:modId xmlns:p14="http://schemas.microsoft.com/office/powerpoint/2010/main" val="2543962111"/>
              </p:ext>
            </p:extLst>
          </p:nvPr>
        </p:nvGraphicFramePr>
        <p:xfrm>
          <a:off x="829733" y="1253906"/>
          <a:ext cx="10363200" cy="5197903"/>
        </p:xfrm>
        <a:graphic>
          <a:graphicData uri="http://schemas.openxmlformats.org/drawingml/2006/table">
            <a:tbl>
              <a:tblPr firstRow="1" firstCol="1" bandRow="1">
                <a:tableStyleId>{5C22544A-7EE6-4342-B048-85BDC9FD1C3A}</a:tableStyleId>
              </a:tblPr>
              <a:tblGrid>
                <a:gridCol w="775748">
                  <a:extLst>
                    <a:ext uri="{9D8B030D-6E8A-4147-A177-3AD203B41FA5}">
                      <a16:colId xmlns="" xmlns:a16="http://schemas.microsoft.com/office/drawing/2014/main" val="3313054263"/>
                    </a:ext>
                  </a:extLst>
                </a:gridCol>
                <a:gridCol w="1491824">
                  <a:extLst>
                    <a:ext uri="{9D8B030D-6E8A-4147-A177-3AD203B41FA5}">
                      <a16:colId xmlns="" xmlns:a16="http://schemas.microsoft.com/office/drawing/2014/main" val="2527207106"/>
                    </a:ext>
                  </a:extLst>
                </a:gridCol>
                <a:gridCol w="8095628">
                  <a:extLst>
                    <a:ext uri="{9D8B030D-6E8A-4147-A177-3AD203B41FA5}">
                      <a16:colId xmlns="" xmlns:a16="http://schemas.microsoft.com/office/drawing/2014/main" val="1049617122"/>
                    </a:ext>
                  </a:extLst>
                </a:gridCol>
              </a:tblGrid>
              <a:tr h="337287">
                <a:tc>
                  <a:txBody>
                    <a:bodyPr/>
                    <a:lstStyle/>
                    <a:p>
                      <a:pPr>
                        <a:lnSpc>
                          <a:spcPct val="115000"/>
                        </a:lnSpc>
                        <a:spcAft>
                          <a:spcPts val="1000"/>
                        </a:spcAft>
                      </a:pPr>
                      <a:r>
                        <a:rPr lang="en-US" sz="2000">
                          <a:effectLst/>
                        </a:rPr>
                        <a:t>S.NO.</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tc>
                  <a:txBody>
                    <a:bodyPr/>
                    <a:lstStyle/>
                    <a:p>
                      <a:pPr>
                        <a:lnSpc>
                          <a:spcPct val="115000"/>
                        </a:lnSpc>
                        <a:spcAft>
                          <a:spcPts val="1000"/>
                        </a:spcAft>
                      </a:pPr>
                      <a:r>
                        <a:rPr lang="en-US" sz="2000">
                          <a:effectLst/>
                        </a:rPr>
                        <a:t>Program Specific Outcomes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tc>
                  <a:txBody>
                    <a:bodyPr/>
                    <a:lstStyle/>
                    <a:p>
                      <a:pPr>
                        <a:lnSpc>
                          <a:spcPct val="115000"/>
                        </a:lnSpc>
                        <a:spcAft>
                          <a:spcPts val="1000"/>
                        </a:spcAft>
                      </a:pPr>
                      <a:r>
                        <a:rPr lang="en-US" sz="2000">
                          <a:effectLst/>
                        </a:rPr>
                        <a:t>PSO Description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extLst>
                  <a:ext uri="{0D108BD9-81ED-4DB2-BD59-A6C34878D82A}">
                    <a16:rowId xmlns="" xmlns:a16="http://schemas.microsoft.com/office/drawing/2014/main" val="2594094787"/>
                  </a:ext>
                </a:extLst>
              </a:tr>
              <a:tr h="1382115">
                <a:tc>
                  <a:txBody>
                    <a:bodyPr/>
                    <a:lstStyle/>
                    <a:p>
                      <a:pPr>
                        <a:lnSpc>
                          <a:spcPct val="115000"/>
                        </a:lnSpc>
                        <a:spcAft>
                          <a:spcPts val="1000"/>
                        </a:spcAft>
                      </a:pPr>
                      <a:r>
                        <a:rPr lang="en-US" sz="2000">
                          <a:effectLst/>
                        </a:rPr>
                        <a:t>1</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tc>
                  <a:txBody>
                    <a:bodyPr/>
                    <a:lstStyle/>
                    <a:p>
                      <a:pPr algn="just">
                        <a:lnSpc>
                          <a:spcPct val="150000"/>
                        </a:lnSpc>
                        <a:spcAft>
                          <a:spcPts val="1000"/>
                        </a:spcAft>
                      </a:pPr>
                      <a:r>
                        <a:rPr lang="en-US" sz="2000">
                          <a:effectLst/>
                        </a:rPr>
                        <a:t>PSO1</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tc>
                  <a:txBody>
                    <a:bodyPr/>
                    <a:lstStyle/>
                    <a:p>
                      <a:pPr>
                        <a:lnSpc>
                          <a:spcPct val="115000"/>
                        </a:lnSpc>
                        <a:spcAft>
                          <a:spcPts val="1000"/>
                        </a:spcAft>
                      </a:pPr>
                      <a:r>
                        <a:rPr lang="en-US" sz="2000">
                          <a:effectLst/>
                        </a:rPr>
                        <a:t>Ability to design manufacturing processes, products, the equipment, tooling and necessary environment for the manufacture of products that meet specific material and other requirements.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extLst>
                  <a:ext uri="{0D108BD9-81ED-4DB2-BD59-A6C34878D82A}">
                    <a16:rowId xmlns="" xmlns:a16="http://schemas.microsoft.com/office/drawing/2014/main" val="1708199322"/>
                  </a:ext>
                </a:extLst>
              </a:tr>
              <a:tr h="1033839">
                <a:tc>
                  <a:txBody>
                    <a:bodyPr/>
                    <a:lstStyle/>
                    <a:p>
                      <a:pPr>
                        <a:lnSpc>
                          <a:spcPct val="115000"/>
                        </a:lnSpc>
                        <a:spcAft>
                          <a:spcPts val="1000"/>
                        </a:spcAft>
                      </a:pPr>
                      <a:r>
                        <a:rPr lang="en-US" sz="2000">
                          <a:effectLst/>
                        </a:rPr>
                        <a:t>2</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tc>
                  <a:txBody>
                    <a:bodyPr/>
                    <a:lstStyle/>
                    <a:p>
                      <a:pPr>
                        <a:lnSpc>
                          <a:spcPct val="115000"/>
                        </a:lnSpc>
                        <a:spcAft>
                          <a:spcPts val="1000"/>
                        </a:spcAft>
                      </a:pPr>
                      <a:r>
                        <a:rPr lang="en-US" sz="2000">
                          <a:effectLst/>
                        </a:rPr>
                        <a:t>PSO2</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tc>
                  <a:txBody>
                    <a:bodyPr/>
                    <a:lstStyle/>
                    <a:p>
                      <a:pPr>
                        <a:lnSpc>
                          <a:spcPct val="115000"/>
                        </a:lnSpc>
                        <a:spcAft>
                          <a:spcPts val="1000"/>
                        </a:spcAft>
                      </a:pPr>
                      <a:r>
                        <a:rPr lang="en-US" sz="2000">
                          <a:effectLst/>
                        </a:rPr>
                        <a:t>Ability to use design, manufacturing and industrial engineering software packages to formulate and solve real time issues.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extLst>
                  <a:ext uri="{0D108BD9-81ED-4DB2-BD59-A6C34878D82A}">
                    <a16:rowId xmlns="" xmlns:a16="http://schemas.microsoft.com/office/drawing/2014/main" val="484187220"/>
                  </a:ext>
                </a:extLst>
              </a:tr>
              <a:tr h="1730389">
                <a:tc>
                  <a:txBody>
                    <a:bodyPr/>
                    <a:lstStyle/>
                    <a:p>
                      <a:pPr>
                        <a:lnSpc>
                          <a:spcPct val="115000"/>
                        </a:lnSpc>
                        <a:spcAft>
                          <a:spcPts val="1000"/>
                        </a:spcAft>
                      </a:pPr>
                      <a:r>
                        <a:rPr lang="en-US" sz="2000">
                          <a:effectLst/>
                        </a:rPr>
                        <a:t>3</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tc>
                  <a:txBody>
                    <a:bodyPr/>
                    <a:lstStyle/>
                    <a:p>
                      <a:pPr>
                        <a:lnSpc>
                          <a:spcPct val="115000"/>
                        </a:lnSpc>
                        <a:spcAft>
                          <a:spcPts val="1000"/>
                        </a:spcAft>
                      </a:pPr>
                      <a:r>
                        <a:rPr lang="en-US" sz="2000">
                          <a:effectLst/>
                        </a:rPr>
                        <a:t>PSO3</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tc>
                  <a:txBody>
                    <a:bodyPr/>
                    <a:lstStyle/>
                    <a:p>
                      <a:pPr>
                        <a:lnSpc>
                          <a:spcPct val="115000"/>
                        </a:lnSpc>
                        <a:spcAft>
                          <a:spcPts val="1000"/>
                        </a:spcAft>
                      </a:pPr>
                      <a:r>
                        <a:rPr lang="en-US" sz="2000" dirty="0">
                          <a:effectLst/>
                        </a:rPr>
                        <a:t>Ability to analyze, synthesis and control manufacturing operations using statistical methods and to create competitive advantage through the application of manufacturing planning, strategy, quality and control concepts.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57320" marR="57320" marT="0" marB="0"/>
                </a:tc>
                <a:extLst>
                  <a:ext uri="{0D108BD9-81ED-4DB2-BD59-A6C34878D82A}">
                    <a16:rowId xmlns="" xmlns:a16="http://schemas.microsoft.com/office/drawing/2014/main" val="499719729"/>
                  </a:ext>
                </a:extLst>
              </a:tr>
            </a:tbl>
          </a:graphicData>
        </a:graphic>
      </p:graphicFrame>
    </p:spTree>
    <p:extLst>
      <p:ext uri="{BB962C8B-B14F-4D97-AF65-F5344CB8AC3E}">
        <p14:creationId xmlns:p14="http://schemas.microsoft.com/office/powerpoint/2010/main" val="4878426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C1432E9-04D0-48E8-94AF-09C7A8194748}" type="datetime1">
              <a:rPr lang="en-US" smtClean="0">
                <a:solidFill>
                  <a:prstClr val="black">
                    <a:tint val="75000"/>
                  </a:prstClr>
                </a:solidFill>
              </a:rPr>
              <a:t>3/9/2022</a:t>
            </a:fld>
            <a:endParaRPr lang="en-US" dirty="0">
              <a:solidFill>
                <a:prstClr val="black">
                  <a:tint val="75000"/>
                </a:prstClr>
              </a:solidFill>
            </a:endParaRPr>
          </a:p>
        </p:txBody>
      </p:sp>
      <p:sp>
        <p:nvSpPr>
          <p:cNvPr id="5" name="Footer Placeholder 4"/>
          <p:cNvSpPr>
            <a:spLocks noGrp="1"/>
          </p:cNvSpPr>
          <p:nvPr>
            <p:ph type="ftr" sz="quarter" idx="11"/>
          </p:nvPr>
        </p:nvSpPr>
        <p:spPr>
          <a:xfrm>
            <a:off x="2336800" y="6356353"/>
            <a:ext cx="8534400" cy="365125"/>
          </a:xfrm>
        </p:spPr>
        <p:txBody>
          <a:bodyPr/>
          <a:lstStyle/>
          <a:p>
            <a:r>
              <a:rPr lang="en-US" smtClean="0">
                <a:solidFill>
                  <a:prstClr val="black"/>
                </a:solidFill>
              </a:rPr>
              <a:t>Ms.Pooja Tyagi      KNC 602 Indian Traditions, Culture and Society              Unit :1</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17</a:t>
            </a:fld>
            <a:endParaRPr lang="en-US" dirty="0">
              <a:solidFill>
                <a:prstClr val="black">
                  <a:tint val="75000"/>
                </a:prstClr>
              </a:solidFill>
            </a:endParaRPr>
          </a:p>
        </p:txBody>
      </p:sp>
      <p:sp>
        <p:nvSpPr>
          <p:cNvPr id="7" name="Title 1"/>
          <p:cNvSpPr txBox="1">
            <a:spLocks/>
          </p:cNvSpPr>
          <p:nvPr/>
        </p:nvSpPr>
        <p:spPr>
          <a:xfrm>
            <a:off x="18796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solidFill>
                  <a:prstClr val="black"/>
                </a:solidFill>
                <a:latin typeface="Times New Roman" pitchFamily="18" charset="0"/>
                <a:cs typeface="Times New Roman" pitchFamily="18" charset="0"/>
              </a:rPr>
              <a:t>Program Educational Objectives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9" name="Content Placeholder 8">
            <a:extLst>
              <a:ext uri="{FF2B5EF4-FFF2-40B4-BE49-F238E27FC236}">
                <a16:creationId xmlns="" xmlns:a16="http://schemas.microsoft.com/office/drawing/2014/main" id="{546DE743-44E5-44C4-B057-BA51902AD446}"/>
              </a:ext>
            </a:extLst>
          </p:cNvPr>
          <p:cNvSpPr>
            <a:spLocks noGrp="1"/>
          </p:cNvSpPr>
          <p:nvPr>
            <p:ph idx="1"/>
          </p:nvPr>
        </p:nvSpPr>
        <p:spPr>
          <a:xfrm>
            <a:off x="609600" y="973668"/>
            <a:ext cx="10972800" cy="5071532"/>
          </a:xfrm>
        </p:spPr>
        <p:txBody>
          <a:bodyPr>
            <a:normAutofit/>
          </a:bodyPr>
          <a:lstStyle/>
          <a:p>
            <a:pPr algn="just">
              <a:lnSpc>
                <a:spcPct val="115000"/>
              </a:lnSpc>
              <a:spcAft>
                <a:spcPts val="1000"/>
              </a:spcAft>
            </a:pP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PEO1:       </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able to apply sound knowledge in the field of information technology to fulfill the needs of IT industry.</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PEO2:       </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able to design innovative and interdisciplinary systems through latest digital technologies.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PEO3:       </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able to inculcate professional and social ethics, team work and leadership for serving the society.</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PEO4:</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able to inculcate lifelong learning in the field of computing for successful career in organizations and R&amp;D sectors.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008328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63D67D0-AE8F-45E8-B81A-12E6DE3C346D}" type="datetime1">
              <a:rPr lang="en-US" smtClean="0">
                <a:solidFill>
                  <a:prstClr val="black">
                    <a:tint val="75000"/>
                  </a:prstClr>
                </a:solidFill>
              </a:rPr>
              <a:t>3/9/2022</a:t>
            </a:fld>
            <a:endParaRPr lang="en-US" dirty="0">
              <a:solidFill>
                <a:prstClr val="black">
                  <a:tint val="75000"/>
                </a:prstClr>
              </a:solidFill>
            </a:endParaRPr>
          </a:p>
        </p:txBody>
      </p:sp>
      <p:sp>
        <p:nvSpPr>
          <p:cNvPr id="5" name="Footer Placeholder 4"/>
          <p:cNvSpPr>
            <a:spLocks noGrp="1"/>
          </p:cNvSpPr>
          <p:nvPr>
            <p:ph type="ftr" sz="quarter" idx="11"/>
          </p:nvPr>
        </p:nvSpPr>
        <p:spPr>
          <a:xfrm>
            <a:off x="2336800" y="6356353"/>
            <a:ext cx="8534400" cy="365125"/>
          </a:xfrm>
        </p:spPr>
        <p:txBody>
          <a:bodyPr/>
          <a:lstStyle/>
          <a:p>
            <a:r>
              <a:rPr lang="en-US" smtClean="0">
                <a:solidFill>
                  <a:prstClr val="black"/>
                </a:solidFill>
              </a:rPr>
              <a:t>Ms.Pooja Tyagi      KNC 602 Indian Traditions, Culture and Society              Unit :1</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18</a:t>
            </a:fld>
            <a:endParaRPr lang="en-US" dirty="0">
              <a:solidFill>
                <a:prstClr val="black">
                  <a:tint val="75000"/>
                </a:prstClr>
              </a:solidFill>
            </a:endParaRPr>
          </a:p>
        </p:txBody>
      </p:sp>
      <p:sp>
        <p:nvSpPr>
          <p:cNvPr id="7" name="Title 1"/>
          <p:cNvSpPr txBox="1">
            <a:spLocks/>
          </p:cNvSpPr>
          <p:nvPr/>
        </p:nvSpPr>
        <p:spPr>
          <a:xfrm>
            <a:off x="18796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solidFill>
                  <a:prstClr val="black"/>
                </a:solidFill>
                <a:latin typeface="Times New Roman" pitchFamily="18" charset="0"/>
                <a:cs typeface="Times New Roman" pitchFamily="18" charset="0"/>
              </a:rPr>
              <a:t>Result Analysis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3" name="Content Placeholder 2">
            <a:extLst>
              <a:ext uri="{FF2B5EF4-FFF2-40B4-BE49-F238E27FC236}">
                <a16:creationId xmlns="" xmlns:a16="http://schemas.microsoft.com/office/drawing/2014/main" id="{06B852FC-C3C6-4813-A91D-45ACB3943781}"/>
              </a:ext>
            </a:extLst>
          </p:cNvPr>
          <p:cNvSpPr>
            <a:spLocks noGrp="1"/>
          </p:cNvSpPr>
          <p:nvPr>
            <p:ph idx="1"/>
          </p:nvPr>
        </p:nvSpPr>
        <p:spPr/>
        <p:txBody>
          <a:bodyPr/>
          <a:lstStyle/>
          <a:p>
            <a:r>
              <a:rPr lang="en-IN" dirty="0"/>
              <a:t>It will be done after result declaration.</a:t>
            </a:r>
          </a:p>
        </p:txBody>
      </p:sp>
    </p:spTree>
    <p:extLst>
      <p:ext uri="{BB962C8B-B14F-4D97-AF65-F5344CB8AC3E}">
        <p14:creationId xmlns:p14="http://schemas.microsoft.com/office/powerpoint/2010/main" val="104831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DD7D377-0A5A-4E81-AEA3-3AE6573B1500}" type="datetime1">
              <a:rPr lang="en-US" smtClean="0"/>
              <a:t>3/9/2022</a:t>
            </a:fld>
            <a:endParaRPr lang="en-US" dirty="0"/>
          </a:p>
        </p:txBody>
      </p:sp>
      <p:sp>
        <p:nvSpPr>
          <p:cNvPr id="5" name="Footer Placeholder 4"/>
          <p:cNvSpPr>
            <a:spLocks noGrp="1"/>
          </p:cNvSpPr>
          <p:nvPr>
            <p:ph type="ftr" sz="quarter" idx="11"/>
          </p:nvPr>
        </p:nvSpPr>
        <p:spPr>
          <a:xfrm>
            <a:off x="3276600" y="6356351"/>
            <a:ext cx="64008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dirty="0"/>
          </a:p>
        </p:txBody>
      </p:sp>
      <p:sp>
        <p:nvSpPr>
          <p:cNvPr id="7" name="Title 1"/>
          <p:cNvSpPr txBox="1">
            <a:spLocks/>
          </p:cNvSpPr>
          <p:nvPr/>
        </p:nvSpPr>
        <p:spPr>
          <a:xfrm>
            <a:off x="2895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endParaRPr lang="en-US" sz="2800" b="1" dirty="0">
              <a:latin typeface="+mj-lt"/>
              <a:cs typeface="Times New Roman" pitchFamily="18" charset="0"/>
            </a:endParaRPr>
          </a:p>
          <a:p>
            <a:pPr lvl="0" algn="ctr"/>
            <a:r>
              <a:rPr lang="en-US" sz="2800" b="1" dirty="0">
                <a:latin typeface="+mj-lt"/>
                <a:cs typeface="Times New Roman" pitchFamily="18" charset="0"/>
              </a:rPr>
              <a:t> End Semester Question Paper </a:t>
            </a:r>
            <a:r>
              <a:rPr lang="en-US" sz="2800" b="1" dirty="0">
                <a:latin typeface="+mj-lt"/>
              </a:rPr>
              <a:t>Template</a:t>
            </a:r>
          </a:p>
          <a:p>
            <a:pPr algn="ctr"/>
            <a:endParaRPr lang="en-US" sz="2800" b="1" dirty="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pic>
        <p:nvPicPr>
          <p:cNvPr id="11" name="Content Placeholder 7" descr="temp2.png"/>
          <p:cNvPicPr>
            <a:picLocks noGrp="1" noChangeAspect="1"/>
          </p:cNvPicPr>
          <p:nvPr>
            <p:ph idx="1"/>
          </p:nvPr>
        </p:nvPicPr>
        <p:blipFill>
          <a:blip r:embed="rId3"/>
          <a:stretch>
            <a:fillRect/>
          </a:stretch>
        </p:blipFill>
        <p:spPr>
          <a:xfrm>
            <a:off x="1828800" y="838200"/>
            <a:ext cx="8382000" cy="5486400"/>
          </a:xfrm>
        </p:spPr>
      </p:pic>
    </p:spTree>
    <p:extLst>
      <p:ext uri="{BB962C8B-B14F-4D97-AF65-F5344CB8AC3E}">
        <p14:creationId xmlns:p14="http://schemas.microsoft.com/office/powerpoint/2010/main" val="2675304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marL="457200" indent="-457200" algn="just">
              <a:buNone/>
            </a:pPr>
            <a:r>
              <a:rPr lang="en-US" sz="2400" dirty="0"/>
              <a:t>                                   </a:t>
            </a:r>
            <a:endParaRPr lang="en-US" sz="2400" spc="-5" dirty="0">
              <a:latin typeface="+mj-lt"/>
              <a:cs typeface="Times New Roman" pitchFamily="18" charset="0"/>
            </a:endParaRPr>
          </a:p>
        </p:txBody>
      </p:sp>
      <p:sp>
        <p:nvSpPr>
          <p:cNvPr id="4" name="Date Placeholder 3"/>
          <p:cNvSpPr>
            <a:spLocks noGrp="1"/>
          </p:cNvSpPr>
          <p:nvPr>
            <p:ph type="dt" sz="half" idx="10"/>
          </p:nvPr>
        </p:nvSpPr>
        <p:spPr/>
        <p:txBody>
          <a:bodyPr/>
          <a:lstStyle/>
          <a:p>
            <a:fld id="{518F84A7-FF89-4BA9-8AE1-AE2339055E86}" type="datetime1">
              <a:rPr lang="en-US" smtClean="0"/>
              <a:t>3/9/2022</a:t>
            </a:fld>
            <a:endParaRPr lang="en-US" dirty="0"/>
          </a:p>
        </p:txBody>
      </p:sp>
      <p:sp>
        <p:nvSpPr>
          <p:cNvPr id="5" name="Footer Placeholder 4"/>
          <p:cNvSpPr>
            <a:spLocks noGrp="1"/>
          </p:cNvSpPr>
          <p:nvPr>
            <p:ph type="ftr" sz="quarter" idx="11"/>
          </p:nvPr>
        </p:nvSpPr>
        <p:spPr>
          <a:xfrm>
            <a:off x="3276600" y="6356351"/>
            <a:ext cx="64008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sp>
        <p:nvSpPr>
          <p:cNvPr id="7" name="Title 1"/>
          <p:cNvSpPr txBox="1">
            <a:spLocks/>
          </p:cNvSpPr>
          <p:nvPr/>
        </p:nvSpPr>
        <p:spPr>
          <a:xfrm>
            <a:off x="2895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endParaRPr lang="en-US" sz="2800" b="1" dirty="0">
              <a:latin typeface="+mj-lt"/>
              <a:cs typeface="Times New Roman" pitchFamily="18" charset="0"/>
            </a:endParaRPr>
          </a:p>
          <a:p>
            <a:pPr lvl="0" algn="ctr"/>
            <a:r>
              <a:rPr lang="en-US" sz="2800" b="1" dirty="0">
                <a:latin typeface="+mj-lt"/>
                <a:cs typeface="Times New Roman" pitchFamily="18" charset="0"/>
              </a:rPr>
              <a:t> End Semester Question Paper </a:t>
            </a:r>
            <a:r>
              <a:rPr lang="en-US" sz="2800" b="1" dirty="0">
                <a:latin typeface="+mj-lt"/>
              </a:rPr>
              <a:t>Template</a:t>
            </a:r>
          </a:p>
          <a:p>
            <a:pPr algn="ctr"/>
            <a:endParaRPr lang="en-US" sz="2800" b="1" dirty="0">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1524000" y="1"/>
            <a:ext cx="1447800" cy="817163"/>
          </a:xfrm>
          <a:prstGeom prst="rect">
            <a:avLst/>
          </a:prstGeom>
          <a:noFill/>
        </p:spPr>
      </p:pic>
      <p:pic>
        <p:nvPicPr>
          <p:cNvPr id="10" name="Content Placeholder 7" descr="temp3.png"/>
          <p:cNvPicPr>
            <a:picLocks noChangeAspect="1"/>
          </p:cNvPicPr>
          <p:nvPr/>
        </p:nvPicPr>
        <p:blipFill>
          <a:blip r:embed="rId3"/>
          <a:stretch>
            <a:fillRect/>
          </a:stretch>
        </p:blipFill>
        <p:spPr>
          <a:xfrm>
            <a:off x="1828800" y="838201"/>
            <a:ext cx="8534400" cy="5465053"/>
          </a:xfrm>
          <a:prstGeom prst="rect">
            <a:avLst/>
          </a:prstGeom>
        </p:spPr>
      </p:pic>
    </p:spTree>
    <p:extLst>
      <p:ext uri="{BB962C8B-B14F-4D97-AF65-F5344CB8AC3E}">
        <p14:creationId xmlns:p14="http://schemas.microsoft.com/office/powerpoint/2010/main" val="38915292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68D06B-E50F-49C4-A8BB-1F794BB23E48}" type="datetime1">
              <a:rPr lang="en-US" smtClean="0">
                <a:solidFill>
                  <a:prstClr val="black">
                    <a:tint val="75000"/>
                  </a:prstClr>
                </a:solidFill>
              </a:rPr>
              <a:t>3/9/2022</a:t>
            </a:fld>
            <a:endParaRPr lang="en-US" dirty="0">
              <a:solidFill>
                <a:prstClr val="black">
                  <a:tint val="75000"/>
                </a:prstClr>
              </a:solidFill>
            </a:endParaRPr>
          </a:p>
        </p:txBody>
      </p:sp>
      <p:sp>
        <p:nvSpPr>
          <p:cNvPr id="5" name="Footer Placeholder 4"/>
          <p:cNvSpPr>
            <a:spLocks noGrp="1"/>
          </p:cNvSpPr>
          <p:nvPr>
            <p:ph type="ftr" sz="quarter" idx="11"/>
          </p:nvPr>
        </p:nvSpPr>
        <p:spPr>
          <a:xfrm>
            <a:off x="2336800" y="6356353"/>
            <a:ext cx="8534400" cy="365125"/>
          </a:xfrm>
        </p:spPr>
        <p:txBody>
          <a:bodyPr/>
          <a:lstStyle/>
          <a:p>
            <a:r>
              <a:rPr lang="en-US" smtClean="0">
                <a:solidFill>
                  <a:prstClr val="black"/>
                </a:solidFill>
              </a:rPr>
              <a:t>Ms.Pooja Tyagi      KNC 602 Indian Traditions, Culture and Society              Unit :1</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21</a:t>
            </a:fld>
            <a:endParaRPr lang="en-US" dirty="0">
              <a:solidFill>
                <a:prstClr val="black">
                  <a:tint val="75000"/>
                </a:prstClr>
              </a:solidFill>
            </a:endParaRPr>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solidFill>
                  <a:prstClr val="black"/>
                </a:solidFill>
                <a:latin typeface="Times New Roman" pitchFamily="18" charset="0"/>
                <a:cs typeface="Times New Roman" pitchFamily="18" charset="0"/>
              </a:rPr>
              <a:t>Pre requisites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9" name="Content Placeholder 8">
            <a:extLst>
              <a:ext uri="{FF2B5EF4-FFF2-40B4-BE49-F238E27FC236}">
                <a16:creationId xmlns="" xmlns:a16="http://schemas.microsoft.com/office/drawing/2014/main" id="{3351EEA3-2954-4778-A408-0D296557ABC0}"/>
              </a:ext>
            </a:extLst>
          </p:cNvPr>
          <p:cNvSpPr>
            <a:spLocks noGrp="1"/>
          </p:cNvSpPr>
          <p:nvPr>
            <p:ph idx="1"/>
          </p:nvPr>
        </p:nvSpPr>
        <p:spPr/>
        <p:txBody>
          <a:bodyPr/>
          <a:lstStyle/>
          <a:p>
            <a:r>
              <a:rPr lang="en-IN" dirty="0"/>
              <a:t>Students should have a basic understanding of the Indian traditions, culture and the states.</a:t>
            </a:r>
          </a:p>
        </p:txBody>
      </p:sp>
    </p:spTree>
    <p:extLst>
      <p:ext uri="{BB962C8B-B14F-4D97-AF65-F5344CB8AC3E}">
        <p14:creationId xmlns:p14="http://schemas.microsoft.com/office/powerpoint/2010/main" val="9851559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914401"/>
            <a:ext cx="8534400" cy="4754563"/>
          </a:xfrm>
        </p:spPr>
        <p:txBody>
          <a:bodyPr/>
          <a:lstStyle/>
          <a:p>
            <a:pPr algn="just">
              <a:buNone/>
            </a:pPr>
            <a:r>
              <a:rPr lang="en-US" sz="2000" b="1" dirty="0">
                <a:cs typeface="Times New Roman" panose="02020603050405020304" pitchFamily="18" charset="0"/>
              </a:rPr>
              <a:t>Introduction: </a:t>
            </a:r>
            <a:r>
              <a:rPr lang="en-US" sz="2000" dirty="0"/>
              <a:t>EITK is the study of Indian culture, society, as well as different languages and the living standards of the Indian people, and it helps to understand the history of culture and society in different regions of the country.</a:t>
            </a:r>
          </a:p>
          <a:p>
            <a:pPr>
              <a:buNone/>
            </a:pP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Video Links:</a:t>
            </a:r>
          </a:p>
          <a:p>
            <a:r>
              <a:rPr lang="en-US" sz="2400" dirty="0">
                <a:latin typeface="Times New Roman" pitchFamily="18" charset="0"/>
                <a:cs typeface="Times New Roman" pitchFamily="18" charset="0"/>
                <a:hlinkClick r:id="rId2"/>
              </a:rPr>
              <a:t>https://youtu.be/X2SXJiSv3R4</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hlinkClick r:id="rId3"/>
              </a:rPr>
              <a:t>https://youtu.be/7PuuAgeSRpU</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hlinkClick r:id="rId4"/>
              </a:rPr>
              <a:t>https://youtu.be/RVT60SA3KgM</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hlinkClick r:id="rId5"/>
              </a:rPr>
              <a:t>https://youtu.be/dK53fX97jlc</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051DD41-49AD-4598-9BF2-78E8083CAC04}" type="datetime1">
              <a:rPr lang="en-US" smtClean="0"/>
              <a:t>3/9/2022</a:t>
            </a:fld>
            <a:endParaRPr lang="en-US" dirty="0"/>
          </a:p>
        </p:txBody>
      </p:sp>
      <p:sp>
        <p:nvSpPr>
          <p:cNvPr id="5" name="Footer Placeholder 4"/>
          <p:cNvSpPr>
            <a:spLocks noGrp="1"/>
          </p:cNvSpPr>
          <p:nvPr>
            <p:ph type="ftr" sz="quarter" idx="11"/>
          </p:nvPr>
        </p:nvSpPr>
        <p:spPr>
          <a:xfrm>
            <a:off x="3200400" y="6356351"/>
            <a:ext cx="64008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sp>
        <p:nvSpPr>
          <p:cNvPr id="7" name="Title 1"/>
          <p:cNvSpPr txBox="1">
            <a:spLocks/>
          </p:cNvSpPr>
          <p:nvPr/>
        </p:nvSpPr>
        <p:spPr>
          <a:xfrm>
            <a:off x="2895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Times New Roman" pitchFamily="18" charset="0"/>
                <a:cs typeface="Times New Roman" pitchFamily="18" charset="0"/>
              </a:rPr>
              <a:t>Introduction of subject with video links</a:t>
            </a:r>
          </a:p>
        </p:txBody>
      </p:sp>
      <p:pic>
        <p:nvPicPr>
          <p:cNvPr id="8" name="Picture 2" descr="E:\NIET\Project\xLogo11.png.pagespeed.ic.pydHLuCQEZ.png"/>
          <p:cNvPicPr>
            <a:picLocks noChangeAspect="1" noChangeArrowheads="1"/>
          </p:cNvPicPr>
          <p:nvPr/>
        </p:nvPicPr>
        <p:blipFill>
          <a:blip r:embed="rId6"/>
          <a:srcRect/>
          <a:stretch>
            <a:fillRect/>
          </a:stretch>
        </p:blipFill>
        <p:spPr bwMode="auto">
          <a:xfrm>
            <a:off x="1524000" y="1"/>
            <a:ext cx="1447800" cy="817163"/>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1143003"/>
            <a:ext cx="10972800" cy="4525963"/>
          </a:xfrm>
        </p:spPr>
        <p:txBody>
          <a:bodyPr>
            <a:normAutofit/>
          </a:bodyPr>
          <a:lstStyle/>
          <a:p>
            <a:pPr marL="457200" indent="-457200" algn="just"/>
            <a:r>
              <a:rPr lang="en-IN" sz="2800" dirty="0">
                <a:latin typeface="Times New Roman" pitchFamily="18" charset="0"/>
                <a:cs typeface="Times New Roman" pitchFamily="18" charset="0"/>
              </a:rPr>
              <a:t>Introduction to ancient India</a:t>
            </a:r>
          </a:p>
          <a:p>
            <a:pPr marL="457200" indent="-457200" algn="just"/>
            <a:r>
              <a:rPr lang="en-IN" sz="2800" dirty="0">
                <a:latin typeface="Times New Roman" pitchFamily="18" charset="0"/>
                <a:cs typeface="Times New Roman" pitchFamily="18" charset="0"/>
              </a:rPr>
              <a:t>Evolution of Theories</a:t>
            </a:r>
          </a:p>
          <a:p>
            <a:pPr marL="457200" indent="-457200" algn="just"/>
            <a:r>
              <a:rPr lang="en-IN" sz="2800" dirty="0">
                <a:latin typeface="Times New Roman" pitchFamily="18" charset="0"/>
                <a:cs typeface="Times New Roman" pitchFamily="18" charset="0"/>
              </a:rPr>
              <a:t>Ancient States of India</a:t>
            </a:r>
          </a:p>
          <a:p>
            <a:pPr marL="457200" indent="-457200" algn="just"/>
            <a:r>
              <a:rPr lang="en-IN" sz="2800" dirty="0">
                <a:latin typeface="Times New Roman" pitchFamily="18" charset="0"/>
                <a:cs typeface="Times New Roman" pitchFamily="18" charset="0"/>
              </a:rPr>
              <a:t>Administration of ancient India</a:t>
            </a:r>
            <a:endParaRPr lang="en-US" sz="2400" spc="-5"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0EA74FA-92B1-40C8-AC98-E8AFCDA34275}" type="datetime1">
              <a:rPr lang="en-US" smtClean="0">
                <a:solidFill>
                  <a:prstClr val="black">
                    <a:tint val="75000"/>
                  </a:prstClr>
                </a:solidFill>
              </a:rPr>
              <a:t>3/9/2022</a:t>
            </a:fld>
            <a:endParaRPr lang="en-US" dirty="0">
              <a:solidFill>
                <a:prstClr val="black">
                  <a:tint val="75000"/>
                </a:prstClr>
              </a:solidFill>
            </a:endParaRPr>
          </a:p>
        </p:txBody>
      </p:sp>
      <p:sp>
        <p:nvSpPr>
          <p:cNvPr id="5" name="Footer Placeholder 4"/>
          <p:cNvSpPr>
            <a:spLocks noGrp="1"/>
          </p:cNvSpPr>
          <p:nvPr>
            <p:ph type="ftr" sz="quarter" idx="11"/>
          </p:nvPr>
        </p:nvSpPr>
        <p:spPr>
          <a:xfrm>
            <a:off x="2336800" y="6356353"/>
            <a:ext cx="8534400" cy="365125"/>
          </a:xfrm>
        </p:spPr>
        <p:txBody>
          <a:bodyPr/>
          <a:lstStyle/>
          <a:p>
            <a:r>
              <a:rPr lang="en-US" smtClean="0">
                <a:solidFill>
                  <a:prstClr val="black"/>
                </a:solidFill>
              </a:rPr>
              <a:t>Ms.Pooja Tyagi      KNC 602 Indian Traditions, Culture and Society              Unit :1</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23</a:t>
            </a:fld>
            <a:endParaRPr lang="en-US" dirty="0">
              <a:solidFill>
                <a:prstClr val="black">
                  <a:tint val="75000"/>
                </a:prstClr>
              </a:solidFill>
            </a:endParaRPr>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solidFill>
                  <a:prstClr val="black"/>
                </a:solidFill>
                <a:latin typeface="Times New Roman" pitchFamily="18" charset="0"/>
                <a:cs typeface="Times New Roman" pitchFamily="18" charset="0"/>
              </a:rPr>
              <a:t>Content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29932432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1143003"/>
            <a:ext cx="10972800" cy="4525963"/>
          </a:xfrm>
        </p:spPr>
        <p:txBody>
          <a:bodyPr>
            <a:normAutofit/>
          </a:bodyPr>
          <a:lstStyle/>
          <a:p>
            <a:r>
              <a:rPr lang="en-IN" sz="2800" dirty="0">
                <a:latin typeface="Times New Roman" pitchFamily="18" charset="0"/>
                <a:cs typeface="Times New Roman" pitchFamily="18" charset="0"/>
              </a:rPr>
              <a:t>To make students aware about ancient Indian states</a:t>
            </a:r>
            <a:endParaRPr lang="en-US" sz="2800" dirty="0">
              <a:latin typeface="Times New Roman" pitchFamily="18" charset="0"/>
              <a:cs typeface="Times New Roman" pitchFamily="18" charset="0"/>
            </a:endParaRPr>
          </a:p>
          <a:p>
            <a:pPr>
              <a:buFont typeface="Symbol"/>
              <a:buChar char="·"/>
            </a:pPr>
            <a:r>
              <a:rPr lang="en-IN" sz="2800" dirty="0">
                <a:latin typeface="Times New Roman" pitchFamily="18" charset="0"/>
                <a:cs typeface="Times New Roman" pitchFamily="18" charset="0"/>
              </a:rPr>
              <a:t>To develop a clear understanding on different ashrams in life.</a:t>
            </a:r>
          </a:p>
          <a:p>
            <a:pPr>
              <a:buFont typeface="Symbol"/>
              <a:buChar char="·"/>
            </a:pPr>
            <a:r>
              <a:rPr lang="en-IN" sz="2800" dirty="0">
                <a:latin typeface="Times New Roman" pitchFamily="18" charset="0"/>
                <a:cs typeface="Times New Roman" pitchFamily="18" charset="0"/>
              </a:rPr>
              <a:t>To explain ancient Indian administration to the students.</a:t>
            </a:r>
          </a:p>
          <a:p>
            <a:pPr marL="0" indent="0">
              <a:buNone/>
            </a:pP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FFF7F07-C080-4F86-A35C-CD7AFE3856C3}" type="datetime1">
              <a:rPr lang="en-US" smtClean="0">
                <a:solidFill>
                  <a:prstClr val="black">
                    <a:tint val="75000"/>
                  </a:prstClr>
                </a:solidFill>
              </a:rPr>
              <a:t>3/9/2022</a:t>
            </a:fld>
            <a:endParaRPr lang="en-US" dirty="0">
              <a:solidFill>
                <a:prstClr val="black">
                  <a:tint val="75000"/>
                </a:prstClr>
              </a:solidFill>
            </a:endParaRPr>
          </a:p>
        </p:txBody>
      </p:sp>
      <p:sp>
        <p:nvSpPr>
          <p:cNvPr id="5" name="Footer Placeholder 4"/>
          <p:cNvSpPr>
            <a:spLocks noGrp="1"/>
          </p:cNvSpPr>
          <p:nvPr>
            <p:ph type="ftr" sz="quarter" idx="11"/>
          </p:nvPr>
        </p:nvSpPr>
        <p:spPr>
          <a:xfrm>
            <a:off x="2336800" y="6356353"/>
            <a:ext cx="8534400" cy="365125"/>
          </a:xfrm>
        </p:spPr>
        <p:txBody>
          <a:bodyPr/>
          <a:lstStyle/>
          <a:p>
            <a:r>
              <a:rPr lang="en-US" smtClean="0">
                <a:solidFill>
                  <a:prstClr val="black"/>
                </a:solidFill>
              </a:rPr>
              <a:t>Ms.Pooja Tyagi      KNC 602 Indian Traditions, Culture and Society              Unit :1</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24</a:t>
            </a:fld>
            <a:endParaRPr lang="en-US" dirty="0">
              <a:solidFill>
                <a:prstClr val="black">
                  <a:tint val="75000"/>
                </a:prstClr>
              </a:solidFill>
            </a:endParaRPr>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a:solidFill>
                  <a:prstClr val="black"/>
                </a:solidFill>
                <a:latin typeface="Times New Roman" pitchFamily="18" charset="0"/>
                <a:cs typeface="Times New Roman" pitchFamily="18" charset="0"/>
              </a:rPr>
              <a:t>                       </a:t>
            </a:r>
            <a:r>
              <a:rPr lang="en-US" sz="2800" b="1" dirty="0">
                <a:solidFill>
                  <a:prstClr val="black"/>
                </a:solidFill>
                <a:latin typeface="Times New Roman" pitchFamily="18" charset="0"/>
                <a:cs typeface="Times New Roman" pitchFamily="18" charset="0"/>
              </a:rPr>
              <a:t>Unit Objective(s)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18564452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004668381"/>
              </p:ext>
            </p:extLst>
          </p:nvPr>
        </p:nvGraphicFramePr>
        <p:xfrm>
          <a:off x="508003" y="1153160"/>
          <a:ext cx="9204428" cy="3474720"/>
        </p:xfrm>
        <a:graphic>
          <a:graphicData uri="http://schemas.openxmlformats.org/drawingml/2006/table">
            <a:tbl>
              <a:tblPr firstRow="1" bandRow="1">
                <a:tableStyleId>{5C22544A-7EE6-4342-B048-85BDC9FD1C3A}</a:tableStyleId>
              </a:tblPr>
              <a:tblGrid>
                <a:gridCol w="1219199">
                  <a:extLst>
                    <a:ext uri="{9D8B030D-6E8A-4147-A177-3AD203B41FA5}">
                      <a16:colId xmlns="" xmlns:a16="http://schemas.microsoft.com/office/drawing/2014/main" val="20000"/>
                    </a:ext>
                  </a:extLst>
                </a:gridCol>
                <a:gridCol w="1016000">
                  <a:extLst>
                    <a:ext uri="{9D8B030D-6E8A-4147-A177-3AD203B41FA5}">
                      <a16:colId xmlns="" xmlns:a16="http://schemas.microsoft.com/office/drawing/2014/main" val="20001"/>
                    </a:ext>
                  </a:extLst>
                </a:gridCol>
                <a:gridCol w="4978401">
                  <a:extLst>
                    <a:ext uri="{9D8B030D-6E8A-4147-A177-3AD203B41FA5}">
                      <a16:colId xmlns="" xmlns:a16="http://schemas.microsoft.com/office/drawing/2014/main" val="20002"/>
                    </a:ext>
                  </a:extLst>
                </a:gridCol>
                <a:gridCol w="1990828">
                  <a:extLst>
                    <a:ext uri="{9D8B030D-6E8A-4147-A177-3AD203B41FA5}">
                      <a16:colId xmlns="" xmlns:a16="http://schemas.microsoft.com/office/drawing/2014/main" val="20003"/>
                    </a:ext>
                  </a:extLst>
                </a:gridCol>
              </a:tblGrid>
              <a:tr h="305642">
                <a:tc rowSpan="2">
                  <a:txBody>
                    <a:bodyPr/>
                    <a:lstStyle/>
                    <a:p>
                      <a:endParaRPr lang="en-US" sz="2200" b="1" dirty="0">
                        <a:solidFill>
                          <a:schemeClr val="bg1"/>
                        </a:solidFill>
                      </a:endParaRPr>
                    </a:p>
                    <a:p>
                      <a:r>
                        <a:rPr lang="en-US" sz="2200" b="1" dirty="0">
                          <a:solidFill>
                            <a:schemeClr val="bg1"/>
                          </a:solidFill>
                        </a:rPr>
                        <a:t> Unit-I</a:t>
                      </a:r>
                    </a:p>
                  </a:txBody>
                  <a:tcPr marL="121920" marR="121920"/>
                </a:tc>
                <a:tc rowSpan="2">
                  <a:txBody>
                    <a:bodyPr/>
                    <a:lstStyle/>
                    <a:p>
                      <a:endParaRPr lang="en-US" sz="2200" b="1" dirty="0">
                        <a:solidFill>
                          <a:schemeClr val="bg1"/>
                        </a:solidFill>
                      </a:endParaRPr>
                    </a:p>
                    <a:p>
                      <a:r>
                        <a:rPr lang="en-US" sz="2200" b="1" dirty="0">
                          <a:solidFill>
                            <a:schemeClr val="bg1"/>
                          </a:solidFill>
                        </a:rPr>
                        <a:t>   So. No.</a:t>
                      </a:r>
                    </a:p>
                  </a:txBody>
                  <a:tcPr marL="121920" marR="121920"/>
                </a:tc>
                <a:tc gridSpan="2">
                  <a:txBody>
                    <a:bodyPr/>
                    <a:lstStyle/>
                    <a:p>
                      <a:pPr algn="ctr"/>
                      <a:r>
                        <a:rPr lang="en-US" sz="2200" b="1" dirty="0">
                          <a:solidFill>
                            <a:schemeClr val="bg1"/>
                          </a:solidFill>
                        </a:rPr>
                        <a:t>Mapping</a:t>
                      </a:r>
                    </a:p>
                  </a:txBody>
                  <a:tcPr marL="121920" marR="121920"/>
                </a:tc>
                <a:tc hMerge="1">
                  <a:txBody>
                    <a:bodyPr/>
                    <a:lstStyle/>
                    <a:p>
                      <a:endParaRPr lang="en-US"/>
                    </a:p>
                  </a:txBody>
                  <a:tcPr/>
                </a:tc>
                <a:extLst>
                  <a:ext uri="{0D108BD9-81ED-4DB2-BD59-A6C34878D82A}">
                    <a16:rowId xmlns="" xmlns:a16="http://schemas.microsoft.com/office/drawing/2014/main" val="10000"/>
                  </a:ext>
                </a:extLst>
              </a:tr>
              <a:tr h="427899">
                <a:tc vMerge="1">
                  <a:txBody>
                    <a:bodyPr/>
                    <a:lstStyle/>
                    <a:p>
                      <a:endParaRPr lang="en-US" dirty="0"/>
                    </a:p>
                  </a:txBody>
                  <a:tcPr/>
                </a:tc>
                <a:tc vMerge="1">
                  <a:txBody>
                    <a:bodyPr/>
                    <a:lstStyle/>
                    <a:p>
                      <a:endParaRPr lang="en-US" dirty="0"/>
                    </a:p>
                  </a:txBody>
                  <a:tcPr/>
                </a:tc>
                <a:tc>
                  <a:txBody>
                    <a:bodyPr/>
                    <a:lstStyle/>
                    <a:p>
                      <a:r>
                        <a:rPr lang="en-US" sz="2200" b="1" dirty="0"/>
                        <a:t>                      Topic</a:t>
                      </a:r>
                    </a:p>
                  </a:txBody>
                  <a:tcPr marL="121920" marR="121920"/>
                </a:tc>
                <a:tc>
                  <a:txBody>
                    <a:bodyPr/>
                    <a:lstStyle/>
                    <a:p>
                      <a:r>
                        <a:rPr lang="en-US" sz="2200" b="1" dirty="0"/>
                        <a:t>Course Outcomes</a:t>
                      </a:r>
                    </a:p>
                  </a:txBody>
                  <a:tcPr marL="121920" marR="121920"/>
                </a:tc>
                <a:extLst>
                  <a:ext uri="{0D108BD9-81ED-4DB2-BD59-A6C34878D82A}">
                    <a16:rowId xmlns="" xmlns:a16="http://schemas.microsoft.com/office/drawing/2014/main" val="10001"/>
                  </a:ext>
                </a:extLst>
              </a:tr>
              <a:tr h="629920">
                <a:tc>
                  <a:txBody>
                    <a:bodyPr/>
                    <a:lstStyle/>
                    <a:p>
                      <a:pPr algn="just"/>
                      <a:r>
                        <a:rPr lang="en-US" sz="2200" b="0" dirty="0"/>
                        <a:t>         I</a:t>
                      </a:r>
                    </a:p>
                  </a:txBody>
                  <a:tcPr marL="121920" marR="121920"/>
                </a:tc>
                <a:tc>
                  <a:txBody>
                    <a:bodyPr/>
                    <a:lstStyle/>
                    <a:p>
                      <a:pPr algn="just"/>
                      <a:r>
                        <a:rPr lang="en-US" sz="2200" b="0" dirty="0"/>
                        <a:t>          1</a:t>
                      </a:r>
                    </a:p>
                  </a:txBody>
                  <a:tcPr marL="121920" marR="121920"/>
                </a:tc>
                <a:tc>
                  <a:txBody>
                    <a:bodyPr/>
                    <a:lstStyle/>
                    <a:p>
                      <a:pPr algn="just"/>
                      <a:r>
                        <a:rPr lang="en-US" sz="2400" dirty="0">
                          <a:latin typeface="Times New Roman" pitchFamily="18" charset="0"/>
                          <a:cs typeface="Times New Roman" pitchFamily="18" charset="0"/>
                        </a:rPr>
                        <a:t>Introduction to ancient</a:t>
                      </a:r>
                      <a:r>
                        <a:rPr lang="en-US" sz="2400" baseline="0" dirty="0">
                          <a:latin typeface="Times New Roman" pitchFamily="18" charset="0"/>
                          <a:cs typeface="Times New Roman" pitchFamily="18" charset="0"/>
                        </a:rPr>
                        <a:t> India</a:t>
                      </a:r>
                      <a:endParaRPr lang="en-US" sz="2400" dirty="0">
                        <a:latin typeface="Times New Roman" pitchFamily="18" charset="0"/>
                        <a:cs typeface="Times New Roman" pitchFamily="18" charset="0"/>
                      </a:endParaRPr>
                    </a:p>
                  </a:txBody>
                  <a:tcPr marL="121920" marR="121920"/>
                </a:tc>
                <a:tc>
                  <a:txBody>
                    <a:bodyPr/>
                    <a:lstStyle/>
                    <a:p>
                      <a:pPr algn="just"/>
                      <a:r>
                        <a:rPr lang="en-US" sz="2200" b="0" dirty="0"/>
                        <a:t>Co1</a:t>
                      </a:r>
                    </a:p>
                  </a:txBody>
                  <a:tcPr marL="121920" marR="121920"/>
                </a:tc>
                <a:extLst>
                  <a:ext uri="{0D108BD9-81ED-4DB2-BD59-A6C34878D82A}">
                    <a16:rowId xmlns="" xmlns:a16="http://schemas.microsoft.com/office/drawing/2014/main" val="10002"/>
                  </a:ext>
                </a:extLst>
              </a:tr>
              <a:tr h="247910">
                <a:tc>
                  <a:txBody>
                    <a:bodyPr/>
                    <a:lstStyle/>
                    <a:p>
                      <a:pPr algn="just"/>
                      <a:endParaRPr lang="en-US" sz="2200" b="0" dirty="0"/>
                    </a:p>
                  </a:txBody>
                  <a:tcPr marL="121920" marR="121920"/>
                </a:tc>
                <a:tc>
                  <a:txBody>
                    <a:bodyPr/>
                    <a:lstStyle/>
                    <a:p>
                      <a:pPr algn="just"/>
                      <a:r>
                        <a:rPr lang="en-US" sz="2200" b="0" dirty="0"/>
                        <a:t>          2</a:t>
                      </a:r>
                    </a:p>
                  </a:txBody>
                  <a:tcPr marL="121920" marR="121920"/>
                </a:tc>
                <a:tc>
                  <a:txBody>
                    <a:bodyPr/>
                    <a:lstStyle/>
                    <a:p>
                      <a:pPr algn="just"/>
                      <a:r>
                        <a:rPr lang="en-US" sz="2400" spc="-5" dirty="0">
                          <a:latin typeface="Times New Roman" pitchFamily="18" charset="0"/>
                          <a:cs typeface="Times New Roman" pitchFamily="18" charset="0"/>
                        </a:rPr>
                        <a:t>Ancient Indian states</a:t>
                      </a:r>
                    </a:p>
                  </a:txBody>
                  <a:tcPr marL="121920" marR="121920"/>
                </a:tc>
                <a:tc>
                  <a:txBody>
                    <a:bodyPr/>
                    <a:lstStyle/>
                    <a:p>
                      <a:pPr algn="just"/>
                      <a:r>
                        <a:rPr lang="en-US" sz="2200" b="0" dirty="0"/>
                        <a:t>Co1</a:t>
                      </a:r>
                    </a:p>
                  </a:txBody>
                  <a:tcPr marL="121920" marR="121920"/>
                </a:tc>
                <a:extLst>
                  <a:ext uri="{0D108BD9-81ED-4DB2-BD59-A6C34878D82A}">
                    <a16:rowId xmlns="" xmlns:a16="http://schemas.microsoft.com/office/drawing/2014/main" val="10003"/>
                  </a:ext>
                </a:extLst>
              </a:tr>
              <a:tr h="247910">
                <a:tc>
                  <a:txBody>
                    <a:bodyPr/>
                    <a:lstStyle/>
                    <a:p>
                      <a:pPr algn="just"/>
                      <a:endParaRPr lang="en-US" sz="2200" b="0" dirty="0"/>
                    </a:p>
                  </a:txBody>
                  <a:tcPr marL="121920" marR="121920"/>
                </a:tc>
                <a:tc>
                  <a:txBody>
                    <a:bodyPr/>
                    <a:lstStyle/>
                    <a:p>
                      <a:pPr algn="just"/>
                      <a:r>
                        <a:rPr lang="en-US" sz="2200" b="0" dirty="0"/>
                        <a:t>           3</a:t>
                      </a:r>
                    </a:p>
                  </a:txBody>
                  <a:tcPr marL="121920" marR="121920"/>
                </a:tc>
                <a:tc>
                  <a:txBody>
                    <a:bodyPr/>
                    <a:lstStyle/>
                    <a:p>
                      <a:pPr algn="just"/>
                      <a:r>
                        <a:rPr lang="en-US" sz="2400" spc="-5" dirty="0">
                          <a:latin typeface="Times New Roman" pitchFamily="18" charset="0"/>
                          <a:cs typeface="Times New Roman" pitchFamily="18" charset="0"/>
                        </a:rPr>
                        <a:t>Ancient Indian administration</a:t>
                      </a:r>
                    </a:p>
                  </a:txBody>
                  <a:tcPr marL="121920" marR="121920"/>
                </a:tc>
                <a:tc>
                  <a:txBody>
                    <a:bodyPr/>
                    <a:lstStyle/>
                    <a:p>
                      <a:pPr algn="just"/>
                      <a:r>
                        <a:rPr lang="en-US" sz="2200" b="0" dirty="0"/>
                        <a:t>CO1</a:t>
                      </a:r>
                    </a:p>
                  </a:txBody>
                  <a:tcPr marL="121920" marR="121920"/>
                </a:tc>
                <a:extLst>
                  <a:ext uri="{0D108BD9-81ED-4DB2-BD59-A6C34878D82A}">
                    <a16:rowId xmlns="" xmlns:a16="http://schemas.microsoft.com/office/drawing/2014/main" val="10004"/>
                  </a:ext>
                </a:extLst>
              </a:tr>
            </a:tbl>
          </a:graphicData>
        </a:graphic>
      </p:graphicFrame>
      <p:sp>
        <p:nvSpPr>
          <p:cNvPr id="4" name="Date Placeholder 3"/>
          <p:cNvSpPr>
            <a:spLocks noGrp="1"/>
          </p:cNvSpPr>
          <p:nvPr>
            <p:ph type="dt" sz="half" idx="10"/>
          </p:nvPr>
        </p:nvSpPr>
        <p:spPr/>
        <p:txBody>
          <a:bodyPr/>
          <a:lstStyle/>
          <a:p>
            <a:fld id="{C37CE05F-9D76-47A6-B48A-C788CC6C1A18}" type="datetime1">
              <a:rPr lang="en-US" smtClean="0">
                <a:solidFill>
                  <a:prstClr val="black">
                    <a:tint val="75000"/>
                  </a:prstClr>
                </a:solidFill>
              </a:rPr>
              <a:t>3/9/2022</a:t>
            </a:fld>
            <a:endParaRPr lang="en-US" dirty="0">
              <a:solidFill>
                <a:prstClr val="black">
                  <a:tint val="75000"/>
                </a:prstClr>
              </a:solidFill>
            </a:endParaRPr>
          </a:p>
        </p:txBody>
      </p:sp>
      <p:sp>
        <p:nvSpPr>
          <p:cNvPr id="5" name="Footer Placeholder 4"/>
          <p:cNvSpPr>
            <a:spLocks noGrp="1"/>
          </p:cNvSpPr>
          <p:nvPr>
            <p:ph type="ftr" sz="quarter" idx="11"/>
          </p:nvPr>
        </p:nvSpPr>
        <p:spPr>
          <a:xfrm>
            <a:off x="2235200" y="6172203"/>
            <a:ext cx="8636000" cy="549275"/>
          </a:xfrm>
        </p:spPr>
        <p:txBody>
          <a:bodyPr/>
          <a:lstStyle/>
          <a:p>
            <a:r>
              <a:rPr lang="en-US" smtClean="0">
                <a:solidFill>
                  <a:prstClr val="black"/>
                </a:solidFill>
              </a:rPr>
              <a:t>Ms.Pooja Tyagi      KNC 602 Indian Traditions, Culture and Society              Unit :1</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25</a:t>
            </a:fld>
            <a:endParaRPr lang="en-US" dirty="0">
              <a:solidFill>
                <a:prstClr val="black">
                  <a:tint val="75000"/>
                </a:prstClr>
              </a:solidFill>
            </a:endParaRPr>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solidFill>
                  <a:prstClr val="black"/>
                </a:solidFill>
                <a:latin typeface="Times New Roman" pitchFamily="18" charset="0"/>
                <a:cs typeface="Times New Roman" pitchFamily="18" charset="0"/>
              </a:rPr>
              <a:t>Topic Mapping with course outcomes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27866733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1143003"/>
            <a:ext cx="10972800" cy="4525963"/>
          </a:xfrm>
        </p:spPr>
        <p:txBody>
          <a:bodyPr>
            <a:normAutofit/>
          </a:bodyPr>
          <a:lstStyle/>
          <a:p>
            <a:pPr algn="just"/>
            <a:r>
              <a:rPr lang="en-IN" sz="2800" dirty="0">
                <a:latin typeface="Times New Roman" pitchFamily="18" charset="0"/>
                <a:cs typeface="Times New Roman" pitchFamily="18" charset="0"/>
              </a:rPr>
              <a:t>Students will be able to know the following concepts:</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Introduction to ancient Indian states</a:t>
            </a:r>
          </a:p>
          <a:p>
            <a:pPr algn="just"/>
            <a:r>
              <a:rPr lang="en-US" sz="2800" dirty="0">
                <a:latin typeface="Times New Roman" pitchFamily="18" charset="0"/>
                <a:cs typeface="Times New Roman" pitchFamily="18" charset="0"/>
              </a:rPr>
              <a:t>Introduction to ancient Indian administration </a:t>
            </a:r>
          </a:p>
          <a:p>
            <a:pPr algn="just"/>
            <a:r>
              <a:rPr lang="en-US" sz="2800" dirty="0">
                <a:latin typeface="Times New Roman" pitchFamily="18" charset="0"/>
                <a:cs typeface="Times New Roman" pitchFamily="18" charset="0"/>
              </a:rPr>
              <a:t>Introduction to ancient Indian culture</a:t>
            </a:r>
            <a:endParaRPr lang="en-US" sz="2800" spc="-5"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7E8C5DE-928D-44A1-8B1F-E7574D0C577F}" type="datetime1">
              <a:rPr lang="en-US" smtClean="0">
                <a:solidFill>
                  <a:prstClr val="black">
                    <a:tint val="75000"/>
                  </a:prstClr>
                </a:solidFill>
              </a:rPr>
              <a:t>3/9/2022</a:t>
            </a:fld>
            <a:endParaRPr lang="en-US" dirty="0">
              <a:solidFill>
                <a:prstClr val="black">
                  <a:tint val="75000"/>
                </a:prstClr>
              </a:solidFill>
            </a:endParaRPr>
          </a:p>
        </p:txBody>
      </p:sp>
      <p:sp>
        <p:nvSpPr>
          <p:cNvPr id="5" name="Footer Placeholder 4"/>
          <p:cNvSpPr>
            <a:spLocks noGrp="1"/>
          </p:cNvSpPr>
          <p:nvPr>
            <p:ph type="ftr" sz="quarter" idx="11"/>
          </p:nvPr>
        </p:nvSpPr>
        <p:spPr>
          <a:xfrm>
            <a:off x="2336800" y="6356353"/>
            <a:ext cx="8534400" cy="365125"/>
          </a:xfrm>
        </p:spPr>
        <p:txBody>
          <a:bodyPr/>
          <a:lstStyle/>
          <a:p>
            <a:r>
              <a:rPr lang="en-US" smtClean="0">
                <a:solidFill>
                  <a:prstClr val="black"/>
                </a:solidFill>
              </a:rPr>
              <a:t>Ms.Pooja Tyagi      KNC 602 Indian Traditions, Culture and Society              Unit :1</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26</a:t>
            </a:fld>
            <a:endParaRPr lang="en-US" dirty="0">
              <a:solidFill>
                <a:prstClr val="black">
                  <a:tint val="75000"/>
                </a:prstClr>
              </a:solidFill>
            </a:endParaRPr>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solidFill>
                  <a:prstClr val="black"/>
                </a:solidFill>
                <a:latin typeface="Times New Roman" pitchFamily="18" charset="0"/>
                <a:cs typeface="Times New Roman" pitchFamily="18" charset="0"/>
              </a:rPr>
              <a:t>Topic objectives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300117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A </a:t>
            </a:r>
            <a:r>
              <a:rPr lang="en-US" b="1" dirty="0"/>
              <a:t>state</a:t>
            </a:r>
            <a:r>
              <a:rPr lang="en-US" dirty="0"/>
              <a:t> is a polity under a system of governance with a monopoly on force. There is no undisputed definition of a state. A widely used definition from the German sociologist Max Weber is that a "state" is a polity that maintains a monopoly on the legitimate use of violence.</a:t>
            </a:r>
          </a:p>
          <a:p>
            <a:r>
              <a:rPr lang="en-IN" b="1" i="1" dirty="0"/>
              <a:t>Aristotle </a:t>
            </a:r>
            <a:r>
              <a:rPr lang="en-IN" dirty="0"/>
              <a:t>defined the State as a “union of</a:t>
            </a:r>
            <a:r>
              <a:rPr lang="en-IN" b="1" i="1" dirty="0"/>
              <a:t> </a:t>
            </a:r>
            <a:r>
              <a:rPr lang="en-IN" dirty="0"/>
              <a:t>families and villages having for its end a perfect and self – sufficing life by which it meant a happy and </a:t>
            </a:r>
            <a:r>
              <a:rPr lang="en-IN" dirty="0" err="1"/>
              <a:t>honorable</a:t>
            </a:r>
            <a:r>
              <a:rPr lang="en-IN" dirty="0"/>
              <a:t> life”.</a:t>
            </a:r>
          </a:p>
          <a:p>
            <a:r>
              <a:rPr lang="en-US" dirty="0"/>
              <a:t>According to </a:t>
            </a:r>
            <a:r>
              <a:rPr lang="en-US" b="1" i="1" dirty="0" err="1"/>
              <a:t>Sidgwick</a:t>
            </a:r>
            <a:r>
              <a:rPr lang="en-US" dirty="0"/>
              <a:t>. “State is a combination or association of persons in the form of government and governed and united together into a politically </a:t>
            </a:r>
            <a:r>
              <a:rPr lang="en-US" dirty="0" err="1"/>
              <a:t>organised</a:t>
            </a:r>
            <a:r>
              <a:rPr lang="en-US" dirty="0"/>
              <a:t> people of a definite territory.”</a:t>
            </a:r>
          </a:p>
        </p:txBody>
      </p:sp>
      <p:sp>
        <p:nvSpPr>
          <p:cNvPr id="4" name="Title 1"/>
          <p:cNvSpPr txBox="1">
            <a:spLocks/>
          </p:cNvSpPr>
          <p:nvPr/>
        </p:nvSpPr>
        <p:spPr>
          <a:xfrm>
            <a:off x="1828800" y="2540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Definition of State</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25401"/>
            <a:ext cx="1930400" cy="817163"/>
          </a:xfrm>
          <a:prstGeom prst="rect">
            <a:avLst/>
          </a:prstGeom>
          <a:noFill/>
        </p:spPr>
      </p:pic>
      <p:sp>
        <p:nvSpPr>
          <p:cNvPr id="6" name="Date Placeholder 5"/>
          <p:cNvSpPr>
            <a:spLocks noGrp="1"/>
          </p:cNvSpPr>
          <p:nvPr>
            <p:ph type="dt" sz="half" idx="10"/>
          </p:nvPr>
        </p:nvSpPr>
        <p:spPr/>
        <p:txBody>
          <a:bodyPr/>
          <a:lstStyle/>
          <a:p>
            <a:fld id="{4BD9F440-A0C6-44A1-83EC-1A37EFF7A21A}" type="datetime1">
              <a:rPr lang="en-US" smtClean="0"/>
              <a:t>3/9/2022</a:t>
            </a:fld>
            <a:endParaRPr lang="en-US"/>
          </a:p>
        </p:txBody>
      </p:sp>
      <p:sp>
        <p:nvSpPr>
          <p:cNvPr id="7" name="Footer Placeholder 6"/>
          <p:cNvSpPr>
            <a:spLocks noGrp="1"/>
          </p:cNvSpPr>
          <p:nvPr>
            <p:ph type="ftr" sz="quarter" idx="11"/>
          </p:nvPr>
        </p:nvSpPr>
        <p:spPr>
          <a:xfrm>
            <a:off x="4165600" y="6356355"/>
            <a:ext cx="5080000" cy="365125"/>
          </a:xfrm>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27</a:t>
            </a:fld>
            <a:endParaRPr lang="en-US"/>
          </a:p>
        </p:txBody>
      </p:sp>
    </p:spTree>
    <p:extLst>
      <p:ext uri="{BB962C8B-B14F-4D97-AF65-F5344CB8AC3E}">
        <p14:creationId xmlns:p14="http://schemas.microsoft.com/office/powerpoint/2010/main" val="31095385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58097"/>
            <a:ext cx="10972800" cy="4525963"/>
          </a:xfrm>
        </p:spPr>
        <p:txBody>
          <a:bodyPr>
            <a:normAutofit fontScale="85000" lnSpcReduction="10000"/>
          </a:bodyPr>
          <a:lstStyle/>
          <a:p>
            <a:r>
              <a:rPr lang="en-US" dirty="0"/>
              <a:t>The state in ancient India was considered necessary, for it ensures peace, order and happiness. It was a social organization with political power. However, ancient scholars were not unanimous in their opinion with regard to the origin of the state. </a:t>
            </a:r>
          </a:p>
          <a:p>
            <a:r>
              <a:rPr lang="en-US" dirty="0"/>
              <a:t>According to some, state was the outcome of a contract mainly political in nature between the rulers and the ruled.</a:t>
            </a:r>
          </a:p>
          <a:p>
            <a:r>
              <a:rPr lang="en-US" dirty="0"/>
              <a:t>They opine that prior to the origin of state there was something called a golden age, wherein the people enjoyed a life of peace, order, self-discipline and happiness. Similarly, several theories like force theory, patriarchal theory, matriarchal theory, divine origin theory and finally the evolutionary theory advanced the origin of the state.</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States in Ancient India</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3"/>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141814F4-72B2-451E-8B4E-0B238EFF028E}"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28</a:t>
            </a:fld>
            <a:endParaRPr lang="en-US"/>
          </a:p>
        </p:txBody>
      </p:sp>
    </p:spTree>
    <p:extLst>
      <p:ext uri="{BB962C8B-B14F-4D97-AF65-F5344CB8AC3E}">
        <p14:creationId xmlns:p14="http://schemas.microsoft.com/office/powerpoint/2010/main" val="36345612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38200" y="1825625"/>
            <a:ext cx="10515600" cy="3785652"/>
          </a:xfrm>
          <a:prstGeom prst="rect">
            <a:avLst/>
          </a:prstGeom>
          <a:solidFill>
            <a:srgbClr val="F6F7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rPr>
              <a:t>1. The Evolutionary Theory</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rPr>
              <a:t>This theory is formed on the principle that the state was an evolution of the family, becoming more and more complex as the family grew.</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rPr>
              <a:t>2. The Force Theory</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rPr>
              <a:t>This theory is based upon the idea that a government arose when the people of an area were brought under the authority of one person or group.</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rPr>
              <a:t>3. The Divine Right Theory</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rPr>
              <a:t>This theory is based on the notion that a god or multiple gods chose certain people to rule a civilization or group of people.</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rPr>
              <a:t>4. The Social Contract Theory</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rPr>
              <a:t>This theory was created in the 1600s when the Europeans challenged sovereign rulers. Those people were backed up by philosophers that believed the origin of the state was in a social contract.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Theories of Origin of States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3" name="Date Placeholder 2"/>
          <p:cNvSpPr>
            <a:spLocks noGrp="1"/>
          </p:cNvSpPr>
          <p:nvPr>
            <p:ph type="dt" sz="half" idx="10"/>
          </p:nvPr>
        </p:nvSpPr>
        <p:spPr/>
        <p:txBody>
          <a:bodyPr/>
          <a:lstStyle/>
          <a:p>
            <a:fld id="{EE4EF8C9-A1C4-4517-859A-90D83B824AFF}"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29</a:t>
            </a:fld>
            <a:endParaRPr lang="en-US"/>
          </a:p>
        </p:txBody>
      </p:sp>
    </p:spTree>
    <p:extLst>
      <p:ext uri="{BB962C8B-B14F-4D97-AF65-F5344CB8AC3E}">
        <p14:creationId xmlns:p14="http://schemas.microsoft.com/office/powerpoint/2010/main" val="42508089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2301" y="817165"/>
            <a:ext cx="10960100" cy="5309002"/>
          </a:xfrm>
        </p:spPr>
        <p:txBody>
          <a:bodyPr>
            <a:normAutofit lnSpcReduction="10000"/>
          </a:bodyPr>
          <a:lstStyle/>
          <a:p>
            <a:pPr algn="just"/>
            <a:r>
              <a:rPr lang="en-US" sz="2400" dirty="0"/>
              <a:t>According to </a:t>
            </a:r>
            <a:r>
              <a:rPr lang="en-US" sz="2400" b="1" dirty="0"/>
              <a:t>evolutionary theory</a:t>
            </a:r>
            <a:r>
              <a:rPr lang="en-US" sz="2400" dirty="0"/>
              <a:t>, government originates from a family or clan-bound structure, which can explain the formation of the world's first political structures.</a:t>
            </a:r>
          </a:p>
          <a:p>
            <a:pPr algn="just"/>
            <a:r>
              <a:rPr lang="en-US" sz="2400" dirty="0"/>
              <a:t> These earliest and very loosely formed governments were the result of a shift from hunter-gatherer societies to more settled agricultural societies. </a:t>
            </a:r>
          </a:p>
          <a:p>
            <a:pPr algn="just"/>
            <a:r>
              <a:rPr lang="en-US" sz="2400" dirty="0"/>
              <a:t>As families joined to form clans and clans joined to form villages, the need for leaders and a central organizational structure developed. </a:t>
            </a:r>
          </a:p>
          <a:p>
            <a:pPr algn="just"/>
            <a:r>
              <a:rPr lang="en-US" sz="2400" dirty="0"/>
              <a:t>These leaders helped determine how to address still unfamiliar issues, such as water rights for crop irrigation and the distribution of other resources. </a:t>
            </a:r>
          </a:p>
          <a:p>
            <a:pPr algn="just"/>
            <a:r>
              <a:rPr lang="en-US" sz="2400" dirty="0"/>
              <a:t>They also provided an increased sense of safety and security for the society. In many early societies, these first states developed monarchies, with rule based on membership in a ruling family. </a:t>
            </a:r>
          </a:p>
          <a:p>
            <a:pPr algn="just"/>
            <a:r>
              <a:rPr lang="en-US" sz="2400" dirty="0"/>
              <a:t>In modern times, some governments continue to be led by a succession of members from the same family. </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Evolutionary theory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56490E14-339D-4A53-90AE-38F084A879BA}"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30</a:t>
            </a:fld>
            <a:endParaRPr lang="en-US"/>
          </a:p>
        </p:txBody>
      </p:sp>
    </p:spTree>
    <p:extLst>
      <p:ext uri="{BB962C8B-B14F-4D97-AF65-F5344CB8AC3E}">
        <p14:creationId xmlns:p14="http://schemas.microsoft.com/office/powerpoint/2010/main" val="6086025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400" y="817165"/>
            <a:ext cx="10922000" cy="5309002"/>
          </a:xfrm>
        </p:spPr>
        <p:txBody>
          <a:bodyPr>
            <a:normAutofit/>
          </a:bodyPr>
          <a:lstStyle/>
          <a:p>
            <a:pPr algn="just"/>
            <a:r>
              <a:rPr lang="en-US" sz="2400" dirty="0"/>
              <a:t>This </a:t>
            </a:r>
            <a:r>
              <a:rPr lang="en-US" sz="2400" b="1" dirty="0"/>
              <a:t>theory</a:t>
            </a:r>
            <a:r>
              <a:rPr lang="en-US" sz="2400" dirty="0"/>
              <a:t> proposes that the </a:t>
            </a:r>
            <a:r>
              <a:rPr lang="en-US" sz="2400" b="1" dirty="0"/>
              <a:t>origin of state</a:t>
            </a:r>
            <a:r>
              <a:rPr lang="en-US" sz="2400" dirty="0"/>
              <a:t> is developed through the use of </a:t>
            </a:r>
            <a:r>
              <a:rPr lang="en-US" sz="2400" b="1" dirty="0"/>
              <a:t>force</a:t>
            </a:r>
            <a:r>
              <a:rPr lang="en-US" sz="2400" dirty="0"/>
              <a:t>. One person or a small group of people claim control over the population in a specific area by </a:t>
            </a:r>
            <a:r>
              <a:rPr lang="en-US" sz="2400" b="1" dirty="0"/>
              <a:t>force</a:t>
            </a:r>
            <a:r>
              <a:rPr lang="en-US" sz="2400" dirty="0"/>
              <a:t>. Once the rule is well established the </a:t>
            </a:r>
            <a:r>
              <a:rPr lang="en-US" sz="2400" b="1" dirty="0"/>
              <a:t>state</a:t>
            </a:r>
            <a:r>
              <a:rPr lang="en-US" sz="2400" dirty="0"/>
              <a:t> is established. This </a:t>
            </a:r>
            <a:r>
              <a:rPr lang="en-US" sz="2400" b="1" dirty="0"/>
              <a:t>theory</a:t>
            </a:r>
            <a:r>
              <a:rPr lang="en-US" sz="2400" dirty="0"/>
              <a:t> is generally a result of war.</a:t>
            </a:r>
          </a:p>
          <a:p>
            <a:pPr marL="0" indent="0" algn="just">
              <a:buNone/>
            </a:pPr>
            <a:endParaRPr lang="en-US" sz="2400" dirty="0"/>
          </a:p>
          <a:p>
            <a:pPr marL="0" indent="0" algn="just">
              <a:buNone/>
            </a:pPr>
            <a:endParaRPr lang="en-US" sz="2400" dirty="0"/>
          </a:p>
          <a:p>
            <a:pPr algn="just"/>
            <a:r>
              <a:rPr lang="en-US" sz="2400" dirty="0"/>
              <a:t>The force or might prevailed over the right in the primitive society. A man physically stronger established his authority over the less strong persons. The strongest person in a tribe is, therefore, made the chief or leader of that tribe. </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Force theory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CB2AA157-C91D-4FE2-9CA1-3B031F16142A}"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31</a:t>
            </a:fld>
            <a:endParaRPr lang="en-US"/>
          </a:p>
        </p:txBody>
      </p:sp>
    </p:spTree>
    <p:extLst>
      <p:ext uri="{BB962C8B-B14F-4D97-AF65-F5344CB8AC3E}">
        <p14:creationId xmlns:p14="http://schemas.microsoft.com/office/powerpoint/2010/main" val="447246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fontAlgn="base"/>
            <a:r>
              <a:rPr lang="en-US" dirty="0"/>
              <a:t>The most famous theory with regard to the origin of the state is the social contract theory. The theory goes to tell that the state came into existence out of a contract between the people and the sovereign at some point of time.</a:t>
            </a:r>
          </a:p>
          <a:p>
            <a:pPr fontAlgn="base"/>
            <a:r>
              <a:rPr lang="en-US" dirty="0"/>
              <a:t>According to this theory, there were two divisions in human history – one period is prior to the establishment of the state called the </a:t>
            </a:r>
            <a:r>
              <a:rPr lang="en-US" b="1" dirty="0"/>
              <a:t>“state of nature”</a:t>
            </a:r>
            <a:r>
              <a:rPr lang="en-US" dirty="0"/>
              <a:t> and the other period is one subsequent to the foundation of the state called the </a:t>
            </a:r>
            <a:r>
              <a:rPr lang="en-US" b="1" dirty="0"/>
              <a:t>“civil society”</a:t>
            </a:r>
            <a:r>
              <a:rPr lang="en-US" dirty="0"/>
              <a:t>. The state of nature was </a:t>
            </a:r>
            <a:r>
              <a:rPr lang="en-US" dirty="0" smtClean="0"/>
              <a:t>benefit </a:t>
            </a:r>
            <a:r>
              <a:rPr lang="en-US" dirty="0"/>
              <a:t>of society, government and political authority. There was no law to regulate the relations of the people in the state of nature.</a:t>
            </a:r>
          </a:p>
          <a:p>
            <a:pPr marL="0" indent="0" fontAlgn="base">
              <a:buNone/>
            </a:pPr>
            <a:endParaRPr lang="en-US" b="1"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Social Contract theory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21414DDA-9AD2-4CF0-872E-EC5A96F621DD}"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32</a:t>
            </a:fld>
            <a:endParaRPr lang="en-US"/>
          </a:p>
        </p:txBody>
      </p:sp>
    </p:spTree>
    <p:extLst>
      <p:ext uri="{BB962C8B-B14F-4D97-AF65-F5344CB8AC3E}">
        <p14:creationId xmlns:p14="http://schemas.microsoft.com/office/powerpoint/2010/main" val="35737241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b="1" dirty="0"/>
              <a:t>Mysticism</a:t>
            </a:r>
            <a:r>
              <a:rPr lang="en-US" dirty="0"/>
              <a:t> is popularly known as becoming one with God or the Absolute,  which is given a religious or spiritual meaning. It may also refer to the attainment of insight in ultimate or hidden truths, and to human transformation supported by various practices and experiences.</a:t>
            </a:r>
            <a:endParaRPr lang="en-US" u="sng" baseline="30000" dirty="0"/>
          </a:p>
          <a:p>
            <a:pPr fontAlgn="base"/>
            <a:r>
              <a:rPr lang="en-US" dirty="0"/>
              <a:t>The oldest theory about the origin of the state is the </a:t>
            </a:r>
            <a:r>
              <a:rPr lang="en-US" b="1" dirty="0"/>
              <a:t>divine origin theory.</a:t>
            </a:r>
            <a:r>
              <a:rPr lang="en-US" dirty="0"/>
              <a:t> It is also known as the theory of divine right of Kings.</a:t>
            </a:r>
          </a:p>
          <a:p>
            <a:pPr fontAlgn="base"/>
            <a:r>
              <a:rPr lang="en-US" dirty="0"/>
              <a:t>The exponents of this theory believe that the state did not come into being by any effort of man. It is created by God.</a:t>
            </a:r>
          </a:p>
          <a:p>
            <a:pPr fontAlgn="base"/>
            <a:r>
              <a:rPr lang="en-US" dirty="0"/>
              <a:t>The King who rules over the state is an agent of God on earth.</a:t>
            </a:r>
          </a:p>
          <a:p>
            <a:pPr fontAlgn="base"/>
            <a:r>
              <a:rPr lang="en-US" dirty="0"/>
              <a:t>The King derives his authority from God and for all his actions he is responsible to God alone. Obedience to the King is ordained to God and violation of it will be a sin. The King is above law and no subject has any right to question his authority or his action. The King is responsible of God alone.</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Mystical theory/ Divine right theory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681DD633-7F7C-4804-8087-B9F8A0188B2B}"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33</a:t>
            </a:fld>
            <a:endParaRPr lang="en-US"/>
          </a:p>
        </p:txBody>
      </p:sp>
    </p:spTree>
    <p:extLst>
      <p:ext uri="{BB962C8B-B14F-4D97-AF65-F5344CB8AC3E}">
        <p14:creationId xmlns:p14="http://schemas.microsoft.com/office/powerpoint/2010/main" val="16168598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Daily Quiz</a:t>
            </a: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E6E77A04-DC4B-4FD4-97D8-566F15D93A14}"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34</a:t>
            </a:fld>
            <a:endParaRPr lang="en-US"/>
          </a:p>
        </p:txBody>
      </p:sp>
      <p:sp>
        <p:nvSpPr>
          <p:cNvPr id="9" name="Content Placeholder 8">
            <a:extLst>
              <a:ext uri="{FF2B5EF4-FFF2-40B4-BE49-F238E27FC236}">
                <a16:creationId xmlns="" xmlns:a16="http://schemas.microsoft.com/office/drawing/2014/main" id="{44C35865-0401-42BD-A1D6-1D952F6114D9}"/>
              </a:ext>
            </a:extLst>
          </p:cNvPr>
          <p:cNvSpPr>
            <a:spLocks noGrp="1"/>
          </p:cNvSpPr>
          <p:nvPr>
            <p:ph idx="1"/>
          </p:nvPr>
        </p:nvSpPr>
        <p:spPr>
          <a:xfrm>
            <a:off x="609600" y="1258097"/>
            <a:ext cx="10972800" cy="4525963"/>
          </a:xfrm>
        </p:spPr>
        <p:txBody>
          <a:bodyPr/>
          <a:lstStyle/>
          <a:p>
            <a:pPr marL="514350" indent="-514350">
              <a:buAutoNum type="arabicPeriod"/>
            </a:pPr>
            <a:r>
              <a:rPr lang="en-US" dirty="0"/>
              <a:t>The oldest theory about the origin of the state is the ______.</a:t>
            </a:r>
          </a:p>
          <a:p>
            <a:pPr marL="514350" indent="-514350">
              <a:buAutoNum type="arabicPeriod"/>
            </a:pPr>
            <a:r>
              <a:rPr lang="en-US" dirty="0"/>
              <a:t>The state of ______ </a:t>
            </a:r>
            <a:r>
              <a:rPr lang="en-US" dirty="0" smtClean="0"/>
              <a:t>was for benefit </a:t>
            </a:r>
            <a:r>
              <a:rPr lang="en-US" dirty="0"/>
              <a:t>of society, government and political authority.</a:t>
            </a:r>
          </a:p>
          <a:p>
            <a:pPr marL="514350" indent="-514350">
              <a:buAutoNum type="arabicPeriod"/>
            </a:pPr>
            <a:r>
              <a:rPr lang="en-US" b="1" dirty="0"/>
              <a:t>______ </a:t>
            </a:r>
            <a:r>
              <a:rPr lang="en-US" sz="3200" b="1" dirty="0"/>
              <a:t>theory</a:t>
            </a:r>
            <a:r>
              <a:rPr lang="en-US" sz="3200" dirty="0"/>
              <a:t> proposes that the </a:t>
            </a:r>
            <a:r>
              <a:rPr lang="en-US" sz="3200" b="1" dirty="0"/>
              <a:t>origin of state</a:t>
            </a:r>
            <a:r>
              <a:rPr lang="en-US" sz="3200" dirty="0"/>
              <a:t> is developed through the use of </a:t>
            </a:r>
            <a:r>
              <a:rPr lang="en-US" sz="3200" b="1" dirty="0"/>
              <a:t>force</a:t>
            </a:r>
            <a:r>
              <a:rPr lang="en-US" sz="3200" dirty="0"/>
              <a:t>.</a:t>
            </a:r>
          </a:p>
          <a:p>
            <a:pPr marL="514350" indent="-514350">
              <a:buAutoNum type="arabicPeriod"/>
            </a:pPr>
            <a:r>
              <a:rPr lang="en-US" dirty="0"/>
              <a:t>______is a combination or association of persons in the form of government and governed and united together into a politically </a:t>
            </a:r>
            <a:r>
              <a:rPr lang="en-US" dirty="0" err="1"/>
              <a:t>organised</a:t>
            </a:r>
            <a:r>
              <a:rPr lang="en-US" dirty="0"/>
              <a:t> people of a definite territory</a:t>
            </a:r>
            <a:endParaRPr lang="en-US" sz="3200" dirty="0"/>
          </a:p>
          <a:p>
            <a:pPr marL="514350" indent="-514350">
              <a:buAutoNum type="arabicPeriod"/>
            </a:pPr>
            <a:endParaRPr lang="en-US" dirty="0"/>
          </a:p>
          <a:p>
            <a:pPr marL="514350" indent="-514350">
              <a:buAutoNum type="arabicPeriod"/>
            </a:pPr>
            <a:endParaRPr lang="en-IN" dirty="0"/>
          </a:p>
        </p:txBody>
      </p:sp>
    </p:spTree>
    <p:extLst>
      <p:ext uri="{BB962C8B-B14F-4D97-AF65-F5344CB8AC3E}">
        <p14:creationId xmlns:p14="http://schemas.microsoft.com/office/powerpoint/2010/main" val="29804573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944" y="943378"/>
            <a:ext cx="10938456" cy="5440366"/>
          </a:xfrm>
        </p:spPr>
        <p:txBody>
          <a:bodyPr>
            <a:normAutofit fontScale="92500" lnSpcReduction="20000"/>
          </a:bodyPr>
          <a:lstStyle/>
          <a:p>
            <a:pPr fontAlgn="base"/>
            <a:r>
              <a:rPr lang="en-US" dirty="0"/>
              <a:t>This theory of origin of kingship as well as the state was not widely acclaimed in the ancient Indian polity. The king, according to this theory, was a subordinate to law, which was made by the society and not him. The community as a whole was given greater importance than the king. The king was not allowed to act indiscriminately and was expected to act as a father to his subjects, and treat them with affection and kind­ness.</a:t>
            </a:r>
          </a:p>
          <a:p>
            <a:pPr marL="0" indent="0" fontAlgn="base">
              <a:buNone/>
            </a:pPr>
            <a:endParaRPr lang="en-US" dirty="0"/>
          </a:p>
          <a:p>
            <a:pPr fontAlgn="base"/>
            <a:r>
              <a:rPr lang="en-US" dirty="0"/>
              <a:t>However, certain ancient scriptures like </a:t>
            </a:r>
            <a:r>
              <a:rPr lang="en-US" dirty="0" err="1"/>
              <a:t>Manusamhita</a:t>
            </a:r>
            <a:r>
              <a:rPr lang="en-US" dirty="0"/>
              <a:t> explain that the origin of state is from the divine. One such excerpt from </a:t>
            </a:r>
            <a:r>
              <a:rPr lang="en-US" dirty="0" err="1"/>
              <a:t>Manusamhita</a:t>
            </a:r>
            <a:r>
              <a:rPr lang="en-US" dirty="0"/>
              <a:t> is that ‘the Lord created the king for the protection of his whole creation … even an infant king must not be despised (from an idea) that he is only a mortal, because he is a great deity in human form’.</a:t>
            </a:r>
          </a:p>
          <a:p>
            <a:pPr marL="0" indent="0" fontAlgn="base">
              <a:buNone/>
            </a:pPr>
            <a:endParaRPr lang="en-US" dirty="0"/>
          </a:p>
          <a:p>
            <a:pPr fontAlgn="base"/>
            <a:endParaRPr lang="en-US" dirty="0"/>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Kingship </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7" name="Date Placeholder 6"/>
          <p:cNvSpPr>
            <a:spLocks noGrp="1"/>
          </p:cNvSpPr>
          <p:nvPr>
            <p:ph type="dt" sz="half" idx="10"/>
          </p:nvPr>
        </p:nvSpPr>
        <p:spPr/>
        <p:txBody>
          <a:bodyPr/>
          <a:lstStyle/>
          <a:p>
            <a:fld id="{D8BF0FE4-F425-48E8-96CE-4F73C137BF70}" type="datetime1">
              <a:rPr lang="en-US" smtClean="0"/>
              <a:t>3/9/2022</a:t>
            </a:fld>
            <a:endParaRPr lang="en-US"/>
          </a:p>
        </p:txBody>
      </p:sp>
      <p:sp>
        <p:nvSpPr>
          <p:cNvPr id="8" name="Footer Placeholder 7"/>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9" name="Slide Number Placeholder 8"/>
          <p:cNvSpPr>
            <a:spLocks noGrp="1"/>
          </p:cNvSpPr>
          <p:nvPr>
            <p:ph type="sldNum" sz="quarter" idx="12"/>
          </p:nvPr>
        </p:nvSpPr>
        <p:spPr/>
        <p:txBody>
          <a:bodyPr/>
          <a:lstStyle/>
          <a:p>
            <a:fld id="{DBDACD18-336C-42D7-ADE1-1F851DD7A482}" type="slidenum">
              <a:rPr lang="en-US" smtClean="0"/>
              <a:t>35</a:t>
            </a:fld>
            <a:endParaRPr lang="en-US"/>
          </a:p>
        </p:txBody>
      </p:sp>
    </p:spTree>
    <p:extLst>
      <p:ext uri="{BB962C8B-B14F-4D97-AF65-F5344CB8AC3E}">
        <p14:creationId xmlns:p14="http://schemas.microsoft.com/office/powerpoint/2010/main" val="141651007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944" y="943378"/>
            <a:ext cx="10938456" cy="5440366"/>
          </a:xfrm>
        </p:spPr>
        <p:txBody>
          <a:bodyPr>
            <a:normAutofit fontScale="70000" lnSpcReduction="20000"/>
          </a:bodyPr>
          <a:lstStyle/>
          <a:p>
            <a:pPr marL="0" indent="0" fontAlgn="base">
              <a:buNone/>
            </a:pPr>
            <a:endParaRPr lang="en-US" dirty="0"/>
          </a:p>
          <a:p>
            <a:pPr fontAlgn="base"/>
            <a:r>
              <a:rPr lang="en-US" dirty="0"/>
              <a:t>The great epic of India, the Ramayana, also clearly laid out that king was of divine origin. It is stated therein that men approached Brahma (the Creator) to provide them a king and accordingly after all the Gods spared a portion of their power, a being in the human form emerged and was made the king.</a:t>
            </a:r>
          </a:p>
          <a:p>
            <a:pPr marL="0" indent="0" fontAlgn="base">
              <a:buNone/>
            </a:pPr>
            <a:endParaRPr lang="en-US" dirty="0"/>
          </a:p>
          <a:p>
            <a:pPr fontAlgn="base"/>
            <a:r>
              <a:rPr lang="en-US" dirty="0"/>
              <a:t>The Mahabharata, another great epic, explains that king is a person endowed with superior talent and </a:t>
            </a:r>
            <a:r>
              <a:rPr lang="en-US" dirty="0" err="1"/>
              <a:t>calibre</a:t>
            </a:r>
            <a:r>
              <a:rPr lang="en-US" dirty="0"/>
              <a:t> descended from heaven to the king on the earth. Similarly, </a:t>
            </a:r>
            <a:r>
              <a:rPr lang="en-US" dirty="0" err="1"/>
              <a:t>Puranas</a:t>
            </a:r>
            <a:r>
              <a:rPr lang="en-US" dirty="0"/>
              <a:t> also describe the divine origin of the king and the state. The Agni </a:t>
            </a:r>
            <a:r>
              <a:rPr lang="en-US" dirty="0" err="1"/>
              <a:t>Purana</a:t>
            </a:r>
            <a:r>
              <a:rPr lang="en-US" dirty="0"/>
              <a:t> states that the kings were embodiments or forms of Lord Vishnu (the god who sustains the earth). It is also interesting to note that some kings had titles like </a:t>
            </a:r>
            <a:r>
              <a:rPr lang="en-US" dirty="0" err="1"/>
              <a:t>Chakravarthi</a:t>
            </a:r>
            <a:r>
              <a:rPr lang="en-US" dirty="0"/>
              <a:t>— universal emperor, while some of the Mauryan emperors conferred titles like </a:t>
            </a:r>
            <a:r>
              <a:rPr lang="en-US" dirty="0" err="1"/>
              <a:t>Devanam</a:t>
            </a:r>
            <a:r>
              <a:rPr lang="en-US" dirty="0"/>
              <a:t> Priya, beloved of Gods, upon them.</a:t>
            </a:r>
          </a:p>
          <a:p>
            <a:pPr fontAlgn="base"/>
            <a:r>
              <a:rPr lang="en-US" sz="3200" dirty="0"/>
              <a:t>However, with the passage of time some emperors of India (if we take the liberty of calling it India) had a more modest attitude towards this concept of Kingship. Emperor like Ashoka (268 -232 BCE) was called </a:t>
            </a:r>
            <a:r>
              <a:rPr lang="en-US" sz="3200" i="1" dirty="0" err="1"/>
              <a:t>devanampriya</a:t>
            </a:r>
            <a:r>
              <a:rPr lang="en-US" sz="3200" i="1" dirty="0"/>
              <a:t> (</a:t>
            </a:r>
            <a:r>
              <a:rPr lang="en-US" sz="3200" dirty="0"/>
              <a:t>beloved of the gods). And Kanishka (78—123 CE) and the Gupta King Chandragupta II (380—413 CE) earned, of course from the people of their time, the epithet </a:t>
            </a:r>
            <a:r>
              <a:rPr lang="en-US" sz="3200" i="1" dirty="0" err="1"/>
              <a:t>devaputra</a:t>
            </a:r>
            <a:r>
              <a:rPr lang="en-US" sz="3200" dirty="0"/>
              <a:t> (son of god).</a:t>
            </a:r>
          </a:p>
          <a:p>
            <a:pPr marL="0" indent="0" fontAlgn="base">
              <a:buNone/>
            </a:pPr>
            <a:endParaRPr lang="en-US" sz="3200" dirty="0"/>
          </a:p>
          <a:p>
            <a:pPr fontAlgn="base"/>
            <a:endParaRPr lang="en-US" dirty="0"/>
          </a:p>
          <a:p>
            <a:pPr fontAlgn="base"/>
            <a:endParaRPr lang="en-US" dirty="0"/>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Kingship </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7" name="Date Placeholder 6"/>
          <p:cNvSpPr>
            <a:spLocks noGrp="1"/>
          </p:cNvSpPr>
          <p:nvPr>
            <p:ph type="dt" sz="half" idx="10"/>
          </p:nvPr>
        </p:nvSpPr>
        <p:spPr/>
        <p:txBody>
          <a:bodyPr/>
          <a:lstStyle/>
          <a:p>
            <a:fld id="{8806F939-6A71-4E95-A9E2-64BCCE10F0A8}" type="datetime1">
              <a:rPr lang="en-US" smtClean="0"/>
              <a:t>3/9/2022</a:t>
            </a:fld>
            <a:endParaRPr lang="en-US"/>
          </a:p>
        </p:txBody>
      </p:sp>
      <p:sp>
        <p:nvSpPr>
          <p:cNvPr id="8" name="Footer Placeholder 7"/>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9" name="Slide Number Placeholder 8"/>
          <p:cNvSpPr>
            <a:spLocks noGrp="1"/>
          </p:cNvSpPr>
          <p:nvPr>
            <p:ph type="sldNum" sz="quarter" idx="12"/>
          </p:nvPr>
        </p:nvSpPr>
        <p:spPr/>
        <p:txBody>
          <a:bodyPr/>
          <a:lstStyle/>
          <a:p>
            <a:fld id="{DBDACD18-336C-42D7-ADE1-1F851DD7A482}" type="slidenum">
              <a:rPr lang="en-US" smtClean="0"/>
              <a:t>36</a:t>
            </a:fld>
            <a:endParaRPr lang="en-US"/>
          </a:p>
        </p:txBody>
      </p:sp>
    </p:spTree>
    <p:extLst>
      <p:ext uri="{BB962C8B-B14F-4D97-AF65-F5344CB8AC3E}">
        <p14:creationId xmlns:p14="http://schemas.microsoft.com/office/powerpoint/2010/main" val="24606390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459" y="1004553"/>
            <a:ext cx="10886941" cy="5121614"/>
          </a:xfrm>
        </p:spPr>
        <p:txBody>
          <a:bodyPr>
            <a:normAutofit fontScale="70000" lnSpcReduction="20000"/>
          </a:bodyPr>
          <a:lstStyle/>
          <a:p>
            <a:pPr fontAlgn="base"/>
            <a:r>
              <a:rPr lang="en-US" sz="3300" dirty="0"/>
              <a:t>We can trace this new element in </a:t>
            </a:r>
            <a:r>
              <a:rPr lang="en-US" sz="3300" i="1" dirty="0" err="1"/>
              <a:t>Baudhayana</a:t>
            </a:r>
            <a:r>
              <a:rPr lang="en-US" sz="3300" i="1" dirty="0"/>
              <a:t> Sutra</a:t>
            </a:r>
            <a:r>
              <a:rPr lang="en-US" sz="3300" dirty="0"/>
              <a:t>; it says ‘the king was to protect his subjects for which he received a sixth part of their produce as consideration’. This new element of ‘social contract’ between the relationship of a State’s subject and its king has been expressed more vividly in the </a:t>
            </a:r>
            <a:r>
              <a:rPr lang="en-US" sz="3300" i="1" dirty="0"/>
              <a:t>Mahabharata</a:t>
            </a:r>
            <a:r>
              <a:rPr lang="en-US" sz="3300" dirty="0"/>
              <a:t> and by </a:t>
            </a:r>
            <a:r>
              <a:rPr lang="en-US" sz="3300" dirty="0" err="1"/>
              <a:t>Kautilya</a:t>
            </a:r>
            <a:r>
              <a:rPr lang="en-US" sz="3300" dirty="0"/>
              <a:t> too. This theory of social contract made sure that the King ‘was the agency for governing the people of the State and he enforced the </a:t>
            </a:r>
            <a:r>
              <a:rPr lang="en-US" sz="3300" dirty="0" err="1"/>
              <a:t>danda</a:t>
            </a:r>
            <a:r>
              <a:rPr lang="en-US" sz="3300" dirty="0"/>
              <a:t> (the rule of law) to protect the weak from exploitation and intimidation by the strong.</a:t>
            </a:r>
          </a:p>
          <a:p>
            <a:pPr marL="0" indent="0" fontAlgn="base">
              <a:buNone/>
            </a:pPr>
            <a:endParaRPr lang="en-US" sz="3300" dirty="0"/>
          </a:p>
          <a:p>
            <a:pPr fontAlgn="base"/>
            <a:r>
              <a:rPr lang="en-US" sz="3300" dirty="0"/>
              <a:t>AS the King, as of an divine origin, symbolized the moral and material order, all rights related to Kingship was celebrated with great show and </a:t>
            </a:r>
            <a:r>
              <a:rPr lang="en-US" sz="3300" i="1" dirty="0" err="1"/>
              <a:t>abhisheka</a:t>
            </a:r>
            <a:r>
              <a:rPr lang="en-US" sz="3300" dirty="0"/>
              <a:t> (royal consecration) was the most important ceremony that was the first past of </a:t>
            </a:r>
            <a:r>
              <a:rPr lang="en-US" sz="3300" i="1" dirty="0" err="1"/>
              <a:t>rajasaya</a:t>
            </a:r>
            <a:r>
              <a:rPr lang="en-US" sz="3300" dirty="0"/>
              <a:t>. According to </a:t>
            </a:r>
            <a:r>
              <a:rPr lang="en-US" sz="3300" i="1" dirty="0" err="1"/>
              <a:t>Aitareya</a:t>
            </a:r>
            <a:r>
              <a:rPr lang="en-US" sz="3300" i="1" dirty="0"/>
              <a:t> Brahmana</a:t>
            </a:r>
            <a:r>
              <a:rPr lang="en-US" sz="3300" dirty="0"/>
              <a:t>, the idea behind this rite was the attainment of ‘paramount power’.</a:t>
            </a:r>
          </a:p>
          <a:p>
            <a:pPr marL="0" indent="0" fontAlgn="base">
              <a:buNone/>
            </a:pPr>
            <a:endParaRPr lang="en-US" sz="3300" dirty="0"/>
          </a:p>
          <a:p>
            <a:pPr fontAlgn="base"/>
            <a:r>
              <a:rPr lang="en-US" sz="3300" dirty="0"/>
              <a:t>The rulers who desired paramountcy performed </a:t>
            </a:r>
            <a:r>
              <a:rPr lang="en-US" sz="3300" i="1" dirty="0" err="1"/>
              <a:t>rajasuya</a:t>
            </a:r>
            <a:r>
              <a:rPr lang="en-US" sz="3300" dirty="0"/>
              <a:t>, a more elaborate ritual described in </a:t>
            </a:r>
            <a:r>
              <a:rPr lang="en-US" sz="3300" i="1" dirty="0" err="1"/>
              <a:t>Satpata</a:t>
            </a:r>
            <a:r>
              <a:rPr lang="en-US" sz="3300" i="1" dirty="0"/>
              <a:t> Brahmana.</a:t>
            </a:r>
            <a:endParaRPr lang="en-US" sz="3300" dirty="0"/>
          </a:p>
          <a:p>
            <a:pPr fontAlgn="base"/>
            <a:endParaRPr lang="en-US" dirty="0"/>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Kingship (Contd.)</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50800" y="3"/>
            <a:ext cx="1930400" cy="817163"/>
          </a:xfrm>
          <a:prstGeom prst="rect">
            <a:avLst/>
          </a:prstGeom>
          <a:noFill/>
        </p:spPr>
      </p:pic>
      <p:sp>
        <p:nvSpPr>
          <p:cNvPr id="6" name="Date Placeholder 5"/>
          <p:cNvSpPr>
            <a:spLocks noGrp="1"/>
          </p:cNvSpPr>
          <p:nvPr>
            <p:ph type="dt" sz="half" idx="10"/>
          </p:nvPr>
        </p:nvSpPr>
        <p:spPr/>
        <p:txBody>
          <a:bodyPr/>
          <a:lstStyle/>
          <a:p>
            <a:fld id="{A62834C1-BBB6-44A3-937E-A6C93D7ADCF8}"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37</a:t>
            </a:fld>
            <a:endParaRPr lang="en-US"/>
          </a:p>
        </p:txBody>
      </p:sp>
    </p:spTree>
    <p:extLst>
      <p:ext uri="{BB962C8B-B14F-4D97-AF65-F5344CB8AC3E}">
        <p14:creationId xmlns:p14="http://schemas.microsoft.com/office/powerpoint/2010/main" val="427340678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8186" y="978795"/>
            <a:ext cx="10964215" cy="5147372"/>
          </a:xfrm>
        </p:spPr>
        <p:txBody>
          <a:bodyPr>
            <a:normAutofit fontScale="55000" lnSpcReduction="20000"/>
          </a:bodyPr>
          <a:lstStyle/>
          <a:p>
            <a:pPr fontAlgn="base"/>
            <a:r>
              <a:rPr lang="en-US" dirty="0"/>
              <a:t>The king could not perform the onerous duties assigned to him single-handed and therefore always sought -the assistance of certain councilors or officials.</a:t>
            </a:r>
          </a:p>
          <a:p>
            <a:pPr marL="0" indent="0" fontAlgn="base">
              <a:buNone/>
            </a:pPr>
            <a:endParaRPr lang="en-US" dirty="0"/>
          </a:p>
          <a:p>
            <a:pPr fontAlgn="base"/>
            <a:r>
              <a:rPr lang="en-US" dirty="0"/>
              <a:t>Emphasizing the need of assistance of these officials the Mahabharata says, “The king should depend upon the ministers like animals on clouds, </a:t>
            </a:r>
            <a:r>
              <a:rPr lang="en-US" dirty="0" err="1"/>
              <a:t>Brahmanas</a:t>
            </a:r>
            <a:r>
              <a:rPr lang="en-US" dirty="0"/>
              <a:t> on Vedas and women upon husbands.” </a:t>
            </a:r>
            <a:r>
              <a:rPr lang="en-US" dirty="0" err="1"/>
              <a:t>Kautilya</a:t>
            </a:r>
            <a:r>
              <a:rPr lang="en-US" dirty="0"/>
              <a:t> also says that the king should follow his chief minister as “a student his teacher, a servant his master”.</a:t>
            </a:r>
          </a:p>
          <a:p>
            <a:pPr marL="0" indent="0" fontAlgn="base">
              <a:buNone/>
            </a:pPr>
            <a:endParaRPr lang="en-US" dirty="0"/>
          </a:p>
          <a:p>
            <a:pPr fontAlgn="base"/>
            <a:r>
              <a:rPr lang="en-US" dirty="0"/>
              <a:t>During the Vedic period the king was assisted by functions known as </a:t>
            </a:r>
            <a:r>
              <a:rPr lang="en-US" dirty="0" err="1"/>
              <a:t>Ratnins</a:t>
            </a:r>
            <a:r>
              <a:rPr lang="en-US" dirty="0"/>
              <a:t>. The prominent </a:t>
            </a:r>
            <a:r>
              <a:rPr lang="en-US" dirty="0" err="1"/>
              <a:t>Ratnins</a:t>
            </a:r>
            <a:r>
              <a:rPr lang="en-US" dirty="0"/>
              <a:t> during the period were the </a:t>
            </a:r>
            <a:r>
              <a:rPr lang="en-US" dirty="0" err="1"/>
              <a:t>Purohtia</a:t>
            </a:r>
            <a:r>
              <a:rPr lang="en-US" dirty="0"/>
              <a:t> </a:t>
            </a:r>
            <a:r>
              <a:rPr lang="en-US" dirty="0" err="1"/>
              <a:t>Senani</a:t>
            </a:r>
            <a:r>
              <a:rPr lang="en-US" dirty="0"/>
              <a:t> (Leader of Army), </a:t>
            </a:r>
            <a:r>
              <a:rPr lang="en-US" dirty="0" err="1"/>
              <a:t>Gramani</a:t>
            </a:r>
            <a:r>
              <a:rPr lang="en-US" dirty="0"/>
              <a:t> (Village headman), </a:t>
            </a:r>
            <a:r>
              <a:rPr lang="en-US" dirty="0" err="1"/>
              <a:t>Sangrahtia</a:t>
            </a:r>
            <a:r>
              <a:rPr lang="en-US" dirty="0"/>
              <a:t> and </a:t>
            </a:r>
            <a:r>
              <a:rPr lang="en-US" dirty="0" err="1"/>
              <a:t>Bhandagarika</a:t>
            </a:r>
            <a:r>
              <a:rPr lang="en-US" dirty="0"/>
              <a:t> (Treasurer). During the post-Vedic period the </a:t>
            </a:r>
            <a:r>
              <a:rPr lang="en-US" dirty="0" err="1"/>
              <a:t>Ratnins</a:t>
            </a:r>
            <a:r>
              <a:rPr lang="en-US" dirty="0"/>
              <a:t> faded away and their place was taken by ministers variously known as </a:t>
            </a:r>
            <a:r>
              <a:rPr lang="en-US" dirty="0" err="1"/>
              <a:t>mantrins</a:t>
            </a:r>
            <a:r>
              <a:rPr lang="en-US" dirty="0"/>
              <a:t>, </a:t>
            </a:r>
            <a:r>
              <a:rPr lang="en-US" dirty="0" err="1"/>
              <a:t>sachivas</a:t>
            </a:r>
            <a:r>
              <a:rPr lang="en-US" dirty="0"/>
              <a:t> and </a:t>
            </a:r>
            <a:r>
              <a:rPr lang="en-US" dirty="0" err="1"/>
              <a:t>amatyas</a:t>
            </a:r>
            <a:r>
              <a:rPr lang="en-US" dirty="0"/>
              <a:t>.</a:t>
            </a:r>
          </a:p>
          <a:p>
            <a:pPr marL="0" indent="0" fontAlgn="base">
              <a:buNone/>
            </a:pPr>
            <a:endParaRPr lang="en-US" dirty="0"/>
          </a:p>
          <a:p>
            <a:pPr fontAlgn="base"/>
            <a:r>
              <a:rPr lang="en-US" dirty="0"/>
              <a:t>During the </a:t>
            </a:r>
            <a:r>
              <a:rPr lang="en-US" dirty="0" err="1"/>
              <a:t>Mauryan</a:t>
            </a:r>
            <a:r>
              <a:rPr lang="en-US" dirty="0"/>
              <a:t> times the king was assisted by a body of elder statesmen known as </a:t>
            </a:r>
            <a:r>
              <a:rPr lang="en-US" b="1" dirty="0" err="1"/>
              <a:t>mantri-parishad</a:t>
            </a:r>
            <a:r>
              <a:rPr lang="en-US" b="1" dirty="0"/>
              <a:t>. </a:t>
            </a:r>
            <a:r>
              <a:rPr lang="en-US" dirty="0"/>
              <a:t>The size of this body varied from seven to thirty-seven. These ministers were chosen by the king with utmost care and advised him on important issues. The Council of Ministers was not merely a rubber stamp and its advice carried much weight with the king.</a:t>
            </a:r>
          </a:p>
          <a:p>
            <a:pPr fontAlgn="base"/>
            <a:r>
              <a:rPr lang="en-US" dirty="0"/>
              <a:t>Almost all the authorities have </a:t>
            </a:r>
            <a:r>
              <a:rPr lang="en-US" dirty="0" err="1"/>
              <a:t>emphasised</a:t>
            </a:r>
            <a:r>
              <a:rPr lang="en-US" dirty="0"/>
              <a:t> that the councilors should speak freely and openly and that the king should give full consideration to their advice. In the absence of the king the council exercised tremendous powers.</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Council of ministers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40ED07B5-B03C-4895-B0A4-6E2A05F9EA4E}"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38</a:t>
            </a:fld>
            <a:endParaRPr lang="en-US"/>
          </a:p>
        </p:txBody>
      </p:sp>
    </p:spTree>
    <p:extLst>
      <p:ext uri="{BB962C8B-B14F-4D97-AF65-F5344CB8AC3E}">
        <p14:creationId xmlns:p14="http://schemas.microsoft.com/office/powerpoint/2010/main" val="32350383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9067"/>
            <a:ext cx="10972800" cy="5127101"/>
          </a:xfrm>
        </p:spPr>
        <p:txBody>
          <a:bodyPr>
            <a:normAutofit fontScale="70000" lnSpcReduction="20000"/>
          </a:bodyPr>
          <a:lstStyle/>
          <a:p>
            <a:pPr fontAlgn="base"/>
            <a:r>
              <a:rPr lang="en-US" dirty="0"/>
              <a:t>We learn that Ashoka permitted his councilors to take minor decision even when he was present in the empire. Though the king was free to appoint his own councilors, in reality these positions went by inheritance. The meetings of the Council were held in complete secrecy.</a:t>
            </a:r>
          </a:p>
          <a:p>
            <a:pPr fontAlgn="base"/>
            <a:r>
              <a:rPr lang="en-US" dirty="0"/>
              <a:t>The designations and functions of the councilors varied considerably. Usually every king had a chief counselor or </a:t>
            </a:r>
            <a:r>
              <a:rPr lang="en-US" dirty="0" err="1"/>
              <a:t>mahamantrin</a:t>
            </a:r>
            <a:r>
              <a:rPr lang="en-US" dirty="0"/>
              <a:t>. Another important official who exercised tremendous influence with the king was </a:t>
            </a:r>
            <a:r>
              <a:rPr lang="en-US" dirty="0" err="1"/>
              <a:t>Purohita</a:t>
            </a:r>
            <a:r>
              <a:rPr lang="en-US" dirty="0"/>
              <a:t>, the royal chaplain. His presence was indispensable in an age which believed that the victories on the battlefield depended largely only on the </a:t>
            </a:r>
            <a:r>
              <a:rPr lang="en-US" dirty="0" err="1"/>
              <a:t>favour</a:t>
            </a:r>
            <a:r>
              <a:rPr lang="en-US" dirty="0"/>
              <a:t> of gods.</a:t>
            </a:r>
          </a:p>
          <a:p>
            <a:pPr fontAlgn="base"/>
            <a:r>
              <a:rPr lang="en-US" dirty="0"/>
              <a:t>The other important officials were </a:t>
            </a:r>
            <a:r>
              <a:rPr lang="en-US" dirty="0" err="1"/>
              <a:t>Arthasastra</a:t>
            </a:r>
            <a:r>
              <a:rPr lang="en-US" dirty="0"/>
              <a:t> </a:t>
            </a:r>
            <a:r>
              <a:rPr lang="en-US" dirty="0" err="1"/>
              <a:t>sannidhatr</a:t>
            </a:r>
            <a:r>
              <a:rPr lang="en-US" dirty="0"/>
              <a:t> (treasurer) </a:t>
            </a:r>
            <a:r>
              <a:rPr lang="en-US" dirty="0" err="1"/>
              <a:t>samahartr</a:t>
            </a:r>
            <a:r>
              <a:rPr lang="en-US" dirty="0"/>
              <a:t> (chief tax collector), </a:t>
            </a:r>
            <a:r>
              <a:rPr lang="en-US" dirty="0" err="1"/>
              <a:t>sandhivigrahika</a:t>
            </a:r>
            <a:r>
              <a:rPr lang="en-US" dirty="0"/>
              <a:t> (minister of peace and war), the </a:t>
            </a:r>
            <a:r>
              <a:rPr lang="en-US" dirty="0" err="1"/>
              <a:t>pradvivaka</a:t>
            </a:r>
            <a:r>
              <a:rPr lang="en-US" dirty="0"/>
              <a:t> (chief judge and legal adviser), </a:t>
            </a:r>
            <a:r>
              <a:rPr lang="en-US" dirty="0" err="1"/>
              <a:t>senapati</a:t>
            </a:r>
            <a:r>
              <a:rPr lang="en-US" dirty="0"/>
              <a:t> (general) </a:t>
            </a:r>
            <a:r>
              <a:rPr lang="en-US" dirty="0" err="1"/>
              <a:t>mahaksapatalika</a:t>
            </a:r>
            <a:r>
              <a:rPr lang="en-US" dirty="0"/>
              <a:t> (chief record keeper) etc.</a:t>
            </a:r>
          </a:p>
          <a:p>
            <a:pPr fontAlgn="base"/>
            <a:r>
              <a:rPr lang="en-US" dirty="0"/>
              <a:t>The Councilors and high officials were known as </a:t>
            </a:r>
            <a:r>
              <a:rPr lang="en-US" dirty="0" err="1"/>
              <a:t>mahamatras</a:t>
            </a:r>
            <a:r>
              <a:rPr lang="en-US" dirty="0"/>
              <a:t> in the pre-Gupta period, but later on they came to be known as </a:t>
            </a:r>
            <a:r>
              <a:rPr lang="en-US" dirty="0" err="1"/>
              <a:t>kumaramatyas</a:t>
            </a:r>
            <a:r>
              <a:rPr lang="en-US" dirty="0"/>
              <a:t> or princely ministers. During the time of </a:t>
            </a:r>
            <a:r>
              <a:rPr lang="en-US" dirty="0" err="1"/>
              <a:t>Ashoka</a:t>
            </a:r>
            <a:r>
              <a:rPr lang="en-US" dirty="0"/>
              <a:t> another body of officials known as dharma-</a:t>
            </a:r>
            <a:r>
              <a:rPr lang="en-US" dirty="0" err="1"/>
              <a:t>mahamatras</a:t>
            </a:r>
            <a:r>
              <a:rPr lang="en-US" dirty="0"/>
              <a:t> also existed.</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2800" dirty="0"/>
          </a:p>
          <a:p>
            <a:pPr lvl="0" algn="ctr">
              <a:spcBef>
                <a:spcPct val="0"/>
              </a:spcBef>
              <a:defRPr/>
            </a:pPr>
            <a:r>
              <a:rPr lang="en-US" sz="2800" b="1" dirty="0"/>
              <a:t>Councilors or officials</a:t>
            </a:r>
            <a:r>
              <a:rPr lang="en-US" sz="2800" dirty="0"/>
              <a:t>.</a:t>
            </a:r>
            <a:br>
              <a:rPr lang="en-US" sz="2800" dirty="0"/>
            </a:b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BE731AD3-6543-45A2-BC2A-0BACF7E4DD13}"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39</a:t>
            </a:fld>
            <a:endParaRPr lang="en-US"/>
          </a:p>
        </p:txBody>
      </p:sp>
    </p:spTree>
    <p:extLst>
      <p:ext uri="{BB962C8B-B14F-4D97-AF65-F5344CB8AC3E}">
        <p14:creationId xmlns:p14="http://schemas.microsoft.com/office/powerpoint/2010/main" val="191036743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p>
        </p:txBody>
      </p:sp>
      <p:sp>
        <p:nvSpPr>
          <p:cNvPr id="3" name="Content Placeholder 2"/>
          <p:cNvSpPr>
            <a:spLocks noGrp="1"/>
          </p:cNvSpPr>
          <p:nvPr>
            <p:ph idx="1"/>
          </p:nvPr>
        </p:nvSpPr>
        <p:spPr>
          <a:xfrm>
            <a:off x="609600" y="1192415"/>
            <a:ext cx="10972800" cy="4525963"/>
          </a:xfrm>
        </p:spPr>
        <p:txBody>
          <a:bodyPr>
            <a:normAutofit fontScale="92500" lnSpcReduction="10000"/>
          </a:bodyPr>
          <a:lstStyle/>
          <a:p>
            <a:pPr marL="0" indent="0">
              <a:buNone/>
            </a:pPr>
            <a:r>
              <a:rPr lang="en-US" dirty="0" err="1"/>
              <a:t>Saptanga</a:t>
            </a:r>
            <a:r>
              <a:rPr lang="en-US" dirty="0"/>
              <a:t> theory of state was given by </a:t>
            </a:r>
            <a:r>
              <a:rPr lang="en-US" dirty="0" err="1"/>
              <a:t>Kautilya</a:t>
            </a:r>
            <a:r>
              <a:rPr lang="en-US" dirty="0"/>
              <a:t> in </a:t>
            </a:r>
            <a:r>
              <a:rPr lang="en-US" dirty="0" err="1"/>
              <a:t>Arthashastra</a:t>
            </a:r>
            <a:r>
              <a:rPr lang="en-US" dirty="0"/>
              <a:t>.  According to it, the seven limbs of a state are </a:t>
            </a:r>
          </a:p>
          <a:p>
            <a:r>
              <a:rPr lang="en-US" dirty="0"/>
              <a:t>1. </a:t>
            </a:r>
            <a:r>
              <a:rPr lang="en-US" dirty="0" smtClean="0"/>
              <a:t>Swami(King), </a:t>
            </a:r>
            <a:endParaRPr lang="en-US" dirty="0"/>
          </a:p>
          <a:p>
            <a:r>
              <a:rPr lang="en-US" dirty="0"/>
              <a:t>2. </a:t>
            </a:r>
            <a:r>
              <a:rPr lang="en-US" dirty="0" err="1"/>
              <a:t>Amatya</a:t>
            </a:r>
            <a:r>
              <a:rPr lang="en-US" dirty="0"/>
              <a:t> (</a:t>
            </a:r>
            <a:r>
              <a:rPr lang="en-US" dirty="0" smtClean="0"/>
              <a:t>Bureaucrats-The council of Ministers) </a:t>
            </a:r>
            <a:endParaRPr lang="en-US" dirty="0"/>
          </a:p>
          <a:p>
            <a:r>
              <a:rPr lang="en-US" dirty="0"/>
              <a:t>3. </a:t>
            </a:r>
            <a:r>
              <a:rPr lang="en-US" dirty="0" err="1"/>
              <a:t>Janapada</a:t>
            </a:r>
            <a:r>
              <a:rPr lang="en-US" dirty="0"/>
              <a:t> (</a:t>
            </a:r>
            <a:r>
              <a:rPr lang="en-US" dirty="0" smtClean="0"/>
              <a:t>territory-The People)</a:t>
            </a:r>
            <a:endParaRPr lang="en-US" dirty="0"/>
          </a:p>
          <a:p>
            <a:r>
              <a:rPr lang="en-US" dirty="0"/>
              <a:t>4. </a:t>
            </a:r>
            <a:r>
              <a:rPr lang="en-US" dirty="0" err="1"/>
              <a:t>Durga</a:t>
            </a:r>
            <a:r>
              <a:rPr lang="en-US" dirty="0"/>
              <a:t> (Fort)</a:t>
            </a:r>
          </a:p>
          <a:p>
            <a:r>
              <a:rPr lang="en-US" dirty="0"/>
              <a:t> 5. </a:t>
            </a:r>
            <a:r>
              <a:rPr lang="en-US" dirty="0" err="1"/>
              <a:t>Kosa</a:t>
            </a:r>
            <a:r>
              <a:rPr lang="en-US" dirty="0"/>
              <a:t> (Treasure)</a:t>
            </a:r>
          </a:p>
          <a:p>
            <a:r>
              <a:rPr lang="en-US" dirty="0"/>
              <a:t> 6. </a:t>
            </a:r>
            <a:r>
              <a:rPr lang="en-US" dirty="0" err="1"/>
              <a:t>Danda</a:t>
            </a:r>
            <a:r>
              <a:rPr lang="en-US" dirty="0"/>
              <a:t> (coercive authority) and </a:t>
            </a:r>
          </a:p>
          <a:p>
            <a:r>
              <a:rPr lang="en-US" dirty="0"/>
              <a:t>7.Mitra (</a:t>
            </a:r>
            <a:r>
              <a:rPr lang="en-US" dirty="0" smtClean="0"/>
              <a:t>allies).</a:t>
            </a:r>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a:t>
            </a:r>
            <a:r>
              <a:rPr lang="en-US" sz="2800" b="1" dirty="0" err="1"/>
              <a:t>Saptanga</a:t>
            </a:r>
            <a:r>
              <a:rPr lang="en-US" sz="2800" b="1" dirty="0"/>
              <a:t> Theory of State’ (Theory of Seven Limbs of the State)</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741D6BCA-8916-49EF-87C8-700C265A09DC}"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40</a:t>
            </a:fld>
            <a:endParaRPr lang="en-US"/>
          </a:p>
        </p:txBody>
      </p:sp>
    </p:spTree>
    <p:extLst>
      <p:ext uri="{BB962C8B-B14F-4D97-AF65-F5344CB8AC3E}">
        <p14:creationId xmlns:p14="http://schemas.microsoft.com/office/powerpoint/2010/main" val="386021691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0914" y="817165"/>
            <a:ext cx="11041487" cy="5309002"/>
          </a:xfrm>
        </p:spPr>
        <p:txBody>
          <a:bodyPr>
            <a:noAutofit/>
          </a:bodyPr>
          <a:lstStyle/>
          <a:p>
            <a:r>
              <a:rPr lang="en-US" sz="2400" dirty="0" err="1">
                <a:latin typeface="Times New Roman" panose="02020603050405020304" pitchFamily="18" charset="0"/>
                <a:cs typeface="Times New Roman" panose="02020603050405020304" pitchFamily="18" charset="0"/>
              </a:rPr>
              <a:t>Puruṣārtha</a:t>
            </a:r>
            <a:r>
              <a:rPr lang="en-US" sz="2400" dirty="0">
                <a:latin typeface="Times New Roman" panose="02020603050405020304" pitchFamily="18" charset="0"/>
                <a:cs typeface="Times New Roman" panose="02020603050405020304" pitchFamily="18" charset="0"/>
              </a:rPr>
              <a:t> literally means an "object of human pursuit". It is a key concept in Hinduism, and refers to the four proper goals or aims of a human life. The four </a:t>
            </a:r>
            <a:r>
              <a:rPr lang="en-US" sz="2400" dirty="0" err="1">
                <a:latin typeface="Times New Roman" panose="02020603050405020304" pitchFamily="18" charset="0"/>
                <a:cs typeface="Times New Roman" panose="02020603050405020304" pitchFamily="18" charset="0"/>
              </a:rPr>
              <a:t>puruṣārthas</a:t>
            </a:r>
            <a:r>
              <a:rPr lang="en-US" sz="2400" dirty="0">
                <a:latin typeface="Times New Roman" panose="02020603050405020304" pitchFamily="18" charset="0"/>
                <a:cs typeface="Times New Roman" panose="02020603050405020304" pitchFamily="18" charset="0"/>
              </a:rPr>
              <a:t> are Dharma (righteousness, moral values), </a:t>
            </a:r>
            <a:r>
              <a:rPr lang="en-US" sz="2400" dirty="0" err="1">
                <a:latin typeface="Times New Roman" panose="02020603050405020304" pitchFamily="18" charset="0"/>
                <a:cs typeface="Times New Roman" panose="02020603050405020304" pitchFamily="18" charset="0"/>
              </a:rPr>
              <a:t>Artha</a:t>
            </a:r>
            <a:r>
              <a:rPr lang="en-US" sz="2400" dirty="0">
                <a:latin typeface="Times New Roman" panose="02020603050405020304" pitchFamily="18" charset="0"/>
                <a:cs typeface="Times New Roman" panose="02020603050405020304" pitchFamily="18" charset="0"/>
              </a:rPr>
              <a:t> (prosperity, economic values), </a:t>
            </a:r>
            <a:r>
              <a:rPr lang="en-US" sz="2400" dirty="0" err="1">
                <a:latin typeface="Times New Roman" panose="02020603050405020304" pitchFamily="18" charset="0"/>
                <a:cs typeface="Times New Roman" panose="02020603050405020304" pitchFamily="18" charset="0"/>
              </a:rPr>
              <a:t>Kāma</a:t>
            </a:r>
            <a:r>
              <a:rPr lang="en-US" sz="2400" dirty="0">
                <a:latin typeface="Times New Roman" panose="02020603050405020304" pitchFamily="18" charset="0"/>
                <a:cs typeface="Times New Roman" panose="02020603050405020304" pitchFamily="18" charset="0"/>
              </a:rPr>
              <a:t> (pleasure, love, psychological values) and </a:t>
            </a:r>
            <a:r>
              <a:rPr lang="en-US" sz="2400" dirty="0" err="1">
                <a:latin typeface="Times New Roman" panose="02020603050405020304" pitchFamily="18" charset="0"/>
                <a:cs typeface="Times New Roman" panose="02020603050405020304" pitchFamily="18" charset="0"/>
              </a:rPr>
              <a:t>Mokṣa</a:t>
            </a:r>
            <a:r>
              <a:rPr lang="en-US" sz="2400" dirty="0">
                <a:latin typeface="Times New Roman" panose="02020603050405020304" pitchFamily="18" charset="0"/>
                <a:cs typeface="Times New Roman" panose="02020603050405020304" pitchFamily="18" charset="0"/>
              </a:rPr>
              <a:t> (liberation, spiritual values).</a:t>
            </a:r>
          </a:p>
          <a:p>
            <a:r>
              <a:rPr lang="en-US" sz="2400" dirty="0">
                <a:latin typeface="Times New Roman" panose="02020603050405020304" pitchFamily="18" charset="0"/>
                <a:cs typeface="Times New Roman" panose="02020603050405020304" pitchFamily="18" charset="0"/>
              </a:rPr>
              <a:t>All four </a:t>
            </a:r>
            <a:r>
              <a:rPr lang="en-US" sz="2400" dirty="0" err="1">
                <a:latin typeface="Times New Roman" panose="02020603050405020304" pitchFamily="18" charset="0"/>
                <a:cs typeface="Times New Roman" panose="02020603050405020304" pitchFamily="18" charset="0"/>
              </a:rPr>
              <a:t>Purusarthas</a:t>
            </a:r>
            <a:r>
              <a:rPr lang="en-US" sz="2400" dirty="0">
                <a:latin typeface="Times New Roman" panose="02020603050405020304" pitchFamily="18" charset="0"/>
                <a:cs typeface="Times New Roman" panose="02020603050405020304" pitchFamily="18" charset="0"/>
              </a:rPr>
              <a:t> are important, but in cases of conflict, Dharma is considered more important than </a:t>
            </a:r>
            <a:r>
              <a:rPr lang="en-US" sz="2400" dirty="0" err="1">
                <a:latin typeface="Times New Roman" panose="02020603050405020304" pitchFamily="18" charset="0"/>
                <a:cs typeface="Times New Roman" panose="02020603050405020304" pitchFamily="18" charset="0"/>
              </a:rPr>
              <a:t>Artha</a:t>
            </a:r>
            <a:r>
              <a:rPr lang="en-US" sz="2400" dirty="0">
                <a:latin typeface="Times New Roman" panose="02020603050405020304" pitchFamily="18" charset="0"/>
                <a:cs typeface="Times New Roman" panose="02020603050405020304" pitchFamily="18" charset="0"/>
              </a:rPr>
              <a:t> or Kama in Hindu philosophy. Moksha is considered the ultimate ideal of human life.</a:t>
            </a:r>
          </a:p>
          <a:p>
            <a:r>
              <a:rPr lang="en-US" sz="2400" dirty="0">
                <a:latin typeface="Times New Roman" panose="02020603050405020304" pitchFamily="18" charset="0"/>
                <a:cs typeface="Times New Roman" panose="02020603050405020304" pitchFamily="18" charset="0"/>
              </a:rPr>
              <a:t>Historical Indian scholars recognized and debated the inherent tension between active pursuit of wealth (</a:t>
            </a:r>
            <a:r>
              <a:rPr lang="en-US" sz="2400" dirty="0" err="1">
                <a:latin typeface="Times New Roman" panose="02020603050405020304" pitchFamily="18" charset="0"/>
                <a:cs typeface="Times New Roman" panose="02020603050405020304" pitchFamily="18" charset="0"/>
              </a:rPr>
              <a:t>Artha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purusartha</a:t>
            </a:r>
            <a:r>
              <a:rPr lang="en-US" sz="2400" dirty="0">
                <a:latin typeface="Times New Roman" panose="02020603050405020304" pitchFamily="18" charset="0"/>
                <a:cs typeface="Times New Roman" panose="02020603050405020304" pitchFamily="18" charset="0"/>
              </a:rPr>
              <a:t>) and pleasure (Kama), and renunciation of all wealth and pleasure for the sake of spiritual liberation (Moksha). They proposed "action with renunciation" or "craving-free, dharma-driven action", also called </a:t>
            </a:r>
            <a:r>
              <a:rPr lang="en-US" sz="2400" dirty="0" err="1">
                <a:latin typeface="Times New Roman" panose="02020603050405020304" pitchFamily="18" charset="0"/>
                <a:cs typeface="Times New Roman" panose="02020603050405020304" pitchFamily="18" charset="0"/>
              </a:rPr>
              <a:t>Nishkam</a:t>
            </a:r>
            <a:r>
              <a:rPr lang="en-US" sz="2400" dirty="0">
                <a:latin typeface="Times New Roman" panose="02020603050405020304" pitchFamily="18" charset="0"/>
                <a:cs typeface="Times New Roman" panose="02020603050405020304" pitchFamily="18" charset="0"/>
              </a:rPr>
              <a:t> Karma as a possible solution to the tension.</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err="1"/>
              <a:t>Purusārtha</a:t>
            </a:r>
            <a:r>
              <a:rPr lang="en-US" sz="2800" b="1" dirty="0"/>
              <a:t> / </a:t>
            </a:r>
            <a:r>
              <a:rPr lang="en-US" sz="2800" b="1" dirty="0" err="1"/>
              <a:t>Purushārtha</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CC78D4F4-68D7-435F-A7FA-CC767DEF1482}"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41</a:t>
            </a:fld>
            <a:endParaRPr lang="en-US"/>
          </a:p>
        </p:txBody>
      </p:sp>
    </p:spTree>
    <p:extLst>
      <p:ext uri="{BB962C8B-B14F-4D97-AF65-F5344CB8AC3E}">
        <p14:creationId xmlns:p14="http://schemas.microsoft.com/office/powerpoint/2010/main" val="15965600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0914" y="817165"/>
            <a:ext cx="11041487" cy="5309002"/>
          </a:xfrm>
        </p:spPr>
        <p:txBody>
          <a:bodyPr>
            <a:noAutofit/>
          </a:bodyPr>
          <a:lstStyle/>
          <a:p>
            <a:pPr marL="457200" indent="-457200">
              <a:buAutoNum type="arabicPeriod"/>
            </a:pPr>
            <a:r>
              <a:rPr lang="en-US" sz="2800" dirty="0">
                <a:latin typeface="Times New Roman" panose="02020603050405020304" pitchFamily="18" charset="0"/>
                <a:cs typeface="Times New Roman" panose="02020603050405020304" pitchFamily="18" charset="0"/>
              </a:rPr>
              <a:t>The ______, according to this theory, was a subordinate to law, which was made by the society and not him.</a:t>
            </a:r>
          </a:p>
          <a:p>
            <a:pPr marL="457200" indent="-457200">
              <a:buAutoNum type="arabicPeriod"/>
            </a:pPr>
            <a:r>
              <a:rPr lang="en-US" sz="2800" dirty="0">
                <a:latin typeface="Times New Roman" panose="02020603050405020304" pitchFamily="18" charset="0"/>
                <a:cs typeface="Times New Roman" panose="02020603050405020304" pitchFamily="18" charset="0"/>
              </a:rPr>
              <a:t> The great epic of India, the ______, also clearly laid out that king was of divine origin.</a:t>
            </a:r>
          </a:p>
          <a:p>
            <a:pPr marL="457200" indent="-457200">
              <a:buAutoNum type="arabicPeriod"/>
            </a:pPr>
            <a:r>
              <a:rPr lang="en-US" sz="2800" dirty="0">
                <a:latin typeface="Times New Roman" panose="02020603050405020304" pitchFamily="18" charset="0"/>
                <a:cs typeface="Times New Roman" panose="02020603050405020304" pitchFamily="18" charset="0"/>
              </a:rPr>
              <a:t> Usually every king had a chief counselor or _______.</a:t>
            </a:r>
          </a:p>
          <a:p>
            <a:pPr marL="457200" indent="-457200">
              <a:buAutoNum type="arabicPeriod"/>
            </a:pPr>
            <a:r>
              <a:rPr lang="en-US" sz="2800" dirty="0" err="1">
                <a:latin typeface="Times New Roman" panose="02020603050405020304" pitchFamily="18" charset="0"/>
                <a:cs typeface="Times New Roman" panose="02020603050405020304" pitchFamily="18" charset="0"/>
              </a:rPr>
              <a:t>Saptanga</a:t>
            </a:r>
            <a:r>
              <a:rPr lang="en-US" sz="2800" dirty="0">
                <a:latin typeface="Times New Roman" panose="02020603050405020304" pitchFamily="18" charset="0"/>
                <a:cs typeface="Times New Roman" panose="02020603050405020304" pitchFamily="18" charset="0"/>
              </a:rPr>
              <a:t> theory of state was given by _______ in </a:t>
            </a:r>
            <a:r>
              <a:rPr lang="en-US" sz="2800" dirty="0" err="1">
                <a:latin typeface="Times New Roman" panose="02020603050405020304" pitchFamily="18" charset="0"/>
                <a:cs typeface="Times New Roman" panose="02020603050405020304" pitchFamily="18" charset="0"/>
              </a:rPr>
              <a:t>Arthashastra</a:t>
            </a:r>
            <a:r>
              <a:rPr lang="en-US" sz="2800" dirty="0">
                <a:latin typeface="Times New Roman" panose="02020603050405020304" pitchFamily="18" charset="0"/>
                <a:cs typeface="Times New Roman" panose="02020603050405020304" pitchFamily="18" charset="0"/>
              </a:rPr>
              <a:t>. </a:t>
            </a:r>
          </a:p>
          <a:p>
            <a:pPr marL="457200" indent="-457200">
              <a:buAutoNum type="arabicPeriod"/>
            </a:pPr>
            <a:r>
              <a:rPr lang="en-US" sz="2800" dirty="0">
                <a:latin typeface="Times New Roman" panose="02020603050405020304" pitchFamily="18" charset="0"/>
                <a:cs typeface="Times New Roman" panose="02020603050405020304" pitchFamily="18" charset="0"/>
              </a:rPr>
              <a:t>______ literally means an "object of human pursuit".</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Daily Quiz</a:t>
            </a: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1C753230-B27C-49B1-AF29-359B35A39D4D}"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42</a:t>
            </a:fld>
            <a:endParaRPr lang="en-US"/>
          </a:p>
        </p:txBody>
      </p:sp>
    </p:spTree>
    <p:extLst>
      <p:ext uri="{BB962C8B-B14F-4D97-AF65-F5344CB8AC3E}">
        <p14:creationId xmlns:p14="http://schemas.microsoft.com/office/powerpoint/2010/main" val="264624590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9549" y="991675"/>
            <a:ext cx="11002851" cy="5134493"/>
          </a:xfrm>
        </p:spPr>
        <p:txBody>
          <a:bodyPr>
            <a:normAutofit/>
          </a:bodyPr>
          <a:lstStyle/>
          <a:p>
            <a:pPr algn="just"/>
            <a:r>
              <a:rPr lang="en-US" sz="2600" i="1" dirty="0" err="1"/>
              <a:t>Varnashrama</a:t>
            </a:r>
            <a:r>
              <a:rPr lang="en-US" sz="2600" i="1" dirty="0"/>
              <a:t> Dharma is a Sanskrit name given to the divisional structure of the Indian society</a:t>
            </a:r>
          </a:p>
          <a:p>
            <a:pPr algn="just"/>
            <a:r>
              <a:rPr lang="en-US" sz="2600" dirty="0"/>
              <a:t>The Varna system mingled with the four </a:t>
            </a:r>
            <a:r>
              <a:rPr lang="en-US" sz="2600" dirty="0" err="1"/>
              <a:t>Ashramas</a:t>
            </a:r>
            <a:r>
              <a:rPr lang="en-US" sz="2600" dirty="0"/>
              <a:t> of one’s life on the path of dharma becomes the </a:t>
            </a:r>
            <a:r>
              <a:rPr lang="en-US" sz="2600" dirty="0" err="1"/>
              <a:t>Varnashrama</a:t>
            </a:r>
            <a:r>
              <a:rPr lang="en-US" sz="2600" dirty="0"/>
              <a:t> Dharma.</a:t>
            </a:r>
          </a:p>
          <a:p>
            <a:pPr algn="just"/>
            <a:r>
              <a:rPr lang="en-US" sz="2600" dirty="0"/>
              <a:t>In Hindu society this dharma was divided into four different groups of people who pursued four different </a:t>
            </a:r>
            <a:r>
              <a:rPr lang="en-US" sz="2600" dirty="0" err="1"/>
              <a:t>dharmas</a:t>
            </a:r>
            <a:r>
              <a:rPr lang="en-US" sz="2600" dirty="0"/>
              <a:t> in their life to attain the ultimate goal of their life, i.e. </a:t>
            </a:r>
            <a:r>
              <a:rPr lang="en-US" sz="2600" dirty="0" err="1"/>
              <a:t>realisation</a:t>
            </a:r>
            <a:r>
              <a:rPr lang="en-US" sz="2600" dirty="0"/>
              <a:t> of god. </a:t>
            </a:r>
          </a:p>
          <a:p>
            <a:pPr algn="just"/>
            <a:r>
              <a:rPr lang="en-US" sz="2600" dirty="0"/>
              <a:t>The first of such kind was the </a:t>
            </a:r>
            <a:r>
              <a:rPr lang="en-US" sz="2600" dirty="0" err="1"/>
              <a:t>Brahmana</a:t>
            </a:r>
            <a:r>
              <a:rPr lang="en-US" sz="2600" dirty="0"/>
              <a:t> Dharma. According to Manu, learning Vedas, teaching of Vedas, conducting </a:t>
            </a:r>
            <a:r>
              <a:rPr lang="en-US" sz="2600" dirty="0" err="1"/>
              <a:t>yagnas</a:t>
            </a:r>
            <a:r>
              <a:rPr lang="en-US" sz="2600" dirty="0"/>
              <a:t> and conducting </a:t>
            </a:r>
            <a:r>
              <a:rPr lang="en-US" sz="2600" dirty="0" err="1"/>
              <a:t>yagnas</a:t>
            </a:r>
            <a:r>
              <a:rPr lang="en-US" sz="2600" dirty="0"/>
              <a:t> for others, giving alms and taking alms for others are the six important duties in a Brahman’s life</a:t>
            </a:r>
            <a:r>
              <a:rPr lang="en-US" dirty="0"/>
              <a:t>.</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Varnāshrama</a:t>
            </a:r>
            <a:r>
              <a:rPr lang="en-US" sz="2800" dirty="0"/>
              <a:t> System</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1F78BBEE-6425-43A8-BB79-AED83FFE584D}"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43</a:t>
            </a:fld>
            <a:endParaRPr lang="en-US"/>
          </a:p>
        </p:txBody>
      </p:sp>
    </p:spTree>
    <p:extLst>
      <p:ext uri="{BB962C8B-B14F-4D97-AF65-F5344CB8AC3E}">
        <p14:creationId xmlns:p14="http://schemas.microsoft.com/office/powerpoint/2010/main" val="39408685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156" y="817165"/>
            <a:ext cx="11067245" cy="5309002"/>
          </a:xfrm>
        </p:spPr>
        <p:txBody>
          <a:bodyPr>
            <a:normAutofit/>
          </a:bodyPr>
          <a:lstStyle/>
          <a:p>
            <a:pPr algn="just"/>
            <a:r>
              <a:rPr lang="en-US" sz="2400" dirty="0"/>
              <a:t>The next group of people were the Kshatriyas. They were those people who belonged to the clan of the kings and soldiers and used to look after the safety of their territory and the people. Looking after people, collecting weapons to punish those who did wrong, engaging in </a:t>
            </a:r>
            <a:r>
              <a:rPr lang="en-US" sz="2400" dirty="0" err="1"/>
              <a:t>dharmic</a:t>
            </a:r>
            <a:r>
              <a:rPr lang="en-US" sz="2400" dirty="0"/>
              <a:t> wars, winning over enemies’ army and ruling the world were the essential duties of a Kshatriya</a:t>
            </a:r>
          </a:p>
          <a:p>
            <a:pPr marL="0" indent="0" algn="just">
              <a:buNone/>
            </a:pPr>
            <a:endParaRPr lang="en-US" sz="2400" dirty="0"/>
          </a:p>
          <a:p>
            <a:pPr marL="0" indent="0" algn="just">
              <a:buNone/>
            </a:pPr>
            <a:endParaRPr lang="en-US" sz="2400" dirty="0"/>
          </a:p>
          <a:p>
            <a:pPr algn="just"/>
            <a:r>
              <a:rPr lang="en-US" sz="2400" dirty="0"/>
              <a:t>The third </a:t>
            </a:r>
            <a:r>
              <a:rPr lang="en-US" sz="2400" dirty="0" err="1"/>
              <a:t>varna</a:t>
            </a:r>
            <a:r>
              <a:rPr lang="en-US" sz="2400" dirty="0"/>
              <a:t> was the </a:t>
            </a:r>
            <a:r>
              <a:rPr lang="en-US" sz="2400" dirty="0" err="1"/>
              <a:t>Vaishya</a:t>
            </a:r>
            <a:r>
              <a:rPr lang="en-US" sz="2400" dirty="0"/>
              <a:t> Dharma. Manu says that the </a:t>
            </a:r>
            <a:r>
              <a:rPr lang="en-US" sz="2400" dirty="0" err="1"/>
              <a:t>vaishyas</a:t>
            </a:r>
            <a:r>
              <a:rPr lang="en-US" sz="2400" dirty="0"/>
              <a:t> should give charity, perform </a:t>
            </a:r>
            <a:r>
              <a:rPr lang="en-US" sz="2400" dirty="0" err="1"/>
              <a:t>yajnas</a:t>
            </a:r>
            <a:r>
              <a:rPr lang="en-US" sz="2400" dirty="0"/>
              <a:t>, should get knowledge, carry out trade in cereals, gems, gold, silver and other articles, should give money on loan and cultivate the land.</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Varnāshrama</a:t>
            </a:r>
            <a:r>
              <a:rPr lang="en-US" sz="2800" dirty="0"/>
              <a:t> System</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7F612D9F-27DB-417C-BDE6-179F857867E7}"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44</a:t>
            </a:fld>
            <a:endParaRPr lang="en-US"/>
          </a:p>
        </p:txBody>
      </p:sp>
    </p:spTree>
    <p:extLst>
      <p:ext uri="{BB962C8B-B14F-4D97-AF65-F5344CB8AC3E}">
        <p14:creationId xmlns:p14="http://schemas.microsoft.com/office/powerpoint/2010/main" val="14514028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fourth Varna, i.e. the </a:t>
            </a:r>
            <a:r>
              <a:rPr lang="en-US" dirty="0" err="1"/>
              <a:t>Shudra</a:t>
            </a:r>
            <a:r>
              <a:rPr lang="en-US" dirty="0"/>
              <a:t> dharma encompassed service to people of other </a:t>
            </a:r>
            <a:r>
              <a:rPr lang="en-US" dirty="0" err="1"/>
              <a:t>dharmas</a:t>
            </a:r>
            <a:r>
              <a:rPr lang="en-US" dirty="0"/>
              <a:t>. He has also talked about Varna </a:t>
            </a:r>
            <a:r>
              <a:rPr lang="en-US" dirty="0" err="1"/>
              <a:t>Sadharana</a:t>
            </a:r>
            <a:r>
              <a:rPr lang="en-US" dirty="0"/>
              <a:t> Dharma which included those </a:t>
            </a:r>
            <a:r>
              <a:rPr lang="en-US" dirty="0" err="1"/>
              <a:t>dharmas</a:t>
            </a:r>
            <a:r>
              <a:rPr lang="en-US" dirty="0"/>
              <a:t> which would have been common to the people of all the four </a:t>
            </a:r>
            <a:r>
              <a:rPr lang="en-US" dirty="0" err="1"/>
              <a:t>varnas</a:t>
            </a:r>
            <a:r>
              <a:rPr lang="en-US" dirty="0"/>
              <a:t>.</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Varnāshrama</a:t>
            </a:r>
            <a:r>
              <a:rPr lang="en-US" sz="2800" dirty="0"/>
              <a:t> System</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7BE6605C-3B0F-46AC-B2DB-27E08AF098EC}"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45</a:t>
            </a:fld>
            <a:endParaRPr lang="en-US"/>
          </a:p>
        </p:txBody>
      </p:sp>
    </p:spTree>
    <p:extLst>
      <p:ext uri="{BB962C8B-B14F-4D97-AF65-F5344CB8AC3E}">
        <p14:creationId xmlns:p14="http://schemas.microsoft.com/office/powerpoint/2010/main" val="34160108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Ashram (</a:t>
            </a:r>
            <a:r>
              <a:rPr lang="en-US" dirty="0" err="1"/>
              <a:t>आश्रम</a:t>
            </a:r>
            <a:r>
              <a:rPr lang="en-US" dirty="0"/>
              <a:t>) is second most important institution of Hindu social institution. </a:t>
            </a:r>
          </a:p>
          <a:p>
            <a:r>
              <a:rPr lang="en-US" dirty="0"/>
              <a:t> The term derived from the verb root "</a:t>
            </a:r>
            <a:r>
              <a:rPr lang="en-US" dirty="0" err="1"/>
              <a:t>श्रम्</a:t>
            </a:r>
            <a:r>
              <a:rPr lang="en-US" dirty="0"/>
              <a:t>" which mean to do hard work or effort. </a:t>
            </a:r>
          </a:p>
          <a:p>
            <a:r>
              <a:rPr lang="en-US" dirty="0"/>
              <a:t> Thus the </a:t>
            </a:r>
            <a:r>
              <a:rPr lang="en-US" dirty="0" err="1"/>
              <a:t>Ashramas</a:t>
            </a:r>
            <a:r>
              <a:rPr lang="en-US" dirty="0"/>
              <a:t> are the stages where hard works or efforts to be done. </a:t>
            </a:r>
          </a:p>
          <a:p>
            <a:r>
              <a:rPr lang="en-US" dirty="0"/>
              <a:t>Ancient Indian social thinkers had divided human life into four major stages called Ashram: Brahmacharya, </a:t>
            </a:r>
            <a:r>
              <a:rPr lang="en-US" dirty="0" err="1"/>
              <a:t>Grihastha</a:t>
            </a:r>
            <a:r>
              <a:rPr lang="en-US" dirty="0"/>
              <a:t>, </a:t>
            </a:r>
            <a:r>
              <a:rPr lang="en-US" dirty="0" err="1"/>
              <a:t>Vanaprastha</a:t>
            </a:r>
            <a:r>
              <a:rPr lang="en-US" dirty="0"/>
              <a:t> and </a:t>
            </a:r>
            <a:r>
              <a:rPr lang="en-US" dirty="0" err="1"/>
              <a:t>Sanyasa</a:t>
            </a:r>
            <a:r>
              <a:rPr lang="en-US" dirty="0"/>
              <a:t>.</a:t>
            </a:r>
          </a:p>
          <a:p>
            <a:r>
              <a:rPr lang="en-US" dirty="0"/>
              <a:t> A branch of psychology called Developmental psychology also deals the human development in two major stages. </a:t>
            </a:r>
          </a:p>
          <a:p>
            <a:r>
              <a:rPr lang="en-US" dirty="0"/>
              <a:t> An </a:t>
            </a:r>
            <a:r>
              <a:rPr lang="en-US" dirty="0" err="1"/>
              <a:t>Ashrama</a:t>
            </a:r>
            <a:r>
              <a:rPr lang="en-US" dirty="0"/>
              <a:t> in Hinduism is one of four age-based life stages discussed in Indian texts of the ancient and medieval eras.</a:t>
            </a:r>
          </a:p>
          <a:p>
            <a:r>
              <a:rPr lang="en-US" dirty="0"/>
              <a:t>The four </a:t>
            </a:r>
            <a:r>
              <a:rPr lang="en-US" dirty="0" err="1"/>
              <a:t>ashramas</a:t>
            </a:r>
            <a:r>
              <a:rPr lang="en-US" dirty="0"/>
              <a:t> are: Brahmacharya (student), </a:t>
            </a:r>
            <a:r>
              <a:rPr lang="en-US" dirty="0" err="1"/>
              <a:t>Grihastha</a:t>
            </a:r>
            <a:r>
              <a:rPr lang="en-US" dirty="0"/>
              <a:t> (householder), </a:t>
            </a:r>
            <a:r>
              <a:rPr lang="en-US" dirty="0" err="1"/>
              <a:t>Vanaprastha</a:t>
            </a:r>
            <a:r>
              <a:rPr lang="en-US" dirty="0"/>
              <a:t> (retired) and </a:t>
            </a:r>
            <a:r>
              <a:rPr lang="en-US" dirty="0" err="1"/>
              <a:t>Sannyasa</a:t>
            </a:r>
            <a:r>
              <a:rPr lang="en-US" dirty="0"/>
              <a:t> (</a:t>
            </a:r>
            <a:r>
              <a:rPr lang="en-US" dirty="0" err="1"/>
              <a:t>renunciate</a:t>
            </a:r>
            <a:r>
              <a:rPr lang="en-US" dirty="0"/>
              <a:t>).</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Ashrama</a:t>
            </a:r>
            <a:r>
              <a:rPr lang="en-US" sz="2800" dirty="0"/>
              <a:t> or stages of life</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A1239DE4-F6CD-4BAD-B3F7-31283C818D2B}"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46</a:t>
            </a:fld>
            <a:endParaRPr lang="en-US"/>
          </a:p>
        </p:txBody>
      </p:sp>
    </p:spTree>
    <p:extLst>
      <p:ext uri="{BB962C8B-B14F-4D97-AF65-F5344CB8AC3E}">
        <p14:creationId xmlns:p14="http://schemas.microsoft.com/office/powerpoint/2010/main" val="8187444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2306" y="817166"/>
            <a:ext cx="9545027" cy="5610051"/>
          </a:xfrm>
        </p:spPr>
      </p:pic>
      <p:sp>
        <p:nvSpPr>
          <p:cNvPr id="5"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Ashrama</a:t>
            </a:r>
            <a:r>
              <a:rPr lang="en-US" sz="2800" dirty="0"/>
              <a:t> or stages of life</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0" y="3"/>
            <a:ext cx="1930400" cy="817163"/>
          </a:xfrm>
          <a:prstGeom prst="rect">
            <a:avLst/>
          </a:prstGeom>
          <a:noFill/>
        </p:spPr>
      </p:pic>
      <p:sp>
        <p:nvSpPr>
          <p:cNvPr id="3" name="Date Placeholder 2"/>
          <p:cNvSpPr>
            <a:spLocks noGrp="1"/>
          </p:cNvSpPr>
          <p:nvPr>
            <p:ph type="dt" sz="half" idx="10"/>
          </p:nvPr>
        </p:nvSpPr>
        <p:spPr/>
        <p:txBody>
          <a:bodyPr/>
          <a:lstStyle/>
          <a:p>
            <a:fld id="{185C3C94-6FDB-4647-8F75-740DFDAF20DD}"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47</a:t>
            </a:fld>
            <a:endParaRPr lang="en-US"/>
          </a:p>
        </p:txBody>
      </p:sp>
    </p:spTree>
    <p:extLst>
      <p:ext uri="{BB962C8B-B14F-4D97-AF65-F5344CB8AC3E}">
        <p14:creationId xmlns:p14="http://schemas.microsoft.com/office/powerpoint/2010/main" val="34078677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14060"/>
          <a:stretch/>
        </p:blipFill>
        <p:spPr>
          <a:xfrm>
            <a:off x="1590599" y="1253709"/>
            <a:ext cx="9128201" cy="4334291"/>
          </a:xfrm>
        </p:spPr>
      </p:pic>
      <p:sp>
        <p:nvSpPr>
          <p:cNvPr id="5"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Ashrama</a:t>
            </a:r>
            <a:r>
              <a:rPr lang="en-US" sz="2800" dirty="0"/>
              <a:t> or stages of life</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FED7CF7D-BF1C-4B8B-A347-D94D055A7B91}" type="datetime1">
              <a:rPr lang="en-US" smtClean="0"/>
              <a:t>3/9/2022</a:t>
            </a:fld>
            <a:endParaRPr lang="en-US"/>
          </a:p>
        </p:txBody>
      </p:sp>
      <p:sp>
        <p:nvSpPr>
          <p:cNvPr id="3" name="Footer Placeholder 2"/>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48</a:t>
            </a:fld>
            <a:endParaRPr lang="en-US"/>
          </a:p>
        </p:txBody>
      </p:sp>
    </p:spTree>
    <p:extLst>
      <p:ext uri="{BB962C8B-B14F-4D97-AF65-F5344CB8AC3E}">
        <p14:creationId xmlns:p14="http://schemas.microsoft.com/office/powerpoint/2010/main" val="40609337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Brahmacharya (</a:t>
            </a:r>
            <a:r>
              <a:rPr lang="en-US" dirty="0" err="1"/>
              <a:t>ब्रह्मचर्य</a:t>
            </a:r>
            <a:r>
              <a:rPr lang="en-US" dirty="0"/>
              <a:t>) is a concept within Indian religions that literally means "conduct consistent with Brahma". In simple terms on the path of Brahma. </a:t>
            </a:r>
          </a:p>
          <a:p>
            <a:r>
              <a:rPr lang="en-US" dirty="0"/>
              <a:t> Brahmacharya is when a person controls his </a:t>
            </a:r>
            <a:r>
              <a:rPr lang="en-US" dirty="0" err="1"/>
              <a:t>chitta</a:t>
            </a:r>
            <a:r>
              <a:rPr lang="en-US" dirty="0"/>
              <a:t>, abstaining through word, thought, and deed from physical or sensual pleasures to achieve </a:t>
            </a:r>
            <a:r>
              <a:rPr lang="en-US" dirty="0" err="1"/>
              <a:t>Brahmagyan</a:t>
            </a:r>
            <a:r>
              <a:rPr lang="en-US" dirty="0"/>
              <a:t>. </a:t>
            </a:r>
          </a:p>
          <a:p>
            <a:r>
              <a:rPr lang="en-US" dirty="0"/>
              <a:t> Brahmacharya is the first of four </a:t>
            </a:r>
            <a:r>
              <a:rPr lang="en-US" dirty="0" err="1"/>
              <a:t>Ashrama</a:t>
            </a:r>
            <a:r>
              <a:rPr lang="en-US" dirty="0"/>
              <a:t> (age-based stages) of a human life.</a:t>
            </a:r>
          </a:p>
          <a:p>
            <a:r>
              <a:rPr lang="en-US" dirty="0" err="1"/>
              <a:t>Brahamacharya</a:t>
            </a:r>
            <a:r>
              <a:rPr lang="en-US" dirty="0"/>
              <a:t> </a:t>
            </a:r>
            <a:r>
              <a:rPr lang="en-US" dirty="0" err="1"/>
              <a:t>asrama</a:t>
            </a:r>
            <a:r>
              <a:rPr lang="en-US" dirty="0"/>
              <a:t> occupied the first 20–25 years of life roughly corresponding to adolescence. </a:t>
            </a:r>
          </a:p>
          <a:p>
            <a:r>
              <a:rPr lang="en-US" dirty="0"/>
              <a:t>Upon the child's </a:t>
            </a:r>
            <a:r>
              <a:rPr lang="en-US" dirty="0" err="1"/>
              <a:t>Upanayana</a:t>
            </a:r>
            <a:r>
              <a:rPr lang="en-US" dirty="0"/>
              <a:t> the young person would begin a life of study in the </a:t>
            </a:r>
            <a:r>
              <a:rPr lang="en-US" dirty="0" err="1"/>
              <a:t>Gurukula</a:t>
            </a:r>
            <a:r>
              <a:rPr lang="en-US" dirty="0"/>
              <a:t> (the household of the Guru) dedicated to learning all aspects of dharma that is the "principles of righteous living"</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Brahmacharya</a:t>
            </a:r>
            <a:r>
              <a:rPr lang="en-US" sz="2800" dirty="0"/>
              <a:t> (</a:t>
            </a:r>
            <a:r>
              <a:rPr lang="en-US" sz="2800" dirty="0" err="1" smtClean="0"/>
              <a:t>ब्रह्मचर्य</a:t>
            </a:r>
            <a:r>
              <a:rPr lang="en-US" sz="2800" dirty="0" smtClean="0"/>
              <a:t>)</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154BAF55-FDA5-46AE-B18B-DBF09A1F79E7}"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49</a:t>
            </a:fld>
            <a:endParaRPr lang="en-US"/>
          </a:p>
        </p:txBody>
      </p:sp>
    </p:spTree>
    <p:extLst>
      <p:ext uri="{BB962C8B-B14F-4D97-AF65-F5344CB8AC3E}">
        <p14:creationId xmlns:p14="http://schemas.microsoft.com/office/powerpoint/2010/main" val="13492512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Dharma comprised personal responsibilities towards himself, family, society, humanity and God which included the environment, earth and nature. This educational period started when the child was five to eight years old and lasted until the age of 14 to 25 years</a:t>
            </a:r>
          </a:p>
          <a:p>
            <a:r>
              <a:rPr lang="en-US" dirty="0" err="1"/>
              <a:t>Naradaparivrajaka</a:t>
            </a:r>
            <a:r>
              <a:rPr lang="en-US" dirty="0"/>
              <a:t> Upanishad suggests that </a:t>
            </a:r>
            <a:r>
              <a:rPr lang="en-US" dirty="0" err="1"/>
              <a:t>Brahmacharya</a:t>
            </a:r>
            <a:r>
              <a:rPr lang="en-US" dirty="0"/>
              <a:t> (student) stage of life should extend from the age a child is ready to receive teachings from a guru, and continue for a period of twelve years. </a:t>
            </a:r>
          </a:p>
          <a:p>
            <a:r>
              <a:rPr lang="en-US" dirty="0"/>
              <a:t> The </a:t>
            </a:r>
            <a:r>
              <a:rPr lang="en-US" dirty="0" err="1"/>
              <a:t>Brahmacharya</a:t>
            </a:r>
            <a:r>
              <a:rPr lang="en-US" dirty="0"/>
              <a:t> begin with </a:t>
            </a:r>
            <a:r>
              <a:rPr lang="en-US" dirty="0" err="1"/>
              <a:t>Upanayana</a:t>
            </a:r>
            <a:r>
              <a:rPr lang="en-US" dirty="0"/>
              <a:t> and ends with </a:t>
            </a:r>
            <a:r>
              <a:rPr lang="en-US" dirty="0" err="1"/>
              <a:t>Samavartanam</a:t>
            </a:r>
            <a:r>
              <a:rPr lang="en-US" dirty="0"/>
              <a:t> ceremony. </a:t>
            </a:r>
          </a:p>
          <a:p>
            <a:r>
              <a:rPr lang="en-US" dirty="0"/>
              <a:t>The graduate was then ready to either start </a:t>
            </a:r>
            <a:r>
              <a:rPr lang="en-US" dirty="0" err="1"/>
              <a:t>Grihastha</a:t>
            </a:r>
            <a:r>
              <a:rPr lang="en-US" dirty="0"/>
              <a:t> (householder) stage of life, or wait, or pursue a life of </a:t>
            </a:r>
            <a:r>
              <a:rPr lang="en-US" dirty="0" err="1"/>
              <a:t>Sannyasa</a:t>
            </a:r>
            <a:r>
              <a:rPr lang="en-US" dirty="0"/>
              <a:t> and solitude like Rishis in forest.</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Brahmacharya</a:t>
            </a:r>
            <a:r>
              <a:rPr lang="en-US" sz="2800" dirty="0"/>
              <a:t> (</a:t>
            </a:r>
            <a:r>
              <a:rPr lang="en-US" sz="2800" dirty="0" err="1" smtClean="0"/>
              <a:t>ब्रह्मचर्य</a:t>
            </a:r>
            <a:r>
              <a:rPr lang="en-US" sz="2800" dirty="0" smtClean="0"/>
              <a:t>)</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78081EC0-FE16-4901-8044-398AF1BCCB4C}"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50</a:t>
            </a:fld>
            <a:endParaRPr lang="en-US"/>
          </a:p>
        </p:txBody>
      </p:sp>
    </p:spTree>
    <p:extLst>
      <p:ext uri="{BB962C8B-B14F-4D97-AF65-F5344CB8AC3E}">
        <p14:creationId xmlns:p14="http://schemas.microsoft.com/office/powerpoint/2010/main" val="5709227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err="1"/>
              <a:t>Grihastha</a:t>
            </a:r>
            <a:r>
              <a:rPr lang="en-US" dirty="0"/>
              <a:t> literally means "being in and occupied with home, family" or "householder". </a:t>
            </a:r>
          </a:p>
          <a:p>
            <a:r>
              <a:rPr lang="en-US" dirty="0"/>
              <a:t> It refers to the second phase of an individual's life in a four </a:t>
            </a:r>
            <a:r>
              <a:rPr lang="en-US" dirty="0" smtClean="0"/>
              <a:t>age based </a:t>
            </a:r>
            <a:r>
              <a:rPr lang="en-US" dirty="0"/>
              <a:t>stages of the Hindu ashram system. </a:t>
            </a:r>
          </a:p>
          <a:p>
            <a:r>
              <a:rPr lang="en-US" dirty="0"/>
              <a:t> It follows </a:t>
            </a:r>
            <a:r>
              <a:rPr lang="en-US" dirty="0" err="1"/>
              <a:t>Brahmacharya</a:t>
            </a:r>
            <a:r>
              <a:rPr lang="en-US" dirty="0"/>
              <a:t> (bachelor student) life stage, and embodies a married life, with the duties of maintaining a home, raising a family, educating one's children, and leading a </a:t>
            </a:r>
            <a:r>
              <a:rPr lang="en-US" dirty="0" smtClean="0"/>
              <a:t>family </a:t>
            </a:r>
            <a:r>
              <a:rPr lang="en-US" dirty="0" err="1" smtClean="0"/>
              <a:t>centred</a:t>
            </a:r>
            <a:r>
              <a:rPr lang="en-US" dirty="0" smtClean="0"/>
              <a:t> </a:t>
            </a:r>
            <a:r>
              <a:rPr lang="en-US" dirty="0"/>
              <a:t>and a </a:t>
            </a:r>
            <a:r>
              <a:rPr lang="en-US" dirty="0" err="1"/>
              <a:t>dharmic</a:t>
            </a:r>
            <a:r>
              <a:rPr lang="en-US" dirty="0"/>
              <a:t> social life.</a:t>
            </a:r>
          </a:p>
        </p:txBody>
      </p:sp>
      <p:sp>
        <p:nvSpPr>
          <p:cNvPr id="6"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Grihastha</a:t>
            </a:r>
            <a:r>
              <a:rPr lang="en-US" sz="2800" dirty="0"/>
              <a:t> (</a:t>
            </a:r>
            <a:r>
              <a:rPr lang="en-US" sz="2800" dirty="0" smtClean="0"/>
              <a:t>householder)</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588CBCC8-2433-428A-9C88-12764DA4AE6C}" type="datetime1">
              <a:rPr lang="en-US" smtClean="0"/>
              <a:t>3/9/2022</a:t>
            </a:fld>
            <a:endParaRPr lang="en-US"/>
          </a:p>
        </p:txBody>
      </p:sp>
      <p:sp>
        <p:nvSpPr>
          <p:cNvPr id="4" name="Footer Placeholder 3"/>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5" name="Slide Number Placeholder 4"/>
          <p:cNvSpPr>
            <a:spLocks noGrp="1"/>
          </p:cNvSpPr>
          <p:nvPr>
            <p:ph type="sldNum" sz="quarter" idx="12"/>
          </p:nvPr>
        </p:nvSpPr>
        <p:spPr/>
        <p:txBody>
          <a:bodyPr/>
          <a:lstStyle/>
          <a:p>
            <a:fld id="{DBDACD18-336C-42D7-ADE1-1F851DD7A482}" type="slidenum">
              <a:rPr lang="en-US" smtClean="0"/>
              <a:t>51</a:t>
            </a:fld>
            <a:endParaRPr lang="en-US"/>
          </a:p>
        </p:txBody>
      </p:sp>
    </p:spTree>
    <p:extLst>
      <p:ext uri="{BB962C8B-B14F-4D97-AF65-F5344CB8AC3E}">
        <p14:creationId xmlns:p14="http://schemas.microsoft.com/office/powerpoint/2010/main" val="26790712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This stage of </a:t>
            </a:r>
            <a:r>
              <a:rPr lang="en-US" dirty="0" err="1"/>
              <a:t>Ashrama</a:t>
            </a:r>
            <a:r>
              <a:rPr lang="en-US" dirty="0"/>
              <a:t> is conceptually followed by </a:t>
            </a:r>
            <a:r>
              <a:rPr lang="en-US" dirty="0" err="1"/>
              <a:t>Vanaprastha</a:t>
            </a:r>
            <a:r>
              <a:rPr lang="en-US" dirty="0"/>
              <a:t> (forest dweller, retired) and </a:t>
            </a:r>
            <a:r>
              <a:rPr lang="en-US" dirty="0" err="1"/>
              <a:t>Sannyasa</a:t>
            </a:r>
            <a:r>
              <a:rPr lang="en-US" dirty="0"/>
              <a:t> (renunciation). </a:t>
            </a:r>
          </a:p>
          <a:p>
            <a:r>
              <a:rPr lang="en-US" dirty="0"/>
              <a:t> This stage of life was essential to completing the full development of a human being and fulfilling all the needs of the individual and society. </a:t>
            </a:r>
          </a:p>
          <a:p>
            <a:r>
              <a:rPr lang="en-US" dirty="0"/>
              <a:t>Ancient and medieval era texts of Hinduism consider </a:t>
            </a:r>
            <a:r>
              <a:rPr lang="en-US" dirty="0" err="1"/>
              <a:t>Grihastha</a:t>
            </a:r>
            <a:r>
              <a:rPr lang="en-US" dirty="0"/>
              <a:t> stage as the most important of all stages in sociological context, as human beings in this stage not only pursue a virtuous life, they produce food and wealth that sustains people in other stages of life, as well as the </a:t>
            </a:r>
            <a:r>
              <a:rPr lang="en-US" dirty="0" err="1"/>
              <a:t>offsprings</a:t>
            </a:r>
            <a:r>
              <a:rPr lang="en-US" dirty="0"/>
              <a:t> that continues mankind.</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Grihastha</a:t>
            </a:r>
            <a:r>
              <a:rPr lang="en-US" sz="2800" dirty="0"/>
              <a:t> (</a:t>
            </a:r>
            <a:r>
              <a:rPr lang="en-US" sz="2800" dirty="0" smtClean="0"/>
              <a:t>householder)</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4B81558E-466E-4FEF-B13C-1A61EAFCC1FA}"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52</a:t>
            </a:fld>
            <a:endParaRPr lang="en-US"/>
          </a:p>
        </p:txBody>
      </p:sp>
    </p:spTree>
    <p:extLst>
      <p:ext uri="{BB962C8B-B14F-4D97-AF65-F5344CB8AC3E}">
        <p14:creationId xmlns:p14="http://schemas.microsoft.com/office/powerpoint/2010/main" val="14783169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The householder stage is also considered in Indian philosophy as one where the most intense physical, sexual, emotional, occupational, social and material attachments exist in a human being's life. </a:t>
            </a:r>
          </a:p>
          <a:p>
            <a:r>
              <a:rPr lang="en-US" dirty="0"/>
              <a:t>In Indian traditions, </a:t>
            </a:r>
            <a:r>
              <a:rPr lang="en-US" dirty="0" err="1"/>
              <a:t>Grihastha</a:t>
            </a:r>
            <a:r>
              <a:rPr lang="en-US" dirty="0"/>
              <a:t> stage of life is a recommendation, but not a requirement. </a:t>
            </a:r>
          </a:p>
          <a:p>
            <a:r>
              <a:rPr lang="en-US" dirty="0"/>
              <a:t> Any </a:t>
            </a:r>
            <a:r>
              <a:rPr lang="en-US" dirty="0" err="1"/>
              <a:t>Brahmacharya</a:t>
            </a:r>
            <a:r>
              <a:rPr lang="en-US" dirty="0"/>
              <a:t> may, if he or she wants, skip householder and retirement stage, go straight to </a:t>
            </a:r>
            <a:r>
              <a:rPr lang="en-US" dirty="0" err="1"/>
              <a:t>Sannyasa</a:t>
            </a:r>
            <a:r>
              <a:rPr lang="en-US" dirty="0"/>
              <a:t> stage of life, thereby renouncing worldly and materialistic pursuits and dedicating their lives to spiritual pursuits.</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Grihastha</a:t>
            </a:r>
            <a:r>
              <a:rPr lang="en-US" sz="2800" dirty="0"/>
              <a:t> (</a:t>
            </a:r>
            <a:r>
              <a:rPr lang="en-US" sz="2800" dirty="0" smtClean="0"/>
              <a:t>householder)</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792BC9A4-4237-4786-AB4F-F4B2387CBE1B}"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53</a:t>
            </a:fld>
            <a:endParaRPr lang="en-US"/>
          </a:p>
        </p:txBody>
      </p:sp>
    </p:spTree>
    <p:extLst>
      <p:ext uri="{BB962C8B-B14F-4D97-AF65-F5344CB8AC3E}">
        <p14:creationId xmlns:p14="http://schemas.microsoft.com/office/powerpoint/2010/main" val="23209803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The stage "Grihastha" is preceded by Brahmacharya (student) stage of life, and followed by Vanaprastha (retirement, forest dweller, still an advisor to the next generation) stage. </a:t>
            </a:r>
          </a:p>
          <a:p>
            <a:r>
              <a:rPr lang="en-US" dirty="0"/>
              <a:t> In ancient texts, </a:t>
            </a:r>
            <a:r>
              <a:rPr lang="en-US" dirty="0" err="1"/>
              <a:t>Grihastha</a:t>
            </a:r>
            <a:r>
              <a:rPr lang="en-US" dirty="0"/>
              <a:t> stage of life is said to extend from the age of about 25 to about 50. </a:t>
            </a:r>
          </a:p>
          <a:p>
            <a:r>
              <a:rPr lang="en-US" dirty="0"/>
              <a:t> A man or woman entered the </a:t>
            </a:r>
            <a:r>
              <a:rPr lang="en-US" dirty="0" err="1"/>
              <a:t>Grihastha</a:t>
            </a:r>
            <a:r>
              <a:rPr lang="en-US" dirty="0"/>
              <a:t> stage after a Hindu wedding. </a:t>
            </a:r>
          </a:p>
          <a:p>
            <a:r>
              <a:rPr lang="en-US" dirty="0"/>
              <a:t>They would build a home, raise a family, earn wealth, enjoy worldly life and participate in the society through virtues such as charity.</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Grihastha</a:t>
            </a:r>
            <a:r>
              <a:rPr lang="en-US" sz="2800" dirty="0"/>
              <a:t> (</a:t>
            </a:r>
            <a:r>
              <a:rPr lang="en-US" sz="2800" dirty="0" smtClean="0"/>
              <a:t>householder)</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7848960A-C5AC-44BE-AD39-0C8E6526A6A6}"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54</a:t>
            </a:fld>
            <a:endParaRPr lang="en-US"/>
          </a:p>
        </p:txBody>
      </p:sp>
    </p:spTree>
    <p:extLst>
      <p:ext uri="{BB962C8B-B14F-4D97-AF65-F5344CB8AC3E}">
        <p14:creationId xmlns:p14="http://schemas.microsoft.com/office/powerpoint/2010/main" val="7795307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just"/>
            <a:r>
              <a:rPr lang="en-US" dirty="0" err="1"/>
              <a:t>Vanaprastha</a:t>
            </a:r>
            <a:r>
              <a:rPr lang="en-US" dirty="0"/>
              <a:t> literally means "giving up worldly life</a:t>
            </a:r>
            <a:r>
              <a:rPr lang="en-US" dirty="0" smtClean="0"/>
              <a:t>". </a:t>
            </a:r>
            <a:r>
              <a:rPr lang="en-US" dirty="0"/>
              <a:t>It is also a concept in Hindu traditions, representing the third of four </a:t>
            </a:r>
            <a:r>
              <a:rPr lang="en-US" dirty="0" err="1"/>
              <a:t>ashrama</a:t>
            </a:r>
            <a:r>
              <a:rPr lang="en-US" dirty="0"/>
              <a:t> (stages) of human life. </a:t>
            </a:r>
          </a:p>
          <a:p>
            <a:pPr algn="just"/>
            <a:r>
              <a:rPr lang="en-US" dirty="0"/>
              <a:t> </a:t>
            </a:r>
            <a:r>
              <a:rPr lang="en-US" dirty="0" err="1"/>
              <a:t>Vanaprastha</a:t>
            </a:r>
            <a:r>
              <a:rPr lang="en-US" dirty="0"/>
              <a:t> is part of the Vedic ashram system. </a:t>
            </a:r>
          </a:p>
          <a:p>
            <a:pPr algn="just"/>
            <a:r>
              <a:rPr lang="en-US" dirty="0"/>
              <a:t> It starts when a person hands over household responsibilities to the next generation, takes an advisory role, and gradually withdraws from the world.</a:t>
            </a:r>
          </a:p>
          <a:p>
            <a:pPr algn="just"/>
            <a:r>
              <a:rPr lang="en-US" dirty="0"/>
              <a:t>This stage typically follows </a:t>
            </a:r>
            <a:r>
              <a:rPr lang="en-US" dirty="0" err="1"/>
              <a:t>Grihastha</a:t>
            </a:r>
            <a:r>
              <a:rPr lang="en-US" dirty="0"/>
              <a:t> (householder), but a man or woman may choose to skip householder stage, and enter </a:t>
            </a:r>
            <a:r>
              <a:rPr lang="en-US" dirty="0" err="1"/>
              <a:t>Vanaprastha</a:t>
            </a:r>
            <a:r>
              <a:rPr lang="en-US" dirty="0"/>
              <a:t> directly after </a:t>
            </a:r>
            <a:r>
              <a:rPr lang="en-US" dirty="0" err="1"/>
              <a:t>Brahmacharya</a:t>
            </a:r>
            <a:r>
              <a:rPr lang="en-US" dirty="0"/>
              <a:t> (student) stage, as a prelude to San </a:t>
            </a:r>
            <a:r>
              <a:rPr lang="en-US" dirty="0" err="1"/>
              <a:t>yasa</a:t>
            </a:r>
            <a:r>
              <a:rPr lang="en-US" dirty="0"/>
              <a:t> (ascetic) and spiritual pursuits.</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Vanaprastha</a:t>
            </a:r>
            <a:r>
              <a:rPr lang="en-US" sz="2800" dirty="0"/>
              <a:t> (retired)</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8E68093D-F59F-4081-A114-0A8BA7D9963E}"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55</a:t>
            </a:fld>
            <a:endParaRPr lang="en-US"/>
          </a:p>
        </p:txBody>
      </p:sp>
    </p:spTree>
    <p:extLst>
      <p:ext uri="{BB962C8B-B14F-4D97-AF65-F5344CB8AC3E}">
        <p14:creationId xmlns:p14="http://schemas.microsoft.com/office/powerpoint/2010/main" val="7693245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err="1"/>
              <a:t>Vanaprastha</a:t>
            </a:r>
            <a:r>
              <a:rPr lang="en-US" dirty="0"/>
              <a:t> stage is considered as a transition phase from a householder's life with greater emphasis on </a:t>
            </a:r>
            <a:r>
              <a:rPr lang="en-US" dirty="0" err="1"/>
              <a:t>Artha</a:t>
            </a:r>
            <a:r>
              <a:rPr lang="en-US" dirty="0"/>
              <a:t> and Kama (wealth, security, pleasure and sexual pursuits) to one with greater emphasis on Moksha (spiritual liberation). </a:t>
            </a:r>
          </a:p>
          <a:p>
            <a:r>
              <a:rPr lang="en-US" dirty="0"/>
              <a:t>The term </a:t>
            </a:r>
            <a:r>
              <a:rPr lang="en-US" dirty="0" err="1"/>
              <a:t>Vanaprastha</a:t>
            </a:r>
            <a:r>
              <a:rPr lang="en-US" dirty="0"/>
              <a:t> is a composite word with the roots </a:t>
            </a:r>
            <a:r>
              <a:rPr lang="en-US" dirty="0" err="1"/>
              <a:t>vana</a:t>
            </a:r>
            <a:r>
              <a:rPr lang="en-US" dirty="0"/>
              <a:t> meaning "forest, distant land", and </a:t>
            </a:r>
            <a:r>
              <a:rPr lang="en-US" dirty="0" err="1"/>
              <a:t>prastha</a:t>
            </a:r>
            <a:r>
              <a:rPr lang="en-US" dirty="0"/>
              <a:t> (</a:t>
            </a:r>
            <a:r>
              <a:rPr lang="en-US" dirty="0" err="1"/>
              <a:t>प्रस्थ</a:t>
            </a:r>
            <a:r>
              <a:rPr lang="en-US" dirty="0"/>
              <a:t>) meaning "going to, abiding in, journey to". </a:t>
            </a:r>
          </a:p>
          <a:p>
            <a:r>
              <a:rPr lang="en-US" dirty="0"/>
              <a:t> The composite word literally means "retiring to forest".</a:t>
            </a:r>
          </a:p>
          <a:p>
            <a:r>
              <a:rPr lang="en-US" dirty="0" err="1"/>
              <a:t>Vanaprastha</a:t>
            </a:r>
            <a:r>
              <a:rPr lang="en-US" dirty="0"/>
              <a:t> represented the third stage and typically marked with birth of grandchildren, gradual transition of householder responsibilities to the next generation, increasingly hermit-like lifestyle, and greater emphasis on community services and spiritual pursuit.</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Vanaprastha</a:t>
            </a:r>
            <a:r>
              <a:rPr lang="en-US" sz="2800" dirty="0"/>
              <a:t> (retired)</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CEB2ED0B-8B62-41FB-9336-4CD7DC541FF0}"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56</a:t>
            </a:fld>
            <a:endParaRPr lang="en-US"/>
          </a:p>
        </p:txBody>
      </p:sp>
    </p:spTree>
    <p:extLst>
      <p:ext uri="{BB962C8B-B14F-4D97-AF65-F5344CB8AC3E}">
        <p14:creationId xmlns:p14="http://schemas.microsoft.com/office/powerpoint/2010/main" val="36399350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lgn="just"/>
            <a:r>
              <a:rPr lang="en-US" dirty="0"/>
              <a:t>The </a:t>
            </a:r>
            <a:r>
              <a:rPr lang="en-US" dirty="0" err="1"/>
              <a:t>Vanaprastha</a:t>
            </a:r>
            <a:r>
              <a:rPr lang="en-US" dirty="0"/>
              <a:t> stage ultimately transitioned into </a:t>
            </a:r>
            <a:r>
              <a:rPr lang="en-US" dirty="0" err="1"/>
              <a:t>Sannyasa</a:t>
            </a:r>
            <a:r>
              <a:rPr lang="en-US" dirty="0"/>
              <a:t>, a stage of complete renunciation and dedication to spiritual questions.</a:t>
            </a:r>
          </a:p>
          <a:p>
            <a:pPr algn="just"/>
            <a:r>
              <a:rPr lang="en-US" dirty="0"/>
              <a:t>According to Vedic ashram system </a:t>
            </a:r>
            <a:r>
              <a:rPr lang="en-US" dirty="0" err="1"/>
              <a:t>Vanaprastha</a:t>
            </a:r>
            <a:r>
              <a:rPr lang="en-US" dirty="0"/>
              <a:t> lasted between the ages of 51 and 75</a:t>
            </a:r>
          </a:p>
          <a:p>
            <a:pPr algn="just"/>
            <a:r>
              <a:rPr lang="en-US" dirty="0"/>
              <a:t>Hindu traditions respected freedom and personal choice. </a:t>
            </a:r>
          </a:p>
          <a:p>
            <a:pPr algn="just"/>
            <a:r>
              <a:rPr lang="en-US" dirty="0"/>
              <a:t> While </a:t>
            </a:r>
            <a:r>
              <a:rPr lang="en-US" dirty="0" err="1"/>
              <a:t>Grihastha</a:t>
            </a:r>
            <a:r>
              <a:rPr lang="en-US" dirty="0"/>
              <a:t> and </a:t>
            </a:r>
            <a:r>
              <a:rPr lang="en-US" dirty="0" err="1"/>
              <a:t>Vanaprastha</a:t>
            </a:r>
            <a:r>
              <a:rPr lang="en-US" dirty="0"/>
              <a:t> stages of life were recommended, they were not a requirement. </a:t>
            </a:r>
          </a:p>
          <a:p>
            <a:pPr algn="just"/>
            <a:r>
              <a:rPr lang="en-US" dirty="0"/>
              <a:t> Any </a:t>
            </a:r>
            <a:r>
              <a:rPr lang="en-US" dirty="0" err="1"/>
              <a:t>Brahmacharya</a:t>
            </a:r>
            <a:r>
              <a:rPr lang="en-US" dirty="0"/>
              <a:t> may, if he or she wants, skip householder and retirement stage, go straight to </a:t>
            </a:r>
            <a:r>
              <a:rPr lang="en-US" dirty="0" err="1"/>
              <a:t>Sannyasa</a:t>
            </a:r>
            <a:r>
              <a:rPr lang="en-US" dirty="0"/>
              <a:t> stage of life, thereby renouncing worldly and materialistic pursuits and dedicating their lives to spiritual pursuits</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Vanaprastha</a:t>
            </a:r>
            <a:r>
              <a:rPr lang="en-US" sz="2800" dirty="0"/>
              <a:t> (retired)</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7FE81BF9-515A-42E2-9235-B14D8CEFAFBC}"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57</a:t>
            </a:fld>
            <a:endParaRPr lang="en-US"/>
          </a:p>
        </p:txBody>
      </p:sp>
    </p:spTree>
    <p:extLst>
      <p:ext uri="{BB962C8B-B14F-4D97-AF65-F5344CB8AC3E}">
        <p14:creationId xmlns:p14="http://schemas.microsoft.com/office/powerpoint/2010/main" val="13596836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err="1"/>
              <a:t>Markandeya</a:t>
            </a:r>
            <a:r>
              <a:rPr lang="en-US" dirty="0"/>
              <a:t> </a:t>
            </a:r>
            <a:r>
              <a:rPr lang="en-US" dirty="0" err="1"/>
              <a:t>Purana</a:t>
            </a:r>
            <a:r>
              <a:rPr lang="en-US" dirty="0"/>
              <a:t> suggests that a householder, after he has taken care of his progeny, his parents, his traditions and cleansed his mind is ready to enter the third stage of life, or </a:t>
            </a:r>
            <a:r>
              <a:rPr lang="en-US" dirty="0" err="1"/>
              <a:t>Vanaprastha</a:t>
            </a:r>
            <a:r>
              <a:rPr lang="en-US" dirty="0"/>
              <a:t>. </a:t>
            </a:r>
          </a:p>
          <a:p>
            <a:r>
              <a:rPr lang="en-US" dirty="0"/>
              <a:t> He must lead a frugal life during this stage, sleeping on floor, eating only fruits and bulbs. </a:t>
            </a:r>
          </a:p>
          <a:p>
            <a:r>
              <a:rPr lang="en-US" dirty="0"/>
              <a:t> The more he gives up the worldly delights, the closer he gets to the knowledge of his spirit, and more ready he is for the last stage - the </a:t>
            </a:r>
            <a:r>
              <a:rPr lang="en-US" dirty="0" err="1"/>
              <a:t>Sanyas</a:t>
            </a:r>
            <a:r>
              <a:rPr lang="en-US" dirty="0"/>
              <a:t> Ashram, where he renounces everything and focuses entirely on spiritual pursuits.</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Vanaprastha</a:t>
            </a:r>
            <a:r>
              <a:rPr lang="en-US" sz="2800" dirty="0"/>
              <a:t> (retired)</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49B05DAD-AB78-44BB-806B-7F3EBD15252C}"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58</a:t>
            </a:fld>
            <a:endParaRPr lang="en-US"/>
          </a:p>
        </p:txBody>
      </p:sp>
    </p:spTree>
    <p:extLst>
      <p:ext uri="{BB962C8B-B14F-4D97-AF65-F5344CB8AC3E}">
        <p14:creationId xmlns:p14="http://schemas.microsoft.com/office/powerpoint/2010/main" val="7892531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5308" y="965917"/>
            <a:ext cx="10977093" cy="5160251"/>
          </a:xfrm>
        </p:spPr>
        <p:txBody>
          <a:bodyPr>
            <a:normAutofit/>
          </a:bodyPr>
          <a:lstStyle/>
          <a:p>
            <a:pPr algn="just"/>
            <a:r>
              <a:rPr lang="en-US" sz="2400" dirty="0" err="1"/>
              <a:t>Sannyasa</a:t>
            </a:r>
            <a:r>
              <a:rPr lang="en-US" sz="2400" dirty="0"/>
              <a:t> is the life stage of renunciation within the Hindu philosophy of four age-based life stages known as </a:t>
            </a:r>
            <a:r>
              <a:rPr lang="en-US" sz="2400" dirty="0" err="1"/>
              <a:t>ashramas</a:t>
            </a:r>
            <a:r>
              <a:rPr lang="en-US" sz="2400" dirty="0"/>
              <a:t>. </a:t>
            </a:r>
          </a:p>
          <a:p>
            <a:pPr algn="just"/>
            <a:r>
              <a:rPr lang="en-US" sz="2400" dirty="0"/>
              <a:t> </a:t>
            </a:r>
            <a:r>
              <a:rPr lang="en-US" sz="2400" dirty="0" err="1"/>
              <a:t>Sannyasa</a:t>
            </a:r>
            <a:r>
              <a:rPr lang="en-US" sz="2400" dirty="0"/>
              <a:t> is traditionally conceptualized for men or women in late years of their life, but young </a:t>
            </a:r>
            <a:r>
              <a:rPr lang="en-US" sz="2400" dirty="0" err="1"/>
              <a:t>brahmacharis</a:t>
            </a:r>
            <a:r>
              <a:rPr lang="en-US" sz="2400" dirty="0"/>
              <a:t> have had the choice to skip the householder and retirement stages, renounce worldly and materialistic pursuits and dedicate their lives to spiritual pursuits.</a:t>
            </a:r>
          </a:p>
          <a:p>
            <a:pPr algn="just"/>
            <a:r>
              <a:rPr lang="en-US" sz="2400" dirty="0"/>
              <a:t>An individual in </a:t>
            </a:r>
            <a:r>
              <a:rPr lang="en-US" sz="2400" dirty="0" err="1"/>
              <a:t>Sanyasa</a:t>
            </a:r>
            <a:r>
              <a:rPr lang="en-US" sz="2400" dirty="0"/>
              <a:t> is known as a </a:t>
            </a:r>
            <a:r>
              <a:rPr lang="en-US" sz="2400" dirty="0" err="1"/>
              <a:t>Sannyasi</a:t>
            </a:r>
            <a:r>
              <a:rPr lang="en-US" sz="2400" dirty="0"/>
              <a:t> (male) or </a:t>
            </a:r>
            <a:r>
              <a:rPr lang="en-US" sz="2400" dirty="0" err="1"/>
              <a:t>Sannyasini</a:t>
            </a:r>
            <a:r>
              <a:rPr lang="en-US" sz="2400" dirty="0"/>
              <a:t> (female) in Hinduism</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Sannyasa</a:t>
            </a:r>
            <a:r>
              <a:rPr lang="en-US" sz="2800" dirty="0"/>
              <a:t> (</a:t>
            </a:r>
            <a:r>
              <a:rPr lang="en-US" sz="2800" dirty="0" err="1"/>
              <a:t>renunciate</a:t>
            </a:r>
            <a:r>
              <a:rPr lang="en-US" sz="2800" dirty="0"/>
              <a:t>)</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18202603-3FE6-423C-AA16-DBBB1B08E19A}"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59</a:t>
            </a:fld>
            <a:endParaRPr lang="en-US"/>
          </a:p>
        </p:txBody>
      </p:sp>
    </p:spTree>
    <p:extLst>
      <p:ext uri="{BB962C8B-B14F-4D97-AF65-F5344CB8AC3E}">
        <p14:creationId xmlns:p14="http://schemas.microsoft.com/office/powerpoint/2010/main" val="1412580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6669" y="1094705"/>
            <a:ext cx="11015731" cy="5031462"/>
          </a:xfrm>
        </p:spPr>
        <p:txBody>
          <a:bodyPr>
            <a:normAutofit fontScale="85000" lnSpcReduction="20000"/>
          </a:bodyPr>
          <a:lstStyle/>
          <a:p>
            <a:r>
              <a:rPr lang="en-US" dirty="0"/>
              <a:t>These are in many ways parallel to the Sadhu and </a:t>
            </a:r>
            <a:r>
              <a:rPr lang="en-US" dirty="0" err="1"/>
              <a:t>Sadhvi</a:t>
            </a:r>
            <a:r>
              <a:rPr lang="en-US" dirty="0"/>
              <a:t> traditions of Jain monasticism. </a:t>
            </a:r>
          </a:p>
          <a:p>
            <a:r>
              <a:rPr lang="en-US" dirty="0"/>
              <a:t> The </a:t>
            </a:r>
            <a:r>
              <a:rPr lang="en-US" dirty="0" err="1"/>
              <a:t>bhikkhus</a:t>
            </a:r>
            <a:r>
              <a:rPr lang="en-US" dirty="0"/>
              <a:t> and </a:t>
            </a:r>
            <a:r>
              <a:rPr lang="en-US" dirty="0" err="1"/>
              <a:t>bhikkhunis</a:t>
            </a:r>
            <a:r>
              <a:rPr lang="en-US" dirty="0"/>
              <a:t> of Buddhism. </a:t>
            </a:r>
          </a:p>
          <a:p>
            <a:r>
              <a:rPr lang="en-US" dirty="0"/>
              <a:t> </a:t>
            </a:r>
            <a:r>
              <a:rPr lang="en-US" dirty="0" err="1"/>
              <a:t>Sannyasa</a:t>
            </a:r>
            <a:r>
              <a:rPr lang="en-US" dirty="0"/>
              <a:t> has historically been a stage of renunciation, ahimsa (non-violence) peaceful and simple life and spiritual pursuit in Indian traditions. </a:t>
            </a:r>
          </a:p>
          <a:p>
            <a:r>
              <a:rPr lang="en-US" dirty="0" err="1"/>
              <a:t>Saṃnyāsa</a:t>
            </a:r>
            <a:r>
              <a:rPr lang="en-US" dirty="0"/>
              <a:t> in Sanskrit:  </a:t>
            </a:r>
            <a:r>
              <a:rPr lang="en-US" dirty="0" err="1"/>
              <a:t>nyasa</a:t>
            </a:r>
            <a:r>
              <a:rPr lang="en-US" dirty="0"/>
              <a:t> means purification, </a:t>
            </a:r>
            <a:r>
              <a:rPr lang="en-US" dirty="0" err="1"/>
              <a:t>sannyasa</a:t>
            </a:r>
            <a:r>
              <a:rPr lang="en-US" dirty="0"/>
              <a:t> means "Purification of Everything“ </a:t>
            </a:r>
          </a:p>
          <a:p>
            <a:r>
              <a:rPr lang="en-US" dirty="0"/>
              <a:t> The term </a:t>
            </a:r>
            <a:r>
              <a:rPr lang="en-US" dirty="0" err="1"/>
              <a:t>Saṃnyasa</a:t>
            </a:r>
            <a:r>
              <a:rPr lang="en-US" dirty="0"/>
              <a:t> makes appearance in the </a:t>
            </a:r>
            <a:r>
              <a:rPr lang="en-US" dirty="0" err="1"/>
              <a:t>Samhitas</a:t>
            </a:r>
            <a:r>
              <a:rPr lang="en-US" dirty="0"/>
              <a:t>, </a:t>
            </a:r>
            <a:r>
              <a:rPr lang="en-US" dirty="0" err="1"/>
              <a:t>Aranyakas</a:t>
            </a:r>
            <a:r>
              <a:rPr lang="en-US" dirty="0"/>
              <a:t> and </a:t>
            </a:r>
            <a:r>
              <a:rPr lang="en-US" dirty="0" err="1"/>
              <a:t>Brahmanas</a:t>
            </a:r>
            <a:r>
              <a:rPr lang="en-US" dirty="0"/>
              <a:t>, the earliest layers of Vedic literature.</a:t>
            </a:r>
          </a:p>
          <a:p>
            <a:r>
              <a:rPr lang="en-US" dirty="0"/>
              <a:t>Hinduism has no formal demands nor requirements on the lifestyle or spiritual discipline, method or deity a </a:t>
            </a:r>
            <a:r>
              <a:rPr lang="en-US" dirty="0" err="1"/>
              <a:t>Sanyasin</a:t>
            </a:r>
            <a:r>
              <a:rPr lang="en-US" dirty="0"/>
              <a:t> or </a:t>
            </a:r>
            <a:r>
              <a:rPr lang="en-US" dirty="0" err="1"/>
              <a:t>Sanyasini</a:t>
            </a:r>
            <a:r>
              <a:rPr lang="en-US" dirty="0"/>
              <a:t> must pursue – it is left to the choice and preferences of the individual. </a:t>
            </a:r>
          </a:p>
          <a:p>
            <a:r>
              <a:rPr lang="en-US" dirty="0"/>
              <a:t> The goal of the Hindu </a:t>
            </a:r>
            <a:r>
              <a:rPr lang="en-US" dirty="0" err="1"/>
              <a:t>Sannyasin</a:t>
            </a:r>
            <a:r>
              <a:rPr lang="en-US" dirty="0"/>
              <a:t> is moksha (liberation).</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Sannyasa</a:t>
            </a:r>
            <a:r>
              <a:rPr lang="en-US" sz="2800" dirty="0"/>
              <a:t> (</a:t>
            </a:r>
            <a:r>
              <a:rPr lang="en-US" sz="2800" dirty="0" err="1"/>
              <a:t>renunciate</a:t>
            </a:r>
            <a:r>
              <a:rPr lang="en-US" sz="2800" dirty="0"/>
              <a:t>)</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F0916F64-D819-47D3-B31C-58159D93B7C7}"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60</a:t>
            </a:fld>
            <a:endParaRPr lang="en-US"/>
          </a:p>
        </p:txBody>
      </p:sp>
    </p:spTree>
    <p:extLst>
      <p:ext uri="{BB962C8B-B14F-4D97-AF65-F5344CB8AC3E}">
        <p14:creationId xmlns:p14="http://schemas.microsoft.com/office/powerpoint/2010/main" val="9305733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2429" y="1068947"/>
            <a:ext cx="10989972" cy="5057220"/>
          </a:xfrm>
        </p:spPr>
        <p:txBody>
          <a:bodyPr>
            <a:normAutofit/>
          </a:bodyPr>
          <a:lstStyle/>
          <a:p>
            <a:pPr algn="just"/>
            <a:r>
              <a:rPr lang="en-US" sz="2400" dirty="0"/>
              <a:t>According to Gita permanent </a:t>
            </a:r>
            <a:r>
              <a:rPr lang="en-US" sz="2400" dirty="0" err="1"/>
              <a:t>Sannyasin</a:t>
            </a:r>
            <a:r>
              <a:rPr lang="en-US" sz="2400" dirty="0"/>
              <a:t> who does not hate, does not desire, is without dualities (opposites). Truly, </a:t>
            </a:r>
            <a:r>
              <a:rPr lang="en-US" sz="2400" dirty="0" err="1"/>
              <a:t>Mahabaho</a:t>
            </a:r>
            <a:r>
              <a:rPr lang="en-US" sz="2400" dirty="0"/>
              <a:t> (</a:t>
            </a:r>
            <a:r>
              <a:rPr lang="en-US" sz="2400" dirty="0" err="1"/>
              <a:t>Arjuna</a:t>
            </a:r>
            <a:r>
              <a:rPr lang="en-US" sz="2400" dirty="0"/>
              <a:t>), he is liberated from bondage. </a:t>
            </a:r>
          </a:p>
          <a:p>
            <a:pPr algn="just"/>
            <a:r>
              <a:rPr lang="en-US" sz="2400" dirty="0"/>
              <a:t> Other behavioral characteristics, in addition to renunciation, during </a:t>
            </a:r>
            <a:r>
              <a:rPr lang="en-US" sz="2400" dirty="0" err="1"/>
              <a:t>Sannyasa</a:t>
            </a:r>
            <a:r>
              <a:rPr lang="en-US" sz="2400" dirty="0"/>
              <a:t> include: ahimsa (non-violence), </a:t>
            </a:r>
            <a:r>
              <a:rPr lang="en-US" sz="2400" dirty="0" err="1"/>
              <a:t>akrodha</a:t>
            </a:r>
            <a:r>
              <a:rPr lang="en-US" sz="2400" dirty="0"/>
              <a:t> (not become angry even if you are abused by others), disarmament (no weapons), chastity, bachelorhood (no marriage), </a:t>
            </a:r>
            <a:r>
              <a:rPr lang="en-US" sz="2400" dirty="0" err="1"/>
              <a:t>avyati</a:t>
            </a:r>
            <a:r>
              <a:rPr lang="en-US" sz="2400" dirty="0"/>
              <a:t> (</a:t>
            </a:r>
            <a:r>
              <a:rPr lang="en-US" sz="2400" dirty="0" err="1"/>
              <a:t>nondesirous</a:t>
            </a:r>
            <a:r>
              <a:rPr lang="en-US" sz="2400" dirty="0"/>
              <a:t>), </a:t>
            </a:r>
            <a:r>
              <a:rPr lang="en-US" sz="2400" dirty="0" err="1"/>
              <a:t>amati</a:t>
            </a:r>
            <a:r>
              <a:rPr lang="en-US" sz="2400" dirty="0"/>
              <a:t> (poverty), self-restraint, truthfulness, </a:t>
            </a:r>
            <a:r>
              <a:rPr lang="en-US" sz="2400" dirty="0" err="1"/>
              <a:t>sarvabhutahita</a:t>
            </a:r>
            <a:r>
              <a:rPr lang="en-US" sz="2400" dirty="0"/>
              <a:t> (kindness to all creatures), </a:t>
            </a:r>
            <a:r>
              <a:rPr lang="en-US" sz="2400" dirty="0" err="1"/>
              <a:t>asteya</a:t>
            </a:r>
            <a:r>
              <a:rPr lang="en-US" sz="2400" dirty="0"/>
              <a:t> (non-stealing), </a:t>
            </a:r>
            <a:r>
              <a:rPr lang="en-US" sz="2400" dirty="0" err="1"/>
              <a:t>aparigraha</a:t>
            </a:r>
            <a:r>
              <a:rPr lang="en-US" sz="2400" dirty="0"/>
              <a:t> (non-acceptance of gifts, non-possessiveness) and </a:t>
            </a:r>
            <a:r>
              <a:rPr lang="en-US" sz="2400" dirty="0" err="1"/>
              <a:t>shaucha</a:t>
            </a:r>
            <a:r>
              <a:rPr lang="en-US" sz="2400" dirty="0"/>
              <a:t> (purity of body speech and mind).</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err="1"/>
              <a:t>Sannyasa</a:t>
            </a:r>
            <a:r>
              <a:rPr lang="en-US" sz="2800" dirty="0"/>
              <a:t> (</a:t>
            </a:r>
            <a:r>
              <a:rPr lang="en-US" sz="2800" dirty="0" err="1"/>
              <a:t>renunciate</a:t>
            </a:r>
            <a:r>
              <a:rPr lang="en-US" sz="2800" dirty="0"/>
              <a:t>)</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F450EFCC-36F5-4B55-B0F4-96103C4F3893}"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61</a:t>
            </a:fld>
            <a:endParaRPr lang="en-US"/>
          </a:p>
        </p:txBody>
      </p:sp>
    </p:spTree>
    <p:extLst>
      <p:ext uri="{BB962C8B-B14F-4D97-AF65-F5344CB8AC3E}">
        <p14:creationId xmlns:p14="http://schemas.microsoft.com/office/powerpoint/2010/main" val="10422916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Daily Quiz</a:t>
            </a: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E990B288-A1FF-40BE-BACA-6502DDB616E2}"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62</a:t>
            </a:fld>
            <a:endParaRPr lang="en-US"/>
          </a:p>
        </p:txBody>
      </p:sp>
      <p:sp>
        <p:nvSpPr>
          <p:cNvPr id="9" name="Content Placeholder 8">
            <a:extLst>
              <a:ext uri="{FF2B5EF4-FFF2-40B4-BE49-F238E27FC236}">
                <a16:creationId xmlns="" xmlns:a16="http://schemas.microsoft.com/office/drawing/2014/main" id="{C31DEE3E-9168-4FA0-A545-41EFC8DAD7A5}"/>
              </a:ext>
            </a:extLst>
          </p:cNvPr>
          <p:cNvSpPr>
            <a:spLocks noGrp="1"/>
          </p:cNvSpPr>
          <p:nvPr>
            <p:ph idx="1"/>
          </p:nvPr>
        </p:nvSpPr>
        <p:spPr/>
        <p:txBody>
          <a:bodyPr/>
          <a:lstStyle/>
          <a:p>
            <a:r>
              <a:rPr lang="en-US" dirty="0"/>
              <a:t>______</a:t>
            </a:r>
            <a:r>
              <a:rPr lang="en-US" sz="3200" dirty="0"/>
              <a:t> is the life stage of renunciation within the Hindu philosophy of four age-based life stages known as ashramas. </a:t>
            </a:r>
          </a:p>
          <a:p>
            <a:r>
              <a:rPr lang="en-US" dirty="0"/>
              <a:t>______ literally means "giving up worldly life".</a:t>
            </a:r>
          </a:p>
          <a:p>
            <a:r>
              <a:rPr lang="en-US" dirty="0"/>
              <a:t> ______refers to the second phase of an individual's life in a four </a:t>
            </a:r>
            <a:r>
              <a:rPr lang="en-US" dirty="0" err="1"/>
              <a:t>agebased</a:t>
            </a:r>
            <a:r>
              <a:rPr lang="en-US" dirty="0"/>
              <a:t> stages of the Hindu ashram system. </a:t>
            </a:r>
          </a:p>
          <a:p>
            <a:r>
              <a:rPr lang="en-US" sz="3200" i="1" dirty="0"/>
              <a:t>Varnashrama Dharma is a Sanskrit name given to the _______ structure of the Indian society</a:t>
            </a:r>
          </a:p>
          <a:p>
            <a:endParaRPr lang="en-US" dirty="0"/>
          </a:p>
          <a:p>
            <a:endParaRPr lang="en-IN" dirty="0"/>
          </a:p>
        </p:txBody>
      </p:sp>
    </p:spTree>
    <p:extLst>
      <p:ext uri="{BB962C8B-B14F-4D97-AF65-F5344CB8AC3E}">
        <p14:creationId xmlns:p14="http://schemas.microsoft.com/office/powerpoint/2010/main" val="38326490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5200" y="1168401"/>
            <a:ext cx="10617200" cy="4957766"/>
          </a:xfrm>
        </p:spPr>
        <p:txBody>
          <a:bodyPr/>
          <a:lstStyle/>
          <a:p>
            <a:r>
              <a:rPr lang="en-US" dirty="0"/>
              <a:t>Gender has been a central ‘issue’ in India since the colonial period.</a:t>
            </a:r>
          </a:p>
          <a:p>
            <a:r>
              <a:rPr lang="en-US" dirty="0"/>
              <a:t>The recognition of gender as an issue forms the basis for India’s women’s movement. </a:t>
            </a:r>
          </a:p>
          <a:p>
            <a:r>
              <a:rPr lang="en-US" dirty="0"/>
              <a:t> One important gender concern was a status that is, the rewards and benefits to women on India’ s journey to self-determination, statehood, democracy, progress, modernity, and development</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a:t>Understanding Gender as a social category</a:t>
            </a: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B611FA40-8A3D-4573-B250-144EC6FA43DF}"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63</a:t>
            </a:fld>
            <a:endParaRPr lang="en-US"/>
          </a:p>
        </p:txBody>
      </p:sp>
    </p:spTree>
    <p:extLst>
      <p:ext uri="{BB962C8B-B14F-4D97-AF65-F5344CB8AC3E}">
        <p14:creationId xmlns:p14="http://schemas.microsoft.com/office/powerpoint/2010/main" val="3378896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Women’ s issues radically entered in the fields of culture, religion, and law; of family and community structures; of the problems of an official responses to population, poverty, illiteracy, and labor and of the new social movements of </a:t>
            </a:r>
            <a:r>
              <a:rPr lang="en-US" dirty="0" err="1"/>
              <a:t>Dalits</a:t>
            </a:r>
            <a:r>
              <a:rPr lang="en-US" dirty="0"/>
              <a:t>, environmentalists, </a:t>
            </a:r>
            <a:r>
              <a:rPr lang="en-US" dirty="0" err="1"/>
              <a:t>tribal’s</a:t>
            </a:r>
            <a:r>
              <a:rPr lang="en-US" dirty="0"/>
              <a:t>, anti-dam activists, peasants, and trade unions. </a:t>
            </a:r>
          </a:p>
          <a:p>
            <a:r>
              <a:rPr lang="en-US" dirty="0"/>
              <a:t> In feminist writings and in discourses on Gender Studies, these concepts are basic to our understanding of social differences between men and women in the society. A study of these concepts is useful as analytical categories.</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The emergence of gender issues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CFD590E0-DD21-4AAE-8D4E-7E035893DDC7}"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64</a:t>
            </a:fld>
            <a:endParaRPr lang="en-US"/>
          </a:p>
        </p:txBody>
      </p:sp>
    </p:spTree>
    <p:extLst>
      <p:ext uri="{BB962C8B-B14F-4D97-AF65-F5344CB8AC3E}">
        <p14:creationId xmlns:p14="http://schemas.microsoft.com/office/powerpoint/2010/main" val="25495462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Gender is a analytical category that is socially constructed to differentiate the biological difference between men and women. </a:t>
            </a:r>
          </a:p>
          <a:p>
            <a:r>
              <a:rPr lang="en-US" dirty="0"/>
              <a:t> The term gender is also used to describe the differences in behavior between men and women, which are described as masculine and feminine.</a:t>
            </a:r>
          </a:p>
        </p:txBody>
      </p:sp>
      <p:sp>
        <p:nvSpPr>
          <p:cNvPr id="4" name="Title 1"/>
          <p:cNvSpPr txBox="1">
            <a:spLocks/>
          </p:cNvSpPr>
          <p:nvPr/>
        </p:nvSpPr>
        <p:spPr>
          <a:xfrm>
            <a:off x="18796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Gender</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3BF6CDE8-0C38-4A4B-9B45-4ADA016D0AFF}"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65</a:t>
            </a:fld>
            <a:endParaRPr lang="en-US"/>
          </a:p>
        </p:txBody>
      </p:sp>
    </p:spTree>
    <p:extLst>
      <p:ext uri="{BB962C8B-B14F-4D97-AF65-F5344CB8AC3E}">
        <p14:creationId xmlns:p14="http://schemas.microsoft.com/office/powerpoint/2010/main" val="776346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Socialization is the process, through which the child becomes an individual respecting his or her environment laws, norms and customs. </a:t>
            </a:r>
          </a:p>
          <a:p>
            <a:r>
              <a:rPr lang="en-US" dirty="0"/>
              <a:t>Gender socialization as the learning of behavior and attitudes considered appropriate for a given gender</a:t>
            </a:r>
          </a:p>
          <a:p>
            <a:r>
              <a:rPr lang="en-US" dirty="0"/>
              <a:t>The gender socialization process occurs in multiple social institutions, including the family, religious and educational institutions, mass media and peer networks.</a:t>
            </a:r>
          </a:p>
          <a:p>
            <a:r>
              <a:rPr lang="en-US" dirty="0"/>
              <a:t> Gender socialization is a more focused form of socialization, it is how children of different genders are socialized into their gender roles and taught what it means to be male or female.</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Gender and socialization</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BA4B491A-35A7-4967-965A-96FD2C5EC143}"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66</a:t>
            </a:fld>
            <a:endParaRPr lang="en-US"/>
          </a:p>
        </p:txBody>
      </p:sp>
    </p:spTree>
    <p:extLst>
      <p:ext uri="{BB962C8B-B14F-4D97-AF65-F5344CB8AC3E}">
        <p14:creationId xmlns:p14="http://schemas.microsoft.com/office/powerpoint/2010/main" val="17310345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4274" y="960055"/>
            <a:ext cx="7001853" cy="5496693"/>
          </a:xfrm>
          <a:prstGeom prst="rect">
            <a:avLst/>
          </a:prstGeom>
        </p:spPr>
      </p:pic>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Agents of gender socialization</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67F88A58-7927-47A9-A4D7-36581551C7B1}" type="datetime1">
              <a:rPr lang="en-US" smtClean="0"/>
              <a:t>3/9/2022</a:t>
            </a:fld>
            <a:endParaRPr lang="en-US"/>
          </a:p>
        </p:txBody>
      </p:sp>
      <p:sp>
        <p:nvSpPr>
          <p:cNvPr id="3" name="Footer Placeholder 2"/>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67</a:t>
            </a:fld>
            <a:endParaRPr lang="en-US"/>
          </a:p>
        </p:txBody>
      </p:sp>
    </p:spTree>
    <p:extLst>
      <p:ext uri="{BB962C8B-B14F-4D97-AF65-F5344CB8AC3E}">
        <p14:creationId xmlns:p14="http://schemas.microsoft.com/office/powerpoint/2010/main" val="36922608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From the perspective of children, the family is a family of orientation: the family functions to locate children socially, and plays a major role in their socialization. </a:t>
            </a:r>
          </a:p>
          <a:p>
            <a:r>
              <a:rPr lang="en-US" dirty="0"/>
              <a:t>From the point of view of the parent(s), the family is a family of procreation:</a:t>
            </a:r>
          </a:p>
          <a:p>
            <a:r>
              <a:rPr lang="en-US" dirty="0"/>
              <a:t> The family functions to produce and socialize children</a:t>
            </a:r>
          </a:p>
          <a:p>
            <a:r>
              <a:rPr lang="en-US" dirty="0"/>
              <a:t>Exogamy is a social arrangement according to which marriages can only occur with members outside of one’s social group.</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Family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CB8938AE-F0CD-4EA4-8017-962BA96105B3}"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68</a:t>
            </a:fld>
            <a:endParaRPr lang="en-US"/>
          </a:p>
        </p:txBody>
      </p:sp>
    </p:spTree>
    <p:extLst>
      <p:ext uri="{BB962C8B-B14F-4D97-AF65-F5344CB8AC3E}">
        <p14:creationId xmlns:p14="http://schemas.microsoft.com/office/powerpoint/2010/main" val="26271117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fontAlgn="base"/>
            <a:r>
              <a:rPr lang="en-US" dirty="0"/>
              <a:t>The sociology of education is the study of how public institutions and individual experiences affect education and its outcomes.</a:t>
            </a:r>
          </a:p>
          <a:p>
            <a:pPr fontAlgn="base"/>
            <a:r>
              <a:rPr lang="en-US" dirty="0"/>
              <a:t>A systematic sociology of education began with </a:t>
            </a:r>
            <a:r>
              <a:rPr lang="en-US" dirty="0" err="1"/>
              <a:t>Émile</a:t>
            </a:r>
            <a:r>
              <a:rPr lang="en-US" dirty="0"/>
              <a:t> Durkheim’s work on moral education as a basis for organic solidarity.</a:t>
            </a:r>
          </a:p>
          <a:p>
            <a:pPr fontAlgn="base"/>
            <a:r>
              <a:rPr lang="en-US" dirty="0"/>
              <a:t>Socialization is the process by which the new generation learns the knowledge, attitudes and values that they will need as productive citizens.</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School</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E243FBB3-81E1-4D85-A0BB-492AAEAE5A6C}"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69</a:t>
            </a:fld>
            <a:endParaRPr lang="en-US"/>
          </a:p>
        </p:txBody>
      </p:sp>
    </p:spTree>
    <p:extLst>
      <p:ext uri="{BB962C8B-B14F-4D97-AF65-F5344CB8AC3E}">
        <p14:creationId xmlns:p14="http://schemas.microsoft.com/office/powerpoint/2010/main" val="13197068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fontAlgn="base"/>
            <a:r>
              <a:rPr lang="en-US" dirty="0"/>
              <a:t>The influence of the peer group typically peaks during adolescence.</a:t>
            </a:r>
          </a:p>
          <a:p>
            <a:pPr fontAlgn="base"/>
            <a:r>
              <a:rPr lang="en-US" dirty="0"/>
              <a:t>However, peer groups generally only affect short term interests unlike the family, which has long term influence.</a:t>
            </a:r>
          </a:p>
          <a:p>
            <a:pPr fontAlgn="base"/>
            <a:r>
              <a:rPr lang="en-US" dirty="0"/>
              <a:t>Peer groups can also serve as a venue for teaching members gender roles.</a:t>
            </a:r>
          </a:p>
          <a:p>
            <a:pPr fontAlgn="base"/>
            <a:r>
              <a:rPr lang="en-US" dirty="0"/>
              <a:t>Adolescent peer groups provide support for children and teens as they assimilate into the adult society decreasing dependence on parents, increasing feeling of self-sufficiency, and connecting with a much larger social network.</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Peers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EC971082-F908-4012-8401-678535BC38F8}"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70</a:t>
            </a:fld>
            <a:endParaRPr lang="en-US"/>
          </a:p>
        </p:txBody>
      </p:sp>
    </p:spTree>
    <p:extLst>
      <p:ext uri="{BB962C8B-B14F-4D97-AF65-F5344CB8AC3E}">
        <p14:creationId xmlns:p14="http://schemas.microsoft.com/office/powerpoint/2010/main" val="42416724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fontAlgn="base"/>
            <a:r>
              <a:rPr lang="en-US" dirty="0"/>
              <a:t>Language is a medium of socialization. A child learns the language of his or her culture and shapes his / her behavior in accordance with that culture. </a:t>
            </a:r>
          </a:p>
          <a:p>
            <a:pPr fontAlgn="base"/>
            <a:r>
              <a:rPr lang="en-US" dirty="0"/>
              <a:t>The research studies indicates that men and women speak different gender lets. Women’s conversation have a cooperative character, where as men’s conversation’s are move competitive, less social and more individualistic.</a:t>
            </a:r>
          </a:p>
          <a:p>
            <a:pPr fontAlgn="base"/>
            <a:r>
              <a:rPr lang="en-US" dirty="0"/>
              <a:t>Print Media and television also imparts a great role towards gender socialization.</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Media</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2" name="Date Placeholder 1"/>
          <p:cNvSpPr>
            <a:spLocks noGrp="1"/>
          </p:cNvSpPr>
          <p:nvPr>
            <p:ph type="dt" sz="half" idx="10"/>
          </p:nvPr>
        </p:nvSpPr>
        <p:spPr/>
        <p:txBody>
          <a:bodyPr/>
          <a:lstStyle/>
          <a:p>
            <a:fld id="{4413134D-E5BA-402B-86B1-4306D77A0326}" type="datetime1">
              <a:rPr lang="en-US" smtClean="0"/>
              <a:t>3/9/2022</a:t>
            </a:fld>
            <a:endParaRPr lang="en-US"/>
          </a:p>
        </p:txBody>
      </p:sp>
      <p:sp>
        <p:nvSpPr>
          <p:cNvPr id="6" name="Footer Placeholder 5"/>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7" name="Slide Number Placeholder 6"/>
          <p:cNvSpPr>
            <a:spLocks noGrp="1"/>
          </p:cNvSpPr>
          <p:nvPr>
            <p:ph type="sldNum" sz="quarter" idx="12"/>
          </p:nvPr>
        </p:nvSpPr>
        <p:spPr/>
        <p:txBody>
          <a:bodyPr/>
          <a:lstStyle/>
          <a:p>
            <a:fld id="{DBDACD18-336C-42D7-ADE1-1F851DD7A482}" type="slidenum">
              <a:rPr lang="en-US" smtClean="0"/>
              <a:t>71</a:t>
            </a:fld>
            <a:endParaRPr lang="en-US"/>
          </a:p>
        </p:txBody>
      </p:sp>
    </p:spTree>
    <p:extLst>
      <p:ext uri="{BB962C8B-B14F-4D97-AF65-F5344CB8AC3E}">
        <p14:creationId xmlns:p14="http://schemas.microsoft.com/office/powerpoint/2010/main" val="25163862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US" dirty="0"/>
              <a:t>Employees with certain personality traits and experiences adjust to an organization more quickly. These include employees with a proactive personality, “Big Five” personality traits, curiosity, and greater experience levels.</a:t>
            </a:r>
          </a:p>
          <a:p>
            <a:pPr fontAlgn="base"/>
            <a:r>
              <a:rPr lang="en-US" dirty="0"/>
              <a:t>Information seeking occurs when new employees ask questions of their co-workers to learn about the company’s norms, expectations, procedures and policies.</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Workplace</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958E2656-C136-458F-AC5A-ECF996C3C2FA}"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72</a:t>
            </a:fld>
            <a:endParaRPr lang="en-US"/>
          </a:p>
        </p:txBody>
      </p:sp>
    </p:spTree>
    <p:extLst>
      <p:ext uri="{BB962C8B-B14F-4D97-AF65-F5344CB8AC3E}">
        <p14:creationId xmlns:p14="http://schemas.microsoft.com/office/powerpoint/2010/main" val="4785417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US" dirty="0"/>
              <a:t>Sociology of religion is the study of the beliefs, practices, and organizational forms of religion using the tools and methods of the discipline of sociology.</a:t>
            </a:r>
          </a:p>
          <a:p>
            <a:pPr fontAlgn="base"/>
            <a:r>
              <a:rPr lang="en-US" dirty="0"/>
              <a:t>Agents of socialization differ in effects across religious traditions. Some believe religion is like an ethnic or cultural category, making it less likely for the individuals to break from religious affiliations and be more socialized in this setting.</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Religion</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2FD732E3-5C91-4206-AF91-54416AED6FC6}"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73</a:t>
            </a:fld>
            <a:endParaRPr lang="en-US"/>
          </a:p>
        </p:txBody>
      </p:sp>
    </p:spTree>
    <p:extLst>
      <p:ext uri="{BB962C8B-B14F-4D97-AF65-F5344CB8AC3E}">
        <p14:creationId xmlns:p14="http://schemas.microsoft.com/office/powerpoint/2010/main" val="7237977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Daily Quiz</a:t>
            </a: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84E44361-0730-47E1-BC73-A1B83A136C2D}"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74</a:t>
            </a:fld>
            <a:endParaRPr lang="en-US"/>
          </a:p>
        </p:txBody>
      </p:sp>
      <p:sp>
        <p:nvSpPr>
          <p:cNvPr id="9" name="Content Placeholder 8">
            <a:extLst>
              <a:ext uri="{FF2B5EF4-FFF2-40B4-BE49-F238E27FC236}">
                <a16:creationId xmlns="" xmlns:a16="http://schemas.microsoft.com/office/drawing/2014/main" id="{1659607F-8AD0-42A9-A935-FCF5C9B846BF}"/>
              </a:ext>
            </a:extLst>
          </p:cNvPr>
          <p:cNvSpPr>
            <a:spLocks noGrp="1"/>
          </p:cNvSpPr>
          <p:nvPr>
            <p:ph idx="1"/>
          </p:nvPr>
        </p:nvSpPr>
        <p:spPr/>
        <p:txBody>
          <a:bodyPr/>
          <a:lstStyle/>
          <a:p>
            <a:r>
              <a:rPr lang="en-US" dirty="0"/>
              <a:t>________as the learning of behavior and attitudes considered appropriate for a given gender</a:t>
            </a:r>
          </a:p>
          <a:p>
            <a:r>
              <a:rPr lang="en-US" dirty="0"/>
              <a:t>The term ______is also used to describe the differences in behavior between men and women</a:t>
            </a:r>
          </a:p>
          <a:p>
            <a:r>
              <a:rPr lang="en-US" dirty="0"/>
              <a:t>The sociology of ______ is the study of how public institutions and individual experiences affect education and its outcomes.</a:t>
            </a:r>
          </a:p>
          <a:p>
            <a:r>
              <a:rPr lang="en-US" dirty="0"/>
              <a:t>_______ is a medium of socialization.</a:t>
            </a:r>
          </a:p>
          <a:p>
            <a:endParaRPr lang="en-IN" dirty="0"/>
          </a:p>
        </p:txBody>
      </p:sp>
    </p:spTree>
    <p:extLst>
      <p:ext uri="{BB962C8B-B14F-4D97-AF65-F5344CB8AC3E}">
        <p14:creationId xmlns:p14="http://schemas.microsoft.com/office/powerpoint/2010/main" val="28431213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The Indian woman's position in the society further deteriorated during the medieval period when Sati among some communities, Child Marriages and a ban on widow remarriages became part of social life among some communities in India. </a:t>
            </a:r>
          </a:p>
          <a:p>
            <a:r>
              <a:rPr lang="en-US" dirty="0"/>
              <a:t> The Muslim conquest in the Indian sub-continent brought the Purdah practice in the Indian society. Among the </a:t>
            </a:r>
            <a:r>
              <a:rPr lang="en-US" dirty="0" err="1"/>
              <a:t>Rajputs</a:t>
            </a:r>
            <a:r>
              <a:rPr lang="en-US" dirty="0"/>
              <a:t> of Rajasthan, the </a:t>
            </a:r>
            <a:r>
              <a:rPr lang="en-US" dirty="0" err="1"/>
              <a:t>Jauhar</a:t>
            </a:r>
            <a:r>
              <a:rPr lang="en-US" dirty="0"/>
              <a:t> was </a:t>
            </a:r>
            <a:r>
              <a:rPr lang="en-US" dirty="0" err="1"/>
              <a:t>practised</a:t>
            </a:r>
            <a:r>
              <a:rPr lang="en-US" dirty="0"/>
              <a:t>. </a:t>
            </a:r>
          </a:p>
          <a:p>
            <a:r>
              <a:rPr lang="en-US" dirty="0"/>
              <a:t> In some parts of India, the </a:t>
            </a:r>
            <a:r>
              <a:rPr lang="en-US" dirty="0" err="1"/>
              <a:t>Devadasis</a:t>
            </a:r>
            <a:r>
              <a:rPr lang="en-US" dirty="0"/>
              <a:t> or the temple women were sexually exploited. Polygamy was widely </a:t>
            </a:r>
            <a:r>
              <a:rPr lang="en-US" dirty="0" err="1"/>
              <a:t>practised</a:t>
            </a:r>
            <a:r>
              <a:rPr lang="en-US" dirty="0"/>
              <a:t> especially among Hindu Kshatriya rulers. In many Muslim families, women were restricted to </a:t>
            </a:r>
            <a:r>
              <a:rPr lang="en-US" dirty="0" err="1"/>
              <a:t>Zenana</a:t>
            </a:r>
            <a:r>
              <a:rPr lang="en-US" dirty="0"/>
              <a:t> areas. •</a:t>
            </a:r>
          </a:p>
          <a:p>
            <a:r>
              <a:rPr lang="en-US" dirty="0"/>
              <a:t>In spite of these conditions, some women excelled in the fields of politics, literature, education and religion. </a:t>
            </a:r>
          </a:p>
          <a:p>
            <a:r>
              <a:rPr lang="en-US" dirty="0" err="1"/>
              <a:t>Razia</a:t>
            </a:r>
            <a:r>
              <a:rPr lang="en-US" dirty="0"/>
              <a:t> Sultana became the only woman monarch to have ever ruled Delhi</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Representation of Women in Indian History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7084FF6A-45FF-4A22-99EB-AB0FC03F95DF}"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75</a:t>
            </a:fld>
            <a:endParaRPr lang="en-US"/>
          </a:p>
        </p:txBody>
      </p:sp>
    </p:spTree>
    <p:extLst>
      <p:ext uri="{BB962C8B-B14F-4D97-AF65-F5344CB8AC3E}">
        <p14:creationId xmlns:p14="http://schemas.microsoft.com/office/powerpoint/2010/main" val="25302555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The Bhakti movements tried to restore women's status and questioned some of the forms of oppression. </a:t>
            </a:r>
            <a:r>
              <a:rPr lang="en-US" dirty="0" err="1"/>
              <a:t>Mirabai</a:t>
            </a:r>
            <a:r>
              <a:rPr lang="en-US" dirty="0"/>
              <a:t>, a female saint-poet, was one of the most important Bhakti movement figures.</a:t>
            </a:r>
          </a:p>
          <a:p>
            <a:r>
              <a:rPr lang="en-US" dirty="0"/>
              <a:t>Shortly after the Bhakti movement, Guru Nanak, the first Guru of Sikhs also preached the message of equality between men and women.</a:t>
            </a:r>
          </a:p>
          <a:p>
            <a:r>
              <a:rPr lang="en-US" dirty="0"/>
              <a:t>Raja </a:t>
            </a:r>
            <a:r>
              <a:rPr lang="en-US" dirty="0" err="1"/>
              <a:t>Rammohan</a:t>
            </a:r>
            <a:r>
              <a:rPr lang="en-US" dirty="0"/>
              <a:t> Roy's efforts led to the abolition of the Sati practice under Governor-General William Cavendish-Bentinck in 1829. </a:t>
            </a:r>
          </a:p>
          <a:p>
            <a:r>
              <a:rPr lang="en-US" dirty="0"/>
              <a:t> </a:t>
            </a:r>
            <a:r>
              <a:rPr lang="en-US" dirty="0" err="1"/>
              <a:t>Ishwar</a:t>
            </a:r>
            <a:r>
              <a:rPr lang="en-US" dirty="0"/>
              <a:t> Chandra </a:t>
            </a:r>
            <a:r>
              <a:rPr lang="en-US" dirty="0" err="1"/>
              <a:t>Vidyasagar's</a:t>
            </a:r>
            <a:r>
              <a:rPr lang="en-US" dirty="0"/>
              <a:t> crusade for the improvement in condition of widows led to the Widow Re-marriage Act of 1856. </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Representation of Women in Indian History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7" name="Date Placeholder 6"/>
          <p:cNvSpPr>
            <a:spLocks noGrp="1"/>
          </p:cNvSpPr>
          <p:nvPr>
            <p:ph type="dt" sz="half" idx="10"/>
          </p:nvPr>
        </p:nvSpPr>
        <p:spPr/>
        <p:txBody>
          <a:bodyPr/>
          <a:lstStyle/>
          <a:p>
            <a:fld id="{CE98DFC7-C49C-46F4-AD6B-2611B117FF32}" type="datetime1">
              <a:rPr lang="en-US" smtClean="0"/>
              <a:t>3/9/2022</a:t>
            </a:fld>
            <a:endParaRPr lang="en-US"/>
          </a:p>
        </p:txBody>
      </p:sp>
      <p:sp>
        <p:nvSpPr>
          <p:cNvPr id="8" name="Footer Placeholder 7"/>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9" name="Slide Number Placeholder 8"/>
          <p:cNvSpPr>
            <a:spLocks noGrp="1"/>
          </p:cNvSpPr>
          <p:nvPr>
            <p:ph type="sldNum" sz="quarter" idx="12"/>
          </p:nvPr>
        </p:nvSpPr>
        <p:spPr/>
        <p:txBody>
          <a:bodyPr/>
          <a:lstStyle/>
          <a:p>
            <a:fld id="{DBDACD18-336C-42D7-ADE1-1F851DD7A482}" type="slidenum">
              <a:rPr lang="en-US" smtClean="0"/>
              <a:t>76</a:t>
            </a:fld>
            <a:endParaRPr lang="en-US"/>
          </a:p>
        </p:txBody>
      </p:sp>
    </p:spTree>
    <p:extLst>
      <p:ext uri="{BB962C8B-B14F-4D97-AF65-F5344CB8AC3E}">
        <p14:creationId xmlns:p14="http://schemas.microsoft.com/office/powerpoint/2010/main" val="18126638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701" y="1081827"/>
            <a:ext cx="10912699" cy="5044341"/>
          </a:xfrm>
        </p:spPr>
        <p:txBody>
          <a:bodyPr>
            <a:normAutofit/>
          </a:bodyPr>
          <a:lstStyle/>
          <a:p>
            <a:pPr algn="just"/>
            <a:r>
              <a:rPr lang="en-US" sz="2400" dirty="0"/>
              <a:t>Rani Lakshmi </a:t>
            </a:r>
            <a:r>
              <a:rPr lang="en-US" sz="2400" dirty="0" err="1"/>
              <a:t>Bai</a:t>
            </a:r>
            <a:r>
              <a:rPr lang="en-US" sz="2400" dirty="0"/>
              <a:t> the Queen of Jhansi, led the Indian Rebellion of 1857 against the British. She is now widely considered as a nationalist hero. </a:t>
            </a:r>
          </a:p>
          <a:p>
            <a:pPr algn="just"/>
            <a:r>
              <a:rPr lang="en-US" sz="2400" dirty="0"/>
              <a:t>In 1917, the first women's delegation met the Secretary of State to demand women's political rights, supported by the Indian National Congress. The All India Women's Education Conference was held in Pune in 1927. </a:t>
            </a:r>
          </a:p>
          <a:p>
            <a:pPr algn="just"/>
            <a:r>
              <a:rPr lang="en-US" sz="2400" dirty="0"/>
              <a:t> In 1929, the Child Marriage Restraint Act was passed, stipulating fourteen as the minimum age of marriage for a girl through the efforts of Mohammad Ali Jinnah. Though Mahatma Gandhi himself married at the age of thirteen, he later urged people to boycott child marriages and called upon the young men to marry the child widows.</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Representation of Women in Indian History</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150E7E50-3B41-4639-A442-245CFFEB71E5}"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77</a:t>
            </a:fld>
            <a:endParaRPr lang="en-US"/>
          </a:p>
        </p:txBody>
      </p:sp>
    </p:spTree>
    <p:extLst>
      <p:ext uri="{BB962C8B-B14F-4D97-AF65-F5344CB8AC3E}">
        <p14:creationId xmlns:p14="http://schemas.microsoft.com/office/powerpoint/2010/main" val="1982266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5201" y="927279"/>
            <a:ext cx="10435121" cy="5124528"/>
          </a:xfrm>
        </p:spPr>
        <p:txBody>
          <a:bodyPr>
            <a:normAutofit fontScale="92500"/>
          </a:bodyPr>
          <a:lstStyle/>
          <a:p>
            <a:pPr algn="just"/>
            <a:r>
              <a:rPr lang="en-US" sz="2600" dirty="0"/>
              <a:t>Sati : The ritual of sitting on the funeral pyre of the husband and getting burnt to death is known as “Sati”. According to some Hindu scriptures, women dying as “Sati” go straight to heaven. Sati was considered to be a better option than living as a widow. Some of the scriptures like ‘</a:t>
            </a:r>
            <a:r>
              <a:rPr lang="en-US" sz="2600" dirty="0" err="1"/>
              <a:t>Medhatiti</a:t>
            </a:r>
            <a:r>
              <a:rPr lang="en-US" sz="2600" dirty="0"/>
              <a:t>’ had different views. It says that Sati is like committing suicide, so one should avoid this.</a:t>
            </a:r>
          </a:p>
          <a:p>
            <a:pPr marL="0" indent="0" algn="just">
              <a:buNone/>
            </a:pPr>
            <a:endParaRPr lang="en-US" sz="2600" dirty="0"/>
          </a:p>
          <a:p>
            <a:pPr algn="just"/>
            <a:r>
              <a:rPr lang="en-US" sz="2600" dirty="0"/>
              <a:t> </a:t>
            </a:r>
            <a:r>
              <a:rPr lang="en-US" sz="2600" dirty="0" err="1"/>
              <a:t>Jauhar</a:t>
            </a:r>
            <a:r>
              <a:rPr lang="en-US" sz="2600" dirty="0"/>
              <a:t>: </a:t>
            </a:r>
            <a:r>
              <a:rPr lang="en-US" sz="2600" dirty="0" err="1"/>
              <a:t>Jauhar</a:t>
            </a:r>
            <a:r>
              <a:rPr lang="en-US" sz="2600" dirty="0"/>
              <a:t> was such a custom in Rajput societies where mass suicide occurred. In this custom Rajput women immolated themselves while their husbands were still alive. When a Rajput </a:t>
            </a:r>
            <a:r>
              <a:rPr lang="en-US" sz="2600" dirty="0" err="1"/>
              <a:t>Sainik</a:t>
            </a:r>
            <a:r>
              <a:rPr lang="en-US" sz="2600" dirty="0"/>
              <a:t> sure that they were going to die at the hands of their enemy, then all the women arrange a large pyre and set themselves afire, while their husbands used to fight the last decisive battle known as “</a:t>
            </a:r>
            <a:r>
              <a:rPr lang="en-US" sz="2600" dirty="0" err="1"/>
              <a:t>Shaka</a:t>
            </a:r>
            <a:r>
              <a:rPr lang="en-US" sz="2600" dirty="0"/>
              <a:t>”, with the enemy, thus protecting the sanctity of the women and the whole clan. </a:t>
            </a:r>
          </a:p>
          <a:p>
            <a:pPr marL="0" indent="0">
              <a:buNone/>
            </a:pPr>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Challenges faced by Women</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F8959E68-29C0-4C1A-A983-2A71403D4ED4}"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78</a:t>
            </a:fld>
            <a:endParaRPr lang="en-US"/>
          </a:p>
        </p:txBody>
      </p:sp>
    </p:spTree>
    <p:extLst>
      <p:ext uri="{BB962C8B-B14F-4D97-AF65-F5344CB8AC3E}">
        <p14:creationId xmlns:p14="http://schemas.microsoft.com/office/powerpoint/2010/main" val="36372576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Child Marriage: Girls were married off at the age of 8-10 in Medieval India. They were not allowed access to education and were treated as the material being. Thus, women were compared with animals and were married off at an early age. Child marriage also brought some more problems such as-increased birth rate, poor health of women, high mortality rate of women and children. </a:t>
            </a:r>
          </a:p>
          <a:p>
            <a:r>
              <a:rPr lang="en-US" dirty="0"/>
              <a:t>Restriction on Widow Remarriage: The condition of widows in medieval India was very poor. They were treated as a material and for them a lot of restrictions were there. Their presence in any good work was strictly prohibited. They were not allowed to remarry. In medieval India, living as a Hindu widow was a sort of a curse. </a:t>
            </a:r>
          </a:p>
          <a:p>
            <a:r>
              <a:rPr lang="en-US" dirty="0"/>
              <a:t>Purdah System: The veil or ‘Purdah’ system was widely prevalent in medieval Indian society. It was used to protect them from the eyes of foreign rulers who invaded India in that period. But this system curtailed women’s freedom. </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Challenges faced by Women</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A63AA5DC-D5EE-4FCF-86F3-3D1A0A57F54B}"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79</a:t>
            </a:fld>
            <a:endParaRPr lang="en-US"/>
          </a:p>
        </p:txBody>
      </p:sp>
    </p:spTree>
    <p:extLst>
      <p:ext uri="{BB962C8B-B14F-4D97-AF65-F5344CB8AC3E}">
        <p14:creationId xmlns:p14="http://schemas.microsoft.com/office/powerpoint/2010/main" val="35340900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Women Education: The girls of Medieval India, specially Hindu society were not given formal education. They were given education related to household chores</a:t>
            </a:r>
          </a:p>
          <a:p>
            <a:endParaRPr lang="en-US" dirty="0"/>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Challenges faced by Women</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B7AC4CFD-A40A-4374-AC52-CC625CDC9655}"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80</a:t>
            </a:fld>
            <a:endParaRPr lang="en-US"/>
          </a:p>
        </p:txBody>
      </p:sp>
    </p:spTree>
    <p:extLst>
      <p:ext uri="{BB962C8B-B14F-4D97-AF65-F5344CB8AC3E}">
        <p14:creationId xmlns:p14="http://schemas.microsoft.com/office/powerpoint/2010/main" val="7099316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761" y="1030310"/>
            <a:ext cx="11499939" cy="5599090"/>
          </a:xfrm>
        </p:spPr>
        <p:txBody>
          <a:bodyPr>
            <a:normAutofit/>
          </a:bodyPr>
          <a:lstStyle/>
          <a:p>
            <a:pPr algn="just"/>
            <a:r>
              <a:rPr lang="en-US" sz="2400" dirty="0"/>
              <a:t>Early sources suggest that slavery was likely to have been a widespread institution in ancient India by the lifetime of the Buddha (sixth century BC), and perhaps even as far back as the Vedic period.</a:t>
            </a:r>
          </a:p>
          <a:p>
            <a:pPr algn="just"/>
            <a:r>
              <a:rPr lang="en-US" sz="2400" dirty="0"/>
              <a:t>Slavery in India escalated during the Muslim domination of northern India after the 11th-century, after Muslim rulers re-introduced slavery to the Indian subcontinent.</a:t>
            </a:r>
          </a:p>
          <a:p>
            <a:pPr algn="just"/>
            <a:r>
              <a:rPr lang="en-US" sz="2400" dirty="0"/>
              <a:t>Slavery in India continued through the 18th and 19th centuries. During colonial times, Indians were taken into different parts of the world as slaves by the British East India Company, and the British </a:t>
            </a:r>
            <a:r>
              <a:rPr lang="en-US" sz="2400" dirty="0" err="1"/>
              <a:t>Empire.Over</a:t>
            </a:r>
            <a:r>
              <a:rPr lang="en-US" sz="2400" dirty="0"/>
              <a:t> a million indentured </a:t>
            </a:r>
            <a:r>
              <a:rPr lang="en-US" sz="2400" dirty="0" err="1"/>
              <a:t>labourers</a:t>
            </a:r>
            <a:r>
              <a:rPr lang="en-US" sz="2400" dirty="0"/>
              <a:t> also called </a:t>
            </a:r>
            <a:r>
              <a:rPr lang="en-US" sz="2400" dirty="0" err="1"/>
              <a:t>girmitiyas</a:t>
            </a:r>
            <a:r>
              <a:rPr lang="en-US" sz="2400" dirty="0"/>
              <a:t> from Uttar Pradesh and Bihar were taken as slave </a:t>
            </a:r>
            <a:r>
              <a:rPr lang="en-US" sz="2400" dirty="0" err="1"/>
              <a:t>labourers</a:t>
            </a:r>
            <a:r>
              <a:rPr lang="en-US" sz="2400" dirty="0"/>
              <a:t> to European colonies of British and Dutch in Fiji, South Africa, and Trinidad &amp; Tobago.</a:t>
            </a:r>
          </a:p>
        </p:txBody>
      </p:sp>
      <p:sp>
        <p:nvSpPr>
          <p:cNvPr id="4" name="Title 1"/>
          <p:cNvSpPr txBox="1">
            <a:spLocks/>
          </p:cNvSpPr>
          <p:nvPr/>
        </p:nvSpPr>
        <p:spPr>
          <a:xfrm>
            <a:off x="1828800" y="65684"/>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Slavery System in India</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CC2073CE-51AF-4658-BDA2-AFF3F67FC323}"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81</a:t>
            </a:fld>
            <a:endParaRPr lang="en-US"/>
          </a:p>
        </p:txBody>
      </p:sp>
    </p:spTree>
    <p:extLst>
      <p:ext uri="{BB962C8B-B14F-4D97-AF65-F5344CB8AC3E}">
        <p14:creationId xmlns:p14="http://schemas.microsoft.com/office/powerpoint/2010/main" val="7219030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2581" y="1043190"/>
            <a:ext cx="11255419" cy="5535411"/>
          </a:xfrm>
        </p:spPr>
        <p:txBody>
          <a:bodyPr>
            <a:normAutofit/>
          </a:bodyPr>
          <a:lstStyle/>
          <a:p>
            <a:pPr algn="just"/>
            <a:r>
              <a:rPr lang="en-US" sz="2000" dirty="0"/>
              <a:t>The discussion of servant, bonded labor and slaves, states </a:t>
            </a:r>
            <a:r>
              <a:rPr lang="en-US" sz="2000" dirty="0" err="1"/>
              <a:t>Scopen</a:t>
            </a:r>
            <a:r>
              <a:rPr lang="en-US" sz="2000" dirty="0"/>
              <a:t>, differs significantly in different manuscripts discovered for the same Buddhist text in India, Nepal and Tibet, whether they are in Sanskrit or </a:t>
            </a:r>
            <a:r>
              <a:rPr lang="en-US" sz="2000" dirty="0" err="1"/>
              <a:t>Pali</a:t>
            </a:r>
            <a:r>
              <a:rPr lang="en-US" sz="2000" dirty="0"/>
              <a:t> language.</a:t>
            </a:r>
            <a:endParaRPr lang="en-US" sz="2000" baseline="30000" dirty="0"/>
          </a:p>
          <a:p>
            <a:pPr algn="just"/>
            <a:r>
              <a:rPr lang="en-US" sz="2000" dirty="0"/>
              <a:t>These Buddhist manuscripts present a set of questions to ask a person who wants to become a monk or nun. These questions inquire if the person is a </a:t>
            </a:r>
            <a:r>
              <a:rPr lang="en-US" sz="2000" i="1" dirty="0" err="1"/>
              <a:t>dasa</a:t>
            </a:r>
            <a:r>
              <a:rPr lang="en-US" sz="2000" dirty="0"/>
              <a:t> and </a:t>
            </a:r>
            <a:r>
              <a:rPr lang="en-US" sz="2000" i="1" dirty="0" err="1"/>
              <a:t>dasi</a:t>
            </a:r>
            <a:r>
              <a:rPr lang="en-US" sz="2000" dirty="0"/>
              <a:t>, but also ask additional questions such as "are you </a:t>
            </a:r>
            <a:r>
              <a:rPr lang="en-US" sz="2000" i="1" dirty="0" err="1"/>
              <a:t>ahrtaka</a:t>
            </a:r>
            <a:r>
              <a:rPr lang="en-US" sz="2000" dirty="0"/>
              <a:t>" and "are you </a:t>
            </a:r>
            <a:r>
              <a:rPr lang="en-US" sz="2000" i="1" dirty="0" err="1"/>
              <a:t>vikritaka</a:t>
            </a:r>
            <a:r>
              <a:rPr lang="en-US" sz="2000" dirty="0"/>
              <a:t>".</a:t>
            </a:r>
          </a:p>
          <a:p>
            <a:pPr algn="just"/>
            <a:r>
              <a:rPr lang="en-US" sz="2000" dirty="0"/>
              <a:t> The later questions have been interpreted in two ways. As "are you one who has been seized" (</a:t>
            </a:r>
            <a:r>
              <a:rPr lang="en-US" sz="2000" i="1" dirty="0" err="1"/>
              <a:t>ahrtaka</a:t>
            </a:r>
            <a:r>
              <a:rPr lang="en-US" sz="2000" dirty="0"/>
              <a:t>) and "are you one who has been sold" (</a:t>
            </a:r>
            <a:r>
              <a:rPr lang="en-US" sz="2000" i="1" dirty="0" err="1"/>
              <a:t>vikritaka</a:t>
            </a:r>
            <a:r>
              <a:rPr lang="en-US" sz="2000" dirty="0"/>
              <a:t>) respectively, these terms are interpreted as slaves.</a:t>
            </a:r>
          </a:p>
          <a:p>
            <a:pPr algn="just"/>
            <a:r>
              <a:rPr lang="en-US" sz="2000" dirty="0"/>
              <a:t>Alternatively, they have also been interpreted as "are you doubtless" and "are you blameworthy" respectively, which does not mean slave. Further, according to these texts, Buddhist monasteries refused all servants, bonded labor and slaves an opportunity to become a monk or nun, but accepted them as workers to serve the monastery</a:t>
            </a:r>
          </a:p>
        </p:txBody>
      </p:sp>
      <p:sp>
        <p:nvSpPr>
          <p:cNvPr id="4"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Slavery System in India</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6" name="Date Placeholder 5"/>
          <p:cNvSpPr>
            <a:spLocks noGrp="1"/>
          </p:cNvSpPr>
          <p:nvPr>
            <p:ph type="dt" sz="half" idx="10"/>
          </p:nvPr>
        </p:nvSpPr>
        <p:spPr/>
        <p:txBody>
          <a:bodyPr/>
          <a:lstStyle/>
          <a:p>
            <a:fld id="{E8B5ED52-DA83-4111-AE6A-FD78F950758D}" type="datetime1">
              <a:rPr lang="en-US" smtClean="0"/>
              <a:t>3/9/2022</a:t>
            </a:fld>
            <a:endParaRPr lang="en-US"/>
          </a:p>
        </p:txBody>
      </p:sp>
      <p:sp>
        <p:nvSpPr>
          <p:cNvPr id="7" name="Footer Placeholder 6"/>
          <p:cNvSpPr>
            <a:spLocks noGrp="1"/>
          </p:cNvSpPr>
          <p:nvPr>
            <p:ph type="ftr" sz="quarter" idx="11"/>
          </p:nvPr>
        </p:nvSpPr>
        <p:spPr/>
        <p:txBody>
          <a:bodyPr/>
          <a:lstStyle/>
          <a:p>
            <a:r>
              <a:rPr lang="en-US" smtClean="0"/>
              <a:t>Ms.Pooja Tyagi      KNC 602 Indian Traditions, Culture and Society              Unit :1</a:t>
            </a:r>
            <a:endParaRPr lang="en-US" dirty="0"/>
          </a:p>
        </p:txBody>
      </p:sp>
      <p:sp>
        <p:nvSpPr>
          <p:cNvPr id="8" name="Slide Number Placeholder 7"/>
          <p:cNvSpPr>
            <a:spLocks noGrp="1"/>
          </p:cNvSpPr>
          <p:nvPr>
            <p:ph type="sldNum" sz="quarter" idx="12"/>
          </p:nvPr>
        </p:nvSpPr>
        <p:spPr/>
        <p:txBody>
          <a:bodyPr/>
          <a:lstStyle/>
          <a:p>
            <a:fld id="{DBDACD18-336C-42D7-ADE1-1F851DD7A482}" type="slidenum">
              <a:rPr lang="en-US" smtClean="0"/>
              <a:t>82</a:t>
            </a:fld>
            <a:endParaRPr lang="en-US"/>
          </a:p>
        </p:txBody>
      </p:sp>
    </p:spTree>
    <p:extLst>
      <p:ext uri="{BB962C8B-B14F-4D97-AF65-F5344CB8AC3E}">
        <p14:creationId xmlns:p14="http://schemas.microsoft.com/office/powerpoint/2010/main" val="36492912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1143003"/>
            <a:ext cx="10972800" cy="4525963"/>
          </a:xfrm>
        </p:spPr>
        <p:txBody>
          <a:bodyPr/>
          <a:lstStyle/>
          <a:p>
            <a:pPr>
              <a:buNone/>
            </a:pPr>
            <a:endParaRPr lang="en-US" sz="2000" dirty="0"/>
          </a:p>
          <a:p>
            <a:pPr>
              <a:buNone/>
            </a:pP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Youtube/other  Video Links:</a:t>
            </a:r>
          </a:p>
          <a:p>
            <a:r>
              <a:rPr lang="en-US" sz="2400" dirty="0">
                <a:latin typeface="Times New Roman" pitchFamily="18" charset="0"/>
                <a:cs typeface="Times New Roman" pitchFamily="18" charset="0"/>
                <a:hlinkClick r:id="rId2"/>
              </a:rPr>
              <a:t>https://youtu.be/1kUkWRnkEaY?list=PLhDPmw02TYsnl85_953po60uI_-R8CQY8</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hlinkClick r:id="rId3"/>
              </a:rPr>
              <a:t>https://youtu.be/Hw6J5uOm7E8</a:t>
            </a: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4B17EE1-7E60-4E30-B61D-A32198724097}" type="datetime1">
              <a:rPr lang="en-US" smtClean="0"/>
              <a:t>3/9/2022</a:t>
            </a:fld>
            <a:endParaRPr lang="en-US" dirty="0"/>
          </a:p>
        </p:txBody>
      </p:sp>
      <p:sp>
        <p:nvSpPr>
          <p:cNvPr id="5" name="Footer Placeholder 4"/>
          <p:cNvSpPr>
            <a:spLocks noGrp="1"/>
          </p:cNvSpPr>
          <p:nvPr>
            <p:ph type="ftr" sz="quarter" idx="11"/>
          </p:nvPr>
        </p:nvSpPr>
        <p:spPr>
          <a:xfrm>
            <a:off x="2235200" y="6356353"/>
            <a:ext cx="85344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latin typeface="Times New Roman" pitchFamily="18" charset="0"/>
                <a:cs typeface="Times New Roman" pitchFamily="18" charset="0"/>
              </a:rPr>
              <a:t>Video Link</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4"/>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39384168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838200"/>
            <a:ext cx="10972800" cy="5410200"/>
          </a:xfrm>
        </p:spPr>
        <p:txBody>
          <a:bodyPr>
            <a:normAutofit lnSpcReduction="10000"/>
          </a:bodyPr>
          <a:lstStyle/>
          <a:p>
            <a:pPr>
              <a:buNone/>
            </a:pPr>
            <a:r>
              <a:rPr lang="en-US" sz="2400" dirty="0"/>
              <a:t>1. Traditional approach give stress on: </a:t>
            </a:r>
          </a:p>
          <a:p>
            <a:pPr lvl="1">
              <a:buNone/>
            </a:pPr>
            <a:r>
              <a:rPr lang="en-US" sz="2000" dirty="0"/>
              <a:t>    A. </a:t>
            </a:r>
            <a:r>
              <a:rPr lang="en-US" sz="2000" b="1" dirty="0"/>
              <a:t>Values. </a:t>
            </a:r>
          </a:p>
          <a:p>
            <a:pPr lvl="1">
              <a:buNone/>
            </a:pPr>
            <a:r>
              <a:rPr lang="en-US" sz="2000" b="1" dirty="0"/>
              <a:t>    </a:t>
            </a:r>
            <a:r>
              <a:rPr lang="en-US" sz="2000" dirty="0"/>
              <a:t>B. Facts. </a:t>
            </a:r>
          </a:p>
          <a:p>
            <a:pPr lvl="1">
              <a:buNone/>
            </a:pPr>
            <a:r>
              <a:rPr lang="en-US" sz="2000" dirty="0"/>
              <a:t>    C. Objectivity. </a:t>
            </a:r>
          </a:p>
          <a:p>
            <a:pPr lvl="1">
              <a:buNone/>
            </a:pPr>
            <a:r>
              <a:rPr lang="en-US" sz="2000" dirty="0"/>
              <a:t>    D. Precision. </a:t>
            </a:r>
            <a:endParaRPr lang="en-US" sz="20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2. </a:t>
            </a:r>
            <a:r>
              <a:rPr lang="en-US" sz="2400" dirty="0"/>
              <a:t>Hobbes Theory of Social Contract is explained in his book.</a:t>
            </a:r>
          </a:p>
          <a:p>
            <a:pPr lvl="1">
              <a:buNone/>
            </a:pPr>
            <a:r>
              <a:rPr lang="en-US" sz="2000" dirty="0"/>
              <a:t>A. Republic. </a:t>
            </a:r>
          </a:p>
          <a:p>
            <a:pPr lvl="1">
              <a:buNone/>
            </a:pPr>
            <a:r>
              <a:rPr lang="en-US" sz="2000" dirty="0"/>
              <a:t>B. Prince. </a:t>
            </a:r>
          </a:p>
          <a:p>
            <a:pPr lvl="1">
              <a:buNone/>
            </a:pPr>
            <a:r>
              <a:rPr lang="en-US" sz="2000" dirty="0"/>
              <a:t>C. Social Contract.</a:t>
            </a:r>
          </a:p>
          <a:p>
            <a:pPr lvl="1">
              <a:buNone/>
            </a:pPr>
            <a:r>
              <a:rPr lang="en-US" sz="2000" dirty="0"/>
              <a:t>D. </a:t>
            </a:r>
            <a:r>
              <a:rPr lang="en-US" sz="2000" b="1" dirty="0"/>
              <a:t>Leviathan.</a:t>
            </a:r>
          </a:p>
          <a:p>
            <a:pPr marL="457200" indent="-457200">
              <a:buAutoNum type="arabicPeriod" startAt="3"/>
            </a:pPr>
            <a:r>
              <a:rPr lang="en-US" sz="2400" dirty="0"/>
              <a:t>Which one of the following is not relevant to Traditional Approach. </a:t>
            </a:r>
          </a:p>
          <a:p>
            <a:pPr marL="457200" indent="-457200">
              <a:buNone/>
            </a:pPr>
            <a:r>
              <a:rPr lang="en-US" sz="2400" dirty="0"/>
              <a:t>      A. Philosophical B. Historical. C. Institutional D. Behavioural.</a:t>
            </a:r>
          </a:p>
          <a:p>
            <a:pPr marL="457200" indent="-457200">
              <a:buNone/>
            </a:pPr>
            <a:r>
              <a:rPr lang="en-US" sz="2400" dirty="0"/>
              <a:t>4. Integration of Political Science with other Social Sciences Is a basic principle of </a:t>
            </a:r>
          </a:p>
          <a:p>
            <a:pPr marL="457200" indent="-457200">
              <a:buNone/>
            </a:pPr>
            <a:r>
              <a:rPr lang="en-US" sz="2400" dirty="0"/>
              <a:t>      A. Traditionalism. B. </a:t>
            </a:r>
            <a:r>
              <a:rPr lang="en-US" sz="2400" dirty="0" err="1"/>
              <a:t>Behaviouralism</a:t>
            </a:r>
            <a:r>
              <a:rPr lang="en-US" sz="2400" dirty="0"/>
              <a:t>. C. Liberalism. D. </a:t>
            </a:r>
            <a:r>
              <a:rPr lang="en-US" sz="2400" b="1" dirty="0"/>
              <a:t>Post – </a:t>
            </a:r>
            <a:r>
              <a:rPr lang="en-US" sz="2400" b="1" dirty="0" err="1"/>
              <a:t>Behaviouralism</a:t>
            </a:r>
            <a:r>
              <a:rPr lang="en-US" sz="2400" b="1" dirty="0"/>
              <a:t>. </a:t>
            </a:r>
            <a:endParaRPr lang="en-US" sz="2400" b="1" dirty="0">
              <a:latin typeface="Times New Roman" pitchFamily="18" charset="0"/>
              <a:cs typeface="Times New Roman" pitchFamily="18" charset="0"/>
            </a:endParaRPr>
          </a:p>
          <a:p>
            <a:pPr>
              <a:buNone/>
            </a:pP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7582614-3337-4F57-BB1C-CE91CAFFFDB9}" type="datetime1">
              <a:rPr lang="en-US" smtClean="0"/>
              <a:t>3/9/2022</a:t>
            </a:fld>
            <a:endParaRPr lang="en-US" dirty="0"/>
          </a:p>
        </p:txBody>
      </p:sp>
      <p:sp>
        <p:nvSpPr>
          <p:cNvPr id="5" name="Footer Placeholder 4"/>
          <p:cNvSpPr>
            <a:spLocks noGrp="1"/>
          </p:cNvSpPr>
          <p:nvPr>
            <p:ph type="ftr" sz="quarter" idx="11"/>
          </p:nvPr>
        </p:nvSpPr>
        <p:spPr>
          <a:xfrm>
            <a:off x="2032000" y="6356353"/>
            <a:ext cx="8839200" cy="365125"/>
          </a:xfrm>
        </p:spPr>
        <p:txBody>
          <a:bodyPr/>
          <a:lstStyle/>
          <a:p>
            <a:r>
              <a:rPr lang="en-US" smtClean="0">
                <a:solidFill>
                  <a:schemeClr val="tx1"/>
                </a:solidFill>
              </a:rPr>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latin typeface="Times New Roman" pitchFamily="18" charset="0"/>
                <a:cs typeface="Times New Roman" pitchFamily="18" charset="0"/>
              </a:rPr>
              <a:t>Daily Quiz</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19765719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838200"/>
            <a:ext cx="10972800" cy="5334000"/>
          </a:xfrm>
        </p:spPr>
        <p:txBody>
          <a:bodyPr>
            <a:normAutofit/>
          </a:bodyPr>
          <a:lstStyle/>
          <a:p>
            <a:pPr>
              <a:buNone/>
            </a:pPr>
            <a:r>
              <a:rPr lang="en-US" sz="2400" dirty="0"/>
              <a:t>6. The success of democracy depends upon </a:t>
            </a:r>
          </a:p>
          <a:p>
            <a:pPr>
              <a:buNone/>
            </a:pPr>
            <a:r>
              <a:rPr lang="en-US" sz="2400" dirty="0"/>
              <a:t>       A. Periodic Elections. B. Voting. C. Campaigning in The Elections. D. </a:t>
            </a:r>
            <a:r>
              <a:rPr lang="en-US" sz="2400" b="1" dirty="0"/>
              <a:t>All of the above </a:t>
            </a:r>
          </a:p>
          <a:p>
            <a:pPr>
              <a:buNone/>
            </a:pPr>
            <a:r>
              <a:rPr lang="en-US" sz="2400" b="1" dirty="0">
                <a:latin typeface="Times New Roman" pitchFamily="18" charset="0"/>
                <a:cs typeface="Times New Roman" pitchFamily="18" charset="0"/>
              </a:rPr>
              <a:t>7. </a:t>
            </a:r>
            <a:r>
              <a:rPr lang="en-US" sz="2400" dirty="0"/>
              <a:t>Who wrote the book ‘A Grammar of politics’ </a:t>
            </a:r>
          </a:p>
          <a:p>
            <a:pPr>
              <a:buNone/>
            </a:pPr>
            <a:r>
              <a:rPr lang="en-US" sz="2400" dirty="0"/>
              <a:t>      A. </a:t>
            </a:r>
            <a:r>
              <a:rPr lang="en-US" sz="2400" b="1" dirty="0"/>
              <a:t>Laski </a:t>
            </a:r>
          </a:p>
          <a:p>
            <a:pPr>
              <a:buNone/>
            </a:pPr>
            <a:r>
              <a:rPr lang="en-US" sz="2400" dirty="0"/>
              <a:t>     B. </a:t>
            </a:r>
            <a:r>
              <a:rPr lang="en-US" sz="2400" dirty="0" err="1"/>
              <a:t>Hegal</a:t>
            </a:r>
            <a:r>
              <a:rPr lang="en-US" sz="2400" dirty="0"/>
              <a:t> </a:t>
            </a:r>
          </a:p>
          <a:p>
            <a:pPr>
              <a:buNone/>
            </a:pPr>
            <a:r>
              <a:rPr lang="en-US" sz="2400" dirty="0"/>
              <a:t>     C. J.S Mill </a:t>
            </a:r>
          </a:p>
          <a:p>
            <a:pPr>
              <a:buNone/>
            </a:pPr>
            <a:r>
              <a:rPr lang="en-US" sz="2400" dirty="0"/>
              <a:t>     D T.H Green</a:t>
            </a:r>
          </a:p>
          <a:p>
            <a:pPr>
              <a:buNone/>
            </a:pPr>
            <a:r>
              <a:rPr lang="en-US" sz="2400" dirty="0"/>
              <a:t>8. The concept of Greek, ‘Justice’ was </a:t>
            </a:r>
          </a:p>
          <a:p>
            <a:pPr>
              <a:buNone/>
            </a:pPr>
            <a:r>
              <a:rPr lang="en-US" sz="2400" dirty="0"/>
              <a:t>    A. Legal </a:t>
            </a:r>
          </a:p>
          <a:p>
            <a:pPr>
              <a:buNone/>
            </a:pPr>
            <a:r>
              <a:rPr lang="en-US" sz="2400" dirty="0"/>
              <a:t>    B. </a:t>
            </a:r>
            <a:r>
              <a:rPr lang="en-US" sz="2400" b="1" dirty="0"/>
              <a:t>Moral </a:t>
            </a:r>
          </a:p>
          <a:p>
            <a:pPr>
              <a:buNone/>
            </a:pPr>
            <a:r>
              <a:rPr lang="en-US" sz="2400" dirty="0"/>
              <a:t>    C. Social </a:t>
            </a:r>
          </a:p>
          <a:p>
            <a:pPr>
              <a:buNone/>
            </a:pPr>
            <a:r>
              <a:rPr lang="en-US" sz="2400" dirty="0"/>
              <a:t>    D. Political </a:t>
            </a:r>
          </a:p>
          <a:p>
            <a:pPr>
              <a:buNone/>
            </a:pP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4D38479A-E744-4EB1-A889-3060984DAE28}" type="datetime1">
              <a:rPr lang="en-US" smtClean="0"/>
              <a:t>3/9/2022</a:t>
            </a:fld>
            <a:endParaRPr lang="en-US" dirty="0"/>
          </a:p>
        </p:txBody>
      </p:sp>
      <p:sp>
        <p:nvSpPr>
          <p:cNvPr id="5" name="Footer Placeholder 4"/>
          <p:cNvSpPr>
            <a:spLocks noGrp="1"/>
          </p:cNvSpPr>
          <p:nvPr>
            <p:ph type="ftr" sz="quarter" idx="11"/>
          </p:nvPr>
        </p:nvSpPr>
        <p:spPr>
          <a:xfrm>
            <a:off x="2133600" y="6356353"/>
            <a:ext cx="84328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t>Daily Quiz</a:t>
            </a:r>
            <a:endParaRPr kumimoji="0" lang="en-US" sz="28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40190123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1143003"/>
            <a:ext cx="10972800" cy="4525963"/>
          </a:xfrm>
        </p:spPr>
        <p:txBody>
          <a:bodyPr>
            <a:normAutofit/>
          </a:bodyPr>
          <a:lstStyle/>
          <a:p>
            <a:pPr>
              <a:buNone/>
            </a:pPr>
            <a:r>
              <a:rPr lang="en-US" sz="2400" dirty="0"/>
              <a:t>9. The origin of democracy can be traced back to </a:t>
            </a:r>
          </a:p>
          <a:p>
            <a:pPr>
              <a:buNone/>
            </a:pPr>
            <a:r>
              <a:rPr lang="en-US" sz="2400" dirty="0"/>
              <a:t>   A. </a:t>
            </a:r>
            <a:r>
              <a:rPr lang="en-US" sz="2400" b="1" dirty="0"/>
              <a:t>Ancient Greek City States </a:t>
            </a:r>
          </a:p>
          <a:p>
            <a:pPr>
              <a:buNone/>
            </a:pPr>
            <a:r>
              <a:rPr lang="en-US" sz="2400" dirty="0"/>
              <a:t>   B. Medieval Period  </a:t>
            </a:r>
          </a:p>
          <a:p>
            <a:pPr>
              <a:buNone/>
            </a:pPr>
            <a:r>
              <a:rPr lang="en-US" sz="2400" dirty="0"/>
              <a:t>   C. Modern Era </a:t>
            </a:r>
          </a:p>
          <a:p>
            <a:pPr>
              <a:buNone/>
            </a:pPr>
            <a:r>
              <a:rPr lang="en-US" sz="2400" dirty="0"/>
              <a:t>   D. Feudalism</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5BDF91C-EA53-47A1-87EF-C0AFBBD54C00}" type="datetime1">
              <a:rPr lang="en-US" smtClean="0"/>
              <a:t>3/9/2022</a:t>
            </a:fld>
            <a:endParaRPr lang="en-US" dirty="0"/>
          </a:p>
        </p:txBody>
      </p:sp>
      <p:sp>
        <p:nvSpPr>
          <p:cNvPr id="5" name="Footer Placeholder 4"/>
          <p:cNvSpPr>
            <a:spLocks noGrp="1"/>
          </p:cNvSpPr>
          <p:nvPr>
            <p:ph type="ftr" sz="quarter" idx="11"/>
          </p:nvPr>
        </p:nvSpPr>
        <p:spPr>
          <a:xfrm>
            <a:off x="2133600" y="6356353"/>
            <a:ext cx="84328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latin typeface="Times New Roman" pitchFamily="18" charset="0"/>
                <a:cs typeface="Times New Roman" pitchFamily="18" charset="0"/>
              </a:rPr>
              <a:t>Daily Quiz</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7832506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1143003"/>
            <a:ext cx="10972800" cy="4525963"/>
          </a:xfrm>
        </p:spPr>
        <p:txBody>
          <a:bodyPr>
            <a:normAutofit/>
          </a:bodyPr>
          <a:lstStyle/>
          <a:p>
            <a:pPr>
              <a:buNone/>
            </a:pPr>
            <a:r>
              <a:rPr lang="en-IN" sz="2400" dirty="0">
                <a:latin typeface="Times New Roman" pitchFamily="18" charset="0"/>
                <a:cs typeface="Times New Roman" pitchFamily="18" charset="0"/>
              </a:rPr>
              <a:t>Q.1</a:t>
            </a:r>
            <a:r>
              <a:rPr lang="en-US" sz="2400" dirty="0"/>
              <a:t>Throw the light on force theory of ancient state.</a:t>
            </a:r>
          </a:p>
          <a:p>
            <a:pPr>
              <a:buNone/>
            </a:pPr>
            <a:r>
              <a:rPr lang="en-IN" sz="2400" dirty="0">
                <a:latin typeface="Times New Roman" pitchFamily="18" charset="0"/>
                <a:cs typeface="Times New Roman" pitchFamily="18" charset="0"/>
              </a:rPr>
              <a:t>Q.2 </a:t>
            </a:r>
            <a:r>
              <a:rPr lang="en-US" sz="2400" dirty="0"/>
              <a:t>Discuss the evolutionary theory of ancient state</a:t>
            </a:r>
            <a:endParaRPr lang="en-US"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Q.3</a:t>
            </a:r>
            <a:r>
              <a:rPr lang="en-US" sz="2400" dirty="0"/>
              <a:t>Throw the light on the Council of Ministers Administration Political Ideals in Ancient India Conditions’ of the Welfare of Societies.</a:t>
            </a:r>
            <a:endParaRPr lang="en-US"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Q.4</a:t>
            </a:r>
            <a:r>
              <a:rPr lang="en-US" sz="2400" dirty="0"/>
              <a:t>Discuss the  Seven Limbs of the State.</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A6B175C-A32A-42BC-833A-60CA4CB6BD29}" type="datetime1">
              <a:rPr lang="en-US" smtClean="0"/>
              <a:t>3/9/2022</a:t>
            </a:fld>
            <a:endParaRPr lang="en-US" dirty="0"/>
          </a:p>
        </p:txBody>
      </p:sp>
      <p:sp>
        <p:nvSpPr>
          <p:cNvPr id="5" name="Footer Placeholder 4"/>
          <p:cNvSpPr>
            <a:spLocks noGrp="1"/>
          </p:cNvSpPr>
          <p:nvPr>
            <p:ph type="ftr" sz="quarter" idx="11"/>
          </p:nvPr>
        </p:nvSpPr>
        <p:spPr>
          <a:xfrm>
            <a:off x="2032000" y="6356353"/>
            <a:ext cx="88392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noProof="0" dirty="0">
                <a:ln>
                  <a:noFill/>
                </a:ln>
                <a:solidFill>
                  <a:schemeClr val="dk1"/>
                </a:solidFill>
                <a:effectLst/>
                <a:uLnTx/>
                <a:uFillTx/>
                <a:latin typeface="Times New Roman" pitchFamily="18" charset="0"/>
                <a:cs typeface="Times New Roman" pitchFamily="18" charset="0"/>
              </a:rPr>
              <a:t>Assignment</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20442311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838200"/>
            <a:ext cx="10972800" cy="5410200"/>
          </a:xfrm>
        </p:spPr>
        <p:txBody>
          <a:bodyPr>
            <a:normAutofit/>
          </a:bodyPr>
          <a:lstStyle/>
          <a:p>
            <a:pPr>
              <a:buNone/>
            </a:pPr>
            <a:r>
              <a:rPr lang="en-US" sz="2400" dirty="0"/>
              <a:t>1. Who among the following said “Liberty is the opposite of over government”? </a:t>
            </a:r>
          </a:p>
          <a:p>
            <a:pPr>
              <a:buNone/>
            </a:pPr>
            <a:r>
              <a:rPr lang="en-US" sz="2400" dirty="0"/>
              <a:t>     A. </a:t>
            </a:r>
            <a:r>
              <a:rPr lang="en-US" sz="2400" b="1" dirty="0"/>
              <a:t>Seeley</a:t>
            </a:r>
            <a:r>
              <a:rPr lang="en-US" sz="2400" dirty="0"/>
              <a:t> </a:t>
            </a:r>
          </a:p>
          <a:p>
            <a:pPr>
              <a:buNone/>
            </a:pPr>
            <a:r>
              <a:rPr lang="en-US" sz="2400" dirty="0"/>
              <a:t>     B. Prof. Ramsay Muir </a:t>
            </a:r>
          </a:p>
          <a:p>
            <a:pPr>
              <a:buNone/>
            </a:pPr>
            <a:r>
              <a:rPr lang="en-US" sz="2400" dirty="0"/>
              <a:t>     C. Laski </a:t>
            </a:r>
          </a:p>
          <a:p>
            <a:pPr>
              <a:buNone/>
            </a:pPr>
            <a:r>
              <a:rPr lang="en-US" sz="2400" dirty="0"/>
              <a:t>     D. J.S Mill </a:t>
            </a:r>
          </a:p>
          <a:p>
            <a:pPr>
              <a:buNone/>
            </a:pPr>
            <a:r>
              <a:rPr lang="en-US" sz="2400" dirty="0"/>
              <a:t>2. What is meant by Social Justice. </a:t>
            </a:r>
          </a:p>
          <a:p>
            <a:pPr>
              <a:buNone/>
            </a:pPr>
            <a:r>
              <a:rPr lang="en-US" sz="2400" dirty="0"/>
              <a:t>      A. All should have same Political Rights. </a:t>
            </a:r>
          </a:p>
          <a:p>
            <a:pPr>
              <a:buNone/>
            </a:pPr>
            <a:r>
              <a:rPr lang="en-US" sz="2400" dirty="0"/>
              <a:t>      B. All should have same Economic rights. </a:t>
            </a:r>
          </a:p>
          <a:p>
            <a:pPr>
              <a:buNone/>
            </a:pPr>
            <a:r>
              <a:rPr lang="en-US" sz="2400" dirty="0"/>
              <a:t>      C. </a:t>
            </a:r>
            <a:r>
              <a:rPr lang="en-US" sz="2400" b="1" dirty="0"/>
              <a:t>All kinds of discrimination and privileges based on caste, </a:t>
            </a:r>
            <a:r>
              <a:rPr lang="en-US" sz="2400" b="1" dirty="0" err="1"/>
              <a:t>colour</a:t>
            </a:r>
            <a:r>
              <a:rPr lang="en-US" sz="2400" b="1" dirty="0"/>
              <a:t>, creed and sex should be eliminated. </a:t>
            </a:r>
          </a:p>
          <a:p>
            <a:pPr>
              <a:buNone/>
            </a:pPr>
            <a:r>
              <a:rPr lang="en-US" sz="2400" dirty="0"/>
              <a:t>      D. All should have the right to freedom of religion.</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DD31D4E-863D-4250-B716-758880B5C590}" type="datetime1">
              <a:rPr lang="en-US" smtClean="0"/>
              <a:t>3/9/2022</a:t>
            </a:fld>
            <a:endParaRPr lang="en-US" dirty="0"/>
          </a:p>
        </p:txBody>
      </p:sp>
      <p:sp>
        <p:nvSpPr>
          <p:cNvPr id="5" name="Footer Placeholder 4"/>
          <p:cNvSpPr>
            <a:spLocks noGrp="1"/>
          </p:cNvSpPr>
          <p:nvPr>
            <p:ph type="ftr" sz="quarter" idx="11"/>
          </p:nvPr>
        </p:nvSpPr>
        <p:spPr>
          <a:xfrm>
            <a:off x="2032000" y="6324603"/>
            <a:ext cx="87376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dirty="0"/>
          </a:p>
        </p:txBody>
      </p:sp>
      <p:sp>
        <p:nvSpPr>
          <p:cNvPr id="7" name="Title 1"/>
          <p:cNvSpPr txBox="1">
            <a:spLocks/>
          </p:cNvSpPr>
          <p:nvPr/>
        </p:nvSpPr>
        <p:spPr>
          <a:xfrm>
            <a:off x="1828800" y="4"/>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MCQ</a:t>
            </a:r>
            <a:r>
              <a:rPr kumimoji="0" lang="en-US" sz="2800" b="1" i="0" u="none" strike="noStrike" kern="1200" cap="none" spc="0" normalizeH="0" noProof="0" dirty="0">
                <a:ln>
                  <a:noFill/>
                </a:ln>
                <a:solidFill>
                  <a:schemeClr val="dk1"/>
                </a:solidFill>
                <a:effectLst/>
                <a:uLnTx/>
                <a:uFillTx/>
                <a:latin typeface="Times New Roman" pitchFamily="18" charset="0"/>
                <a:cs typeface="Times New Roman" pitchFamily="18" charset="0"/>
              </a:rPr>
              <a:t> 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39187726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838200"/>
            <a:ext cx="10972800" cy="5410200"/>
          </a:xfrm>
        </p:spPr>
        <p:txBody>
          <a:bodyPr>
            <a:normAutofit/>
          </a:bodyPr>
          <a:lstStyle/>
          <a:p>
            <a:pPr>
              <a:buNone/>
            </a:pPr>
            <a:r>
              <a:rPr lang="en-US" sz="2400" dirty="0"/>
              <a:t>3. Traditional approach give stress on: </a:t>
            </a:r>
          </a:p>
          <a:p>
            <a:pPr>
              <a:buNone/>
            </a:pPr>
            <a:r>
              <a:rPr lang="en-US" sz="2400" dirty="0"/>
              <a:t>    A. </a:t>
            </a:r>
            <a:r>
              <a:rPr lang="en-US" sz="2400" b="1" dirty="0"/>
              <a:t>Values. </a:t>
            </a:r>
          </a:p>
          <a:p>
            <a:pPr>
              <a:buNone/>
            </a:pPr>
            <a:r>
              <a:rPr lang="en-US" sz="2400" b="1" dirty="0"/>
              <a:t>    </a:t>
            </a:r>
            <a:r>
              <a:rPr lang="en-US" sz="2400" dirty="0"/>
              <a:t>B. Facts. </a:t>
            </a:r>
          </a:p>
          <a:p>
            <a:pPr>
              <a:buNone/>
            </a:pPr>
            <a:r>
              <a:rPr lang="en-US" sz="2400" dirty="0"/>
              <a:t>    C. Objectivity. </a:t>
            </a:r>
          </a:p>
          <a:p>
            <a:pPr>
              <a:buNone/>
            </a:pPr>
            <a:r>
              <a:rPr lang="en-US" sz="2400" dirty="0"/>
              <a:t>    D. Precision. </a:t>
            </a:r>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4. </a:t>
            </a:r>
            <a:r>
              <a:rPr lang="en-US" sz="2400" dirty="0"/>
              <a:t>Hobbes Theory of Social Contract is explained in his book. A. Republic. B. Prince. C. Social Contract. D. </a:t>
            </a:r>
            <a:r>
              <a:rPr lang="en-US" sz="2400" b="1" dirty="0"/>
              <a:t>Leviathan.</a:t>
            </a:r>
          </a:p>
          <a:p>
            <a:pPr marL="457200" indent="-457200">
              <a:buNone/>
            </a:pPr>
            <a:r>
              <a:rPr lang="en-US" sz="2400" dirty="0"/>
              <a:t>5.  Which one of the following is not relevant to Traditional Approach. </a:t>
            </a:r>
          </a:p>
          <a:p>
            <a:pPr marL="457200" indent="-457200">
              <a:buNone/>
            </a:pPr>
            <a:r>
              <a:rPr lang="en-US" sz="2400" dirty="0"/>
              <a:t>      A. Philosophical B. Historical. C. Institutional D. Behavioural.</a:t>
            </a:r>
          </a:p>
          <a:p>
            <a:pPr marL="457200" indent="-457200">
              <a:buNone/>
            </a:pPr>
            <a:r>
              <a:rPr lang="en-US" sz="2400" dirty="0"/>
              <a:t>6. Integration of Political Science with other Social Sciences Is a basic principle of </a:t>
            </a:r>
          </a:p>
          <a:p>
            <a:pPr marL="457200" indent="-457200">
              <a:buNone/>
            </a:pPr>
            <a:r>
              <a:rPr lang="en-US" sz="2400" dirty="0"/>
              <a:t>      A. Traditionalism. B. </a:t>
            </a:r>
            <a:r>
              <a:rPr lang="en-US" sz="2400" dirty="0" err="1"/>
              <a:t>Behaviouralism</a:t>
            </a:r>
            <a:r>
              <a:rPr lang="en-US" sz="2400" dirty="0"/>
              <a:t>. C. Liberalism. D. </a:t>
            </a:r>
            <a:r>
              <a:rPr lang="en-US" sz="2400" b="1" dirty="0"/>
              <a:t>Post – </a:t>
            </a:r>
            <a:r>
              <a:rPr lang="en-US" sz="2400" b="1" dirty="0" err="1"/>
              <a:t>Behaviouralism</a:t>
            </a:r>
            <a:r>
              <a:rPr lang="en-US" sz="2400" b="1" dirty="0"/>
              <a:t>. </a:t>
            </a: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0FCE63F-E12A-4A0E-ACA7-8CADF2FDD09C}" type="datetime1">
              <a:rPr lang="en-US" smtClean="0"/>
              <a:t>3/9/2022</a:t>
            </a:fld>
            <a:endParaRPr lang="en-US" dirty="0"/>
          </a:p>
        </p:txBody>
      </p:sp>
      <p:sp>
        <p:nvSpPr>
          <p:cNvPr id="5" name="Footer Placeholder 4"/>
          <p:cNvSpPr>
            <a:spLocks noGrp="1"/>
          </p:cNvSpPr>
          <p:nvPr>
            <p:ph type="ftr" sz="quarter" idx="11"/>
          </p:nvPr>
        </p:nvSpPr>
        <p:spPr>
          <a:xfrm>
            <a:off x="2032000" y="6324603"/>
            <a:ext cx="87376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dirty="0"/>
          </a:p>
        </p:txBody>
      </p:sp>
      <p:sp>
        <p:nvSpPr>
          <p:cNvPr id="7" name="Title 1"/>
          <p:cNvSpPr txBox="1">
            <a:spLocks/>
          </p:cNvSpPr>
          <p:nvPr/>
        </p:nvSpPr>
        <p:spPr>
          <a:xfrm>
            <a:off x="1828800" y="4"/>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MCQ</a:t>
            </a:r>
            <a:r>
              <a:rPr kumimoji="0" lang="en-US" sz="2800" b="1" i="0" u="none" strike="noStrike" kern="1200" cap="none" spc="0" normalizeH="0" noProof="0" dirty="0">
                <a:ln>
                  <a:noFill/>
                </a:ln>
                <a:solidFill>
                  <a:schemeClr val="dk1"/>
                </a:solidFill>
                <a:effectLst/>
                <a:uLnTx/>
                <a:uFillTx/>
                <a:latin typeface="Times New Roman" pitchFamily="18" charset="0"/>
                <a:cs typeface="Times New Roman" pitchFamily="18" charset="0"/>
              </a:rPr>
              <a:t> 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28581572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838200"/>
            <a:ext cx="10972800" cy="5334000"/>
          </a:xfrm>
        </p:spPr>
        <p:txBody>
          <a:bodyPr>
            <a:normAutofit/>
          </a:bodyPr>
          <a:lstStyle/>
          <a:p>
            <a:pPr>
              <a:buNone/>
            </a:pPr>
            <a:r>
              <a:rPr lang="en-US" sz="2400" b="1" dirty="0">
                <a:latin typeface="Times New Roman" pitchFamily="18" charset="0"/>
                <a:cs typeface="Times New Roman" pitchFamily="18" charset="0"/>
              </a:rPr>
              <a:t>7. </a:t>
            </a:r>
            <a:r>
              <a:rPr lang="en-US" sz="2400" dirty="0"/>
              <a:t>Integration of Political Science with other Social Sciences Is a basic principle of </a:t>
            </a:r>
          </a:p>
          <a:p>
            <a:pPr>
              <a:buNone/>
            </a:pPr>
            <a:r>
              <a:rPr lang="en-US" sz="2400" dirty="0"/>
              <a:t>      A. Traditionalism. B. </a:t>
            </a:r>
            <a:r>
              <a:rPr lang="en-US" sz="2400" b="1" dirty="0" err="1"/>
              <a:t>Behaviouralism</a:t>
            </a:r>
            <a:r>
              <a:rPr lang="en-US" sz="2400" b="1" dirty="0"/>
              <a:t>.</a:t>
            </a:r>
            <a:r>
              <a:rPr lang="en-US" sz="2400" dirty="0"/>
              <a:t> C. Liberalism. D. Post – </a:t>
            </a:r>
            <a:r>
              <a:rPr lang="en-US" sz="2400" dirty="0" err="1"/>
              <a:t>Behaviouralism</a:t>
            </a:r>
            <a:r>
              <a:rPr lang="en-US" sz="2400" dirty="0"/>
              <a:t>. </a:t>
            </a:r>
          </a:p>
          <a:p>
            <a:pPr>
              <a:buNone/>
            </a:pPr>
            <a:r>
              <a:rPr lang="en-US" sz="2400" dirty="0"/>
              <a:t>8. The success of democracy depends upon </a:t>
            </a:r>
          </a:p>
          <a:p>
            <a:pPr>
              <a:buNone/>
            </a:pPr>
            <a:r>
              <a:rPr lang="en-US" sz="2400" dirty="0"/>
              <a:t>       A. Periodic Elections. B. Voting. C. Campaigning in The Elections. D. </a:t>
            </a:r>
            <a:r>
              <a:rPr lang="en-US" sz="2400" b="1" dirty="0"/>
              <a:t>All of the above </a:t>
            </a:r>
          </a:p>
          <a:p>
            <a:pPr>
              <a:buNone/>
            </a:pPr>
            <a:r>
              <a:rPr lang="en-US" sz="2400" b="1" dirty="0">
                <a:latin typeface="Times New Roman" pitchFamily="18" charset="0"/>
                <a:cs typeface="Times New Roman" pitchFamily="18" charset="0"/>
              </a:rPr>
              <a:t>9. </a:t>
            </a:r>
            <a:r>
              <a:rPr lang="en-US" sz="2400" dirty="0"/>
              <a:t>Who wrote the book ‘A Grammar of politics’ </a:t>
            </a:r>
          </a:p>
          <a:p>
            <a:pPr>
              <a:buNone/>
            </a:pPr>
            <a:r>
              <a:rPr lang="en-US" sz="2400" dirty="0"/>
              <a:t>      A. </a:t>
            </a:r>
            <a:r>
              <a:rPr lang="en-US" sz="2400" b="1" dirty="0"/>
              <a:t>Laski </a:t>
            </a:r>
          </a:p>
          <a:p>
            <a:pPr>
              <a:buNone/>
            </a:pPr>
            <a:r>
              <a:rPr lang="en-US" sz="2400" dirty="0"/>
              <a:t>     B. </a:t>
            </a:r>
            <a:r>
              <a:rPr lang="en-US" sz="2400" dirty="0" err="1"/>
              <a:t>Hegal</a:t>
            </a:r>
            <a:r>
              <a:rPr lang="en-US" sz="2400" dirty="0"/>
              <a:t> </a:t>
            </a:r>
          </a:p>
          <a:p>
            <a:pPr>
              <a:buNone/>
            </a:pPr>
            <a:r>
              <a:rPr lang="en-US" sz="2400" dirty="0"/>
              <a:t>     C. J.S Mill </a:t>
            </a:r>
          </a:p>
          <a:p>
            <a:pPr>
              <a:buNone/>
            </a:pPr>
            <a:r>
              <a:rPr lang="en-US" sz="2400" dirty="0"/>
              <a:t>     D T.H Green</a:t>
            </a: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FBE440E-3483-4142-AC2F-10F3FBC8DA81}" type="datetime1">
              <a:rPr lang="en-US" smtClean="0"/>
              <a:t>3/9/2022</a:t>
            </a:fld>
            <a:endParaRPr lang="en-US" dirty="0"/>
          </a:p>
        </p:txBody>
      </p:sp>
      <p:sp>
        <p:nvSpPr>
          <p:cNvPr id="5" name="Footer Placeholder 4"/>
          <p:cNvSpPr>
            <a:spLocks noGrp="1"/>
          </p:cNvSpPr>
          <p:nvPr>
            <p:ph type="ftr" sz="quarter" idx="11"/>
          </p:nvPr>
        </p:nvSpPr>
        <p:spPr>
          <a:xfrm>
            <a:off x="2133600" y="6356353"/>
            <a:ext cx="84328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MCQ 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42868853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1143003"/>
            <a:ext cx="10972800" cy="4525963"/>
          </a:xfrm>
        </p:spPr>
        <p:txBody>
          <a:bodyPr>
            <a:normAutofit/>
          </a:bodyPr>
          <a:lstStyle/>
          <a:p>
            <a:pPr>
              <a:buNone/>
            </a:pPr>
            <a:r>
              <a:rPr lang="en-US" sz="2400" dirty="0"/>
              <a:t>10. The concept of Greek, ‘Justice’ was </a:t>
            </a:r>
          </a:p>
          <a:p>
            <a:pPr>
              <a:buNone/>
            </a:pPr>
            <a:r>
              <a:rPr lang="en-US" sz="2400" dirty="0"/>
              <a:t>    A. Legal </a:t>
            </a:r>
          </a:p>
          <a:p>
            <a:pPr>
              <a:buNone/>
            </a:pPr>
            <a:r>
              <a:rPr lang="en-US" sz="2400" dirty="0"/>
              <a:t>    B. </a:t>
            </a:r>
            <a:r>
              <a:rPr lang="en-US" sz="2400" b="1" dirty="0"/>
              <a:t>Moral </a:t>
            </a:r>
          </a:p>
          <a:p>
            <a:pPr>
              <a:buNone/>
            </a:pPr>
            <a:r>
              <a:rPr lang="en-US" sz="2400" dirty="0"/>
              <a:t>    C. Social </a:t>
            </a:r>
          </a:p>
          <a:p>
            <a:pPr>
              <a:buNone/>
            </a:pPr>
            <a:r>
              <a:rPr lang="en-US" sz="2400" dirty="0"/>
              <a:t>    D. Political </a:t>
            </a:r>
          </a:p>
          <a:p>
            <a:pPr>
              <a:buNone/>
            </a:pPr>
            <a:r>
              <a:rPr lang="en-US" sz="2400" dirty="0"/>
              <a:t>11. The origin of democracy can be traced back to </a:t>
            </a:r>
          </a:p>
          <a:p>
            <a:pPr>
              <a:buNone/>
            </a:pPr>
            <a:r>
              <a:rPr lang="en-US" sz="2400" dirty="0"/>
              <a:t>   A. </a:t>
            </a:r>
            <a:r>
              <a:rPr lang="en-US" sz="2400" b="1" dirty="0"/>
              <a:t>Ancient Greek City States </a:t>
            </a:r>
          </a:p>
          <a:p>
            <a:pPr>
              <a:buNone/>
            </a:pPr>
            <a:r>
              <a:rPr lang="en-US" sz="2400" dirty="0"/>
              <a:t>   B. Medieval Period  </a:t>
            </a:r>
          </a:p>
          <a:p>
            <a:pPr>
              <a:buNone/>
            </a:pPr>
            <a:r>
              <a:rPr lang="en-US" sz="2400" dirty="0"/>
              <a:t>   C. Modern Era </a:t>
            </a:r>
          </a:p>
          <a:p>
            <a:pPr>
              <a:buNone/>
            </a:pPr>
            <a:r>
              <a:rPr lang="en-US" sz="2400" dirty="0"/>
              <a:t>   D. Feudalism</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BBD7434-87C3-45E8-98D0-7311F21BA120}" type="datetime1">
              <a:rPr lang="en-US" smtClean="0"/>
              <a:t>3/9/2022</a:t>
            </a:fld>
            <a:endParaRPr lang="en-US" dirty="0"/>
          </a:p>
        </p:txBody>
      </p:sp>
      <p:sp>
        <p:nvSpPr>
          <p:cNvPr id="5" name="Footer Placeholder 4"/>
          <p:cNvSpPr>
            <a:spLocks noGrp="1"/>
          </p:cNvSpPr>
          <p:nvPr>
            <p:ph type="ftr" sz="quarter" idx="11"/>
          </p:nvPr>
        </p:nvSpPr>
        <p:spPr>
          <a:xfrm>
            <a:off x="2133600" y="6356353"/>
            <a:ext cx="84328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MCQ 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5552214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4975410-84EC-43D8-84F1-290CB2122D59}" type="datetime1">
              <a:rPr lang="en-US" smtClean="0"/>
              <a:t>3/9/2022</a:t>
            </a:fld>
            <a:endParaRPr lang="en-US" dirty="0"/>
          </a:p>
        </p:txBody>
      </p:sp>
      <p:sp>
        <p:nvSpPr>
          <p:cNvPr id="5" name="Footer Placeholder 4"/>
          <p:cNvSpPr>
            <a:spLocks noGrp="1"/>
          </p:cNvSpPr>
          <p:nvPr>
            <p:ph type="ftr" sz="quarter" idx="11"/>
          </p:nvPr>
        </p:nvSpPr>
        <p:spPr>
          <a:xfrm>
            <a:off x="2133600" y="6356353"/>
            <a:ext cx="84328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Glossary</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9" name="Content Placeholder 8">
            <a:extLst>
              <a:ext uri="{FF2B5EF4-FFF2-40B4-BE49-F238E27FC236}">
                <a16:creationId xmlns="" xmlns:a16="http://schemas.microsoft.com/office/drawing/2014/main" id="{7FB7D308-62E9-4100-A4B5-014CB47BF21A}"/>
              </a:ext>
            </a:extLst>
          </p:cNvPr>
          <p:cNvSpPr>
            <a:spLocks noGrp="1"/>
          </p:cNvSpPr>
          <p:nvPr>
            <p:ph idx="1"/>
          </p:nvPr>
        </p:nvSpPr>
        <p:spPr>
          <a:xfrm>
            <a:off x="609600" y="2235200"/>
            <a:ext cx="10972800" cy="3890968"/>
          </a:xfrm>
        </p:spPr>
        <p:txBody>
          <a:bodyPr>
            <a:normAutofit fontScale="92500" lnSpcReduction="20000"/>
          </a:bodyPr>
          <a:lstStyle/>
          <a:p>
            <a:pPr marL="514350" marR="0" lvl="0" indent="-514350" algn="l" defTabSz="914400" rtl="0" eaLnBrk="0" fontAlgn="t" latinLnBrk="0" hangingPunct="0">
              <a:lnSpc>
                <a:spcPct val="100000"/>
              </a:lnSpc>
              <a:spcBef>
                <a:spcPct val="0"/>
              </a:spcBef>
              <a:spcAft>
                <a:spcPct val="0"/>
              </a:spcAft>
              <a:buClrTx/>
              <a:buSzTx/>
              <a:buFont typeface="+mj-lt"/>
              <a:buAutoNum type="arabicPeriod"/>
              <a:tabLst/>
            </a:pPr>
            <a:r>
              <a:rPr lang="en-US" altLang="en-US" dirty="0">
                <a:solidFill>
                  <a:srgbClr val="303545"/>
                </a:solidFill>
                <a:latin typeface="Times New Roman" panose="02020603050405020304" pitchFamily="18" charset="0"/>
                <a:cs typeface="Times New Roman" panose="02020603050405020304" pitchFamily="18" charset="0"/>
              </a:rPr>
              <a:t>______</a:t>
            </a:r>
            <a:r>
              <a:rPr kumimoji="0" lang="en-US" altLang="en-US" sz="32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rPr>
              <a:t> theory is based on the notion that a god or multiple gods chose certain people to rule a civilization or group of people.</a:t>
            </a:r>
          </a:p>
          <a:p>
            <a:pPr marL="514350" indent="-514350" eaLnBrk="0" fontAlgn="t" hangingPunct="0">
              <a:spcBef>
                <a:spcPct val="0"/>
              </a:spcBef>
              <a:spcAft>
                <a:spcPct val="0"/>
              </a:spcAft>
              <a:buFont typeface="+mj-lt"/>
              <a:buAutoNum type="arabicPeriod"/>
            </a:pPr>
            <a:r>
              <a:rPr lang="en-US" dirty="0"/>
              <a:t>An ______ in Hinduism is one of four age-based life stages discussed in Indian texts of the ancient and medieval eras.</a:t>
            </a:r>
          </a:p>
          <a:p>
            <a:pPr marL="514350" indent="-514350" eaLnBrk="0" fontAlgn="t" hangingPunct="0">
              <a:spcBef>
                <a:spcPct val="0"/>
              </a:spcBef>
              <a:spcAft>
                <a:spcPct val="0"/>
              </a:spcAft>
              <a:buFont typeface="+mj-lt"/>
              <a:buAutoNum type="arabicPeriod"/>
            </a:pPr>
            <a:r>
              <a:rPr lang="en-US" sz="3200" dirty="0"/>
              <a:t>The ritual of sitting on the funeral pyre of the husband and getting burnt to death is known as “Sati”.</a:t>
            </a:r>
          </a:p>
          <a:p>
            <a:pPr marL="514350" indent="-514350" eaLnBrk="0" fontAlgn="t" hangingPunct="0">
              <a:spcBef>
                <a:spcPct val="0"/>
              </a:spcBef>
              <a:spcAft>
                <a:spcPct val="0"/>
              </a:spcAft>
              <a:buFont typeface="+mj-lt"/>
              <a:buAutoNum type="arabicPeriod"/>
            </a:pPr>
            <a:r>
              <a:rPr lang="en-US" dirty="0"/>
              <a:t>_____ </a:t>
            </a:r>
            <a:r>
              <a:rPr lang="en-US" sz="3200" dirty="0"/>
              <a:t>were those people who belonged to the clan of the kings and soldiers and used to look after the safety of their territory and the people.</a:t>
            </a:r>
          </a:p>
          <a:p>
            <a:pPr marL="514350" indent="-514350" eaLnBrk="0" fontAlgn="t" hangingPunct="0">
              <a:spcBef>
                <a:spcPct val="0"/>
              </a:spcBef>
              <a:spcAft>
                <a:spcPct val="0"/>
              </a:spcAft>
              <a:buFont typeface="+mj-lt"/>
              <a:buAutoNum type="arabicPeriod"/>
            </a:pPr>
            <a:r>
              <a:rPr lang="en-US" dirty="0"/>
              <a:t>______ theory of state was given by </a:t>
            </a:r>
            <a:r>
              <a:rPr lang="en-US" dirty="0" err="1"/>
              <a:t>Kautilya</a:t>
            </a:r>
            <a:r>
              <a:rPr lang="en-US" dirty="0"/>
              <a:t> in </a:t>
            </a:r>
            <a:r>
              <a:rPr lang="en-US" dirty="0" err="1"/>
              <a:t>Arthashastra</a:t>
            </a:r>
            <a:r>
              <a:rPr lang="en-US" dirty="0"/>
              <a:t>. </a:t>
            </a:r>
          </a:p>
          <a:p>
            <a:pPr marL="0" marR="0" lvl="0" indent="0" algn="l" defTabSz="914400" rtl="0" eaLnBrk="0" fontAlgn="t"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rgbClr val="303545"/>
              </a:solidFill>
              <a:effectLst/>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 xmlns:a16="http://schemas.microsoft.com/office/drawing/2014/main" id="{F0287D4A-70FF-4C5A-BA6D-F2522630B058}"/>
              </a:ext>
            </a:extLst>
          </p:cNvPr>
          <p:cNvSpPr/>
          <p:nvPr/>
        </p:nvSpPr>
        <p:spPr>
          <a:xfrm>
            <a:off x="683393" y="1047351"/>
            <a:ext cx="10250906" cy="685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err="1">
                <a:latin typeface="Times New Roman" panose="02020603050405020304" pitchFamily="18" charset="0"/>
                <a:cs typeface="Times New Roman" panose="02020603050405020304" pitchFamily="18" charset="0"/>
              </a:rPr>
              <a:t>Saptang</a:t>
            </a:r>
            <a:r>
              <a:rPr lang="en-IN" sz="2400" dirty="0">
                <a:latin typeface="Times New Roman" panose="02020603050405020304" pitchFamily="18" charset="0"/>
                <a:cs typeface="Times New Roman" panose="02020603050405020304" pitchFamily="18" charset="0"/>
              </a:rPr>
              <a:t>, Kshatriyas, Ashram, Divine, Sati </a:t>
            </a:r>
          </a:p>
        </p:txBody>
      </p:sp>
    </p:spTree>
    <p:extLst>
      <p:ext uri="{BB962C8B-B14F-4D97-AF65-F5344CB8AC3E}">
        <p14:creationId xmlns:p14="http://schemas.microsoft.com/office/powerpoint/2010/main" val="27639986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10099D-C8CA-4D83-B838-F51639D14377}" type="datetime1">
              <a:rPr lang="en-US" smtClean="0"/>
              <a:t>3/9/2022</a:t>
            </a:fld>
            <a:endParaRPr lang="en-US" dirty="0"/>
          </a:p>
        </p:txBody>
      </p:sp>
      <p:sp>
        <p:nvSpPr>
          <p:cNvPr id="5" name="Footer Placeholder 4"/>
          <p:cNvSpPr>
            <a:spLocks noGrp="1"/>
          </p:cNvSpPr>
          <p:nvPr>
            <p:ph type="ftr" sz="quarter" idx="11"/>
          </p:nvPr>
        </p:nvSpPr>
        <p:spPr>
          <a:xfrm>
            <a:off x="2032000" y="6356353"/>
            <a:ext cx="87376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dirty="0"/>
          </a:p>
        </p:txBody>
      </p:sp>
      <p:sp>
        <p:nvSpPr>
          <p:cNvPr id="7" name="Title 1"/>
          <p:cNvSpPr txBox="1">
            <a:spLocks/>
          </p:cNvSpPr>
          <p:nvPr/>
        </p:nvSpPr>
        <p:spPr>
          <a:xfrm>
            <a:off x="1828800" y="4"/>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Old Question papers </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9" name="Content Placeholder 8">
            <a:extLst>
              <a:ext uri="{FF2B5EF4-FFF2-40B4-BE49-F238E27FC236}">
                <a16:creationId xmlns="" xmlns:a16="http://schemas.microsoft.com/office/drawing/2014/main" id="{CC0FD05C-7385-4E8F-8563-4693DFB97904}"/>
              </a:ext>
            </a:extLst>
          </p:cNvPr>
          <p:cNvSpPr>
            <a:spLocks noGrp="1"/>
          </p:cNvSpPr>
          <p:nvPr>
            <p:ph idx="1"/>
          </p:nvPr>
        </p:nvSpPr>
        <p:spPr/>
        <p:txBody>
          <a:bodyPr/>
          <a:lstStyle/>
          <a:p>
            <a:r>
              <a:rPr lang="en-IN" dirty="0"/>
              <a:t>Subject was introduced last year for the first time and exam was in Online mode.</a:t>
            </a:r>
          </a:p>
        </p:txBody>
      </p:sp>
    </p:spTree>
    <p:extLst>
      <p:ext uri="{BB962C8B-B14F-4D97-AF65-F5344CB8AC3E}">
        <p14:creationId xmlns:p14="http://schemas.microsoft.com/office/powerpoint/2010/main" val="30024722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838203"/>
            <a:ext cx="10972800" cy="4830763"/>
          </a:xfrm>
        </p:spPr>
        <p:txBody>
          <a:bodyPr>
            <a:normAutofit/>
          </a:bodyPr>
          <a:lstStyle/>
          <a:p>
            <a:pPr>
              <a:buNone/>
            </a:pPr>
            <a:r>
              <a:rPr lang="en-IN" sz="2400" dirty="0">
                <a:latin typeface="Times New Roman" pitchFamily="18" charset="0"/>
                <a:cs typeface="Times New Roman" pitchFamily="18" charset="0"/>
              </a:rPr>
              <a:t>Q.1</a:t>
            </a:r>
            <a:r>
              <a:rPr lang="en-US" sz="2400" dirty="0">
                <a:latin typeface="Times New Roman" pitchFamily="18" charset="0"/>
                <a:cs typeface="Times New Roman" pitchFamily="18" charset="0"/>
              </a:rPr>
              <a:t>Throw the light on force theory of ancient state.</a:t>
            </a:r>
          </a:p>
          <a:p>
            <a:pPr>
              <a:buNone/>
            </a:pPr>
            <a:r>
              <a:rPr lang="en-IN" sz="2400" dirty="0">
                <a:latin typeface="Times New Roman" pitchFamily="18" charset="0"/>
                <a:cs typeface="Times New Roman" pitchFamily="18" charset="0"/>
              </a:rPr>
              <a:t>Q.2 </a:t>
            </a:r>
            <a:r>
              <a:rPr lang="en-US" sz="2400" dirty="0">
                <a:latin typeface="Times New Roman" pitchFamily="18" charset="0"/>
                <a:cs typeface="Times New Roman" pitchFamily="18" charset="0"/>
              </a:rPr>
              <a:t>Discuss the evolutionary theory of ancient state</a:t>
            </a:r>
          </a:p>
          <a:p>
            <a:pPr>
              <a:buNone/>
            </a:pPr>
            <a:r>
              <a:rPr lang="en-IN" sz="2400" dirty="0">
                <a:latin typeface="Times New Roman" pitchFamily="18" charset="0"/>
                <a:cs typeface="Times New Roman" pitchFamily="18" charset="0"/>
              </a:rPr>
              <a:t>Q.3</a:t>
            </a:r>
            <a:r>
              <a:rPr lang="en-US" sz="2400" dirty="0">
                <a:latin typeface="Times New Roman" pitchFamily="18" charset="0"/>
                <a:cs typeface="Times New Roman" pitchFamily="18" charset="0"/>
              </a:rPr>
              <a:t>Throw the light on the Council of Ministers Administration Political Ideals in Ancient India Conditions’ of the Welfare of Societies.</a:t>
            </a:r>
          </a:p>
          <a:p>
            <a:pPr>
              <a:buNone/>
            </a:pPr>
            <a:r>
              <a:rPr lang="en-IN" sz="2400" dirty="0">
                <a:latin typeface="Times New Roman" pitchFamily="18" charset="0"/>
                <a:cs typeface="Times New Roman" pitchFamily="18" charset="0"/>
              </a:rPr>
              <a:t>Q.4</a:t>
            </a:r>
            <a:r>
              <a:rPr lang="en-US" sz="2400" dirty="0">
                <a:latin typeface="Times New Roman" pitchFamily="18" charset="0"/>
                <a:cs typeface="Times New Roman" pitchFamily="18" charset="0"/>
              </a:rPr>
              <a:t>Discuss the  Seven Limbs of the State.</a:t>
            </a:r>
          </a:p>
        </p:txBody>
      </p:sp>
      <p:sp>
        <p:nvSpPr>
          <p:cNvPr id="4" name="Date Placeholder 3"/>
          <p:cNvSpPr>
            <a:spLocks noGrp="1"/>
          </p:cNvSpPr>
          <p:nvPr>
            <p:ph type="dt" sz="half" idx="10"/>
          </p:nvPr>
        </p:nvSpPr>
        <p:spPr/>
        <p:txBody>
          <a:bodyPr/>
          <a:lstStyle/>
          <a:p>
            <a:fld id="{A2D66949-1B58-4A2F-A2A5-7D259DEE938B}" type="datetime1">
              <a:rPr lang="en-US" smtClean="0"/>
              <a:t>3/9/2022</a:t>
            </a:fld>
            <a:endParaRPr lang="en-US" dirty="0"/>
          </a:p>
        </p:txBody>
      </p:sp>
      <p:sp>
        <p:nvSpPr>
          <p:cNvPr id="5" name="Footer Placeholder 4"/>
          <p:cNvSpPr>
            <a:spLocks noGrp="1"/>
          </p:cNvSpPr>
          <p:nvPr>
            <p:ph type="ftr" sz="quarter" idx="11"/>
          </p:nvPr>
        </p:nvSpPr>
        <p:spPr>
          <a:xfrm>
            <a:off x="2032000" y="6356353"/>
            <a:ext cx="87376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dirty="0"/>
          </a:p>
        </p:txBody>
      </p:sp>
      <p:sp>
        <p:nvSpPr>
          <p:cNvPr id="7" name="Title 1"/>
          <p:cNvSpPr txBox="1">
            <a:spLocks/>
          </p:cNvSpPr>
          <p:nvPr/>
        </p:nvSpPr>
        <p:spPr>
          <a:xfrm>
            <a:off x="1828800" y="4"/>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Expected Questions for University Exam </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Tree>
    <p:extLst>
      <p:ext uri="{BB962C8B-B14F-4D97-AF65-F5344CB8AC3E}">
        <p14:creationId xmlns:p14="http://schemas.microsoft.com/office/powerpoint/2010/main" val="2814188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1143003"/>
            <a:ext cx="10972800" cy="4525963"/>
          </a:xfrm>
        </p:spPr>
        <p:txBody>
          <a:bodyPr>
            <a:normAutofit/>
          </a:bodyPr>
          <a:lstStyle/>
          <a:p>
            <a:pPr>
              <a:buNone/>
            </a:pPr>
            <a:r>
              <a:rPr lang="en-US" sz="2400" dirty="0">
                <a:latin typeface="Times New Roman" panose="02020603050405020304" pitchFamily="18" charset="0"/>
                <a:cs typeface="Times New Roman" panose="02020603050405020304" pitchFamily="18" charset="0"/>
              </a:rPr>
              <a:t>This unit gives overview on how states were formed and various theories attached to it. Also it gives a clear insight into different Ashrams in Hindu Concept.</a:t>
            </a: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b="1" dirty="0"/>
          </a:p>
          <a:p>
            <a:endParaRPr lang="en-US" sz="2400" b="1" dirty="0"/>
          </a:p>
        </p:txBody>
      </p:sp>
      <p:sp>
        <p:nvSpPr>
          <p:cNvPr id="4" name="Date Placeholder 3"/>
          <p:cNvSpPr>
            <a:spLocks noGrp="1"/>
          </p:cNvSpPr>
          <p:nvPr>
            <p:ph type="dt" sz="half" idx="10"/>
          </p:nvPr>
        </p:nvSpPr>
        <p:spPr/>
        <p:txBody>
          <a:bodyPr/>
          <a:lstStyle/>
          <a:p>
            <a:fld id="{994E2FA9-F6BB-40ED-AB2A-ECFB4CEE45CD}" type="datetime1">
              <a:rPr lang="en-US" smtClean="0"/>
              <a:t>3/9/2022</a:t>
            </a:fld>
            <a:endParaRPr lang="en-US" dirty="0"/>
          </a:p>
        </p:txBody>
      </p:sp>
      <p:sp>
        <p:nvSpPr>
          <p:cNvPr id="5" name="Footer Placeholder 4"/>
          <p:cNvSpPr>
            <a:spLocks noGrp="1"/>
          </p:cNvSpPr>
          <p:nvPr>
            <p:ph type="ftr" sz="quarter" idx="11"/>
          </p:nvPr>
        </p:nvSpPr>
        <p:spPr>
          <a:xfrm>
            <a:off x="1930400" y="6356353"/>
            <a:ext cx="8839200" cy="365125"/>
          </a:xfrm>
        </p:spPr>
        <p:txBody>
          <a:bodyPr/>
          <a:lstStyle/>
          <a:p>
            <a:r>
              <a:rPr lang="en-US" smtClean="0">
                <a:solidFill>
                  <a:schemeClr val="tx1"/>
                </a:solidFill>
              </a:rPr>
              <a:t>Ms.Pooja Tyagi      KNC 602 Indian Traditions, Culture and Society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10" name="Title 1"/>
          <p:cNvSpPr txBox="1">
            <a:spLocks/>
          </p:cNvSpPr>
          <p:nvPr/>
        </p:nvSpPr>
        <p:spPr>
          <a:xfrm>
            <a:off x="1828800" y="4"/>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Summary</a:t>
            </a:r>
          </a:p>
        </p:txBody>
      </p:sp>
    </p:spTree>
    <p:extLst>
      <p:ext uri="{BB962C8B-B14F-4D97-AF65-F5344CB8AC3E}">
        <p14:creationId xmlns:p14="http://schemas.microsoft.com/office/powerpoint/2010/main" val="21172308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5570C87-1BC3-48D0-A070-B9A97903B4AC}" type="datetime1">
              <a:rPr lang="en-US" smtClean="0"/>
              <a:t>3/9/2022</a:t>
            </a:fld>
            <a:endParaRPr lang="en-US" dirty="0"/>
          </a:p>
        </p:txBody>
      </p:sp>
      <p:sp>
        <p:nvSpPr>
          <p:cNvPr id="5" name="Footer Placeholder 4"/>
          <p:cNvSpPr>
            <a:spLocks noGrp="1"/>
          </p:cNvSpPr>
          <p:nvPr>
            <p:ph type="ftr" sz="quarter" idx="11"/>
          </p:nvPr>
        </p:nvSpPr>
        <p:spPr>
          <a:xfrm>
            <a:off x="1930400" y="6356353"/>
            <a:ext cx="8432800" cy="365125"/>
          </a:xfrm>
        </p:spPr>
        <p:txBody>
          <a:bodyPr/>
          <a:lstStyle/>
          <a:p>
            <a:r>
              <a:rPr lang="en-US" smtClean="0">
                <a:solidFill>
                  <a:schemeClr val="tx1"/>
                </a:solidFill>
              </a:rPr>
              <a:t>Ms.Pooja Tyagi      KNC 602 Indian Traditions, Culture and Society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dirty="0"/>
          </a:p>
        </p:txBody>
      </p:sp>
      <p:sp>
        <p:nvSpPr>
          <p:cNvPr id="7" name="Title 1"/>
          <p:cNvSpPr txBox="1">
            <a:spLocks/>
          </p:cNvSpPr>
          <p:nvPr/>
        </p:nvSpPr>
        <p:spPr>
          <a:xfrm>
            <a:off x="1828800" y="4"/>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References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3"/>
            <a:ext cx="1930400" cy="817163"/>
          </a:xfrm>
          <a:prstGeom prst="rect">
            <a:avLst/>
          </a:prstGeom>
          <a:noFill/>
        </p:spPr>
      </p:pic>
      <p:sp>
        <p:nvSpPr>
          <p:cNvPr id="12" name="Subtitle 2"/>
          <p:cNvSpPr txBox="1">
            <a:spLocks/>
          </p:cNvSpPr>
          <p:nvPr/>
        </p:nvSpPr>
        <p:spPr>
          <a:xfrm>
            <a:off x="304800" y="6019800"/>
            <a:ext cx="3657600" cy="381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9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Source: www.aktuonline.org</a:t>
            </a:r>
          </a:p>
        </p:txBody>
      </p:sp>
      <p:sp>
        <p:nvSpPr>
          <p:cNvPr id="6146" name="Rectangle 2"/>
          <p:cNvSpPr>
            <a:spLocks noChangeArrowheads="1"/>
          </p:cNvSpPr>
          <p:nvPr/>
        </p:nvSpPr>
        <p:spPr bwMode="auto">
          <a:xfrm>
            <a:off x="711200" y="1653064"/>
            <a:ext cx="10058400"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sz="24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References :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lvl="0"/>
            <a:r>
              <a:rPr lang="en-US" sz="2400" dirty="0"/>
              <a:t>1. V. </a:t>
            </a:r>
            <a:r>
              <a:rPr lang="en-US" sz="2400" dirty="0" err="1"/>
              <a:t>Sivaramakrishna</a:t>
            </a:r>
            <a:r>
              <a:rPr lang="en-US" sz="2400" dirty="0"/>
              <a:t> (Ed.), </a:t>
            </a:r>
            <a:r>
              <a:rPr lang="en-US" sz="2400" i="1" dirty="0"/>
              <a:t>Cultural Heritage of India-Course Material</a:t>
            </a:r>
            <a:r>
              <a:rPr lang="en-US" sz="2400" dirty="0"/>
              <a:t>, </a:t>
            </a:r>
            <a:r>
              <a:rPr lang="en-US" sz="2400" dirty="0" err="1"/>
              <a:t>Bharatiya</a:t>
            </a:r>
            <a:r>
              <a:rPr lang="en-US" sz="2400" dirty="0"/>
              <a:t> </a:t>
            </a:r>
            <a:r>
              <a:rPr lang="en-US" sz="2400" dirty="0" err="1"/>
              <a:t>Vidya</a:t>
            </a:r>
            <a:r>
              <a:rPr lang="en-US" sz="2400" dirty="0"/>
              <a:t> </a:t>
            </a:r>
            <a:r>
              <a:rPr lang="en-US" sz="2400" dirty="0" err="1"/>
              <a:t>Bhavan</a:t>
            </a:r>
            <a:r>
              <a:rPr lang="en-US" sz="2400" dirty="0"/>
              <a:t>, Mumbai, 5th Edition, 2014</a:t>
            </a:r>
          </a:p>
          <a:p>
            <a:pPr lvl="0"/>
            <a:r>
              <a:rPr lang="en-US" sz="2400" dirty="0"/>
              <a:t>2. S. </a:t>
            </a:r>
            <a:r>
              <a:rPr lang="en-US" sz="2400" dirty="0" err="1"/>
              <a:t>Baliyan</a:t>
            </a:r>
            <a:r>
              <a:rPr lang="en-US" sz="2400" dirty="0"/>
              <a:t>, </a:t>
            </a:r>
            <a:r>
              <a:rPr lang="en-US" sz="2400" i="1" dirty="0"/>
              <a:t>Indian Art and Culture</a:t>
            </a:r>
            <a:r>
              <a:rPr lang="en-US" sz="2400" dirty="0"/>
              <a:t>, Oxford University Press, India</a:t>
            </a:r>
          </a:p>
          <a:p>
            <a:pPr lvl="0"/>
            <a:r>
              <a:rPr lang="en-US" sz="2400" dirty="0"/>
              <a:t>3. Swami </a:t>
            </a:r>
            <a:r>
              <a:rPr lang="en-US" sz="2400" dirty="0" err="1"/>
              <a:t>Jitatmanand</a:t>
            </a:r>
            <a:r>
              <a:rPr lang="en-US" sz="2400" dirty="0"/>
              <a:t>, </a:t>
            </a:r>
            <a:r>
              <a:rPr lang="en-US" sz="2400" i="1" dirty="0"/>
              <a:t>Modern Physics and </a:t>
            </a:r>
            <a:r>
              <a:rPr lang="en-US" sz="2400" i="1" dirty="0" err="1"/>
              <a:t>Vedant</a:t>
            </a:r>
            <a:r>
              <a:rPr lang="en-US" sz="2400" dirty="0"/>
              <a:t>, </a:t>
            </a:r>
            <a:r>
              <a:rPr lang="en-US" sz="2400" dirty="0" err="1"/>
              <a:t>Bharatiya</a:t>
            </a:r>
            <a:r>
              <a:rPr lang="en-US" sz="2400" dirty="0"/>
              <a:t> </a:t>
            </a:r>
            <a:r>
              <a:rPr lang="en-US" sz="2400" dirty="0" err="1"/>
              <a:t>Vidya</a:t>
            </a:r>
            <a:r>
              <a:rPr lang="en-US" sz="2400" dirty="0"/>
              <a:t> </a:t>
            </a:r>
            <a:r>
              <a:rPr lang="en-US" sz="2400" dirty="0" err="1"/>
              <a:t>Bhavan</a:t>
            </a:r>
            <a:endParaRPr lang="en-US" sz="2400" dirty="0"/>
          </a:p>
          <a:p>
            <a:pPr lvl="0"/>
            <a:r>
              <a:rPr lang="en-US" sz="2400" dirty="0"/>
              <a:t>4. </a:t>
            </a:r>
            <a:r>
              <a:rPr lang="en-US" sz="2400" dirty="0" err="1"/>
              <a:t>Romila</a:t>
            </a:r>
            <a:r>
              <a:rPr lang="en-US" sz="2400" dirty="0"/>
              <a:t> </a:t>
            </a:r>
            <a:r>
              <a:rPr lang="en-US" sz="2400" dirty="0" err="1"/>
              <a:t>Thapar</a:t>
            </a:r>
            <a:r>
              <a:rPr lang="en-US" sz="2400" dirty="0"/>
              <a:t>, </a:t>
            </a:r>
            <a:r>
              <a:rPr lang="en-US" sz="2400" i="1" dirty="0"/>
              <a:t>Readings In Early Indian History </a:t>
            </a:r>
            <a:r>
              <a:rPr lang="en-US" sz="2400" dirty="0"/>
              <a:t>Oxford University Press , India</a:t>
            </a:r>
          </a:p>
        </p:txBody>
      </p:sp>
    </p:spTree>
    <p:extLst>
      <p:ext uri="{BB962C8B-B14F-4D97-AF65-F5344CB8AC3E}">
        <p14:creationId xmlns:p14="http://schemas.microsoft.com/office/powerpoint/2010/main" val="602008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2301</TotalTime>
  <Words>9079</Words>
  <Application>Microsoft Office PowerPoint</Application>
  <PresentationFormat>Widescreen</PresentationFormat>
  <Paragraphs>905</Paragraphs>
  <Slides>96</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96</vt:i4>
      </vt:variant>
    </vt:vector>
  </HeadingPairs>
  <TitlesOfParts>
    <vt:vector size="102" baseType="lpstr">
      <vt:lpstr>Arial</vt:lpstr>
      <vt:lpstr>Calibri</vt:lpstr>
      <vt:lpstr>Symbol</vt:lpstr>
      <vt:lpstr>Times New Roman</vt:lpstr>
      <vt:lpstr>Office Theme</vt:lpstr>
      <vt:lpstr>1_Office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Essence of Indian Traditional Knowledge</dc:title>
  <dc:creator>Honda</dc:creator>
  <cp:lastModifiedBy>LENOVO</cp:lastModifiedBy>
  <cp:revision>136</cp:revision>
  <dcterms:created xsi:type="dcterms:W3CDTF">2021-04-06T10:04:07Z</dcterms:created>
  <dcterms:modified xsi:type="dcterms:W3CDTF">2022-03-09T09:50:23Z</dcterms:modified>
</cp:coreProperties>
</file>